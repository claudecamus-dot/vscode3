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Outfit Light"/>
      <p:regular r:id="rId40"/>
      <p:bold r:id="rId41"/>
    </p:embeddedFont>
    <p:embeddedFont>
      <p:font typeface="Outfit"/>
      <p:regular r:id="rId42"/>
      <p:bold r:id="rId43"/>
    </p:embeddedFont>
    <p:embeddedFont>
      <p:font typeface="Outfit SemiBold"/>
      <p:regular r:id="rId44"/>
      <p:bold r:id="rId45"/>
    </p:embeddedFont>
    <p:embeddedFont>
      <p:font typeface="Outfit Medium"/>
      <p:regular r:id="rId46"/>
      <p:bold r:id="rId47"/>
    </p:embeddedFont>
    <p:embeddedFont>
      <p:font typeface="Century Gothic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2" roundtripDataSignature="AMtx7mj4dYkGI91gL/I2Nc/jGbGJ9aqf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Lan Levy-Greilsamm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Light-regular.fntdata"/><Relationship Id="rId42" Type="http://schemas.openxmlformats.org/officeDocument/2006/relationships/font" Target="fonts/Outfit-regular.fntdata"/><Relationship Id="rId41" Type="http://schemas.openxmlformats.org/officeDocument/2006/relationships/font" Target="fonts/OutfitLight-bold.fntdata"/><Relationship Id="rId44" Type="http://schemas.openxmlformats.org/officeDocument/2006/relationships/font" Target="fonts/OutfitSemiBold-regular.fntdata"/><Relationship Id="rId43" Type="http://schemas.openxmlformats.org/officeDocument/2006/relationships/font" Target="fonts/Outfit-bold.fntdata"/><Relationship Id="rId46" Type="http://schemas.openxmlformats.org/officeDocument/2006/relationships/font" Target="fonts/OutfitMedium-regular.fntdata"/><Relationship Id="rId45" Type="http://schemas.openxmlformats.org/officeDocument/2006/relationships/font" Target="fonts/Outfi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48" Type="http://schemas.openxmlformats.org/officeDocument/2006/relationships/font" Target="fonts/CenturyGothic-regular.fntdata"/><Relationship Id="rId47" Type="http://schemas.openxmlformats.org/officeDocument/2006/relationships/font" Target="fonts/OutfitMedium-bold.fntdata"/><Relationship Id="rId49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enturyGothic-boldItalic.fntdata"/><Relationship Id="rId50" Type="http://schemas.openxmlformats.org/officeDocument/2006/relationships/font" Target="fonts/CenturyGothic-italic.fntdata"/><Relationship Id="rId52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2T16:34:39.900">
    <p:pos x="1697" y="1238"/>
    <p:text>à changer : plein d'outils, fracturés, pas de parcours clair pour les utilisateurs cibles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Zeysbs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12T16:37:34.631">
    <p:pos x="469" y="1411"/>
    <p:text>formaliser sous forme de problématique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mWpo5Q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13T11:51:32.224">
    <p:pos x="354" y="227"/>
    <p:text>revoir ce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napuW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67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67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67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0" name="Google Shape;13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7" name="Google Shape;13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2" name="Google Shape;14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@MILE : compléter avec des verbatims de DP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7" name="Google Shape;14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h3eb748f68e7618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5" name="Google Shape;1545;h3eb748f68e76180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9" name="Google Shape;15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0" name="Google Shape;1600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9" name="Google Shape;16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6" name="Google Shape;16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9" name="Google Shape;16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5" name="Google Shape;17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8" name="Google Shape;17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6" name="Google Shape;1826;p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6" name="Google Shape;18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3" name="Google Shape;18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1" name="Google Shape;19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4" name="Google Shape;19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8" name="Google Shape;19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5" name="Google Shape;19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2" name="Google Shape;21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2" name="Google Shape;21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32:notes"/>
          <p:cNvSpPr txBox="1"/>
          <p:nvPr>
            <p:ph idx="1" type="body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Personnes à contacter :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P&amp;D :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: BTO, CGI, DACQ, JTE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FORUM :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ALFO, BENI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j’ai réfléchi à ton sujet et j’ai pensé à ça ⇔se baser sur une propale existante ou tester (en sous-partie par exemple) via une réponse à une demande client qui n’est pas encore répondue en AVV par exemple (!! dimension comment packager ?) ; avoir des slides qui peuvent être intégrées directement dans des propales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CDR</a:t>
            </a:r>
            <a:endParaRPr/>
          </a:p>
        </p:txBody>
      </p:sp>
      <p:sp>
        <p:nvSpPr>
          <p:cNvPr id="2213" name="Google Shape;2213;p32:notes"/>
          <p:cNvSpPr/>
          <p:nvPr>
            <p:ph idx="2" type="sldImg"/>
          </p:nvPr>
        </p:nvSpPr>
        <p:spPr>
          <a:xfrm>
            <a:off x="336550" y="1093788"/>
            <a:ext cx="6184800" cy="3478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8" name="Google Shape;222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0" name="Google Shape;20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21" name="Google Shape;21;p35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22" name="Google Shape;22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" name="Google Shape;23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" name="Google Shape;24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" name="Google Shape;25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6" name="Google Shape;26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7" name="Google Shape;27;p35"/>
          <p:cNvGrpSpPr/>
          <p:nvPr/>
        </p:nvGrpSpPr>
        <p:grpSpPr>
          <a:xfrm>
            <a:off x="1097923" y="1336711"/>
            <a:ext cx="4598402" cy="1873524"/>
            <a:chOff x="2164723" y="1336711"/>
            <a:chExt cx="4598402" cy="1873524"/>
          </a:xfrm>
        </p:grpSpPr>
        <p:cxnSp>
          <p:nvCxnSpPr>
            <p:cNvPr id="28" name="Google Shape;28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" name="Google Shape;29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0" name="Google Shape;30;p35"/>
            <p:cNvCxnSpPr>
              <a:endCxn id="2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" name="Google Shape;31;p35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" name="Google Shape;32;p35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" name="Google Shape;33;p35"/>
            <p:cNvCxnSpPr>
              <a:stCxn id="31" idx="2"/>
              <a:endCxn id="2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" name="Google Shape;34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35" name="Google Shape;35;p35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5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38" name="Google Shape;38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39" name="Google Shape;39;p35"/>
          <p:cNvGrpSpPr/>
          <p:nvPr/>
        </p:nvGrpSpPr>
        <p:grpSpPr>
          <a:xfrm rot="10800000">
            <a:off x="4572194" y="3152724"/>
            <a:ext cx="2605006" cy="616848"/>
            <a:chOff x="2164721" y="1365945"/>
            <a:chExt cx="4598422" cy="1890434"/>
          </a:xfrm>
        </p:grpSpPr>
        <p:cxnSp>
          <p:nvCxnSpPr>
            <p:cNvPr id="40" name="Google Shape;40;p35"/>
            <p:cNvCxnSpPr>
              <a:stCxn id="41" idx="2"/>
            </p:cNvCxnSpPr>
            <p:nvPr/>
          </p:nvCxnSpPr>
          <p:spPr>
            <a:xfrm>
              <a:off x="2699643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" name="Google Shape;42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43" name="Google Shape;43;p35"/>
            <p:cNvCxnSpPr>
              <a:endCxn id="4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" name="Google Shape;44;p35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35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45" name="Google Shape;45;p35"/>
            <p:cNvCxnSpPr>
              <a:stCxn id="44" idx="2"/>
              <a:endCxn id="42" idx="0"/>
            </p:cNvCxnSpPr>
            <p:nvPr/>
          </p:nvCxnSpPr>
          <p:spPr>
            <a:xfrm>
              <a:off x="2736435" y="1371093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6" name="Google Shape;46;p35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5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48" name="Google Shape;48;p35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1" name="Google Shape;51;p36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" name="Google Shape;52;p36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" name="Google Shape;53;p36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36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5" name="Google Shape;55;p36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" name="Google Shape;56;p36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7" name="Google Shape;57;p36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8" name="Google Shape;58;p36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9" name="Google Shape;59;p36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0" name="Google Shape;60;p36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1" name="Google Shape;61;p36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2" name="Google Shape;62;p36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3" name="Google Shape;63;p36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4" name="Google Shape;64;p36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65" name="Google Shape;65;p36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36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" name="Google Shape;67;p36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" name="Google Shape;68;p36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" name="Google Shape;69;p36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" name="Google Shape;70;p36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" name="Google Shape;71;p36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" name="Google Shape;74;p3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5" name="Google Shape;75;p3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8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" name="Google Shape;79;p38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0" name="Google Shape;80;p38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81" name="Google Shape;81;p38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2" name="Google Shape;82;p3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3" name="Google Shape;83;p3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4" name="Google Shape;84;p38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85" name="Google Shape;85;p38"/>
          <p:cNvCxnSpPr>
            <a:stCxn id="86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8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88" name="Google Shape;88;p38"/>
          <p:cNvCxnSpPr>
            <a:endCxn id="87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38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6" name="Google Shape;86;p38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0" name="Google Shape;90;p38"/>
          <p:cNvCxnSpPr>
            <a:stCxn id="89" idx="2"/>
            <a:endCxn id="87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8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2" name="Google Shape;92;p38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3" name="Google Shape;93;p38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4" name="Google Shape;94;p38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5" name="Google Shape;95;p38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8" name="Google Shape;98;p39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3" name="Google Shape;103;p41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1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6" name="Google Shape;106;p41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07" name="Google Shape;107;p41"/>
          <p:cNvCxnSpPr>
            <a:stCxn id="108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41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10" name="Google Shape;110;p41"/>
          <p:cNvCxnSpPr>
            <a:endCxn id="109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1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8" name="Google Shape;108;p41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12" name="Google Shape;112;p41"/>
          <p:cNvCxnSpPr>
            <a:stCxn id="111" idx="2"/>
            <a:endCxn id="109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41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4" name="Google Shape;114;p41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15" name="Google Shape;115;p41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6" name="Google Shape;116;p41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7" name="Google Shape;117;p41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18" name="Google Shape;118;p4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9" name="Google Shape;119;p4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0" name="Google Shape;120;p4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44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23" name="Google Shape;123;p4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4" name="Google Shape;124;p4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5" name="Google Shape;125;p4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26" name="Google Shape;12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4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5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131" name="Google Shape;131;p4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32" name="Google Shape;132;p4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33" name="Google Shape;133;p4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34" name="Google Shape;134;p45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35" name="Google Shape;135;p45"/>
          <p:cNvCxnSpPr>
            <a:stCxn id="136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45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38" name="Google Shape;138;p45"/>
          <p:cNvCxnSpPr>
            <a:endCxn id="137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5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6" name="Google Shape;136;p45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0" name="Google Shape;140;p45"/>
          <p:cNvCxnSpPr>
            <a:stCxn id="139" idx="2"/>
            <a:endCxn id="137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6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44" name="Google Shape;144;p4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7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7" name="Google Shape;147;p47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8" name="Google Shape;148;p47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9" name="Google Shape;149;p47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0" name="Google Shape;150;p47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47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52" name="Google Shape;152;p47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153" name="Google Shape;153;p47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154" name="Google Shape;154;p47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55" name="Google Shape;155;p47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56" name="Google Shape;156;p47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57" name="Google Shape;157;p47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158" name="Google Shape;158;p47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159" name="Google Shape;159;p47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160" name="Google Shape;160;p47"/>
              <p:cNvCxnSpPr>
                <a:stCxn id="161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2" name="Google Shape;162;p47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63" name="Google Shape;163;p47"/>
              <p:cNvCxnSpPr>
                <a:endCxn id="162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4" name="Google Shape;164;p47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61" name="Google Shape;161;p47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65" name="Google Shape;165;p47"/>
              <p:cNvCxnSpPr>
                <a:stCxn id="164" idx="2"/>
                <a:endCxn id="162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48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168" name="Google Shape;168;p48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69" name="Google Shape;169;p4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0" name="Google Shape;170;p4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71" name="Google Shape;171;p48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72" name="Google Shape;172;p48"/>
          <p:cNvCxnSpPr>
            <a:stCxn id="173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48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75" name="Google Shape;175;p48"/>
          <p:cNvCxnSpPr>
            <a:endCxn id="174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48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3" name="Google Shape;173;p48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77" name="Google Shape;177;p48"/>
          <p:cNvCxnSpPr>
            <a:stCxn id="176" idx="2"/>
            <a:endCxn id="174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8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9" name="Google Shape;179;p4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9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2" name="Google Shape;182;p49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83" name="Google Shape;183;p49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49"/>
          <p:cNvGrpSpPr/>
          <p:nvPr/>
        </p:nvGrpSpPr>
        <p:grpSpPr>
          <a:xfrm>
            <a:off x="2164723" y="1336714"/>
            <a:ext cx="4598402" cy="1873518"/>
            <a:chOff x="2164723" y="1336714"/>
            <a:chExt cx="4598402" cy="1873518"/>
          </a:xfrm>
        </p:grpSpPr>
        <p:cxnSp>
          <p:nvCxnSpPr>
            <p:cNvPr id="185" name="Google Shape;185;p49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" name="Google Shape;186;p49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49"/>
            <p:cNvCxnSpPr>
              <a:endCxn id="186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8" name="Google Shape;188;p49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9"/>
            <p:cNvSpPr/>
            <p:nvPr/>
          </p:nvSpPr>
          <p:spPr>
            <a:xfrm flipH="1" rot="-5400561">
              <a:off x="2143273" y="1358460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49"/>
            <p:cNvCxnSpPr>
              <a:stCxn id="188" idx="2"/>
              <a:endCxn id="186" idx="0"/>
            </p:cNvCxnSpPr>
            <p:nvPr/>
          </p:nvCxnSpPr>
          <p:spPr>
            <a:xfrm>
              <a:off x="3065855" y="1371391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1" name="Google Shape;191;p49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92" name="Google Shape;192;p49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93" name="Google Shape;193;p4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49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97" name="Google Shape;197;p49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98" name="Google Shape;198;p49"/>
          <p:cNvGrpSpPr/>
          <p:nvPr/>
        </p:nvGrpSpPr>
        <p:grpSpPr>
          <a:xfrm rot="10800000">
            <a:off x="4572194" y="3152744"/>
            <a:ext cx="2605006" cy="616809"/>
            <a:chOff x="2164721" y="1366007"/>
            <a:chExt cx="4598422" cy="1890313"/>
          </a:xfrm>
        </p:grpSpPr>
        <p:cxnSp>
          <p:nvCxnSpPr>
            <p:cNvPr id="199" name="Google Shape;199;p49"/>
            <p:cNvCxnSpPr>
              <a:stCxn id="200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49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49"/>
            <p:cNvCxnSpPr>
              <a:endCxn id="201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49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9"/>
            <p:cNvSpPr/>
            <p:nvPr/>
          </p:nvSpPr>
          <p:spPr>
            <a:xfrm flipH="1" rot="-5400570">
              <a:off x="1792271" y="1738695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49"/>
            <p:cNvCxnSpPr>
              <a:stCxn id="203" idx="2"/>
              <a:endCxn id="201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05" name="Google Shape;205;p49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49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207" name="Google Shape;207;p49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0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11" name="Google Shape;211;p50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12" name="Google Shape;212;p50"/>
          <p:cNvCxnSpPr>
            <a:stCxn id="213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50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15" name="Google Shape;215;p50"/>
          <p:cNvCxnSpPr>
            <a:endCxn id="214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50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3" name="Google Shape;213;p50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17" name="Google Shape;217;p50"/>
          <p:cNvCxnSpPr>
            <a:stCxn id="216" idx="2"/>
            <a:endCxn id="214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50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50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1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2" name="Google Shape;22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1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24" name="Google Shape;224;p51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5" name="Google Shape;225;p51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6" name="Google Shape;226;p51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27" name="Google Shape;227;p51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28" name="Google Shape;228;p51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51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2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52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53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6" name="Google Shape;236;p53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7" name="Google Shape;237;p53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8" name="Google Shape;238;p53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39" name="Google Shape;239;p53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0" name="Google Shape;240;p5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41" name="Google Shape;241;p53"/>
            <p:cNvCxnSpPr>
              <a:stCxn id="242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3" name="Google Shape;243;p5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44" name="Google Shape;244;p53"/>
            <p:cNvCxnSpPr>
              <a:endCxn id="243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5" name="Google Shape;245;p5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2" name="Google Shape;242;p5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46" name="Google Shape;246;p53"/>
            <p:cNvCxnSpPr>
              <a:stCxn id="245" idx="2"/>
              <a:endCxn id="243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7" name="Google Shape;247;p53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8" name="Google Shape;248;p53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49" name="Google Shape;249;p53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50" name="Google Shape;250;p5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1" name="Google Shape;251;p5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2" name="Google Shape;252;p5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54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55" name="Google Shape;255;p54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6" name="Google Shape;256;p54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57" name="Google Shape;257;p54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58" name="Google Shape;258;p54"/>
            <p:cNvCxnSpPr>
              <a:stCxn id="259" idx="2"/>
              <a:endCxn id="26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61" name="Google Shape;261;p54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62" name="Google Shape;262;p54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63" name="Google Shape;263;p54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64" name="Google Shape;264;p54"/>
              <p:cNvCxnSpPr>
                <a:stCxn id="265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0" name="Google Shape;260;p54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66" name="Google Shape;266;p54"/>
              <p:cNvCxnSpPr>
                <a:endCxn id="260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9" name="Google Shape;259;p54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65" name="Google Shape;265;p54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67" name="Google Shape;267;p54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8" name="Google Shape;268;p54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9" name="Google Shape;269;p54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70" name="Google Shape;270;p54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71" name="Google Shape;271;p5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72" name="Google Shape;272;p5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73" name="Google Shape;273;p54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5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5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77" name="Google Shape;277;p55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78" name="Google Shape;278;p55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79" name="Google Shape;279;p55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80" name="Google Shape;280;p55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81" name="Google Shape;281;p55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2" name="Google Shape;282;p55"/>
            <p:cNvCxnSpPr>
              <a:stCxn id="283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4" name="Google Shape;284;p55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5" name="Google Shape;285;p55"/>
            <p:cNvCxnSpPr>
              <a:endCxn id="284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55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3" name="Google Shape;283;p55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7" name="Google Shape;287;p55"/>
            <p:cNvCxnSpPr>
              <a:stCxn id="286" idx="2"/>
              <a:endCxn id="28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8" name="Google Shape;288;p55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89" name="Google Shape;289;p55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0" name="Google Shape;290;p55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1" name="Google Shape;291;p55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292" name="Google Shape;292;p55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55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4" name="Google Shape;294;p55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5" name="Google Shape;295;p5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6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8" name="Google Shape;298;p56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56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00" name="Google Shape;300;p56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1" name="Google Shape;301;p56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2" name="Google Shape;302;p56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3" name="Google Shape;303;p56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4" name="Google Shape;304;p56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5" name="Google Shape;305;p56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6" name="Google Shape;306;p56"/>
            <p:cNvCxnSpPr>
              <a:stCxn id="307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8" name="Google Shape;308;p56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09" name="Google Shape;309;p56"/>
            <p:cNvCxnSpPr>
              <a:endCxn id="308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56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7" name="Google Shape;307;p56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56"/>
            <p:cNvCxnSpPr>
              <a:stCxn id="310" idx="2"/>
              <a:endCxn id="308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2" name="Google Shape;312;p56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313" name="Google Shape;313;p56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14" name="Google Shape;314;p56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15" name="Google Shape;315;p56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6" name="Google Shape;316;p56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317" name="Google Shape;317;p56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5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1" name="Google Shape;321;p57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22" name="Google Shape;322;p57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3" name="Google Shape;323;p57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4" name="Google Shape;324;p57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5" name="Google Shape;325;p57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6" name="Google Shape;326;p57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7" name="Google Shape;327;p57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8" name="Google Shape;328;p57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9" name="Google Shape;329;p57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30" name="Google Shape;330;p5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31" name="Google Shape;331;p57"/>
            <p:cNvCxnSpPr>
              <a:stCxn id="332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5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57"/>
            <p:cNvCxnSpPr>
              <a:endCxn id="333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5" name="Google Shape;335;p5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2" name="Google Shape;332;p5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6" name="Google Shape;336;p57"/>
            <p:cNvCxnSpPr>
              <a:stCxn id="335" idx="2"/>
              <a:endCxn id="333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7" name="Google Shape;337;p5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8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40" name="Google Shape;340;p58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1" name="Google Shape;341;p58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2" name="Google Shape;342;p58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43" name="Google Shape;343;p58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44" name="Google Shape;344;p58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5" name="Google Shape;345;p58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46" name="Google Shape;346;p58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47" name="Google Shape;347;p58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48" name="Google Shape;348;p5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9" name="Google Shape;349;p5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50" name="Google Shape;350;p5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51" name="Google Shape;351;p58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52" name="Google Shape;352;p58"/>
            <p:cNvCxnSpPr>
              <a:stCxn id="353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4" name="Google Shape;354;p58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55" name="Google Shape;355;p58"/>
            <p:cNvCxnSpPr>
              <a:endCxn id="354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6" name="Google Shape;356;p58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3" name="Google Shape;353;p58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57" name="Google Shape;357;p58"/>
            <p:cNvCxnSpPr>
              <a:stCxn id="356" idx="2"/>
              <a:endCxn id="35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58" name="Google Shape;358;p5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59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61" name="Google Shape;361;p59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2" name="Google Shape;362;p59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3" name="Google Shape;363;p59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4" name="Google Shape;364;p59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5" name="Google Shape;365;p5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6" name="Google Shape;366;p59"/>
            <p:cNvCxnSpPr>
              <a:stCxn id="367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8" name="Google Shape;368;p5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59"/>
            <p:cNvCxnSpPr>
              <a:endCxn id="368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5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7" name="Google Shape;367;p5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71" name="Google Shape;371;p59"/>
            <p:cNvCxnSpPr>
              <a:stCxn id="370" idx="2"/>
              <a:endCxn id="368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2" name="Google Shape;372;p59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73" name="Google Shape;373;p59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74" name="Google Shape;374;p5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59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59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7" name="Google Shape;377;p59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8" name="Google Shape;378;p59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9" name="Google Shape;379;p5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6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82" name="Google Shape;382;p6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83" name="Google Shape;383;p6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84" name="Google Shape;384;p6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85" name="Google Shape;385;p6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86" name="Google Shape;386;p6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87" name="Google Shape;387;p60"/>
            <p:cNvCxnSpPr>
              <a:stCxn id="388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9" name="Google Shape;389;p6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90" name="Google Shape;390;p60"/>
            <p:cNvCxnSpPr>
              <a:endCxn id="389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6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88" name="Google Shape;388;p6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92" name="Google Shape;392;p60"/>
            <p:cNvCxnSpPr>
              <a:stCxn id="391" idx="2"/>
              <a:endCxn id="389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3" name="Google Shape;393;p60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4" name="Google Shape;394;p60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5" name="Google Shape;395;p60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96" name="Google Shape;396;p60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97" name="Google Shape;397;p6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98" name="Google Shape;398;p6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99" name="Google Shape;399;p60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0" name="Google Shape;400;p60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1" name="Google Shape;401;p6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1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4" name="Google Shape;404;p61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5" name="Google Shape;405;p61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6" name="Google Shape;406;p61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61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8" name="Google Shape;408;p61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9" name="Google Shape;409;p61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2" name="Google Shape;412;p62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3" name="Google Shape;413;p62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4" name="Google Shape;414;p62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5" name="Google Shape;415;p62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6" name="Google Shape;416;p62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7" name="Google Shape;417;p62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8" name="Google Shape;418;p62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9" name="Google Shape;419;p62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0" name="Google Shape;420;p62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3" name="Google Shape;423;p63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4" name="Google Shape;424;p63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5" name="Google Shape;425;p63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6" name="Google Shape;426;p63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7" name="Google Shape;427;p63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8" name="Google Shape;428;p63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9" name="Google Shape;429;p63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0" name="Google Shape;430;p63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1" name="Google Shape;431;p63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2" name="Google Shape;432;p63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3" name="Google Shape;433;p63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4" name="Google Shape;434;p63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4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7" name="Google Shape;437;p64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8" name="Google Shape;438;p64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9" name="Google Shape;439;p64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0" name="Google Shape;440;p64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1" name="Google Shape;441;p64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2" name="Google Shape;442;p64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64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4" name="Google Shape;444;p64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5" name="Google Shape;445;p64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6" name="Google Shape;446;p64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7" name="Google Shape;447;p64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64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9" name="Google Shape;449;p64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0" name="Google Shape;450;p64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1" name="Google Shape;451;p64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5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4" name="Google Shape;454;p65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5" name="Google Shape;455;p65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6" name="Google Shape;456;p65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7" name="Google Shape;457;p65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8" name="Google Shape;458;p65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9" name="Google Shape;459;p65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0" name="Google Shape;460;p65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65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65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65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65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65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6" name="Google Shape;466;p65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5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65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5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65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65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4" name="Google Shape;474;p66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5" name="Google Shape;475;p66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6" name="Google Shape;476;p66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7" name="Google Shape;477;p66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8" name="Google Shape;478;p66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9" name="Google Shape;479;p66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0" name="Google Shape;480;p66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1" name="Google Shape;481;p66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2" name="Google Shape;482;p66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66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66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66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66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66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66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66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66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66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66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66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66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66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7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0" name="Google Shape;500;p67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1" name="Google Shape;501;p67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2" name="Google Shape;502;p67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3" name="Google Shape;503;p67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4" name="Google Shape;504;p67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5" name="Google Shape;505;p67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6" name="Google Shape;506;p67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7" name="Google Shape;507;p67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8" name="Google Shape;508;p67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9" name="Google Shape;509;p67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67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67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67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67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67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67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67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67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67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67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67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67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67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67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67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8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9" name="Google Shape;529;p68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0" name="Google Shape;530;p68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1" name="Google Shape;531;p68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2" name="Google Shape;532;p68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3" name="Google Shape;533;p68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4" name="Google Shape;534;p68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5" name="Google Shape;535;p68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6" name="Google Shape;536;p68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7" name="Google Shape;537;p68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8" name="Google Shape;538;p68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9" name="Google Shape;539;p68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68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68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68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68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68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68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68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68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68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68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68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68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68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68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68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68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68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68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68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9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1" name="Google Shape;561;p69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2" name="Google Shape;562;p69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43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578" name="Google Shape;578;p4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81" name="Google Shape;581;p43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582" name="Google Shape;582;p43"/>
          <p:cNvCxnSpPr>
            <a:stCxn id="583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43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85" name="Google Shape;585;p43"/>
          <p:cNvCxnSpPr>
            <a:endCxn id="584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43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3" name="Google Shape;583;p43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87" name="Google Shape;587;p43"/>
          <p:cNvCxnSpPr>
            <a:stCxn id="586" idx="2"/>
            <a:endCxn id="584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4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91" name="Google Shape;591;p7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92" name="Google Shape;592;p70"/>
          <p:cNvGrpSpPr/>
          <p:nvPr/>
        </p:nvGrpSpPr>
        <p:grpSpPr>
          <a:xfrm>
            <a:off x="276295" y="292119"/>
            <a:ext cx="345989" cy="338615"/>
            <a:chOff x="6838242" y="518225"/>
            <a:chExt cx="1247708" cy="1221114"/>
          </a:xfrm>
        </p:grpSpPr>
        <p:sp>
          <p:nvSpPr>
            <p:cNvPr id="593" name="Google Shape;593;p7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4" name="Google Shape;594;p7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5" name="Google Shape;595;p7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96" name="Google Shape;596;p7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7" name="Google Shape;597;p7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98" name="Google Shape;598;p70"/>
          <p:cNvGrpSpPr/>
          <p:nvPr/>
        </p:nvGrpSpPr>
        <p:grpSpPr>
          <a:xfrm>
            <a:off x="1097923" y="1336708"/>
            <a:ext cx="4598402" cy="1873530"/>
            <a:chOff x="2164723" y="1336708"/>
            <a:chExt cx="4598402" cy="1873530"/>
          </a:xfrm>
        </p:grpSpPr>
        <p:cxnSp>
          <p:nvCxnSpPr>
            <p:cNvPr id="599" name="Google Shape;599;p7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0" name="Google Shape;600;p7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1" name="Google Shape;601;p70"/>
            <p:cNvCxnSpPr>
              <a:endCxn id="600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70"/>
            <p:cNvSpPr/>
            <p:nvPr/>
          </p:nvSpPr>
          <p:spPr>
            <a:xfrm rot="-5399439">
              <a:off x="2143273" y="1392991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03" name="Google Shape;603;p70"/>
            <p:cNvSpPr/>
            <p:nvPr/>
          </p:nvSpPr>
          <p:spPr>
            <a:xfrm flipH="1" rot="-5400561">
              <a:off x="2143273" y="1358454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4" name="Google Shape;604;p70"/>
            <p:cNvCxnSpPr>
              <a:stCxn id="602" idx="2"/>
              <a:endCxn id="600" idx="0"/>
            </p:cNvCxnSpPr>
            <p:nvPr/>
          </p:nvCxnSpPr>
          <p:spPr>
            <a:xfrm>
              <a:off x="3065855" y="1371397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5" name="Google Shape;605;p7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606" name="Google Shape;606;p70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0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08" name="Google Shape;608;p70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609" name="Google Shape;609;p7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10" name="Google Shape;610;p70"/>
          <p:cNvGrpSpPr/>
          <p:nvPr/>
        </p:nvGrpSpPr>
        <p:grpSpPr>
          <a:xfrm rot="10800000">
            <a:off x="4572194" y="3152703"/>
            <a:ext cx="2605006" cy="616888"/>
            <a:chOff x="2164721" y="1365883"/>
            <a:chExt cx="4598422" cy="1890555"/>
          </a:xfrm>
        </p:grpSpPr>
        <p:cxnSp>
          <p:nvCxnSpPr>
            <p:cNvPr id="611" name="Google Shape;611;p70"/>
            <p:cNvCxnSpPr>
              <a:stCxn id="612" idx="2"/>
            </p:cNvCxnSpPr>
            <p:nvPr/>
          </p:nvCxnSpPr>
          <p:spPr>
            <a:xfrm>
              <a:off x="2699643" y="3175561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3" name="Google Shape;613;p7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14" name="Google Shape;614;p70"/>
            <p:cNvCxnSpPr>
              <a:endCxn id="613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5" name="Google Shape;615;p70"/>
            <p:cNvSpPr/>
            <p:nvPr/>
          </p:nvSpPr>
          <p:spPr>
            <a:xfrm rot="-5399453">
              <a:off x="1791865" y="1744197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12" name="Google Shape;612;p70"/>
            <p:cNvSpPr/>
            <p:nvPr/>
          </p:nvSpPr>
          <p:spPr>
            <a:xfrm flipH="1" rot="-5400570">
              <a:off x="1792271" y="1738571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16" name="Google Shape;616;p70"/>
            <p:cNvCxnSpPr>
              <a:stCxn id="615" idx="2"/>
              <a:endCxn id="613" idx="0"/>
            </p:cNvCxnSpPr>
            <p:nvPr/>
          </p:nvCxnSpPr>
          <p:spPr>
            <a:xfrm>
              <a:off x="2736435" y="1371152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17" name="Google Shape;617;p7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70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619" name="Google Shape;619;p70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1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22" name="Google Shape;622;p71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2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2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72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27" name="Google Shape;627;p72"/>
          <p:cNvGrpSpPr/>
          <p:nvPr/>
        </p:nvGrpSpPr>
        <p:grpSpPr>
          <a:xfrm>
            <a:off x="3171774" y="1360130"/>
            <a:ext cx="170063" cy="166438"/>
            <a:chOff x="6838242" y="518225"/>
            <a:chExt cx="1247708" cy="1221114"/>
          </a:xfrm>
        </p:grpSpPr>
        <p:sp>
          <p:nvSpPr>
            <p:cNvPr id="628" name="Google Shape;628;p7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29" name="Google Shape;629;p7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30" name="Google Shape;630;p7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31" name="Google Shape;631;p7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632" name="Google Shape;632;p72"/>
          <p:cNvCxnSpPr>
            <a:stCxn id="633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7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5" name="Google Shape;635;p72"/>
          <p:cNvCxnSpPr>
            <a:endCxn id="634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7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3" name="Google Shape;633;p72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7" name="Google Shape;637;p72"/>
          <p:cNvCxnSpPr>
            <a:stCxn id="636" idx="2"/>
            <a:endCxn id="634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7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7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40" name="Google Shape;640;p72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72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2" name="Google Shape;642;p72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3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1">
  <p:cSld name="03 - Titre et sous-titre_2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4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7" name="Google Shape;647;p7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">
  <p:cSld name="03 - Titre et sous-titre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5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0" name="Google Shape;650;p75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6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3" name="Google Shape;653;p76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4" name="Google Shape;654;p76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7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7" name="Google Shape;657;p77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7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b1a46074_15_0)">
  <p:cSld name="Generated (g3ebb1a46074_15_0)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2">
  <p:cSld name="03 - Titre et sous-titre_1_2_2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0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5" name="Google Shape;665;p80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8">
  <p:cSld name="03 - Titre et sous-titre_1_15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1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8" name="Google Shape;668;p81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2">
  <p:cSld name="03 - Titre et sous-titre_1_19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1" name="Google Shape;671;p8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4">
  <p:cSld name="03 - Titre et sous-titre_1_1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3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4" name="Google Shape;674;p83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">
  <p:cSld name="03 - Titre et sous-titre_1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4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7" name="Google Shape;677;p8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86"/>
          <p:cNvGrpSpPr/>
          <p:nvPr/>
        </p:nvGrpSpPr>
        <p:grpSpPr>
          <a:xfrm>
            <a:off x="290070" y="235357"/>
            <a:ext cx="345989" cy="338615"/>
            <a:chOff x="6838242" y="518225"/>
            <a:chExt cx="1247708" cy="1221114"/>
          </a:xfrm>
        </p:grpSpPr>
        <p:sp>
          <p:nvSpPr>
            <p:cNvPr id="681" name="Google Shape;681;p86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2" name="Google Shape;682;p86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3" name="Google Shape;683;p86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684" name="Google Shape;68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86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8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7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89" name="Google Shape;689;p87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0" name="Google Shape;690;p87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3" name="Google Shape;693;p8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4" name="Google Shape;694;p8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95" name="Google Shape;695;p88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6" name="Google Shape;696;p88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7" name="Google Shape;697;p88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98" name="Google Shape;698;p88"/>
          <p:cNvGrpSpPr/>
          <p:nvPr/>
        </p:nvGrpSpPr>
        <p:grpSpPr>
          <a:xfrm>
            <a:off x="89499" y="125680"/>
            <a:ext cx="8793076" cy="4738970"/>
            <a:chOff x="89499" y="125680"/>
            <a:chExt cx="8793076" cy="4738970"/>
          </a:xfrm>
        </p:grpSpPr>
        <p:grpSp>
          <p:nvGrpSpPr>
            <p:cNvPr id="699" name="Google Shape;699;p88"/>
            <p:cNvGrpSpPr/>
            <p:nvPr/>
          </p:nvGrpSpPr>
          <p:grpSpPr>
            <a:xfrm>
              <a:off x="89499" y="125680"/>
              <a:ext cx="170063" cy="166438"/>
              <a:chOff x="6838242" y="518225"/>
              <a:chExt cx="1247708" cy="1221114"/>
            </a:xfrm>
          </p:grpSpPr>
          <p:sp>
            <p:nvSpPr>
              <p:cNvPr id="700" name="Google Shape;700;p8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1" name="Google Shape;701;p8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2" name="Google Shape;702;p8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03" name="Google Shape;703;p8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04" name="Google Shape;704;p8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05" name="Google Shape;705;p8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06" name="Google Shape;706;p88"/>
              <p:cNvCxnSpPr>
                <a:stCxn id="707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8" name="Google Shape;708;p8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09" name="Google Shape;709;p88"/>
              <p:cNvCxnSpPr>
                <a:endCxn id="708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0" name="Google Shape;710;p8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7" name="Google Shape;707;p88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11" name="Google Shape;711;p88"/>
              <p:cNvCxnSpPr>
                <a:stCxn id="710" idx="2"/>
                <a:endCxn id="708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69 - Titre, contenu, visuel à gauche et bloc conclu" showMasterSp="0">
  <p:cSld name="69 - Titre, contenu, visuel à gauche et bloc conclu - cadre blanc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89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14" name="Google Shape;714;p89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89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16" name="Google Shape;716;p89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7" name="Google Shape;717;p89"/>
          <p:cNvSpPr txBox="1"/>
          <p:nvPr>
            <p:ph idx="1" type="body"/>
          </p:nvPr>
        </p:nvSpPr>
        <p:spPr>
          <a:xfrm>
            <a:off x="4300925" y="956650"/>
            <a:ext cx="42477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8" name="Google Shape;718;p89"/>
          <p:cNvSpPr txBox="1"/>
          <p:nvPr>
            <p:ph idx="2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9" name="Google Shape;719;p89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20" name="Google Shape;720;p89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21" name="Google Shape;721;p89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22" name="Google Shape;722;p89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89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89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5" name="Google Shape;725;p8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26" name="Google Shape;726;p89"/>
            <p:cNvCxnSpPr>
              <a:stCxn id="727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8" name="Google Shape;728;p8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9" name="Google Shape;729;p89"/>
            <p:cNvCxnSpPr>
              <a:endCxn id="728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0" name="Google Shape;730;p8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1" name="Google Shape;731;p89"/>
            <p:cNvCxnSpPr>
              <a:stCxn id="730" idx="2"/>
              <a:endCxn id="728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2" name="Google Shape;732;p8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" showMasterSp="0">
  <p:cSld name="70 - Titre, sous-titre, contenu, visuel à gauche et bloc conclu - cadre blanc_1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90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35" name="Google Shape;735;p90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0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37" name="Google Shape;737;p90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38" name="Google Shape;738;p90"/>
          <p:cNvSpPr txBox="1"/>
          <p:nvPr>
            <p:ph idx="1" type="subTitle"/>
          </p:nvPr>
        </p:nvSpPr>
        <p:spPr>
          <a:xfrm>
            <a:off x="4300925" y="840675"/>
            <a:ext cx="419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9" name="Google Shape;739;p90"/>
          <p:cNvSpPr txBox="1"/>
          <p:nvPr>
            <p:ph idx="2" type="body"/>
          </p:nvPr>
        </p:nvSpPr>
        <p:spPr>
          <a:xfrm>
            <a:off x="4300776" y="1273150"/>
            <a:ext cx="4196100" cy="3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0" name="Google Shape;740;p90"/>
          <p:cNvSpPr txBox="1"/>
          <p:nvPr>
            <p:ph idx="3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1" name="Google Shape;741;p90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42" name="Google Shape;742;p9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43" name="Google Shape;743;p9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44" name="Google Shape;744;p9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9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9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7" name="Google Shape;747;p9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48" name="Google Shape;748;p90"/>
            <p:cNvCxnSpPr>
              <a:stCxn id="74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0" name="Google Shape;750;p9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90"/>
            <p:cNvCxnSpPr>
              <a:endCxn id="75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2" name="Google Shape;752;p9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9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90"/>
            <p:cNvCxnSpPr>
              <a:stCxn id="752" idx="2"/>
              <a:endCxn id="75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4" name="Google Shape;754;p9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91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57" name="Google Shape;757;p91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58" name="Google Shape;758;p91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59" name="Google Shape;759;p91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760" name="Google Shape;760;p91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1" name="Google Shape;761;p9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62" name="Google Shape;762;p91"/>
            <p:cNvCxnSpPr>
              <a:stCxn id="763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4" name="Google Shape;764;p9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5" name="Google Shape;765;p91"/>
            <p:cNvCxnSpPr>
              <a:endCxn id="764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6" name="Google Shape;766;p9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3" name="Google Shape;763;p9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7" name="Google Shape;767;p91"/>
            <p:cNvCxnSpPr>
              <a:stCxn id="766" idx="2"/>
              <a:endCxn id="76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68" name="Google Shape;768;p91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69" name="Google Shape;769;p91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0" name="Google Shape;770;p91"/>
          <p:cNvGrpSpPr/>
          <p:nvPr/>
        </p:nvGrpSpPr>
        <p:grpSpPr>
          <a:xfrm>
            <a:off x="364207" y="292130"/>
            <a:ext cx="82155" cy="82230"/>
            <a:chOff x="7483200" y="518225"/>
            <a:chExt cx="602750" cy="603300"/>
          </a:xfrm>
        </p:grpSpPr>
        <p:sp>
          <p:nvSpPr>
            <p:cNvPr id="771" name="Google Shape;771;p9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72" name="Google Shape;772;p9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73" name="Google Shape;773;p9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" showMasterSp="0">
  <p:cSld name="64 - Titre, sous-titre, contenu et visuel à droite - cadre blanc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2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76" name="Google Shape;776;p92"/>
          <p:cNvSpPr txBox="1"/>
          <p:nvPr>
            <p:ph idx="1" type="subTitle"/>
          </p:nvPr>
        </p:nvSpPr>
        <p:spPr>
          <a:xfrm>
            <a:off x="562825" y="840675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77" name="Google Shape;777;p92"/>
          <p:cNvSpPr txBox="1"/>
          <p:nvPr>
            <p:ph idx="2" type="body"/>
          </p:nvPr>
        </p:nvSpPr>
        <p:spPr>
          <a:xfrm>
            <a:off x="562825" y="1273150"/>
            <a:ext cx="53055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8" name="Google Shape;778;p92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79" name="Google Shape;779;p92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2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81" name="Google Shape;781;p9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cxnSp>
          <p:nvCxnSpPr>
            <p:cNvPr id="782" name="Google Shape;782;p92"/>
            <p:cNvCxnSpPr>
              <a:stCxn id="783" idx="2"/>
              <a:endCxn id="78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5" name="Google Shape;785;p92"/>
            <p:cNvGrpSpPr/>
            <p:nvPr/>
          </p:nvGrpSpPr>
          <p:grpSpPr>
            <a:xfrm>
              <a:off x="276301" y="292130"/>
              <a:ext cx="8682474" cy="4588395"/>
              <a:chOff x="276301" y="292130"/>
              <a:chExt cx="8682474" cy="4588395"/>
            </a:xfrm>
          </p:grpSpPr>
          <p:grpSp>
            <p:nvGrpSpPr>
              <p:cNvPr id="786" name="Google Shape;786;p92"/>
              <p:cNvGrpSpPr/>
              <p:nvPr/>
            </p:nvGrpSpPr>
            <p:grpSpPr>
              <a:xfrm>
                <a:off x="276301" y="292130"/>
                <a:ext cx="170063" cy="166438"/>
                <a:chOff x="6838242" y="518225"/>
                <a:chExt cx="1247708" cy="1221114"/>
              </a:xfrm>
            </p:grpSpPr>
            <p:sp>
              <p:nvSpPr>
                <p:cNvPr id="787" name="Google Shape;787;p92"/>
                <p:cNvSpPr/>
                <p:nvPr/>
              </p:nvSpPr>
              <p:spPr>
                <a:xfrm>
                  <a:off x="7870550" y="5182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92"/>
                <p:cNvSpPr/>
                <p:nvPr/>
              </p:nvSpPr>
              <p:spPr>
                <a:xfrm>
                  <a:off x="6838242" y="539639"/>
                  <a:ext cx="1200000" cy="1199700"/>
                </a:xfrm>
                <a:prstGeom prst="donut">
                  <a:avLst>
                    <a:gd fmla="val 20918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92"/>
                <p:cNvSpPr/>
                <p:nvPr/>
              </p:nvSpPr>
              <p:spPr>
                <a:xfrm>
                  <a:off x="7483200" y="9061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90" name="Google Shape;790;p92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Century Gothic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chemeClr val="dk1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91" name="Google Shape;791;p92"/>
              <p:cNvCxnSpPr>
                <a:stCxn id="79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4" name="Google Shape;784;p92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3" name="Google Shape;793;p92"/>
              <p:cNvCxnSpPr>
                <a:endCxn id="784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3" name="Google Shape;783;p92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2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4" name="Google Shape;794;p9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Mise en page personnalisée [1] ">
  <p:cSld name="CUSTOM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93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7" name="Google Shape;797;p93"/>
          <p:cNvSpPr txBox="1"/>
          <p:nvPr>
            <p:ph idx="1" type="body"/>
          </p:nvPr>
        </p:nvSpPr>
        <p:spPr>
          <a:xfrm>
            <a:off x="562825" y="956650"/>
            <a:ext cx="46569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8" name="Google Shape;798;p93"/>
          <p:cNvSpPr txBox="1"/>
          <p:nvPr>
            <p:ph idx="2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99" name="Google Shape;799;p93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00" name="Google Shape;800;p93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93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2" name="Google Shape;802;p93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93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04" name="Google Shape;804;p93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05" name="Google Shape;805;p93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3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07" name="Google Shape;807;p93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8" name="Google Shape;808;p93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09" name="Google Shape;809;p93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3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11" name="Google Shape;811;p93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Mise en page personnalisée [2] ">
  <p:cSld name="CUSTOM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94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4" name="Google Shape;814;p94"/>
          <p:cNvSpPr txBox="1"/>
          <p:nvPr>
            <p:ph idx="1" type="subTitle"/>
          </p:nvPr>
        </p:nvSpPr>
        <p:spPr>
          <a:xfrm>
            <a:off x="562825" y="840677"/>
            <a:ext cx="4656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5" name="Google Shape;815;p94"/>
          <p:cNvSpPr txBox="1"/>
          <p:nvPr>
            <p:ph idx="2" type="body"/>
          </p:nvPr>
        </p:nvSpPr>
        <p:spPr>
          <a:xfrm>
            <a:off x="562825" y="1273150"/>
            <a:ext cx="46569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6" name="Google Shape;816;p94"/>
          <p:cNvSpPr txBox="1"/>
          <p:nvPr>
            <p:ph idx="3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17" name="Google Shape;817;p94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18" name="Google Shape;818;p94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94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" name="Google Shape;820;p94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1" name="Google Shape;821;p94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22" name="Google Shape;822;p94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23" name="Google Shape;823;p94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4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5" name="Google Shape;825;p94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94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27" name="Google Shape;827;p94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4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9" name="Google Shape;829;p94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 1" showMasterSp="0">
  <p:cSld name="65 - Titre, contenu, visuel à droite et bloc conclu - cadre blanc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95"/>
          <p:cNvGrpSpPr/>
          <p:nvPr/>
        </p:nvGrpSpPr>
        <p:grpSpPr>
          <a:xfrm>
            <a:off x="7475475" y="301725"/>
            <a:ext cx="1392300" cy="1392300"/>
            <a:chOff x="7475475" y="301725"/>
            <a:chExt cx="1392300" cy="1392300"/>
          </a:xfrm>
        </p:grpSpPr>
        <p:sp>
          <p:nvSpPr>
            <p:cNvPr id="832" name="Google Shape;832;p95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95"/>
            <p:cNvSpPr txBox="1"/>
            <p:nvPr/>
          </p:nvSpPr>
          <p:spPr>
            <a:xfrm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34" name="Google Shape;834;p95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5" name="Google Shape;835;p95"/>
          <p:cNvSpPr txBox="1"/>
          <p:nvPr>
            <p:ph idx="1" type="body"/>
          </p:nvPr>
        </p:nvSpPr>
        <p:spPr>
          <a:xfrm>
            <a:off x="562825" y="956650"/>
            <a:ext cx="47904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6" name="Google Shape;836;p95"/>
          <p:cNvSpPr txBox="1"/>
          <p:nvPr>
            <p:ph idx="2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7" name="Google Shape;837;p95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95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39" name="Google Shape;839;p95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40" name="Google Shape;840;p95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5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5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3" name="Google Shape;843;p95"/>
            <p:cNvCxnSpPr>
              <a:stCxn id="8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5" name="Google Shape;845;p95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95"/>
            <p:cNvCxnSpPr>
              <a:endCxn id="8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7" name="Google Shape;847;p95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95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8" name="Google Shape;848;p95"/>
            <p:cNvCxnSpPr>
              <a:stCxn id="847" idx="2"/>
              <a:endCxn id="8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9" name="Google Shape;849;p95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850" name="Google Shape;850;p9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 1" showMasterSp="0">
  <p:cSld name="66 - Titre, sous-titre, contenu, visuel à droite et bloc conclu - cadre blanc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96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3" name="Google Shape;853;p96"/>
          <p:cNvSpPr txBox="1"/>
          <p:nvPr>
            <p:ph idx="1" type="subTitle"/>
          </p:nvPr>
        </p:nvSpPr>
        <p:spPr>
          <a:xfrm>
            <a:off x="562825" y="840675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54" name="Google Shape;854;p96"/>
          <p:cNvSpPr txBox="1"/>
          <p:nvPr>
            <p:ph idx="2" type="body"/>
          </p:nvPr>
        </p:nvSpPr>
        <p:spPr>
          <a:xfrm>
            <a:off x="562825" y="127315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5" name="Google Shape;855;p96"/>
          <p:cNvSpPr txBox="1"/>
          <p:nvPr>
            <p:ph idx="3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6" name="Google Shape;856;p96"/>
          <p:cNvSpPr/>
          <p:nvPr/>
        </p:nvSpPr>
        <p:spPr>
          <a:xfrm rot="10800000">
            <a:off x="7475475" y="301725"/>
            <a:ext cx="1392300" cy="13923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96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96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59" name="Google Shape;859;p96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60" name="Google Shape;860;p96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6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6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3" name="Google Shape;863;p96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864" name="Google Shape;864;p96"/>
            <p:cNvCxnSpPr>
              <a:stCxn id="8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96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7" name="Google Shape;867;p96"/>
            <p:cNvCxnSpPr>
              <a:endCxn id="8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8" name="Google Shape;868;p96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6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9" name="Google Shape;869;p96"/>
            <p:cNvCxnSpPr>
              <a:stCxn id="868" idx="2"/>
              <a:endCxn id="8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70" name="Google Shape;870;p9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1]">
  <p:cSld name="03 - Titre et sous-titre_1_2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97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" name="Google Shape;873;p97"/>
          <p:cNvSpPr txBox="1"/>
          <p:nvPr>
            <p:ph idx="1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4" name="Google Shape;874;p97"/>
          <p:cNvSpPr/>
          <p:nvPr/>
        </p:nvSpPr>
        <p:spPr>
          <a:xfrm>
            <a:off x="706600" y="3098899"/>
            <a:ext cx="1890300" cy="1393200"/>
          </a:xfrm>
          <a:prstGeom prst="round2DiagRect">
            <a:avLst>
              <a:gd fmla="val 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97"/>
          <p:cNvSpPr txBox="1"/>
          <p:nvPr>
            <p:ph idx="2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6" name="Google Shape;876;p97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7" name="Google Shape;877;p97"/>
          <p:cNvSpPr txBox="1"/>
          <p:nvPr>
            <p:ph idx="3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78" name="Google Shape;878;p97"/>
          <p:cNvGrpSpPr/>
          <p:nvPr/>
        </p:nvGrpSpPr>
        <p:grpSpPr>
          <a:xfrm>
            <a:off x="998585" y="4636523"/>
            <a:ext cx="179620" cy="239257"/>
            <a:chOff x="5906823" y="2949403"/>
            <a:chExt cx="738872" cy="984194"/>
          </a:xfrm>
        </p:grpSpPr>
        <p:sp>
          <p:nvSpPr>
            <p:cNvPr id="879" name="Google Shape;879;p97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97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p97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2DiagRect">
            <a:avLst>
              <a:gd fmla="val 33909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2]">
  <p:cSld name="03 - Titre et sous-titre_1_2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8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4" name="Google Shape;884;p98"/>
          <p:cNvSpPr txBox="1"/>
          <p:nvPr>
            <p:ph idx="1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5" name="Google Shape;885;p98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6" name="Google Shape;886;p98"/>
          <p:cNvSpPr/>
          <p:nvPr/>
        </p:nvSpPr>
        <p:spPr>
          <a:xfrm rot="10800000">
            <a:off x="706600" y="3098900"/>
            <a:ext cx="1884900" cy="1393200"/>
          </a:xfrm>
          <a:prstGeom prst="round1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98"/>
          <p:cNvSpPr txBox="1"/>
          <p:nvPr>
            <p:ph idx="2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8" name="Google Shape;888;p98"/>
          <p:cNvSpPr txBox="1"/>
          <p:nvPr>
            <p:ph idx="3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89" name="Google Shape;889;p98"/>
          <p:cNvGrpSpPr/>
          <p:nvPr/>
        </p:nvGrpSpPr>
        <p:grpSpPr>
          <a:xfrm>
            <a:off x="998585" y="4636523"/>
            <a:ext cx="179620" cy="239257"/>
            <a:chOff x="5906823" y="2949403"/>
            <a:chExt cx="738872" cy="984194"/>
          </a:xfrm>
        </p:grpSpPr>
        <p:sp>
          <p:nvSpPr>
            <p:cNvPr id="890" name="Google Shape;890;p98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8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2" name="Google Shape;892;p98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2">
  <p:cSld name="03 - Titre et sous-titre_1_5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9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5" name="Google Shape;895;p99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1]">
  <p:cSld name="04 - Titre seul_1_2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00"/>
          <p:cNvSpPr/>
          <p:nvPr>
            <p:ph idx="2" type="pic"/>
          </p:nvPr>
        </p:nvSpPr>
        <p:spPr>
          <a:xfrm>
            <a:off x="8302775" y="0"/>
            <a:ext cx="841200" cy="8412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898" name="Google Shape;898;p100"/>
          <p:cNvSpPr/>
          <p:nvPr/>
        </p:nvSpPr>
        <p:spPr>
          <a:xfrm flipH="1">
            <a:off x="6683525" y="248375"/>
            <a:ext cx="1596900" cy="2667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899" name="Google Shape;899;p100"/>
          <p:cNvGrpSpPr/>
          <p:nvPr/>
        </p:nvGrpSpPr>
        <p:grpSpPr>
          <a:xfrm>
            <a:off x="539500" y="515225"/>
            <a:ext cx="7988392" cy="4349277"/>
            <a:chOff x="537050" y="515225"/>
            <a:chExt cx="7988392" cy="4349277"/>
          </a:xfrm>
        </p:grpSpPr>
        <p:sp>
          <p:nvSpPr>
            <p:cNvPr id="900" name="Google Shape;900;p100"/>
            <p:cNvSpPr/>
            <p:nvPr/>
          </p:nvSpPr>
          <p:spPr>
            <a:xfrm>
              <a:off x="5049417" y="1231802"/>
              <a:ext cx="1767600" cy="3632700"/>
            </a:xfrm>
            <a:prstGeom prst="rect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1" name="Google Shape;901;p100"/>
            <p:cNvSpPr/>
            <p:nvPr/>
          </p:nvSpPr>
          <p:spPr>
            <a:xfrm flipH="1" rot="10800000">
              <a:off x="6816042" y="1231773"/>
              <a:ext cx="1709400" cy="3632700"/>
            </a:xfrm>
            <a:prstGeom prst="round1Rect">
              <a:avLst>
                <a:gd fmla="val 16667" name="adj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2" name="Google Shape;902;p100"/>
            <p:cNvSpPr/>
            <p:nvPr/>
          </p:nvSpPr>
          <p:spPr>
            <a:xfrm>
              <a:off x="537050" y="515225"/>
              <a:ext cx="7986600" cy="716400"/>
            </a:xfrm>
            <a:prstGeom prst="round2DiagRect">
              <a:avLst>
                <a:gd fmla="val 0" name="adj1"/>
                <a:gd fmla="val 26225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03" name="Google Shape;903;p100"/>
          <p:cNvSpPr txBox="1"/>
          <p:nvPr>
            <p:ph type="title"/>
          </p:nvPr>
        </p:nvSpPr>
        <p:spPr>
          <a:xfrm>
            <a:off x="539496" y="248375"/>
            <a:ext cx="6149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4850" spcFirstLastPara="1" rIns="5485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4" name="Google Shape;904;p100"/>
          <p:cNvSpPr txBox="1"/>
          <p:nvPr>
            <p:ph idx="1" type="body"/>
          </p:nvPr>
        </p:nvSpPr>
        <p:spPr>
          <a:xfrm>
            <a:off x="539500" y="1572768"/>
            <a:ext cx="42612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5" name="Google Shape;905;p100"/>
          <p:cNvSpPr txBox="1"/>
          <p:nvPr>
            <p:ph idx="3" type="subTitle"/>
          </p:nvPr>
        </p:nvSpPr>
        <p:spPr>
          <a:xfrm>
            <a:off x="539500" y="1335024"/>
            <a:ext cx="4261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50" spcFirstLastPara="1" rIns="5485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2]">
  <p:cSld name="04 - Titre seul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01"/>
          <p:cNvSpPr/>
          <p:nvPr/>
        </p:nvSpPr>
        <p:spPr>
          <a:xfrm>
            <a:off x="3864987" y="660584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08" name="Google Shape;908;p101"/>
          <p:cNvCxnSpPr>
            <a:stCxn id="907" idx="0"/>
          </p:cNvCxnSpPr>
          <p:nvPr/>
        </p:nvCxnSpPr>
        <p:spPr>
          <a:xfrm rot="10800000">
            <a:off x="3280137" y="660584"/>
            <a:ext cx="10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101"/>
          <p:cNvCxnSpPr>
            <a:stCxn id="910" idx="2"/>
            <a:endCxn id="907" idx="2"/>
          </p:cNvCxnSpPr>
          <p:nvPr/>
        </p:nvCxnSpPr>
        <p:spPr>
          <a:xfrm rot="10800000">
            <a:off x="4723312" y="1089756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101"/>
          <p:cNvSpPr/>
          <p:nvPr/>
        </p:nvSpPr>
        <p:spPr>
          <a:xfrm rot="10800000">
            <a:off x="4723312" y="4006206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11" name="Google Shape;911;p101"/>
          <p:cNvCxnSpPr/>
          <p:nvPr/>
        </p:nvCxnSpPr>
        <p:spPr>
          <a:xfrm rot="10800000">
            <a:off x="5152462" y="4864506"/>
            <a:ext cx="30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2" name="Google Shape;912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838841" y="3970295"/>
            <a:ext cx="533924" cy="9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101"/>
          <p:cNvSpPr txBox="1"/>
          <p:nvPr>
            <p:ph idx="1" type="body"/>
          </p:nvPr>
        </p:nvSpPr>
        <p:spPr>
          <a:xfrm>
            <a:off x="4800025" y="777275"/>
            <a:ext cx="38589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4" name="Google Shape;914;p101"/>
          <p:cNvSpPr txBox="1"/>
          <p:nvPr>
            <p:ph idx="2" type="body"/>
          </p:nvPr>
        </p:nvSpPr>
        <p:spPr>
          <a:xfrm>
            <a:off x="512064" y="777275"/>
            <a:ext cx="4142100" cy="3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5" name="Google Shape;915;p101"/>
          <p:cNvSpPr/>
          <p:nvPr/>
        </p:nvSpPr>
        <p:spPr>
          <a:xfrm rot="5400000">
            <a:off x="2107252" y="-1155444"/>
            <a:ext cx="242100" cy="3397500"/>
          </a:xfrm>
          <a:prstGeom prst="round2DiagRect">
            <a:avLst>
              <a:gd fmla="val 0" name="adj1"/>
              <a:gd fmla="val 3986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101"/>
          <p:cNvGrpSpPr/>
          <p:nvPr/>
        </p:nvGrpSpPr>
        <p:grpSpPr>
          <a:xfrm>
            <a:off x="3744931" y="405175"/>
            <a:ext cx="266700" cy="266700"/>
            <a:chOff x="37136" y="1551801"/>
            <a:chExt cx="266700" cy="266700"/>
          </a:xfrm>
        </p:grpSpPr>
        <p:sp>
          <p:nvSpPr>
            <p:cNvPr id="917" name="Google Shape;917;p101"/>
            <p:cNvSpPr/>
            <p:nvPr/>
          </p:nvSpPr>
          <p:spPr>
            <a:xfrm>
              <a:off x="37136" y="1551801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Outfit Light"/>
                <a:ea typeface="Outfit Light"/>
                <a:cs typeface="Outfit Light"/>
                <a:sym typeface="Outfit Light"/>
              </a:endParaRPr>
            </a:p>
          </p:txBody>
        </p:sp>
        <p:sp>
          <p:nvSpPr>
            <p:cNvPr id="918" name="Google Shape;918;p101"/>
            <p:cNvSpPr/>
            <p:nvPr/>
          </p:nvSpPr>
          <p:spPr>
            <a:xfrm>
              <a:off x="98230" y="1612880"/>
              <a:ext cx="144600" cy="144600"/>
            </a:xfrm>
            <a:prstGeom prst="ellipse">
              <a:avLst/>
            </a:prstGeom>
            <a:solidFill>
              <a:srgbClr val="00D2DD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D2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2">
  <p:cSld name="03 - Titre et sous-titre_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0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1" name="Google Shape;921;p10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103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924" name="Google Shape;924;p10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5" name="Google Shape;925;p10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6" name="Google Shape;926;p10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27" name="Google Shape;927;p103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28" name="Google Shape;928;p103"/>
          <p:cNvCxnSpPr>
            <a:stCxn id="92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103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1" name="Google Shape;931;p103"/>
          <p:cNvCxnSpPr>
            <a:endCxn id="93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2" name="Google Shape;932;p103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29" name="Google Shape;929;p103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3" name="Google Shape;933;p103"/>
          <p:cNvCxnSpPr>
            <a:stCxn id="932" idx="2"/>
            <a:endCxn id="93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103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35" name="Google Shape;935;p10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04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8" name="Google Shape;938;p104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939" name="Google Shape;939;p104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104"/>
          <p:cNvGrpSpPr/>
          <p:nvPr/>
        </p:nvGrpSpPr>
        <p:grpSpPr>
          <a:xfrm>
            <a:off x="2164723" y="1336711"/>
            <a:ext cx="4598402" cy="1873524"/>
            <a:chOff x="2164723" y="1336711"/>
            <a:chExt cx="4598402" cy="1873524"/>
          </a:xfrm>
        </p:grpSpPr>
        <p:cxnSp>
          <p:nvCxnSpPr>
            <p:cNvPr id="941" name="Google Shape;941;p104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2" name="Google Shape;942;p104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3" name="Google Shape;943;p104"/>
            <p:cNvCxnSpPr>
              <a:endCxn id="942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4" name="Google Shape;944;p104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4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6" name="Google Shape;946;p104"/>
            <p:cNvCxnSpPr>
              <a:stCxn id="944" idx="2"/>
              <a:endCxn id="942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47" name="Google Shape;947;p104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48" name="Google Shape;948;p104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949" name="Google Shape;949;p10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0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104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53" name="Google Shape;953;p104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54" name="Google Shape;954;p104"/>
          <p:cNvGrpSpPr/>
          <p:nvPr/>
        </p:nvGrpSpPr>
        <p:grpSpPr>
          <a:xfrm rot="10800000">
            <a:off x="4572194" y="3152724"/>
            <a:ext cx="2605006" cy="616848"/>
            <a:chOff x="2164721" y="1365945"/>
            <a:chExt cx="4598422" cy="1890434"/>
          </a:xfrm>
        </p:grpSpPr>
        <p:cxnSp>
          <p:nvCxnSpPr>
            <p:cNvPr id="955" name="Google Shape;955;p104"/>
            <p:cNvCxnSpPr>
              <a:stCxn id="956" idx="2"/>
            </p:cNvCxnSpPr>
            <p:nvPr/>
          </p:nvCxnSpPr>
          <p:spPr>
            <a:xfrm>
              <a:off x="2699643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7" name="Google Shape;957;p104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8" name="Google Shape;958;p104"/>
            <p:cNvCxnSpPr>
              <a:endCxn id="957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9" name="Google Shape;959;p104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04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0" name="Google Shape;960;p104"/>
            <p:cNvCxnSpPr>
              <a:stCxn id="959" idx="2"/>
              <a:endCxn id="957" idx="0"/>
            </p:cNvCxnSpPr>
            <p:nvPr/>
          </p:nvCxnSpPr>
          <p:spPr>
            <a:xfrm>
              <a:off x="2736435" y="1371093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1" name="Google Shape;961;p104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104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3" name="Google Shape;963;p104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5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966" name="Google Shape;966;p105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05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68" name="Google Shape;968;p105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9" name="Google Shape;969;p105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70" name="Google Shape;970;p105"/>
          <p:cNvCxnSpPr>
            <a:stCxn id="971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105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3" name="Google Shape;973;p105"/>
          <p:cNvCxnSpPr>
            <a:endCxn id="972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105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1" name="Google Shape;971;p105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5" name="Google Shape;975;p105"/>
          <p:cNvCxnSpPr>
            <a:stCxn id="974" idx="2"/>
            <a:endCxn id="972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6" name="Google Shape;976;p105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7" name="Google Shape;977;p105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78" name="Google Shape;978;p105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9" name="Google Shape;979;p105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980" name="Google Shape;980;p105"/>
          <p:cNvGrpSpPr/>
          <p:nvPr/>
        </p:nvGrpSpPr>
        <p:grpSpPr>
          <a:xfrm>
            <a:off x="1450809" y="508105"/>
            <a:ext cx="170063" cy="166438"/>
            <a:chOff x="6838242" y="518225"/>
            <a:chExt cx="1247708" cy="1221114"/>
          </a:xfrm>
        </p:grpSpPr>
        <p:sp>
          <p:nvSpPr>
            <p:cNvPr id="981" name="Google Shape;981;p10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2" name="Google Shape;982;p10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3" name="Google Shape;983;p10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06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87" name="Google Shape;987;p106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88" name="Google Shape;988;p106"/>
          <p:cNvCxnSpPr>
            <a:stCxn id="98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0" name="Google Shape;990;p106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1" name="Google Shape;991;p106"/>
          <p:cNvCxnSpPr>
            <a:endCxn id="99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106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9" name="Google Shape;989;p106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3" name="Google Shape;993;p106"/>
          <p:cNvCxnSpPr>
            <a:stCxn id="992" idx="2"/>
            <a:endCxn id="99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106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10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7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998" name="Google Shape;998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07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00" name="Google Shape;1000;p107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1" name="Google Shape;1001;p107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2" name="Google Shape;1002;p107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3" name="Google Shape;1003;p107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4" name="Google Shape;1004;p107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1005" name="Google Shape;1005;p107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108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108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109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1012" name="Google Shape;1012;p109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13" name="Google Shape;1013;p109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14" name="Google Shape;1014;p10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1015" name="Google Shape;1015;p109"/>
            <p:cNvCxnSpPr>
              <a:stCxn id="1016" idx="2"/>
              <a:endCxn id="101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18" name="Google Shape;1018;p109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1019" name="Google Shape;1019;p109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0" name="Google Shape;1020;p109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1021" name="Google Shape;1021;p109"/>
              <p:cNvCxnSpPr>
                <a:stCxn id="102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7" name="Google Shape;1017;p109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023" name="Google Shape;1023;p109"/>
              <p:cNvCxnSpPr>
                <a:endCxn id="101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6" name="Google Shape;1016;p109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2" name="Google Shape;1022;p109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1024" name="Google Shape;1024;p109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5" name="Google Shape;1025;p109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6" name="Google Shape;1026;p109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27" name="Google Shape;1027;p109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1028" name="Google Shape;1028;p10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29" name="Google Shape;1029;p10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0" name="Google Shape;1030;p10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31" name="Google Shape;1031;p10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110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1034" name="Google Shape;1034;p11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5" name="Google Shape;1035;p11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6" name="Google Shape;1036;p110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37" name="Google Shape;1037;p110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1038" name="Google Shape;1038;p110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39" name="Google Shape;1039;p110"/>
            <p:cNvCxnSpPr>
              <a:stCxn id="104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1" name="Google Shape;1041;p11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2" name="Google Shape;1042;p110"/>
            <p:cNvCxnSpPr>
              <a:endCxn id="104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3" name="Google Shape;1043;p11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0" name="Google Shape;1040;p11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4" name="Google Shape;1044;p110"/>
            <p:cNvCxnSpPr>
              <a:stCxn id="1043" idx="2"/>
              <a:endCxn id="104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5" name="Google Shape;1045;p11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1046" name="Google Shape;1046;p110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7" name="Google Shape;1047;p110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8" name="Google Shape;1048;p110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49" name="Google Shape;1049;p11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110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1" name="Google Shape;1051;p110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2" name="Google Shape;1052;p11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11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5" name="Google Shape;1055;p111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6" name="Google Shape;1056;p111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57" name="Google Shape;1057;p111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58" name="Google Shape;1058;p111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59" name="Google Shape;1059;p11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0" name="Google Shape;1060;p11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1" name="Google Shape;1061;p11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62" name="Google Shape;1062;p11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63" name="Google Shape;1063;p111"/>
            <p:cNvCxnSpPr>
              <a:stCxn id="106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5" name="Google Shape;1065;p11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6" name="Google Shape;1066;p111"/>
            <p:cNvCxnSpPr>
              <a:endCxn id="106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7" name="Google Shape;1067;p11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64" name="Google Shape;1064;p11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8" name="Google Shape;1068;p111"/>
            <p:cNvCxnSpPr>
              <a:stCxn id="1067" idx="2"/>
              <a:endCxn id="106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9" name="Google Shape;1069;p111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1070" name="Google Shape;1070;p111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71" name="Google Shape;1071;p111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72" name="Google Shape;1072;p111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73" name="Google Shape;1073;p111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74" name="Google Shape;1074;p111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11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12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78" name="Google Shape;1078;p112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79" name="Google Shape;1079;p11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080" name="Google Shape;1080;p11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1" name="Google Shape;1081;p11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82" name="Google Shape;1082;p112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83" name="Google Shape;1083;p112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84" name="Google Shape;1084;p11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5" name="Google Shape;1085;p11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6" name="Google Shape;1086;p11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87" name="Google Shape;1087;p11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88" name="Google Shape;1088;p112"/>
            <p:cNvCxnSpPr>
              <a:stCxn id="108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0" name="Google Shape;1090;p11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1" name="Google Shape;1091;p112"/>
            <p:cNvCxnSpPr>
              <a:endCxn id="109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2" name="Google Shape;1092;p11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9" name="Google Shape;1089;p11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3" name="Google Shape;1093;p112"/>
            <p:cNvCxnSpPr>
              <a:stCxn id="1092" idx="2"/>
              <a:endCxn id="109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4" name="Google Shape;1094;p11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13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97" name="Google Shape;1097;p113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8" name="Google Shape;1098;p113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9" name="Google Shape;1099;p113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00" name="Google Shape;1100;p113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101" name="Google Shape;1101;p113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02" name="Google Shape;1102;p113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103" name="Google Shape;1103;p113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04" name="Google Shape;1104;p113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05" name="Google Shape;1105;p11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6" name="Google Shape;1106;p11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7" name="Google Shape;1107;p11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08" name="Google Shape;1108;p11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09" name="Google Shape;1109;p113"/>
            <p:cNvCxnSpPr>
              <a:stCxn id="111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1" name="Google Shape;1111;p11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2" name="Google Shape;1112;p113"/>
            <p:cNvCxnSpPr>
              <a:endCxn id="111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3" name="Google Shape;1113;p11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10" name="Google Shape;1110;p11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4" name="Google Shape;1114;p113"/>
            <p:cNvCxnSpPr>
              <a:stCxn id="1113" idx="2"/>
              <a:endCxn id="111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5" name="Google Shape;1115;p1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114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18" name="Google Shape;1118;p114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19" name="Google Shape;1119;p11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0" name="Google Shape;1120;p11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1" name="Google Shape;1121;p11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22" name="Google Shape;1122;p11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23" name="Google Shape;1123;p114"/>
            <p:cNvCxnSpPr>
              <a:stCxn id="112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5" name="Google Shape;1125;p11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6" name="Google Shape;1126;p114"/>
            <p:cNvCxnSpPr>
              <a:endCxn id="112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11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4" name="Google Shape;1124;p114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8" name="Google Shape;1128;p114"/>
            <p:cNvCxnSpPr>
              <a:stCxn id="1127" idx="2"/>
              <a:endCxn id="112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29" name="Google Shape;1129;p114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30" name="Google Shape;1130;p114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1131" name="Google Shape;1131;p11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32" name="Google Shape;1132;p114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33" name="Google Shape;1133;p114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4" name="Google Shape;1134;p114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5" name="Google Shape;1135;p114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36" name="Google Shape;1136;p11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115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39" name="Google Shape;1139;p115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40" name="Google Shape;1140;p115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1" name="Google Shape;1141;p115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2" name="Google Shape;1142;p115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43" name="Google Shape;1143;p115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44" name="Google Shape;1144;p115"/>
            <p:cNvCxnSpPr>
              <a:stCxn id="114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115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7" name="Google Shape;1147;p115"/>
            <p:cNvCxnSpPr>
              <a:endCxn id="114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115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45" name="Google Shape;1145;p115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9" name="Google Shape;1149;p115"/>
            <p:cNvCxnSpPr>
              <a:stCxn id="1148" idx="2"/>
              <a:endCxn id="114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0" name="Google Shape;1150;p115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1" name="Google Shape;1151;p115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2" name="Google Shape;1152;p115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53" name="Google Shape;1153;p115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1154" name="Google Shape;1154;p115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55" name="Google Shape;1155;p115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56" name="Google Shape;1156;p115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57" name="Google Shape;1157;p115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8" name="Google Shape;1158;p11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16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1" name="Google Shape;1161;p116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2" name="Google Shape;1162;p116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3" name="Google Shape;1163;p116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4" name="Google Shape;1164;p116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65" name="Google Shape;1165;p116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6" name="Google Shape;1166;p116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17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9" name="Google Shape;1169;p117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0" name="Google Shape;1170;p117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1" name="Google Shape;1171;p117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2" name="Google Shape;1172;p117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3" name="Google Shape;1173;p117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4" name="Google Shape;1174;p117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5" name="Google Shape;1175;p117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6" name="Google Shape;1176;p117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7" name="Google Shape;1177;p117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8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0" name="Google Shape;1180;p118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1" name="Google Shape;1181;p118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2" name="Google Shape;1182;p118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3" name="Google Shape;1183;p118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4" name="Google Shape;1184;p118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5" name="Google Shape;1185;p118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6" name="Google Shape;1186;p118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7" name="Google Shape;1187;p118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8" name="Google Shape;1188;p118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9" name="Google Shape;1189;p118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0" name="Google Shape;1190;p118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1" name="Google Shape;1191;p118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19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4" name="Google Shape;1194;p119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5" name="Google Shape;1195;p119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6" name="Google Shape;1196;p119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7" name="Google Shape;1197;p119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8" name="Google Shape;1198;p119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9" name="Google Shape;1199;p11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0" name="Google Shape;1200;p119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1" name="Google Shape;1201;p119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2" name="Google Shape;1202;p119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3" name="Google Shape;1203;p119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4" name="Google Shape;1204;p119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5" name="Google Shape;1205;p119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6" name="Google Shape;1206;p119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7" name="Google Shape;1207;p119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8" name="Google Shape;1208;p119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20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1" name="Google Shape;1211;p120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2" name="Google Shape;1212;p120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3" name="Google Shape;1213;p120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4" name="Google Shape;1214;p120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5" name="Google Shape;1215;p120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6" name="Google Shape;1216;p120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7" name="Google Shape;1217;p120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8" name="Google Shape;1218;p120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9" name="Google Shape;1219;p120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0" name="Google Shape;1220;p120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1" name="Google Shape;1221;p120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2" name="Google Shape;1222;p120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3" name="Google Shape;1223;p120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4" name="Google Shape;1224;p120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5" name="Google Shape;1225;p120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6" name="Google Shape;1226;p120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7" name="Google Shape;1227;p120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8" name="Google Shape;1228;p120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21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1" name="Google Shape;1231;p121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2" name="Google Shape;1232;p121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3" name="Google Shape;1233;p121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4" name="Google Shape;1234;p121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5" name="Google Shape;1235;p121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6" name="Google Shape;1236;p121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7" name="Google Shape;1237;p121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8" name="Google Shape;1238;p12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39" name="Google Shape;1239;p12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0" name="Google Shape;1240;p12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1" name="Google Shape;1241;p12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2" name="Google Shape;1242;p12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3" name="Google Shape;1243;p12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4" name="Google Shape;1244;p12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5" name="Google Shape;1245;p12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6" name="Google Shape;1246;p12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7" name="Google Shape;1247;p12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8" name="Google Shape;1248;p12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9" name="Google Shape;1249;p12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0" name="Google Shape;1250;p12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1" name="Google Shape;1251;p12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22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4" name="Google Shape;1254;p122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5" name="Google Shape;1255;p122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6" name="Google Shape;1256;p122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7" name="Google Shape;1257;p122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8" name="Google Shape;1258;p122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9" name="Google Shape;1259;p122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0" name="Google Shape;1260;p122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1" name="Google Shape;1261;p122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2" name="Google Shape;1262;p122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3" name="Google Shape;1263;p122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4" name="Google Shape;1264;p122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5" name="Google Shape;1265;p122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6" name="Google Shape;1266;p122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7" name="Google Shape;1267;p122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8" name="Google Shape;1268;p122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9" name="Google Shape;1269;p122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0" name="Google Shape;1270;p122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1" name="Google Shape;1271;p122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2" name="Google Shape;1272;p122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3" name="Google Shape;1273;p122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4" name="Google Shape;1274;p122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5" name="Google Shape;1275;p122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6" name="Google Shape;1276;p122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77" name="Google Shape;1277;p122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23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0" name="Google Shape;1280;p123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1" name="Google Shape;1281;p123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2" name="Google Shape;1282;p123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3" name="Google Shape;1283;p123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4" name="Google Shape;1284;p123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5" name="Google Shape;1285;p123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6" name="Google Shape;1286;p123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7" name="Google Shape;1287;p123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8" name="Google Shape;1288;p123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9" name="Google Shape;1289;p12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0" name="Google Shape;1290;p12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1" name="Google Shape;1291;p12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2" name="Google Shape;1292;p12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3" name="Google Shape;1293;p12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4" name="Google Shape;1294;p12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5" name="Google Shape;1295;p12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6" name="Google Shape;1296;p12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7" name="Google Shape;1297;p12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8" name="Google Shape;1298;p12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9" name="Google Shape;1299;p12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0" name="Google Shape;1300;p12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1" name="Google Shape;1301;p12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2" name="Google Shape;1302;p12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3" name="Google Shape;1303;p12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4" name="Google Shape;1304;p12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5" name="Google Shape;1305;p123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6" name="Google Shape;1306;p123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24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09" name="Google Shape;1309;p124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0" name="Google Shape;1310;p124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1" name="Google Shape;1311;p124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2" name="Google Shape;1312;p124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3" name="Google Shape;1313;p124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4" name="Google Shape;1314;p124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5" name="Google Shape;1315;p124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6" name="Google Shape;1316;p124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7" name="Google Shape;1317;p124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8" name="Google Shape;1318;p124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9" name="Google Shape;1319;p124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0" name="Google Shape;1320;p124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1" name="Google Shape;1321;p124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2" name="Google Shape;1322;p124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3" name="Google Shape;1323;p124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4" name="Google Shape;1324;p124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5" name="Google Shape;1325;p124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6" name="Google Shape;1326;p124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7" name="Google Shape;1327;p124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8" name="Google Shape;1328;p124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9" name="Google Shape;1329;p124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0" name="Google Shape;1330;p124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1" name="Google Shape;1331;p124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2" name="Google Shape;1332;p124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3" name="Google Shape;1333;p124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4" name="Google Shape;1334;p124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5" name="Google Shape;1335;p124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6" name="Google Shape;1336;p124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7" name="Google Shape;1337;p124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8" name="Google Shape;1338;p124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1">
  <p:cSld name="03 - Titre et sous-titre_1_2_3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25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41" name="Google Shape;1341;p125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3.xml"/><Relationship Id="rId42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74.xml"/><Relationship Id="rId44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76.xml"/><Relationship Id="rId46" Type="http://schemas.openxmlformats.org/officeDocument/2006/relationships/slideLayout" Target="../slideLayouts/slideLayout79.xml"/><Relationship Id="rId45" Type="http://schemas.openxmlformats.org/officeDocument/2006/relationships/slideLayout" Target="../slideLayouts/slideLayout78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48" Type="http://schemas.openxmlformats.org/officeDocument/2006/relationships/slideLayout" Target="../slideLayouts/slideLayout81.xml"/><Relationship Id="rId47" Type="http://schemas.openxmlformats.org/officeDocument/2006/relationships/slideLayout" Target="../slideLayouts/slideLayout80.xml"/><Relationship Id="rId49" Type="http://schemas.openxmlformats.org/officeDocument/2006/relationships/slideLayout" Target="../slideLayouts/slideLayout8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69.xml"/><Relationship Id="rId39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83.xml"/><Relationship Id="rId53" Type="http://schemas.openxmlformats.org/officeDocument/2006/relationships/slideLayout" Target="../slideLayouts/slideLayout86.xml"/><Relationship Id="rId52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44.xml"/><Relationship Id="rId5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43.xml"/><Relationship Id="rId54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46.xml"/><Relationship Id="rId5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45.xml"/><Relationship Id="rId5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58" Type="http://schemas.openxmlformats.org/officeDocument/2006/relationships/theme" Target="../theme/theme3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4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3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3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3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3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34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3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34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34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34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42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565" name="Google Shape;565;p4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6" name="Google Shape;566;p4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68" name="Google Shape;568;p4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569" name="Google Shape;569;p42"/>
          <p:cNvCxnSpPr>
            <a:stCxn id="57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4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2" name="Google Shape;572;p42"/>
          <p:cNvCxnSpPr>
            <a:endCxn id="57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4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0" name="Google Shape;570;p42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4" name="Google Shape;574;p42"/>
          <p:cNvCxnSpPr>
            <a:stCxn id="573" idx="2"/>
            <a:endCxn id="57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4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  <p:sldLayoutId id="2147483713" r:id="rId31"/>
    <p:sldLayoutId id="2147483714" r:id="rId32"/>
    <p:sldLayoutId id="2147483715" r:id="rId33"/>
    <p:sldLayoutId id="2147483716" r:id="rId34"/>
    <p:sldLayoutId id="2147483717" r:id="rId35"/>
    <p:sldLayoutId id="2147483718" r:id="rId36"/>
    <p:sldLayoutId id="2147483719" r:id="rId37"/>
    <p:sldLayoutId id="2147483720" r:id="rId38"/>
    <p:sldLayoutId id="2147483721" r:id="rId39"/>
    <p:sldLayoutId id="2147483722" r:id="rId40"/>
    <p:sldLayoutId id="2147483723" r:id="rId41"/>
    <p:sldLayoutId id="2147483724" r:id="rId42"/>
    <p:sldLayoutId id="2147483725" r:id="rId43"/>
    <p:sldLayoutId id="2147483726" r:id="rId44"/>
    <p:sldLayoutId id="2147483727" r:id="rId45"/>
    <p:sldLayoutId id="2147483728" r:id="rId46"/>
    <p:sldLayoutId id="2147483729" r:id="rId47"/>
    <p:sldLayoutId id="2147483730" r:id="rId48"/>
    <p:sldLayoutId id="2147483731" r:id="rId49"/>
    <p:sldLayoutId id="2147483732" r:id="rId50"/>
    <p:sldLayoutId id="2147483733" r:id="rId51"/>
    <p:sldLayoutId id="2147483734" r:id="rId52"/>
    <p:sldLayoutId id="2147483735" r:id="rId53"/>
    <p:sldLayoutId id="2147483736" r:id="rId54"/>
    <p:sldLayoutId id="2147483737" r:id="rId55"/>
    <p:sldLayoutId id="2147483738" r:id="rId56"/>
    <p:sldLayoutId id="2147483739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Offre Infra as a Product</a:t>
            </a:r>
            <a:endParaRPr/>
          </a:p>
        </p:txBody>
      </p:sp>
      <p:sp>
        <p:nvSpPr>
          <p:cNvPr id="1347" name="Google Shape;1347;p1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2026</a:t>
            </a:r>
            <a:endParaRPr/>
          </a:p>
        </p:txBody>
      </p:sp>
      <p:sp>
        <p:nvSpPr>
          <p:cNvPr id="1348" name="Google Shape;1348;p1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1349" name="Google Shape;1349;p1"/>
          <p:cNvSpPr txBox="1"/>
          <p:nvPr/>
        </p:nvSpPr>
        <p:spPr>
          <a:xfrm>
            <a:off x="1655064" y="2560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Faire de l'infrastructure un produit que ses utilisateurs choisissent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2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Sommaire</a:t>
            </a:r>
            <a:endParaRPr/>
          </a:p>
        </p:txBody>
      </p:sp>
      <p:sp>
        <p:nvSpPr>
          <p:cNvPr id="1355" name="Google Shape;1355;p2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Contexte et enjeux</a:t>
            </a:r>
            <a:endParaRPr/>
          </a:p>
        </p:txBody>
      </p:sp>
      <p:sp>
        <p:nvSpPr>
          <p:cNvPr id="1356" name="Google Shape;1356;p2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choix possibles</a:t>
            </a:r>
            <a:endParaRPr/>
          </a:p>
        </p:txBody>
      </p:sp>
      <p:sp>
        <p:nvSpPr>
          <p:cNvPr id="1357" name="Google Shape;1357;p2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 as a product, pourquoi ce choix ?</a:t>
            </a:r>
            <a:endParaRPr/>
          </a:p>
        </p:txBody>
      </p:sp>
      <p:sp>
        <p:nvSpPr>
          <p:cNvPr id="1358" name="Google Shape;1358;p2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Démarche globale</a:t>
            </a:r>
            <a:endParaRPr/>
          </a:p>
        </p:txBody>
      </p:sp>
      <p:sp>
        <p:nvSpPr>
          <p:cNvPr id="1359" name="Google Shape;1359;p2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Démarche détaillée</a:t>
            </a:r>
            <a:endParaRPr/>
          </a:p>
        </p:txBody>
      </p:sp>
      <p:sp>
        <p:nvSpPr>
          <p:cNvPr id="1360" name="Google Shape;1360;p2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dispositif</a:t>
            </a:r>
            <a:endParaRPr/>
          </a:p>
        </p:txBody>
      </p:sp>
      <p:sp>
        <p:nvSpPr>
          <p:cNvPr id="1361" name="Google Shape;1361;p2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prix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367" name="Google Shape;1367;p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L'offre en cinq points</a:t>
            </a:r>
            <a:endParaRPr/>
          </a:p>
        </p:txBody>
      </p:sp>
      <p:sp>
        <p:nvSpPr>
          <p:cNvPr id="1368" name="Google Shape;1368;p3"/>
          <p:cNvSpPr/>
          <p:nvPr/>
        </p:nvSpPr>
        <p:spPr>
          <a:xfrm>
            <a:off x="1481328" y="1261872"/>
            <a:ext cx="6885432" cy="566928"/>
          </a:xfrm>
          <a:prstGeom prst="roundRect">
            <a:avLst>
              <a:gd fmla="val 19354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3"/>
          <p:cNvSpPr/>
          <p:nvPr/>
        </p:nvSpPr>
        <p:spPr>
          <a:xfrm>
            <a:off x="566928" y="1380743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3"/>
          <p:cNvSpPr txBox="1"/>
          <p:nvPr/>
        </p:nvSpPr>
        <p:spPr>
          <a:xfrm>
            <a:off x="603504" y="1380743"/>
            <a:ext cx="1755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constat</a:t>
            </a:r>
            <a:endParaRPr/>
          </a:p>
        </p:txBody>
      </p:sp>
      <p:sp>
        <p:nvSpPr>
          <p:cNvPr id="1371" name="Google Shape;1371;p3"/>
          <p:cNvSpPr txBox="1"/>
          <p:nvPr/>
        </p:nvSpPr>
        <p:spPr>
          <a:xfrm>
            <a:off x="2578608" y="1261872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L'infra est devenue un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guichet saturé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 : RUN subi, experts drainés sur du répétitif, offre illisible, plateformes contournées.</a:t>
            </a:r>
            <a:endParaRPr/>
          </a:p>
        </p:txBody>
      </p:sp>
      <p:sp>
        <p:nvSpPr>
          <p:cNvPr id="1372" name="Google Shape;1372;p3"/>
          <p:cNvSpPr/>
          <p:nvPr/>
        </p:nvSpPr>
        <p:spPr>
          <a:xfrm>
            <a:off x="1481328" y="1920239"/>
            <a:ext cx="6885432" cy="566928"/>
          </a:xfrm>
          <a:prstGeom prst="roundRect">
            <a:avLst>
              <a:gd fmla="val 19354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3"/>
          <p:cNvSpPr/>
          <p:nvPr/>
        </p:nvSpPr>
        <p:spPr>
          <a:xfrm>
            <a:off x="566928" y="2039111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3"/>
          <p:cNvSpPr txBox="1"/>
          <p:nvPr/>
        </p:nvSpPr>
        <p:spPr>
          <a:xfrm>
            <a:off x="603504" y="2039111"/>
            <a:ext cx="1755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cible</a:t>
            </a:r>
            <a:endParaRPr/>
          </a:p>
        </p:txBody>
      </p:sp>
      <p:sp>
        <p:nvSpPr>
          <p:cNvPr id="1375" name="Google Shape;1375;p3"/>
          <p:cNvSpPr txBox="1"/>
          <p:nvPr/>
        </p:nvSpPr>
        <p:spPr>
          <a:xfrm>
            <a:off x="2578608" y="1920239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Infra as a product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 : des utilisateurs identifiés, un catalogue de capacités, un propriétaire, une roadmap et une valeur mesurée.</a:t>
            </a:r>
            <a:endParaRPr/>
          </a:p>
        </p:txBody>
      </p:sp>
      <p:sp>
        <p:nvSpPr>
          <p:cNvPr id="1376" name="Google Shape;1376;p3"/>
          <p:cNvSpPr/>
          <p:nvPr/>
        </p:nvSpPr>
        <p:spPr>
          <a:xfrm>
            <a:off x="1481328" y="2578608"/>
            <a:ext cx="6885432" cy="566928"/>
          </a:xfrm>
          <a:prstGeom prst="roundRect">
            <a:avLst>
              <a:gd fmla="val 19354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3"/>
          <p:cNvSpPr/>
          <p:nvPr/>
        </p:nvSpPr>
        <p:spPr>
          <a:xfrm>
            <a:off x="566928" y="2697479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"/>
          <p:cNvSpPr txBox="1"/>
          <p:nvPr/>
        </p:nvSpPr>
        <p:spPr>
          <a:xfrm>
            <a:off x="603504" y="2697479"/>
            <a:ext cx="1755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Pourquoi maintenant</a:t>
            </a:r>
            <a:endParaRPr/>
          </a:p>
        </p:txBody>
      </p:sp>
      <p:sp>
        <p:nvSpPr>
          <p:cNvPr id="1379" name="Google Shape;1379;p3"/>
          <p:cNvSpPr txBox="1"/>
          <p:nvPr/>
        </p:nvSpPr>
        <p:spPr>
          <a:xfrm>
            <a:off x="2578608" y="2578608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80 % des grandes organisations ont une platform team en 2026,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moins de 30 %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en tirent des gains mesurables (Gartner) ; l'IA amplifie une organisation mûre, jamais l'inverse.</a:t>
            </a:r>
            <a:endParaRPr/>
          </a:p>
        </p:txBody>
      </p:sp>
      <p:sp>
        <p:nvSpPr>
          <p:cNvPr id="1380" name="Google Shape;1380;p3"/>
          <p:cNvSpPr/>
          <p:nvPr/>
        </p:nvSpPr>
        <p:spPr>
          <a:xfrm>
            <a:off x="1481328" y="3236976"/>
            <a:ext cx="6885432" cy="566928"/>
          </a:xfrm>
          <a:prstGeom prst="roundRect">
            <a:avLst>
              <a:gd fmla="val 19354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"/>
          <p:cNvSpPr/>
          <p:nvPr/>
        </p:nvSpPr>
        <p:spPr>
          <a:xfrm>
            <a:off x="566928" y="3355848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3"/>
          <p:cNvSpPr txBox="1"/>
          <p:nvPr/>
        </p:nvSpPr>
        <p:spPr>
          <a:xfrm>
            <a:off x="603504" y="3355848"/>
            <a:ext cx="1755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démarche</a:t>
            </a:r>
            <a:endParaRPr/>
          </a:p>
        </p:txBody>
      </p:sp>
      <p:sp>
        <p:nvSpPr>
          <p:cNvPr id="1383" name="Google Shape;1383;p3"/>
          <p:cNvSpPr txBox="1"/>
          <p:nvPr/>
        </p:nvSpPr>
        <p:spPr>
          <a:xfrm>
            <a:off x="2578608" y="3236976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d'entrée qui chiffre le statu quo, puis une trajectoire : cadrer l'offre, assainir, transformer.</a:t>
            </a:r>
            <a:endParaRPr/>
          </a:p>
        </p:txBody>
      </p:sp>
      <p:sp>
        <p:nvSpPr>
          <p:cNvPr id="1384" name="Google Shape;1384;p3"/>
          <p:cNvSpPr/>
          <p:nvPr/>
        </p:nvSpPr>
        <p:spPr>
          <a:xfrm>
            <a:off x="1481328" y="3895344"/>
            <a:ext cx="6885432" cy="566928"/>
          </a:xfrm>
          <a:prstGeom prst="roundRect">
            <a:avLst>
              <a:gd fmla="val 19354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3"/>
          <p:cNvSpPr/>
          <p:nvPr/>
        </p:nvSpPr>
        <p:spPr>
          <a:xfrm>
            <a:off x="566928" y="4014215"/>
            <a:ext cx="1828800" cy="32918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3"/>
          <p:cNvSpPr txBox="1"/>
          <p:nvPr/>
        </p:nvSpPr>
        <p:spPr>
          <a:xfrm>
            <a:off x="603504" y="4014215"/>
            <a:ext cx="1755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Ce que vous obtenez</a:t>
            </a:r>
            <a:endParaRPr/>
          </a:p>
        </p:txBody>
      </p:sp>
      <p:sp>
        <p:nvSpPr>
          <p:cNvPr id="1387" name="Google Shape;1387;p3"/>
          <p:cNvSpPr txBox="1"/>
          <p:nvPr/>
        </p:nvSpPr>
        <p:spPr>
          <a:xfrm>
            <a:off x="2578608" y="3895344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 la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capacité humaine récupérée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et réinvestie, mesurée dès le T0 — et des équipes qui portent le modèle sans nous.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 et enjeux</a:t>
            </a:r>
            <a:endParaRPr/>
          </a:p>
        </p:txBody>
      </p:sp>
      <p:sp>
        <p:nvSpPr>
          <p:cNvPr id="1393" name="Google Shape;1393;p4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394" name="Google Shape;13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Quatre symptômes, une même cause : une infra pensée comme un guichet</a:t>
            </a:r>
            <a:endParaRPr/>
          </a:p>
        </p:txBody>
      </p:sp>
      <p:sp>
        <p:nvSpPr>
          <p:cNvPr id="1400" name="Google Shape;1400;p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Les problématiques de l’infra</a:t>
            </a:r>
            <a:endParaRPr/>
          </a:p>
        </p:txBody>
      </p:sp>
      <p:sp>
        <p:nvSpPr>
          <p:cNvPr id="1401" name="Google Shape;1401;p5"/>
          <p:cNvSpPr/>
          <p:nvPr/>
        </p:nvSpPr>
        <p:spPr>
          <a:xfrm>
            <a:off x="566928" y="1600200"/>
            <a:ext cx="1826514" cy="1874519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5"/>
          <p:cNvSpPr/>
          <p:nvPr/>
        </p:nvSpPr>
        <p:spPr>
          <a:xfrm>
            <a:off x="1251585" y="1371600"/>
            <a:ext cx="457200" cy="457200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5"/>
          <p:cNvSpPr txBox="1"/>
          <p:nvPr/>
        </p:nvSpPr>
        <p:spPr>
          <a:xfrm>
            <a:off x="1251585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404" name="Google Shape;1404;p5"/>
          <p:cNvSpPr txBox="1"/>
          <p:nvPr/>
        </p:nvSpPr>
        <p:spPr>
          <a:xfrm>
            <a:off x="704088" y="1965960"/>
            <a:ext cx="1552194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délais qui s'allongent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Trois semaines pour un environnement ; l'équipe infra devient le goulot.</a:t>
            </a:r>
            <a:endParaRPr/>
          </a:p>
        </p:txBody>
      </p:sp>
      <p:sp>
        <p:nvSpPr>
          <p:cNvPr id="1405" name="Google Shape;1405;p5"/>
          <p:cNvSpPr/>
          <p:nvPr/>
        </p:nvSpPr>
        <p:spPr>
          <a:xfrm>
            <a:off x="2558034" y="1600200"/>
            <a:ext cx="1826514" cy="1874519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5"/>
          <p:cNvSpPr/>
          <p:nvPr/>
        </p:nvSpPr>
        <p:spPr>
          <a:xfrm>
            <a:off x="3242691" y="13716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5"/>
          <p:cNvSpPr txBox="1"/>
          <p:nvPr/>
        </p:nvSpPr>
        <p:spPr>
          <a:xfrm>
            <a:off x="3242691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408" name="Google Shape;1408;p5"/>
          <p:cNvSpPr txBox="1"/>
          <p:nvPr/>
        </p:nvSpPr>
        <p:spPr>
          <a:xfrm>
            <a:off x="2695194" y="1965960"/>
            <a:ext cx="1552194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Une offre que personne ne lit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Plusieurs plateformes, aucune vision d'ensemble ; on ne sait pas à qui s'adresser.</a:t>
            </a:r>
            <a:endParaRPr/>
          </a:p>
        </p:txBody>
      </p:sp>
      <p:sp>
        <p:nvSpPr>
          <p:cNvPr id="1409" name="Google Shape;1409;p5"/>
          <p:cNvSpPr/>
          <p:nvPr/>
        </p:nvSpPr>
        <p:spPr>
          <a:xfrm>
            <a:off x="4549140" y="1600200"/>
            <a:ext cx="1826514" cy="1874519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5"/>
          <p:cNvSpPr/>
          <p:nvPr/>
        </p:nvSpPr>
        <p:spPr>
          <a:xfrm>
            <a:off x="5233797" y="13716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5"/>
          <p:cNvSpPr txBox="1"/>
          <p:nvPr/>
        </p:nvSpPr>
        <p:spPr>
          <a:xfrm>
            <a:off x="5233797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412" name="Google Shape;1412;p5"/>
          <p:cNvSpPr txBox="1"/>
          <p:nvPr/>
        </p:nvSpPr>
        <p:spPr>
          <a:xfrm>
            <a:off x="4686300" y="1965960"/>
            <a:ext cx="1552194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outils contournés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Une plateforme existe, les équipes applicatives passent à côté.</a:t>
            </a:r>
            <a:endParaRPr/>
          </a:p>
        </p:txBody>
      </p:sp>
      <p:sp>
        <p:nvSpPr>
          <p:cNvPr id="1413" name="Google Shape;1413;p5"/>
          <p:cNvSpPr/>
          <p:nvPr/>
        </p:nvSpPr>
        <p:spPr>
          <a:xfrm>
            <a:off x="6540246" y="1600200"/>
            <a:ext cx="1826514" cy="1874519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5"/>
          <p:cNvSpPr/>
          <p:nvPr/>
        </p:nvSpPr>
        <p:spPr>
          <a:xfrm>
            <a:off x="7224903" y="13716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5"/>
          <p:cNvSpPr txBox="1"/>
          <p:nvPr/>
        </p:nvSpPr>
        <p:spPr>
          <a:xfrm>
            <a:off x="7224903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/>
          </a:p>
        </p:txBody>
      </p:sp>
      <p:sp>
        <p:nvSpPr>
          <p:cNvPr id="1416" name="Google Shape;1416;p5"/>
          <p:cNvSpPr txBox="1"/>
          <p:nvPr/>
        </p:nvSpPr>
        <p:spPr>
          <a:xfrm>
            <a:off x="6677406" y="1965960"/>
            <a:ext cx="1552194" cy="1417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coûts sans valeur visible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Les coûts cloud explosent sans qu'on sache ce qu'ils apportent.</a:t>
            </a:r>
            <a:endParaRPr/>
          </a:p>
        </p:txBody>
      </p:sp>
      <p:sp>
        <p:nvSpPr>
          <p:cNvPr id="1417" name="Google Shape;1417;p5"/>
          <p:cNvSpPr/>
          <p:nvPr/>
        </p:nvSpPr>
        <p:spPr>
          <a:xfrm>
            <a:off x="566928" y="3749039"/>
            <a:ext cx="7799832" cy="777240"/>
          </a:xfrm>
          <a:prstGeom prst="roundRect">
            <a:avLst>
              <a:gd fmla="val 11764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5"/>
          <p:cNvSpPr txBox="1"/>
          <p:nvPr/>
        </p:nvSpPr>
        <p:spPr>
          <a:xfrm>
            <a:off x="704088" y="369417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19" name="Google Shape;1419;p5"/>
          <p:cNvSpPr txBox="1"/>
          <p:nvPr/>
        </p:nvSpPr>
        <p:spPr>
          <a:xfrm>
            <a:off x="1161288" y="3749039"/>
            <a:ext cx="7022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réponse n'est pas un outil de plus, c'est une posture produit : voici les situations vécues, puis ce que l'approche apporte.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6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 situations que toute DSI reconnaît</a:t>
            </a:r>
            <a:endParaRPr/>
          </a:p>
        </p:txBody>
      </p:sp>
      <p:sp>
        <p:nvSpPr>
          <p:cNvPr id="1425" name="Google Shape;1425;p6"/>
          <p:cNvSpPr/>
          <p:nvPr/>
        </p:nvSpPr>
        <p:spPr>
          <a:xfrm>
            <a:off x="566928" y="118872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"/>
          <p:cNvSpPr txBox="1"/>
          <p:nvPr/>
        </p:nvSpPr>
        <p:spPr>
          <a:xfrm>
            <a:off x="676656" y="117043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27" name="Google Shape;1427;p6"/>
          <p:cNvSpPr/>
          <p:nvPr/>
        </p:nvSpPr>
        <p:spPr>
          <a:xfrm>
            <a:off x="1570482" y="1069848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6"/>
          <p:cNvSpPr txBox="1"/>
          <p:nvPr/>
        </p:nvSpPr>
        <p:spPr>
          <a:xfrm>
            <a:off x="1607058" y="1069848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Délais</a:t>
            </a:r>
            <a:endParaRPr/>
          </a:p>
        </p:txBody>
      </p:sp>
      <p:sp>
        <p:nvSpPr>
          <p:cNvPr id="1429" name="Google Shape;1429;p6"/>
          <p:cNvSpPr txBox="1"/>
          <p:nvPr/>
        </p:nvSpPr>
        <p:spPr>
          <a:xfrm>
            <a:off x="731520" y="157276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développeurs attendent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trois semaines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pour obtenir leur environnement.</a:t>
            </a:r>
            <a:endParaRPr/>
          </a:p>
        </p:txBody>
      </p:sp>
      <p:sp>
        <p:nvSpPr>
          <p:cNvPr id="1430" name="Google Shape;1430;p6"/>
          <p:cNvSpPr/>
          <p:nvPr/>
        </p:nvSpPr>
        <p:spPr>
          <a:xfrm>
            <a:off x="2567178" y="118872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"/>
          <p:cNvSpPr txBox="1"/>
          <p:nvPr/>
        </p:nvSpPr>
        <p:spPr>
          <a:xfrm>
            <a:off x="2676906" y="117043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32" name="Google Shape;1432;p6"/>
          <p:cNvSpPr/>
          <p:nvPr/>
        </p:nvSpPr>
        <p:spPr>
          <a:xfrm>
            <a:off x="3570732" y="1069848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"/>
          <p:cNvSpPr txBox="1"/>
          <p:nvPr/>
        </p:nvSpPr>
        <p:spPr>
          <a:xfrm>
            <a:off x="3607308" y="1069848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Délais</a:t>
            </a:r>
            <a:endParaRPr/>
          </a:p>
        </p:txBody>
      </p:sp>
      <p:sp>
        <p:nvSpPr>
          <p:cNvPr id="1434" name="Google Shape;1434;p6"/>
          <p:cNvSpPr txBox="1"/>
          <p:nvPr/>
        </p:nvSpPr>
        <p:spPr>
          <a:xfrm>
            <a:off x="2731770" y="157276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Notre équipe infra est devenue un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goulot d'étranglement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35" name="Google Shape;1435;p6"/>
          <p:cNvSpPr/>
          <p:nvPr/>
        </p:nvSpPr>
        <p:spPr>
          <a:xfrm>
            <a:off x="4567428" y="118872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"/>
          <p:cNvSpPr txBox="1"/>
          <p:nvPr/>
        </p:nvSpPr>
        <p:spPr>
          <a:xfrm>
            <a:off x="4677156" y="117043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37" name="Google Shape;1437;p6"/>
          <p:cNvSpPr/>
          <p:nvPr/>
        </p:nvSpPr>
        <p:spPr>
          <a:xfrm>
            <a:off x="5570982" y="1069848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"/>
          <p:cNvSpPr txBox="1"/>
          <p:nvPr/>
        </p:nvSpPr>
        <p:spPr>
          <a:xfrm>
            <a:off x="5607558" y="1069848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Délais</a:t>
            </a:r>
            <a:endParaRPr/>
          </a:p>
        </p:txBody>
      </p:sp>
      <p:sp>
        <p:nvSpPr>
          <p:cNvPr id="1439" name="Google Shape;1439;p6"/>
          <p:cNvSpPr txBox="1"/>
          <p:nvPr/>
        </p:nvSpPr>
        <p:spPr>
          <a:xfrm>
            <a:off x="4732020" y="157276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voulons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réduire les tickets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40" name="Google Shape;1440;p6"/>
          <p:cNvSpPr/>
          <p:nvPr/>
        </p:nvSpPr>
        <p:spPr>
          <a:xfrm>
            <a:off x="6567678" y="118872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"/>
          <p:cNvSpPr txBox="1"/>
          <p:nvPr/>
        </p:nvSpPr>
        <p:spPr>
          <a:xfrm>
            <a:off x="6677406" y="117043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42" name="Google Shape;1442;p6"/>
          <p:cNvSpPr/>
          <p:nvPr/>
        </p:nvSpPr>
        <p:spPr>
          <a:xfrm>
            <a:off x="7639812" y="1069848"/>
            <a:ext cx="617220" cy="23774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"/>
          <p:cNvSpPr txBox="1"/>
          <p:nvPr/>
        </p:nvSpPr>
        <p:spPr>
          <a:xfrm>
            <a:off x="7676388" y="1069848"/>
            <a:ext cx="5440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Coûts</a:t>
            </a:r>
            <a:endParaRPr/>
          </a:p>
        </p:txBody>
      </p:sp>
      <p:sp>
        <p:nvSpPr>
          <p:cNvPr id="1444" name="Google Shape;1444;p6"/>
          <p:cNvSpPr txBox="1"/>
          <p:nvPr/>
        </p:nvSpPr>
        <p:spPr>
          <a:xfrm>
            <a:off x="6732270" y="157276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coûts cloud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explosent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45" name="Google Shape;1445;p6"/>
          <p:cNvSpPr/>
          <p:nvPr/>
        </p:nvSpPr>
        <p:spPr>
          <a:xfrm>
            <a:off x="566928" y="288036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6"/>
          <p:cNvSpPr txBox="1"/>
          <p:nvPr/>
        </p:nvSpPr>
        <p:spPr>
          <a:xfrm>
            <a:off x="676656" y="286207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47" name="Google Shape;1447;p6"/>
          <p:cNvSpPr/>
          <p:nvPr/>
        </p:nvSpPr>
        <p:spPr>
          <a:xfrm>
            <a:off x="953262" y="2761488"/>
            <a:ext cx="130302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6"/>
          <p:cNvSpPr txBox="1"/>
          <p:nvPr/>
        </p:nvSpPr>
        <p:spPr>
          <a:xfrm>
            <a:off x="989838" y="2761488"/>
            <a:ext cx="12298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Offre illisible</a:t>
            </a:r>
            <a:endParaRPr/>
          </a:p>
        </p:txBody>
      </p:sp>
      <p:sp>
        <p:nvSpPr>
          <p:cNvPr id="1449" name="Google Shape;1449;p6"/>
          <p:cNvSpPr txBox="1"/>
          <p:nvPr/>
        </p:nvSpPr>
        <p:spPr>
          <a:xfrm>
            <a:off x="731520" y="326440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avons une plateforme, mais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personne ne l'utilise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50" name="Google Shape;1450;p6"/>
          <p:cNvSpPr/>
          <p:nvPr/>
        </p:nvSpPr>
        <p:spPr>
          <a:xfrm>
            <a:off x="2567178" y="288036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"/>
          <p:cNvSpPr txBox="1"/>
          <p:nvPr/>
        </p:nvSpPr>
        <p:spPr>
          <a:xfrm>
            <a:off x="2676906" y="286207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52" name="Google Shape;1452;p6"/>
          <p:cNvSpPr/>
          <p:nvPr/>
        </p:nvSpPr>
        <p:spPr>
          <a:xfrm>
            <a:off x="2953512" y="2761488"/>
            <a:ext cx="130302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"/>
          <p:cNvSpPr txBox="1"/>
          <p:nvPr/>
        </p:nvSpPr>
        <p:spPr>
          <a:xfrm>
            <a:off x="2990088" y="2761488"/>
            <a:ext cx="12298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Offre illisible</a:t>
            </a:r>
            <a:endParaRPr/>
          </a:p>
        </p:txBody>
      </p:sp>
      <p:sp>
        <p:nvSpPr>
          <p:cNvPr id="1454" name="Google Shape;1454;p6"/>
          <p:cNvSpPr txBox="1"/>
          <p:nvPr/>
        </p:nvSpPr>
        <p:spPr>
          <a:xfrm>
            <a:off x="2731770" y="326440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avons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plusieurs plateformes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qui font plus ou moins la même chose.</a:t>
            </a:r>
            <a:endParaRPr/>
          </a:p>
        </p:txBody>
      </p:sp>
      <p:sp>
        <p:nvSpPr>
          <p:cNvPr id="1455" name="Google Shape;1455;p6"/>
          <p:cNvSpPr/>
          <p:nvPr/>
        </p:nvSpPr>
        <p:spPr>
          <a:xfrm>
            <a:off x="4567428" y="288036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6"/>
          <p:cNvSpPr txBox="1"/>
          <p:nvPr/>
        </p:nvSpPr>
        <p:spPr>
          <a:xfrm>
            <a:off x="4677156" y="286207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57" name="Google Shape;1457;p6"/>
          <p:cNvSpPr/>
          <p:nvPr/>
        </p:nvSpPr>
        <p:spPr>
          <a:xfrm>
            <a:off x="4953762" y="2761488"/>
            <a:ext cx="130302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6"/>
          <p:cNvSpPr txBox="1"/>
          <p:nvPr/>
        </p:nvSpPr>
        <p:spPr>
          <a:xfrm>
            <a:off x="4990338" y="2761488"/>
            <a:ext cx="12298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Offre illisible</a:t>
            </a:r>
            <a:endParaRPr/>
          </a:p>
        </p:txBody>
      </p:sp>
      <p:sp>
        <p:nvSpPr>
          <p:cNvPr id="1459" name="Google Shape;1459;p6"/>
          <p:cNvSpPr txBox="1"/>
          <p:nvPr/>
        </p:nvSpPr>
        <p:spPr>
          <a:xfrm>
            <a:off x="4732020" y="326440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Pour développer un produit, il faut solliciter plusieurs équipes — sans savoir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à qui s'adresser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, ni pour quoi.</a:t>
            </a:r>
            <a:endParaRPr/>
          </a:p>
        </p:txBody>
      </p:sp>
      <p:sp>
        <p:nvSpPr>
          <p:cNvPr id="1460" name="Google Shape;1460;p6"/>
          <p:cNvSpPr/>
          <p:nvPr/>
        </p:nvSpPr>
        <p:spPr>
          <a:xfrm>
            <a:off x="6567678" y="2880360"/>
            <a:ext cx="1799082" cy="1417320"/>
          </a:xfrm>
          <a:prstGeom prst="round2DiagRect">
            <a:avLst>
              <a:gd fmla="val 18000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"/>
          <p:cNvSpPr txBox="1"/>
          <p:nvPr/>
        </p:nvSpPr>
        <p:spPr>
          <a:xfrm>
            <a:off x="6677406" y="286207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462" name="Google Shape;1462;p6"/>
          <p:cNvSpPr/>
          <p:nvPr/>
        </p:nvSpPr>
        <p:spPr>
          <a:xfrm>
            <a:off x="6954012" y="2761488"/>
            <a:ext cx="1303020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"/>
          <p:cNvSpPr txBox="1"/>
          <p:nvPr/>
        </p:nvSpPr>
        <p:spPr>
          <a:xfrm>
            <a:off x="6990588" y="2761488"/>
            <a:ext cx="12298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Offre illisible</a:t>
            </a:r>
            <a:endParaRPr/>
          </a:p>
        </p:txBody>
      </p:sp>
      <p:sp>
        <p:nvSpPr>
          <p:cNvPr id="1464" name="Google Shape;1464;p6"/>
          <p:cNvSpPr txBox="1"/>
          <p:nvPr/>
        </p:nvSpPr>
        <p:spPr>
          <a:xfrm>
            <a:off x="6732270" y="3264408"/>
            <a:ext cx="15064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n'avons </a:t>
            </a:r>
            <a:r>
              <a:rPr b="1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pas de vision globale</a:t>
            </a:r>
            <a:r>
              <a:rPr b="0" i="1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 : pas d'outils intégrés et simples au service des applications.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7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Ce que l'approche produit apporte, problème par problème</a:t>
            </a:r>
            <a:endParaRPr/>
          </a:p>
        </p:txBody>
      </p:sp>
      <p:sp>
        <p:nvSpPr>
          <p:cNvPr id="1470" name="Google Shape;1470;p7"/>
          <p:cNvSpPr txBox="1"/>
          <p:nvPr/>
        </p:nvSpPr>
        <p:spPr>
          <a:xfrm>
            <a:off x="566928" y="93268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LE PROBLÈME</a:t>
            </a:r>
            <a:endParaRPr/>
          </a:p>
        </p:txBody>
      </p:sp>
      <p:sp>
        <p:nvSpPr>
          <p:cNvPr id="1471" name="Google Shape;1471;p7"/>
          <p:cNvSpPr txBox="1"/>
          <p:nvPr/>
        </p:nvSpPr>
        <p:spPr>
          <a:xfrm>
            <a:off x="3447288" y="932688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L'APPORT DE L'APPROCHE PRODUIT</a:t>
            </a:r>
            <a:endParaRPr/>
          </a:p>
        </p:txBody>
      </p:sp>
      <p:sp>
        <p:nvSpPr>
          <p:cNvPr id="1472" name="Google Shape;1472;p7"/>
          <p:cNvSpPr txBox="1"/>
          <p:nvPr/>
        </p:nvSpPr>
        <p:spPr>
          <a:xfrm>
            <a:off x="6281928" y="932688"/>
            <a:ext cx="20848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L'INDICATEUR À SUIVRE</a:t>
            </a:r>
            <a:endParaRPr/>
          </a:p>
        </p:txBody>
      </p:sp>
      <p:sp>
        <p:nvSpPr>
          <p:cNvPr id="1473" name="Google Shape;1473;p7"/>
          <p:cNvSpPr/>
          <p:nvPr/>
        </p:nvSpPr>
        <p:spPr>
          <a:xfrm>
            <a:off x="566928" y="1188720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7"/>
          <p:cNvSpPr txBox="1"/>
          <p:nvPr/>
        </p:nvSpPr>
        <p:spPr>
          <a:xfrm>
            <a:off x="676656" y="1188720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L'infra est perçue comme un centre de coûts</a:t>
            </a:r>
            <a:endParaRPr/>
          </a:p>
        </p:txBody>
      </p:sp>
      <p:sp>
        <p:nvSpPr>
          <p:cNvPr id="1475" name="Google Shape;1475;p7"/>
          <p:cNvSpPr/>
          <p:nvPr/>
        </p:nvSpPr>
        <p:spPr>
          <a:xfrm>
            <a:off x="3264408" y="1252728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7"/>
          <p:cNvSpPr/>
          <p:nvPr/>
        </p:nvSpPr>
        <p:spPr>
          <a:xfrm>
            <a:off x="3447288" y="1188720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7"/>
          <p:cNvSpPr txBox="1"/>
          <p:nvPr/>
        </p:nvSpPr>
        <p:spPr>
          <a:xfrm>
            <a:off x="3557016" y="1188720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Clarifier la proposition de valeur</a:t>
            </a:r>
            <a:endParaRPr/>
          </a:p>
        </p:txBody>
      </p:sp>
      <p:sp>
        <p:nvSpPr>
          <p:cNvPr id="1478" name="Google Shape;1478;p7"/>
          <p:cNvSpPr/>
          <p:nvPr/>
        </p:nvSpPr>
        <p:spPr>
          <a:xfrm>
            <a:off x="6281928" y="1207008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7"/>
          <p:cNvSpPr txBox="1"/>
          <p:nvPr/>
        </p:nvSpPr>
        <p:spPr>
          <a:xfrm>
            <a:off x="6318504" y="1207008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Valeur délivrée par capacité</a:t>
            </a:r>
            <a:endParaRPr/>
          </a:p>
        </p:txBody>
      </p:sp>
      <p:sp>
        <p:nvSpPr>
          <p:cNvPr id="1480" name="Google Shape;1480;p7"/>
          <p:cNvSpPr/>
          <p:nvPr/>
        </p:nvSpPr>
        <p:spPr>
          <a:xfrm>
            <a:off x="566928" y="1523390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7"/>
          <p:cNvSpPr txBox="1"/>
          <p:nvPr/>
        </p:nvSpPr>
        <p:spPr>
          <a:xfrm>
            <a:off x="676656" y="1523390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utilisateurs ne comprennent pas l'offre</a:t>
            </a:r>
            <a:endParaRPr/>
          </a:p>
        </p:txBody>
      </p:sp>
      <p:sp>
        <p:nvSpPr>
          <p:cNvPr id="1482" name="Google Shape;1482;p7"/>
          <p:cNvSpPr/>
          <p:nvPr/>
        </p:nvSpPr>
        <p:spPr>
          <a:xfrm>
            <a:off x="3264408" y="1587398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7"/>
          <p:cNvSpPr/>
          <p:nvPr/>
        </p:nvSpPr>
        <p:spPr>
          <a:xfrm>
            <a:off x="3447288" y="1523390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7"/>
          <p:cNvSpPr txBox="1"/>
          <p:nvPr/>
        </p:nvSpPr>
        <p:spPr>
          <a:xfrm>
            <a:off x="3557016" y="1523390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Formaliser un catalogue de capacités</a:t>
            </a:r>
            <a:endParaRPr/>
          </a:p>
        </p:txBody>
      </p:sp>
      <p:sp>
        <p:nvSpPr>
          <p:cNvPr id="1485" name="Google Shape;1485;p7"/>
          <p:cNvSpPr/>
          <p:nvPr/>
        </p:nvSpPr>
        <p:spPr>
          <a:xfrm>
            <a:off x="6281928" y="1541678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7"/>
          <p:cNvSpPr txBox="1"/>
          <p:nvPr/>
        </p:nvSpPr>
        <p:spPr>
          <a:xfrm>
            <a:off x="6318504" y="1541678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Demandes couvertes par le catalogue</a:t>
            </a:r>
            <a:endParaRPr/>
          </a:p>
        </p:txBody>
      </p:sp>
      <p:sp>
        <p:nvSpPr>
          <p:cNvPr id="1487" name="Google Shape;1487;p7"/>
          <p:cNvSpPr/>
          <p:nvPr/>
        </p:nvSpPr>
        <p:spPr>
          <a:xfrm>
            <a:off x="566928" y="1858060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7"/>
          <p:cNvSpPr txBox="1"/>
          <p:nvPr/>
        </p:nvSpPr>
        <p:spPr>
          <a:xfrm>
            <a:off x="676656" y="1858060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demandes sont trop spécifiques</a:t>
            </a:r>
            <a:endParaRPr/>
          </a:p>
        </p:txBody>
      </p:sp>
      <p:sp>
        <p:nvSpPr>
          <p:cNvPr id="1489" name="Google Shape;1489;p7"/>
          <p:cNvSpPr/>
          <p:nvPr/>
        </p:nvSpPr>
        <p:spPr>
          <a:xfrm>
            <a:off x="3264408" y="1922068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7"/>
          <p:cNvSpPr/>
          <p:nvPr/>
        </p:nvSpPr>
        <p:spPr>
          <a:xfrm>
            <a:off x="3447288" y="1858060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7"/>
          <p:cNvSpPr txBox="1"/>
          <p:nvPr/>
        </p:nvSpPr>
        <p:spPr>
          <a:xfrm>
            <a:off x="3557016" y="1858060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Identifier les besoins récurrents</a:t>
            </a:r>
            <a:endParaRPr/>
          </a:p>
        </p:txBody>
      </p:sp>
      <p:sp>
        <p:nvSpPr>
          <p:cNvPr id="1492" name="Google Shape;1492;p7"/>
          <p:cNvSpPr/>
          <p:nvPr/>
        </p:nvSpPr>
        <p:spPr>
          <a:xfrm>
            <a:off x="6281928" y="1876348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7"/>
          <p:cNvSpPr txBox="1"/>
          <p:nvPr/>
        </p:nvSpPr>
        <p:spPr>
          <a:xfrm>
            <a:off x="6318504" y="1876348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Part de demandes standardisées</a:t>
            </a:r>
            <a:endParaRPr/>
          </a:p>
        </p:txBody>
      </p:sp>
      <p:sp>
        <p:nvSpPr>
          <p:cNvPr id="1494" name="Google Shape;1494;p7"/>
          <p:cNvSpPr/>
          <p:nvPr/>
        </p:nvSpPr>
        <p:spPr>
          <a:xfrm>
            <a:off x="566928" y="2192731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7"/>
          <p:cNvSpPr txBox="1"/>
          <p:nvPr/>
        </p:nvSpPr>
        <p:spPr>
          <a:xfrm>
            <a:off x="676656" y="2192731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outils sont peu adoptés</a:t>
            </a:r>
            <a:endParaRPr/>
          </a:p>
        </p:txBody>
      </p:sp>
      <p:sp>
        <p:nvSpPr>
          <p:cNvPr id="1496" name="Google Shape;1496;p7"/>
          <p:cNvSpPr/>
          <p:nvPr/>
        </p:nvSpPr>
        <p:spPr>
          <a:xfrm>
            <a:off x="3264408" y="2256739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7"/>
          <p:cNvSpPr/>
          <p:nvPr/>
        </p:nvSpPr>
        <p:spPr>
          <a:xfrm>
            <a:off x="3447288" y="2192731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7"/>
          <p:cNvSpPr txBox="1"/>
          <p:nvPr/>
        </p:nvSpPr>
        <p:spPr>
          <a:xfrm>
            <a:off x="3557016" y="2192731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Travailler l'UX et l'adoption</a:t>
            </a:r>
            <a:endParaRPr/>
          </a:p>
        </p:txBody>
      </p:sp>
      <p:sp>
        <p:nvSpPr>
          <p:cNvPr id="1499" name="Google Shape;1499;p7"/>
          <p:cNvSpPr/>
          <p:nvPr/>
        </p:nvSpPr>
        <p:spPr>
          <a:xfrm>
            <a:off x="6281928" y="2211019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7"/>
          <p:cNvSpPr txBox="1"/>
          <p:nvPr/>
        </p:nvSpPr>
        <p:spPr>
          <a:xfrm>
            <a:off x="6318504" y="2211019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Taux d'adoption</a:t>
            </a:r>
            <a:endParaRPr/>
          </a:p>
        </p:txBody>
      </p:sp>
      <p:sp>
        <p:nvSpPr>
          <p:cNvPr id="1501" name="Google Shape;1501;p7"/>
          <p:cNvSpPr/>
          <p:nvPr/>
        </p:nvSpPr>
        <p:spPr>
          <a:xfrm>
            <a:off x="566928" y="2527401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7"/>
          <p:cNvSpPr txBox="1"/>
          <p:nvPr/>
        </p:nvSpPr>
        <p:spPr>
          <a:xfrm>
            <a:off x="676656" y="2527401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équipes applicatives contournent l'infra</a:t>
            </a:r>
            <a:endParaRPr/>
          </a:p>
        </p:txBody>
      </p:sp>
      <p:sp>
        <p:nvSpPr>
          <p:cNvPr id="1503" name="Google Shape;1503;p7"/>
          <p:cNvSpPr/>
          <p:nvPr/>
        </p:nvSpPr>
        <p:spPr>
          <a:xfrm>
            <a:off x="3264408" y="2591409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7"/>
          <p:cNvSpPr/>
          <p:nvPr/>
        </p:nvSpPr>
        <p:spPr>
          <a:xfrm>
            <a:off x="3447288" y="2527401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7"/>
          <p:cNvSpPr txBox="1"/>
          <p:nvPr/>
        </p:nvSpPr>
        <p:spPr>
          <a:xfrm>
            <a:off x="3557016" y="2527401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Rendre l'offre simple et désirable</a:t>
            </a:r>
            <a:endParaRPr/>
          </a:p>
        </p:txBody>
      </p:sp>
      <p:sp>
        <p:nvSpPr>
          <p:cNvPr id="1506" name="Google Shape;1506;p7"/>
          <p:cNvSpPr/>
          <p:nvPr/>
        </p:nvSpPr>
        <p:spPr>
          <a:xfrm>
            <a:off x="6281928" y="2545689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7"/>
          <p:cNvSpPr txBox="1"/>
          <p:nvPr/>
        </p:nvSpPr>
        <p:spPr>
          <a:xfrm>
            <a:off x="6318504" y="2545689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Usages hors plateforme</a:t>
            </a:r>
            <a:endParaRPr/>
          </a:p>
        </p:txBody>
      </p:sp>
      <p:sp>
        <p:nvSpPr>
          <p:cNvPr id="1508" name="Google Shape;1508;p7"/>
          <p:cNvSpPr/>
          <p:nvPr/>
        </p:nvSpPr>
        <p:spPr>
          <a:xfrm>
            <a:off x="566928" y="2862072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7"/>
          <p:cNvSpPr txBox="1"/>
          <p:nvPr/>
        </p:nvSpPr>
        <p:spPr>
          <a:xfrm>
            <a:off x="676656" y="2862072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priorités sont politiques</a:t>
            </a:r>
            <a:endParaRPr/>
          </a:p>
        </p:txBody>
      </p:sp>
      <p:sp>
        <p:nvSpPr>
          <p:cNvPr id="1510" name="Google Shape;1510;p7"/>
          <p:cNvSpPr/>
          <p:nvPr/>
        </p:nvSpPr>
        <p:spPr>
          <a:xfrm>
            <a:off x="3264408" y="2926079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7"/>
          <p:cNvSpPr/>
          <p:nvPr/>
        </p:nvSpPr>
        <p:spPr>
          <a:xfrm>
            <a:off x="3447288" y="2862072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7"/>
          <p:cNvSpPr txBox="1"/>
          <p:nvPr/>
        </p:nvSpPr>
        <p:spPr>
          <a:xfrm>
            <a:off x="3557016" y="2862072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Prioriser par valeur, usage, risque, adoption</a:t>
            </a:r>
            <a:endParaRPr/>
          </a:p>
        </p:txBody>
      </p:sp>
      <p:sp>
        <p:nvSpPr>
          <p:cNvPr id="1513" name="Google Shape;1513;p7"/>
          <p:cNvSpPr/>
          <p:nvPr/>
        </p:nvSpPr>
        <p:spPr>
          <a:xfrm>
            <a:off x="6281928" y="2880360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7"/>
          <p:cNvSpPr txBox="1"/>
          <p:nvPr/>
        </p:nvSpPr>
        <p:spPr>
          <a:xfrm>
            <a:off x="6318504" y="2880360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Backlog priorisé sur critères partagés</a:t>
            </a:r>
            <a:endParaRPr/>
          </a:p>
        </p:txBody>
      </p:sp>
      <p:sp>
        <p:nvSpPr>
          <p:cNvPr id="1515" name="Google Shape;1515;p7"/>
          <p:cNvSpPr/>
          <p:nvPr/>
        </p:nvSpPr>
        <p:spPr>
          <a:xfrm>
            <a:off x="566928" y="3196742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"/>
          <p:cNvSpPr txBox="1"/>
          <p:nvPr/>
        </p:nvSpPr>
        <p:spPr>
          <a:xfrm>
            <a:off x="676656" y="3196742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capacités livrées ne sont pas utilisées</a:t>
            </a:r>
            <a:endParaRPr/>
          </a:p>
        </p:txBody>
      </p:sp>
      <p:sp>
        <p:nvSpPr>
          <p:cNvPr id="1517" name="Google Shape;1517;p7"/>
          <p:cNvSpPr/>
          <p:nvPr/>
        </p:nvSpPr>
        <p:spPr>
          <a:xfrm>
            <a:off x="3264408" y="3260750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7"/>
          <p:cNvSpPr/>
          <p:nvPr/>
        </p:nvSpPr>
        <p:spPr>
          <a:xfrm>
            <a:off x="3447288" y="3196742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7"/>
          <p:cNvSpPr txBox="1"/>
          <p:nvPr/>
        </p:nvSpPr>
        <p:spPr>
          <a:xfrm>
            <a:off x="3557016" y="3196742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Mesurer l'usage réel</a:t>
            </a:r>
            <a:endParaRPr/>
          </a:p>
        </p:txBody>
      </p:sp>
      <p:sp>
        <p:nvSpPr>
          <p:cNvPr id="1520" name="Google Shape;1520;p7"/>
          <p:cNvSpPr/>
          <p:nvPr/>
        </p:nvSpPr>
        <p:spPr>
          <a:xfrm>
            <a:off x="6281928" y="3215030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7"/>
          <p:cNvSpPr txBox="1"/>
          <p:nvPr/>
        </p:nvSpPr>
        <p:spPr>
          <a:xfrm>
            <a:off x="6318504" y="3215030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Usage par capacité livrée</a:t>
            </a:r>
            <a:endParaRPr/>
          </a:p>
        </p:txBody>
      </p:sp>
      <p:sp>
        <p:nvSpPr>
          <p:cNvPr id="1522" name="Google Shape;1522;p7"/>
          <p:cNvSpPr/>
          <p:nvPr/>
        </p:nvSpPr>
        <p:spPr>
          <a:xfrm>
            <a:off x="566928" y="3531412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7"/>
          <p:cNvSpPr txBox="1"/>
          <p:nvPr/>
        </p:nvSpPr>
        <p:spPr>
          <a:xfrm>
            <a:off x="676656" y="3531412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L'automatisation manque de financement</a:t>
            </a:r>
            <a:endParaRPr/>
          </a:p>
        </p:txBody>
      </p:sp>
      <p:sp>
        <p:nvSpPr>
          <p:cNvPr id="1524" name="Google Shape;1524;p7"/>
          <p:cNvSpPr/>
          <p:nvPr/>
        </p:nvSpPr>
        <p:spPr>
          <a:xfrm>
            <a:off x="3264408" y="3595420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7"/>
          <p:cNvSpPr/>
          <p:nvPr/>
        </p:nvSpPr>
        <p:spPr>
          <a:xfrm>
            <a:off x="3447288" y="3531412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7"/>
          <p:cNvSpPr txBox="1"/>
          <p:nvPr/>
        </p:nvSpPr>
        <p:spPr>
          <a:xfrm>
            <a:off x="3557016" y="3531412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Construire un business case produit</a:t>
            </a:r>
            <a:endParaRPr/>
          </a:p>
        </p:txBody>
      </p:sp>
      <p:sp>
        <p:nvSpPr>
          <p:cNvPr id="1527" name="Google Shape;1527;p7"/>
          <p:cNvSpPr/>
          <p:nvPr/>
        </p:nvSpPr>
        <p:spPr>
          <a:xfrm>
            <a:off x="6281928" y="3549700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7"/>
          <p:cNvSpPr txBox="1"/>
          <p:nvPr/>
        </p:nvSpPr>
        <p:spPr>
          <a:xfrm>
            <a:off x="6318504" y="3549700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Capacité RUN récupérée</a:t>
            </a:r>
            <a:endParaRPr/>
          </a:p>
        </p:txBody>
      </p:sp>
      <p:sp>
        <p:nvSpPr>
          <p:cNvPr id="1529" name="Google Shape;1529;p7"/>
          <p:cNvSpPr/>
          <p:nvPr/>
        </p:nvSpPr>
        <p:spPr>
          <a:xfrm>
            <a:off x="566928" y="3866083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7"/>
          <p:cNvSpPr txBox="1"/>
          <p:nvPr/>
        </p:nvSpPr>
        <p:spPr>
          <a:xfrm>
            <a:off x="676656" y="3866083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L'obsolescence est subie</a:t>
            </a:r>
            <a:endParaRPr/>
          </a:p>
        </p:txBody>
      </p:sp>
      <p:sp>
        <p:nvSpPr>
          <p:cNvPr id="1531" name="Google Shape;1531;p7"/>
          <p:cNvSpPr/>
          <p:nvPr/>
        </p:nvSpPr>
        <p:spPr>
          <a:xfrm>
            <a:off x="3264408" y="3930091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7"/>
          <p:cNvSpPr/>
          <p:nvPr/>
        </p:nvSpPr>
        <p:spPr>
          <a:xfrm>
            <a:off x="3447288" y="3866083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7"/>
          <p:cNvSpPr txBox="1"/>
          <p:nvPr/>
        </p:nvSpPr>
        <p:spPr>
          <a:xfrm>
            <a:off x="3557016" y="3866083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Piloter le cycle de vie des capacités</a:t>
            </a:r>
            <a:endParaRPr/>
          </a:p>
        </p:txBody>
      </p:sp>
      <p:sp>
        <p:nvSpPr>
          <p:cNvPr id="1534" name="Google Shape;1534;p7"/>
          <p:cNvSpPr/>
          <p:nvPr/>
        </p:nvSpPr>
        <p:spPr>
          <a:xfrm>
            <a:off x="6281928" y="3884371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7"/>
          <p:cNvSpPr txBox="1"/>
          <p:nvPr/>
        </p:nvSpPr>
        <p:spPr>
          <a:xfrm>
            <a:off x="6318504" y="3884371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Décommissionnements tenus</a:t>
            </a:r>
            <a:endParaRPr/>
          </a:p>
        </p:txBody>
      </p:sp>
      <p:sp>
        <p:nvSpPr>
          <p:cNvPr id="1536" name="Google Shape;1536;p7"/>
          <p:cNvSpPr/>
          <p:nvPr/>
        </p:nvSpPr>
        <p:spPr>
          <a:xfrm>
            <a:off x="566928" y="4200753"/>
            <a:ext cx="265176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"/>
          <p:cNvSpPr txBox="1"/>
          <p:nvPr/>
        </p:nvSpPr>
        <p:spPr>
          <a:xfrm>
            <a:off x="676656" y="4200753"/>
            <a:ext cx="246887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La plateforme est trop technique</a:t>
            </a:r>
            <a:endParaRPr/>
          </a:p>
        </p:txBody>
      </p:sp>
      <p:sp>
        <p:nvSpPr>
          <p:cNvPr id="1538" name="Google Shape;1538;p7"/>
          <p:cNvSpPr/>
          <p:nvPr/>
        </p:nvSpPr>
        <p:spPr>
          <a:xfrm>
            <a:off x="3264408" y="4264761"/>
            <a:ext cx="128016" cy="15544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"/>
          <p:cNvSpPr/>
          <p:nvPr/>
        </p:nvSpPr>
        <p:spPr>
          <a:xfrm>
            <a:off x="3447288" y="4200753"/>
            <a:ext cx="2606040" cy="283464"/>
          </a:xfrm>
          <a:prstGeom prst="roundRect">
            <a:avLst>
              <a:gd fmla="val 387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"/>
          <p:cNvSpPr txBox="1"/>
          <p:nvPr/>
        </p:nvSpPr>
        <p:spPr>
          <a:xfrm>
            <a:off x="3557016" y="4200753"/>
            <a:ext cx="24231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Définir des parcours compréhensibles</a:t>
            </a:r>
            <a:endParaRPr/>
          </a:p>
        </p:txBody>
      </p:sp>
      <p:sp>
        <p:nvSpPr>
          <p:cNvPr id="1541" name="Google Shape;1541;p7"/>
          <p:cNvSpPr/>
          <p:nvPr/>
        </p:nvSpPr>
        <p:spPr>
          <a:xfrm>
            <a:off x="6281928" y="4219041"/>
            <a:ext cx="2084831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"/>
          <p:cNvSpPr txBox="1"/>
          <p:nvPr/>
        </p:nvSpPr>
        <p:spPr>
          <a:xfrm>
            <a:off x="6318504" y="4219041"/>
            <a:ext cx="201167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Délai de mise à disposition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h3eb748f68e761805_0_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CONTEXTE   ·   D'un guichet sursollicité à une infra as a product — l'IA rend ce virage nécessaire.</a:t>
            </a:r>
            <a:endParaRPr/>
          </a:p>
        </p:txBody>
      </p:sp>
      <p:sp>
        <p:nvSpPr>
          <p:cNvPr id="1548" name="Google Shape;1548;h3eb748f68e761805_0_0"/>
          <p:cNvSpPr txBox="1"/>
          <p:nvPr/>
        </p:nvSpPr>
        <p:spPr>
          <a:xfrm>
            <a:off x="562356" y="1069848"/>
            <a:ext cx="4069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VIT L'INFRA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h3eb748f68e761805_0_0"/>
          <p:cNvSpPr txBox="1"/>
          <p:nvPr/>
        </p:nvSpPr>
        <p:spPr>
          <a:xfrm>
            <a:off x="5134356" y="1069848"/>
            <a:ext cx="323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QU'ON VISE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h3eb748f68e761805_0_0"/>
          <p:cNvSpPr/>
          <p:nvPr/>
        </p:nvSpPr>
        <p:spPr>
          <a:xfrm>
            <a:off x="562356" y="1307592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h3eb748f68e761805_0_0"/>
          <p:cNvSpPr txBox="1"/>
          <p:nvPr/>
        </p:nvSpPr>
        <p:spPr>
          <a:xfrm>
            <a:off x="745236" y="1307592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Sortir de la sursollicitation et du guichet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équipiers qui font trop de choses, engorgés — décommissionnement jamais fait, trop de RUN au quotidien.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h3eb748f68e761805_0_0"/>
          <p:cNvSpPr/>
          <p:nvPr/>
        </p:nvSpPr>
        <p:spPr>
          <a:xfrm>
            <a:off x="4741164" y="1527048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h3eb748f68e761805_0_0"/>
          <p:cNvSpPr/>
          <p:nvPr/>
        </p:nvSpPr>
        <p:spPr>
          <a:xfrm>
            <a:off x="5134356" y="1307592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h3eb748f68e761805_0_0"/>
          <p:cNvSpPr txBox="1"/>
          <p:nvPr/>
        </p:nvSpPr>
        <p:spPr>
          <a:xfrm>
            <a:off x="5317236" y="1307592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 et traiter les problématiques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h3eb748f68e761805_0_0"/>
          <p:cNvSpPr/>
          <p:nvPr/>
        </p:nvSpPr>
        <p:spPr>
          <a:xfrm>
            <a:off x="562356" y="2240280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h3eb748f68e761805_0_0"/>
          <p:cNvSpPr txBox="1"/>
          <p:nvPr/>
        </p:nvSpPr>
        <p:spPr>
          <a:xfrm>
            <a:off x="745236" y="2240280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Mieux servir les utilisateurs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Passer d'un guichet de demandes à une approche as a service.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h3eb748f68e761805_0_0"/>
          <p:cNvSpPr/>
          <p:nvPr/>
        </p:nvSpPr>
        <p:spPr>
          <a:xfrm>
            <a:off x="4741164" y="2459736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h3eb748f68e761805_0_0"/>
          <p:cNvSpPr/>
          <p:nvPr/>
        </p:nvSpPr>
        <p:spPr>
          <a:xfrm>
            <a:off x="5134356" y="2240280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h3eb748f68e761805_0_0"/>
          <p:cNvSpPr txBox="1"/>
          <p:nvPr/>
        </p:nvSpPr>
        <p:spPr>
          <a:xfrm>
            <a:off x="5317236" y="2240280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infra recentrée sur ses utilisateurs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h3eb748f68e761805_0_0"/>
          <p:cNvSpPr/>
          <p:nvPr/>
        </p:nvSpPr>
        <p:spPr>
          <a:xfrm>
            <a:off x="562356" y="3246120"/>
            <a:ext cx="7804500" cy="731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E23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h3eb748f68e761805_0_0"/>
          <p:cNvSpPr/>
          <p:nvPr/>
        </p:nvSpPr>
        <p:spPr>
          <a:xfrm>
            <a:off x="745236" y="33832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h3eb748f68e761805_0_0"/>
          <p:cNvSpPr txBox="1"/>
          <p:nvPr/>
        </p:nvSpPr>
        <p:spPr>
          <a:xfrm>
            <a:off x="740664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1563" name="Google Shape;1563;h3eb748f68e761805_0_0"/>
          <p:cNvSpPr txBox="1"/>
          <p:nvPr/>
        </p:nvSpPr>
        <p:spPr>
          <a:xfrm>
            <a:off x="1380744" y="3246120"/>
            <a:ext cx="6794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AVEC L'ARRIVÉE DE L'IA — UNE SURSOLLICITATION EXACERBÉE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Trop de demandes, des équipes engorgées : la même pression que le guichet d'hier, </a:t>
            </a: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amplifiée par l'IA</a:t>
            </a: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plutôt que résolue par elle.</a:t>
            </a:r>
            <a:endParaRPr/>
          </a:p>
        </p:txBody>
      </p:sp>
      <p:sp>
        <p:nvSpPr>
          <p:cNvPr id="1564" name="Google Shape;1564;h3eb748f68e761805_0_0"/>
          <p:cNvSpPr/>
          <p:nvPr/>
        </p:nvSpPr>
        <p:spPr>
          <a:xfrm>
            <a:off x="566928" y="4069080"/>
            <a:ext cx="7799700" cy="484500"/>
          </a:xfrm>
          <a:prstGeom prst="roundRect">
            <a:avLst>
              <a:gd fmla="val 18867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h3eb748f68e761805_0_0"/>
          <p:cNvSpPr txBox="1"/>
          <p:nvPr/>
        </p:nvSpPr>
        <p:spPr>
          <a:xfrm>
            <a:off x="704088" y="4014216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566" name="Google Shape;1566;h3eb748f68e761805_0_0"/>
          <p:cNvSpPr txBox="1"/>
          <p:nvPr/>
        </p:nvSpPr>
        <p:spPr>
          <a:xfrm>
            <a:off x="1161288" y="4069080"/>
            <a:ext cx="70227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L'objectif : infra as a product — pour absorber la demande au lieu de la subir.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9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Cinq enjeux qui justifient le passage en mode produit</a:t>
            </a:r>
            <a:endParaRPr/>
          </a:p>
        </p:txBody>
      </p:sp>
      <p:sp>
        <p:nvSpPr>
          <p:cNvPr id="1572" name="Google Shape;1572;p9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Les enjeux</a:t>
            </a:r>
            <a:endParaRPr/>
          </a:p>
        </p:txBody>
      </p:sp>
      <p:sp>
        <p:nvSpPr>
          <p:cNvPr id="1573" name="Google Shape;1573;p9"/>
          <p:cNvSpPr/>
          <p:nvPr/>
        </p:nvSpPr>
        <p:spPr>
          <a:xfrm>
            <a:off x="822960" y="1280160"/>
            <a:ext cx="754380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9"/>
          <p:cNvSpPr/>
          <p:nvPr/>
        </p:nvSpPr>
        <p:spPr>
          <a:xfrm>
            <a:off x="612648" y="1344168"/>
            <a:ext cx="420624" cy="420624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9"/>
          <p:cNvSpPr txBox="1"/>
          <p:nvPr/>
        </p:nvSpPr>
        <p:spPr>
          <a:xfrm>
            <a:off x="612648" y="13441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576" name="Google Shape;1576;p9"/>
          <p:cNvSpPr txBox="1"/>
          <p:nvPr/>
        </p:nvSpPr>
        <p:spPr>
          <a:xfrm>
            <a:off x="1207007" y="12801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Efficacité opérationnelle</a:t>
            </a:r>
            <a:endParaRPr/>
          </a:p>
        </p:txBody>
      </p:sp>
      <p:sp>
        <p:nvSpPr>
          <p:cNvPr id="1577" name="Google Shape;1577;p9"/>
          <p:cNvSpPr txBox="1"/>
          <p:nvPr/>
        </p:nvSpPr>
        <p:spPr>
          <a:xfrm>
            <a:off x="3493008" y="1280160"/>
            <a:ext cx="4736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Moins de dépendances grâce à l'autonomie ; les experts aux bons endroits ; une livraison rapide.</a:t>
            </a:r>
            <a:endParaRPr/>
          </a:p>
        </p:txBody>
      </p:sp>
      <p:sp>
        <p:nvSpPr>
          <p:cNvPr id="1578" name="Google Shape;1578;p9"/>
          <p:cNvSpPr/>
          <p:nvPr/>
        </p:nvSpPr>
        <p:spPr>
          <a:xfrm>
            <a:off x="822960" y="1947672"/>
            <a:ext cx="754380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9"/>
          <p:cNvSpPr/>
          <p:nvPr/>
        </p:nvSpPr>
        <p:spPr>
          <a:xfrm>
            <a:off x="612648" y="2011679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9"/>
          <p:cNvSpPr txBox="1"/>
          <p:nvPr/>
        </p:nvSpPr>
        <p:spPr>
          <a:xfrm>
            <a:off x="612648" y="201167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581" name="Google Shape;1581;p9"/>
          <p:cNvSpPr txBox="1"/>
          <p:nvPr/>
        </p:nvSpPr>
        <p:spPr>
          <a:xfrm>
            <a:off x="1207007" y="194767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Expérience utilisateur</a:t>
            </a:r>
            <a:endParaRPr/>
          </a:p>
        </p:txBody>
      </p:sp>
      <p:sp>
        <p:nvSpPr>
          <p:cNvPr id="1582" name="Google Shape;1582;p9"/>
          <p:cNvSpPr txBox="1"/>
          <p:nvPr/>
        </p:nvSpPr>
        <p:spPr>
          <a:xfrm>
            <a:off x="3493008" y="1947672"/>
            <a:ext cx="4736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Une expérience fluide et sans couture pour les équipes qui consomment l'infra.</a:t>
            </a:r>
            <a:endParaRPr/>
          </a:p>
        </p:txBody>
      </p:sp>
      <p:sp>
        <p:nvSpPr>
          <p:cNvPr id="1583" name="Google Shape;1583;p9"/>
          <p:cNvSpPr/>
          <p:nvPr/>
        </p:nvSpPr>
        <p:spPr>
          <a:xfrm>
            <a:off x="822960" y="2615184"/>
            <a:ext cx="754380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9"/>
          <p:cNvSpPr/>
          <p:nvPr/>
        </p:nvSpPr>
        <p:spPr>
          <a:xfrm>
            <a:off x="612648" y="2679191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9"/>
          <p:cNvSpPr txBox="1"/>
          <p:nvPr/>
        </p:nvSpPr>
        <p:spPr>
          <a:xfrm>
            <a:off x="612648" y="267919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586" name="Google Shape;1586;p9"/>
          <p:cNvSpPr txBox="1"/>
          <p:nvPr/>
        </p:nvSpPr>
        <p:spPr>
          <a:xfrm>
            <a:off x="1207007" y="2615184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Robustesse</a:t>
            </a:r>
            <a:endParaRPr/>
          </a:p>
        </p:txBody>
      </p:sp>
      <p:sp>
        <p:nvSpPr>
          <p:cNvPr id="1587" name="Google Shape;1587;p9"/>
          <p:cNvSpPr txBox="1"/>
          <p:nvPr/>
        </p:nvSpPr>
        <p:spPr>
          <a:xfrm>
            <a:off x="3493008" y="2615184"/>
            <a:ext cx="4736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 monitoring qui </a:t>
            </a:r>
            <a:r>
              <a:rPr lang="en-US" sz="1050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aide</a:t>
            </a: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la prise de bonne décision.</a:t>
            </a:r>
            <a:endParaRPr/>
          </a:p>
        </p:txBody>
      </p:sp>
      <p:sp>
        <p:nvSpPr>
          <p:cNvPr id="1588" name="Google Shape;1588;p9"/>
          <p:cNvSpPr/>
          <p:nvPr/>
        </p:nvSpPr>
        <p:spPr>
          <a:xfrm>
            <a:off x="822960" y="3282696"/>
            <a:ext cx="754380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9"/>
          <p:cNvSpPr/>
          <p:nvPr/>
        </p:nvSpPr>
        <p:spPr>
          <a:xfrm>
            <a:off x="612648" y="3346703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9"/>
          <p:cNvSpPr txBox="1"/>
          <p:nvPr/>
        </p:nvSpPr>
        <p:spPr>
          <a:xfrm>
            <a:off x="612648" y="3346703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/>
          </a:p>
        </p:txBody>
      </p:sp>
      <p:sp>
        <p:nvSpPr>
          <p:cNvPr id="1591" name="Google Shape;1591;p9"/>
          <p:cNvSpPr txBox="1"/>
          <p:nvPr/>
        </p:nvSpPr>
        <p:spPr>
          <a:xfrm>
            <a:off x="1207007" y="3282696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Maîtrise des coûts</a:t>
            </a:r>
            <a:endParaRPr/>
          </a:p>
        </p:txBody>
      </p:sp>
      <p:sp>
        <p:nvSpPr>
          <p:cNvPr id="1592" name="Google Shape;1592;p9"/>
          <p:cNvSpPr txBox="1"/>
          <p:nvPr/>
        </p:nvSpPr>
        <p:spPr>
          <a:xfrm>
            <a:off x="3493008" y="3282696"/>
            <a:ext cx="4736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Inventaire du parc, licences inutilisées, décommissionnement des actifs « zombies ».</a:t>
            </a:r>
            <a:endParaRPr/>
          </a:p>
        </p:txBody>
      </p:sp>
      <p:sp>
        <p:nvSpPr>
          <p:cNvPr id="1593" name="Google Shape;1593;p9"/>
          <p:cNvSpPr/>
          <p:nvPr/>
        </p:nvSpPr>
        <p:spPr>
          <a:xfrm>
            <a:off x="822960" y="3950208"/>
            <a:ext cx="7543800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9"/>
          <p:cNvSpPr/>
          <p:nvPr/>
        </p:nvSpPr>
        <p:spPr>
          <a:xfrm>
            <a:off x="612648" y="4014215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9"/>
          <p:cNvSpPr txBox="1"/>
          <p:nvPr/>
        </p:nvSpPr>
        <p:spPr>
          <a:xfrm>
            <a:off x="612648" y="4014215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/>
          </a:p>
        </p:txBody>
      </p:sp>
      <p:sp>
        <p:nvSpPr>
          <p:cNvPr id="1596" name="Google Shape;1596;p9"/>
          <p:cNvSpPr txBox="1"/>
          <p:nvPr/>
        </p:nvSpPr>
        <p:spPr>
          <a:xfrm>
            <a:off x="1207007" y="39502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Anticiper l'IA</a:t>
            </a:r>
            <a:endParaRPr/>
          </a:p>
        </p:txBody>
      </p:sp>
      <p:sp>
        <p:nvSpPr>
          <p:cNvPr id="1597" name="Google Shape;1597;p9"/>
          <p:cNvSpPr txBox="1"/>
          <p:nvPr/>
        </p:nvSpPr>
        <p:spPr>
          <a:xfrm>
            <a:off x="3493008" y="3950208"/>
            <a:ext cx="4736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Plus de mises en production à absorber ; un usage interne qui exige gouvernance et coordination.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— les conditions qui favorisent le succès</a:t>
            </a:r>
            <a:endParaRPr/>
          </a:p>
        </p:txBody>
      </p:sp>
      <p:sp>
        <p:nvSpPr>
          <p:cNvPr id="1603" name="Google Shape;1603;p10"/>
          <p:cNvSpPr/>
          <p:nvPr/>
        </p:nvSpPr>
        <p:spPr>
          <a:xfrm>
            <a:off x="562356" y="114300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0"/>
          <p:cNvSpPr txBox="1"/>
          <p:nvPr/>
        </p:nvSpPr>
        <p:spPr>
          <a:xfrm>
            <a:off x="562356" y="114300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10"/>
          <p:cNvSpPr/>
          <p:nvPr/>
        </p:nvSpPr>
        <p:spPr>
          <a:xfrm>
            <a:off x="646480" y="1453896"/>
            <a:ext cx="14700" cy="4833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0"/>
          <p:cNvSpPr/>
          <p:nvPr/>
        </p:nvSpPr>
        <p:spPr>
          <a:xfrm>
            <a:off x="617219" y="1900504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10"/>
          <p:cNvSpPr txBox="1"/>
          <p:nvPr/>
        </p:nvSpPr>
        <p:spPr>
          <a:xfrm>
            <a:off x="1293876" y="1124712"/>
            <a:ext cx="4695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Partir des utilisateurs et de leurs douleurs, pas du catalogue d'outils.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Une plateforme n'est adoptée que si elle résout une douleur mesurée chez ceux qui la consomment.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10"/>
          <p:cNvSpPr/>
          <p:nvPr/>
        </p:nvSpPr>
        <p:spPr>
          <a:xfrm>
            <a:off x="562356" y="2108073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0"/>
          <p:cNvSpPr txBox="1"/>
          <p:nvPr/>
        </p:nvSpPr>
        <p:spPr>
          <a:xfrm>
            <a:off x="562356" y="2108073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10"/>
          <p:cNvSpPr/>
          <p:nvPr/>
        </p:nvSpPr>
        <p:spPr>
          <a:xfrm>
            <a:off x="646480" y="2418969"/>
            <a:ext cx="14700" cy="6315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10"/>
          <p:cNvSpPr/>
          <p:nvPr/>
        </p:nvSpPr>
        <p:spPr>
          <a:xfrm>
            <a:off x="617219" y="301397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10"/>
          <p:cNvSpPr/>
          <p:nvPr/>
        </p:nvSpPr>
        <p:spPr>
          <a:xfrm>
            <a:off x="562356" y="3221545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0"/>
          <p:cNvSpPr txBox="1"/>
          <p:nvPr/>
        </p:nvSpPr>
        <p:spPr>
          <a:xfrm>
            <a:off x="562356" y="322154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0"/>
          <p:cNvSpPr/>
          <p:nvPr/>
        </p:nvSpPr>
        <p:spPr>
          <a:xfrm>
            <a:off x="646480" y="3532441"/>
            <a:ext cx="14700" cy="6477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10"/>
          <p:cNvSpPr/>
          <p:nvPr/>
        </p:nvSpPr>
        <p:spPr>
          <a:xfrm>
            <a:off x="617219" y="4143641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10"/>
          <p:cNvSpPr txBox="1"/>
          <p:nvPr/>
        </p:nvSpPr>
        <p:spPr>
          <a:xfrm>
            <a:off x="1237351" y="2108077"/>
            <a:ext cx="4695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Traiter les douleurs </a:t>
            </a:r>
            <a:r>
              <a:rPr b="1" lang="en-US" sz="105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actuels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, basé sur </a:t>
            </a:r>
            <a:r>
              <a:rPr b="1" lang="en-US" sz="105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mesures et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critères partagés.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E2356"/>
              </a:buClr>
              <a:buSzPts val="900"/>
              <a:buFont typeface="Outfit"/>
              <a:buChar char="●"/>
            </a:pPr>
            <a:r>
              <a:rPr lang="en-US" sz="9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Choix des indicateurs à mesurer</a:t>
            </a:r>
            <a:endParaRPr sz="9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900"/>
              <a:buFont typeface="Outfit"/>
              <a:buChar char="●"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Nommer, scorer, prioriser (valeur, coût, complexité) </a:t>
            </a:r>
            <a:endParaRPr sz="900">
              <a:solidFill>
                <a:srgbClr val="58658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900"/>
              <a:buFont typeface="Outfit"/>
              <a:buChar char="●"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décisions ritualisées, reliées au budget.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10"/>
          <p:cNvSpPr/>
          <p:nvPr/>
        </p:nvSpPr>
        <p:spPr>
          <a:xfrm>
            <a:off x="562356" y="435121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0"/>
          <p:cNvSpPr txBox="1"/>
          <p:nvPr/>
        </p:nvSpPr>
        <p:spPr>
          <a:xfrm>
            <a:off x="562356" y="435121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0"/>
          <p:cNvSpPr/>
          <p:nvPr/>
        </p:nvSpPr>
        <p:spPr>
          <a:xfrm>
            <a:off x="646480" y="4662106"/>
            <a:ext cx="14700" cy="1926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10"/>
          <p:cNvSpPr/>
          <p:nvPr/>
        </p:nvSpPr>
        <p:spPr>
          <a:xfrm>
            <a:off x="617219" y="4818202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0"/>
          <p:cNvSpPr txBox="1"/>
          <p:nvPr/>
        </p:nvSpPr>
        <p:spPr>
          <a:xfrm>
            <a:off x="1237351" y="3201897"/>
            <a:ext cx="46953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propriétaire, une roadmap, une valeur mesurée.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Sans porteur produit, l'infra retourne au guichet.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10"/>
          <p:cNvSpPr txBox="1"/>
          <p:nvPr/>
        </p:nvSpPr>
        <p:spPr>
          <a:xfrm>
            <a:off x="1132376" y="4351194"/>
            <a:ext cx="3963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S'améliorer en continu, au rythme des saisons.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Mesure systématique et transparente des progrès, à tous les niveaux.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équipes redevables de leurs améliorations ; succès et erreurs partagés.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10"/>
          <p:cNvSpPr/>
          <p:nvPr/>
        </p:nvSpPr>
        <p:spPr>
          <a:xfrm>
            <a:off x="5739331" y="1021881"/>
            <a:ext cx="2788800" cy="2697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85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10"/>
          <p:cNvSpPr/>
          <p:nvPr/>
        </p:nvSpPr>
        <p:spPr>
          <a:xfrm>
            <a:off x="5849059" y="1186473"/>
            <a:ext cx="54900" cy="2368200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10"/>
          <p:cNvSpPr txBox="1"/>
          <p:nvPr/>
        </p:nvSpPr>
        <p:spPr>
          <a:xfrm>
            <a:off x="6050227" y="1223049"/>
            <a:ext cx="2313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NOTRE CONVICTION SUR L'AGENTIC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fait gagner du temps là où il est perdu, pas là où on décide.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Elle accélère le diagnostic, la qualification des demandes et la restitution : le temps de triage du RUN est rendu aux équipes, mesuré dès le T0, pas promis.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expertise OCTO qui complète notre démarche : jamais un prérequis, toujours après le gate de confidentialité.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ightsky_0_libre_960x337.jpg" id="1626" name="Google Shape;16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9331" y="3883953"/>
            <a:ext cx="2788800" cy="9783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2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Les choix possibles</a:t>
            </a:r>
            <a:endParaRPr/>
          </a:p>
        </p:txBody>
      </p:sp>
      <p:sp>
        <p:nvSpPr>
          <p:cNvPr id="1632" name="Google Shape;1632;p12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02</a:t>
            </a:r>
            <a:endParaRPr b="1" sz="1700"/>
          </a:p>
        </p:txBody>
      </p:sp>
      <p:pic>
        <p:nvPicPr>
          <p:cNvPr id="1633" name="Google Shape;16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Quatre alternatives,</a:t>
            </a:r>
            <a:r>
              <a:rPr lang="en-US"/>
              <a:t>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quel choix faites-vous </a:t>
            </a:r>
            <a:r>
              <a:rPr lang="en-US"/>
              <a:t>?</a:t>
            </a:r>
            <a:endParaRPr/>
          </a:p>
        </p:txBody>
      </p:sp>
      <p:sp>
        <p:nvSpPr>
          <p:cNvPr id="1639" name="Google Shape;1639;p13"/>
          <p:cNvSpPr/>
          <p:nvPr/>
        </p:nvSpPr>
        <p:spPr>
          <a:xfrm>
            <a:off x="566928" y="932688"/>
            <a:ext cx="45720" cy="530352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13"/>
          <p:cNvSpPr txBox="1"/>
          <p:nvPr/>
        </p:nvSpPr>
        <p:spPr>
          <a:xfrm>
            <a:off x="731520" y="914400"/>
            <a:ext cx="7635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Sponsor qualifié : DSI ou direction infrastructure, sur une ligne budgétaire transformation — </a:t>
            </a: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jamais le budget RUN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La modernisation de l'infra recule face à la cyber dans les priorités 2026 (baromètre Abraxio) : l'argument qui porte est « </a:t>
            </a: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récupérer une capacité humaine rare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 », pas « moderniser l'infra ».</a:t>
            </a:r>
            <a:endParaRPr/>
          </a:p>
        </p:txBody>
      </p:sp>
      <p:sp>
        <p:nvSpPr>
          <p:cNvPr id="1641" name="Google Shape;1641;p13"/>
          <p:cNvSpPr txBox="1"/>
          <p:nvPr/>
        </p:nvSpPr>
        <p:spPr>
          <a:xfrm>
            <a:off x="566928" y="1572768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L'ALTERNATIVE</a:t>
            </a:r>
            <a:endParaRPr/>
          </a:p>
        </p:txBody>
      </p:sp>
      <p:sp>
        <p:nvSpPr>
          <p:cNvPr id="1642" name="Google Shape;1642;p13"/>
          <p:cNvSpPr txBox="1"/>
          <p:nvPr/>
        </p:nvSpPr>
        <p:spPr>
          <a:xfrm>
            <a:off x="4041648" y="1572768"/>
            <a:ext cx="4325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QUI LUI MANQUE — LA RÉPONSE IAP</a:t>
            </a:r>
            <a:endParaRPr/>
          </a:p>
        </p:txBody>
      </p:sp>
      <p:sp>
        <p:nvSpPr>
          <p:cNvPr id="1643" name="Google Shape;1643;p13"/>
          <p:cNvSpPr/>
          <p:nvPr/>
        </p:nvSpPr>
        <p:spPr>
          <a:xfrm>
            <a:off x="566928" y="1783080"/>
            <a:ext cx="315468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13"/>
          <p:cNvSpPr txBox="1"/>
          <p:nvPr/>
        </p:nvSpPr>
        <p:spPr>
          <a:xfrm>
            <a:off x="676656" y="17830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Ne rien faire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Zéro coût apparent.</a:t>
            </a:r>
            <a:endParaRPr/>
          </a:p>
        </p:txBody>
      </p:sp>
      <p:sp>
        <p:nvSpPr>
          <p:cNvPr id="1645" name="Google Shape;1645;p13"/>
          <p:cNvSpPr/>
          <p:nvPr/>
        </p:nvSpPr>
        <p:spPr>
          <a:xfrm>
            <a:off x="3813048" y="1901952"/>
            <a:ext cx="155448" cy="219456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13"/>
          <p:cNvSpPr/>
          <p:nvPr/>
        </p:nvSpPr>
        <p:spPr>
          <a:xfrm>
            <a:off x="4041648" y="1783080"/>
            <a:ext cx="4325112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13"/>
          <p:cNvSpPr txBox="1"/>
          <p:nvPr/>
        </p:nvSpPr>
        <p:spPr>
          <a:xfrm>
            <a:off x="4151376" y="1783080"/>
            <a:ext cx="4142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coût du statu quo monte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C'est lui que l'Assessment flash chiffre.</a:t>
            </a:r>
            <a:endParaRPr/>
          </a:p>
        </p:txBody>
      </p:sp>
      <p:sp>
        <p:nvSpPr>
          <p:cNvPr id="1648" name="Google Shape;1648;p13"/>
          <p:cNvSpPr/>
          <p:nvPr/>
        </p:nvSpPr>
        <p:spPr>
          <a:xfrm>
            <a:off x="566928" y="2313432"/>
            <a:ext cx="315468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13"/>
          <p:cNvSpPr txBox="1"/>
          <p:nvPr/>
        </p:nvSpPr>
        <p:spPr>
          <a:xfrm>
            <a:off x="676656" y="231343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FinOps outillé seul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Mesure les dépenses inutiles : marché mature, 29 % de la dépense cloud (Flexera).</a:t>
            </a:r>
            <a:endParaRPr/>
          </a:p>
        </p:txBody>
      </p:sp>
      <p:sp>
        <p:nvSpPr>
          <p:cNvPr id="1650" name="Google Shape;1650;p13"/>
          <p:cNvSpPr/>
          <p:nvPr/>
        </p:nvSpPr>
        <p:spPr>
          <a:xfrm>
            <a:off x="3813048" y="2432303"/>
            <a:ext cx="155448" cy="219456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13"/>
          <p:cNvSpPr/>
          <p:nvPr/>
        </p:nvSpPr>
        <p:spPr>
          <a:xfrm>
            <a:off x="4041648" y="2313432"/>
            <a:ext cx="4325112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13"/>
          <p:cNvSpPr txBox="1"/>
          <p:nvPr/>
        </p:nvSpPr>
        <p:spPr>
          <a:xfrm>
            <a:off x="4151376" y="2313432"/>
            <a:ext cx="4142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Ni cible produit, ni réallocation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Le chiffre devient une capacité produit gouvernée, pas une simple économie.</a:t>
            </a:r>
            <a:endParaRPr/>
          </a:p>
        </p:txBody>
      </p:sp>
      <p:sp>
        <p:nvSpPr>
          <p:cNvPr id="1653" name="Google Shape;1653;p13"/>
          <p:cNvSpPr/>
          <p:nvPr/>
        </p:nvSpPr>
        <p:spPr>
          <a:xfrm>
            <a:off x="566928" y="2843784"/>
            <a:ext cx="315468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13"/>
          <p:cNvSpPr txBox="1"/>
          <p:nvPr/>
        </p:nvSpPr>
        <p:spPr>
          <a:xfrm>
            <a:off x="676656" y="284378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Platform engineering pur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La cible produit/plateforme, un modèle devenu standard.</a:t>
            </a:r>
            <a:endParaRPr/>
          </a:p>
        </p:txBody>
      </p:sp>
      <p:sp>
        <p:nvSpPr>
          <p:cNvPr id="1655" name="Google Shape;1655;p13"/>
          <p:cNvSpPr/>
          <p:nvPr/>
        </p:nvSpPr>
        <p:spPr>
          <a:xfrm>
            <a:off x="3813048" y="2962656"/>
            <a:ext cx="155448" cy="219456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13"/>
          <p:cNvSpPr/>
          <p:nvPr/>
        </p:nvSpPr>
        <p:spPr>
          <a:xfrm>
            <a:off x="4041648" y="2843784"/>
            <a:ext cx="4325112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13"/>
          <p:cNvSpPr txBox="1"/>
          <p:nvPr/>
        </p:nvSpPr>
        <p:spPr>
          <a:xfrm>
            <a:off x="4151376" y="2843784"/>
            <a:ext cx="4142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La cible sans le financement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80 % de platform teams en 2026, moins de 30 % de gains mesurables (Gartner).</a:t>
            </a:r>
            <a:endParaRPr/>
          </a:p>
        </p:txBody>
      </p:sp>
      <p:sp>
        <p:nvSpPr>
          <p:cNvPr id="1658" name="Google Shape;1658;p13"/>
          <p:cNvSpPr/>
          <p:nvPr/>
        </p:nvSpPr>
        <p:spPr>
          <a:xfrm>
            <a:off x="566928" y="3374135"/>
            <a:ext cx="315468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13"/>
          <p:cNvSpPr txBox="1"/>
          <p:nvPr/>
        </p:nvSpPr>
        <p:spPr>
          <a:xfrm>
            <a:off x="676656" y="3374135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AIOps / agentic outillé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Time-to-value court (ServiceNow, Datadog).</a:t>
            </a:r>
            <a:endParaRPr/>
          </a:p>
        </p:txBody>
      </p:sp>
      <p:sp>
        <p:nvSpPr>
          <p:cNvPr id="1660" name="Google Shape;1660;p13"/>
          <p:cNvSpPr/>
          <p:nvPr/>
        </p:nvSpPr>
        <p:spPr>
          <a:xfrm>
            <a:off x="3813048" y="3493007"/>
            <a:ext cx="155448" cy="219456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13"/>
          <p:cNvSpPr/>
          <p:nvPr/>
        </p:nvSpPr>
        <p:spPr>
          <a:xfrm>
            <a:off x="4041648" y="3374135"/>
            <a:ext cx="4325112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3"/>
          <p:cNvSpPr txBox="1"/>
          <p:nvPr/>
        </p:nvSpPr>
        <p:spPr>
          <a:xfrm>
            <a:off x="4151376" y="3374135"/>
            <a:ext cx="4142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Automatise le RUN sans transformer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Plus de 40 % des projets agentic abandonnés d'ici 2027 (Gartner, juin 2025).</a:t>
            </a:r>
            <a:endParaRPr/>
          </a:p>
        </p:txBody>
      </p:sp>
      <p:sp>
        <p:nvSpPr>
          <p:cNvPr id="1663" name="Google Shape;1663;p13"/>
          <p:cNvSpPr/>
          <p:nvPr/>
        </p:nvSpPr>
        <p:spPr>
          <a:xfrm>
            <a:off x="566928" y="3922775"/>
            <a:ext cx="3808476" cy="630936"/>
          </a:xfrm>
          <a:prstGeom prst="roundRect">
            <a:avLst>
              <a:gd fmla="val 17391" name="adj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3"/>
          <p:cNvSpPr txBox="1"/>
          <p:nvPr/>
        </p:nvSpPr>
        <p:spPr>
          <a:xfrm>
            <a:off x="704088" y="3922775"/>
            <a:ext cx="353415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CE QUE LES QUATRE ALTERNATIVES N'ONT PAS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« Infrastructure as a Product » existe ailleurs (Thoughtworks, Itential). Notre différenciateur : produit + assainissement + doctrine IA.</a:t>
            </a:r>
            <a:endParaRPr/>
          </a:p>
        </p:txBody>
      </p:sp>
      <p:sp>
        <p:nvSpPr>
          <p:cNvPr id="1665" name="Google Shape;1665;p13"/>
          <p:cNvSpPr/>
          <p:nvPr/>
        </p:nvSpPr>
        <p:spPr>
          <a:xfrm>
            <a:off x="4558284" y="3922775"/>
            <a:ext cx="3808476" cy="630936"/>
          </a:xfrm>
          <a:prstGeom prst="roundRect">
            <a:avLst>
              <a:gd fmla="val 17391" name="adj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3"/>
          <p:cNvSpPr txBox="1"/>
          <p:nvPr/>
        </p:nvSpPr>
        <p:spPr>
          <a:xfrm>
            <a:off x="4695444" y="3922775"/>
            <a:ext cx="353415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RÉPONSE AU « JE NE VEUX QUE LA BAISSE DES COÛTS 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 Assessment flash d'entrée, puis la trajectoire — jamais l'assainissement seul. Sous pression IA : un cas d'usage public, tout de suite, sous gate.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4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Six </a:t>
            </a:r>
            <a:r>
              <a:rPr lang="en-US"/>
              <a:t>axes</a:t>
            </a: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de transformation</a:t>
            </a:r>
            <a:endParaRPr/>
          </a:p>
        </p:txBody>
      </p:sp>
      <p:sp>
        <p:nvSpPr>
          <p:cNvPr id="1672" name="Google Shape;1672;p14"/>
          <p:cNvSpPr/>
          <p:nvPr/>
        </p:nvSpPr>
        <p:spPr>
          <a:xfrm>
            <a:off x="566928" y="1097280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14"/>
          <p:cNvSpPr/>
          <p:nvPr/>
        </p:nvSpPr>
        <p:spPr>
          <a:xfrm>
            <a:off x="704088" y="969264"/>
            <a:ext cx="1600200" cy="256032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14"/>
          <p:cNvSpPr txBox="1"/>
          <p:nvPr/>
        </p:nvSpPr>
        <p:spPr>
          <a:xfrm>
            <a:off x="740664" y="969264"/>
            <a:ext cx="1527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  ·  Expérience</a:t>
            </a:r>
            <a:endParaRPr/>
          </a:p>
        </p:txBody>
      </p:sp>
      <p:sp>
        <p:nvSpPr>
          <p:cNvPr id="1675" name="Google Shape;1675;p14"/>
          <p:cNvSpPr txBox="1"/>
          <p:nvPr/>
        </p:nvSpPr>
        <p:spPr>
          <a:xfrm>
            <a:off x="704088" y="129844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Nos utilisateurs trouvent l'infra trop compliquée. »</a:t>
            </a:r>
            <a:endParaRPr/>
          </a:p>
        </p:txBody>
      </p:sp>
      <p:sp>
        <p:nvSpPr>
          <p:cNvPr id="1676" name="Google Shape;1676;p14"/>
          <p:cNvSpPr/>
          <p:nvPr/>
        </p:nvSpPr>
        <p:spPr>
          <a:xfrm>
            <a:off x="704088" y="1737360"/>
            <a:ext cx="1539849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14"/>
          <p:cNvSpPr txBox="1"/>
          <p:nvPr/>
        </p:nvSpPr>
        <p:spPr>
          <a:xfrm>
            <a:off x="740664" y="1737360"/>
            <a:ext cx="146669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Expérience développeur</a:t>
            </a:r>
            <a:endParaRPr/>
          </a:p>
        </p:txBody>
      </p:sp>
      <p:sp>
        <p:nvSpPr>
          <p:cNvPr id="1678" name="Google Shape;1678;p14"/>
          <p:cNvSpPr/>
          <p:nvPr/>
        </p:nvSpPr>
        <p:spPr>
          <a:xfrm>
            <a:off x="704088" y="1965960"/>
            <a:ext cx="97292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14"/>
          <p:cNvSpPr txBox="1"/>
          <p:nvPr/>
        </p:nvSpPr>
        <p:spPr>
          <a:xfrm>
            <a:off x="740664" y="1965960"/>
            <a:ext cx="899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Self-service</a:t>
            </a:r>
            <a:endParaRPr/>
          </a:p>
        </p:txBody>
      </p:sp>
      <p:sp>
        <p:nvSpPr>
          <p:cNvPr id="1680" name="Google Shape;1680;p14"/>
          <p:cNvSpPr/>
          <p:nvPr/>
        </p:nvSpPr>
        <p:spPr>
          <a:xfrm>
            <a:off x="1731873" y="1965960"/>
            <a:ext cx="97292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14"/>
          <p:cNvSpPr txBox="1"/>
          <p:nvPr/>
        </p:nvSpPr>
        <p:spPr>
          <a:xfrm>
            <a:off x="1768449" y="1965960"/>
            <a:ext cx="899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Golden paths</a:t>
            </a:r>
            <a:endParaRPr/>
          </a:p>
        </p:txBody>
      </p:sp>
      <p:sp>
        <p:nvSpPr>
          <p:cNvPr id="1682" name="Google Shape;1682;p14"/>
          <p:cNvSpPr/>
          <p:nvPr/>
        </p:nvSpPr>
        <p:spPr>
          <a:xfrm>
            <a:off x="704088" y="2194560"/>
            <a:ext cx="689457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14"/>
          <p:cNvSpPr txBox="1"/>
          <p:nvPr/>
        </p:nvSpPr>
        <p:spPr>
          <a:xfrm>
            <a:off x="740664" y="2194560"/>
            <a:ext cx="61630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Portail</a:t>
            </a:r>
            <a:endParaRPr/>
          </a:p>
        </p:txBody>
      </p:sp>
      <p:sp>
        <p:nvSpPr>
          <p:cNvPr id="1684" name="Google Shape;1684;p14"/>
          <p:cNvSpPr/>
          <p:nvPr/>
        </p:nvSpPr>
        <p:spPr>
          <a:xfrm>
            <a:off x="1448409" y="2194560"/>
            <a:ext cx="1029614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4"/>
          <p:cNvSpPr txBox="1"/>
          <p:nvPr/>
        </p:nvSpPr>
        <p:spPr>
          <a:xfrm>
            <a:off x="1484985" y="2194560"/>
            <a:ext cx="9564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Documentation</a:t>
            </a:r>
            <a:endParaRPr/>
          </a:p>
        </p:txBody>
      </p:sp>
      <p:sp>
        <p:nvSpPr>
          <p:cNvPr id="1686" name="Google Shape;1686;p14"/>
          <p:cNvSpPr/>
          <p:nvPr/>
        </p:nvSpPr>
        <p:spPr>
          <a:xfrm>
            <a:off x="3227832" y="1097280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14"/>
          <p:cNvSpPr/>
          <p:nvPr/>
        </p:nvSpPr>
        <p:spPr>
          <a:xfrm>
            <a:off x="3364992" y="969264"/>
            <a:ext cx="1380744" cy="256032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14"/>
          <p:cNvSpPr txBox="1"/>
          <p:nvPr/>
        </p:nvSpPr>
        <p:spPr>
          <a:xfrm>
            <a:off x="3401568" y="969264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02  ·  Delivery</a:t>
            </a:r>
            <a:endParaRPr/>
          </a:p>
        </p:txBody>
      </p:sp>
      <p:sp>
        <p:nvSpPr>
          <p:cNvPr id="1689" name="Google Shape;1689;p14"/>
          <p:cNvSpPr txBox="1"/>
          <p:nvPr/>
        </p:nvSpPr>
        <p:spPr>
          <a:xfrm>
            <a:off x="3364992" y="129844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Nous sommes trop lents. »</a:t>
            </a:r>
            <a:endParaRPr/>
          </a:p>
        </p:txBody>
      </p:sp>
      <p:sp>
        <p:nvSpPr>
          <p:cNvPr id="1690" name="Google Shape;1690;p14"/>
          <p:cNvSpPr/>
          <p:nvPr/>
        </p:nvSpPr>
        <p:spPr>
          <a:xfrm>
            <a:off x="3364992" y="1737360"/>
            <a:ext cx="1086307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4"/>
          <p:cNvSpPr txBox="1"/>
          <p:nvPr/>
        </p:nvSpPr>
        <p:spPr>
          <a:xfrm>
            <a:off x="3401568" y="1737360"/>
            <a:ext cx="10131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Automatisation</a:t>
            </a:r>
            <a:endParaRPr/>
          </a:p>
        </p:txBody>
      </p:sp>
      <p:sp>
        <p:nvSpPr>
          <p:cNvPr id="1692" name="Google Shape;1692;p14"/>
          <p:cNvSpPr/>
          <p:nvPr/>
        </p:nvSpPr>
        <p:spPr>
          <a:xfrm>
            <a:off x="4506163" y="1737360"/>
            <a:ext cx="462686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14"/>
          <p:cNvSpPr txBox="1"/>
          <p:nvPr/>
        </p:nvSpPr>
        <p:spPr>
          <a:xfrm>
            <a:off x="4542739" y="1737360"/>
            <a:ext cx="38953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IaC</a:t>
            </a:r>
            <a:endParaRPr/>
          </a:p>
        </p:txBody>
      </p:sp>
      <p:sp>
        <p:nvSpPr>
          <p:cNvPr id="1694" name="Google Shape;1694;p14"/>
          <p:cNvSpPr/>
          <p:nvPr/>
        </p:nvSpPr>
        <p:spPr>
          <a:xfrm>
            <a:off x="3364992" y="1965960"/>
            <a:ext cx="576072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4"/>
          <p:cNvSpPr txBox="1"/>
          <p:nvPr/>
        </p:nvSpPr>
        <p:spPr>
          <a:xfrm>
            <a:off x="3401568" y="1965960"/>
            <a:ext cx="502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CI/CD</a:t>
            </a:r>
            <a:endParaRPr/>
          </a:p>
        </p:txBody>
      </p:sp>
      <p:sp>
        <p:nvSpPr>
          <p:cNvPr id="1696" name="Google Shape;1696;p14"/>
          <p:cNvSpPr/>
          <p:nvPr/>
        </p:nvSpPr>
        <p:spPr>
          <a:xfrm>
            <a:off x="3995928" y="1965960"/>
            <a:ext cx="97292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14"/>
          <p:cNvSpPr txBox="1"/>
          <p:nvPr/>
        </p:nvSpPr>
        <p:spPr>
          <a:xfrm>
            <a:off x="4032504" y="1965960"/>
            <a:ext cx="899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Provisioning</a:t>
            </a:r>
            <a:endParaRPr/>
          </a:p>
        </p:txBody>
      </p:sp>
      <p:sp>
        <p:nvSpPr>
          <p:cNvPr id="1698" name="Google Shape;1698;p14"/>
          <p:cNvSpPr/>
          <p:nvPr/>
        </p:nvSpPr>
        <p:spPr>
          <a:xfrm>
            <a:off x="3364992" y="2194560"/>
            <a:ext cx="1143000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4"/>
          <p:cNvSpPr txBox="1"/>
          <p:nvPr/>
        </p:nvSpPr>
        <p:spPr>
          <a:xfrm>
            <a:off x="3401568" y="2194560"/>
            <a:ext cx="10698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Standardisation</a:t>
            </a:r>
            <a:endParaRPr/>
          </a:p>
        </p:txBody>
      </p:sp>
      <p:sp>
        <p:nvSpPr>
          <p:cNvPr id="1700" name="Google Shape;1700;p14"/>
          <p:cNvSpPr/>
          <p:nvPr/>
        </p:nvSpPr>
        <p:spPr>
          <a:xfrm>
            <a:off x="5888736" y="1097280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4"/>
          <p:cNvSpPr/>
          <p:nvPr/>
        </p:nvSpPr>
        <p:spPr>
          <a:xfrm>
            <a:off x="6025896" y="969264"/>
            <a:ext cx="1819656" cy="256032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4"/>
          <p:cNvSpPr txBox="1"/>
          <p:nvPr/>
        </p:nvSpPr>
        <p:spPr>
          <a:xfrm>
            <a:off x="6062472" y="969264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03  ·  Organisation</a:t>
            </a:r>
            <a:endParaRPr/>
          </a:p>
        </p:txBody>
      </p:sp>
      <p:sp>
        <p:nvSpPr>
          <p:cNvPr id="1703" name="Google Shape;1703;p14"/>
          <p:cNvSpPr txBox="1"/>
          <p:nvPr/>
        </p:nvSpPr>
        <p:spPr>
          <a:xfrm>
            <a:off x="6025896" y="1298448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Tout remonte à l'équipe infra centrale. »</a:t>
            </a:r>
            <a:endParaRPr/>
          </a:p>
        </p:txBody>
      </p:sp>
      <p:sp>
        <p:nvSpPr>
          <p:cNvPr id="1704" name="Google Shape;1704;p14"/>
          <p:cNvSpPr/>
          <p:nvPr/>
        </p:nvSpPr>
        <p:spPr>
          <a:xfrm>
            <a:off x="6025896" y="1737360"/>
            <a:ext cx="1143000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14"/>
          <p:cNvSpPr txBox="1"/>
          <p:nvPr/>
        </p:nvSpPr>
        <p:spPr>
          <a:xfrm>
            <a:off x="6062472" y="1737360"/>
            <a:ext cx="10698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Team Topologies</a:t>
            </a:r>
            <a:endParaRPr/>
          </a:p>
        </p:txBody>
      </p:sp>
      <p:sp>
        <p:nvSpPr>
          <p:cNvPr id="1706" name="Google Shape;1706;p14"/>
          <p:cNvSpPr/>
          <p:nvPr/>
        </p:nvSpPr>
        <p:spPr>
          <a:xfrm>
            <a:off x="7223760" y="1737360"/>
            <a:ext cx="802843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4"/>
          <p:cNvSpPr txBox="1"/>
          <p:nvPr/>
        </p:nvSpPr>
        <p:spPr>
          <a:xfrm>
            <a:off x="7260336" y="1737360"/>
            <a:ext cx="7296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Ownership</a:t>
            </a:r>
            <a:endParaRPr/>
          </a:p>
        </p:txBody>
      </p:sp>
      <p:sp>
        <p:nvSpPr>
          <p:cNvPr id="1708" name="Google Shape;1708;p14"/>
          <p:cNvSpPr/>
          <p:nvPr/>
        </p:nvSpPr>
        <p:spPr>
          <a:xfrm>
            <a:off x="6025896" y="1965960"/>
            <a:ext cx="859536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14"/>
          <p:cNvSpPr txBox="1"/>
          <p:nvPr/>
        </p:nvSpPr>
        <p:spPr>
          <a:xfrm>
            <a:off x="6062472" y="1965960"/>
            <a:ext cx="78638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Plateforme</a:t>
            </a:r>
            <a:endParaRPr/>
          </a:p>
        </p:txBody>
      </p:sp>
      <p:sp>
        <p:nvSpPr>
          <p:cNvPr id="1710" name="Google Shape;1710;p14"/>
          <p:cNvSpPr/>
          <p:nvPr/>
        </p:nvSpPr>
        <p:spPr>
          <a:xfrm>
            <a:off x="6940296" y="1965960"/>
            <a:ext cx="1143000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4"/>
          <p:cNvSpPr txBox="1"/>
          <p:nvPr/>
        </p:nvSpPr>
        <p:spPr>
          <a:xfrm>
            <a:off x="6976872" y="1965960"/>
            <a:ext cx="10698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Équipes produit</a:t>
            </a:r>
            <a:endParaRPr/>
          </a:p>
        </p:txBody>
      </p:sp>
      <p:sp>
        <p:nvSpPr>
          <p:cNvPr id="1712" name="Google Shape;1712;p14"/>
          <p:cNvSpPr/>
          <p:nvPr/>
        </p:nvSpPr>
        <p:spPr>
          <a:xfrm>
            <a:off x="566928" y="2670048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4"/>
          <p:cNvSpPr/>
          <p:nvPr/>
        </p:nvSpPr>
        <p:spPr>
          <a:xfrm>
            <a:off x="704088" y="2542032"/>
            <a:ext cx="1161288" cy="256032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14"/>
          <p:cNvSpPr txBox="1"/>
          <p:nvPr/>
        </p:nvSpPr>
        <p:spPr>
          <a:xfrm>
            <a:off x="740664" y="2542032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04  ·  Valeur</a:t>
            </a:r>
            <a:endParaRPr/>
          </a:p>
        </p:txBody>
      </p:sp>
      <p:sp>
        <p:nvSpPr>
          <p:cNvPr id="1715" name="Google Shape;1715;p14"/>
          <p:cNvSpPr txBox="1"/>
          <p:nvPr/>
        </p:nvSpPr>
        <p:spPr>
          <a:xfrm>
            <a:off x="704088" y="2871216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Nous dépensons beaucoup sans savoir ce que cela apporte. »</a:t>
            </a:r>
            <a:endParaRPr/>
          </a:p>
        </p:txBody>
      </p:sp>
      <p:sp>
        <p:nvSpPr>
          <p:cNvPr id="1716" name="Google Shape;1716;p14"/>
          <p:cNvSpPr/>
          <p:nvPr/>
        </p:nvSpPr>
        <p:spPr>
          <a:xfrm>
            <a:off x="704088" y="3310128"/>
            <a:ext cx="1313078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14"/>
          <p:cNvSpPr txBox="1"/>
          <p:nvPr/>
        </p:nvSpPr>
        <p:spPr>
          <a:xfrm>
            <a:off x="740664" y="3310128"/>
            <a:ext cx="123992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Product management</a:t>
            </a:r>
            <a:endParaRPr/>
          </a:p>
        </p:txBody>
      </p:sp>
      <p:sp>
        <p:nvSpPr>
          <p:cNvPr id="1718" name="Google Shape;1718;p14"/>
          <p:cNvSpPr/>
          <p:nvPr/>
        </p:nvSpPr>
        <p:spPr>
          <a:xfrm>
            <a:off x="2072030" y="3310128"/>
            <a:ext cx="632764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4"/>
          <p:cNvSpPr txBox="1"/>
          <p:nvPr/>
        </p:nvSpPr>
        <p:spPr>
          <a:xfrm>
            <a:off x="2108606" y="3310128"/>
            <a:ext cx="55961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FinOps</a:t>
            </a:r>
            <a:endParaRPr/>
          </a:p>
        </p:txBody>
      </p:sp>
      <p:sp>
        <p:nvSpPr>
          <p:cNvPr id="1720" name="Google Shape;1720;p14"/>
          <p:cNvSpPr/>
          <p:nvPr/>
        </p:nvSpPr>
        <p:spPr>
          <a:xfrm>
            <a:off x="704088" y="3538728"/>
            <a:ext cx="136977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4"/>
          <p:cNvSpPr txBox="1"/>
          <p:nvPr/>
        </p:nvSpPr>
        <p:spPr>
          <a:xfrm>
            <a:off x="740664" y="3538728"/>
            <a:ext cx="129661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Métriques de valeur</a:t>
            </a:r>
            <a:endParaRPr/>
          </a:p>
        </p:txBody>
      </p:sp>
      <p:sp>
        <p:nvSpPr>
          <p:cNvPr id="1722" name="Google Shape;1722;p14"/>
          <p:cNvSpPr/>
          <p:nvPr/>
        </p:nvSpPr>
        <p:spPr>
          <a:xfrm>
            <a:off x="704088" y="3767328"/>
            <a:ext cx="97292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4"/>
          <p:cNvSpPr txBox="1"/>
          <p:nvPr/>
        </p:nvSpPr>
        <p:spPr>
          <a:xfrm>
            <a:off x="740664" y="3767328"/>
            <a:ext cx="899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Priorisation</a:t>
            </a:r>
            <a:endParaRPr/>
          </a:p>
        </p:txBody>
      </p:sp>
      <p:sp>
        <p:nvSpPr>
          <p:cNvPr id="1724" name="Google Shape;1724;p14"/>
          <p:cNvSpPr/>
          <p:nvPr/>
        </p:nvSpPr>
        <p:spPr>
          <a:xfrm>
            <a:off x="3227832" y="2670048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14"/>
          <p:cNvSpPr/>
          <p:nvPr/>
        </p:nvSpPr>
        <p:spPr>
          <a:xfrm>
            <a:off x="3364992" y="2542032"/>
            <a:ext cx="1490472" cy="256032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14"/>
          <p:cNvSpPr txBox="1"/>
          <p:nvPr/>
        </p:nvSpPr>
        <p:spPr>
          <a:xfrm>
            <a:off x="3401568" y="254203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05  ·  Fiabilité</a:t>
            </a:r>
            <a:endParaRPr/>
          </a:p>
        </p:txBody>
      </p:sp>
      <p:sp>
        <p:nvSpPr>
          <p:cNvPr id="1727" name="Google Shape;1727;p14"/>
          <p:cNvSpPr txBox="1"/>
          <p:nvPr/>
        </p:nvSpPr>
        <p:spPr>
          <a:xfrm>
            <a:off x="3364992" y="2871216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Nos systèmes sont trop fragiles. »</a:t>
            </a:r>
            <a:endParaRPr/>
          </a:p>
        </p:txBody>
      </p:sp>
      <p:sp>
        <p:nvSpPr>
          <p:cNvPr id="1728" name="Google Shape;1728;p14"/>
          <p:cNvSpPr/>
          <p:nvPr/>
        </p:nvSpPr>
        <p:spPr>
          <a:xfrm>
            <a:off x="3364992" y="3310128"/>
            <a:ext cx="462686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4"/>
          <p:cNvSpPr txBox="1"/>
          <p:nvPr/>
        </p:nvSpPr>
        <p:spPr>
          <a:xfrm>
            <a:off x="3401568" y="3310128"/>
            <a:ext cx="38953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SRE</a:t>
            </a:r>
            <a:endParaRPr/>
          </a:p>
        </p:txBody>
      </p:sp>
      <p:sp>
        <p:nvSpPr>
          <p:cNvPr id="1730" name="Google Shape;1730;p14"/>
          <p:cNvSpPr/>
          <p:nvPr/>
        </p:nvSpPr>
        <p:spPr>
          <a:xfrm>
            <a:off x="3882542" y="3310128"/>
            <a:ext cx="1029614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4"/>
          <p:cNvSpPr txBox="1"/>
          <p:nvPr/>
        </p:nvSpPr>
        <p:spPr>
          <a:xfrm>
            <a:off x="3919118" y="3310128"/>
            <a:ext cx="9564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Observabilité</a:t>
            </a:r>
            <a:endParaRPr/>
          </a:p>
        </p:txBody>
      </p:sp>
      <p:sp>
        <p:nvSpPr>
          <p:cNvPr id="1732" name="Google Shape;1732;p14"/>
          <p:cNvSpPr/>
          <p:nvPr/>
        </p:nvSpPr>
        <p:spPr>
          <a:xfrm>
            <a:off x="4967020" y="3310128"/>
            <a:ext cx="462686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4"/>
          <p:cNvSpPr txBox="1"/>
          <p:nvPr/>
        </p:nvSpPr>
        <p:spPr>
          <a:xfrm>
            <a:off x="5003596" y="3310128"/>
            <a:ext cx="38953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SLO</a:t>
            </a:r>
            <a:endParaRPr/>
          </a:p>
        </p:txBody>
      </p:sp>
      <p:sp>
        <p:nvSpPr>
          <p:cNvPr id="1734" name="Google Shape;1734;p14"/>
          <p:cNvSpPr/>
          <p:nvPr/>
        </p:nvSpPr>
        <p:spPr>
          <a:xfrm>
            <a:off x="3364992" y="3538728"/>
            <a:ext cx="1029614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4"/>
          <p:cNvSpPr txBox="1"/>
          <p:nvPr/>
        </p:nvSpPr>
        <p:spPr>
          <a:xfrm>
            <a:off x="3401568" y="3538728"/>
            <a:ext cx="9564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Error budgets</a:t>
            </a:r>
            <a:endParaRPr/>
          </a:p>
        </p:txBody>
      </p:sp>
      <p:sp>
        <p:nvSpPr>
          <p:cNvPr id="1736" name="Google Shape;1736;p14"/>
          <p:cNvSpPr/>
          <p:nvPr/>
        </p:nvSpPr>
        <p:spPr>
          <a:xfrm>
            <a:off x="4449470" y="3538728"/>
            <a:ext cx="1086307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4"/>
          <p:cNvSpPr txBox="1"/>
          <p:nvPr/>
        </p:nvSpPr>
        <p:spPr>
          <a:xfrm>
            <a:off x="4486046" y="3538728"/>
            <a:ext cx="10131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Automatisation</a:t>
            </a:r>
            <a:endParaRPr/>
          </a:p>
        </p:txBody>
      </p:sp>
      <p:sp>
        <p:nvSpPr>
          <p:cNvPr id="1738" name="Google Shape;1738;p14"/>
          <p:cNvSpPr/>
          <p:nvPr/>
        </p:nvSpPr>
        <p:spPr>
          <a:xfrm>
            <a:off x="5888736" y="2670048"/>
            <a:ext cx="2478024" cy="1298448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4"/>
          <p:cNvSpPr/>
          <p:nvPr/>
        </p:nvSpPr>
        <p:spPr>
          <a:xfrm>
            <a:off x="6025896" y="2542032"/>
            <a:ext cx="1490472" cy="256032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4"/>
          <p:cNvSpPr txBox="1"/>
          <p:nvPr/>
        </p:nvSpPr>
        <p:spPr>
          <a:xfrm>
            <a:off x="6062472" y="254203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06  ·  Stratégie</a:t>
            </a:r>
            <a:endParaRPr/>
          </a:p>
        </p:txBody>
      </p:sp>
      <p:sp>
        <p:nvSpPr>
          <p:cNvPr id="1741" name="Google Shape;1741;p14"/>
          <p:cNvSpPr txBox="1"/>
          <p:nvPr/>
        </p:nvSpPr>
        <p:spPr>
          <a:xfrm>
            <a:off x="6025896" y="2871216"/>
            <a:ext cx="2203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« Nous voulons que l'infra devienne un levier stratégique. »</a:t>
            </a:r>
            <a:endParaRPr/>
          </a:p>
        </p:txBody>
      </p:sp>
      <p:sp>
        <p:nvSpPr>
          <p:cNvPr id="1742" name="Google Shape;1742;p14"/>
          <p:cNvSpPr/>
          <p:nvPr/>
        </p:nvSpPr>
        <p:spPr>
          <a:xfrm>
            <a:off x="6025896" y="3310128"/>
            <a:ext cx="1143000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4"/>
          <p:cNvSpPr txBox="1"/>
          <p:nvPr/>
        </p:nvSpPr>
        <p:spPr>
          <a:xfrm>
            <a:off x="6062472" y="3310128"/>
            <a:ext cx="10698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Operating model</a:t>
            </a:r>
            <a:endParaRPr/>
          </a:p>
        </p:txBody>
      </p:sp>
      <p:sp>
        <p:nvSpPr>
          <p:cNvPr id="1744" name="Google Shape;1744;p14"/>
          <p:cNvSpPr/>
          <p:nvPr/>
        </p:nvSpPr>
        <p:spPr>
          <a:xfrm>
            <a:off x="7223760" y="3310128"/>
            <a:ext cx="972921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4"/>
          <p:cNvSpPr txBox="1"/>
          <p:nvPr/>
        </p:nvSpPr>
        <p:spPr>
          <a:xfrm>
            <a:off x="7260336" y="3310128"/>
            <a:ext cx="899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Architecture</a:t>
            </a:r>
            <a:endParaRPr/>
          </a:p>
        </p:txBody>
      </p:sp>
      <p:sp>
        <p:nvSpPr>
          <p:cNvPr id="1746" name="Google Shape;1746;p14"/>
          <p:cNvSpPr/>
          <p:nvPr/>
        </p:nvSpPr>
        <p:spPr>
          <a:xfrm>
            <a:off x="6025896" y="3538728"/>
            <a:ext cx="916228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14"/>
          <p:cNvSpPr txBox="1"/>
          <p:nvPr/>
        </p:nvSpPr>
        <p:spPr>
          <a:xfrm>
            <a:off x="6062472" y="3538728"/>
            <a:ext cx="8430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Gouvernance</a:t>
            </a:r>
            <a:endParaRPr/>
          </a:p>
        </p:txBody>
      </p:sp>
      <p:sp>
        <p:nvSpPr>
          <p:cNvPr id="1748" name="Google Shape;1748;p14"/>
          <p:cNvSpPr/>
          <p:nvPr/>
        </p:nvSpPr>
        <p:spPr>
          <a:xfrm>
            <a:off x="6025896" y="3767328"/>
            <a:ext cx="1426464" cy="19202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4"/>
          <p:cNvSpPr txBox="1"/>
          <p:nvPr/>
        </p:nvSpPr>
        <p:spPr>
          <a:xfrm>
            <a:off x="6062472" y="3767328"/>
            <a:ext cx="135331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Portefeuille produit</a:t>
            </a:r>
            <a:endParaRPr/>
          </a:p>
        </p:txBody>
      </p:sp>
      <p:sp>
        <p:nvSpPr>
          <p:cNvPr id="1750" name="Google Shape;1750;p14"/>
          <p:cNvSpPr/>
          <p:nvPr/>
        </p:nvSpPr>
        <p:spPr>
          <a:xfrm>
            <a:off x="566928" y="4114800"/>
            <a:ext cx="7799832" cy="438912"/>
          </a:xfrm>
          <a:prstGeom prst="roundRect">
            <a:avLst>
              <a:gd fmla="val 20833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4"/>
          <p:cNvSpPr txBox="1"/>
          <p:nvPr/>
        </p:nvSpPr>
        <p:spPr>
          <a:xfrm>
            <a:off x="704088" y="405993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752" name="Google Shape;1752;p14"/>
          <p:cNvSpPr txBox="1"/>
          <p:nvPr/>
        </p:nvSpPr>
        <p:spPr>
          <a:xfrm>
            <a:off x="1161288" y="4114800"/>
            <a:ext cx="70225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Vous</a:t>
            </a:r>
            <a:r>
              <a:rPr b="1" lang="en-US" sz="10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pouvez mener plusieurs axes en </a:t>
            </a:r>
            <a:r>
              <a:rPr b="1" lang="en-US" sz="10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parallèle. Quels sont les meilleurs axes pour commencer 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5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758" name="Google Shape;1758;p15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Infra as a product, pourquoi ce choix ?</a:t>
            </a:r>
            <a:endParaRPr/>
          </a:p>
        </p:txBody>
      </p:sp>
      <p:pic>
        <p:nvPicPr>
          <p:cNvPr id="1759" name="Google Shape;17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fmla="val 0" name="adj1"/>
              <a:gd fmla="val 15980" name="adj2"/>
            </a:avLst>
          </a:prstGeom>
          <a:noFill/>
          <a:ln>
            <a:noFill/>
          </a:ln>
        </p:spPr>
      </p:pic>
      <p:sp>
        <p:nvSpPr>
          <p:cNvPr id="1760" name="Google Shape;1760;p15"/>
          <p:cNvSpPr txBox="1"/>
          <p:nvPr/>
        </p:nvSpPr>
        <p:spPr>
          <a:xfrm>
            <a:off x="4765475" y="1683900"/>
            <a:ext cx="96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45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6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Une définition, quatre piliers</a:t>
            </a:r>
            <a:endParaRPr/>
          </a:p>
        </p:txBody>
      </p:sp>
      <p:sp>
        <p:nvSpPr>
          <p:cNvPr id="1766" name="Google Shape;1766;p16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Infra as a Product : c’est quoi ?</a:t>
            </a:r>
            <a:endParaRPr/>
          </a:p>
        </p:txBody>
      </p:sp>
      <p:sp>
        <p:nvSpPr>
          <p:cNvPr id="1767" name="Google Shape;1767;p16"/>
          <p:cNvSpPr/>
          <p:nvPr/>
        </p:nvSpPr>
        <p:spPr>
          <a:xfrm>
            <a:off x="566928" y="1234440"/>
            <a:ext cx="7799832" cy="822960"/>
          </a:xfrm>
          <a:prstGeom prst="roundRect">
            <a:avLst>
              <a:gd fmla="val 13333" name="adj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16"/>
          <p:cNvSpPr txBox="1"/>
          <p:nvPr/>
        </p:nvSpPr>
        <p:spPr>
          <a:xfrm>
            <a:off x="749808" y="12344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769" name="Google Shape;1769;p16"/>
          <p:cNvSpPr txBox="1"/>
          <p:nvPr/>
        </p:nvSpPr>
        <p:spPr>
          <a:xfrm>
            <a:off x="1252728" y="1234440"/>
            <a:ext cx="6931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Traiter l'infrastructure comme un produit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— des utilisateurs identifiés, une proposition de valeur, un catalogue de capacités, un propriétaire et une roadmap, et une valeur mesurée par l'usage.</a:t>
            </a:r>
            <a:endParaRPr/>
          </a:p>
        </p:txBody>
      </p:sp>
      <p:sp>
        <p:nvSpPr>
          <p:cNvPr id="1770" name="Google Shape;1770;p16"/>
          <p:cNvSpPr/>
          <p:nvPr/>
        </p:nvSpPr>
        <p:spPr>
          <a:xfrm>
            <a:off x="566928" y="2514600"/>
            <a:ext cx="1826514" cy="1920240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6"/>
          <p:cNvSpPr/>
          <p:nvPr/>
        </p:nvSpPr>
        <p:spPr>
          <a:xfrm>
            <a:off x="1251585" y="2286000"/>
            <a:ext cx="457200" cy="457200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6"/>
          <p:cNvSpPr txBox="1"/>
          <p:nvPr/>
        </p:nvSpPr>
        <p:spPr>
          <a:xfrm>
            <a:off x="1251585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773" name="Google Shape;1773;p16"/>
          <p:cNvSpPr txBox="1"/>
          <p:nvPr/>
        </p:nvSpPr>
        <p:spPr>
          <a:xfrm>
            <a:off x="704088" y="2898648"/>
            <a:ext cx="155219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Utilisateurs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Partir des équipes qui consomment l'infra et de leurs douleurs mesurées.</a:t>
            </a:r>
            <a:endParaRPr/>
          </a:p>
        </p:txBody>
      </p:sp>
      <p:sp>
        <p:nvSpPr>
          <p:cNvPr id="1774" name="Google Shape;1774;p16"/>
          <p:cNvSpPr/>
          <p:nvPr/>
        </p:nvSpPr>
        <p:spPr>
          <a:xfrm>
            <a:off x="2558034" y="2514600"/>
            <a:ext cx="1826514" cy="1920240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6"/>
          <p:cNvSpPr/>
          <p:nvPr/>
        </p:nvSpPr>
        <p:spPr>
          <a:xfrm>
            <a:off x="3242691" y="22860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6"/>
          <p:cNvSpPr txBox="1"/>
          <p:nvPr/>
        </p:nvSpPr>
        <p:spPr>
          <a:xfrm>
            <a:off x="3242691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777" name="Google Shape;1777;p16"/>
          <p:cNvSpPr txBox="1"/>
          <p:nvPr/>
        </p:nvSpPr>
        <p:spPr>
          <a:xfrm>
            <a:off x="2695194" y="2898648"/>
            <a:ext cx="155219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Catalogue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capacités lisibles, en self-service, avec un niveau de service explicite.</a:t>
            </a:r>
            <a:endParaRPr/>
          </a:p>
        </p:txBody>
      </p:sp>
      <p:sp>
        <p:nvSpPr>
          <p:cNvPr id="1778" name="Google Shape;1778;p16"/>
          <p:cNvSpPr/>
          <p:nvPr/>
        </p:nvSpPr>
        <p:spPr>
          <a:xfrm>
            <a:off x="4549140" y="2514600"/>
            <a:ext cx="1826514" cy="1920240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6"/>
          <p:cNvSpPr/>
          <p:nvPr/>
        </p:nvSpPr>
        <p:spPr>
          <a:xfrm>
            <a:off x="5233797" y="22860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16"/>
          <p:cNvSpPr txBox="1"/>
          <p:nvPr/>
        </p:nvSpPr>
        <p:spPr>
          <a:xfrm>
            <a:off x="5233797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781" name="Google Shape;1781;p16"/>
          <p:cNvSpPr txBox="1"/>
          <p:nvPr/>
        </p:nvSpPr>
        <p:spPr>
          <a:xfrm>
            <a:off x="4686300" y="2898648"/>
            <a:ext cx="155219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Ownership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 propriétaire produit par capacité, une roadmap priorisée sur des critères partagés.</a:t>
            </a:r>
            <a:endParaRPr/>
          </a:p>
        </p:txBody>
      </p:sp>
      <p:sp>
        <p:nvSpPr>
          <p:cNvPr id="1782" name="Google Shape;1782;p16"/>
          <p:cNvSpPr/>
          <p:nvPr/>
        </p:nvSpPr>
        <p:spPr>
          <a:xfrm>
            <a:off x="6540246" y="2514600"/>
            <a:ext cx="1826514" cy="1920240"/>
          </a:xfrm>
          <a:prstGeom prst="roundRect">
            <a:avLst>
              <a:gd fmla="val 6007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6"/>
          <p:cNvSpPr/>
          <p:nvPr/>
        </p:nvSpPr>
        <p:spPr>
          <a:xfrm>
            <a:off x="7224903" y="228600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16"/>
          <p:cNvSpPr txBox="1"/>
          <p:nvPr/>
        </p:nvSpPr>
        <p:spPr>
          <a:xfrm>
            <a:off x="7224903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/>
          </a:p>
        </p:txBody>
      </p:sp>
      <p:sp>
        <p:nvSpPr>
          <p:cNvPr id="1785" name="Google Shape;1785;p16"/>
          <p:cNvSpPr txBox="1"/>
          <p:nvPr/>
        </p:nvSpPr>
        <p:spPr>
          <a:xfrm>
            <a:off x="6677406" y="2898648"/>
            <a:ext cx="155219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Mesure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L'adoption et l'usage réel pilotent les décisions, jusqu'au décommissionnement.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Notre promesse</a:t>
            </a:r>
            <a:endParaRPr/>
          </a:p>
        </p:txBody>
      </p:sp>
      <p:sp>
        <p:nvSpPr>
          <p:cNvPr id="1791" name="Google Shape;1791;p17"/>
          <p:cNvSpPr txBox="1"/>
          <p:nvPr/>
        </p:nvSpPr>
        <p:spPr>
          <a:xfrm>
            <a:off x="566928" y="777240"/>
            <a:ext cx="779983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Ce que change l'infra as a product, concrètement</a:t>
            </a:r>
            <a:endParaRPr/>
          </a:p>
        </p:txBody>
      </p:sp>
      <p:sp>
        <p:nvSpPr>
          <p:cNvPr id="1792" name="Google Shape;1792;p17"/>
          <p:cNvSpPr/>
          <p:nvPr/>
        </p:nvSpPr>
        <p:spPr>
          <a:xfrm>
            <a:off x="566928" y="1216152"/>
            <a:ext cx="1005840" cy="24688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7"/>
          <p:cNvSpPr txBox="1"/>
          <p:nvPr/>
        </p:nvSpPr>
        <p:spPr>
          <a:xfrm>
            <a:off x="603504" y="1216152"/>
            <a:ext cx="9326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AVANT</a:t>
            </a:r>
            <a:endParaRPr/>
          </a:p>
        </p:txBody>
      </p:sp>
      <p:sp>
        <p:nvSpPr>
          <p:cNvPr id="1794" name="Google Shape;1794;p17"/>
          <p:cNvSpPr/>
          <p:nvPr/>
        </p:nvSpPr>
        <p:spPr>
          <a:xfrm>
            <a:off x="4754880" y="1216152"/>
            <a:ext cx="2194560" cy="24688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17"/>
          <p:cNvSpPr txBox="1"/>
          <p:nvPr/>
        </p:nvSpPr>
        <p:spPr>
          <a:xfrm>
            <a:off x="4791456" y="1216152"/>
            <a:ext cx="21214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APRÈS — infra as a product</a:t>
            </a:r>
            <a:endParaRPr/>
          </a:p>
        </p:txBody>
      </p:sp>
      <p:sp>
        <p:nvSpPr>
          <p:cNvPr id="1796" name="Google Shape;1796;p17"/>
          <p:cNvSpPr/>
          <p:nvPr/>
        </p:nvSpPr>
        <p:spPr>
          <a:xfrm>
            <a:off x="566928" y="1554480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7"/>
          <p:cNvSpPr txBox="1"/>
          <p:nvPr/>
        </p:nvSpPr>
        <p:spPr>
          <a:xfrm>
            <a:off x="694944" y="1554480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Guichet de tickets</a:t>
            </a: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personne n'est propriétaire du service.</a:t>
            </a:r>
            <a:endParaRPr/>
          </a:p>
        </p:txBody>
      </p:sp>
      <p:sp>
        <p:nvSpPr>
          <p:cNvPr id="1798" name="Google Shape;1798;p17"/>
          <p:cNvSpPr/>
          <p:nvPr/>
        </p:nvSpPr>
        <p:spPr>
          <a:xfrm>
            <a:off x="4288536" y="1645920"/>
            <a:ext cx="182880" cy="24688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7"/>
          <p:cNvSpPr/>
          <p:nvPr/>
        </p:nvSpPr>
        <p:spPr>
          <a:xfrm>
            <a:off x="4754880" y="1554480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7"/>
          <p:cNvSpPr txBox="1"/>
          <p:nvPr/>
        </p:nvSpPr>
        <p:spPr>
          <a:xfrm>
            <a:off x="4882896" y="1554480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Un propriétaire produit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une roadmap, des indicateurs de pilotage.</a:t>
            </a:r>
            <a:endParaRPr/>
          </a:p>
        </p:txBody>
      </p:sp>
      <p:sp>
        <p:nvSpPr>
          <p:cNvPr id="1801" name="Google Shape;1801;p17"/>
          <p:cNvSpPr/>
          <p:nvPr/>
        </p:nvSpPr>
        <p:spPr>
          <a:xfrm>
            <a:off x="566928" y="2048256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7"/>
          <p:cNvSpPr txBox="1"/>
          <p:nvPr/>
        </p:nvSpPr>
        <p:spPr>
          <a:xfrm>
            <a:off x="694944" y="2048256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Triage du RUN trop long</a:t>
            </a: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traité au fil de l'eau.</a:t>
            </a:r>
            <a:endParaRPr/>
          </a:p>
        </p:txBody>
      </p:sp>
      <p:sp>
        <p:nvSpPr>
          <p:cNvPr id="1803" name="Google Shape;1803;p17"/>
          <p:cNvSpPr/>
          <p:nvPr/>
        </p:nvSpPr>
        <p:spPr>
          <a:xfrm>
            <a:off x="4288536" y="2139696"/>
            <a:ext cx="182880" cy="24688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17"/>
          <p:cNvSpPr/>
          <p:nvPr/>
        </p:nvSpPr>
        <p:spPr>
          <a:xfrm>
            <a:off x="4754880" y="2048256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7"/>
          <p:cNvSpPr txBox="1"/>
          <p:nvPr/>
        </p:nvSpPr>
        <p:spPr>
          <a:xfrm>
            <a:off x="4882896" y="2048256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Temps de triage du RUN réduit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capacité RUN récupérée.</a:t>
            </a:r>
            <a:endParaRPr/>
          </a:p>
        </p:txBody>
      </p:sp>
      <p:sp>
        <p:nvSpPr>
          <p:cNvPr id="1806" name="Google Shape;1806;p17"/>
          <p:cNvSpPr/>
          <p:nvPr/>
        </p:nvSpPr>
        <p:spPr>
          <a:xfrm>
            <a:off x="566928" y="2542032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7"/>
          <p:cNvSpPr txBox="1"/>
          <p:nvPr/>
        </p:nvSpPr>
        <p:spPr>
          <a:xfrm>
            <a:off x="694944" y="2542032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Backlog invisible</a:t>
            </a: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aucun indicateur de pilotage.</a:t>
            </a:r>
            <a:endParaRPr/>
          </a:p>
        </p:txBody>
      </p:sp>
      <p:sp>
        <p:nvSpPr>
          <p:cNvPr id="1808" name="Google Shape;1808;p17"/>
          <p:cNvSpPr/>
          <p:nvPr/>
        </p:nvSpPr>
        <p:spPr>
          <a:xfrm>
            <a:off x="4288536" y="2633472"/>
            <a:ext cx="182880" cy="24688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17"/>
          <p:cNvSpPr/>
          <p:nvPr/>
        </p:nvSpPr>
        <p:spPr>
          <a:xfrm>
            <a:off x="4754880" y="2542032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17"/>
          <p:cNvSpPr txBox="1"/>
          <p:nvPr/>
        </p:nvSpPr>
        <p:spPr>
          <a:xfrm>
            <a:off x="4882896" y="2542032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Backlog visible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priorisé, mesuré dans le temps.</a:t>
            </a:r>
            <a:endParaRPr/>
          </a:p>
        </p:txBody>
      </p:sp>
      <p:sp>
        <p:nvSpPr>
          <p:cNvPr id="1811" name="Google Shape;1811;p17"/>
          <p:cNvSpPr/>
          <p:nvPr/>
        </p:nvSpPr>
        <p:spPr>
          <a:xfrm>
            <a:off x="566928" y="3035808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7"/>
          <p:cNvSpPr txBox="1"/>
          <p:nvPr/>
        </p:nvSpPr>
        <p:spPr>
          <a:xfrm>
            <a:off x="694944" y="3035808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Beaucoup de projets, peu d'indicateurs</a:t>
            </a: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du contrôle et du reporting partout.</a:t>
            </a:r>
            <a:endParaRPr/>
          </a:p>
        </p:txBody>
      </p:sp>
      <p:sp>
        <p:nvSpPr>
          <p:cNvPr id="1813" name="Google Shape;1813;p17"/>
          <p:cNvSpPr/>
          <p:nvPr/>
        </p:nvSpPr>
        <p:spPr>
          <a:xfrm>
            <a:off x="4288536" y="3127248"/>
            <a:ext cx="182880" cy="24688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7"/>
          <p:cNvSpPr/>
          <p:nvPr/>
        </p:nvSpPr>
        <p:spPr>
          <a:xfrm>
            <a:off x="4754880" y="3035808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7"/>
          <p:cNvSpPr txBox="1"/>
          <p:nvPr/>
        </p:nvSpPr>
        <p:spPr>
          <a:xfrm>
            <a:off x="4882896" y="3035808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Process explicite, rôles définis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l'agent n'arrive qu'une fois le process écrit.</a:t>
            </a:r>
            <a:endParaRPr/>
          </a:p>
        </p:txBody>
      </p:sp>
      <p:sp>
        <p:nvSpPr>
          <p:cNvPr id="1816" name="Google Shape;1816;p17"/>
          <p:cNvSpPr/>
          <p:nvPr/>
        </p:nvSpPr>
        <p:spPr>
          <a:xfrm>
            <a:off x="566928" y="3529584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17"/>
          <p:cNvSpPr txBox="1"/>
          <p:nvPr/>
        </p:nvSpPr>
        <p:spPr>
          <a:xfrm>
            <a:off x="694944" y="3529584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 pilotage dans la douleur</a:t>
            </a: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 — trop de sujets pour trop peu de capacité.</a:t>
            </a:r>
            <a:endParaRPr/>
          </a:p>
        </p:txBody>
      </p:sp>
      <p:sp>
        <p:nvSpPr>
          <p:cNvPr id="1818" name="Google Shape;1818;p17"/>
          <p:cNvSpPr/>
          <p:nvPr/>
        </p:nvSpPr>
        <p:spPr>
          <a:xfrm>
            <a:off x="4288536" y="3621024"/>
            <a:ext cx="182880" cy="246888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17"/>
          <p:cNvSpPr/>
          <p:nvPr/>
        </p:nvSpPr>
        <p:spPr>
          <a:xfrm>
            <a:off x="4754880" y="3529584"/>
            <a:ext cx="3611880" cy="429768"/>
          </a:xfrm>
          <a:prstGeom prst="roundRect">
            <a:avLst>
              <a:gd fmla="val 25531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17"/>
          <p:cNvSpPr txBox="1"/>
          <p:nvPr/>
        </p:nvSpPr>
        <p:spPr>
          <a:xfrm>
            <a:off x="4882896" y="3529584"/>
            <a:ext cx="3392424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✓  Des évolutions tech atteignables</a:t>
            </a:r>
            <a:r>
              <a:rPr b="0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— un pilotage serein, des priorités tenues.</a:t>
            </a:r>
            <a:endParaRPr/>
          </a:p>
        </p:txBody>
      </p:sp>
      <p:sp>
        <p:nvSpPr>
          <p:cNvPr id="1821" name="Google Shape;1821;p17"/>
          <p:cNvSpPr/>
          <p:nvPr/>
        </p:nvSpPr>
        <p:spPr>
          <a:xfrm>
            <a:off x="566928" y="4069080"/>
            <a:ext cx="7799832" cy="484632"/>
          </a:xfrm>
          <a:prstGeom prst="roundRect">
            <a:avLst>
              <a:gd fmla="val 18867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17"/>
          <p:cNvSpPr txBox="1"/>
          <p:nvPr/>
        </p:nvSpPr>
        <p:spPr>
          <a:xfrm>
            <a:off x="704088" y="401421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823" name="Google Shape;1823;p17"/>
          <p:cNvSpPr txBox="1"/>
          <p:nvPr/>
        </p:nvSpPr>
        <p:spPr>
          <a:xfrm>
            <a:off x="1161288" y="4069080"/>
            <a:ext cx="70225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Faire les bonnes choses au bon moment, un backlog piloté, des résultats concrets — l'agentique accélère la démarche, il ne la remplace pas.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8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Pourquoi cette transformation — et pourquoi maintenant</a:t>
            </a:r>
            <a:endParaRPr/>
          </a:p>
        </p:txBody>
      </p:sp>
      <p:sp>
        <p:nvSpPr>
          <p:cNvPr id="1829" name="Google Shape;1829;p18"/>
          <p:cNvSpPr/>
          <p:nvPr/>
        </p:nvSpPr>
        <p:spPr>
          <a:xfrm>
            <a:off x="566928" y="932688"/>
            <a:ext cx="45720" cy="310896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18"/>
          <p:cNvSpPr txBox="1"/>
          <p:nvPr/>
        </p:nvSpPr>
        <p:spPr>
          <a:xfrm>
            <a:off x="731520" y="914400"/>
            <a:ext cx="7635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Trois bascules rendent l'infra as a product </a:t>
            </a: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pertinente — et urgente —</a:t>
            </a:r>
            <a:r>
              <a:rPr b="0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maintenant.</a:t>
            </a:r>
            <a:endParaRPr/>
          </a:p>
        </p:txBody>
      </p:sp>
      <p:sp>
        <p:nvSpPr>
          <p:cNvPr id="1831" name="Google Shape;1831;p18"/>
          <p:cNvSpPr/>
          <p:nvPr/>
        </p:nvSpPr>
        <p:spPr>
          <a:xfrm>
            <a:off x="566928" y="1600200"/>
            <a:ext cx="2465832" cy="1600200"/>
          </a:xfrm>
          <a:prstGeom prst="roundRect">
            <a:avLst>
              <a:gd fmla="val 6857" name="adj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18"/>
          <p:cNvSpPr/>
          <p:nvPr/>
        </p:nvSpPr>
        <p:spPr>
          <a:xfrm>
            <a:off x="722376" y="1389888"/>
            <a:ext cx="420624" cy="420624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18"/>
          <p:cNvSpPr txBox="1"/>
          <p:nvPr/>
        </p:nvSpPr>
        <p:spPr>
          <a:xfrm>
            <a:off x="722376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834" name="Google Shape;1834;p18"/>
          <p:cNvSpPr txBox="1"/>
          <p:nvPr/>
        </p:nvSpPr>
        <p:spPr>
          <a:xfrm>
            <a:off x="731520" y="1901952"/>
            <a:ext cx="2136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L'infra subie n'est plus tenable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RUN subi, experts seniors drainés sur du répétitif, dépenses cloud non maîtrisées, plateforme contournée : le coût du statu quo ne cesse de monter.</a:t>
            </a:r>
            <a:endParaRPr/>
          </a:p>
        </p:txBody>
      </p:sp>
      <p:sp>
        <p:nvSpPr>
          <p:cNvPr id="1835" name="Google Shape;1835;p18"/>
          <p:cNvSpPr/>
          <p:nvPr/>
        </p:nvSpPr>
        <p:spPr>
          <a:xfrm>
            <a:off x="3233928" y="1600200"/>
            <a:ext cx="2465832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18"/>
          <p:cNvSpPr/>
          <p:nvPr/>
        </p:nvSpPr>
        <p:spPr>
          <a:xfrm>
            <a:off x="3389376" y="1389888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8"/>
          <p:cNvSpPr txBox="1"/>
          <p:nvPr/>
        </p:nvSpPr>
        <p:spPr>
          <a:xfrm>
            <a:off x="3389376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838" name="Google Shape;1838;p18"/>
          <p:cNvSpPr txBox="1"/>
          <p:nvPr/>
        </p:nvSpPr>
        <p:spPr>
          <a:xfrm>
            <a:off x="3398520" y="1901952"/>
            <a:ext cx="2136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modèle produit/plateforme est prouvé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Devenu un standard — mais 80 % des grandes organisations ont une platform team en 2026, moins de 30 % en tirent des gains mesurables (Gartner). Nous adressons cet écart.</a:t>
            </a:r>
            <a:endParaRPr/>
          </a:p>
        </p:txBody>
      </p:sp>
      <p:sp>
        <p:nvSpPr>
          <p:cNvPr id="1839" name="Google Shape;1839;p18"/>
          <p:cNvSpPr/>
          <p:nvPr/>
        </p:nvSpPr>
        <p:spPr>
          <a:xfrm>
            <a:off x="5900928" y="1600200"/>
            <a:ext cx="2465832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18"/>
          <p:cNvSpPr/>
          <p:nvPr/>
        </p:nvSpPr>
        <p:spPr>
          <a:xfrm>
            <a:off x="6056376" y="1389888"/>
            <a:ext cx="420624" cy="42062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18"/>
          <p:cNvSpPr txBox="1"/>
          <p:nvPr/>
        </p:nvSpPr>
        <p:spPr>
          <a:xfrm>
            <a:off x="6056376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842" name="Google Shape;1842;p18"/>
          <p:cNvSpPr txBox="1"/>
          <p:nvPr/>
        </p:nvSpPr>
        <p:spPr>
          <a:xfrm>
            <a:off x="6065520" y="1901952"/>
            <a:ext cx="2136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rebat les cartes — l'organisation d'abord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L'IA amplifie une organisation mûre, jamais l'inverse. S'y préparer maintenant (doctrine confidentialité-first) évite de la subir plus tard.</a:t>
            </a:r>
            <a:endParaRPr/>
          </a:p>
        </p:txBody>
      </p:sp>
      <p:sp>
        <p:nvSpPr>
          <p:cNvPr id="1843" name="Google Shape;1843;p18"/>
          <p:cNvSpPr txBox="1"/>
          <p:nvPr/>
        </p:nvSpPr>
        <p:spPr>
          <a:xfrm>
            <a:off x="566928" y="3401568"/>
            <a:ext cx="77998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ET SURTOUT — NOS DEUX MISSIONS RÉPONDENT TRAIT POUR TRAIT AUX DEUX DOULEURS DU CLIENT</a:t>
            </a:r>
            <a:endParaRPr/>
          </a:p>
        </p:txBody>
      </p:sp>
      <p:sp>
        <p:nvSpPr>
          <p:cNvPr id="1844" name="Google Shape;1844;p18"/>
          <p:cNvSpPr/>
          <p:nvPr/>
        </p:nvSpPr>
        <p:spPr>
          <a:xfrm>
            <a:off x="566928" y="3831335"/>
            <a:ext cx="1325880" cy="457200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18"/>
          <p:cNvSpPr txBox="1"/>
          <p:nvPr/>
        </p:nvSpPr>
        <p:spPr>
          <a:xfrm>
            <a:off x="603504" y="3831335"/>
            <a:ext cx="1252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Subir le RUN</a:t>
            </a:r>
            <a:endParaRPr/>
          </a:p>
        </p:txBody>
      </p:sp>
      <p:sp>
        <p:nvSpPr>
          <p:cNvPr id="1846" name="Google Shape;1846;p18"/>
          <p:cNvSpPr/>
          <p:nvPr/>
        </p:nvSpPr>
        <p:spPr>
          <a:xfrm>
            <a:off x="1965960" y="3931920"/>
            <a:ext cx="164592" cy="256032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18"/>
          <p:cNvSpPr/>
          <p:nvPr/>
        </p:nvSpPr>
        <p:spPr>
          <a:xfrm>
            <a:off x="2212848" y="3703320"/>
            <a:ext cx="2116836" cy="713232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18"/>
          <p:cNvSpPr txBox="1"/>
          <p:nvPr/>
        </p:nvSpPr>
        <p:spPr>
          <a:xfrm>
            <a:off x="2350008" y="3703320"/>
            <a:ext cx="188823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TRANSFORMER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cible produit/plateforme</a:t>
            </a:r>
            <a:endParaRPr/>
          </a:p>
        </p:txBody>
      </p:sp>
      <p:sp>
        <p:nvSpPr>
          <p:cNvPr id="1849" name="Google Shape;1849;p18"/>
          <p:cNvSpPr/>
          <p:nvPr/>
        </p:nvSpPr>
        <p:spPr>
          <a:xfrm>
            <a:off x="4604004" y="3831335"/>
            <a:ext cx="1325880" cy="457200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18"/>
          <p:cNvSpPr txBox="1"/>
          <p:nvPr/>
        </p:nvSpPr>
        <p:spPr>
          <a:xfrm>
            <a:off x="4640580" y="3831335"/>
            <a:ext cx="1252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dépenses subies</a:t>
            </a:r>
            <a:endParaRPr/>
          </a:p>
        </p:txBody>
      </p:sp>
      <p:sp>
        <p:nvSpPr>
          <p:cNvPr id="1851" name="Google Shape;1851;p18"/>
          <p:cNvSpPr/>
          <p:nvPr/>
        </p:nvSpPr>
        <p:spPr>
          <a:xfrm>
            <a:off x="6003036" y="3931920"/>
            <a:ext cx="164592" cy="256032"/>
          </a:xfrm>
          <a:prstGeom prst="chevron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18"/>
          <p:cNvSpPr/>
          <p:nvPr/>
        </p:nvSpPr>
        <p:spPr>
          <a:xfrm>
            <a:off x="6249924" y="3703320"/>
            <a:ext cx="2116836" cy="713232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8"/>
          <p:cNvSpPr txBox="1"/>
          <p:nvPr/>
        </p:nvSpPr>
        <p:spPr>
          <a:xfrm>
            <a:off x="6387084" y="3703320"/>
            <a:ext cx="188823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capacité récupérée à réinvestir — sous réserve d'une réallocation côté client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19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globale</a:t>
            </a:r>
            <a:endParaRPr/>
          </a:p>
        </p:txBody>
      </p:sp>
      <p:sp>
        <p:nvSpPr>
          <p:cNvPr id="1859" name="Google Shape;1859;p19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04</a:t>
            </a:r>
            <a:endParaRPr b="1" sz="1700"/>
          </a:p>
        </p:txBody>
      </p:sp>
      <p:pic>
        <p:nvPicPr>
          <p:cNvPr id="1860" name="Google Shape;18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0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Quatre phases, des livrables à chaque étape</a:t>
            </a:r>
            <a:endParaRPr/>
          </a:p>
        </p:txBody>
      </p:sp>
      <p:sp>
        <p:nvSpPr>
          <p:cNvPr id="1866" name="Google Shape;1866;p20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Démarche globale</a:t>
            </a:r>
            <a:endParaRPr/>
          </a:p>
        </p:txBody>
      </p:sp>
      <p:sp>
        <p:nvSpPr>
          <p:cNvPr id="1867" name="Google Shape;1867;p20"/>
          <p:cNvSpPr/>
          <p:nvPr/>
        </p:nvSpPr>
        <p:spPr>
          <a:xfrm>
            <a:off x="566928" y="1261872"/>
            <a:ext cx="2004822" cy="548640"/>
          </a:xfrm>
          <a:prstGeom prst="chevron">
            <a:avLst>
              <a:gd fmla="val 35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20"/>
          <p:cNvSpPr txBox="1"/>
          <p:nvPr/>
        </p:nvSpPr>
        <p:spPr>
          <a:xfrm>
            <a:off x="795528" y="1261872"/>
            <a:ext cx="154762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1. Explorer et diagnostiquer</a:t>
            </a:r>
            <a:endParaRPr/>
          </a:p>
        </p:txBody>
      </p:sp>
      <p:sp>
        <p:nvSpPr>
          <p:cNvPr id="1869" name="Google Shape;1869;p20"/>
          <p:cNvSpPr/>
          <p:nvPr/>
        </p:nvSpPr>
        <p:spPr>
          <a:xfrm>
            <a:off x="612648" y="1965960"/>
            <a:ext cx="1803654" cy="2560320"/>
          </a:xfrm>
          <a:prstGeom prst="roundRect">
            <a:avLst>
              <a:gd fmla="val 6083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20"/>
          <p:cNvSpPr txBox="1"/>
          <p:nvPr/>
        </p:nvSpPr>
        <p:spPr>
          <a:xfrm>
            <a:off x="740664" y="2103120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ACTIVITÉS CLÉS</a:t>
            </a:r>
            <a:endParaRPr/>
          </a:p>
        </p:txBody>
      </p:sp>
      <p:sp>
        <p:nvSpPr>
          <p:cNvPr id="1871" name="Google Shape;1871;p20"/>
          <p:cNvSpPr txBox="1"/>
          <p:nvPr/>
        </p:nvSpPr>
        <p:spPr>
          <a:xfrm>
            <a:off x="740664" y="2331720"/>
            <a:ext cx="154762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Assessment flash : entretiens, inventaire du parc et des demandes, coût du statu quo chiffré.</a:t>
            </a:r>
            <a:endParaRPr/>
          </a:p>
        </p:txBody>
      </p:sp>
      <p:sp>
        <p:nvSpPr>
          <p:cNvPr id="1872" name="Google Shape;1872;p20"/>
          <p:cNvSpPr/>
          <p:nvPr/>
        </p:nvSpPr>
        <p:spPr>
          <a:xfrm>
            <a:off x="740664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20"/>
          <p:cNvSpPr txBox="1"/>
          <p:nvPr/>
        </p:nvSpPr>
        <p:spPr>
          <a:xfrm>
            <a:off x="740664" y="3630168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LIVRABLE</a:t>
            </a:r>
            <a:endParaRPr/>
          </a:p>
        </p:txBody>
      </p:sp>
      <p:sp>
        <p:nvSpPr>
          <p:cNvPr id="1874" name="Google Shape;1874;p20"/>
          <p:cNvSpPr txBox="1"/>
          <p:nvPr/>
        </p:nvSpPr>
        <p:spPr>
          <a:xfrm>
            <a:off x="740664" y="3840480"/>
            <a:ext cx="154762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Diagnostic et coût du statu quo</a:t>
            </a:r>
            <a:endParaRPr/>
          </a:p>
        </p:txBody>
      </p:sp>
      <p:sp>
        <p:nvSpPr>
          <p:cNvPr id="1875" name="Google Shape;1875;p20"/>
          <p:cNvSpPr/>
          <p:nvPr/>
        </p:nvSpPr>
        <p:spPr>
          <a:xfrm>
            <a:off x="2535174" y="1261872"/>
            <a:ext cx="2004822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20"/>
          <p:cNvSpPr txBox="1"/>
          <p:nvPr/>
        </p:nvSpPr>
        <p:spPr>
          <a:xfrm>
            <a:off x="2763774" y="1261872"/>
            <a:ext cx="154762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2. Cadrer l'offre</a:t>
            </a:r>
            <a:endParaRPr/>
          </a:p>
        </p:txBody>
      </p:sp>
      <p:sp>
        <p:nvSpPr>
          <p:cNvPr id="1877" name="Google Shape;1877;p20"/>
          <p:cNvSpPr/>
          <p:nvPr/>
        </p:nvSpPr>
        <p:spPr>
          <a:xfrm>
            <a:off x="2580894" y="1965960"/>
            <a:ext cx="1803654" cy="2560320"/>
          </a:xfrm>
          <a:prstGeom prst="roundRect">
            <a:avLst>
              <a:gd fmla="val 6083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20"/>
          <p:cNvSpPr txBox="1"/>
          <p:nvPr/>
        </p:nvSpPr>
        <p:spPr>
          <a:xfrm>
            <a:off x="2708910" y="2103120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ACTIVITÉS CLÉS</a:t>
            </a:r>
            <a:endParaRPr/>
          </a:p>
        </p:txBody>
      </p:sp>
      <p:sp>
        <p:nvSpPr>
          <p:cNvPr id="1879" name="Google Shape;1879;p20"/>
          <p:cNvSpPr txBox="1"/>
          <p:nvPr/>
        </p:nvSpPr>
        <p:spPr>
          <a:xfrm>
            <a:off x="2708910" y="2331720"/>
            <a:ext cx="154762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Utilisateurs et parcours, catalogue de capacités cible, critères de priorisation partagés.</a:t>
            </a:r>
            <a:endParaRPr/>
          </a:p>
        </p:txBody>
      </p:sp>
      <p:sp>
        <p:nvSpPr>
          <p:cNvPr id="1880" name="Google Shape;1880;p20"/>
          <p:cNvSpPr/>
          <p:nvPr/>
        </p:nvSpPr>
        <p:spPr>
          <a:xfrm>
            <a:off x="2708910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20"/>
          <p:cNvSpPr txBox="1"/>
          <p:nvPr/>
        </p:nvSpPr>
        <p:spPr>
          <a:xfrm>
            <a:off x="2708910" y="3630168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LIVRABLE</a:t>
            </a:r>
            <a:endParaRPr/>
          </a:p>
        </p:txBody>
      </p:sp>
      <p:sp>
        <p:nvSpPr>
          <p:cNvPr id="1882" name="Google Shape;1882;p20"/>
          <p:cNvSpPr txBox="1"/>
          <p:nvPr/>
        </p:nvSpPr>
        <p:spPr>
          <a:xfrm>
            <a:off x="2708910" y="3840480"/>
            <a:ext cx="154762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Catalogue cible et roadmap</a:t>
            </a:r>
            <a:endParaRPr/>
          </a:p>
        </p:txBody>
      </p:sp>
      <p:sp>
        <p:nvSpPr>
          <p:cNvPr id="1883" name="Google Shape;1883;p20"/>
          <p:cNvSpPr/>
          <p:nvPr/>
        </p:nvSpPr>
        <p:spPr>
          <a:xfrm>
            <a:off x="4503420" y="1261872"/>
            <a:ext cx="2004822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20"/>
          <p:cNvSpPr txBox="1"/>
          <p:nvPr/>
        </p:nvSpPr>
        <p:spPr>
          <a:xfrm>
            <a:off x="4732020" y="1261872"/>
            <a:ext cx="154762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3. Assainir</a:t>
            </a:r>
            <a:endParaRPr/>
          </a:p>
        </p:txBody>
      </p:sp>
      <p:sp>
        <p:nvSpPr>
          <p:cNvPr id="1885" name="Google Shape;1885;p20"/>
          <p:cNvSpPr/>
          <p:nvPr/>
        </p:nvSpPr>
        <p:spPr>
          <a:xfrm>
            <a:off x="4549140" y="1965960"/>
            <a:ext cx="1803654" cy="2560320"/>
          </a:xfrm>
          <a:prstGeom prst="roundRect">
            <a:avLst>
              <a:gd fmla="val 6083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20"/>
          <p:cNvSpPr txBox="1"/>
          <p:nvPr/>
        </p:nvSpPr>
        <p:spPr>
          <a:xfrm>
            <a:off x="4677156" y="2103120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ACTIVITÉS CLÉS</a:t>
            </a:r>
            <a:endParaRPr/>
          </a:p>
        </p:txBody>
      </p:sp>
      <p:sp>
        <p:nvSpPr>
          <p:cNvPr id="1887" name="Google Shape;1887;p20"/>
          <p:cNvSpPr txBox="1"/>
          <p:nvPr/>
        </p:nvSpPr>
        <p:spPr>
          <a:xfrm>
            <a:off x="4677156" y="2331720"/>
            <a:ext cx="154762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Traiter les douleurs prioritaires : décommissionnement, licences, triage du RUN.</a:t>
            </a:r>
            <a:endParaRPr/>
          </a:p>
        </p:txBody>
      </p:sp>
      <p:sp>
        <p:nvSpPr>
          <p:cNvPr id="1888" name="Google Shape;1888;p20"/>
          <p:cNvSpPr/>
          <p:nvPr/>
        </p:nvSpPr>
        <p:spPr>
          <a:xfrm>
            <a:off x="4677156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20"/>
          <p:cNvSpPr txBox="1"/>
          <p:nvPr/>
        </p:nvSpPr>
        <p:spPr>
          <a:xfrm>
            <a:off x="4677156" y="3630168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LIVRABLE</a:t>
            </a:r>
            <a:endParaRPr/>
          </a:p>
        </p:txBody>
      </p:sp>
      <p:sp>
        <p:nvSpPr>
          <p:cNvPr id="1890" name="Google Shape;1890;p20"/>
          <p:cNvSpPr txBox="1"/>
          <p:nvPr/>
        </p:nvSpPr>
        <p:spPr>
          <a:xfrm>
            <a:off x="4677156" y="3840480"/>
            <a:ext cx="154762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Capacité récupérée, mesurée</a:t>
            </a:r>
            <a:endParaRPr/>
          </a:p>
        </p:txBody>
      </p:sp>
      <p:sp>
        <p:nvSpPr>
          <p:cNvPr id="1891" name="Google Shape;1891;p20"/>
          <p:cNvSpPr/>
          <p:nvPr/>
        </p:nvSpPr>
        <p:spPr>
          <a:xfrm>
            <a:off x="6471666" y="1261872"/>
            <a:ext cx="1895094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20"/>
          <p:cNvSpPr txBox="1"/>
          <p:nvPr/>
        </p:nvSpPr>
        <p:spPr>
          <a:xfrm>
            <a:off x="6700266" y="1261872"/>
            <a:ext cx="14378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4. Transformer</a:t>
            </a:r>
            <a:endParaRPr/>
          </a:p>
        </p:txBody>
      </p:sp>
      <p:sp>
        <p:nvSpPr>
          <p:cNvPr id="1893" name="Google Shape;1893;p20"/>
          <p:cNvSpPr/>
          <p:nvPr/>
        </p:nvSpPr>
        <p:spPr>
          <a:xfrm>
            <a:off x="6517386" y="1965960"/>
            <a:ext cx="1803654" cy="2560320"/>
          </a:xfrm>
          <a:prstGeom prst="roundRect">
            <a:avLst>
              <a:gd fmla="val 6083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20"/>
          <p:cNvSpPr txBox="1"/>
          <p:nvPr/>
        </p:nvSpPr>
        <p:spPr>
          <a:xfrm>
            <a:off x="6645402" y="2103120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ACTIVITÉS CLÉS</a:t>
            </a:r>
            <a:endParaRPr/>
          </a:p>
        </p:txBody>
      </p:sp>
      <p:sp>
        <p:nvSpPr>
          <p:cNvPr id="1895" name="Google Shape;1895;p20"/>
          <p:cNvSpPr txBox="1"/>
          <p:nvPr/>
        </p:nvSpPr>
        <p:spPr>
          <a:xfrm>
            <a:off x="6645402" y="2331720"/>
            <a:ext cx="154762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Premiers périmètres en mode produit : propriétaire, backlog, indicateurs d'usage.</a:t>
            </a:r>
            <a:endParaRPr/>
          </a:p>
        </p:txBody>
      </p:sp>
      <p:sp>
        <p:nvSpPr>
          <p:cNvPr id="1896" name="Google Shape;1896;p20"/>
          <p:cNvSpPr/>
          <p:nvPr/>
        </p:nvSpPr>
        <p:spPr>
          <a:xfrm>
            <a:off x="6645402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20"/>
          <p:cNvSpPr txBox="1"/>
          <p:nvPr/>
        </p:nvSpPr>
        <p:spPr>
          <a:xfrm>
            <a:off x="6645402" y="3630168"/>
            <a:ext cx="15476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LIVRABLE</a:t>
            </a:r>
            <a:endParaRPr/>
          </a:p>
        </p:txBody>
      </p:sp>
      <p:sp>
        <p:nvSpPr>
          <p:cNvPr id="1898" name="Google Shape;1898;p20"/>
          <p:cNvSpPr txBox="1"/>
          <p:nvPr/>
        </p:nvSpPr>
        <p:spPr>
          <a:xfrm>
            <a:off x="6645402" y="3840480"/>
            <a:ext cx="154762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Premiers produits d'infra en service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21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L'IA accélère la démarche, elle ne la remplace pas — toujours après le gate de confidentialité</a:t>
            </a:r>
            <a:endParaRPr/>
          </a:p>
        </p:txBody>
      </p:sp>
      <p:sp>
        <p:nvSpPr>
          <p:cNvPr id="1904" name="Google Shape;1904;p21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L’utilisation de l’IA dans la démarche</a:t>
            </a:r>
            <a:endParaRPr/>
          </a:p>
        </p:txBody>
      </p:sp>
      <p:sp>
        <p:nvSpPr>
          <p:cNvPr id="1905" name="Google Shape;1905;p21"/>
          <p:cNvSpPr/>
          <p:nvPr/>
        </p:nvSpPr>
        <p:spPr>
          <a:xfrm>
            <a:off x="566928" y="1280160"/>
            <a:ext cx="2377440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21"/>
          <p:cNvSpPr txBox="1"/>
          <p:nvPr/>
        </p:nvSpPr>
        <p:spPr>
          <a:xfrm>
            <a:off x="795528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Explorer et diagnostiquer</a:t>
            </a:r>
            <a:endParaRPr/>
          </a:p>
        </p:txBody>
      </p:sp>
      <p:sp>
        <p:nvSpPr>
          <p:cNvPr id="1907" name="Google Shape;1907;p21"/>
          <p:cNvSpPr/>
          <p:nvPr/>
        </p:nvSpPr>
        <p:spPr>
          <a:xfrm>
            <a:off x="3081528" y="1280160"/>
            <a:ext cx="5285232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21"/>
          <p:cNvSpPr/>
          <p:nvPr/>
        </p:nvSpPr>
        <p:spPr>
          <a:xfrm>
            <a:off x="2916936" y="1389888"/>
            <a:ext cx="329184" cy="32918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21"/>
          <p:cNvSpPr txBox="1"/>
          <p:nvPr/>
        </p:nvSpPr>
        <p:spPr>
          <a:xfrm>
            <a:off x="2916936" y="13898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1910" name="Google Shape;1910;p21"/>
          <p:cNvSpPr txBox="1"/>
          <p:nvPr/>
        </p:nvSpPr>
        <p:spPr>
          <a:xfrm>
            <a:off x="3401568" y="1280160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Explorer le parc et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catégoriser l'historique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des demandes plus vite.</a:t>
            </a:r>
            <a:endParaRPr/>
          </a:p>
        </p:txBody>
      </p:sp>
      <p:sp>
        <p:nvSpPr>
          <p:cNvPr id="1911" name="Google Shape;1911;p21"/>
          <p:cNvSpPr/>
          <p:nvPr/>
        </p:nvSpPr>
        <p:spPr>
          <a:xfrm>
            <a:off x="566928" y="1947672"/>
            <a:ext cx="2377440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21"/>
          <p:cNvSpPr txBox="1"/>
          <p:nvPr/>
        </p:nvSpPr>
        <p:spPr>
          <a:xfrm>
            <a:off x="795528" y="19476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Cadrer l'offre</a:t>
            </a:r>
            <a:endParaRPr/>
          </a:p>
        </p:txBody>
      </p:sp>
      <p:sp>
        <p:nvSpPr>
          <p:cNvPr id="1913" name="Google Shape;1913;p21"/>
          <p:cNvSpPr/>
          <p:nvPr/>
        </p:nvSpPr>
        <p:spPr>
          <a:xfrm>
            <a:off x="3081528" y="1947672"/>
            <a:ext cx="5285232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21"/>
          <p:cNvSpPr/>
          <p:nvPr/>
        </p:nvSpPr>
        <p:spPr>
          <a:xfrm>
            <a:off x="2916936" y="2057399"/>
            <a:ext cx="329184" cy="32918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21"/>
          <p:cNvSpPr txBox="1"/>
          <p:nvPr/>
        </p:nvSpPr>
        <p:spPr>
          <a:xfrm>
            <a:off x="2916936" y="2057399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1916" name="Google Shape;1916;p21"/>
          <p:cNvSpPr txBox="1"/>
          <p:nvPr/>
        </p:nvSpPr>
        <p:spPr>
          <a:xfrm>
            <a:off x="3401568" y="1947672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Accélérer la mise en place du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catalogue de services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917" name="Google Shape;1917;p21"/>
          <p:cNvSpPr/>
          <p:nvPr/>
        </p:nvSpPr>
        <p:spPr>
          <a:xfrm>
            <a:off x="566928" y="2615184"/>
            <a:ext cx="2377440" cy="548640"/>
          </a:xfrm>
          <a:prstGeom prst="chevron">
            <a:avLst>
              <a:gd fmla="val 35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21"/>
          <p:cNvSpPr txBox="1"/>
          <p:nvPr/>
        </p:nvSpPr>
        <p:spPr>
          <a:xfrm>
            <a:off x="795528" y="26151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</a:t>
            </a:r>
            <a:endParaRPr/>
          </a:p>
        </p:txBody>
      </p:sp>
      <p:sp>
        <p:nvSpPr>
          <p:cNvPr id="1919" name="Google Shape;1919;p21"/>
          <p:cNvSpPr/>
          <p:nvPr/>
        </p:nvSpPr>
        <p:spPr>
          <a:xfrm>
            <a:off x="3081528" y="2615184"/>
            <a:ext cx="5285232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21"/>
          <p:cNvSpPr/>
          <p:nvPr/>
        </p:nvSpPr>
        <p:spPr>
          <a:xfrm>
            <a:off x="2916936" y="2724911"/>
            <a:ext cx="329184" cy="329184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21"/>
          <p:cNvSpPr txBox="1"/>
          <p:nvPr/>
        </p:nvSpPr>
        <p:spPr>
          <a:xfrm>
            <a:off x="2916936" y="2724911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1922" name="Google Shape;1922;p21"/>
          <p:cNvSpPr txBox="1"/>
          <p:nvPr/>
        </p:nvSpPr>
        <p:spPr>
          <a:xfrm>
            <a:off x="3401568" y="261518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Trier et qualifier les demandes entrantes : le temps de triage du RUN est </a:t>
            </a: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rendu aux équipes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923" name="Google Shape;1923;p21"/>
          <p:cNvSpPr/>
          <p:nvPr/>
        </p:nvSpPr>
        <p:spPr>
          <a:xfrm>
            <a:off x="566928" y="3282696"/>
            <a:ext cx="2377440" cy="548640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21"/>
          <p:cNvSpPr txBox="1"/>
          <p:nvPr/>
        </p:nvSpPr>
        <p:spPr>
          <a:xfrm>
            <a:off x="795528" y="3282696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Transformer</a:t>
            </a:r>
            <a:endParaRPr/>
          </a:p>
        </p:txBody>
      </p:sp>
      <p:sp>
        <p:nvSpPr>
          <p:cNvPr id="1925" name="Google Shape;1925;p21"/>
          <p:cNvSpPr/>
          <p:nvPr/>
        </p:nvSpPr>
        <p:spPr>
          <a:xfrm>
            <a:off x="3081528" y="3282696"/>
            <a:ext cx="5285232" cy="54864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21"/>
          <p:cNvSpPr/>
          <p:nvPr/>
        </p:nvSpPr>
        <p:spPr>
          <a:xfrm>
            <a:off x="2916936" y="3392423"/>
            <a:ext cx="329184" cy="32918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21"/>
          <p:cNvSpPr txBox="1"/>
          <p:nvPr/>
        </p:nvSpPr>
        <p:spPr>
          <a:xfrm>
            <a:off x="2916936" y="3392423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1928" name="Google Shape;1928;p21"/>
          <p:cNvSpPr txBox="1"/>
          <p:nvPr/>
        </p:nvSpPr>
        <p:spPr>
          <a:xfrm>
            <a:off x="3401568" y="32826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Documenter rapidement</a:t>
            </a:r>
            <a:r>
              <a:rPr b="0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 les capacités et les parcours utilisateurs.</a:t>
            </a:r>
            <a:endParaRPr/>
          </a:p>
        </p:txBody>
      </p:sp>
      <p:sp>
        <p:nvSpPr>
          <p:cNvPr id="1929" name="Google Shape;1929;p21"/>
          <p:cNvSpPr/>
          <p:nvPr/>
        </p:nvSpPr>
        <p:spPr>
          <a:xfrm>
            <a:off x="566928" y="4023360"/>
            <a:ext cx="7799832" cy="502920"/>
          </a:xfrm>
          <a:prstGeom prst="roundRect">
            <a:avLst>
              <a:gd fmla="val 18181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21"/>
          <p:cNvSpPr txBox="1"/>
          <p:nvPr/>
        </p:nvSpPr>
        <p:spPr>
          <a:xfrm>
            <a:off x="704088" y="396849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“</a:t>
            </a:r>
            <a:endParaRPr/>
          </a:p>
        </p:txBody>
      </p:sp>
      <p:sp>
        <p:nvSpPr>
          <p:cNvPr id="1931" name="Google Shape;1931;p21"/>
          <p:cNvSpPr txBox="1"/>
          <p:nvPr/>
        </p:nvSpPr>
        <p:spPr>
          <a:xfrm>
            <a:off x="1161288" y="4023360"/>
            <a:ext cx="70225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 gain mesuré dès le T0, pas promis.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22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Planning indicatif — durées à confirmer avec le client</a:t>
            </a:r>
            <a:endParaRPr/>
          </a:p>
        </p:txBody>
      </p:sp>
      <p:sp>
        <p:nvSpPr>
          <p:cNvPr id="1937" name="Google Shape;1937;p22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 planning estimé - Timeline</a:t>
            </a:r>
            <a:endParaRPr/>
          </a:p>
        </p:txBody>
      </p:sp>
      <p:sp>
        <p:nvSpPr>
          <p:cNvPr id="1938" name="Google Shape;1938;p22"/>
          <p:cNvSpPr/>
          <p:nvPr/>
        </p:nvSpPr>
        <p:spPr>
          <a:xfrm>
            <a:off x="2862072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22"/>
          <p:cNvSpPr/>
          <p:nvPr/>
        </p:nvSpPr>
        <p:spPr>
          <a:xfrm>
            <a:off x="3222345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22"/>
          <p:cNvSpPr/>
          <p:nvPr/>
        </p:nvSpPr>
        <p:spPr>
          <a:xfrm>
            <a:off x="3582619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22"/>
          <p:cNvSpPr/>
          <p:nvPr/>
        </p:nvSpPr>
        <p:spPr>
          <a:xfrm>
            <a:off x="3942892" y="1325880"/>
            <a:ext cx="91440" cy="9144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22"/>
          <p:cNvSpPr/>
          <p:nvPr/>
        </p:nvSpPr>
        <p:spPr>
          <a:xfrm>
            <a:off x="4303166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22"/>
          <p:cNvSpPr/>
          <p:nvPr/>
        </p:nvSpPr>
        <p:spPr>
          <a:xfrm>
            <a:off x="4663440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22"/>
          <p:cNvSpPr/>
          <p:nvPr/>
        </p:nvSpPr>
        <p:spPr>
          <a:xfrm>
            <a:off x="5023713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22"/>
          <p:cNvSpPr/>
          <p:nvPr/>
        </p:nvSpPr>
        <p:spPr>
          <a:xfrm>
            <a:off x="5383987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22"/>
          <p:cNvSpPr/>
          <p:nvPr/>
        </p:nvSpPr>
        <p:spPr>
          <a:xfrm>
            <a:off x="5744260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22"/>
          <p:cNvSpPr/>
          <p:nvPr/>
        </p:nvSpPr>
        <p:spPr>
          <a:xfrm>
            <a:off x="6104534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22"/>
          <p:cNvSpPr/>
          <p:nvPr/>
        </p:nvSpPr>
        <p:spPr>
          <a:xfrm>
            <a:off x="6464808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22"/>
          <p:cNvSpPr/>
          <p:nvPr/>
        </p:nvSpPr>
        <p:spPr>
          <a:xfrm>
            <a:off x="6825081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22"/>
          <p:cNvSpPr/>
          <p:nvPr/>
        </p:nvSpPr>
        <p:spPr>
          <a:xfrm>
            <a:off x="7185355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22"/>
          <p:cNvSpPr/>
          <p:nvPr/>
        </p:nvSpPr>
        <p:spPr>
          <a:xfrm>
            <a:off x="7545628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22"/>
          <p:cNvSpPr/>
          <p:nvPr/>
        </p:nvSpPr>
        <p:spPr>
          <a:xfrm>
            <a:off x="7905902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22"/>
          <p:cNvSpPr/>
          <p:nvPr/>
        </p:nvSpPr>
        <p:spPr>
          <a:xfrm>
            <a:off x="8266176" y="1325880"/>
            <a:ext cx="91440" cy="9144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22"/>
          <p:cNvSpPr txBox="1"/>
          <p:nvPr/>
        </p:nvSpPr>
        <p:spPr>
          <a:xfrm>
            <a:off x="2852928" y="10789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Démarrage</a:t>
            </a:r>
            <a:endParaRPr/>
          </a:p>
        </p:txBody>
      </p:sp>
      <p:sp>
        <p:nvSpPr>
          <p:cNvPr id="1955" name="Google Shape;1955;p22"/>
          <p:cNvSpPr txBox="1"/>
          <p:nvPr/>
        </p:nvSpPr>
        <p:spPr>
          <a:xfrm>
            <a:off x="6537960" y="1078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Autonomie des équipes</a:t>
            </a:r>
            <a:endParaRPr/>
          </a:p>
        </p:txBody>
      </p:sp>
      <p:sp>
        <p:nvSpPr>
          <p:cNvPr id="1956" name="Google Shape;1956;p22"/>
          <p:cNvSpPr/>
          <p:nvPr/>
        </p:nvSpPr>
        <p:spPr>
          <a:xfrm>
            <a:off x="566928" y="1645920"/>
            <a:ext cx="2103120" cy="42062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22"/>
          <p:cNvSpPr txBox="1"/>
          <p:nvPr/>
        </p:nvSpPr>
        <p:spPr>
          <a:xfrm>
            <a:off x="603504" y="1645920"/>
            <a:ext cx="202996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1. Explorer et diagnostiquer</a:t>
            </a:r>
            <a:endParaRPr/>
          </a:p>
        </p:txBody>
      </p:sp>
      <p:sp>
        <p:nvSpPr>
          <p:cNvPr id="1958" name="Google Shape;1958;p22"/>
          <p:cNvSpPr/>
          <p:nvPr/>
        </p:nvSpPr>
        <p:spPr>
          <a:xfrm>
            <a:off x="2852928" y="1850745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22"/>
          <p:cNvSpPr/>
          <p:nvPr/>
        </p:nvSpPr>
        <p:spPr>
          <a:xfrm>
            <a:off x="2852928" y="1737360"/>
            <a:ext cx="1378458" cy="23774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22"/>
          <p:cNvSpPr/>
          <p:nvPr/>
        </p:nvSpPr>
        <p:spPr>
          <a:xfrm>
            <a:off x="566928" y="2249424"/>
            <a:ext cx="2103120" cy="42062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22"/>
          <p:cNvSpPr txBox="1"/>
          <p:nvPr/>
        </p:nvSpPr>
        <p:spPr>
          <a:xfrm>
            <a:off x="603504" y="2249424"/>
            <a:ext cx="202996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2. Cadrer l'offre</a:t>
            </a:r>
            <a:endParaRPr/>
          </a:p>
        </p:txBody>
      </p:sp>
      <p:sp>
        <p:nvSpPr>
          <p:cNvPr id="1962" name="Google Shape;1962;p22"/>
          <p:cNvSpPr/>
          <p:nvPr/>
        </p:nvSpPr>
        <p:spPr>
          <a:xfrm>
            <a:off x="2852928" y="2454249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22"/>
          <p:cNvSpPr/>
          <p:nvPr/>
        </p:nvSpPr>
        <p:spPr>
          <a:xfrm>
            <a:off x="3955694" y="2340864"/>
            <a:ext cx="1488734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22"/>
          <p:cNvSpPr/>
          <p:nvPr/>
        </p:nvSpPr>
        <p:spPr>
          <a:xfrm>
            <a:off x="566928" y="2852928"/>
            <a:ext cx="2103120" cy="42062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22"/>
          <p:cNvSpPr txBox="1"/>
          <p:nvPr/>
        </p:nvSpPr>
        <p:spPr>
          <a:xfrm>
            <a:off x="603504" y="2852928"/>
            <a:ext cx="202996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3. Assainir</a:t>
            </a:r>
            <a:endParaRPr/>
          </a:p>
        </p:txBody>
      </p:sp>
      <p:sp>
        <p:nvSpPr>
          <p:cNvPr id="1966" name="Google Shape;1966;p22"/>
          <p:cNvSpPr/>
          <p:nvPr/>
        </p:nvSpPr>
        <p:spPr>
          <a:xfrm>
            <a:off x="2852928" y="3057753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22"/>
          <p:cNvSpPr/>
          <p:nvPr/>
        </p:nvSpPr>
        <p:spPr>
          <a:xfrm>
            <a:off x="5058460" y="2944368"/>
            <a:ext cx="2205532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22"/>
          <p:cNvSpPr/>
          <p:nvPr/>
        </p:nvSpPr>
        <p:spPr>
          <a:xfrm>
            <a:off x="566928" y="3456432"/>
            <a:ext cx="2103120" cy="42062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22"/>
          <p:cNvSpPr txBox="1"/>
          <p:nvPr/>
        </p:nvSpPr>
        <p:spPr>
          <a:xfrm>
            <a:off x="603504" y="3456432"/>
            <a:ext cx="202996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4. Transformer</a:t>
            </a:r>
            <a:endParaRPr/>
          </a:p>
        </p:txBody>
      </p:sp>
      <p:sp>
        <p:nvSpPr>
          <p:cNvPr id="1970" name="Google Shape;1970;p22"/>
          <p:cNvSpPr/>
          <p:nvPr/>
        </p:nvSpPr>
        <p:spPr>
          <a:xfrm>
            <a:off x="2852928" y="3661257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22"/>
          <p:cNvSpPr/>
          <p:nvPr/>
        </p:nvSpPr>
        <p:spPr>
          <a:xfrm>
            <a:off x="5885535" y="3547872"/>
            <a:ext cx="2481224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22"/>
          <p:cNvSpPr/>
          <p:nvPr/>
        </p:nvSpPr>
        <p:spPr>
          <a:xfrm>
            <a:off x="4130802" y="1755648"/>
            <a:ext cx="201168" cy="201168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22"/>
          <p:cNvSpPr txBox="1"/>
          <p:nvPr/>
        </p:nvSpPr>
        <p:spPr>
          <a:xfrm>
            <a:off x="4395978" y="16916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Jalon : restitution de l'Assessment flash</a:t>
            </a:r>
            <a:endParaRPr/>
          </a:p>
        </p:txBody>
      </p:sp>
      <p:sp>
        <p:nvSpPr>
          <p:cNvPr id="1974" name="Google Shape;1974;p22"/>
          <p:cNvSpPr/>
          <p:nvPr/>
        </p:nvSpPr>
        <p:spPr>
          <a:xfrm>
            <a:off x="566928" y="4151375"/>
            <a:ext cx="45720" cy="32918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22"/>
          <p:cNvSpPr txBox="1"/>
          <p:nvPr/>
        </p:nvSpPr>
        <p:spPr>
          <a:xfrm>
            <a:off x="731520" y="4133087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Durées à compléter : elles dépendent du périmètre retenu à l'issue de l'Assessment flash.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23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détaillée</a:t>
            </a:r>
            <a:endParaRPr/>
          </a:p>
        </p:txBody>
      </p:sp>
      <p:sp>
        <p:nvSpPr>
          <p:cNvPr id="1981" name="Google Shape;1981;p23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05</a:t>
            </a:r>
            <a:endParaRPr b="1" sz="1700"/>
          </a:p>
        </p:txBody>
      </p:sp>
      <p:pic>
        <p:nvPicPr>
          <p:cNvPr id="1982" name="Google Shape;19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24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Activités, livrables et prérequis par phase</a:t>
            </a:r>
            <a:endParaRPr/>
          </a:p>
        </p:txBody>
      </p:sp>
      <p:sp>
        <p:nvSpPr>
          <p:cNvPr id="1988" name="Google Shape;1988;p24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Démarche détaillée</a:t>
            </a:r>
            <a:endParaRPr/>
          </a:p>
        </p:txBody>
      </p:sp>
      <p:sp>
        <p:nvSpPr>
          <p:cNvPr id="1989" name="Google Shape;1989;p24"/>
          <p:cNvSpPr/>
          <p:nvPr/>
        </p:nvSpPr>
        <p:spPr>
          <a:xfrm>
            <a:off x="566928" y="1737360"/>
            <a:ext cx="7799832" cy="10972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24"/>
          <p:cNvSpPr txBox="1"/>
          <p:nvPr/>
        </p:nvSpPr>
        <p:spPr>
          <a:xfrm>
            <a:off x="566928" y="1801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ACTIVITÉS</a:t>
            </a:r>
            <a:endParaRPr/>
          </a:p>
        </p:txBody>
      </p:sp>
      <p:sp>
        <p:nvSpPr>
          <p:cNvPr id="1991" name="Google Shape;1991;p24"/>
          <p:cNvSpPr/>
          <p:nvPr/>
        </p:nvSpPr>
        <p:spPr>
          <a:xfrm>
            <a:off x="566928" y="2953512"/>
            <a:ext cx="7799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24"/>
          <p:cNvSpPr txBox="1"/>
          <p:nvPr/>
        </p:nvSpPr>
        <p:spPr>
          <a:xfrm>
            <a:off x="566928" y="301752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/>
          </a:p>
        </p:txBody>
      </p:sp>
      <p:sp>
        <p:nvSpPr>
          <p:cNvPr id="1993" name="Google Shape;1993;p24"/>
          <p:cNvSpPr/>
          <p:nvPr/>
        </p:nvSpPr>
        <p:spPr>
          <a:xfrm>
            <a:off x="566928" y="3758184"/>
            <a:ext cx="7799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24"/>
          <p:cNvSpPr txBox="1"/>
          <p:nvPr/>
        </p:nvSpPr>
        <p:spPr>
          <a:xfrm>
            <a:off x="566928" y="3822191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PRÉREQUIS</a:t>
            </a:r>
            <a:endParaRPr/>
          </a:p>
        </p:txBody>
      </p:sp>
      <p:sp>
        <p:nvSpPr>
          <p:cNvPr id="1995" name="Google Shape;1995;p24"/>
          <p:cNvSpPr/>
          <p:nvPr/>
        </p:nvSpPr>
        <p:spPr>
          <a:xfrm>
            <a:off x="1618488" y="1261872"/>
            <a:ext cx="1604772" cy="384048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24"/>
          <p:cNvSpPr txBox="1"/>
          <p:nvPr/>
        </p:nvSpPr>
        <p:spPr>
          <a:xfrm>
            <a:off x="1655064" y="1261872"/>
            <a:ext cx="15316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1. Explorer et diagnostiquer</a:t>
            </a:r>
            <a:endParaRPr/>
          </a:p>
        </p:txBody>
      </p:sp>
      <p:sp>
        <p:nvSpPr>
          <p:cNvPr id="1997" name="Google Shape;1997;p24"/>
          <p:cNvSpPr txBox="1"/>
          <p:nvPr/>
        </p:nvSpPr>
        <p:spPr>
          <a:xfrm>
            <a:off x="1655064" y="1801368"/>
            <a:ext cx="153162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Entretiens utilisateurs et équipe infra ; inventaire du parc, des licences et des demandes ; chiffrage du statu quo</a:t>
            </a:r>
            <a:endParaRPr/>
          </a:p>
        </p:txBody>
      </p:sp>
      <p:sp>
        <p:nvSpPr>
          <p:cNvPr id="1998" name="Google Shape;1998;p24"/>
          <p:cNvSpPr txBox="1"/>
          <p:nvPr/>
        </p:nvSpPr>
        <p:spPr>
          <a:xfrm>
            <a:off x="1655064" y="3017520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Diagnostic ; coût du statu quo ; périmètres candidats</a:t>
            </a:r>
            <a:endParaRPr/>
          </a:p>
        </p:txBody>
      </p:sp>
      <p:sp>
        <p:nvSpPr>
          <p:cNvPr id="1999" name="Google Shape;1999;p24"/>
          <p:cNvSpPr txBox="1"/>
          <p:nvPr/>
        </p:nvSpPr>
        <p:spPr>
          <a:xfrm>
            <a:off x="1655064" y="3822191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Sponsor nommé ; accès aux données de tickets et d'inventaire</a:t>
            </a:r>
            <a:endParaRPr/>
          </a:p>
        </p:txBody>
      </p:sp>
      <p:sp>
        <p:nvSpPr>
          <p:cNvPr id="2000" name="Google Shape;2000;p24"/>
          <p:cNvSpPr/>
          <p:nvPr/>
        </p:nvSpPr>
        <p:spPr>
          <a:xfrm>
            <a:off x="3332988" y="1261872"/>
            <a:ext cx="1604772" cy="38404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24"/>
          <p:cNvSpPr txBox="1"/>
          <p:nvPr/>
        </p:nvSpPr>
        <p:spPr>
          <a:xfrm>
            <a:off x="3369564" y="1261872"/>
            <a:ext cx="15316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2. Cadrer l'offre</a:t>
            </a:r>
            <a:endParaRPr/>
          </a:p>
        </p:txBody>
      </p:sp>
      <p:sp>
        <p:nvSpPr>
          <p:cNvPr id="2002" name="Google Shape;2002;p24"/>
          <p:cNvSpPr txBox="1"/>
          <p:nvPr/>
        </p:nvSpPr>
        <p:spPr>
          <a:xfrm>
            <a:off x="3369564" y="1801368"/>
            <a:ext cx="153162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Parcours utilisateurs ; catalogue de capacités cible ; critères de priorisation ; rôles produit</a:t>
            </a:r>
            <a:endParaRPr/>
          </a:p>
        </p:txBody>
      </p:sp>
      <p:sp>
        <p:nvSpPr>
          <p:cNvPr id="2003" name="Google Shape;2003;p24"/>
          <p:cNvSpPr txBox="1"/>
          <p:nvPr/>
        </p:nvSpPr>
        <p:spPr>
          <a:xfrm>
            <a:off x="3369564" y="3017520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Catalogue cible ; roadmap priorisée ; rôles définis</a:t>
            </a:r>
            <a:endParaRPr/>
          </a:p>
        </p:txBody>
      </p:sp>
      <p:sp>
        <p:nvSpPr>
          <p:cNvPr id="2004" name="Google Shape;2004;p24"/>
          <p:cNvSpPr txBox="1"/>
          <p:nvPr/>
        </p:nvSpPr>
        <p:spPr>
          <a:xfrm>
            <a:off x="3369564" y="3822191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Arbitrage du sponsor sur les premiers périmètres</a:t>
            </a:r>
            <a:endParaRPr/>
          </a:p>
        </p:txBody>
      </p:sp>
      <p:sp>
        <p:nvSpPr>
          <p:cNvPr id="2005" name="Google Shape;2005;p24"/>
          <p:cNvSpPr/>
          <p:nvPr/>
        </p:nvSpPr>
        <p:spPr>
          <a:xfrm>
            <a:off x="5047488" y="1261872"/>
            <a:ext cx="1604772" cy="38404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24"/>
          <p:cNvSpPr txBox="1"/>
          <p:nvPr/>
        </p:nvSpPr>
        <p:spPr>
          <a:xfrm>
            <a:off x="5084064" y="1261872"/>
            <a:ext cx="15316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3. Assainir</a:t>
            </a:r>
            <a:endParaRPr/>
          </a:p>
        </p:txBody>
      </p:sp>
      <p:sp>
        <p:nvSpPr>
          <p:cNvPr id="2007" name="Google Shape;2007;p24"/>
          <p:cNvSpPr txBox="1"/>
          <p:nvPr/>
        </p:nvSpPr>
        <p:spPr>
          <a:xfrm>
            <a:off x="5084064" y="1801368"/>
            <a:ext cx="153162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Décommissionnement ; licences inutilisées ; triage du RUN outillé par l'IA, après le gate de confidentialité</a:t>
            </a:r>
            <a:endParaRPr/>
          </a:p>
        </p:txBody>
      </p:sp>
      <p:sp>
        <p:nvSpPr>
          <p:cNvPr id="2008" name="Google Shape;2008;p24"/>
          <p:cNvSpPr txBox="1"/>
          <p:nvPr/>
        </p:nvSpPr>
        <p:spPr>
          <a:xfrm>
            <a:off x="5084064" y="3017520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Capacité récupérée et mesurée ; plan de réallocation</a:t>
            </a:r>
            <a:endParaRPr/>
          </a:p>
        </p:txBody>
      </p:sp>
      <p:sp>
        <p:nvSpPr>
          <p:cNvPr id="2009" name="Google Shape;2009;p24"/>
          <p:cNvSpPr txBox="1"/>
          <p:nvPr/>
        </p:nvSpPr>
        <p:spPr>
          <a:xfrm>
            <a:off x="5084064" y="3822191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Réallocation de la capacité décidée côté client</a:t>
            </a:r>
            <a:endParaRPr/>
          </a:p>
        </p:txBody>
      </p:sp>
      <p:sp>
        <p:nvSpPr>
          <p:cNvPr id="2010" name="Google Shape;2010;p24"/>
          <p:cNvSpPr/>
          <p:nvPr/>
        </p:nvSpPr>
        <p:spPr>
          <a:xfrm>
            <a:off x="6761988" y="1261872"/>
            <a:ext cx="1604772" cy="38404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24"/>
          <p:cNvSpPr txBox="1"/>
          <p:nvPr/>
        </p:nvSpPr>
        <p:spPr>
          <a:xfrm>
            <a:off x="6798564" y="1261872"/>
            <a:ext cx="15316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4. Transformer</a:t>
            </a:r>
            <a:endParaRPr/>
          </a:p>
        </p:txBody>
      </p:sp>
      <p:sp>
        <p:nvSpPr>
          <p:cNvPr id="2012" name="Google Shape;2012;p24"/>
          <p:cNvSpPr txBox="1"/>
          <p:nvPr/>
        </p:nvSpPr>
        <p:spPr>
          <a:xfrm>
            <a:off x="6798564" y="1801368"/>
            <a:ext cx="153162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Premiers périmètres en mode produit ; backlog et indicateurs d'usage ; accompagnement des profils clés</a:t>
            </a:r>
            <a:endParaRPr/>
          </a:p>
        </p:txBody>
      </p:sp>
      <p:sp>
        <p:nvSpPr>
          <p:cNvPr id="2013" name="Google Shape;2013;p24"/>
          <p:cNvSpPr txBox="1"/>
          <p:nvPr/>
        </p:nvSpPr>
        <p:spPr>
          <a:xfrm>
            <a:off x="6798564" y="3017520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Produits d'infra en service ; rituels de pilotage ; transfert aux équipes</a:t>
            </a:r>
            <a:endParaRPr/>
          </a:p>
        </p:txBody>
      </p:sp>
      <p:sp>
        <p:nvSpPr>
          <p:cNvPr id="2014" name="Google Shape;2014;p24"/>
          <p:cNvSpPr txBox="1"/>
          <p:nvPr/>
        </p:nvSpPr>
        <p:spPr>
          <a:xfrm>
            <a:off x="6798564" y="3822191"/>
            <a:ext cx="15316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Propriétaires produit désignés ; ligne budgétaire transformation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personnes d'abord, des livrables à chaque phase — la technique en option, dans une approche globale</a:t>
            </a:r>
            <a:endParaRPr/>
          </a:p>
        </p:txBody>
      </p:sp>
      <p:sp>
        <p:nvSpPr>
          <p:cNvPr id="2020" name="Google Shape;2020;p2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détail de l'accompagnement</a:t>
            </a:r>
            <a:endParaRPr/>
          </a:p>
        </p:txBody>
      </p:sp>
      <p:sp>
        <p:nvSpPr>
          <p:cNvPr id="2021" name="Google Shape;2021;p25"/>
          <p:cNvSpPr/>
          <p:nvPr/>
        </p:nvSpPr>
        <p:spPr>
          <a:xfrm>
            <a:off x="1618488" y="1188720"/>
            <a:ext cx="1618488" cy="365760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25"/>
          <p:cNvSpPr txBox="1"/>
          <p:nvPr/>
        </p:nvSpPr>
        <p:spPr>
          <a:xfrm>
            <a:off x="1655064" y="1188720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1. Explorer et diagnostiquer</a:t>
            </a:r>
            <a:endParaRPr/>
          </a:p>
        </p:txBody>
      </p:sp>
      <p:sp>
        <p:nvSpPr>
          <p:cNvPr id="2023" name="Google Shape;2023;p25"/>
          <p:cNvSpPr/>
          <p:nvPr/>
        </p:nvSpPr>
        <p:spPr>
          <a:xfrm>
            <a:off x="3328416" y="1188720"/>
            <a:ext cx="1618488" cy="36576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25"/>
          <p:cNvSpPr txBox="1"/>
          <p:nvPr/>
        </p:nvSpPr>
        <p:spPr>
          <a:xfrm>
            <a:off x="3364992" y="1188720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2. Cadrer l'offre</a:t>
            </a:r>
            <a:endParaRPr/>
          </a:p>
        </p:txBody>
      </p:sp>
      <p:sp>
        <p:nvSpPr>
          <p:cNvPr id="2025" name="Google Shape;2025;p25"/>
          <p:cNvSpPr/>
          <p:nvPr/>
        </p:nvSpPr>
        <p:spPr>
          <a:xfrm>
            <a:off x="5038344" y="1188720"/>
            <a:ext cx="1618488" cy="36576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25"/>
          <p:cNvSpPr txBox="1"/>
          <p:nvPr/>
        </p:nvSpPr>
        <p:spPr>
          <a:xfrm>
            <a:off x="5074920" y="1188720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3. Assainir</a:t>
            </a:r>
            <a:endParaRPr/>
          </a:p>
        </p:txBody>
      </p:sp>
      <p:sp>
        <p:nvSpPr>
          <p:cNvPr id="2027" name="Google Shape;2027;p25"/>
          <p:cNvSpPr/>
          <p:nvPr/>
        </p:nvSpPr>
        <p:spPr>
          <a:xfrm>
            <a:off x="6748272" y="1188720"/>
            <a:ext cx="1618488" cy="36576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25"/>
          <p:cNvSpPr txBox="1"/>
          <p:nvPr/>
        </p:nvSpPr>
        <p:spPr>
          <a:xfrm>
            <a:off x="6784848" y="1188720"/>
            <a:ext cx="1545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4. Transformer</a:t>
            </a:r>
            <a:endParaRPr/>
          </a:p>
        </p:txBody>
      </p:sp>
      <p:sp>
        <p:nvSpPr>
          <p:cNvPr id="2029" name="Google Shape;2029;p25"/>
          <p:cNvSpPr txBox="1"/>
          <p:nvPr/>
        </p:nvSpPr>
        <p:spPr>
          <a:xfrm>
            <a:off x="566928" y="169164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LES PERSONNES</a:t>
            </a:r>
            <a:endParaRPr/>
          </a:p>
        </p:txBody>
      </p:sp>
      <p:sp>
        <p:nvSpPr>
          <p:cNvPr id="2030" name="Google Shape;2030;p25"/>
          <p:cNvSpPr/>
          <p:nvPr/>
        </p:nvSpPr>
        <p:spPr>
          <a:xfrm>
            <a:off x="1618488" y="1645920"/>
            <a:ext cx="1618488" cy="950976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25"/>
          <p:cNvSpPr txBox="1"/>
          <p:nvPr/>
        </p:nvSpPr>
        <p:spPr>
          <a:xfrm>
            <a:off x="1709928" y="1709928"/>
            <a:ext cx="1435608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Engager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L'engagement du sponsor se construit dès le cadrage ; la restitution revient aux interviewés.</a:t>
            </a:r>
            <a:endParaRPr/>
          </a:p>
        </p:txBody>
      </p:sp>
      <p:sp>
        <p:nvSpPr>
          <p:cNvPr id="2032" name="Google Shape;2032;p25"/>
          <p:cNvSpPr/>
          <p:nvPr/>
        </p:nvSpPr>
        <p:spPr>
          <a:xfrm>
            <a:off x="3328416" y="1645920"/>
            <a:ext cx="1618488" cy="950976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25"/>
          <p:cNvSpPr txBox="1"/>
          <p:nvPr/>
        </p:nvSpPr>
        <p:spPr>
          <a:xfrm>
            <a:off x="3419856" y="1709928"/>
            <a:ext cx="1435608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Expérimenter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Équipes pilotes volontaires, jamais désignées ; formation sur les cas réels — pas de formation sans coaching.</a:t>
            </a:r>
            <a:endParaRPr/>
          </a:p>
        </p:txBody>
      </p:sp>
      <p:sp>
        <p:nvSpPr>
          <p:cNvPr id="2034" name="Google Shape;2034;p25"/>
          <p:cNvSpPr/>
          <p:nvPr/>
        </p:nvSpPr>
        <p:spPr>
          <a:xfrm>
            <a:off x="5038344" y="1645920"/>
            <a:ext cx="1618488" cy="950976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25"/>
          <p:cNvSpPr txBox="1"/>
          <p:nvPr/>
        </p:nvSpPr>
        <p:spPr>
          <a:xfrm>
            <a:off x="5129784" y="1709928"/>
            <a:ext cx="1435608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Outiller et relayer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Les résistances sont un signal ; des relais internes formés prennent le relais.</a:t>
            </a:r>
            <a:endParaRPr/>
          </a:p>
        </p:txBody>
      </p:sp>
      <p:sp>
        <p:nvSpPr>
          <p:cNvPr id="2036" name="Google Shape;2036;p25"/>
          <p:cNvSpPr/>
          <p:nvPr/>
        </p:nvSpPr>
        <p:spPr>
          <a:xfrm>
            <a:off x="6748272" y="1645920"/>
            <a:ext cx="1618488" cy="950976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25"/>
          <p:cNvSpPr txBox="1"/>
          <p:nvPr/>
        </p:nvSpPr>
        <p:spPr>
          <a:xfrm>
            <a:off x="6839712" y="1709928"/>
            <a:ext cx="1435608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Mesurer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Satisfaction et adhésion au même instrument qu'au T0 : le delta humain à côté du delta de maturité.</a:t>
            </a:r>
            <a:endParaRPr/>
          </a:p>
        </p:txBody>
      </p:sp>
      <p:sp>
        <p:nvSpPr>
          <p:cNvPr id="2038" name="Google Shape;2038;p25"/>
          <p:cNvSpPr txBox="1"/>
          <p:nvPr/>
        </p:nvSpPr>
        <p:spPr>
          <a:xfrm>
            <a:off x="566928" y="3611879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LA TECHNIQUE</a:t>
            </a:r>
            <a:endParaRPr/>
          </a:p>
        </p:txBody>
      </p:sp>
      <p:sp>
        <p:nvSpPr>
          <p:cNvPr id="2039" name="Google Shape;2039;p25"/>
          <p:cNvSpPr/>
          <p:nvPr/>
        </p:nvSpPr>
        <p:spPr>
          <a:xfrm>
            <a:off x="566928" y="3840480"/>
            <a:ext cx="868680" cy="20116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25"/>
          <p:cNvSpPr txBox="1"/>
          <p:nvPr/>
        </p:nvSpPr>
        <p:spPr>
          <a:xfrm>
            <a:off x="603504" y="3840480"/>
            <a:ext cx="7955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EN OPTION</a:t>
            </a:r>
            <a:endParaRPr/>
          </a:p>
        </p:txBody>
      </p:sp>
      <p:sp>
        <p:nvSpPr>
          <p:cNvPr id="2041" name="Google Shape;2041;p25"/>
          <p:cNvSpPr txBox="1"/>
          <p:nvPr/>
        </p:nvSpPr>
        <p:spPr>
          <a:xfrm>
            <a:off x="566928" y="4078224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dans une approche globale</a:t>
            </a:r>
            <a:endParaRPr/>
          </a:p>
        </p:txBody>
      </p:sp>
      <p:sp>
        <p:nvSpPr>
          <p:cNvPr id="2042" name="Google Shape;2042;p25"/>
          <p:cNvSpPr/>
          <p:nvPr/>
        </p:nvSpPr>
        <p:spPr>
          <a:xfrm>
            <a:off x="1618488" y="3566160"/>
            <a:ext cx="1618488" cy="969264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25"/>
          <p:cNvSpPr txBox="1"/>
          <p:nvPr/>
        </p:nvSpPr>
        <p:spPr>
          <a:xfrm>
            <a:off x="1709928" y="3630168"/>
            <a:ext cx="14356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Cartographier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Dette, plateformes vieillissantes, dépendances : une base factuelle partagée.</a:t>
            </a:r>
            <a:endParaRPr/>
          </a:p>
        </p:txBody>
      </p:sp>
      <p:sp>
        <p:nvSpPr>
          <p:cNvPr id="2044" name="Google Shape;2044;p25"/>
          <p:cNvSpPr/>
          <p:nvPr/>
        </p:nvSpPr>
        <p:spPr>
          <a:xfrm>
            <a:off x="3328416" y="3566160"/>
            <a:ext cx="1618488" cy="969264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25"/>
          <p:cNvSpPr txBox="1"/>
          <p:nvPr/>
        </p:nvSpPr>
        <p:spPr>
          <a:xfrm>
            <a:off x="3419856" y="3630168"/>
            <a:ext cx="14356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Décommissionner et observer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Sur les pilotes, ce qui peut être décommissionné l'est ; l'observabilité du reste est posée.</a:t>
            </a:r>
            <a:endParaRPr/>
          </a:p>
        </p:txBody>
      </p:sp>
      <p:sp>
        <p:nvSpPr>
          <p:cNvPr id="2046" name="Google Shape;2046;p25"/>
          <p:cNvSpPr/>
          <p:nvPr/>
        </p:nvSpPr>
        <p:spPr>
          <a:xfrm>
            <a:off x="5038344" y="3566160"/>
            <a:ext cx="1618488" cy="969264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25"/>
          <p:cNvSpPr txBox="1"/>
          <p:nvPr/>
        </p:nvSpPr>
        <p:spPr>
          <a:xfrm>
            <a:off x="5129784" y="3630168"/>
            <a:ext cx="14356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Standardiser et outiller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CI/CD et infra as code deviennent le mode par défaut.</a:t>
            </a:r>
            <a:endParaRPr/>
          </a:p>
        </p:txBody>
      </p:sp>
      <p:sp>
        <p:nvSpPr>
          <p:cNvPr id="2048" name="Google Shape;2048;p25"/>
          <p:cNvSpPr/>
          <p:nvPr/>
        </p:nvSpPr>
        <p:spPr>
          <a:xfrm>
            <a:off x="6748272" y="3566160"/>
            <a:ext cx="1618488" cy="969264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25"/>
          <p:cNvSpPr txBox="1"/>
          <p:nvPr/>
        </p:nvSpPr>
        <p:spPr>
          <a:xfrm>
            <a:off x="6839712" y="3630168"/>
            <a:ext cx="14356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Mesurer et réengager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Dette et indicateurs infra rejoués au même instrument qu'au T0.</a:t>
            </a:r>
            <a:endParaRPr/>
          </a:p>
        </p:txBody>
      </p:sp>
      <p:sp>
        <p:nvSpPr>
          <p:cNvPr id="2050" name="Google Shape;2050;p25"/>
          <p:cNvSpPr txBox="1"/>
          <p:nvPr/>
        </p:nvSpPr>
        <p:spPr>
          <a:xfrm>
            <a:off x="566928" y="2734056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EXEMPLES DE LIVRABLES</a:t>
            </a:r>
            <a:endParaRPr/>
          </a:p>
        </p:txBody>
      </p:sp>
      <p:sp>
        <p:nvSpPr>
          <p:cNvPr id="2051" name="Google Shape;2051;p25"/>
          <p:cNvSpPr/>
          <p:nvPr/>
        </p:nvSpPr>
        <p:spPr>
          <a:xfrm>
            <a:off x="1618488" y="2688336"/>
            <a:ext cx="1618488" cy="786384"/>
          </a:xfrm>
          <a:prstGeom prst="roundRect">
            <a:avLst>
              <a:gd fmla="val 8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25"/>
          <p:cNvSpPr txBox="1"/>
          <p:nvPr/>
        </p:nvSpPr>
        <p:spPr>
          <a:xfrm>
            <a:off x="1709928" y="2761488"/>
            <a:ext cx="143560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Rapport de diagnostic flash, découpé en thèmes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Backlog priorisé et plan de déploiement</a:t>
            </a:r>
            <a:endParaRPr/>
          </a:p>
        </p:txBody>
      </p:sp>
      <p:sp>
        <p:nvSpPr>
          <p:cNvPr id="2053" name="Google Shape;2053;p25"/>
          <p:cNvSpPr/>
          <p:nvPr/>
        </p:nvSpPr>
        <p:spPr>
          <a:xfrm>
            <a:off x="3328416" y="2688336"/>
            <a:ext cx="1618488" cy="786384"/>
          </a:xfrm>
          <a:prstGeom prst="roundRect">
            <a:avLst>
              <a:gd fmla="val 8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25"/>
          <p:cNvSpPr txBox="1"/>
          <p:nvPr/>
        </p:nvSpPr>
        <p:spPr>
          <a:xfrm>
            <a:off x="3419856" y="2761488"/>
            <a:ext cx="143560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Référentiel product management V0 adapté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Dispositif et rituels de pilotage</a:t>
            </a:r>
            <a:endParaRPr/>
          </a:p>
        </p:txBody>
      </p:sp>
      <p:sp>
        <p:nvSpPr>
          <p:cNvPr id="2055" name="Google Shape;2055;p25"/>
          <p:cNvSpPr/>
          <p:nvPr/>
        </p:nvSpPr>
        <p:spPr>
          <a:xfrm>
            <a:off x="5038344" y="2688336"/>
            <a:ext cx="1618488" cy="786384"/>
          </a:xfrm>
          <a:prstGeom prst="roundRect">
            <a:avLst>
              <a:gd fmla="val 8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25"/>
          <p:cNvSpPr txBox="1"/>
          <p:nvPr/>
        </p:nvSpPr>
        <p:spPr>
          <a:xfrm>
            <a:off x="5129784" y="2761488"/>
            <a:ext cx="143560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Premiers enseignements terrain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Board des dépendances, health checks d'équipe</a:t>
            </a:r>
            <a:endParaRPr/>
          </a:p>
        </p:txBody>
      </p:sp>
      <p:sp>
        <p:nvSpPr>
          <p:cNvPr id="2057" name="Google Shape;2057;p25"/>
          <p:cNvSpPr/>
          <p:nvPr/>
        </p:nvSpPr>
        <p:spPr>
          <a:xfrm>
            <a:off x="6748272" y="2688336"/>
            <a:ext cx="1618488" cy="786384"/>
          </a:xfrm>
          <a:prstGeom prst="roundRect">
            <a:avLst>
              <a:gd fmla="val 8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25"/>
          <p:cNvSpPr txBox="1"/>
          <p:nvPr/>
        </p:nvSpPr>
        <p:spPr>
          <a:xfrm>
            <a:off x="6839712" y="2761488"/>
            <a:ext cx="143560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Tableau de bord de suivi de la transformation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■  </a:t>
            </a:r>
            <a:r>
              <a:rPr b="1" i="0" lang="en-US" sz="8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Bilan, plan de pérennisation et de passation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26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Résultat : un backlog de problématiques priorisé, un porteur par ligne et un delta mesuré avant de généraliser</a:t>
            </a:r>
            <a:endParaRPr/>
          </a:p>
        </p:txBody>
      </p:sp>
      <p:sp>
        <p:nvSpPr>
          <p:cNvPr id="2064" name="Google Shape;2064;p26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Exemple de réalisation : repérer, prioriser, tenir</a:t>
            </a:r>
            <a:endParaRPr/>
          </a:p>
        </p:txBody>
      </p:sp>
      <p:sp>
        <p:nvSpPr>
          <p:cNvPr id="2065" name="Google Shape;2065;p26"/>
          <p:cNvSpPr/>
          <p:nvPr/>
        </p:nvSpPr>
        <p:spPr>
          <a:xfrm>
            <a:off x="566928" y="1234440"/>
            <a:ext cx="2648712" cy="438912"/>
          </a:xfrm>
          <a:prstGeom prst="chevron">
            <a:avLst>
              <a:gd fmla="val 35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26"/>
          <p:cNvSpPr txBox="1"/>
          <p:nvPr/>
        </p:nvSpPr>
        <p:spPr>
          <a:xfrm>
            <a:off x="757123" y="1234440"/>
            <a:ext cx="2268321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1. Repérer et chiffrer</a:t>
            </a:r>
            <a:endParaRPr/>
          </a:p>
        </p:txBody>
      </p:sp>
      <p:sp>
        <p:nvSpPr>
          <p:cNvPr id="2067" name="Google Shape;2067;p26"/>
          <p:cNvSpPr/>
          <p:nvPr/>
        </p:nvSpPr>
        <p:spPr>
          <a:xfrm>
            <a:off x="612648" y="1783080"/>
            <a:ext cx="2447544" cy="2770632"/>
          </a:xfrm>
          <a:prstGeom prst="roundRect">
            <a:avLst>
              <a:gd fmla="val 4483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26"/>
          <p:cNvSpPr txBox="1"/>
          <p:nvPr/>
        </p:nvSpPr>
        <p:spPr>
          <a:xfrm>
            <a:off x="740664" y="1874519"/>
            <a:ext cx="2191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On détecte chaque problématique et on la quantifie, preuves à l'appui.</a:t>
            </a:r>
            <a:endParaRPr/>
          </a:p>
        </p:txBody>
      </p:sp>
      <p:sp>
        <p:nvSpPr>
          <p:cNvPr id="2069" name="Google Shape;2069;p26"/>
          <p:cNvSpPr/>
          <p:nvPr/>
        </p:nvSpPr>
        <p:spPr>
          <a:xfrm>
            <a:off x="740664" y="2331720"/>
            <a:ext cx="978408" cy="20116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26"/>
          <p:cNvSpPr txBox="1"/>
          <p:nvPr/>
        </p:nvSpPr>
        <p:spPr>
          <a:xfrm>
            <a:off x="777240" y="2331720"/>
            <a:ext cx="905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CÔTÉ CLIENT</a:t>
            </a:r>
            <a:endParaRPr/>
          </a:p>
        </p:txBody>
      </p:sp>
      <p:sp>
        <p:nvSpPr>
          <p:cNvPr id="2071" name="Google Shape;2071;p26"/>
          <p:cNvSpPr txBox="1"/>
          <p:nvPr/>
        </p:nvSpPr>
        <p:spPr>
          <a:xfrm>
            <a:off x="740664" y="257860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Ouvre ses données — CMDB, facturation, tickets — et nomme ce qui le gêne vraiment.</a:t>
            </a:r>
            <a:endParaRPr/>
          </a:p>
        </p:txBody>
      </p:sp>
      <p:sp>
        <p:nvSpPr>
          <p:cNvPr id="2072" name="Google Shape;2072;p26"/>
          <p:cNvSpPr/>
          <p:nvPr/>
        </p:nvSpPr>
        <p:spPr>
          <a:xfrm>
            <a:off x="740664" y="3063239"/>
            <a:ext cx="850392" cy="20116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6"/>
          <p:cNvSpPr txBox="1"/>
          <p:nvPr/>
        </p:nvSpPr>
        <p:spPr>
          <a:xfrm>
            <a:off x="777240" y="3063239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CÔTÉ OCTO</a:t>
            </a:r>
            <a:endParaRPr/>
          </a:p>
        </p:txBody>
      </p:sp>
      <p:sp>
        <p:nvSpPr>
          <p:cNvPr id="2074" name="Google Shape;2074;p26"/>
          <p:cNvSpPr txBox="1"/>
          <p:nvPr/>
        </p:nvSpPr>
        <p:spPr>
          <a:xfrm>
            <a:off x="740664" y="3310127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Apporte la grille des 8 familles de douleur et la méthode de quantification.</a:t>
            </a:r>
            <a:endParaRPr/>
          </a:p>
        </p:txBody>
      </p:sp>
      <p:sp>
        <p:nvSpPr>
          <p:cNvPr id="2075" name="Google Shape;2075;p26"/>
          <p:cNvSpPr/>
          <p:nvPr/>
        </p:nvSpPr>
        <p:spPr>
          <a:xfrm>
            <a:off x="740664" y="3794760"/>
            <a:ext cx="1298448" cy="201168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26"/>
          <p:cNvSpPr txBox="1"/>
          <p:nvPr/>
        </p:nvSpPr>
        <p:spPr>
          <a:xfrm>
            <a:off x="777240" y="3794760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TRANCHÉ ENSEMBLE</a:t>
            </a:r>
            <a:endParaRPr/>
          </a:p>
        </p:txBody>
      </p:sp>
      <p:sp>
        <p:nvSpPr>
          <p:cNvPr id="2077" name="Google Shape;2077;p26"/>
          <p:cNvSpPr txBox="1"/>
          <p:nvPr/>
        </p:nvSpPr>
        <p:spPr>
          <a:xfrm>
            <a:off x="740664" y="404164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périmètre mesuré, et ce qu'on accepte d'appeler problématique.</a:t>
            </a:r>
            <a:endParaRPr/>
          </a:p>
        </p:txBody>
      </p:sp>
      <p:sp>
        <p:nvSpPr>
          <p:cNvPr id="2078" name="Google Shape;2078;p26"/>
          <p:cNvSpPr/>
          <p:nvPr/>
        </p:nvSpPr>
        <p:spPr>
          <a:xfrm>
            <a:off x="3197352" y="1234440"/>
            <a:ext cx="2648712" cy="438912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6"/>
          <p:cNvSpPr txBox="1"/>
          <p:nvPr/>
        </p:nvSpPr>
        <p:spPr>
          <a:xfrm>
            <a:off x="3387547" y="1234440"/>
            <a:ext cx="2268321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2. Prioriser dans un backlog</a:t>
            </a:r>
            <a:endParaRPr/>
          </a:p>
        </p:txBody>
      </p:sp>
      <p:sp>
        <p:nvSpPr>
          <p:cNvPr id="2080" name="Google Shape;2080;p26"/>
          <p:cNvSpPr/>
          <p:nvPr/>
        </p:nvSpPr>
        <p:spPr>
          <a:xfrm>
            <a:off x="3243072" y="1783080"/>
            <a:ext cx="2447544" cy="2770632"/>
          </a:xfrm>
          <a:prstGeom prst="roundRect">
            <a:avLst>
              <a:gd fmla="val 4483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26"/>
          <p:cNvSpPr txBox="1"/>
          <p:nvPr/>
        </p:nvSpPr>
        <p:spPr>
          <a:xfrm>
            <a:off x="3371088" y="1874519"/>
            <a:ext cx="2191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Chaque problématique reçoit un score et prend sa place dans le backlog.</a:t>
            </a:r>
            <a:endParaRPr/>
          </a:p>
        </p:txBody>
      </p:sp>
      <p:sp>
        <p:nvSpPr>
          <p:cNvPr id="2082" name="Google Shape;2082;p26"/>
          <p:cNvSpPr/>
          <p:nvPr/>
        </p:nvSpPr>
        <p:spPr>
          <a:xfrm>
            <a:off x="3371088" y="2331720"/>
            <a:ext cx="978408" cy="20116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26"/>
          <p:cNvSpPr txBox="1"/>
          <p:nvPr/>
        </p:nvSpPr>
        <p:spPr>
          <a:xfrm>
            <a:off x="3407664" y="2331720"/>
            <a:ext cx="905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CÔTÉ CLIENT</a:t>
            </a:r>
            <a:endParaRPr/>
          </a:p>
        </p:txBody>
      </p:sp>
      <p:sp>
        <p:nvSpPr>
          <p:cNvPr id="2084" name="Google Shape;2084;p26"/>
          <p:cNvSpPr txBox="1"/>
          <p:nvPr/>
        </p:nvSpPr>
        <p:spPr>
          <a:xfrm>
            <a:off x="3371088" y="257860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Arbitre ce qu'aucune équipe ne tranche seule : fermer, standardiser, décommissionner.</a:t>
            </a:r>
            <a:endParaRPr/>
          </a:p>
        </p:txBody>
      </p:sp>
      <p:sp>
        <p:nvSpPr>
          <p:cNvPr id="2085" name="Google Shape;2085;p26"/>
          <p:cNvSpPr/>
          <p:nvPr/>
        </p:nvSpPr>
        <p:spPr>
          <a:xfrm>
            <a:off x="3371088" y="3063239"/>
            <a:ext cx="850392" cy="20116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26"/>
          <p:cNvSpPr txBox="1"/>
          <p:nvPr/>
        </p:nvSpPr>
        <p:spPr>
          <a:xfrm>
            <a:off x="3407664" y="3063239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CÔTÉ OCTO</a:t>
            </a:r>
            <a:endParaRPr/>
          </a:p>
        </p:txBody>
      </p:sp>
      <p:sp>
        <p:nvSpPr>
          <p:cNvPr id="2087" name="Google Shape;2087;p26"/>
          <p:cNvSpPr txBox="1"/>
          <p:nvPr/>
        </p:nvSpPr>
        <p:spPr>
          <a:xfrm>
            <a:off x="3371088" y="3310127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Instruit les causes racines et propose le score — une proposition, jamais un verdict.</a:t>
            </a:r>
            <a:endParaRPr/>
          </a:p>
        </p:txBody>
      </p:sp>
      <p:sp>
        <p:nvSpPr>
          <p:cNvPr id="2088" name="Google Shape;2088;p26"/>
          <p:cNvSpPr/>
          <p:nvPr/>
        </p:nvSpPr>
        <p:spPr>
          <a:xfrm>
            <a:off x="3371088" y="3794760"/>
            <a:ext cx="1298448" cy="201168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6"/>
          <p:cNvSpPr txBox="1"/>
          <p:nvPr/>
        </p:nvSpPr>
        <p:spPr>
          <a:xfrm>
            <a:off x="3407664" y="3794760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TRANCHÉ ENSEMBLE</a:t>
            </a:r>
            <a:endParaRPr/>
          </a:p>
        </p:txBody>
      </p:sp>
      <p:sp>
        <p:nvSpPr>
          <p:cNvPr id="2090" name="Google Shape;2090;p26"/>
          <p:cNvSpPr txBox="1"/>
          <p:nvPr/>
        </p:nvSpPr>
        <p:spPr>
          <a:xfrm>
            <a:off x="3371088" y="404164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backlog priorisé et, pour chaque ligne, le porteur nommé.</a:t>
            </a:r>
            <a:endParaRPr/>
          </a:p>
        </p:txBody>
      </p:sp>
      <p:sp>
        <p:nvSpPr>
          <p:cNvPr id="2091" name="Google Shape;2091;p26"/>
          <p:cNvSpPr/>
          <p:nvPr/>
        </p:nvSpPr>
        <p:spPr>
          <a:xfrm>
            <a:off x="5827776" y="1234440"/>
            <a:ext cx="2538984" cy="438912"/>
          </a:xfrm>
          <a:prstGeom prst="chevron">
            <a:avLst>
              <a:gd fmla="val 35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26"/>
          <p:cNvSpPr txBox="1"/>
          <p:nvPr/>
        </p:nvSpPr>
        <p:spPr>
          <a:xfrm>
            <a:off x="6017971" y="1234440"/>
            <a:ext cx="215859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3. Tenir dans la durée</a:t>
            </a:r>
            <a:endParaRPr/>
          </a:p>
        </p:txBody>
      </p:sp>
      <p:sp>
        <p:nvSpPr>
          <p:cNvPr id="2093" name="Google Shape;2093;p26"/>
          <p:cNvSpPr/>
          <p:nvPr/>
        </p:nvSpPr>
        <p:spPr>
          <a:xfrm>
            <a:off x="5873496" y="1783080"/>
            <a:ext cx="2447544" cy="2770632"/>
          </a:xfrm>
          <a:prstGeom prst="roundRect">
            <a:avLst>
              <a:gd fmla="val 4483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6"/>
          <p:cNvSpPr txBox="1"/>
          <p:nvPr/>
        </p:nvSpPr>
        <p:spPr>
          <a:xfrm>
            <a:off x="6001512" y="1874519"/>
            <a:ext cx="2191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On expérimente, on mesure le delta réel, puis on industrialise.</a:t>
            </a:r>
            <a:endParaRPr/>
          </a:p>
        </p:txBody>
      </p:sp>
      <p:sp>
        <p:nvSpPr>
          <p:cNvPr id="2095" name="Google Shape;2095;p26"/>
          <p:cNvSpPr/>
          <p:nvPr/>
        </p:nvSpPr>
        <p:spPr>
          <a:xfrm>
            <a:off x="6001512" y="2331720"/>
            <a:ext cx="978408" cy="20116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26"/>
          <p:cNvSpPr txBox="1"/>
          <p:nvPr/>
        </p:nvSpPr>
        <p:spPr>
          <a:xfrm>
            <a:off x="6038088" y="2331720"/>
            <a:ext cx="905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CÔTÉ CLIENT</a:t>
            </a:r>
            <a:endParaRPr/>
          </a:p>
        </p:txBody>
      </p:sp>
      <p:sp>
        <p:nvSpPr>
          <p:cNvPr id="2097" name="Google Shape;2097;p26"/>
          <p:cNvSpPr txBox="1"/>
          <p:nvPr/>
        </p:nvSpPr>
        <p:spPr>
          <a:xfrm>
            <a:off x="6001512" y="257860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Porte les expérimentations et libère le temps qu'elles demandent.</a:t>
            </a:r>
            <a:endParaRPr/>
          </a:p>
        </p:txBody>
      </p:sp>
      <p:sp>
        <p:nvSpPr>
          <p:cNvPr id="2098" name="Google Shape;2098;p26"/>
          <p:cNvSpPr/>
          <p:nvPr/>
        </p:nvSpPr>
        <p:spPr>
          <a:xfrm>
            <a:off x="6001512" y="3063239"/>
            <a:ext cx="850392" cy="201168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6"/>
          <p:cNvSpPr txBox="1"/>
          <p:nvPr/>
        </p:nvSpPr>
        <p:spPr>
          <a:xfrm>
            <a:off x="6038088" y="3063239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CÔTÉ OCTO</a:t>
            </a:r>
            <a:endParaRPr/>
          </a:p>
        </p:txBody>
      </p:sp>
      <p:sp>
        <p:nvSpPr>
          <p:cNvPr id="2100" name="Google Shape;2100;p26"/>
          <p:cNvSpPr txBox="1"/>
          <p:nvPr/>
        </p:nvSpPr>
        <p:spPr>
          <a:xfrm>
            <a:off x="6001512" y="3310127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Outille, mesure le delta réel et industrialise ce qui a marché.</a:t>
            </a:r>
            <a:endParaRPr/>
          </a:p>
        </p:txBody>
      </p:sp>
      <p:sp>
        <p:nvSpPr>
          <p:cNvPr id="2101" name="Google Shape;2101;p26"/>
          <p:cNvSpPr/>
          <p:nvPr/>
        </p:nvSpPr>
        <p:spPr>
          <a:xfrm>
            <a:off x="6001512" y="3794760"/>
            <a:ext cx="1298448" cy="201168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6"/>
          <p:cNvSpPr txBox="1"/>
          <p:nvPr/>
        </p:nvSpPr>
        <p:spPr>
          <a:xfrm>
            <a:off x="6038088" y="3794760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TRANCHÉ ENSEMBLE</a:t>
            </a:r>
            <a:endParaRPr/>
          </a:p>
        </p:txBody>
      </p:sp>
      <p:sp>
        <p:nvSpPr>
          <p:cNvPr id="2103" name="Google Shape;2103;p26"/>
          <p:cNvSpPr txBox="1"/>
          <p:nvPr/>
        </p:nvSpPr>
        <p:spPr>
          <a:xfrm>
            <a:off x="6001512" y="4041648"/>
            <a:ext cx="2191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 seuil au-delà duquel on généralise — ou on arrête.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2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problématique d'abord, l'IA ensuite — exemples illustratifs, soumis au scoring et au gate de confidentialité</a:t>
            </a:r>
            <a:endParaRPr/>
          </a:p>
        </p:txBody>
      </p:sp>
      <p:sp>
        <p:nvSpPr>
          <p:cNvPr id="2109" name="Google Shape;2109;p2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Exemples de réalisation : trois agents, un par problématique</a:t>
            </a:r>
            <a:endParaRPr/>
          </a:p>
        </p:txBody>
      </p:sp>
      <p:sp>
        <p:nvSpPr>
          <p:cNvPr id="2110" name="Google Shape;2110;p27"/>
          <p:cNvSpPr/>
          <p:nvPr/>
        </p:nvSpPr>
        <p:spPr>
          <a:xfrm>
            <a:off x="566928" y="1325880"/>
            <a:ext cx="2465832" cy="3227832"/>
          </a:xfrm>
          <a:prstGeom prst="roundRect">
            <a:avLst>
              <a:gd fmla="val 444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27"/>
          <p:cNvSpPr/>
          <p:nvPr/>
        </p:nvSpPr>
        <p:spPr>
          <a:xfrm>
            <a:off x="704088" y="1207007"/>
            <a:ext cx="859536" cy="237744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7"/>
          <p:cNvSpPr txBox="1"/>
          <p:nvPr/>
        </p:nvSpPr>
        <p:spPr>
          <a:xfrm>
            <a:off x="740664" y="1207007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Famille RUN</a:t>
            </a:r>
            <a:endParaRPr/>
          </a:p>
        </p:txBody>
      </p:sp>
      <p:sp>
        <p:nvSpPr>
          <p:cNvPr id="2113" name="Google Shape;2113;p27"/>
          <p:cNvSpPr txBox="1"/>
          <p:nvPr/>
        </p:nvSpPr>
        <p:spPr>
          <a:xfrm>
            <a:off x="704088" y="1527048"/>
            <a:ext cx="2191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Agent de triage de tickets</a:t>
            </a:r>
            <a:endParaRPr/>
          </a:p>
        </p:txBody>
      </p:sp>
      <p:sp>
        <p:nvSpPr>
          <p:cNvPr id="2114" name="Google Shape;2114;p27"/>
          <p:cNvSpPr txBox="1"/>
          <p:nvPr/>
        </p:nvSpPr>
        <p:spPr>
          <a:xfrm>
            <a:off x="704088" y="187451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POURQUOI</a:t>
            </a:r>
            <a:endParaRPr/>
          </a:p>
        </p:txBody>
      </p:sp>
      <p:sp>
        <p:nvSpPr>
          <p:cNvPr id="2115" name="Google Shape;2115;p27"/>
          <p:cNvSpPr txBox="1"/>
          <p:nvPr/>
        </p:nvSpPr>
        <p:spPr>
          <a:xfrm>
            <a:off x="704088" y="2057400"/>
            <a:ext cx="2191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mêmes tickets reviennent depuis des années et mobilisent des seniors sur du répétitif à faible valeur.</a:t>
            </a:r>
            <a:endParaRPr/>
          </a:p>
        </p:txBody>
      </p:sp>
      <p:sp>
        <p:nvSpPr>
          <p:cNvPr id="2116" name="Google Shape;2116;p27"/>
          <p:cNvSpPr txBox="1"/>
          <p:nvPr/>
        </p:nvSpPr>
        <p:spPr>
          <a:xfrm>
            <a:off x="704088" y="269747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FAIT L'AGENT</a:t>
            </a:r>
            <a:endParaRPr/>
          </a:p>
        </p:txBody>
      </p:sp>
      <p:sp>
        <p:nvSpPr>
          <p:cNvPr id="2117" name="Google Shape;2117;p27"/>
          <p:cNvSpPr txBox="1"/>
          <p:nvPr/>
        </p:nvSpPr>
        <p:spPr>
          <a:xfrm>
            <a:off x="704088" y="2880360"/>
            <a:ext cx="21915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Lit chaque ticket, le classe selon un runbook déjà documenté, le route vers la bonne équipe. Le processus est écrit AVANT l'agent.</a:t>
            </a:r>
            <a:endParaRPr/>
          </a:p>
        </p:txBody>
      </p:sp>
      <p:sp>
        <p:nvSpPr>
          <p:cNvPr id="2118" name="Google Shape;2118;p27"/>
          <p:cNvSpPr txBox="1"/>
          <p:nvPr/>
        </p:nvSpPr>
        <p:spPr>
          <a:xfrm>
            <a:off x="704088" y="3794760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GAIN</a:t>
            </a:r>
            <a:endParaRPr/>
          </a:p>
        </p:txBody>
      </p:sp>
      <p:sp>
        <p:nvSpPr>
          <p:cNvPr id="2119" name="Google Shape;2119;p27"/>
          <p:cNvSpPr txBox="1"/>
          <p:nvPr/>
        </p:nvSpPr>
        <p:spPr>
          <a:xfrm>
            <a:off x="704088" y="3977640"/>
            <a:ext cx="2191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Jusqu'à 15 tickets/mois sans intervention humaine, temps de triage divisé par deux (cas nominal du cadrage).</a:t>
            </a:r>
            <a:endParaRPr/>
          </a:p>
        </p:txBody>
      </p:sp>
      <p:sp>
        <p:nvSpPr>
          <p:cNvPr id="2120" name="Google Shape;2120;p27"/>
          <p:cNvSpPr/>
          <p:nvPr/>
        </p:nvSpPr>
        <p:spPr>
          <a:xfrm>
            <a:off x="3233928" y="1325880"/>
            <a:ext cx="2465832" cy="3227832"/>
          </a:xfrm>
          <a:prstGeom prst="roundRect">
            <a:avLst>
              <a:gd fmla="val 444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27"/>
          <p:cNvSpPr/>
          <p:nvPr/>
        </p:nvSpPr>
        <p:spPr>
          <a:xfrm>
            <a:off x="3371088" y="1207007"/>
            <a:ext cx="1298448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27"/>
          <p:cNvSpPr txBox="1"/>
          <p:nvPr/>
        </p:nvSpPr>
        <p:spPr>
          <a:xfrm>
            <a:off x="3407664" y="1207007"/>
            <a:ext cx="12252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Famille Financier</a:t>
            </a:r>
            <a:endParaRPr/>
          </a:p>
        </p:txBody>
      </p:sp>
      <p:sp>
        <p:nvSpPr>
          <p:cNvPr id="2123" name="Google Shape;2123;p27"/>
          <p:cNvSpPr txBox="1"/>
          <p:nvPr/>
        </p:nvSpPr>
        <p:spPr>
          <a:xfrm>
            <a:off x="3371088" y="1527048"/>
            <a:ext cx="2191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Agent de veille FinOps</a:t>
            </a:r>
            <a:endParaRPr/>
          </a:p>
        </p:txBody>
      </p:sp>
      <p:sp>
        <p:nvSpPr>
          <p:cNvPr id="2124" name="Google Shape;2124;p27"/>
          <p:cNvSpPr txBox="1"/>
          <p:nvPr/>
        </p:nvSpPr>
        <p:spPr>
          <a:xfrm>
            <a:off x="3371088" y="187451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POURQUOI</a:t>
            </a:r>
            <a:endParaRPr/>
          </a:p>
        </p:txBody>
      </p:sp>
      <p:sp>
        <p:nvSpPr>
          <p:cNvPr id="2125" name="Google Shape;2125;p27"/>
          <p:cNvSpPr txBox="1"/>
          <p:nvPr/>
        </p:nvSpPr>
        <p:spPr>
          <a:xfrm>
            <a:off x="3371088" y="2057400"/>
            <a:ext cx="2191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Les ressources cloud surdimensionnées ou orphelines n'apparaissent qu'aux audits ponctuels.</a:t>
            </a:r>
            <a:endParaRPr/>
          </a:p>
        </p:txBody>
      </p:sp>
      <p:sp>
        <p:nvSpPr>
          <p:cNvPr id="2126" name="Google Shape;2126;p27"/>
          <p:cNvSpPr txBox="1"/>
          <p:nvPr/>
        </p:nvSpPr>
        <p:spPr>
          <a:xfrm>
            <a:off x="3371088" y="269747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FAIT L'AGENT</a:t>
            </a:r>
            <a:endParaRPr/>
          </a:p>
        </p:txBody>
      </p:sp>
      <p:sp>
        <p:nvSpPr>
          <p:cNvPr id="2127" name="Google Shape;2127;p27"/>
          <p:cNvSpPr txBox="1"/>
          <p:nvPr/>
        </p:nvSpPr>
        <p:spPr>
          <a:xfrm>
            <a:off x="3371088" y="2880360"/>
            <a:ext cx="21915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Scanne en continu la CMDB et la facturation, repère l'inactif et le surdimensionné, propose une liste à valider — ne décommissionne jamais seul.</a:t>
            </a:r>
            <a:endParaRPr/>
          </a:p>
        </p:txBody>
      </p:sp>
      <p:sp>
        <p:nvSpPr>
          <p:cNvPr id="2128" name="Google Shape;2128;p27"/>
          <p:cNvSpPr txBox="1"/>
          <p:nvPr/>
        </p:nvSpPr>
        <p:spPr>
          <a:xfrm>
            <a:off x="3371088" y="3794760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GAIN</a:t>
            </a:r>
            <a:endParaRPr/>
          </a:p>
        </p:txBody>
      </p:sp>
      <p:sp>
        <p:nvSpPr>
          <p:cNvPr id="2129" name="Google Shape;2129;p27"/>
          <p:cNvSpPr txBox="1"/>
          <p:nvPr/>
        </p:nvSpPr>
        <p:spPr>
          <a:xfrm>
            <a:off x="3371088" y="3977640"/>
            <a:ext cx="2191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Coût récupéré directement mesurable — un indicateur de mission déjà cadré.</a:t>
            </a:r>
            <a:endParaRPr/>
          </a:p>
        </p:txBody>
      </p:sp>
      <p:sp>
        <p:nvSpPr>
          <p:cNvPr id="2130" name="Google Shape;2130;p27"/>
          <p:cNvSpPr/>
          <p:nvPr/>
        </p:nvSpPr>
        <p:spPr>
          <a:xfrm>
            <a:off x="5900928" y="1325880"/>
            <a:ext cx="2465832" cy="3227832"/>
          </a:xfrm>
          <a:prstGeom prst="roundRect">
            <a:avLst>
              <a:gd fmla="val 4449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1" name="Google Shape;2131;p27"/>
          <p:cNvSpPr/>
          <p:nvPr/>
        </p:nvSpPr>
        <p:spPr>
          <a:xfrm>
            <a:off x="6038088" y="1207007"/>
            <a:ext cx="1225295" cy="237744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p27"/>
          <p:cNvSpPr txBox="1"/>
          <p:nvPr/>
        </p:nvSpPr>
        <p:spPr>
          <a:xfrm>
            <a:off x="6074664" y="1207007"/>
            <a:ext cx="115214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Famille Cognitif</a:t>
            </a:r>
            <a:endParaRPr/>
          </a:p>
        </p:txBody>
      </p:sp>
      <p:sp>
        <p:nvSpPr>
          <p:cNvPr id="2133" name="Google Shape;2133;p27"/>
          <p:cNvSpPr txBox="1"/>
          <p:nvPr/>
        </p:nvSpPr>
        <p:spPr>
          <a:xfrm>
            <a:off x="6038088" y="1527048"/>
            <a:ext cx="2191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Agent documentaire</a:t>
            </a:r>
            <a:endParaRPr/>
          </a:p>
        </p:txBody>
      </p:sp>
      <p:sp>
        <p:nvSpPr>
          <p:cNvPr id="2134" name="Google Shape;2134;p27"/>
          <p:cNvSpPr txBox="1"/>
          <p:nvPr/>
        </p:nvSpPr>
        <p:spPr>
          <a:xfrm>
            <a:off x="6038088" y="187451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POURQUOI</a:t>
            </a:r>
            <a:endParaRPr/>
          </a:p>
        </p:txBody>
      </p:sp>
      <p:sp>
        <p:nvSpPr>
          <p:cNvPr id="2135" name="Google Shape;2135;p27"/>
          <p:cNvSpPr txBox="1"/>
          <p:nvPr/>
        </p:nvSpPr>
        <p:spPr>
          <a:xfrm>
            <a:off x="6038088" y="2057400"/>
            <a:ext cx="21915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Trop d'outils, des procédures dispersées : retrouver l'information sollicite toujours les mêmes experts.</a:t>
            </a:r>
            <a:endParaRPr/>
          </a:p>
        </p:txBody>
      </p:sp>
      <p:sp>
        <p:nvSpPr>
          <p:cNvPr id="2136" name="Google Shape;2136;p27"/>
          <p:cNvSpPr txBox="1"/>
          <p:nvPr/>
        </p:nvSpPr>
        <p:spPr>
          <a:xfrm>
            <a:off x="6038088" y="2697479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FAIT L'AGENT</a:t>
            </a:r>
            <a:endParaRPr/>
          </a:p>
        </p:txBody>
      </p:sp>
      <p:sp>
        <p:nvSpPr>
          <p:cNvPr id="2137" name="Google Shape;2137;p27"/>
          <p:cNvSpPr txBox="1"/>
          <p:nvPr/>
        </p:nvSpPr>
        <p:spPr>
          <a:xfrm>
            <a:off x="6038088" y="2880360"/>
            <a:ext cx="21915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Indexe runbooks, wikis et tickets résolus, répond aux questions fréquentes avec la source citée — jamais de réponse sans preuve.</a:t>
            </a:r>
            <a:endParaRPr/>
          </a:p>
        </p:txBody>
      </p:sp>
      <p:sp>
        <p:nvSpPr>
          <p:cNvPr id="2138" name="Google Shape;2138;p27"/>
          <p:cNvSpPr txBox="1"/>
          <p:nvPr/>
        </p:nvSpPr>
        <p:spPr>
          <a:xfrm>
            <a:off x="6038088" y="3794760"/>
            <a:ext cx="2191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GAIN</a:t>
            </a:r>
            <a:endParaRPr/>
          </a:p>
        </p:txBody>
      </p:sp>
      <p:sp>
        <p:nvSpPr>
          <p:cNvPr id="2139" name="Google Shape;2139;p27"/>
          <p:cNvSpPr txBox="1"/>
          <p:nvPr/>
        </p:nvSpPr>
        <p:spPr>
          <a:xfrm>
            <a:off x="6038088" y="3977640"/>
            <a:ext cx="2191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Charge cognitive réduite, onboarding plus rapide, moins d'interruptions des experts.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28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dispositif</a:t>
            </a:r>
            <a:endParaRPr/>
          </a:p>
        </p:txBody>
      </p:sp>
      <p:sp>
        <p:nvSpPr>
          <p:cNvPr id="2145" name="Google Shape;2145;p28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06</a:t>
            </a:r>
            <a:endParaRPr b="1" sz="1700"/>
          </a:p>
        </p:txBody>
      </p:sp>
      <p:pic>
        <p:nvPicPr>
          <p:cNvPr id="2146" name="Google Shape;21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29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dispositif</a:t>
            </a:r>
            <a:endParaRPr/>
          </a:p>
        </p:txBody>
      </p:sp>
      <p:sp>
        <p:nvSpPr>
          <p:cNvPr id="2152" name="Google Shape;2152;p29"/>
          <p:cNvSpPr/>
          <p:nvPr/>
        </p:nvSpPr>
        <p:spPr>
          <a:xfrm>
            <a:off x="566928" y="1143000"/>
            <a:ext cx="2743200" cy="3410712"/>
          </a:xfrm>
          <a:prstGeom prst="round2DiagRect">
            <a:avLst>
              <a:gd fmla="val 12000" name="adj1"/>
              <a:gd fmla="val 0" name="adj2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29"/>
          <p:cNvSpPr txBox="1"/>
          <p:nvPr/>
        </p:nvSpPr>
        <p:spPr>
          <a:xfrm>
            <a:off x="795528" y="1325880"/>
            <a:ext cx="2286000" cy="3044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NOTRE APPROCHE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 dispositif resserré, qui se rend dispensable.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 noyau OCTO, des experts mobilisés au bon moment et un transfert continu : la réussite se mesure au jour où vos équipes tiennent le modèle sans nous.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Dimensionnement à compléter selon le périmètre retenu.</a:t>
            </a:r>
            <a:endParaRPr/>
          </a:p>
        </p:txBody>
      </p:sp>
      <p:sp>
        <p:nvSpPr>
          <p:cNvPr id="2154" name="Google Shape;2154;p29"/>
          <p:cNvSpPr/>
          <p:nvPr/>
        </p:nvSpPr>
        <p:spPr>
          <a:xfrm>
            <a:off x="3904488" y="1143000"/>
            <a:ext cx="4462272" cy="658368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29"/>
          <p:cNvSpPr/>
          <p:nvPr/>
        </p:nvSpPr>
        <p:spPr>
          <a:xfrm>
            <a:off x="3648456" y="1216151"/>
            <a:ext cx="512064" cy="512064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29"/>
          <p:cNvSpPr txBox="1"/>
          <p:nvPr/>
        </p:nvSpPr>
        <p:spPr>
          <a:xfrm>
            <a:off x="3648456" y="1216151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CP</a:t>
            </a:r>
            <a:endParaRPr/>
          </a:p>
        </p:txBody>
      </p:sp>
      <p:sp>
        <p:nvSpPr>
          <p:cNvPr id="2157" name="Google Shape;2157;p29"/>
          <p:cNvSpPr txBox="1"/>
          <p:nvPr/>
        </p:nvSpPr>
        <p:spPr>
          <a:xfrm>
            <a:off x="4288536" y="1143000"/>
            <a:ext cx="3959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Coach produit / plateforme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Porte la démarche, anime les rituels, accompagne les propriétaires produit.</a:t>
            </a:r>
            <a:endParaRPr/>
          </a:p>
        </p:txBody>
      </p:sp>
      <p:sp>
        <p:nvSpPr>
          <p:cNvPr id="2158" name="Google Shape;2158;p29"/>
          <p:cNvSpPr/>
          <p:nvPr/>
        </p:nvSpPr>
        <p:spPr>
          <a:xfrm>
            <a:off x="3904488" y="1911095"/>
            <a:ext cx="4462272" cy="658368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29"/>
          <p:cNvSpPr/>
          <p:nvPr/>
        </p:nvSpPr>
        <p:spPr>
          <a:xfrm>
            <a:off x="3648456" y="1984248"/>
            <a:ext cx="512064" cy="51206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29"/>
          <p:cNvSpPr txBox="1"/>
          <p:nvPr/>
        </p:nvSpPr>
        <p:spPr>
          <a:xfrm>
            <a:off x="3648456" y="19842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EP</a:t>
            </a:r>
            <a:endParaRPr/>
          </a:p>
        </p:txBody>
      </p:sp>
      <p:sp>
        <p:nvSpPr>
          <p:cNvPr id="2161" name="Google Shape;2161;p29"/>
          <p:cNvSpPr txBox="1"/>
          <p:nvPr/>
        </p:nvSpPr>
        <p:spPr>
          <a:xfrm>
            <a:off x="4288536" y="1911095"/>
            <a:ext cx="3959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Expert plateforme et infrastructure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Diagnostic du parc, catalogue de capacités, automatisation.</a:t>
            </a:r>
            <a:endParaRPr/>
          </a:p>
        </p:txBody>
      </p:sp>
      <p:sp>
        <p:nvSpPr>
          <p:cNvPr id="2162" name="Google Shape;2162;p29"/>
          <p:cNvSpPr/>
          <p:nvPr/>
        </p:nvSpPr>
        <p:spPr>
          <a:xfrm>
            <a:off x="3904488" y="2679191"/>
            <a:ext cx="4462272" cy="658368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587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29"/>
          <p:cNvSpPr/>
          <p:nvPr/>
        </p:nvSpPr>
        <p:spPr>
          <a:xfrm>
            <a:off x="3648456" y="2752344"/>
            <a:ext cx="512064" cy="512064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29"/>
          <p:cNvSpPr txBox="1"/>
          <p:nvPr/>
        </p:nvSpPr>
        <p:spPr>
          <a:xfrm>
            <a:off x="3648456" y="275234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</a:t>
            </a:r>
            <a:endParaRPr/>
          </a:p>
        </p:txBody>
      </p:sp>
      <p:sp>
        <p:nvSpPr>
          <p:cNvPr id="2165" name="Google Shape;2165;p29"/>
          <p:cNvSpPr txBox="1"/>
          <p:nvPr/>
        </p:nvSpPr>
        <p:spPr>
          <a:xfrm>
            <a:off x="4288536" y="2679191"/>
            <a:ext cx="3959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Expert 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Outille le triage et l'exploration, toujours après le gate de confidentialité.</a:t>
            </a:r>
            <a:endParaRPr/>
          </a:p>
        </p:txBody>
      </p:sp>
      <p:sp>
        <p:nvSpPr>
          <p:cNvPr id="2166" name="Google Shape;2166;p29"/>
          <p:cNvSpPr/>
          <p:nvPr/>
        </p:nvSpPr>
        <p:spPr>
          <a:xfrm>
            <a:off x="3630168" y="3557016"/>
            <a:ext cx="4736592" cy="996696"/>
          </a:xfrm>
          <a:prstGeom prst="roundRect">
            <a:avLst>
              <a:gd fmla="val 11009" name="adj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29"/>
          <p:cNvSpPr/>
          <p:nvPr/>
        </p:nvSpPr>
        <p:spPr>
          <a:xfrm>
            <a:off x="3813048" y="3438144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29"/>
          <p:cNvSpPr txBox="1"/>
          <p:nvPr/>
        </p:nvSpPr>
        <p:spPr>
          <a:xfrm>
            <a:off x="3849624" y="3438144"/>
            <a:ext cx="1024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CÔTÉ CLIENT</a:t>
            </a:r>
            <a:endParaRPr/>
          </a:p>
        </p:txBody>
      </p:sp>
      <p:sp>
        <p:nvSpPr>
          <p:cNvPr id="2169" name="Google Shape;2169;p29"/>
          <p:cNvSpPr txBox="1"/>
          <p:nvPr/>
        </p:nvSpPr>
        <p:spPr>
          <a:xfrm>
            <a:off x="3813048" y="3648456"/>
            <a:ext cx="4370831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sponsor (DSI ou direction infrastructure), </a:t>
            </a: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des propriétaires produit désignés</a:t>
            </a: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, les équipes infra et applicatives.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30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prix</a:t>
            </a:r>
            <a:endParaRPr/>
          </a:p>
        </p:txBody>
      </p:sp>
      <p:sp>
        <p:nvSpPr>
          <p:cNvPr id="2175" name="Google Shape;2175;p30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07</a:t>
            </a:r>
            <a:endParaRPr b="1" sz="1700"/>
          </a:p>
        </p:txBody>
      </p:sp>
      <p:pic>
        <p:nvPicPr>
          <p:cNvPr id="2176" name="Google Shape;2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  <p:sp>
        <p:nvSpPr>
          <p:cNvPr id="2177" name="Google Shape;2177;p30"/>
          <p:cNvSpPr txBox="1"/>
          <p:nvPr/>
        </p:nvSpPr>
        <p:spPr>
          <a:xfrm>
            <a:off x="0" y="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Offre Infra as a Product</a:t>
            </a:r>
            <a:endParaRPr b="0" i="0" sz="1300" u="none" cap="none" strike="noStrike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31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prix</a:t>
            </a:r>
            <a:endParaRPr/>
          </a:p>
        </p:txBody>
      </p:sp>
      <p:sp>
        <p:nvSpPr>
          <p:cNvPr id="2183" name="Google Shape;2183;p31"/>
          <p:cNvSpPr/>
          <p:nvPr/>
        </p:nvSpPr>
        <p:spPr>
          <a:xfrm>
            <a:off x="749808" y="1234440"/>
            <a:ext cx="7434072" cy="301752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1"/>
          <p:cNvSpPr/>
          <p:nvPr/>
        </p:nvSpPr>
        <p:spPr>
          <a:xfrm>
            <a:off x="3621024" y="1088136"/>
            <a:ext cx="292608" cy="29260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31"/>
          <p:cNvSpPr/>
          <p:nvPr/>
        </p:nvSpPr>
        <p:spPr>
          <a:xfrm>
            <a:off x="3584448" y="1051560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31"/>
          <p:cNvSpPr/>
          <p:nvPr/>
        </p:nvSpPr>
        <p:spPr>
          <a:xfrm>
            <a:off x="3621024" y="4105656"/>
            <a:ext cx="292608" cy="29260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1"/>
          <p:cNvSpPr/>
          <p:nvPr/>
        </p:nvSpPr>
        <p:spPr>
          <a:xfrm>
            <a:off x="3584448" y="4251960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31"/>
          <p:cNvSpPr/>
          <p:nvPr/>
        </p:nvSpPr>
        <p:spPr>
          <a:xfrm>
            <a:off x="3761841" y="150876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31"/>
          <p:cNvSpPr/>
          <p:nvPr/>
        </p:nvSpPr>
        <p:spPr>
          <a:xfrm>
            <a:off x="3761841" y="171907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31"/>
          <p:cNvSpPr/>
          <p:nvPr/>
        </p:nvSpPr>
        <p:spPr>
          <a:xfrm>
            <a:off x="3761841" y="1929384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31"/>
          <p:cNvSpPr/>
          <p:nvPr/>
        </p:nvSpPr>
        <p:spPr>
          <a:xfrm>
            <a:off x="3761841" y="2139696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31"/>
          <p:cNvSpPr/>
          <p:nvPr/>
        </p:nvSpPr>
        <p:spPr>
          <a:xfrm>
            <a:off x="3761841" y="2350008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31"/>
          <p:cNvSpPr/>
          <p:nvPr/>
        </p:nvSpPr>
        <p:spPr>
          <a:xfrm>
            <a:off x="3761841" y="256032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31"/>
          <p:cNvSpPr/>
          <p:nvPr/>
        </p:nvSpPr>
        <p:spPr>
          <a:xfrm>
            <a:off x="3761841" y="277063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31"/>
          <p:cNvSpPr/>
          <p:nvPr/>
        </p:nvSpPr>
        <p:spPr>
          <a:xfrm>
            <a:off x="3761841" y="2980944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31"/>
          <p:cNvSpPr/>
          <p:nvPr/>
        </p:nvSpPr>
        <p:spPr>
          <a:xfrm>
            <a:off x="3761841" y="3191256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31"/>
          <p:cNvSpPr/>
          <p:nvPr/>
        </p:nvSpPr>
        <p:spPr>
          <a:xfrm>
            <a:off x="3761841" y="3401568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31"/>
          <p:cNvSpPr/>
          <p:nvPr/>
        </p:nvSpPr>
        <p:spPr>
          <a:xfrm>
            <a:off x="3761841" y="361188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1"/>
          <p:cNvSpPr/>
          <p:nvPr/>
        </p:nvSpPr>
        <p:spPr>
          <a:xfrm>
            <a:off x="3761841" y="382219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31"/>
          <p:cNvSpPr txBox="1"/>
          <p:nvPr/>
        </p:nvSpPr>
        <p:spPr>
          <a:xfrm>
            <a:off x="1024128" y="1508760"/>
            <a:ext cx="2514600" cy="2468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 PRIX EN DEUX TEMPS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On chiffre d'abord, on s'engage ensuite.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Financé sur une ligne budgétaire transformation, </a:t>
            </a:r>
            <a:r>
              <a:rPr b="1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jamais sur le budget RUN</a:t>
            </a:r>
            <a:r>
              <a:rPr b="0" i="0" lang="en-US" sz="10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201" name="Google Shape;2201;p31"/>
          <p:cNvSpPr/>
          <p:nvPr/>
        </p:nvSpPr>
        <p:spPr>
          <a:xfrm>
            <a:off x="4087368" y="1600200"/>
            <a:ext cx="457200" cy="457200"/>
          </a:xfrm>
          <a:prstGeom prst="ellipse">
            <a:avLst/>
          </a:prstGeom>
          <a:solidFill>
            <a:srgbClr val="00D2D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1"/>
          <p:cNvSpPr txBox="1"/>
          <p:nvPr/>
        </p:nvSpPr>
        <p:spPr>
          <a:xfrm>
            <a:off x="4087368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2203" name="Google Shape;2203;p31"/>
          <p:cNvSpPr txBox="1"/>
          <p:nvPr/>
        </p:nvSpPr>
        <p:spPr>
          <a:xfrm>
            <a:off x="4681728" y="1554480"/>
            <a:ext cx="3227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Forfait d'entrée : diagnostic et coût du statu quo chiffré.</a:t>
            </a:r>
            <a:endParaRPr/>
          </a:p>
        </p:txBody>
      </p:sp>
      <p:sp>
        <p:nvSpPr>
          <p:cNvPr id="2204" name="Google Shape;2204;p31"/>
          <p:cNvSpPr/>
          <p:nvPr/>
        </p:nvSpPr>
        <p:spPr>
          <a:xfrm>
            <a:off x="4681728" y="2286000"/>
            <a:ext cx="2103120" cy="29260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1"/>
          <p:cNvSpPr txBox="1"/>
          <p:nvPr/>
        </p:nvSpPr>
        <p:spPr>
          <a:xfrm>
            <a:off x="4718304" y="2286000"/>
            <a:ext cx="202996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Montant : à compléter</a:t>
            </a:r>
            <a:endParaRPr/>
          </a:p>
        </p:txBody>
      </p:sp>
      <p:sp>
        <p:nvSpPr>
          <p:cNvPr id="2206" name="Google Shape;2206;p31"/>
          <p:cNvSpPr/>
          <p:nvPr/>
        </p:nvSpPr>
        <p:spPr>
          <a:xfrm>
            <a:off x="4087368" y="2926080"/>
            <a:ext cx="457200" cy="457200"/>
          </a:xfrm>
          <a:prstGeom prst="ellipse">
            <a:avLst/>
          </a:prstGeom>
          <a:solidFill>
            <a:srgbClr val="0E235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1"/>
          <p:cNvSpPr txBox="1"/>
          <p:nvPr/>
        </p:nvSpPr>
        <p:spPr>
          <a:xfrm>
            <a:off x="4087368" y="2926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2208" name="Google Shape;2208;p31"/>
          <p:cNvSpPr txBox="1"/>
          <p:nvPr/>
        </p:nvSpPr>
        <p:spPr>
          <a:xfrm>
            <a:off x="4681728" y="2880360"/>
            <a:ext cx="3227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Trajectoire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Cadrer l'offre, assainir, transformer — dimensionnée à l'issue de l'Assessment flash.</a:t>
            </a:r>
            <a:endParaRPr/>
          </a:p>
        </p:txBody>
      </p:sp>
      <p:sp>
        <p:nvSpPr>
          <p:cNvPr id="2209" name="Google Shape;2209;p31"/>
          <p:cNvSpPr/>
          <p:nvPr/>
        </p:nvSpPr>
        <p:spPr>
          <a:xfrm>
            <a:off x="4681728" y="3611880"/>
            <a:ext cx="2103120" cy="292608"/>
          </a:xfrm>
          <a:prstGeom prst="roundRect">
            <a:avLst>
              <a:gd fmla="val 50000" name="adj"/>
            </a:avLst>
          </a:prstGeom>
          <a:solidFill>
            <a:srgbClr val="E7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31"/>
          <p:cNvSpPr txBox="1"/>
          <p:nvPr/>
        </p:nvSpPr>
        <p:spPr>
          <a:xfrm>
            <a:off x="4718304" y="3611880"/>
            <a:ext cx="202996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Montant : à compléter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2"/>
          <p:cNvSpPr/>
          <p:nvPr/>
        </p:nvSpPr>
        <p:spPr>
          <a:xfrm rot="5400000">
            <a:off x="433800" y="891525"/>
            <a:ext cx="1517400" cy="1517400"/>
          </a:xfrm>
          <a:prstGeom prst="teardrop">
            <a:avLst>
              <a:gd fmla="val 100000" name="adj"/>
            </a:avLst>
          </a:prstGeom>
          <a:solidFill>
            <a:schemeClr val="dk1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32"/>
          <p:cNvSpPr txBox="1"/>
          <p:nvPr/>
        </p:nvSpPr>
        <p:spPr>
          <a:xfrm>
            <a:off x="597475" y="1109275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L’équipe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17" name="Google Shape;2217;p32"/>
          <p:cNvSpPr/>
          <p:nvPr/>
        </p:nvSpPr>
        <p:spPr>
          <a:xfrm>
            <a:off x="5464500" y="4105055"/>
            <a:ext cx="18306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Gaëlle MILOCHEVITCH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18" name="Google Shape;2218;p32"/>
          <p:cNvSpPr/>
          <p:nvPr/>
        </p:nvSpPr>
        <p:spPr>
          <a:xfrm>
            <a:off x="3141300" y="1795725"/>
            <a:ext cx="17244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 CAMUS 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CACL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19" name="Google Shape;2219;p32"/>
          <p:cNvSpPr/>
          <p:nvPr/>
        </p:nvSpPr>
        <p:spPr>
          <a:xfrm>
            <a:off x="5290563" y="1795725"/>
            <a:ext cx="1977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Lan LEVY 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20" name="Google Shape;2220;p32"/>
          <p:cNvSpPr/>
          <p:nvPr/>
        </p:nvSpPr>
        <p:spPr>
          <a:xfrm>
            <a:off x="3141300" y="4111505"/>
            <a:ext cx="1911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Cédric CHEVALÉRIAS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CECH</a:t>
            </a:r>
            <a:endParaRPr b="1" i="0" sz="12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21" name="Google Shape;2221;p32" title="Capture d’écran 2026-08-12 à 11.39.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363" y="2624891"/>
            <a:ext cx="1437175" cy="1337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2" name="Google Shape;2222;p32" title="Capture d’écran 2026-08-12 à 11.40.3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1213" y="2624904"/>
            <a:ext cx="1437175" cy="132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3" name="Google Shape;2223;p32"/>
          <p:cNvPicPr preferRelativeResize="0"/>
          <p:nvPr/>
        </p:nvPicPr>
        <p:blipFill rotWithShape="1">
          <a:blip r:embed="rId5">
            <a:alphaModFix/>
          </a:blip>
          <a:srcRect b="820" l="400" r="-400" t="-820"/>
          <a:stretch/>
        </p:blipFill>
        <p:spPr>
          <a:xfrm>
            <a:off x="3522749" y="2677200"/>
            <a:ext cx="1196626" cy="119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ipe_claude_camus_rond.png" id="2224" name="Google Shape;222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54860" y="607005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32"/>
          <p:cNvSpPr/>
          <p:nvPr/>
        </p:nvSpPr>
        <p:spPr>
          <a:xfrm>
            <a:off x="3454860" y="607005"/>
            <a:ext cx="1097280" cy="1097280"/>
          </a:xfrm>
          <a:prstGeom prst="ellipse">
            <a:avLst/>
          </a:prstGeom>
          <a:noFill/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0E2356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