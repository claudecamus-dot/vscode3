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4"/>
    <p:sldId id="263" r:id="rId3"/>
    <p:sldId id="264" r:id="rId2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5" r:id="rId62"/>
    <p:sldId id="296" r:id="rId63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Helvetica Neue Light" panose="020B0604020202020204" charset="0"/>
      <p:regular r:id="rId16"/>
      <p:bold r:id="rId17"/>
      <p:italic r:id="rId18"/>
      <p:boldItalic r:id="rId19"/>
    </p:embeddedFont>
    <p:embeddedFont>
      <p:font typeface="Outfit" panose="020B0604020202020204" charset="0"/>
      <p:regular r:id="rId20"/>
      <p:bold r:id="rId21"/>
    </p:embeddedFont>
    <p:embeddedFont>
      <p:font typeface="Outfit Light" panose="020B0604020202020204" charset="0"/>
      <p:regular r:id="rId22"/>
      <p:bold r:id="rId23"/>
    </p:embeddedFont>
    <p:embeddedFont>
      <p:font typeface="Outfit Medium" panose="020B0604020202020204" charset="0"/>
      <p:regular r:id="rId24"/>
      <p:bold r:id="rId25"/>
    </p:embeddedFont>
    <p:embeddedFont>
      <p:font typeface="Outfit SemiBol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Relationship Id="rId24" Type="http://schemas.openxmlformats.org/officeDocument/2006/relationships/font" Target="fonts/font13.fntdata"/><Relationship Id="rId25" Type="http://schemas.openxmlformats.org/officeDocument/2006/relationships/font" Target="fonts/font14.fntdata"/><Relationship Id="rId26" Type="http://schemas.openxmlformats.org/officeDocument/2006/relationships/font" Target="fonts/font15.fntdata"/><Relationship Id="rId27" Type="http://schemas.openxmlformats.org/officeDocument/2006/relationships/font" Target="fonts/font16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slide" Target="slides/slide17.xml"/><Relationship Id="rId40" Type="http://schemas.openxmlformats.org/officeDocument/2006/relationships/slide" Target="slides/slide18.xml"/><Relationship Id="rId41" Type="http://schemas.openxmlformats.org/officeDocument/2006/relationships/slide" Target="slides/slide19.xml"/><Relationship Id="rId42" Type="http://schemas.openxmlformats.org/officeDocument/2006/relationships/slide" Target="slides/slide20.xml"/><Relationship Id="rId43" Type="http://schemas.openxmlformats.org/officeDocument/2006/relationships/slide" Target="slides/slide21.xml"/><Relationship Id="rId44" Type="http://schemas.openxmlformats.org/officeDocument/2006/relationships/slide" Target="slides/slide22.xml"/><Relationship Id="rId45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8" Type="http://schemas.openxmlformats.org/officeDocument/2006/relationships/slide" Target="slides/slide26.xml"/><Relationship Id="rId49" Type="http://schemas.openxmlformats.org/officeDocument/2006/relationships/slide" Target="slides/slide27.xml"/><Relationship Id="rId50" Type="http://schemas.openxmlformats.org/officeDocument/2006/relationships/slide" Target="slides/slide28.xml"/><Relationship Id="rId51" Type="http://schemas.openxmlformats.org/officeDocument/2006/relationships/slide" Target="slides/slide29.xml"/><Relationship Id="rId52" Type="http://schemas.openxmlformats.org/officeDocument/2006/relationships/slide" Target="slides/slide30.xml"/><Relationship Id="rId53" Type="http://schemas.openxmlformats.org/officeDocument/2006/relationships/slide" Target="slides/slide31.xml"/><Relationship Id="rId54" Type="http://schemas.openxmlformats.org/officeDocument/2006/relationships/slide" Target="slides/slide32.xml"/><Relationship Id="rId55" Type="http://schemas.openxmlformats.org/officeDocument/2006/relationships/slide" Target="slides/slide33.xml"/><Relationship Id="rId56" Type="http://schemas.openxmlformats.org/officeDocument/2006/relationships/slide" Target="slides/slide34.xml"/><Relationship Id="rId57" Type="http://schemas.openxmlformats.org/officeDocument/2006/relationships/slide" Target="slides/slide35.xml"/><Relationship Id="rId58" Type="http://schemas.openxmlformats.org/officeDocument/2006/relationships/slide" Target="slides/slide36.xml"/><Relationship Id="rId59" Type="http://schemas.openxmlformats.org/officeDocument/2006/relationships/slide" Target="slides/slide37.xml"/><Relationship Id="rId60" Type="http://schemas.openxmlformats.org/officeDocument/2006/relationships/slide" Target="slides/slide38.xml"/><Relationship Id="rId61" Type="http://schemas.openxmlformats.org/officeDocument/2006/relationships/slide" Target="slides/slide39.xml"/><Relationship Id="rId62" Type="http://schemas.openxmlformats.org/officeDocument/2006/relationships/slide" Target="slides/slide40.xml"/><Relationship Id="rId63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Focus">
  <p:cSld name="05 - Focus">
    <p:bg>
      <p:bgPr>
        <a:solidFill>
          <a:schemeClr val="dk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name="adj" fmla="val 355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8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1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2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>
            <a:off x="89501" y="125680"/>
            <a:ext cx="8793074" cy="4738970"/>
            <a:chOff x="89501" y="125680"/>
            <a:chExt cx="8793074" cy="4738970"/>
          </a:xfrm>
        </p:grpSpPr>
        <p:grpSp>
          <p:nvGrpSpPr>
            <p:cNvPr id="71" name="Google Shape;71;p8"/>
            <p:cNvGrpSpPr/>
            <p:nvPr/>
          </p:nvGrpSpPr>
          <p:grpSpPr>
            <a:xfrm>
              <a:off x="89501" y="125680"/>
              <a:ext cx="170063" cy="166438"/>
              <a:chOff x="6838242" y="518225"/>
              <a:chExt cx="1247708" cy="1221114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5" name="Google Shape;75;p8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6" name="Google Shape;76;p8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7" name="Google Shape;77;p8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8" name="Google Shape;78;p8"/>
              <p:cNvCxnSpPr>
                <a:stCxn id="79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0" name="Google Shape;80;p8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1" name="Google Shape;81;p8"/>
              <p:cNvCxnSpPr>
                <a:endCxn id="80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2" name="Google Shape;82;p8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 rot="-5400000" flipH="1">
                <a:off x="8499018" y="45899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3" name="Google Shape;83;p8"/>
              <p:cNvCxnSpPr>
                <a:stCxn id="82" idx="2"/>
                <a:endCxn id="80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0 - Couverture [1]">
  <p:cSld name="40 - Couverture [1]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01" name="Google Shape;101;p10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102" name="Google Shape;102;p1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5" name="Google Shape;105;p10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1097923" y="1336707"/>
            <a:ext cx="4598402" cy="1873532"/>
            <a:chOff x="2164723" y="1336707"/>
            <a:chExt cx="4598402" cy="1873532"/>
          </a:xfrm>
        </p:grpSpPr>
        <p:cxnSp>
          <p:nvCxnSpPr>
            <p:cNvPr id="108" name="Google Shape;108;p10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9" name="Google Shape;109;p10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0" name="Google Shape;110;p10"/>
            <p:cNvCxnSpPr>
              <a:endCxn id="109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1" name="Google Shape;111;p10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 rot="-5400561" flipH="1">
              <a:off x="2143273" y="1358457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3" name="Google Shape;113;p10"/>
            <p:cNvCxnSpPr>
              <a:stCxn id="111" idx="2"/>
              <a:endCxn id="109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4" name="Google Shape;114;p10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t="338" b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17" name="Google Shape;117;p10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19" name="Google Shape;119;p10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120" name="Google Shape;120;p10"/>
            <p:cNvCxnSpPr>
              <a:stCxn id="121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2" name="Google Shape;122;p10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3" name="Google Shape;123;p10"/>
            <p:cNvCxnSpPr>
              <a:endCxn id="122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" name="Google Shape;124;p10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 rot="-5400570" flipH="1">
              <a:off x="1792271" y="1738633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5" name="Google Shape;125;p10"/>
            <p:cNvCxnSpPr>
              <a:stCxn id="124" idx="2"/>
              <a:endCxn id="122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6" name="Google Shape;126;p10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0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 2">
  <p:cSld name="03 - Titre et sous-titre_1_2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>
            <a:spLocks noGrp="1"/>
          </p:cNvSpPr>
          <p:nvPr>
            <p:ph type="subTitle" idx="1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BMAD IAP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Infra as a Product Transformation Pack — synthèse de cadrage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OCTO Technology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t>v2.2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50">
                <a:solidFill>
                  <a:srgbClr val="00D2DD"/>
                </a:solidFill>
              </a:rPr>
              <a:t>EXECUTIVE SUMMARY   ·   </a:t>
            </a:r>
            <a:r>
              <a:rPr b="1" sz="1350">
                <a:solidFill>
                  <a:srgbClr val="0E2356"/>
                </a:solidFill>
              </a:rPr>
              <a:t>Une transformation à deux piliers, cadrée et mesurable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0E2356"/>
                </a:solidFill>
              </a:rPr>
              <a:t>Transformer l'infrastructure en plateforme opérée comme un produit, ET traiter structurellement le gaspillage qui l'en empêche — deux piliers non séquentiels, cadrés par une doctrine non négociable et mesurés par des KPIs dédiés.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2423160"/>
            <a:ext cx="1813941" cy="1852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2423160"/>
            <a:ext cx="64008" cy="185216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7" y="2587752"/>
            <a:ext cx="148475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2C5CC5"/>
                </a:solidFill>
              </a:rPr>
              <a:t>Doctrine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7" y="3017520"/>
            <a:ext cx="1484757" cy="11206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800" b="0" i="0">
                <a:solidFill>
                  <a:srgbClr val="0E2356"/>
                </a:solidFill>
              </a:rPr>
              <a:t>Gate IA non négociable : checkpoint humain systématique sur toute donnée client, quel que soit le mode d'exécution IA retenu.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9177" y="2423160"/>
            <a:ext cx="1813941" cy="1852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59177" y="2423160"/>
            <a:ext cx="64008" cy="185216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3769" y="2587752"/>
            <a:ext cx="148475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E6B34"/>
                </a:solidFill>
              </a:rPr>
              <a:t>Méthode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3769" y="3017520"/>
            <a:ext cx="1484757" cy="11206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800" b="0" i="0">
                <a:solidFill>
                  <a:srgbClr val="0E2356"/>
                </a:solidFill>
              </a:rPr>
              <a:t>Gaspillage traité avec un score explicite (impact × faisabilité − prudence IA) ; modèles d'équipe Team Topologies étendus aux agents IA, mandat écrit avant délégation.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5998" y="2423160"/>
            <a:ext cx="1813941" cy="1852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5998" y="2423160"/>
            <a:ext cx="64008" cy="1852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0590" y="2587752"/>
            <a:ext cx="148475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</a:rPr>
              <a:t>Maturité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0590" y="3017520"/>
            <a:ext cx="1484757" cy="11206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800" b="0" i="0">
                <a:solidFill>
                  <a:srgbClr val="0E2356"/>
                </a:solidFill>
              </a:rPr>
              <a:t>Deux échelles jamais confondues : maturité IA client (M0-M4) et grille produit/plateforme V3.2 — chacune sa lecture, son usage.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52819" y="2423160"/>
            <a:ext cx="1813941" cy="1852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52819" y="2423160"/>
            <a:ext cx="64008" cy="185216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7411" y="2587752"/>
            <a:ext cx="148475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Posture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7411" y="3017520"/>
            <a:ext cx="1484757" cy="11206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800" b="0" i="0">
                <a:solidFill>
                  <a:srgbClr val="0E2356"/>
                </a:solidFill>
              </a:rPr>
              <a:t>Niveau d'ambition A (aide au coach) assumé aujourd'hui — un choix de gouvernance, pas une limite technique subie, mesuré par 3 familles de KPIs distinctes.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Le constat</a:t>
            </a:r>
            <a:r>
              <a:rPr>
                <a:solidFill>
                  <a:srgbClr val="0E2356"/>
                </a:solidFill>
              </a:rPr>
              <a:t> — Une infrastructure vécue comme un guichet ou un centre de coûts subit la demande au lieu de la piloter : ni utilisateurs identifiés, ni feuille de route, ni levier d'adoption.</a:t>
            </a:r>
          </a:p>
          <a:p>
            <a:r>
              <a:rPr b="1">
                <a:solidFill>
                  <a:srgbClr val="0E2356"/>
                </a:solidFill>
              </a:rPr>
              <a:t>Ce que ça coûte</a:t>
            </a:r>
            <a:r>
              <a:rPr>
                <a:solidFill>
                  <a:srgbClr val="0E2356"/>
                </a:solidFill>
              </a:rPr>
              <a:t> — La capacité disponible part en gaspillage (RUN subi, ressources orphelines, experts seniors sur des tâches répétitives) — et le réflexe « plus d'outils » ou « mettons de l'IA » l'aggrave au lieu de le traiter.</a:t>
            </a:r>
          </a:p>
          <a:p>
            <a:r>
              <a:rPr b="1">
                <a:solidFill>
                  <a:srgbClr val="0E2356"/>
                </a:solidFill>
              </a:rPr>
              <a:t>Ce qu'un bon diagnostic exige</a:t>
            </a:r>
            <a:r>
              <a:rPr>
                <a:solidFill>
                  <a:srgbClr val="0E2356"/>
                </a:solidFill>
              </a:rPr>
              <a:t> — Partir des utilisateurs réels et de leurs douleurs, pas d'une réponse toute faite : c'est ce que déroulent les chapitres suivants.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E2356"/>
                </a:solidFill>
              </a:rPr>
              <a:t>Le risque n'est pas de manquer d'outils : c'est de traiter le mauvais problème</a:t>
            </a:r>
          </a:p>
        </p:txBody>
      </p:sp>
      <p:pic>
        <p:nvPicPr>
          <p:cNvPr id="4" name="Picture 3" descr="sunset_1_960x1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C5CC5"/>
                </a:solidFill>
              </a:rPr>
              <a:t>Contexte</a:t>
            </a:r>
          </a:p>
          <a:p>
            <a:r>
              <a:rPr sz="1050" i="1">
                <a:solidFill>
                  <a:srgbClr val="586586"/>
                </a:solidFill>
              </a:rPr>
              <a:t>La double mission, et pourquoi cette transformation a du sens pour un client infra maintenant.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2C5CC5"/>
                </a:solidFill>
              </a:rPr>
              <a:t>01</a:t>
            </a:r>
          </a:p>
        </p:txBody>
      </p:sp>
      <p:pic>
        <p:nvPicPr>
          <p:cNvPr id="4" name="Picture 3" descr="mountains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2C5CC5"/>
                </a:solidFill>
              </a:rPr>
              <a:t>CONTEXTE   ·   </a:t>
            </a:r>
            <a:r>
              <a:rPr b="1" sz="1700">
                <a:solidFill>
                  <a:srgbClr val="0E2356"/>
                </a:solidFill>
              </a:rPr>
              <a:t>Une double mission : transformer ET assainir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508760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508760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3524" y="1645919"/>
            <a:ext cx="340842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2C5CC5"/>
                </a:solidFill>
              </a:rPr>
              <a:t>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" y="1965960"/>
            <a:ext cx="340842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CE QU'IL VISE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0E2356"/>
                </a:solidFill>
              </a:rPr>
              <a:t>Cible produit/plateforme : utilisateurs identifiés, valeur, roadmap, engagements de qualité, gouvernance lisible.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" y="2560320"/>
            <a:ext cx="3408426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CE QU'IL FINANCE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0E2356"/>
                </a:solidFill>
              </a:rPr>
              <a:t>La vision à moyen terme — ce que le sponsor achète.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5998" y="1508760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55998" y="1508760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7166" y="1645919"/>
            <a:ext cx="340842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ASSAINIR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7166" y="1965960"/>
            <a:ext cx="340842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CE QU'IL VISE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0E2356"/>
                </a:solidFill>
              </a:rPr>
              <a:t>Traitement mesurable des gaspillages : flux, RUN, humain, financier, cognitif, décisionnel, environnemental, 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7166" y="2560320"/>
            <a:ext cx="3408426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CE QU'IL FINANCE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0E2356"/>
                </a:solidFill>
              </a:rPr>
              <a:t>La capacité récupérée finance la trajectoire produit — mécanisme instrumenté dès la première mission (KPI de réinvestissement).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" y="3291840"/>
            <a:ext cx="7804404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586586"/>
                </a:solidFill>
              </a:rPr>
              <a:t>Les deux piliers ne sont ni séquentiels ni optionnels l'un par rapport à l'autre : une cible produit sans traitement du gaspillage manque de capacité pour s'y déployer ; l'inverse reste une réduction de coûts sans vision.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3858768"/>
            <a:ext cx="2479548" cy="566928"/>
          </a:xfrm>
          <a:prstGeom prst="roundRect">
            <a:avLst>
              <a:gd name="adj" fmla="val 12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" y="3858768"/>
            <a:ext cx="2296667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</a:rPr>
              <a:t>Efficacité du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24783" y="3858768"/>
            <a:ext cx="2479548" cy="566928"/>
          </a:xfrm>
          <a:prstGeom prst="roundRect">
            <a:avLst>
              <a:gd name="adj" fmla="val 12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6224" y="3858768"/>
            <a:ext cx="2296667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</a:rPr>
              <a:t>Robustesse du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87212" y="3858768"/>
            <a:ext cx="2479548" cy="566928"/>
          </a:xfrm>
          <a:prstGeom prst="roundRect">
            <a:avLst>
              <a:gd name="adj" fmla="val 12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8652" y="3858768"/>
            <a:ext cx="2296667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</a:rPr>
              <a:t>Valeur perçue (utilisateurs internes)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50">
                <a:solidFill>
                  <a:srgbClr val="2C5CC5"/>
                </a:solidFill>
              </a:rPr>
              <a:t>CONTEXTE   ·   </a:t>
            </a:r>
            <a:r>
              <a:rPr b="1" sz="1250">
                <a:solidFill>
                  <a:srgbClr val="0E2356"/>
                </a:solidFill>
              </a:rPr>
              <a:t>Pourquoi cette transformation, pour un client infra — et maintenant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0E2356"/>
                </a:solidFill>
              </a:rPr>
              <a:t>Trois bascules rendent l'Infra-as-a-Product pertinente — et urgente — pour un client dont l'infrastructure est encore vécue comme un centre de coûts et un guichet.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645920"/>
            <a:ext cx="247954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645920"/>
            <a:ext cx="64008" cy="251460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" y="1847088"/>
            <a:ext cx="2004059" cy="211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50" b="1" i="0">
                <a:solidFill>
                  <a:srgbClr val="586586"/>
                </a:solidFill>
              </a:rPr>
              <a:t>DÉCLENCHEUR 1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1" i="0">
                <a:solidFill>
                  <a:srgbClr val="B3261E"/>
                </a:solidFill>
              </a:rPr>
              <a:t>L'infra subie n'est plus tenable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RUN subi, experts seniors drainés sur du répétitif, gaspillage cloud non maîtrisé, plateforme contournée : le coût du statu quo ne cesse de monter.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4783" y="1645920"/>
            <a:ext cx="247954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24783" y="1645920"/>
            <a:ext cx="64008" cy="251460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9104" y="1847088"/>
            <a:ext cx="2004059" cy="211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50" b="1" i="0">
                <a:solidFill>
                  <a:srgbClr val="586586"/>
                </a:solidFill>
              </a:rPr>
              <a:t>DÉCLENCHEUR 2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1" i="0">
                <a:solidFill>
                  <a:srgbClr val="1E6B34"/>
                </a:solidFill>
              </a:rPr>
              <a:t>Le modèle produit/plateforme est prouvé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Platform engineering et product operating model ne sont plus un pari mais un standard : la cible est connue, outillée, reproductible.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87212" y="1645920"/>
            <a:ext cx="247954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87212" y="1645920"/>
            <a:ext cx="64008" cy="251460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1532" y="1847088"/>
            <a:ext cx="2004059" cy="211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50" b="1" i="0">
                <a:solidFill>
                  <a:srgbClr val="586586"/>
                </a:solidFill>
              </a:rPr>
              <a:t>DÉCLENCHEUR 3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1" i="0">
                <a:solidFill>
                  <a:srgbClr val="6A3D9A"/>
                </a:solidFill>
              </a:rPr>
              <a:t>L'IA rebat les cartes — l'organisation d'abord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L'IA amplifie une organisation mûre, jamais l'inverse. S'y préparer maintenant (doctrine confidentialité-first) évite de la subir plus tard.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4325112"/>
            <a:ext cx="7804404" cy="658368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" y="4325112"/>
            <a:ext cx="73152" cy="65836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" y="4325112"/>
            <a:ext cx="7383779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E2356"/>
                </a:solidFill>
              </a:rPr>
              <a:t>Et surtout — nos deux missions répondent trait pour trait aux deux douleurs du client.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Subir le RUN → TRANSFORMER (cible produit/plateforme) ; le gaspillage → ASSAINIR (capacité récupérée réinvestie dans la trajectoire — mesuré par KPI).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38086"/>
                </a:solidFill>
              </a:rPr>
              <a:t>Personas</a:t>
            </a:r>
          </a:p>
          <a:p>
            <a:r>
              <a:rPr sz="1050" i="1">
                <a:solidFill>
                  <a:srgbClr val="586586"/>
                </a:solidFill>
              </a:rPr>
              <a:t>Quatre parties prenantes interrogées séparément — leurs voix, leurs postures, les tensions.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138086"/>
                </a:solidFill>
              </a:rPr>
              <a:t>02</a:t>
            </a:r>
          </a:p>
        </p:txBody>
      </p:sp>
      <p:pic>
        <p:nvPicPr>
          <p:cNvPr id="4" name="Picture 3" descr="forest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38086"/>
                </a:solidFill>
              </a:rPr>
              <a:t>PERSONAS   ·   </a:t>
            </a:r>
            <a:r>
              <a:rPr b="1" sz="1200">
                <a:solidFill>
                  <a:srgbClr val="0E2356"/>
                </a:solidFill>
              </a:rPr>
              <a:t>Quatre parties prenantes interrogées séparément — leur voix, leur 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Product Discovery fusionnée dans iap-product-definition en MVP1 — mais chaque partie prenante répond à la même trame, pour révéler convergences ET divergences plutôt qu'un diagnostic monolithique.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618488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618488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" y="1755648"/>
            <a:ext cx="3380994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Tient l'exploitation, subit les astreintes.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800" b="0" i="1">
                <a:solidFill>
                  <a:srgbClr val="0E2356"/>
                </a:solidFill>
              </a:rPr>
              <a:t>« Opérable sans sacrifier le delivery ? »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800" b="0" i="0">
                <a:solidFill>
                  <a:srgbClr val="586586"/>
                </a:solidFill>
              </a:rPr>
              <a:t>Subit — Experts seniors mobilisés sur du répétitif.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800" b="0" i="0">
                <a:solidFill>
                  <a:srgbClr val="2C5CC5"/>
                </a:solidFill>
              </a:rPr>
              <a:t>Vise — Capacité récupérée, RUN maîtrisé.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92958" y="2871215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2958" y="2871215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VIGILANT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5998" y="1618488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5998" y="1618488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2886" y="1755648"/>
            <a:ext cx="3380994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8086"/>
                </a:solidFill>
              </a:rPr>
              <a:t>Utilisateur applicatif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Consomme la plateforme — ou la contourne.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800" b="0" i="1">
                <a:solidFill>
                  <a:srgbClr val="0E2356"/>
                </a:solidFill>
              </a:rPr>
              <a:t>« Pourquoi adopterais-je la plateforme ? »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800" b="0" i="0">
                <a:solidFill>
                  <a:srgbClr val="586586"/>
                </a:solidFill>
              </a:rPr>
              <a:t>Subit — Guichet unique, contournement plus rapide.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800" b="0" i="0">
                <a:solidFill>
                  <a:srgbClr val="138086"/>
                </a:solidFill>
              </a:rPr>
              <a:t>Vise — Un self-service adopté par choix.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871215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871215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SCEPTIQUE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3383280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" y="3383280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" y="3520440"/>
            <a:ext cx="3380994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860B"/>
                </a:solidFill>
              </a:rPr>
              <a:t>Management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Expert devenu manager, pilote à vue.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800" b="0" i="1">
                <a:solidFill>
                  <a:srgbClr val="0E2356"/>
                </a:solidFill>
              </a:rPr>
              <a:t>« Comment piloter avec un signal fiable ? »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800" b="0" i="0">
                <a:solidFill>
                  <a:srgbClr val="586586"/>
                </a:solidFill>
              </a:rPr>
              <a:t>Subit — Reporting-miroir et micromanagement.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800" b="0" i="0">
                <a:solidFill>
                  <a:srgbClr val="B8860B"/>
                </a:solidFill>
              </a:rPr>
              <a:t>Vise — Un signal de flux de confiance.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2958" y="4636008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2958" y="4636008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ALLIÉ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55998" y="3383280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55998" y="3383280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2886" y="3520440"/>
            <a:ext cx="3380994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A3D9A"/>
                </a:solidFill>
              </a:rPr>
              <a:t>Sponsor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Porte le budget et la promesse business.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800" b="0" i="1">
                <a:solidFill>
                  <a:srgbClr val="0E2356"/>
                </a:solidFill>
              </a:rPr>
              <a:t>« Quel problème business règle-t-on ? »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800" b="0" i="0">
                <a:solidFill>
                  <a:srgbClr val="586586"/>
                </a:solidFill>
              </a:rPr>
              <a:t>Subit — Craint une transformation cosmétique.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800" b="0" i="0">
                <a:solidFill>
                  <a:srgbClr val="6A3D9A"/>
                </a:solidFill>
              </a:rPr>
              <a:t>Vise — Problème business réglé, KPIs de mission.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4636008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4636008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ALLIÉ EXIGEANT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38086"/>
                </a:solidFill>
              </a:rPr>
              <a:t>PERSONAS   ·   </a:t>
            </a:r>
            <a:r>
              <a:rPr b="1" sz="1200">
                <a:solidFill>
                  <a:srgbClr val="0E2356"/>
                </a:solidFill>
              </a:rPr>
              <a:t>Interroger chaque persona séparément révèle des tensions qu'un diagnostic fusionné lisserait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143000"/>
            <a:ext cx="7804404" cy="617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143000"/>
            <a:ext cx="54864" cy="30861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451610"/>
            <a:ext cx="54864" cy="30861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" y="1216152"/>
            <a:ext cx="2468880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860B"/>
                </a:solidFill>
              </a:rPr>
              <a:t>Management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700" b="0" i="1">
                <a:solidFill>
                  <a:srgbClr val="586586"/>
                </a:solidFill>
              </a:rPr>
              <a:t>en tension avec</a:t>
            </a:r>
          </a:p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2716" y="1216152"/>
            <a:ext cx="4786883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Le même métrique de flux, lu « signal de pilotage de confiance » d'un côté, « surveillance » de l'autre.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1869948"/>
            <a:ext cx="7804404" cy="617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2356" y="1869948"/>
            <a:ext cx="54864" cy="30861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" y="2178558"/>
            <a:ext cx="54864" cy="30861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" y="1943100"/>
            <a:ext cx="2468880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A3D9A"/>
                </a:solidFill>
              </a:rPr>
              <a:t>Sponsor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700" b="0" i="1">
                <a:solidFill>
                  <a:srgbClr val="586586"/>
                </a:solidFill>
              </a:rPr>
              <a:t>en tension avec</a:t>
            </a:r>
          </a:p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2716" y="1943100"/>
            <a:ext cx="4786883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Horizon : valeur business rapide et visible d'un côté, soulagement durable et structurel du RUN de l'autre.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2596896"/>
            <a:ext cx="7804404" cy="617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" y="2596896"/>
            <a:ext cx="54864" cy="308610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" y="2905506"/>
            <a:ext cx="54864" cy="30861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" y="2670048"/>
            <a:ext cx="2468880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8086"/>
                </a:solidFill>
              </a:rPr>
              <a:t>Utilisateur applicatif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700" b="0" i="1">
                <a:solidFill>
                  <a:srgbClr val="586586"/>
                </a:solidFill>
              </a:rPr>
              <a:t>en tension avec</a:t>
            </a:r>
          </a:p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2716" y="2670048"/>
            <a:ext cx="4786883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Self-service adopté par choix face à l'opérabilité sans sacrifier le delivery : qui absorbe le coût du self-service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" y="3323844"/>
            <a:ext cx="7804404" cy="617220"/>
          </a:xfrm>
          <a:prstGeom prst="roundRect">
            <a:avLst>
              <a:gd name="adj" fmla="val 8000"/>
            </a:avLst>
          </a:prstGeom>
          <a:solidFill>
            <a:srgbClr val="FBEEED"/>
          </a:solidFill>
          <a:ln w="1270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" y="3323844"/>
            <a:ext cx="54864" cy="30861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2356" y="3632454"/>
            <a:ext cx="54864" cy="30861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" y="3396996"/>
            <a:ext cx="2468880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A3D9A"/>
                </a:solidFill>
              </a:rPr>
              <a:t>Sponsor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700" b="0" i="1">
                <a:solidFill>
                  <a:srgbClr val="586586"/>
                </a:solidFill>
              </a:rPr>
              <a:t>en tension avec</a:t>
            </a:r>
          </a:p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3261E"/>
                </a:solidFill>
              </a:rPr>
              <a:t>RSSI</a:t>
            </a:r>
          </a:p>
          <a:p>
            <a:pPr algn="l">
              <a:spcBef>
                <a:spcPts val="300"/>
              </a:spcBef>
            </a:pPr>
            <a:r>
              <a:rPr sz="650" b="1" i="0">
                <a:solidFill>
                  <a:srgbClr val="B3261E"/>
                </a:solidFill>
              </a:rPr>
              <a:t>ANGLE MORT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2716" y="3396996"/>
            <a:ext cx="4786883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Vitesse de démonstration face au gate confidentialité, bloquant sur donnée client.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" y="4069080"/>
            <a:ext cx="7804404" cy="512064"/>
          </a:xfrm>
          <a:prstGeom prst="roundRect">
            <a:avLst>
              <a:gd name="adj" fmla="val 12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2356" y="4069080"/>
            <a:ext cx="64008" cy="512064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" y="4069080"/>
            <a:ext cx="7420356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38086"/>
                </a:solidFill>
              </a:rPr>
              <a:t>Ces tensions ne se tranchent pas — on les tient des deux bouts.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0E2356"/>
                </a:solidFill>
              </a:rPr>
              <a:t>La méthode (ch. Proposition) : la métrique de flux = signal partagé, le gate confidentialité = non négociable.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" y="4672583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586586"/>
                </a:solidFill>
              </a:rPr>
              <a:t>Angles morts, non interrogés à ce stade : le client métier consommateur des services, le RSSI (porteur du gate), le junior / nouvel arrivant.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B3261E"/>
                </a:solidFill>
              </a:rPr>
              <a:t>Besoins &amp; douleurs</a:t>
            </a:r>
          </a:p>
          <a:p>
            <a:r>
              <a:rPr sz="1050" i="1">
                <a:solidFill>
                  <a:srgbClr val="586586"/>
                </a:solidFill>
              </a:rPr>
              <a:t>Les douleurs approfondies et mesurables, et les 8 familles de gaspillage qui les rangent.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B3261E"/>
                </a:solidFill>
              </a:rPr>
              <a:t>03</a:t>
            </a:r>
          </a:p>
        </p:txBody>
      </p:sp>
      <p:pic>
        <p:nvPicPr>
          <p:cNvPr id="4" name="Picture 3" descr="ocean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B3261E"/>
                </a:solidFill>
              </a:rPr>
              <a:t>BESOINS &amp; DOULEURS   ·   </a:t>
            </a:r>
            <a:r>
              <a:rPr b="1" sz="1200">
                <a:solidFill>
                  <a:srgbClr val="0E2356"/>
                </a:solidFill>
              </a:rPr>
              <a:t>Les douleurs des clients infra : mesurables, pas des plaintes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Chaque douleur appartient à un persona et se range dans une famille de gaspillage — c'est ce qui la rend traitable plutôt que subie.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084" y="1463039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0804" y="1463039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LA DOULEUR, APPROFONDIE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62372" y="1463039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SIGNAL / MESURE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3740" y="1463039"/>
            <a:ext cx="13030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FAMILLE(S)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1700784"/>
            <a:ext cx="7804404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2356" y="1700784"/>
            <a:ext cx="54864" cy="60350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" y="1773936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0804" y="1773936"/>
            <a:ext cx="31546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RUN subi : les mêmes incidents reviennent et mobilisent les experts seniors, le BUILD est sacrifié à l'astreinte.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2372" y="1773936"/>
            <a:ext cx="158191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Tickets récurrents/mois, part du temps en RUN non maîtrisé.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3740" y="1773936"/>
            <a:ext cx="13030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C5CC5"/>
                </a:solidFill>
              </a:rPr>
              <a:t>RUN · Humain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2414015"/>
            <a:ext cx="7804404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" y="2414015"/>
            <a:ext cx="54864" cy="603504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" y="248716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138086"/>
                </a:solidFill>
              </a:rPr>
              <a:t>Utilisateur applicatif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0804" y="2487168"/>
            <a:ext cx="31546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Aucun self-service ni parcours conçu : tout passe par un guichet, le contournement (shadow IT) va plus vite que la demande officielle.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2372" y="2487168"/>
            <a:ext cx="158191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Taux de contournement, délai de mise à disposition.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3740" y="2487168"/>
            <a:ext cx="13030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138086"/>
                </a:solidFill>
              </a:rPr>
              <a:t>Flux · Cognitif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" y="3127248"/>
            <a:ext cx="7804404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2356" y="3127248"/>
            <a:ext cx="54864" cy="60350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" y="3200400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B8860B"/>
                </a:solidFill>
              </a:rPr>
              <a:t>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60804" y="3200400"/>
            <a:ext cx="31546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« Expert devenu manager malgré lui » : reporting miroir et micromanagement compensatoire, faute de signal fiable sur le flux.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2372" y="3200400"/>
            <a:ext cx="158191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Ratio temps reporting / temps résolution d'obstacles.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3740" y="3200400"/>
            <a:ext cx="13030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B8860B"/>
                </a:solidFill>
              </a:rPr>
              <a:t>Décisionnel · Humain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" y="3840479"/>
            <a:ext cx="7804404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2356" y="3840479"/>
            <a:ext cx="54864" cy="603504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" y="3913631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A3D9A"/>
                </a:solidFill>
              </a:rPr>
              <a:t>Sponsor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0804" y="3913631"/>
            <a:ext cx="31546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Pression à « mettre de l'IA » sans cas d'usage, peur d'une transformation cosmétique : beaucoup d'activité, peu de valeur démontrée.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2372" y="3913631"/>
            <a:ext cx="158191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Valeur / capacité récupérée démontrée vs promise.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3740" y="3913631"/>
            <a:ext cx="13030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A3D9A"/>
                </a:solidFill>
              </a:rPr>
              <a:t>Décisionnel · IA (gadget)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" y="4572000"/>
            <a:ext cx="78044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3261E"/>
                </a:solidFill>
              </a:rPr>
              <a:t>Ces douleurs se rangent en 8 familles de gaspillage → slide suivante.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B3261E"/>
                </a:solidFill>
              </a:rPr>
              <a:t>BESOINS &amp; DOULEURS   ·   </a:t>
            </a:r>
            <a:r>
              <a:rPr b="1" sz="1200">
                <a:solidFill>
                  <a:srgbClr val="0E2356"/>
                </a:solidFill>
              </a:rPr>
              <a:t>Les 8 familles de gaspillage — le langage commun qui rend les douleurs traitables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0E2356"/>
                </a:solidFill>
              </a:rPr>
              <a:t>Nommer la famille, c'est déjà pouvoir la détecter, la quantifier et la prioriser (méthode de traitement → chapitre Proposition).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554480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54480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" y="1609344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1. Flux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Attentes, validations multiples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5998" y="1554480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55998" y="1554480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8878" y="1609344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2. Humain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Experts seniors sur tâches répétitives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2443734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" y="2443734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" y="2498598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3. RUN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Incidents récurrents, demandes répétées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5998" y="2443734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5998" y="2443734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8878" y="2498598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4. Financier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Surdimensionnement, ressources non décommissionnées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3332988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2356" y="3332988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" y="3387852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5. Cognitif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Trop d'outils, procédures complexes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55998" y="3332988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55998" y="3332988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8878" y="3387852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6. Décisionnel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Arbitrages subjectifs, priorisation opaque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" y="4222242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2356" y="4222242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" y="4277105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7. Environnemental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Ressources inutilisées, environnements non éteints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5998" y="4222242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55998" y="4222242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8878" y="4277105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8. IA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C7CBE0"/>
                </a:solidFill>
              </a:rPr>
              <a:t>Cas d'usage gadget, automatisation sans garde-fous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6B34"/>
                </a:solidFill>
              </a:rPr>
              <a:t>Proposition</a:t>
            </a:r>
          </a:p>
          <a:p>
            <a:r>
              <a:rPr sz="1050" i="1">
                <a:solidFill>
                  <a:srgbClr val="586586"/>
                </a:solidFill>
              </a:rPr>
              <a:t>Traiter l'infra comme un produit : la thèse, la méthode scorée, des exemples, la cible et les livrables.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1E6B34"/>
                </a:solidFill>
              </a:rPr>
              <a:t>04</a:t>
            </a:r>
          </a:p>
        </p:txBody>
      </p:sp>
      <p:pic>
        <p:nvPicPr>
          <p:cNvPr id="4" name="Picture 3" descr="dunes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E6B34"/>
                </a:solidFill>
              </a:rPr>
              <a:t>PROPOSITION   ·   </a:t>
            </a:r>
            <a:r>
              <a:rPr b="1" sz="1200">
                <a:solidFill>
                  <a:srgbClr val="0E2356"/>
                </a:solidFill>
              </a:rPr>
              <a:t>Pourquoi « Infrastructure as a Product » — le socle de la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51560"/>
            <a:ext cx="7804404" cy="86868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05156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" y="1051560"/>
            <a:ext cx="7347204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356"/>
                </a:solidFill>
              </a:rPr>
              <a:t>Traiter l'infrastructure comme un produit, pas comme un guichet de tickets.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 i="0">
                <a:solidFill>
                  <a:srgbClr val="586586"/>
                </a:solidFill>
              </a:rPr>
              <a:t>Un produit a des utilisateurs, un cycle de vie et une valeur mesurée — trois bascules qui répondent directement aux personas et à leurs douleurs.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" y="2148839"/>
            <a:ext cx="247954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2356" y="2148839"/>
            <a:ext cx="64008" cy="2834640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5" y="2350008"/>
            <a:ext cx="2004059" cy="2432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38086"/>
                </a:solidFill>
              </a:rPr>
              <a:t>Des utilisateurs, pas des tickets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On conçoit l'adoption — self-service, onboarding, parcours — au lieu de subir un guichet que le contournement rend inutile.</a:t>
            </a:r>
          </a:p>
          <a:p>
            <a:pPr algn="l">
              <a:spcBef>
                <a:spcPts val="1200"/>
              </a:spcBef>
            </a:pPr>
            <a:r>
              <a:rPr sz="650" b="1" i="0">
                <a:solidFill>
                  <a:srgbClr val="586586"/>
                </a:solidFill>
              </a:rPr>
              <a:t>RÉPOND À</a:t>
            </a:r>
          </a:p>
          <a:p>
            <a:pPr algn="l">
              <a:spcBef>
                <a:spcPts val="200"/>
              </a:spcBef>
            </a:pPr>
            <a:r>
              <a:rPr sz="900" b="1" i="0">
                <a:solidFill>
                  <a:srgbClr val="138086"/>
                </a:solidFill>
              </a:rPr>
              <a:t>l'Utilisateur applicatif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4783" y="2148839"/>
            <a:ext cx="247954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24783" y="2148839"/>
            <a:ext cx="64008" cy="283464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9104" y="2350008"/>
            <a:ext cx="2004059" cy="2432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C5CC5"/>
                </a:solidFill>
              </a:rPr>
              <a:t>Un cycle de vie, une équipe qui en répond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Le produit a un propriétaire, une roadmap et une dette gérée : on sort du RUN subi et on récupère de la capacité.</a:t>
            </a:r>
          </a:p>
          <a:p>
            <a:pPr algn="l">
              <a:spcBef>
                <a:spcPts val="1200"/>
              </a:spcBef>
            </a:pPr>
            <a:r>
              <a:rPr sz="650" b="1" i="0">
                <a:solidFill>
                  <a:srgbClr val="586586"/>
                </a:solidFill>
              </a:rPr>
              <a:t>RÉPOND À</a:t>
            </a:r>
          </a:p>
          <a:p>
            <a:pPr algn="l">
              <a:spcBef>
                <a:spcPts val="200"/>
              </a:spcBef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87212" y="2148839"/>
            <a:ext cx="247954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7212" y="2148839"/>
            <a:ext cx="64008" cy="283464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1532" y="2350008"/>
            <a:ext cx="2004059" cy="2432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B8860B"/>
                </a:solidFill>
              </a:rPr>
              <a:t>Un pilotage par la valeur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On mesure l'usage et la valeur produite, pas l'activité : un signal de flux fiable, des KPIs de mission — pas du reporting-miroir.</a:t>
            </a:r>
          </a:p>
          <a:p>
            <a:pPr algn="l">
              <a:spcBef>
                <a:spcPts val="1200"/>
              </a:spcBef>
            </a:pPr>
            <a:r>
              <a:rPr sz="650" b="1" i="0">
                <a:solidFill>
                  <a:srgbClr val="586586"/>
                </a:solidFill>
              </a:rPr>
              <a:t>RÉPOND À</a:t>
            </a:r>
          </a:p>
          <a:p>
            <a:pPr algn="l">
              <a:spcBef>
                <a:spcPts val="200"/>
              </a:spcBef>
            </a:pPr>
            <a:r>
              <a:rPr sz="900" b="1" i="0">
                <a:solidFill>
                  <a:srgbClr val="B8860B"/>
                </a:solidFill>
              </a:rPr>
              <a:t>Management &amp; Sponsor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50">
                <a:solidFill>
                  <a:srgbClr val="1E6B34"/>
                </a:solidFill>
              </a:rPr>
              <a:t>PROPOSITION   ·   </a:t>
            </a:r>
            <a:r>
              <a:rPr b="1" sz="1250">
                <a:solidFill>
                  <a:srgbClr val="0E2356"/>
                </a:solidFill>
              </a:rPr>
              <a:t>Du gaspillage au backlog priorisé : chaîne de traitement +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0E2356"/>
                </a:solidFill>
              </a:rPr>
              <a:t>Chaque famille de gaspillage (chapitre précédent) passe par la même chaîne de traitement, puis reçoit un score explicite qui la classe dans un backlog priorisé — jamais un tri à l'intuition.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645919"/>
            <a:ext cx="7804404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</a:rPr>
              <a:t>CHAÎNE DE TRAITEMENT — de la détection à la prévention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1847" y="2093976"/>
            <a:ext cx="5675930" cy="18288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5543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5543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Détecter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4525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4525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1338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Qualifier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3508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3508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0321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Quantifier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82490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2490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9303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Cause racine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1473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1473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8286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Pattern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1338" y="2752344"/>
            <a:ext cx="5675930" cy="18288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35034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35034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1847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Prioriser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54017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54017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0829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Expérimenter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72999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999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9812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Mesurer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1982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1982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8794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Industrialiser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0964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0964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7777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Prévenir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" y="3456432"/>
            <a:ext cx="7804404" cy="1417320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" y="3456432"/>
            <a:ext cx="3627882" cy="1417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</a:rPr>
              <a:t>Priorité = (impact × faisabilité) − prudence IA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800" b="0" i="0">
                <a:solidFill>
                  <a:srgbClr val="C7CBE0"/>
                </a:solidFill>
              </a:rPr>
              <a:t>Le score ne remplace pas l'arbitrage humain : il rend la discussion explicite, et classe les candidats dans un backlog priorisé.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4558" y="3566160"/>
            <a:ext cx="3765041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8891B3"/>
                </a:solidFill>
              </a:rPr>
              <a:t>SCORE ILLUSTRATIF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4558" y="3803904"/>
            <a:ext cx="1097280" cy="3261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C7CBE0"/>
                </a:solidFill>
              </a:rPr>
              <a:t>Impact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0755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79043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7331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5619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3907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4558" y="4130040"/>
            <a:ext cx="1097280" cy="3261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C7CBE0"/>
                </a:solidFill>
              </a:rPr>
              <a:t>Faisabilité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0755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9043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7331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5619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3907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64558" y="4456176"/>
            <a:ext cx="1097280" cy="3261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C7CBE0"/>
                </a:solidFill>
              </a:rPr>
              <a:t>Prudence IA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0755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79043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97331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5619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3907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2356" y="1874519"/>
            <a:ext cx="128016" cy="141732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3836" y="1874519"/>
            <a:ext cx="7392924" cy="1417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6B34"/>
                </a:solidFill>
              </a:rPr>
              <a:t>PROPOSITION  ·  SOUS-CHAPITRE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3400" b="1" i="0">
                <a:solidFill>
                  <a:srgbClr val="0E2356"/>
                </a:solidFill>
              </a:rPr>
              <a:t>Exemples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050" b="0" i="1">
                <a:solidFill>
                  <a:srgbClr val="586586"/>
                </a:solidFill>
              </a:rPr>
              <a:t>La méthode en pratique — trois cas illustratifs : priorisation chiffrée, diagnostic tagué, recommandation actionnable.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00">
                <a:solidFill>
                  <a:srgbClr val="1E6B34"/>
                </a:solidFill>
              </a:rPr>
              <a:t>EXEMPLES   ·   </a:t>
            </a:r>
            <a:r>
              <a:rPr b="1" sz="1300">
                <a:solidFill>
                  <a:srgbClr val="0E2356"/>
                </a:solidFill>
              </a:rPr>
              <a:t>La priorisation en pratique : la faisabilité tempère l'impact brut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0" i="1">
                <a:solidFill>
                  <a:srgbClr val="586586"/>
                </a:solidFill>
              </a:rPr>
              <a:t>Exemple illustratif — 3 gaspillages fictifs notés sur la formule de la chaîne de traitement (plus haut dans la Proposition).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417319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2084" y="1691639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" y="169163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" y="1527048"/>
            <a:ext cx="2011680" cy="6949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Triage manuel de tickets récurrents</a:t>
            </a:r>
          </a:p>
          <a:p>
            <a:pPr algn="l">
              <a:spcBef>
                <a:spcPts val="300"/>
              </a:spcBef>
            </a:pPr>
            <a:r>
              <a:rPr sz="700" b="0" i="0">
                <a:solidFill>
                  <a:srgbClr val="586586"/>
                </a:solidFill>
              </a:rPr>
              <a:t>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4116" y="154533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IMPACT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4116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0420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6724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3028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99332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4276" y="154533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FAISABILITÉ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4276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40580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86884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3188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79492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4436" y="154533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PRUDENCE 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74436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20740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67044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3348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9652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00316" y="1655063"/>
            <a:ext cx="1266443" cy="438912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0316" y="1655063"/>
            <a:ext cx="1266443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0E2356"/>
                </a:solidFill>
              </a:rPr>
              <a:t>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" y="2441448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2084" y="2715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" y="27157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" y="2551176"/>
            <a:ext cx="2011680" cy="6949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Ressources cloud surdimensionnées, jamais décommissionnées</a:t>
            </a:r>
          </a:p>
          <a:p>
            <a:pPr algn="l">
              <a:spcBef>
                <a:spcPts val="300"/>
              </a:spcBef>
            </a:pPr>
            <a:r>
              <a:rPr sz="700" b="0" i="0">
                <a:solidFill>
                  <a:srgbClr val="586586"/>
                </a:solidFill>
              </a:rPr>
              <a:t>Financier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14116" y="256946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IMPACT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14116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60420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506724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53028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799332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4276" y="256946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FAISABILITÉ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94276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40580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786884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933188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79492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74436" y="256946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PRUDENCE IA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74436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920740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67044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13348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59652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100316" y="2679191"/>
            <a:ext cx="1266443" cy="438912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00316" y="2679191"/>
            <a:ext cx="1266443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0E2356"/>
                </a:solidFill>
              </a:rPr>
              <a:t>10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2356" y="3465576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72084" y="37398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084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" y="3575304"/>
            <a:ext cx="2011680" cy="6949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Chatbot IA gadget sur la FAQ interne</a:t>
            </a:r>
          </a:p>
          <a:p>
            <a:pPr algn="l">
              <a:spcBef>
                <a:spcPts val="300"/>
              </a:spcBef>
            </a:pPr>
            <a:r>
              <a:rPr sz="700" b="0" i="0">
                <a:solidFill>
                  <a:srgbClr val="586586"/>
                </a:solidFill>
              </a:rPr>
              <a:t>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14116" y="359359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IMPACT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14116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360420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506724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653028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799332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94276" y="359359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FAISABILITÉ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94276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640580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86884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933188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079492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74436" y="359359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PRUDENCE IA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774436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920740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067044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213348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359652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100316" y="3703320"/>
            <a:ext cx="1266443" cy="438912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00316" y="3703320"/>
            <a:ext cx="1266443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0E2356"/>
                </a:solidFill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2356" y="4517136"/>
            <a:ext cx="7804404" cy="4663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586586"/>
                </a:solidFill>
              </a:rPr>
              <a:t>#1 et #2 quasi ex-aequo malgré un impact brut très différent (la faisabilité rééquilibre) ; #3 écarté malgré sa facilité — la prudence IA pénalise un gadget à faible valeur réelle. Le score rend l'arbitrage explicite, il ne le remplace pas.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50">
                <a:solidFill>
                  <a:srgbClr val="1E6B34"/>
                </a:solidFill>
              </a:rPr>
              <a:t>EXEMPLES   ·   </a:t>
            </a:r>
            <a:r>
              <a:rPr b="1" sz="1350">
                <a:solidFill>
                  <a:srgbClr val="0E2356"/>
                </a:solidFill>
              </a:rPr>
              <a:t>Un exemple de synthèse : des verbatims tagués, pas une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0E2356"/>
                </a:solidFill>
              </a:rPr>
              <a:t>THÈME : RUN /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417319"/>
            <a:ext cx="7804404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417319"/>
            <a:ext cx="64008" cy="96012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5236" y="1545336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" y="1545336"/>
            <a:ext cx="9144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CONFIRMÉ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6795" y="1545336"/>
            <a:ext cx="6387083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Interview #4 · Équipe infra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" y="1874519"/>
            <a:ext cx="7438644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0E2356"/>
                </a:solidFill>
              </a:rPr>
              <a:t>« On reçoit les mêmes 5 types de tickets depuis 2 ans, personne n'a jamais formalisé la procédure de triage.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2487168"/>
            <a:ext cx="7804404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" y="2487168"/>
            <a:ext cx="64008" cy="9601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" y="2615184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" y="2615184"/>
            <a:ext cx="9144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DÉDUIT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6795" y="2615184"/>
            <a:ext cx="6387083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Recoupement de 3 interviews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" y="2944368"/>
            <a:ext cx="7438644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0E2356"/>
                </a:solidFill>
              </a:rPr>
              <a:t>« Le temps de triage moyen semble avoir doublé depuis le départ de l'expert référent, mais personne n'a de chiffre exact.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3584448"/>
            <a:ext cx="7804404" cy="777240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" y="3584448"/>
            <a:ext cx="7402068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Synthèse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C7CBE0"/>
                </a:solidFill>
              </a:rPr>
              <a:t>Gaspillage RUN récurrent, cause racine = process tacite jamais documenté — candidat prioritaire pour la chaîne de traitement (chapitre Proposition).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E6B34"/>
                </a:solidFill>
              </a:rPr>
              <a:t>EXEMPLES   ·   </a:t>
            </a:r>
            <a:r>
              <a:rPr b="1" sz="1200">
                <a:solidFill>
                  <a:srgbClr val="0E2356"/>
                </a:solidFill>
              </a:rPr>
              <a:t>Une recommandation type : valeur/complexité chiffrées, backlog actionnable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234439"/>
            <a:ext cx="7804404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234439"/>
            <a:ext cx="64008" cy="105156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" y="1362455"/>
            <a:ext cx="74386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RECOMMANDATION</a:t>
            </a:r>
          </a:p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0E2356"/>
                </a:solidFill>
              </a:rPr>
              <a:t>Documenter puis outiller le triage de tickets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" y="1892807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VALEUR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0683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6131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11580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67028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8436" y="1892807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COMPLEXITÉ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8436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43884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99332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54780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0228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2356" y="2468880"/>
            <a:ext cx="381076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" y="2468880"/>
            <a:ext cx="64008" cy="162763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6947" y="2596896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7" y="2596896"/>
            <a:ext cx="9144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" y="2944368"/>
            <a:ext cx="348157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E2356"/>
                </a:solidFill>
              </a:rPr>
              <a:t>Rédiger le runbook de triage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" y="3236976"/>
            <a:ext cx="348157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OWNER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0E2356"/>
                </a:solidFill>
              </a:rPr>
              <a:t>Consultant BMAD IAP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7" y="3621024"/>
            <a:ext cx="3481578" cy="3840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CRITÈRE D'ACCEPTATION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800" b="0" i="0">
                <a:solidFill>
                  <a:srgbClr val="0E2356"/>
                </a:solidFill>
              </a:rPr>
              <a:t>Runbook validé par l'équipe RUN en atelier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5998" y="2468880"/>
            <a:ext cx="381076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55998" y="2468880"/>
            <a:ext cx="64008" cy="162763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20590" y="2596896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0590" y="2596896"/>
            <a:ext cx="9144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DÉLÉGUÉ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0590" y="2944368"/>
            <a:ext cx="348157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E2356"/>
                </a:solidFill>
              </a:rPr>
              <a:t>Appliquer le runbook seule pendant 2 semaines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0590" y="3236976"/>
            <a:ext cx="348157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OWNER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0E2356"/>
                </a:solidFill>
              </a:rPr>
              <a:t>Équipe infra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0590" y="3621024"/>
            <a:ext cx="3481578" cy="3840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CRITÈRE D'ACCEPTATION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800" b="0" i="0">
                <a:solidFill>
                  <a:srgbClr val="0E2356"/>
                </a:solidFill>
              </a:rPr>
              <a:t>Aucun ticket mal routé sur l'échantillon audité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450">
                <a:solidFill>
                  <a:srgbClr val="1E6B34"/>
                </a:solidFill>
              </a:rPr>
              <a:t>PROPOSITION   ·   </a:t>
            </a:r>
            <a:r>
              <a:rPr b="1" sz="1450">
                <a:solidFill>
                  <a:srgbClr val="0E2356"/>
                </a:solidFill>
              </a:rPr>
              <a:t>La cible IAP est une Platform Team — agents IA compris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97280"/>
            <a:ext cx="1813941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0972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" y="1225295"/>
            <a:ext cx="152133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2C5CC5"/>
                </a:solidFill>
              </a:rPr>
              <a:t>Stream-aligned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" y="1627631"/>
            <a:ext cx="152133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Flux de valeur métier continu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" y="2011680"/>
            <a:ext cx="1521333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Équipes applicatives clientes de la plateforme infra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9177" y="1097280"/>
            <a:ext cx="1813941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59177" y="10972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5481" y="1225295"/>
            <a:ext cx="152133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1E6B34"/>
                </a:solidFill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5481" y="1627631"/>
            <a:ext cx="152133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Capacités en self-service (X-as-a-Service)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5481" y="2011680"/>
            <a:ext cx="1521333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La cible même de la transformation IAP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5998" y="1097280"/>
            <a:ext cx="1813941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5998" y="10972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2302" y="1225295"/>
            <a:ext cx="152133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B8860B"/>
                </a:solidFill>
              </a:rPr>
              <a:t>Enabling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2302" y="1627631"/>
            <a:ext cx="152133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Montée en compétence temporaire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2302" y="2011680"/>
            <a:ext cx="1521333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Posture du coach BMAD IAP — jamais permanente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2819" y="1097280"/>
            <a:ext cx="1813941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52819" y="10972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9123" y="1225295"/>
            <a:ext cx="152133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6A3D9A"/>
                </a:solidFill>
              </a:rPr>
              <a:t>Complicated-subsystem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9123" y="1627631"/>
            <a:ext cx="152133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Expertise pointue, compétences rares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9123" y="2011680"/>
            <a:ext cx="1521333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Un vrai sous-système complexe, pas un produit plateforme classique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" y="2679192"/>
            <a:ext cx="7804404" cy="137160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" y="2679192"/>
            <a:ext cx="7402068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Extension — les agents IA comme coéquipiers, et leur mise en œuvre (v1.7)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Un agent peut être membre d'une Stream-aligned team ou capacité exposée par la Platform Team. Aux 3 modes d'interaction Team Topologies — Collaboration, X-as-a-Service, Facilitating — s'ajoute un 4ᵉ candidat : Supervision. L'adoption suit la trajectoire Coach → Délégué (assisté → supervisé → délégué) : mandat écrit (ce que l'agent décide seul / ce qui escalade / qui répond de ses erreurs) avant tout palier au-delà de l'assisté — jamais un usage qui dérive à l'implicite.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E6B34"/>
                </a:solidFill>
              </a:rPr>
              <a:t>PROPOSITION   ·   </a:t>
            </a:r>
            <a:r>
              <a:rPr b="1" sz="1200">
                <a:solidFill>
                  <a:srgbClr val="0E2356"/>
                </a:solidFill>
              </a:rPr>
              <a:t>La Gate IA s'applique à chaque étape, de la collecte à la boucle de réévaluation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586586"/>
                </a:solidFill>
              </a:rPr>
              <a:t>Deux sources de collecte convergent vers un diagnostic structuré ; une boucle de réévaluation referme le cycle.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325880"/>
            <a:ext cx="7804404" cy="329184"/>
          </a:xfrm>
          <a:prstGeom prst="roundRect">
            <a:avLst>
              <a:gd name="adj" fmla="val 12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" y="1325880"/>
            <a:ext cx="743864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FFFFF"/>
                </a:solidFill>
              </a:rPr>
              <a:t>GATE IA &amp; CONFIDENTIALITÉ — checkpoint humain, transversal à chaque étape qui invoque un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" y="1801368"/>
            <a:ext cx="1813941" cy="45720"/>
          </a:xfrm>
          <a:prstGeom prst="rect">
            <a:avLst/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" y="1892807"/>
            <a:ext cx="18139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2C5CC5"/>
                </a:solidFill>
              </a:rPr>
              <a:t>COLLECTE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2167128"/>
            <a:ext cx="1813941" cy="132588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" y="2276856"/>
            <a:ext cx="1631061" cy="11064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Interviews par persona (trame / thème / question)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Import outils : ServiceNow/Jira/CMDB si accès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297" y="1874519"/>
            <a:ext cx="1828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58658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9177" y="1801368"/>
            <a:ext cx="1813941" cy="4572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9177" y="1892807"/>
            <a:ext cx="18139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6A3D9A"/>
                </a:solidFill>
              </a:rPr>
              <a:t>DIAGNOSTIC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9177" y="2167128"/>
            <a:ext cx="1813941" cy="132588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0617" y="2276856"/>
            <a:ext cx="1631061" cy="11064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Synthèse par thème puis synthèse globale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Registre de gaspillage (tags CONFIRMÉ/DÉDUIT/INCERTAIN)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3118" y="1874519"/>
            <a:ext cx="1828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586586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5998" y="1801368"/>
            <a:ext cx="1813941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5998" y="1892807"/>
            <a:ext cx="18139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B8860B"/>
                </a:solidFill>
              </a:rPr>
              <a:t>CONCEPTION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5998" y="2167128"/>
            <a:ext cx="1813941" cy="132588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7438" y="2276856"/>
            <a:ext cx="1631061" cy="11064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Définition produit (+ cible MVP)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Operating model + traitement du gaspillage (décisions actées)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9939" y="1874519"/>
            <a:ext cx="1828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586586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52819" y="1801368"/>
            <a:ext cx="1813941" cy="45720"/>
          </a:xfrm>
          <a:prstGeom prst="rect">
            <a:avLst/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2819" y="1892807"/>
            <a:ext cx="18139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RESTITUTION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2819" y="2167128"/>
            <a:ext cx="1813941" cy="132588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4259" y="2276856"/>
            <a:ext cx="1631061" cy="11064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Deck exécutif : axes valeur/complexité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+ radar de maturité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" y="3639312"/>
            <a:ext cx="78044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" y="3639312"/>
            <a:ext cx="743864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586586"/>
                </a:solidFill>
              </a:rPr>
              <a:t>iap-risk-reviewer — lecture seule, challenge Product definition / Operating model → Deck exécutif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" y="4133088"/>
            <a:ext cx="7804404" cy="502920"/>
          </a:xfrm>
          <a:prstGeom prst="roundRect">
            <a:avLst>
              <a:gd name="adj" fmla="val 1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" y="4133088"/>
            <a:ext cx="7438644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</a:rPr>
              <a:t>⟲ Boucle de réévaluation — iap-re-assessment, T+6-12 mois, alimente la bibliothèque de REX, reboucle vers la Collecte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1E6B34"/>
                </a:solidFill>
              </a:rPr>
              <a:t>PROPOSITION   ·   </a:t>
            </a:r>
            <a:r>
              <a:rPr b="1" sz="1700">
                <a:solidFill>
                  <a:srgbClr val="0E2356"/>
                </a:solidFill>
              </a:rPr>
              <a:t>Livrables PPT par étape — piste à valider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iap-deck-builder est cadré comme un seul deck modulaire 16 sections, produit une fois à la Restitution — la trajectoire ci-avant implique plusieurs publics et moments de décision distincts. Piste : un profil de sections par étape, pas 4 générateurs séparés.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920240"/>
            <a:ext cx="1813941" cy="2046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920240"/>
            <a:ext cx="64008" cy="204622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60" y="2048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" y="2048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" y="2048256"/>
            <a:ext cx="113728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C5CC5"/>
                </a:solidFill>
              </a:rPr>
              <a:t>Assessment flash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" y="2450592"/>
            <a:ext cx="152133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" y="2523744"/>
            <a:ext cx="15213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Sponsor, comité de lancement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" y="2761488"/>
            <a:ext cx="1521333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LIVRABLES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Deck exécutif de restitution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" y="3346704"/>
            <a:ext cx="1521333" cy="51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86586"/>
                </a:solidFill>
              </a:rPr>
              <a:t>(déjà cadré) synthèse globale, axes valeur/complexité, radar T0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9177" y="1920240"/>
            <a:ext cx="1813941" cy="2046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59177" y="1920240"/>
            <a:ext cx="64008" cy="204622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05481" y="2048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5481" y="2048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9529" y="2048256"/>
            <a:ext cx="113728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B8860B"/>
                </a:solidFill>
              </a:rPr>
              <a:t>Premier déploiement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5481" y="2450592"/>
            <a:ext cx="152133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5481" y="2523744"/>
            <a:ext cx="15213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Équipes pilotes +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5481" y="2761488"/>
            <a:ext cx="1521333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LIVRABLES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Deck de plan de déploiement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5481" y="3346704"/>
            <a:ext cx="1521333" cy="51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86586"/>
                </a:solidFill>
              </a:rPr>
              <a:t>(nouveau) Cible TOM détaillée, backlog Coach/Délégué, mandat agent 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55998" y="1920240"/>
            <a:ext cx="1813941" cy="2046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5998" y="1920240"/>
            <a:ext cx="64008" cy="204622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02302" y="2048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2302" y="2048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6350" y="2048256"/>
            <a:ext cx="113728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E6B34"/>
                </a:solidFill>
              </a:rPr>
              <a:t>Implémentation itérative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2302" y="2450592"/>
            <a:ext cx="152133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2302" y="2523744"/>
            <a:ext cx="15213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Instance de comitologie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2302" y="2761488"/>
            <a:ext cx="1521333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LIVRABLES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Deck de comité de pilotage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2302" y="3346704"/>
            <a:ext cx="1521333" cy="51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86586"/>
                </a:solidFill>
              </a:rPr>
              <a:t>(nouveau, périodique) Avancement backlog, delta KPIs, risques actifs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2819" y="1920240"/>
            <a:ext cx="1813941" cy="2046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52819" y="1920240"/>
            <a:ext cx="64008" cy="204622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99123" y="2048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9123" y="2048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3171" y="2048256"/>
            <a:ext cx="113728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B3261E"/>
                </a:solidFill>
              </a:rPr>
              <a:t>Boucle de réévaluation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9123" y="2450592"/>
            <a:ext cx="152133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9123" y="2523744"/>
            <a:ext cx="15213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Sponsor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9123" y="2761488"/>
            <a:ext cx="1521333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LIVRABLES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Deck de bilan / ré-évaluation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9123" y="3346704"/>
            <a:ext cx="1521333" cy="51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86586"/>
                </a:solidFill>
              </a:rPr>
              <a:t>(nouveau) Delta maturité T0→T+6-12, REX consolidé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600">
                <a:solidFill>
                  <a:srgbClr val="1E6B34"/>
                </a:solidFill>
              </a:rPr>
              <a:t>PROPOSITION   ·   </a:t>
            </a:r>
            <a:r>
              <a:rPr b="1" sz="1600">
                <a:solidFill>
                  <a:srgbClr val="0E2356"/>
                </a:solidFill>
              </a:rPr>
              <a:t>Trois niveaux d'ambition, pas un spectre linéaire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463039"/>
            <a:ext cx="2479548" cy="1432560"/>
          </a:xfrm>
          <a:prstGeom prst="roundRect">
            <a:avLst>
              <a:gd name="adj" fmla="val 6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463039"/>
            <a:ext cx="64008" cy="143256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" y="1600199"/>
            <a:ext cx="211378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 · Aide au coach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" y="1965960"/>
            <a:ext cx="2113788" cy="4358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E8EBF5"/>
                </a:solidFill>
              </a:rPr>
              <a:t>Génère un livrable à la demande — aucune initiative propre. Le consultant pilote à 100 %.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" y="2511552"/>
            <a:ext cx="2113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État actuel du cadrage (MVP0–MVP5)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4783" y="1463039"/>
            <a:ext cx="2479548" cy="1432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24783" y="1463039"/>
            <a:ext cx="64008" cy="14325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7664" y="1600199"/>
            <a:ext cx="211378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B8860B"/>
                </a:solidFill>
              </a:rPr>
              <a:t>B · Assistant interactif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7664" y="1965960"/>
            <a:ext cx="2113788" cy="4358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Guide pas à pas, pose des questions de clarification, signale les incohérences.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7664" y="2511552"/>
            <a:ext cx="2113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</a:rPr>
              <a:t>Palier intermédiaire, entre MVP5 et MVP6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7212" y="1463039"/>
            <a:ext cx="2479548" cy="1432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87212" y="1463039"/>
            <a:ext cx="64008" cy="143256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0092" y="1600199"/>
            <a:ext cx="211378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B3261E"/>
                </a:solidFill>
              </a:rPr>
              <a:t>C · Companion connecté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0092" y="1965960"/>
            <a:ext cx="2113788" cy="4358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Connecté en direct à ServiceNow/Jira/Confluence/Datadog/CMDB/FinOps, quasi autonome.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0092" y="2511552"/>
            <a:ext cx="2113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</a:rPr>
              <a:t>= MVP6, non engagé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" y="3060192"/>
            <a:ext cx="7804404" cy="19232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586586"/>
                </a:solidFill>
              </a:rPr>
              <a:t>Monter de A à C n'est pas qu'une question de fonctionnalités : le niveau C suppose un accès direct aux données de production du client — risque sécurité/confidentialité d'un tout autre ordre. Un cabinet peut durablement rester au niveau A ou B par choix de gouvernance, pas seulement par contrainte technique transitoire. MVP0–6 = jalons de la roadmap de mise en œuvre ; MVP6, le « companion connecté », n'est pas engagé.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E6B34"/>
                </a:solidFill>
              </a:rPr>
              <a:t>PROPOSITION   ·   </a:t>
            </a:r>
            <a:r>
              <a:rPr b="1" sz="1200">
                <a:solidFill>
                  <a:srgbClr val="0E2356"/>
                </a:solidFill>
              </a:rPr>
              <a:t>Le lien avec le SI du client change avec le niveau d'ambition, pas la méthode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97280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NIVEAU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9636" y="1097280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82796" y="1097280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MODE DE CONNEXION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8836" y="1097280"/>
            <a:ext cx="1783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" y="1371600"/>
            <a:ext cx="780440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356" y="137160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" y="1371600"/>
            <a:ext cx="896112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2C5CC5"/>
                </a:solidFill>
              </a:rPr>
              <a:t>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Aide au coach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9636" y="1371600"/>
            <a:ext cx="224027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Exports ponctuels (ServiceNow/Jira), 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2796" y="1371600"/>
            <a:ext cx="242316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Aucune — tout est apporté par le consultant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37160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Markdown + deck, à la demande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2423160"/>
            <a:ext cx="780440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" y="242316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" y="2423160"/>
            <a:ext cx="896112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</a:rPr>
              <a:t>B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Assistant interactif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9636" y="2423160"/>
            <a:ext cx="224027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Exports + App companion (capture terrain)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2796" y="2423160"/>
            <a:ext cx="242316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Site web centralisé, orchestration assistée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42316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+ tableau de bord multi-engagements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" y="3474720"/>
            <a:ext cx="780440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2356" y="347472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" y="3474720"/>
            <a:ext cx="896112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C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Companion connecté (non engagé)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9636" y="3474720"/>
            <a:ext cx="224027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ServiceNow/Jira/Confluence/Datadog/CMDB/FinOps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2796" y="3474720"/>
            <a:ext cx="242316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Connecteurs API directs, en continu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347472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Livrables mis à jour en continu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" y="4572000"/>
            <a:ext cx="7804404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586586"/>
                </a:solidFill>
              </a:rPr>
              <a:t>Le niveau C suppose un accès direct aux données de production du client — un cabinet peut durablement rester au niveau A ou B par choix de gouvernance (slide précédente).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B8860B"/>
                </a:solidFill>
              </a:rPr>
              <a:t>Démarche</a:t>
            </a:r>
          </a:p>
          <a:p>
            <a:r>
              <a:rPr sz="1050" i="1">
                <a:solidFill>
                  <a:srgbClr val="586586"/>
                </a:solidFill>
              </a:rPr>
              <a:t>La trajectoire de mise en œuvre, et la vue bout-en-bout des livrables.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B8860B"/>
                </a:solidFill>
              </a:rPr>
              <a:t>05</a:t>
            </a:r>
          </a:p>
        </p:txBody>
      </p:sp>
      <p:pic>
        <p:nvPicPr>
          <p:cNvPr id="4" name="Picture 3" descr="canyon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450">
                <a:solidFill>
                  <a:srgbClr val="B8860B"/>
                </a:solidFill>
              </a:rPr>
              <a:t>DÉMARCHE   ·   </a:t>
            </a:r>
            <a:r>
              <a:rPr b="1" sz="1450">
                <a:solidFill>
                  <a:srgbClr val="0E2356"/>
                </a:solidFill>
              </a:rPr>
              <a:t>Mise en œuvre du target operating model — piste à valider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13816" y="1383487"/>
            <a:ext cx="7301484" cy="21945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17866" y="1143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7866" y="1143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" y="1755648"/>
            <a:ext cx="181394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Assessment flash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6406" y="2084831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6406" y="2084831"/>
            <a:ext cx="10058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1–2 sem.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" y="2377439"/>
            <a:ext cx="1722501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700" b="0" i="0">
                <a:solidFill>
                  <a:srgbClr val="586586"/>
                </a:solidFill>
              </a:rPr>
              <a:t>= Schéma de fonctionnement déjà cadré (Collecte → Diagnostic → Conception → Restitution).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4687" y="1143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4687" y="1143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9177" y="1755648"/>
            <a:ext cx="181394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Premier déploiement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3227" y="2084831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3227" y="2084831"/>
            <a:ext cx="10058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4–5 sem.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4897" y="2377439"/>
            <a:ext cx="1722501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700" b="0" i="0">
                <a:solidFill>
                  <a:srgbClr val="586586"/>
                </a:solidFill>
              </a:rPr>
              <a:t>1-2 équipes pilotes, mode Coach dominant. Piste agent IA (si retenue) : qualifier, cadrer, mandater.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1508" y="1143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1508" y="1143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5998" y="1755648"/>
            <a:ext cx="181394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Implémentation itérative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60048" y="2084831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0048" y="2084831"/>
            <a:ext cx="10058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→ T+6-12 mois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1718" y="2377439"/>
            <a:ext cx="1722501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700" b="0" i="0">
                <a:solidFill>
                  <a:srgbClr val="586586"/>
                </a:solidFill>
              </a:rPr>
              <a:t>Généralisation équipe par équipe, bascule Coach → Délégué. Piste agent IA : supervisé puis délégué.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8329" y="1143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8329" y="1143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819" y="1755648"/>
            <a:ext cx="181394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Boucle de réévaluation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56869" y="2084831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6869" y="2084831"/>
            <a:ext cx="10058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T+6-12 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8539" y="2377439"/>
            <a:ext cx="1722501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700" b="0" i="0">
                <a:solidFill>
                  <a:srgbClr val="586586"/>
                </a:solidFill>
              </a:rPr>
              <a:t>iap-re-assessment reboucle vers la Collecte — alimente la bibliothèque de REX.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" y="3355848"/>
            <a:ext cx="7804404" cy="128016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" y="3355848"/>
            <a:ext cx="7438644" cy="1280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0E2356"/>
                </a:solidFill>
              </a:rPr>
              <a:t>Bifurcation avec/sans agents IA déployés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00" b="0" i="0">
                <a:solidFill>
                  <a:srgbClr val="0E2356"/>
                </a:solidFill>
              </a:rPr>
              <a:t>Le tronc commun ①→②→③→⟲ ne change pas de structure — la piste agent IA (si retenue) se greffe sur ②/③ via la démarche d'accompagnement en 5 phases déjà cadrée, plutôt que d'être un chemin séparé à maintenir. Owner proposé (non tranché) : iap-operating-model-architect + iap-change-coach sur le volet humain.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B8860B"/>
                </a:solidFill>
              </a:rPr>
              <a:t>DÉMARCHE   ·   </a:t>
            </a:r>
            <a:r>
              <a:rPr b="1" sz="1200">
                <a:solidFill>
                  <a:srgbClr val="0E2356"/>
                </a:solidFill>
              </a:rPr>
              <a:t>Comment ça fonctionne, de bout en bout : quels livrables, à quel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0" i="1">
                <a:solidFill>
                  <a:srgbClr val="586586"/>
                </a:solidFill>
              </a:rPr>
              <a:t>Assemble la trajectoire (slide précédente) et les livrables détaillés (chapitre Proposition) en une seule vue d'ensemble.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632204"/>
            <a:ext cx="7392924" cy="18288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63586" y="143560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3586" y="143560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" y="1938528"/>
            <a:ext cx="181394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E2356"/>
                </a:solidFill>
              </a:rPr>
              <a:t>Assessment flash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2126" y="221284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2126" y="2212848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1-2 sem.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2505456"/>
            <a:ext cx="1813941" cy="100584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" y="2578608"/>
            <a:ext cx="163106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" y="2779775"/>
            <a:ext cx="163106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00" b="0" i="0">
                <a:solidFill>
                  <a:srgbClr val="0E2356"/>
                </a:solidFill>
              </a:rPr>
              <a:t>·  Deck exécutif de restitution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0407" y="143560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0407" y="143560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9177" y="1938528"/>
            <a:ext cx="181394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E2356"/>
                </a:solidFill>
              </a:rPr>
              <a:t>Premier déploiement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8947" y="221284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8947" y="2212848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4-5 sem.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59177" y="2505456"/>
            <a:ext cx="1813941" cy="100584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0617" y="2578608"/>
            <a:ext cx="163106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0617" y="2779775"/>
            <a:ext cx="163106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00" b="0" i="0">
                <a:solidFill>
                  <a:srgbClr val="0E2356"/>
                </a:solidFill>
              </a:rPr>
              <a:t>·  Deck de plan de déploiement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00" b="0" i="0">
                <a:solidFill>
                  <a:srgbClr val="0E2356"/>
                </a:solidFill>
              </a:rPr>
              <a:t>·  Export markdown (1re version)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228" y="143560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228" y="143560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5998" y="1938528"/>
            <a:ext cx="181394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E2356"/>
                </a:solidFill>
              </a:rPr>
              <a:t>Implémentation itérative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05768" y="221284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5768" y="2212848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→ T+6-12 mois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5998" y="2505456"/>
            <a:ext cx="1813941" cy="100584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7438" y="2578608"/>
            <a:ext cx="163106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7438" y="2779775"/>
            <a:ext cx="163106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00" b="0" i="0">
                <a:solidFill>
                  <a:srgbClr val="0E2356"/>
                </a:solidFill>
              </a:rPr>
              <a:t>·  Deck de comité de pilotage (périodique)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54049" y="143560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54049" y="143560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2819" y="1938528"/>
            <a:ext cx="181394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E2356"/>
                </a:solidFill>
              </a:rPr>
              <a:t>Boucle de réévaluation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02589" y="221284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02589" y="2212848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T+6-12 mois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52819" y="2505456"/>
            <a:ext cx="1813941" cy="100584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4259" y="2578608"/>
            <a:ext cx="163106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4259" y="2779775"/>
            <a:ext cx="163106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00" b="0" i="0">
                <a:solidFill>
                  <a:srgbClr val="0E2356"/>
                </a:solidFill>
              </a:rPr>
              <a:t>·  Deck de bilan / ré-évaluation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00" b="0" i="0">
                <a:solidFill>
                  <a:srgbClr val="0E2356"/>
                </a:solidFill>
              </a:rPr>
              <a:t>·  Export markdown amendé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" y="3648456"/>
            <a:ext cx="7804404" cy="1188720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" y="3648456"/>
            <a:ext cx="7402068" cy="11887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Deux flux de livrables, une seule trajectoire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800" b="0" i="0">
                <a:solidFill>
                  <a:srgbClr val="C7CBE0"/>
                </a:solidFill>
              </a:rPr>
              <a:t>Le flux PPT (sponsor, comité de pilotage) et le flux markdown (équipe qui exécute) avancent en parallèle sur le même calendrier ①→②→③→⟲ — jamais deux trajectoires séparées à maintenir.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6A3D9A"/>
                </a:solidFill>
              </a:rPr>
              <a:t>IA</a:t>
            </a:r>
          </a:p>
          <a:p>
            <a:r>
              <a:rPr sz="1050" i="1">
                <a:solidFill>
                  <a:srgbClr val="586586"/>
                </a:solidFill>
              </a:rPr>
              <a:t>L'IA au service de la réponse : le gate confidentialité, la prudence, les agents candidats, l'export.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6A3D9A"/>
                </a:solidFill>
              </a:rPr>
              <a:t>06</a:t>
            </a:r>
          </a:p>
        </p:txBody>
      </p:sp>
      <p:pic>
        <p:nvPicPr>
          <p:cNvPr id="4" name="Picture 3" descr="nightsky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6A3D9A"/>
                </a:solidFill>
              </a:rPr>
              <a:t>IA   ·   </a:t>
            </a:r>
            <a:r>
              <a:rPr b="1" sz="1700">
                <a:solidFill>
                  <a:srgbClr val="0E2356"/>
                </a:solidFill>
              </a:rPr>
              <a:t>Les données du client gouvernent le choix du modèle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86586"/>
                </a:solidFill>
              </a:rPr>
              <a:t>Checkpoint toujours humain avant tout usage IA sur données client — iap-ai-data-confidentiality-gate, quel que soit le mode d'exécution retenu.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463039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2356" y="1463039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D0 ·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9676" y="1463039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Articles publics, docs méthodo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3036" y="1463039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IA externe possible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2121408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5B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" y="2121408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D1 · Interne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9676" y="2121408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Organisation macro, catalogue anonymisé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3036" y="2121408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IA client recommandée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" y="2779776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" y="2779776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D2 · Confidentiel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9676" y="2779776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Notes d'interview, reporting, portefeuille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3036" y="2779776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IA client ou LLM privé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3438144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C1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" y="3438144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D3 · Restreint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9676" y="3438144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Tickets détaillés, logs, CMDB, 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3036" y="3438144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LLM local, contrôles forts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" y="4096511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" y="4096511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D4 · Critique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9676" y="4096511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Secrets de production, données réglementées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3036" y="4096511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Local/on-prem, sans IA générative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6A3D9A"/>
                </a:solidFill>
              </a:rPr>
              <a:t>IA   ·   </a:t>
            </a:r>
            <a:r>
              <a:rPr b="1" sz="1700">
                <a:solidFill>
                  <a:srgbClr val="0E2356"/>
                </a:solidFill>
              </a:rPr>
              <a:t>La prudence IA est un frein chiffré, pas un veto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E2356"/>
                </a:solidFill>
              </a:rPr>
              <a:t>Prudence IA = confidentialité + besoin de supervision + criticité de la décision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554480"/>
            <a:ext cx="247954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544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" y="1682495"/>
            <a:ext cx="21869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2C5CC5"/>
                </a:solidFill>
              </a:rPr>
              <a:t>CONFIDENTIALITÉ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" y="2057400"/>
            <a:ext cx="21869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Reprend directement la classification du gate IA (D0-D4, slide précédente) — plus la donnée est sensible, plus le score monte.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4783" y="1554480"/>
            <a:ext cx="247954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24783" y="15544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682495"/>
            <a:ext cx="21869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B8860B"/>
                </a:solidFill>
              </a:rPr>
              <a:t>BESOIN DE SUPERVISION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1088" y="2057400"/>
            <a:ext cx="21869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Le palier d'adoption visé (assisté / supervisé / délégué) — un agent encore au stade assisté pèse plus lourd qu'un agent déjà éprouvé.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87212" y="1554480"/>
            <a:ext cx="247954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7212" y="15544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3516" y="1682495"/>
            <a:ext cx="21869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B3261E"/>
                </a:solidFill>
              </a:rPr>
              <a:t>CRITICITÉ DE LA DÉCISION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3516" y="2057400"/>
            <a:ext cx="21869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L'impact d'une erreur si l'agent se trompe seul — une recommandation réversible pèse moins qu'une décision irréversible.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3136392"/>
            <a:ext cx="7804404" cy="1051560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" y="3136392"/>
            <a:ext cx="7402068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Un frein, pas un veto automatique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800" b="0" i="0">
                <a:solidFill>
                  <a:srgbClr val="C7CBE0"/>
                </a:solidFill>
              </a:rPr>
              <a:t>Le score est SOUSTRAIT de impact × faisabilité — un candidat facile et à fort impact peut quand même être écarté si sa prudence IA est trop haute (cf. l'exemple chiffré du chapitre Proposition). Le score ne remplace pas l'arbitrage humain : il le rend explicite. Avancer malgré un score élevé reste possible, mais se documente comme une décision à part entière (même discipline que la dérogation du gate DevOps).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50">
                <a:solidFill>
                  <a:srgbClr val="6A3D9A"/>
                </a:solidFill>
              </a:rPr>
              <a:t>IA   ·   </a:t>
            </a:r>
            <a:r>
              <a:rPr b="1" sz="1350">
                <a:solidFill>
                  <a:srgbClr val="0E2356"/>
                </a:solidFill>
              </a:rPr>
              <a:t>Un agent de triage peut absorber le gaspillage RUN le plus répétitif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Agent de triage de tickets</a:t>
            </a:r>
          </a:p>
          <a:p>
            <a:pPr algn="l">
              <a:spcBef>
                <a:spcPts val="200"/>
              </a:spcBef>
            </a:pPr>
            <a:r>
              <a:rPr sz="800" b="0" i="1">
                <a:solidFill>
                  <a:srgbClr val="586586"/>
                </a:solidFill>
              </a:rPr>
              <a:t>Gaspillage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554480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54480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" y="1664207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3261E"/>
                </a:solidFill>
              </a:rPr>
              <a:t>POURQUOI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Les mêmes types de tickets reviennent depuis des années et mobilisent des experts seniors sur un travail répétitif à faible valeur — le gaspillage RUN le plus classique.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" y="2681478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356" y="2681478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" y="2791206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3261E"/>
                </a:solidFill>
              </a:rPr>
              <a:t>CE QUE FAIT L'AGENT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Lit chaque ticket entrant, le classe selon un runbook déjà documenté et le route vers la bonne équipe. Le processus doit être explicite avant l'agent (préalable non négociable) — jamais l'inverse.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3808476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" y="3808476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" y="3918204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3261E"/>
                </a:solidFill>
              </a:rPr>
              <a:t>GAIN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Capacité RUN récupérée : dans le cas nominal du cadrage, jusqu'à 15 tickets/mois traités sans intervention humaine, temps de triage divisé par deux.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50">
                <a:solidFill>
                  <a:srgbClr val="6A3D9A"/>
                </a:solidFill>
              </a:rPr>
              <a:t>IA   ·   </a:t>
            </a:r>
            <a:r>
              <a:rPr b="1" sz="1250">
                <a:solidFill>
                  <a:srgbClr val="0E2356"/>
                </a:solidFill>
              </a:rPr>
              <a:t>Un agent de veille FinOps rend le décommissionnement continu, pas ponctuel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</a:rPr>
              <a:t>Agent de veille FinOps</a:t>
            </a:r>
          </a:p>
          <a:p>
            <a:pPr algn="l">
              <a:spcBef>
                <a:spcPts val="200"/>
              </a:spcBef>
            </a:pPr>
            <a:r>
              <a:rPr sz="800" b="0" i="1">
                <a:solidFill>
                  <a:srgbClr val="586586"/>
                </a:solidFill>
              </a:rPr>
              <a:t>Gaspillage Financier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554480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54480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" y="1664207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8860B"/>
                </a:solidFill>
              </a:rPr>
              <a:t>POURQUOI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Les ressources cloud surdimensionnées ou orphelines ne sont détectées qu'à l'occasion d'audits ponctuels — le gaspillage s'accumule entre deux revues manuelles.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" y="2681478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356" y="2681478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" y="2791206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8860B"/>
                </a:solidFill>
              </a:rPr>
              <a:t>CE QUE FAIT L'AGENT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Scanne en continu la CMDB et la facturation cloud, détecte les ressources inactives ou surdimensionnées, et propose une liste de décommissionnement à valider — ne décommissionne jamais seul.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3808476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" y="3808476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" y="3918204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8860B"/>
                </a:solidFill>
              </a:rPr>
              <a:t>GAIN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Coût récupéré et directement mesurable (ressources décommissionnées par mois) — un KPI de mission déjà cadré, pas à inventer.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00">
                <a:solidFill>
                  <a:srgbClr val="6A3D9A"/>
                </a:solidFill>
              </a:rPr>
              <a:t>IA   ·   </a:t>
            </a:r>
            <a:r>
              <a:rPr b="1" sz="1300">
                <a:solidFill>
                  <a:srgbClr val="0E2356"/>
                </a:solidFill>
              </a:rPr>
              <a:t>Un agent documentaire réduit la charge cognitive sans remplacer l'expert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A3D9A"/>
                </a:solidFill>
              </a:rPr>
              <a:t>Agent documentaire (RAG)</a:t>
            </a:r>
          </a:p>
          <a:p>
            <a:pPr algn="l">
              <a:spcBef>
                <a:spcPts val="200"/>
              </a:spcBef>
            </a:pPr>
            <a:r>
              <a:rPr sz="800" b="0" i="1">
                <a:solidFill>
                  <a:srgbClr val="586586"/>
                </a:solidFill>
              </a:rPr>
              <a:t>Gaspillage Cognitif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554480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54480"/>
            <a:ext cx="54864" cy="669797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" y="1664207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6A3D9A"/>
                </a:solidFill>
              </a:rPr>
              <a:t>POURQUOI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Trop d'outils, procédures dispersées : la charge cognitive pour retrouver l'information ralentit les équipes et sollicite en permanence les mêmes experts.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" y="2681478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356" y="2681478"/>
            <a:ext cx="54864" cy="669797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" y="2791206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6A3D9A"/>
                </a:solidFill>
              </a:rPr>
              <a:t>CE QUE FAIT L'AGENT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Indexe la documentation existante (runbooks, wikis, tickets résolus) et répond aux questions fréquentes avec la source citée — jamais une réponse sans preuve.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3808476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" y="3808476"/>
            <a:ext cx="54864" cy="669797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" y="3918204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6A3D9A"/>
                </a:solidFill>
              </a:rPr>
              <a:t>GAIN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Charge cognitive réduite, onboarding plus rapide, moins d'interruptions des experts seniors pour des questions déjà documentées.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" y="4624578"/>
            <a:ext cx="7804404" cy="3589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Ces 3 candidats restent soumis au scoring (chapitre Proposition) et au gate IA (ouverture de ce chapitre) avant toute décision — des exemples illustratifs, pas une liste actée.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6A3D9A"/>
                </a:solidFill>
              </a:rPr>
              <a:t>IA   ·   </a:t>
            </a:r>
            <a:r>
              <a:rPr b="1" sz="1200">
                <a:solidFill>
                  <a:srgbClr val="0E2356"/>
                </a:solidFill>
              </a:rPr>
              <a:t>Export markdown — agentic ou documentation, selon le contexte client (piste à valider)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Pas un 5e deck PPT : un livrable markdown pour l'équipe qui exécute (versionnable, committable) — les 4 decks du chapitre Proposition restent pour sponsor et comité de pilotage.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435607"/>
            <a:ext cx="381076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435607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" y="1563624"/>
            <a:ext cx="344500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DOCUMENTATION-FIRST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" y="1892807"/>
            <a:ext cx="344500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QUAND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800" b="0" i="0">
                <a:solidFill>
                  <a:srgbClr val="0E2356"/>
                </a:solidFill>
              </a:rPr>
              <a:t>Agentic Readiness [0]-[1], données D3-D4 sans LLM local, ou score de gaspillage faible.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" y="2423160"/>
            <a:ext cx="344500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 · OWNER</a:t>
            </a:r>
          </a:p>
          <a:p>
            <a:pPr algn="l"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Runbook du processus — iap-adoption-plan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5998" y="1435607"/>
            <a:ext cx="381076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5998" y="1435607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8878" y="1563624"/>
            <a:ext cx="344500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2C5CC5"/>
                </a:solidFill>
              </a:rPr>
              <a:t>AGENTIC-IMPLEMENTATION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8878" y="1892807"/>
            <a:ext cx="344500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QUAND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800" b="0" i="0">
                <a:solidFill>
                  <a:srgbClr val="0E2356"/>
                </a:solidFill>
              </a:rPr>
              <a:t>Agentic Readiness [2]-[3], données D0-D2 (ou D3-D4 avec LLM local), score positif.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8878" y="2423160"/>
            <a:ext cx="344500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 · OWNER</a:t>
            </a:r>
          </a:p>
          <a:p>
            <a:pPr algn="l"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Plan d'implémentation agentic — iap-agentic-opportunities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2990088"/>
            <a:ext cx="2479548" cy="50292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" y="3044952"/>
            <a:ext cx="2260092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PILIER AGENTIC READINESS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[0-1] → documentation · [2-3] → agentic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24783" y="2990088"/>
            <a:ext cx="2479548" cy="50292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4512" y="3044952"/>
            <a:ext cx="2260092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DONNÉES (GATE IA)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D3-D4 sans LLM local → doc · D0-D2 → agentic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87212" y="2990088"/>
            <a:ext cx="2479548" cy="50292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96940" y="3044952"/>
            <a:ext cx="2260092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SCORE DE GASPILLAGE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faible/négatif → doc · positif → agentic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" y="3630168"/>
            <a:ext cx="7804404" cy="960120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" y="3630168"/>
            <a:ext cx="7402068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Pas un aller simple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00" b="0" i="0">
                <a:solidFill>
                  <a:srgbClr val="C7CBE0"/>
                </a:solidFill>
              </a:rPr>
              <a:t>À chaque boucle de réévaluation, le même fichier est amendé — jamais dupliqué — sur le modèle du registre de risques IA : un client documentation-first peut basculer en agentic si son Agentic Readiness progresse, et inversement en cas de perte de compétence avérée.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6A3D9A"/>
                </a:solidFill>
              </a:rPr>
              <a:t>IA   ·   </a:t>
            </a:r>
            <a:r>
              <a:rPr b="1" sz="1200">
                <a:solidFill>
                  <a:srgbClr val="0E2356"/>
                </a:solidFill>
              </a:rPr>
              <a:t>Onze agents spécialisés, un seul bloquant : le gate confidentialité les traverse tous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Un mandat unique par agent, regroupés par étape. Le gate confidentialité est le seul à pouvoir arrêter la chaîne — transversal, il précède tout usage d'un modèle IA sur donnée client.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600200"/>
            <a:ext cx="1813941" cy="2258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600200"/>
            <a:ext cx="64008" cy="225856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" y="1709928"/>
            <a:ext cx="1557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C5CC5"/>
                </a:solidFill>
              </a:rPr>
              <a:t>INTAKE</a:t>
            </a:r>
          </a:p>
          <a:p>
            <a:pPr algn="l"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1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" y="2075688"/>
            <a:ext cx="1557909" cy="715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iap-intake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Qualifie le contexte client, le positionne sur les deux échelles de maturité, puis choisit le chemin de mission : diagnostic, pilote, adoption ou gate d'abord.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9177" y="1600200"/>
            <a:ext cx="1813941" cy="2258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59177" y="1600200"/>
            <a:ext cx="64008" cy="2258568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7193" y="1709928"/>
            <a:ext cx="1557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6A3D9A"/>
                </a:solidFill>
              </a:rPr>
              <a:t>DIAGNOSTIC</a:t>
            </a:r>
          </a:p>
          <a:p>
            <a:pPr algn="l"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2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7193" y="2365883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iap-diagnostic-systemique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Structure, flux, RUN, posture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7193" y="3159252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iap-discovery-gaspillage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Preuves, causes racines, options de traitement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5998" y="1600200"/>
            <a:ext cx="1813941" cy="2258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5998" y="1600200"/>
            <a:ext cx="64008" cy="22585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4014" y="1709928"/>
            <a:ext cx="1557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B8860B"/>
                </a:solidFill>
              </a:rPr>
              <a:t>CONCEPTION</a:t>
            </a:r>
          </a:p>
          <a:p>
            <a:pPr algn="l"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4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4014" y="2075688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iap-waste-treatment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Backlog priorisé et scoré des gaspillages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4014" y="253360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iap-product-definition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Personas, capacités, valeur,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4014" y="299152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iap-operating-model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Rôles, gouvernance, financement (décisions actées)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4014" y="344944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iap-agentic-opportunities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Le gaspillage d'abord, l'IA ensuite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2819" y="1600200"/>
            <a:ext cx="1813941" cy="2258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2819" y="1600200"/>
            <a:ext cx="64008" cy="225856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0835" y="1709928"/>
            <a:ext cx="1557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E6B34"/>
                </a:solidFill>
              </a:rPr>
              <a:t>ADOPTION &amp; RESTITUTION</a:t>
            </a:r>
          </a:p>
          <a:p>
            <a:pPr algn="l"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3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0835" y="2075688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iap-adoption-plan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Onboarding, documentation, communautés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0835" y="276256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iap-scenario-playbook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Adapte la démarche au scénario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0835" y="344944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iap-deck-builder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Deck modulaire, restitution exécutive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" y="3995928"/>
            <a:ext cx="7804404" cy="548640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8660" y="41422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" y="4142232"/>
            <a:ext cx="105156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BLOQUANT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3100" y="4087368"/>
            <a:ext cx="6249924" cy="36575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iap-ai-data-confidentiality-gate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750" b="0" i="0">
                <a:solidFill>
                  <a:srgbClr val="C7CBE0"/>
                </a:solidFill>
              </a:rPr>
              <a:t>Classe les données (D0-D4), décide le mode d'exécution IA et pose les garde-fous — transversal, avant tout usage d'un modèle IA sur donnée client.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" y="4654296"/>
            <a:ext cx="7804404" cy="3291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Onze mandats distincts, un seul peut arrêter la chaîne — tous les autres proposent et produisent, la décision finale reste humaine.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C5CC5"/>
                </a:solidFill>
              </a:rPr>
              <a:t>KPI</a:t>
            </a:r>
          </a:p>
          <a:p>
            <a:r>
              <a:rPr sz="1050" i="1">
                <a:solidFill>
                  <a:srgbClr val="586586"/>
                </a:solidFill>
              </a:rPr>
              <a:t>Trois familles de KPIs à ne jamais confondre, leur mise en place, la grille de maturité, et le cas chiffré.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2C5CC5"/>
                </a:solidFill>
              </a:rPr>
              <a:t>07</a:t>
            </a:r>
          </a:p>
        </p:txBody>
      </p:sp>
      <p:pic>
        <p:nvPicPr>
          <p:cNvPr id="4" name="Picture 3" descr="meadow_1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2C5CC5"/>
                </a:solidFill>
              </a:rPr>
              <a:t>KPI   ·   </a:t>
            </a:r>
            <a:r>
              <a:rPr b="1" sz="1700">
                <a:solidFill>
                  <a:srgbClr val="0E2356"/>
                </a:solidFill>
              </a:rPr>
              <a:t>Trois familles de KPIs, à ne jamais confondre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741392"/>
            <a:ext cx="2479548" cy="25522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741392"/>
            <a:ext cx="64008" cy="2552255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6947" y="1887696"/>
            <a:ext cx="2150364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C5CC5"/>
                </a:solidFill>
              </a:rPr>
              <a:t>KPIs de mission</a:t>
            </a:r>
          </a:p>
          <a:p>
            <a:pPr algn="l">
              <a:spcBef>
                <a:spcPts val="200"/>
              </a:spcBef>
            </a:pPr>
            <a:r>
              <a:rPr sz="850" b="0" i="1">
                <a:solidFill>
                  <a:srgbClr val="586586"/>
                </a:solidFill>
              </a:rPr>
              <a:t>Côté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7" y="2472912"/>
            <a:ext cx="2150364" cy="1683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Gaspillage traité (capacité RUN récupérée)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Adoption produit (self-service)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Fiabilité &amp; coût (MTTR : délai moyen de résolution, coût/capacité)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Gouvernance IA (supervision, incidents)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Maturité (delta par pilier, T0→réévaluation)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4783" y="1741392"/>
            <a:ext cx="2479548" cy="25522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24783" y="1741392"/>
            <a:ext cx="64008" cy="2552255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9376" y="1887696"/>
            <a:ext cx="2150364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E6B34"/>
                </a:solidFill>
              </a:rPr>
              <a:t>KPIs d'usage du module</a:t>
            </a:r>
          </a:p>
          <a:p>
            <a:pPr algn="l">
              <a:spcBef>
                <a:spcPts val="200"/>
              </a:spcBef>
            </a:pPr>
            <a:r>
              <a:rPr sz="850" b="0" i="1">
                <a:solidFill>
                  <a:srgbClr val="586586"/>
                </a:solidFill>
              </a:rPr>
              <a:t>Côté cabinet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9376" y="2472912"/>
            <a:ext cx="2150364" cy="1683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Accélération (temps pour un cadrage flash)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Réutilisation (templates vs ad hoc)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Cohérence (écarts détectés par risk-reviewer)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Capitalisation (REX ajoutés)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Adoption interne (consultants, missions)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87212" y="1741392"/>
            <a:ext cx="2479548" cy="2552255"/>
          </a:xfrm>
          <a:prstGeom prst="roundRect">
            <a:avLst>
              <a:gd name="adj" fmla="val 6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87212" y="1741392"/>
            <a:ext cx="64008" cy="2552255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1804" y="1887696"/>
            <a:ext cx="2150364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</a:rPr>
              <a:t>Grille de maturité</a:t>
            </a:r>
          </a:p>
          <a:p>
            <a:pPr algn="l">
              <a:spcBef>
                <a:spcPts val="200"/>
              </a:spcBef>
            </a:pPr>
            <a:r>
              <a:rPr sz="850" b="0" i="1">
                <a:solidFill>
                  <a:srgbClr val="AEB6D4"/>
                </a:solidFill>
              </a:rPr>
              <a:t>Progression dans le temps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1804" y="2472912"/>
            <a:ext cx="2150364" cy="1683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E8EBF5"/>
                </a:solidFill>
              </a:rPr>
              <a:t>·  Delta par pilier (Excellence Tech., Agilité, IA/Agentic)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E8EBF5"/>
                </a:solidFill>
              </a:rPr>
              <a:t>·  Re-assessment T+6–12 mois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E8EBF5"/>
                </a:solidFill>
              </a:rPr>
              <a:t>·  Score de priorisation ≠ KPI de résultat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550">
                <a:solidFill>
                  <a:srgbClr val="2C5CC5"/>
                </a:solidFill>
              </a:rPr>
              <a:t>KPI   ·   </a:t>
            </a:r>
            <a:r>
              <a:rPr b="1" sz="1550">
                <a:solidFill>
                  <a:srgbClr val="0E2356"/>
                </a:solidFill>
              </a:rPr>
              <a:t>KPIs : pourquoi chaque famille, et quoi mesurer précisément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97280"/>
            <a:ext cx="7804404" cy="1222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097280"/>
            <a:ext cx="64008" cy="122224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6947" y="1207007"/>
            <a:ext cx="1554480" cy="1002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C5CC5"/>
                </a:solidFill>
              </a:rPr>
              <a:t>KPIs de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4308" y="1207007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POURQUOI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Sans eux, un deck peut être livré dans les règles sans jamais savoir si le client va réellement mieux — la « transformation cosmétique » appliquée cette fois au résultat.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70398" y="1207007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QUOI, PRÉCISÉMENT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Capacité RUN récupérée en heures/mois ; delta de MTTR en minutes ; taux de self-service sur la capacité livrée — pas un pourcentage vague.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2429256"/>
            <a:ext cx="7804404" cy="1222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2356" y="2429256"/>
            <a:ext cx="64008" cy="122224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7" y="2538984"/>
            <a:ext cx="1554480" cy="1002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E6B34"/>
                </a:solidFill>
              </a:rPr>
              <a:t>KPIs d'usage du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4308" y="2538984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POURQUOI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Le module est réutilisé mission après mission — sans mesure d'usage, impossible de distinguer une méthode qui s'améliore d'une méthode qui stagne.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0398" y="2538984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QUOI, PRÉCISÉMENT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Temps en heures consultant pour un cadrage flash ; part des livrables issus d'un template sans réécriture substantielle — pas juste « utilisé un template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3761232"/>
            <a:ext cx="7804404" cy="1222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" y="3761232"/>
            <a:ext cx="64008" cy="122224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" y="3870960"/>
            <a:ext cx="1554480" cy="1002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8860B"/>
                </a:solidFill>
              </a:rPr>
              <a:t>Grille de maturité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4308" y="3870960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POURQUOI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Sans mesure répétée dans le temps, la maturité reste une opinion de consultant, pas un delta objectivable — ce qui rend la boucle ⟲ vérifiable plutôt que déclarative.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0398" y="3870960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QUOI, PRÉCISÉMENT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Delta par pilier (pas un score agrégé qui masquerait un recul) ; même instrument (grille V3.2) à T0 et à chaque re-assessment.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2C5CC5"/>
                </a:solidFill>
              </a:rPr>
              <a:t>KPI   ·   </a:t>
            </a:r>
            <a:r>
              <a:rPr b="1" sz="1700">
                <a:solidFill>
                  <a:srgbClr val="0E2356"/>
                </a:solidFill>
              </a:rPr>
              <a:t>KPIs : comment on les met en place, concrètement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97280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097280"/>
            <a:ext cx="54864" cy="91440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" y="118872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C5CC5"/>
                </a:solidFill>
              </a:rPr>
              <a:t>KPIs de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1196" y="1188720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OWNER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iap-metrics-sre-finops-lead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2104" y="1188720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SOURCE DES DONNÉES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ServiceNow/Jira/CMDB si accès (preuves externes), sinon déclaratif — tagué DÉDUIT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3012" y="1188720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CADENCE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Continu, lu à chaque étape ②③⟲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" y="2121408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" y="2121408"/>
            <a:ext cx="54864" cy="91440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" y="2212848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E6B34"/>
                </a:solidFill>
              </a:rPr>
              <a:t>KPIs d'usage du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1196" y="2212848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OWNER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Le consultant, au fil des 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2104" y="2212848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SOURCE DES DONNÉES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Journal de mission + bibliothèque de REX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3012" y="2212848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CADENCE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Par mission, consolidé à MVP5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" y="3145536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2356" y="3145536"/>
            <a:ext cx="54864" cy="9144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" y="3236976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8860B"/>
                </a:solidFill>
              </a:rPr>
              <a:t>Grille de maturité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1196" y="3236976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OWNER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iap-strategy-lead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2104" y="3236976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SOURCE DES DONNÉES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Grille V3.2 repassée en atelier ou en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3012" y="3236976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CADENCE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T0 (① Assessment flash) puis chaque boucle 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" y="4197096"/>
            <a:ext cx="7804404" cy="77724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" y="4197096"/>
            <a:ext cx="7438644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0E2356"/>
                </a:solidFill>
              </a:rPr>
              <a:t>Pas d'instrumentation automatique en MVP1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586586"/>
                </a:solidFill>
              </a:rPr>
              <a:t>Cohérent avec le Niveau A/B assumé (§Ambition de l'outil) : recueil et rapport à la main tant qu'aucun tableau de bord temps réel n'est promis avant le Niveau C.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50">
                <a:solidFill>
                  <a:srgbClr val="2C5CC5"/>
                </a:solidFill>
              </a:rPr>
              <a:t>KPI   ·   </a:t>
            </a:r>
            <a:r>
              <a:rPr b="1" sz="1250">
                <a:solidFill>
                  <a:srgbClr val="0E2356"/>
                </a:solidFill>
              </a:rPr>
              <a:t>La grille de maturité : deux échelles distinctes, mesurées dans le temps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La 3ᵉ famille de KPIs. Deux lectures qui ne mesurent pas la même chose et se lisent séparément ; le KPI de progression, c'est le DELTA par pilier entre T0 et chaque réévaluation — pas le niveau absolu.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508760"/>
            <a:ext cx="38107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CAPACITÉ IA DU CLIENT (M0–M4)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50" b="0" i="0">
                <a:solidFill>
                  <a:srgbClr val="2C5CC5"/>
                </a:solidFill>
              </a:rPr>
              <a:t>→ gouverne le choix du modèle IA et le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" y="1984248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" y="1984248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6443" y="1984248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Pas d'IA interne utilisable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Méthodo générique, données anonymisées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2569463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" y="2569463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443" y="2569463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IA interne basique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Synthèses internes, pas d'analyse critique auto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" y="3154679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" y="3154679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6443" y="3154679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IA privée avec RAG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Diagnostic documentaire, consolidation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3739896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" y="3739896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443" y="3739896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Plateforme IA gouvernée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Workflows agentic contrôlés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" y="4325112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" y="4325112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6443" y="4325112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IA industrielle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Agents spécialisés à fort volume, contrôle humain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5998" y="1508760"/>
            <a:ext cx="38107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MATURITÉ PRODUIT / PLATEFORME (grille V3.2)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50" b="0" i="0">
                <a:solidFill>
                  <a:srgbClr val="1E6B34"/>
                </a:solidFill>
              </a:rPr>
              <a:t>→ gouverne la trajectoire de transformation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5998" y="218541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2030" y="1984248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Équipe Produit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Adjacent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5998" y="27706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2030" y="2569463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E2356"/>
                </a:solidFill>
              </a:rPr>
              <a:t>Excellence Technique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1E6B34"/>
                </a:solidFill>
              </a:rPr>
              <a:t>Cœur du périmètre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5998" y="33558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2030" y="3154679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Culture de l'Entreprise Agile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Adjacent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55998" y="3941063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2030" y="3739896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E2356"/>
                </a:solidFill>
              </a:rPr>
              <a:t>Agilité à l'Échelle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B8860B"/>
                </a:solidFill>
              </a:rPr>
              <a:t>Cœur du périmètre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5998" y="4526279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12030" y="4325112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E2356"/>
                </a:solidFill>
              </a:rPr>
              <a:t>IA, Agentic et Organisation Augmentée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6A3D9A"/>
                </a:solidFill>
              </a:rPr>
              <a:t>Où se lit l'axe IA (M0–M4)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600">
                <a:solidFill>
                  <a:srgbClr val="2C5CC5"/>
                </a:solidFill>
              </a:rPr>
              <a:t>KPI   ·   </a:t>
            </a:r>
            <a:r>
              <a:rPr b="1" sz="1600">
                <a:solidFill>
                  <a:srgbClr val="0E2356"/>
                </a:solidFill>
              </a:rPr>
              <a:t>KPIs en pratique : le cas nominal RUN massif, avant/après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0" i="1">
                <a:solidFill>
                  <a:srgbClr val="586586"/>
                </a:solidFill>
              </a:rPr>
              <a:t>Même fixture illustrative que le cas nominal de l'export markdown (chapitre IA) — pas un client réel.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417319"/>
            <a:ext cx="2606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8124" y="1417319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T0 · ① ASSESSMENT 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8052" y="1417319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T+6-12 MOIS · </a:t>
            </a:r>
            <a:r>
              <a:rPr sz="700" b="0">
                <a:solidFill>
                  <a:srgbClr val="586586"/>
                </a:solidFill>
              </a:rPr>
              <a:t>⟲</a:t>
            </a:r>
            <a:r>
              <a:rPr sz="700" b="1">
                <a:solidFill>
                  <a:srgbClr val="586586"/>
                </a:solidFill>
              </a:rPr>
              <a:t> RÉÉVALUATION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9420" y="1417319"/>
            <a:ext cx="15773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TAG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" y="2276856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" y="1709928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Pilier Agentic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8124" y="1709928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[1] — process pas assez explicite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8052" y="1709928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[2] — process explicite, rôles définis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89420" y="1874519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9420" y="1874519"/>
            <a:ext cx="100584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CONFIRMÉ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" y="2916936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" y="2350008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Tickets récurrents évités / 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8124" y="2350008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8052" y="2350008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≈ 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9420" y="251460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9420" y="2514600"/>
            <a:ext cx="100584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DÉDUIT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" y="3557015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" y="2990087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Temps de triage moyen / ticket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8124" y="2990087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25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8052" y="2990087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12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89420" y="3154679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9420" y="3154679"/>
            <a:ext cx="100584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DÉDUIT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" y="4197096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" y="3630168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Recommandation associée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124" y="3630168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Documentation-first (runbook)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8052" y="3630168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Agentic-implementation (même fichier amendé)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9420" y="3630168"/>
            <a:ext cx="15773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86586"/>
                </a:solidFill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" y="4334256"/>
            <a:ext cx="780440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586586"/>
                </a:solidFill>
              </a:rPr>
              <a:t>Le point à retenir n'est pas l'ampleur des chiffres (fixture, pas une preuve) mais la discipline de mesure : même instrument aux deux instants, tag de confiance explicite, et un KPI de maturité qui déclenche directement le changement de recommandation.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On-screen Show (16:9)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Outfit Light</vt:lpstr>
      <vt:lpstr>Century Gothic</vt:lpstr>
      <vt:lpstr>Helvetica Neue Light</vt:lpstr>
      <vt:lpstr>Outfit</vt:lpstr>
      <vt:lpstr>Outfit Medium</vt:lpstr>
      <vt:lpstr>Outfit SemiBold</vt:lpstr>
      <vt:lpstr>2026 - OCTO</vt:lpstr>
      <vt:lpstr>OCTO Technology</vt:lpstr>
      <vt:lpstr>Sommaire</vt:lpstr>
      <vt:lpstr>Contexte</vt:lpstr>
      <vt:lpstr>xxx</vt:lpstr>
      <vt:lpstr>Notre approche</vt:lpstr>
      <vt:lpstr>Notre approche </vt:lpstr>
      <vt:lpstr>Une approche contextualisée pour un premier déploiement aligné </vt:lpstr>
      <vt:lpstr>Planning des interventions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Camus, Claude</cp:lastModifiedBy>
  <cp:revision>1</cp:revision>
  <dcterms:modified xsi:type="dcterms:W3CDTF">2026-06-19T16:03:54Z</dcterms:modified>
</cp:coreProperties>
</file>