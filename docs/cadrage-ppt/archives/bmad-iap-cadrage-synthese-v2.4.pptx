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1"/>
  </p:notesMasterIdLst>
  <p:sldIdLst>
    <p:sldId id="256" r:id="rId10"/>
    <p:sldId id="257" r:id="rId9"/>
    <p:sldId id="258" r:id="rId8"/>
    <p:sldId id="259" r:id="rId7"/>
    <p:sldId id="260" r:id="rId6"/>
    <p:sldId id="261" r:id="rId5"/>
    <p:sldId id="262" r:id="rId4"/>
    <p:sldId id="263" r:id="rId3"/>
    <p:sldId id="264" r:id="rId2"/>
    <p:sldId id="265" r:id="rId32"/>
    <p:sldId id="266" r:id="rId33"/>
    <p:sldId id="267" r:id="rId34"/>
    <p:sldId id="268" r:id="rId35"/>
    <p:sldId id="269" r:id="rId36"/>
    <p:sldId id="270" r:id="rId37"/>
    <p:sldId id="271" r:id="rId38"/>
    <p:sldId id="272" r:id="rId39"/>
    <p:sldId id="273" r:id="rId40"/>
    <p:sldId id="274" r:id="rId41"/>
    <p:sldId id="275" r:id="rId42"/>
    <p:sldId id="276" r:id="rId43"/>
    <p:sldId id="277" r:id="rId44"/>
    <p:sldId id="278" r:id="rId45"/>
    <p:sldId id="279" r:id="rId46"/>
    <p:sldId id="280" r:id="rId47"/>
    <p:sldId id="281" r:id="rId48"/>
    <p:sldId id="282" r:id="rId49"/>
    <p:sldId id="283" r:id="rId50"/>
    <p:sldId id="284" r:id="rId51"/>
    <p:sldId id="285" r:id="rId52"/>
    <p:sldId id="286" r:id="rId53"/>
    <p:sldId id="287" r:id="rId54"/>
    <p:sldId id="288" r:id="rId55"/>
    <p:sldId id="289" r:id="rId56"/>
    <p:sldId id="290" r:id="rId57"/>
    <p:sldId id="291" r:id="rId58"/>
    <p:sldId id="292" r:id="rId59"/>
    <p:sldId id="293" r:id="rId60"/>
    <p:sldId id="294" r:id="rId61"/>
    <p:sldId id="295" r:id="rId62"/>
    <p:sldId id="296" r:id="rId63"/>
    <p:sldId id="297" r:id="rId64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2"/>
      <p:bold r:id="rId13"/>
      <p:italic r:id="rId14"/>
      <p:boldItalic r:id="rId15"/>
    </p:embeddedFont>
    <p:embeddedFont>
      <p:font typeface="Helvetica Neue Light" panose="020B0604020202020204" charset="0"/>
      <p:regular r:id="rId16"/>
      <p:bold r:id="rId17"/>
      <p:italic r:id="rId18"/>
      <p:boldItalic r:id="rId19"/>
    </p:embeddedFont>
    <p:embeddedFont>
      <p:font typeface="Outfit" panose="020B0604020202020204" charset="0"/>
      <p:regular r:id="rId20"/>
      <p:bold r:id="rId21"/>
    </p:embeddedFont>
    <p:embeddedFont>
      <p:font typeface="Outfit Light" panose="020B0604020202020204" charset="0"/>
      <p:regular r:id="rId22"/>
      <p:bold r:id="rId23"/>
    </p:embeddedFont>
    <p:embeddedFont>
      <p:font typeface="Outfit Medium" panose="020B0604020202020204" charset="0"/>
      <p:regular r:id="rId24"/>
      <p:bold r:id="rId25"/>
    </p:embeddedFont>
    <p:embeddedFont>
      <p:font typeface="Outfit SemiBold" panose="020B060402020202020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Relationship Id="rId20" Type="http://schemas.openxmlformats.org/officeDocument/2006/relationships/font" Target="fonts/font9.fntdata"/><Relationship Id="rId21" Type="http://schemas.openxmlformats.org/officeDocument/2006/relationships/font" Target="fonts/font10.fntdata"/><Relationship Id="rId22" Type="http://schemas.openxmlformats.org/officeDocument/2006/relationships/font" Target="fonts/font11.fntdata"/><Relationship Id="rId23" Type="http://schemas.openxmlformats.org/officeDocument/2006/relationships/font" Target="fonts/font12.fntdata"/><Relationship Id="rId24" Type="http://schemas.openxmlformats.org/officeDocument/2006/relationships/font" Target="fonts/font13.fntdata"/><Relationship Id="rId25" Type="http://schemas.openxmlformats.org/officeDocument/2006/relationships/font" Target="fonts/font14.fntdata"/><Relationship Id="rId26" Type="http://schemas.openxmlformats.org/officeDocument/2006/relationships/font" Target="fonts/font15.fntdata"/><Relationship Id="rId27" Type="http://schemas.openxmlformats.org/officeDocument/2006/relationships/font" Target="fonts/font16.fnt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0.xml"/><Relationship Id="rId33" Type="http://schemas.openxmlformats.org/officeDocument/2006/relationships/slide" Target="slides/slide11.xml"/><Relationship Id="rId34" Type="http://schemas.openxmlformats.org/officeDocument/2006/relationships/slide" Target="slides/slide12.xml"/><Relationship Id="rId35" Type="http://schemas.openxmlformats.org/officeDocument/2006/relationships/slide" Target="slides/slide13.xml"/><Relationship Id="rId36" Type="http://schemas.openxmlformats.org/officeDocument/2006/relationships/slide" Target="slides/slide14.xml"/><Relationship Id="rId37" Type="http://schemas.openxmlformats.org/officeDocument/2006/relationships/slide" Target="slides/slide15.xml"/><Relationship Id="rId38" Type="http://schemas.openxmlformats.org/officeDocument/2006/relationships/slide" Target="slides/slide16.xml"/><Relationship Id="rId39" Type="http://schemas.openxmlformats.org/officeDocument/2006/relationships/slide" Target="slides/slide17.xml"/><Relationship Id="rId40" Type="http://schemas.openxmlformats.org/officeDocument/2006/relationships/slide" Target="slides/slide18.xml"/><Relationship Id="rId41" Type="http://schemas.openxmlformats.org/officeDocument/2006/relationships/slide" Target="slides/slide19.xml"/><Relationship Id="rId42" Type="http://schemas.openxmlformats.org/officeDocument/2006/relationships/slide" Target="slides/slide20.xml"/><Relationship Id="rId43" Type="http://schemas.openxmlformats.org/officeDocument/2006/relationships/slide" Target="slides/slide21.xml"/><Relationship Id="rId44" Type="http://schemas.openxmlformats.org/officeDocument/2006/relationships/slide" Target="slides/slide22.xml"/><Relationship Id="rId45" Type="http://schemas.openxmlformats.org/officeDocument/2006/relationships/slide" Target="slides/slide23.xml"/><Relationship Id="rId46" Type="http://schemas.openxmlformats.org/officeDocument/2006/relationships/slide" Target="slides/slide24.xml"/><Relationship Id="rId47" Type="http://schemas.openxmlformats.org/officeDocument/2006/relationships/slide" Target="slides/slide25.xml"/><Relationship Id="rId48" Type="http://schemas.openxmlformats.org/officeDocument/2006/relationships/slide" Target="slides/slide26.xml"/><Relationship Id="rId49" Type="http://schemas.openxmlformats.org/officeDocument/2006/relationships/slide" Target="slides/slide27.xml"/><Relationship Id="rId50" Type="http://schemas.openxmlformats.org/officeDocument/2006/relationships/slide" Target="slides/slide28.xml"/><Relationship Id="rId51" Type="http://schemas.openxmlformats.org/officeDocument/2006/relationships/slide" Target="slides/slide29.xml"/><Relationship Id="rId52" Type="http://schemas.openxmlformats.org/officeDocument/2006/relationships/slide" Target="slides/slide30.xml"/><Relationship Id="rId53" Type="http://schemas.openxmlformats.org/officeDocument/2006/relationships/slide" Target="slides/slide31.xml"/><Relationship Id="rId54" Type="http://schemas.openxmlformats.org/officeDocument/2006/relationships/slide" Target="slides/slide32.xml"/><Relationship Id="rId55" Type="http://schemas.openxmlformats.org/officeDocument/2006/relationships/slide" Target="slides/slide33.xml"/><Relationship Id="rId56" Type="http://schemas.openxmlformats.org/officeDocument/2006/relationships/slide" Target="slides/slide34.xml"/><Relationship Id="rId57" Type="http://schemas.openxmlformats.org/officeDocument/2006/relationships/slide" Target="slides/slide35.xml"/><Relationship Id="rId58" Type="http://schemas.openxmlformats.org/officeDocument/2006/relationships/slide" Target="slides/slide36.xml"/><Relationship Id="rId59" Type="http://schemas.openxmlformats.org/officeDocument/2006/relationships/slide" Target="slides/slide37.xml"/><Relationship Id="rId60" Type="http://schemas.openxmlformats.org/officeDocument/2006/relationships/slide" Target="slides/slide38.xml"/><Relationship Id="rId61" Type="http://schemas.openxmlformats.org/officeDocument/2006/relationships/slide" Target="slides/slide39.xml"/><Relationship Id="rId62" Type="http://schemas.openxmlformats.org/officeDocument/2006/relationships/slide" Target="slides/slide40.xml"/><Relationship Id="rId63" Type="http://schemas.openxmlformats.org/officeDocument/2006/relationships/slide" Target="slides/slide41.xml"/><Relationship Id="rId64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entury Gothic"/>
              <a:buChar char="๏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entury Gothic"/>
              <a:buChar char="&gt;"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entury Gothic"/>
              <a:buChar char="+"/>
              <a:defRPr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ourier New"/>
              <a:buChar char="o"/>
              <a:defRPr sz="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entury Gothic"/>
              <a:buChar char="○"/>
              <a:defRPr sz="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Century Gothic"/>
              <a:buChar char="○"/>
              <a:defRPr sz="7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6 - Slide vide">
  <p:cSld name="06 - Slide vide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2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20" name="Google Shape;20;p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3" name="Google Shape;23;p2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24" name="Google Shape;24;p2"/>
          <p:cNvCxnSpPr>
            <a:stCxn id="25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2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7" name="Google Shape;27;p2"/>
          <p:cNvCxnSpPr>
            <a:endCxn id="26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2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" name="Google Shape;25;p2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9" name="Google Shape;29;p2"/>
          <p:cNvCxnSpPr>
            <a:stCxn id="28" idx="2"/>
            <a:endCxn id="26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- Titre, sous-titre et contenu">
  <p:cSld name="01 - Titre, sous-titre et contenu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body" idx="1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2"/>
          </p:nvPr>
        </p:nvSpPr>
        <p:spPr>
          <a:xfrm>
            <a:off x="567950" y="773825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0 - Chapitre [1]">
  <p:cSld name="50 - Chapitre [1]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457625" y="1226750"/>
            <a:ext cx="499500" cy="433200"/>
          </a:xfrm>
          <a:prstGeom prst="round1Rect">
            <a:avLst>
              <a:gd name="adj" fmla="val 5000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700" b="1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" name="Google Shape;38;p4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9" name="Google Shape;39;p4"/>
          <p:cNvGrpSpPr/>
          <p:nvPr/>
        </p:nvGrpSpPr>
        <p:grpSpPr>
          <a:xfrm>
            <a:off x="3171776" y="1360130"/>
            <a:ext cx="170063" cy="166438"/>
            <a:chOff x="6838242" y="518225"/>
            <a:chExt cx="1247708" cy="1221114"/>
          </a:xfrm>
        </p:grpSpPr>
        <p:sp>
          <p:nvSpPr>
            <p:cNvPr id="40" name="Google Shape;40;p4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43" name="Google Shape;43;p4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44" name="Google Shape;44;p4"/>
          <p:cNvCxnSpPr>
            <a:stCxn id="45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4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7" name="Google Shape;47;p4"/>
          <p:cNvCxnSpPr>
            <a:endCxn id="46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4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" name="Google Shape;45;p4"/>
          <p:cNvSpPr/>
          <p:nvPr/>
        </p:nvSpPr>
        <p:spPr>
          <a:xfrm rot="-5400000" flipH="1">
            <a:off x="85760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9" name="Google Shape;49;p4"/>
          <p:cNvCxnSpPr>
            <a:stCxn id="48" idx="2"/>
            <a:endCxn id="46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50;p4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" name="Google Shape;51;p4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2277075" y="23278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lang="en-US"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sz="1400" b="0" i="0" u="none" strike="noStrike" cap="non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3" name="Google Shape;53;p4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4" name="Google Shape;54;p4"/>
          <p:cNvSpPr/>
          <p:nvPr/>
        </p:nvSpPr>
        <p:spPr>
          <a:xfrm rot="-5400000">
            <a:off x="3014525" y="1216850"/>
            <a:ext cx="433200" cy="453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799">
          <p15:clr>
            <a:srgbClr val="FA7B17"/>
          </p15:clr>
        </p15:guide>
        <p15:guide id="2" pos="5625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- Titre et contenu">
  <p:cSld name="02 - Titre et contenu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>
            <a:spLocks noGrp="1"/>
          </p:cNvSpPr>
          <p:nvPr>
            <p:ph type="body" idx="1"/>
          </p:nvPr>
        </p:nvSpPr>
        <p:spPr>
          <a:xfrm>
            <a:off x="578425" y="817575"/>
            <a:ext cx="7929000" cy="4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title"/>
          </p:nvPr>
        </p:nvSpPr>
        <p:spPr>
          <a:xfrm>
            <a:off x="562500" y="361400"/>
            <a:ext cx="792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- Titre et sous-titre">
  <p:cSld name="03 - Titre et sous-titr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>
            <a:spLocks noGrp="1"/>
          </p:cNvSpPr>
          <p:nvPr>
            <p:ph type="subTitle" idx="1"/>
          </p:nvPr>
        </p:nvSpPr>
        <p:spPr>
          <a:xfrm>
            <a:off x="571500" y="7791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- Titre seul">
  <p:cSld name="04 - Titre seu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 - Focus">
  <p:cSld name="05 - Focus">
    <p:bg>
      <p:bgPr>
        <a:solidFill>
          <a:schemeClr val="dk2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>
            <a:off x="185625" y="210050"/>
            <a:ext cx="190500" cy="17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276300" y="292125"/>
            <a:ext cx="8591400" cy="4571700"/>
          </a:xfrm>
          <a:prstGeom prst="roundRect">
            <a:avLst>
              <a:gd name="adj" fmla="val 355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6" name="Google Shape;66;p8"/>
          <p:cNvSpPr/>
          <p:nvPr/>
        </p:nvSpPr>
        <p:spPr>
          <a:xfrm rot="-5400000">
            <a:off x="-1143306" y="34836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67" name="Google Shape;67;p8"/>
          <p:cNvSpPr txBox="1">
            <a:spLocks noGrp="1"/>
          </p:cNvSpPr>
          <p:nvPr>
            <p:ph type="subTitle" idx="1"/>
          </p:nvPr>
        </p:nvSpPr>
        <p:spPr>
          <a:xfrm>
            <a:off x="571500" y="778000"/>
            <a:ext cx="7884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563300" y="361275"/>
            <a:ext cx="7884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body" idx="2"/>
          </p:nvPr>
        </p:nvSpPr>
        <p:spPr>
          <a:xfrm>
            <a:off x="571500" y="1273150"/>
            <a:ext cx="7884000" cy="3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70" name="Google Shape;70;p8"/>
          <p:cNvGrpSpPr/>
          <p:nvPr/>
        </p:nvGrpSpPr>
        <p:grpSpPr>
          <a:xfrm>
            <a:off x="89501" y="125680"/>
            <a:ext cx="8793074" cy="4738970"/>
            <a:chOff x="89501" y="125680"/>
            <a:chExt cx="8793074" cy="4738970"/>
          </a:xfrm>
        </p:grpSpPr>
        <p:grpSp>
          <p:nvGrpSpPr>
            <p:cNvPr id="71" name="Google Shape;71;p8"/>
            <p:cNvGrpSpPr/>
            <p:nvPr/>
          </p:nvGrpSpPr>
          <p:grpSpPr>
            <a:xfrm>
              <a:off x="89501" y="125680"/>
              <a:ext cx="170063" cy="166438"/>
              <a:chOff x="6838242" y="518225"/>
              <a:chExt cx="1247708" cy="1221114"/>
            </a:xfrm>
          </p:grpSpPr>
          <p:sp>
            <p:nvSpPr>
              <p:cNvPr id="72" name="Google Shape;72;p8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3" name="Google Shape;73;p8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4" name="Google Shape;74;p8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75" name="Google Shape;75;p8"/>
            <p:cNvSpPr/>
            <p:nvPr/>
          </p:nvSpPr>
          <p:spPr>
            <a:xfrm>
              <a:off x="8441325" y="4438950"/>
              <a:ext cx="425700" cy="425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grpSp>
          <p:nvGrpSpPr>
            <p:cNvPr id="76" name="Google Shape;76;p8"/>
            <p:cNvGrpSpPr/>
            <p:nvPr/>
          </p:nvGrpSpPr>
          <p:grpSpPr>
            <a:xfrm>
              <a:off x="8383075" y="4575725"/>
              <a:ext cx="499500" cy="228600"/>
              <a:chOff x="8383075" y="4575725"/>
              <a:chExt cx="499500" cy="228600"/>
            </a:xfrm>
          </p:grpSpPr>
          <p:sp>
            <p:nvSpPr>
              <p:cNvPr id="77" name="Google Shape;77;p8"/>
              <p:cNvSpPr txBox="1"/>
              <p:nvPr/>
            </p:nvSpPr>
            <p:spPr>
              <a:xfrm>
                <a:off x="8383075" y="45757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lang="en-US" sz="800" b="0" i="0" u="none" strike="noStrike" cap="non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lang="en-US" sz="800" b="0" i="0" u="none" strike="noStrike" cap="non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78" name="Google Shape;78;p8"/>
              <p:cNvCxnSpPr>
                <a:stCxn id="79" idx="2"/>
              </p:cNvCxnSpPr>
              <p:nvPr/>
            </p:nvCxnSpPr>
            <p:spPr>
              <a:xfrm>
                <a:off x="8599834" y="4788444"/>
                <a:ext cx="191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0" name="Google Shape;80;p8"/>
              <p:cNvSpPr/>
              <p:nvPr/>
            </p:nvSpPr>
            <p:spPr>
              <a:xfrm>
                <a:off x="8586528" y="4591515"/>
                <a:ext cx="200700" cy="196200"/>
              </a:xfrm>
              <a:prstGeom prst="arc">
                <a:avLst>
                  <a:gd name="adj1" fmla="val 16241889"/>
                  <a:gd name="adj2" fmla="val 167312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81" name="Google Shape;81;p8"/>
              <p:cNvCxnSpPr>
                <a:endCxn id="80" idx="2"/>
              </p:cNvCxnSpPr>
              <p:nvPr/>
            </p:nvCxnSpPr>
            <p:spPr>
              <a:xfrm rot="10800000">
                <a:off x="8787104" y="4694497"/>
                <a:ext cx="0" cy="98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2" name="Google Shape;82;p8"/>
              <p:cNvSpPr/>
              <p:nvPr/>
            </p:nvSpPr>
            <p:spPr>
              <a:xfrm rot="-5400000">
                <a:off x="8499018" y="4593851"/>
                <a:ext cx="200700" cy="196200"/>
              </a:xfrm>
              <a:prstGeom prst="arc">
                <a:avLst>
                  <a:gd name="adj1" fmla="val 16241889"/>
                  <a:gd name="adj2" fmla="val 11524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9" name="Google Shape;79;p8"/>
              <p:cNvSpPr/>
              <p:nvPr/>
            </p:nvSpPr>
            <p:spPr>
              <a:xfrm rot="-5400000" flipH="1">
                <a:off x="8499018" y="4589995"/>
                <a:ext cx="200700" cy="196200"/>
              </a:xfrm>
              <a:prstGeom prst="arc">
                <a:avLst>
                  <a:gd name="adj1" fmla="val 16241889"/>
                  <a:gd name="adj2" fmla="val 15973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83" name="Google Shape;83;p8"/>
              <p:cNvCxnSpPr>
                <a:stCxn id="82" idx="2"/>
                <a:endCxn id="80" idx="0"/>
              </p:cNvCxnSpPr>
              <p:nvPr/>
            </p:nvCxnSpPr>
            <p:spPr>
              <a:xfrm>
                <a:off x="8599704" y="4591602"/>
                <a:ext cx="885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7 - Slide vide fond foncé">
  <p:cSld name="07 - Slide vide fond foncé"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9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86" name="Google Shape;86;p9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7" name="Google Shape;87;p9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8" name="Google Shape;88;p9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89" name="Google Shape;89;p9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90" name="Google Shape;90;p9"/>
          <p:cNvCxnSpPr>
            <a:stCxn id="91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" name="Google Shape;92;p9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3" name="Google Shape;93;p9"/>
          <p:cNvCxnSpPr>
            <a:endCxn id="92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" name="Google Shape;94;p9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1" name="Google Shape;91;p9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5" name="Google Shape;95;p9"/>
          <p:cNvCxnSpPr>
            <a:stCxn id="94" idx="2"/>
            <a:endCxn id="92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6" name="Google Shape;96;p9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7" name="Google Shape;97;p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0 - Couverture [1]">
  <p:cSld name="40 - Couverture [1]"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100" name="Google Shape;100;p10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b="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01" name="Google Shape;101;p10"/>
          <p:cNvGrpSpPr/>
          <p:nvPr/>
        </p:nvGrpSpPr>
        <p:grpSpPr>
          <a:xfrm>
            <a:off x="276293" y="292119"/>
            <a:ext cx="345989" cy="338615"/>
            <a:chOff x="6838242" y="518225"/>
            <a:chExt cx="1247708" cy="1221114"/>
          </a:xfrm>
        </p:grpSpPr>
        <p:sp>
          <p:nvSpPr>
            <p:cNvPr id="102" name="Google Shape;102;p10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3" name="Google Shape;103;p10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4" name="Google Shape;104;p10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5" name="Google Shape;105;p10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sz="600" b="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07" name="Google Shape;107;p10"/>
          <p:cNvGrpSpPr/>
          <p:nvPr/>
        </p:nvGrpSpPr>
        <p:grpSpPr>
          <a:xfrm>
            <a:off x="1097923" y="1336707"/>
            <a:ext cx="4598402" cy="1873532"/>
            <a:chOff x="2164723" y="1336707"/>
            <a:chExt cx="4598402" cy="1873532"/>
          </a:xfrm>
        </p:grpSpPr>
        <p:cxnSp>
          <p:nvCxnSpPr>
            <p:cNvPr id="108" name="Google Shape;108;p10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9" name="Google Shape;109;p10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0" name="Google Shape;110;p10"/>
            <p:cNvCxnSpPr>
              <a:endCxn id="109" idx="2"/>
            </p:cNvCxnSpPr>
            <p:nvPr/>
          </p:nvCxnSpPr>
          <p:spPr>
            <a:xfrm rot="10800000">
              <a:off x="6761983" y="2313859"/>
              <a:ext cx="0" cy="8616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1" name="Google Shape;111;p10"/>
            <p:cNvSpPr/>
            <p:nvPr/>
          </p:nvSpPr>
          <p:spPr>
            <a:xfrm rot="-5399439">
              <a:off x="2143273" y="1392988"/>
              <a:ext cx="1838700" cy="17955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12" name="Google Shape;112;p10"/>
            <p:cNvSpPr/>
            <p:nvPr/>
          </p:nvSpPr>
          <p:spPr>
            <a:xfrm rot="-5400561" flipH="1">
              <a:off x="2143273" y="1358457"/>
              <a:ext cx="1838700" cy="17955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3" name="Google Shape;113;p10"/>
            <p:cNvCxnSpPr>
              <a:stCxn id="111" idx="2"/>
              <a:endCxn id="109" idx="0"/>
            </p:cNvCxnSpPr>
            <p:nvPr/>
          </p:nvCxnSpPr>
          <p:spPr>
            <a:xfrm>
              <a:off x="3065855" y="1371394"/>
              <a:ext cx="27888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14" name="Google Shape;114;p10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I PART OF ACCENTURE</a:t>
            </a:r>
            <a:endParaRPr sz="600" b="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pic>
        <p:nvPicPr>
          <p:cNvPr id="115" name="Google Shape;115;p10"/>
          <p:cNvPicPr preferRelativeResize="0"/>
          <p:nvPr/>
        </p:nvPicPr>
        <p:blipFill rotWithShape="1">
          <a:blip r:embed="rId3">
            <a:alphaModFix/>
          </a:blip>
          <a:srcRect t="338" b="338"/>
          <a:stretch/>
        </p:blipFill>
        <p:spPr>
          <a:xfrm>
            <a:off x="5866738" y="2120950"/>
            <a:ext cx="1724025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0"/>
          <p:cNvSpPr txBox="1">
            <a:spLocks noGrp="1"/>
          </p:cNvSpPr>
          <p:nvPr>
            <p:ph type="title"/>
          </p:nvPr>
        </p:nvSpPr>
        <p:spPr>
          <a:xfrm>
            <a:off x="1657350" y="1619250"/>
            <a:ext cx="3648000" cy="13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sz="200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17" name="Google Shape;117;p10"/>
          <p:cNvSpPr txBox="1">
            <a:spLocks noGrp="1"/>
          </p:cNvSpPr>
          <p:nvPr>
            <p:ph type="subTitle" idx="1"/>
          </p:nvPr>
        </p:nvSpPr>
        <p:spPr>
          <a:xfrm>
            <a:off x="1657350" y="2668200"/>
            <a:ext cx="3648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>
            <a:endParaRPr/>
          </a:p>
        </p:txBody>
      </p:sp>
      <p:sp>
        <p:nvSpPr>
          <p:cNvPr id="118" name="Google Shape;118;p10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19" name="Google Shape;119;p10"/>
          <p:cNvGrpSpPr/>
          <p:nvPr/>
        </p:nvGrpSpPr>
        <p:grpSpPr>
          <a:xfrm rot="10800000">
            <a:off x="4572194" y="3152705"/>
            <a:ext cx="2605006" cy="616888"/>
            <a:chOff x="2164721" y="1365883"/>
            <a:chExt cx="4598421" cy="1890555"/>
          </a:xfrm>
        </p:grpSpPr>
        <p:cxnSp>
          <p:nvCxnSpPr>
            <p:cNvPr id="120" name="Google Shape;120;p10"/>
            <p:cNvCxnSpPr>
              <a:stCxn id="121" idx="2"/>
            </p:cNvCxnSpPr>
            <p:nvPr/>
          </p:nvCxnSpPr>
          <p:spPr>
            <a:xfrm>
              <a:off x="2699642" y="3175623"/>
              <a:ext cx="40635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2" name="Google Shape;122;p10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23" name="Google Shape;123;p10"/>
            <p:cNvCxnSpPr>
              <a:endCxn id="122" idx="2"/>
            </p:cNvCxnSpPr>
            <p:nvPr/>
          </p:nvCxnSpPr>
          <p:spPr>
            <a:xfrm rot="10800000">
              <a:off x="6762341" y="2147223"/>
              <a:ext cx="0" cy="10287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4" name="Google Shape;124;p10"/>
            <p:cNvSpPr/>
            <p:nvPr/>
          </p:nvSpPr>
          <p:spPr>
            <a:xfrm rot="-5399453">
              <a:off x="1791865" y="1744138"/>
              <a:ext cx="1885200" cy="11391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21" name="Google Shape;121;p10"/>
            <p:cNvSpPr/>
            <p:nvPr/>
          </p:nvSpPr>
          <p:spPr>
            <a:xfrm rot="-5400570" flipH="1">
              <a:off x="1792271" y="1738633"/>
              <a:ext cx="1809600" cy="10644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25" name="Google Shape;125;p10"/>
            <p:cNvCxnSpPr>
              <a:stCxn id="124" idx="2"/>
              <a:endCxn id="122" idx="0"/>
            </p:cNvCxnSpPr>
            <p:nvPr/>
          </p:nvCxnSpPr>
          <p:spPr>
            <a:xfrm>
              <a:off x="2736435" y="1371094"/>
              <a:ext cx="3585300" cy="3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126" name="Google Shape;126;p10"/>
          <p:cNvCxnSpPr/>
          <p:nvPr/>
        </p:nvCxnSpPr>
        <p:spPr>
          <a:xfrm>
            <a:off x="5567313" y="3411150"/>
            <a:ext cx="0" cy="9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" name="Google Shape;127;p10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28" name="Google Shape;128;p10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1 - Couverture [2]">
  <p:cSld name="41 - Couverture [2]">
    <p:bg>
      <p:bgPr>
        <a:solidFill>
          <a:schemeClr val="dk1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 txBox="1">
            <a:spLocks noGrp="1"/>
          </p:cNvSpPr>
          <p:nvPr>
            <p:ph type="title"/>
          </p:nvPr>
        </p:nvSpPr>
        <p:spPr>
          <a:xfrm>
            <a:off x="2717000" y="1879350"/>
            <a:ext cx="3635400" cy="7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sz="200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31" name="Google Shape;131;p11"/>
          <p:cNvSpPr txBox="1">
            <a:spLocks noGrp="1"/>
          </p:cNvSpPr>
          <p:nvPr>
            <p:ph type="subTitle" idx="1"/>
          </p:nvPr>
        </p:nvSpPr>
        <p:spPr>
          <a:xfrm>
            <a:off x="2717000" y="2590325"/>
            <a:ext cx="3635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>
            <a:endParaRPr/>
          </a:p>
        </p:txBody>
      </p:sp>
      <p:sp>
        <p:nvSpPr>
          <p:cNvPr id="132" name="Google Shape;132;p11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" name="Google Shape;133;p11"/>
          <p:cNvGrpSpPr/>
          <p:nvPr/>
        </p:nvGrpSpPr>
        <p:grpSpPr>
          <a:xfrm>
            <a:off x="2164723" y="1336860"/>
            <a:ext cx="4598402" cy="1873225"/>
            <a:chOff x="2164723" y="1336860"/>
            <a:chExt cx="4598402" cy="1873225"/>
          </a:xfrm>
        </p:grpSpPr>
        <p:cxnSp>
          <p:nvCxnSpPr>
            <p:cNvPr id="134" name="Google Shape;134;p11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5" name="Google Shape;135;p11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6" name="Google Shape;136;p11"/>
            <p:cNvCxnSpPr>
              <a:endCxn id="135" idx="2"/>
            </p:cNvCxnSpPr>
            <p:nvPr/>
          </p:nvCxnSpPr>
          <p:spPr>
            <a:xfrm rot="10800000">
              <a:off x="6761983" y="2313858"/>
              <a:ext cx="0" cy="8616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7" name="Google Shape;137;p11"/>
            <p:cNvSpPr/>
            <p:nvPr/>
          </p:nvSpPr>
          <p:spPr>
            <a:xfrm rot="-5399439">
              <a:off x="2143273" y="1392985"/>
              <a:ext cx="1838700" cy="17955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1"/>
            <p:cNvSpPr/>
            <p:nvPr/>
          </p:nvSpPr>
          <p:spPr>
            <a:xfrm rot="-5400561" flipH="1">
              <a:off x="2143273" y="1358460"/>
              <a:ext cx="1838700" cy="17955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9" name="Google Shape;139;p11"/>
            <p:cNvCxnSpPr>
              <a:stCxn id="137" idx="2"/>
              <a:endCxn id="135" idx="0"/>
            </p:cNvCxnSpPr>
            <p:nvPr/>
          </p:nvCxnSpPr>
          <p:spPr>
            <a:xfrm>
              <a:off x="3065855" y="1371390"/>
              <a:ext cx="27888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0" name="Google Shape;140;p11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1" name="Google Shape;141;p11"/>
          <p:cNvGrpSpPr/>
          <p:nvPr/>
        </p:nvGrpSpPr>
        <p:grpSpPr>
          <a:xfrm>
            <a:off x="276291" y="292119"/>
            <a:ext cx="345989" cy="338615"/>
            <a:chOff x="6838242" y="518225"/>
            <a:chExt cx="1247708" cy="1221114"/>
          </a:xfrm>
        </p:grpSpPr>
        <p:sp>
          <p:nvSpPr>
            <p:cNvPr id="142" name="Google Shape;142;p1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" name="Google Shape;145;p11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46" name="Google Shape;146;p11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 I  PART OF ACCENTURE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7" name="Google Shape;147;p11"/>
          <p:cNvGrpSpPr/>
          <p:nvPr/>
        </p:nvGrpSpPr>
        <p:grpSpPr>
          <a:xfrm rot="10800000">
            <a:off x="4572194" y="3152774"/>
            <a:ext cx="2605006" cy="616751"/>
            <a:chOff x="2164721" y="1366095"/>
            <a:chExt cx="4598421" cy="1890134"/>
          </a:xfrm>
        </p:grpSpPr>
        <p:cxnSp>
          <p:nvCxnSpPr>
            <p:cNvPr id="148" name="Google Shape;148;p11"/>
            <p:cNvCxnSpPr>
              <a:stCxn id="149" idx="2"/>
            </p:cNvCxnSpPr>
            <p:nvPr/>
          </p:nvCxnSpPr>
          <p:spPr>
            <a:xfrm>
              <a:off x="2699643" y="3175685"/>
              <a:ext cx="40635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0" name="Google Shape;150;p11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1" name="Google Shape;151;p11"/>
            <p:cNvCxnSpPr>
              <a:endCxn id="150" idx="2"/>
            </p:cNvCxnSpPr>
            <p:nvPr/>
          </p:nvCxnSpPr>
          <p:spPr>
            <a:xfrm rot="10800000">
              <a:off x="6762342" y="2147223"/>
              <a:ext cx="0" cy="10287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" name="Google Shape;152;p11"/>
            <p:cNvSpPr/>
            <p:nvPr/>
          </p:nvSpPr>
          <p:spPr>
            <a:xfrm rot="-5399453">
              <a:off x="1791865" y="1744079"/>
              <a:ext cx="1885200" cy="11391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570" flipH="1">
              <a:off x="1792271" y="1738695"/>
              <a:ext cx="1809600" cy="10644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3" name="Google Shape;153;p11"/>
            <p:cNvCxnSpPr>
              <a:stCxn id="152" idx="2"/>
              <a:endCxn id="150" idx="0"/>
            </p:cNvCxnSpPr>
            <p:nvPr/>
          </p:nvCxnSpPr>
          <p:spPr>
            <a:xfrm>
              <a:off x="2736435" y="1371034"/>
              <a:ext cx="3585300" cy="3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54" name="Google Shape;154;p11"/>
          <p:cNvCxnSpPr/>
          <p:nvPr/>
        </p:nvCxnSpPr>
        <p:spPr>
          <a:xfrm>
            <a:off x="5575700" y="3411150"/>
            <a:ext cx="0" cy="9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" name="Google Shape;155;p11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1 - Chapitre [2]">
  <p:cSld name="51 - Chapitre [2]">
    <p:bg>
      <p:bgPr>
        <a:solidFill>
          <a:schemeClr val="lt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/>
          <p:nvPr/>
        </p:nvSpPr>
        <p:spPr>
          <a:xfrm rot="5400000" flipH="1">
            <a:off x="1344924" y="364825"/>
            <a:ext cx="433200" cy="453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59" name="Google Shape;159;p12"/>
          <p:cNvSpPr/>
          <p:nvPr/>
        </p:nvSpPr>
        <p:spPr>
          <a:xfrm flipH="1">
            <a:off x="830825" y="817575"/>
            <a:ext cx="3663300" cy="38163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2"/>
          <p:cNvSpPr txBox="1">
            <a:spLocks noGrp="1"/>
          </p:cNvSpPr>
          <p:nvPr>
            <p:ph type="body" idx="1"/>
          </p:nvPr>
        </p:nvSpPr>
        <p:spPr>
          <a:xfrm>
            <a:off x="841248" y="37465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61" name="Google Shape;161;p12"/>
          <p:cNvSpPr txBox="1">
            <a:spLocks noGrp="1"/>
          </p:cNvSpPr>
          <p:nvPr>
            <p:ph type="title"/>
          </p:nvPr>
        </p:nvSpPr>
        <p:spPr>
          <a:xfrm>
            <a:off x="4699800" y="268520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62" name="Google Shape;162;p12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63" name="Google Shape;163;p12"/>
          <p:cNvCxnSpPr>
            <a:stCxn id="164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" name="Google Shape;165;p12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6" name="Google Shape;166;p12"/>
          <p:cNvCxnSpPr>
            <a:endCxn id="165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12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4" name="Google Shape;164;p12"/>
          <p:cNvSpPr/>
          <p:nvPr/>
        </p:nvSpPr>
        <p:spPr>
          <a:xfrm rot="-5400000" flipH="1">
            <a:off x="85760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8" name="Google Shape;168;p12"/>
          <p:cNvCxnSpPr>
            <a:stCxn id="167" idx="2"/>
            <a:endCxn id="165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9" name="Google Shape;169;p12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0" name="Google Shape;170;p12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71" name="Google Shape;171;p12"/>
          <p:cNvSpPr txBox="1"/>
          <p:nvPr/>
        </p:nvSpPr>
        <p:spPr>
          <a:xfrm>
            <a:off x="2262425" y="20484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lang="en-US"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sz="1400" b="0" i="0" u="none" strike="noStrike" cap="non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2" name="Google Shape;172;p12"/>
          <p:cNvSpPr/>
          <p:nvPr/>
        </p:nvSpPr>
        <p:spPr>
          <a:xfrm flipH="1">
            <a:off x="841248" y="374725"/>
            <a:ext cx="499500" cy="433200"/>
          </a:xfrm>
          <a:prstGeom prst="round1Rect">
            <a:avLst>
              <a:gd name="adj" fmla="val 5000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700" b="1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73" name="Google Shape;173;p12"/>
          <p:cNvGrpSpPr/>
          <p:nvPr/>
        </p:nvGrpSpPr>
        <p:grpSpPr>
          <a:xfrm>
            <a:off x="1450811" y="508105"/>
            <a:ext cx="170063" cy="166438"/>
            <a:chOff x="6838242" y="518225"/>
            <a:chExt cx="1247708" cy="1221114"/>
          </a:xfrm>
        </p:grpSpPr>
        <p:sp>
          <p:nvSpPr>
            <p:cNvPr id="174" name="Google Shape;174;p1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5" name="Google Shape;175;p1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6" name="Google Shape;176;p1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9 - There is a better way">
  <p:cSld name="59 - There is a better way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13"/>
          <p:cNvGrpSpPr/>
          <p:nvPr/>
        </p:nvGrpSpPr>
        <p:grpSpPr>
          <a:xfrm>
            <a:off x="290068" y="235357"/>
            <a:ext cx="345989" cy="338615"/>
            <a:chOff x="6838242" y="518225"/>
            <a:chExt cx="1247708" cy="1221114"/>
          </a:xfrm>
        </p:grpSpPr>
        <p:sp>
          <p:nvSpPr>
            <p:cNvPr id="179" name="Google Shape;179;p13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pic>
        <p:nvPicPr>
          <p:cNvPr id="182" name="Google Shape;18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36975" y="3307206"/>
            <a:ext cx="1670077" cy="82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3"/>
          <p:cNvPicPr preferRelativeResize="0"/>
          <p:nvPr/>
        </p:nvPicPr>
        <p:blipFill rotWithShape="1">
          <a:blip r:embed="rId3">
            <a:alphaModFix/>
          </a:blip>
          <a:srcRect l="17993" t="18848" r="18089" b="13862"/>
          <a:stretch/>
        </p:blipFill>
        <p:spPr>
          <a:xfrm>
            <a:off x="3589050" y="1007225"/>
            <a:ext cx="1965925" cy="206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0 - Titre et visuel">
  <p:cSld name="60 - Titre et visuel">
    <p:bg>
      <p:bgPr>
        <a:solidFill>
          <a:schemeClr val="lt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4"/>
          <p:cNvSpPr txBox="1">
            <a:spLocks noGrp="1"/>
          </p:cNvSpPr>
          <p:nvPr>
            <p:ph type="title"/>
          </p:nvPr>
        </p:nvSpPr>
        <p:spPr>
          <a:xfrm>
            <a:off x="562550" y="3823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89" name="Google Shape;189;p14"/>
          <p:cNvCxnSpPr>
            <a:stCxn id="190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1" name="Google Shape;191;p14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2" name="Google Shape;192;p14"/>
          <p:cNvCxnSpPr>
            <a:endCxn id="191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3" name="Google Shape;193;p14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90" name="Google Shape;190;p14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4" name="Google Shape;194;p14"/>
          <p:cNvCxnSpPr>
            <a:stCxn id="193" idx="2"/>
            <a:endCxn id="191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5" name="Google Shape;195;p14"/>
          <p:cNvSpPr>
            <a:spLocks noGrp="1"/>
          </p:cNvSpPr>
          <p:nvPr>
            <p:ph type="pic" idx="2"/>
          </p:nvPr>
        </p:nvSpPr>
        <p:spPr>
          <a:xfrm>
            <a:off x="528800" y="732450"/>
            <a:ext cx="8019000" cy="4131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14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1 - Titre, sous-titre et visuel">
  <p:cSld name="61 - Titre, sous-titre et visuel">
    <p:bg>
      <p:bgPr>
        <a:solidFill>
          <a:schemeClr val="lt1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/>
          <p:nvPr/>
        </p:nvSpPr>
        <p:spPr>
          <a:xfrm>
            <a:off x="213475" y="208900"/>
            <a:ext cx="8715600" cy="4728600"/>
          </a:xfrm>
          <a:prstGeom prst="roundRect">
            <a:avLst>
              <a:gd name="adj" fmla="val 161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99" name="Google Shape;199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5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‹#›</a:t>
            </a:fld>
            <a:endParaRPr sz="800" b="0" i="0" u="none" strike="noStrike" cap="non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 rot="-5400000">
            <a:off x="-514095" y="25332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5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There is a better way</a:t>
            </a:r>
            <a:endParaRPr sz="65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6682750" y="4939025"/>
            <a:ext cx="23352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Outfit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OCTO Part of Accenture © 2023- All rights reserved</a:t>
            </a:r>
            <a:endParaRPr sz="6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3" name="Google Shape;203;p15"/>
          <p:cNvSpPr txBox="1">
            <a:spLocks noGrp="1"/>
          </p:cNvSpPr>
          <p:nvPr>
            <p:ph type="title"/>
          </p:nvPr>
        </p:nvSpPr>
        <p:spPr>
          <a:xfrm>
            <a:off x="574050" y="361400"/>
            <a:ext cx="80079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04" name="Google Shape;204;p15"/>
          <p:cNvSpPr txBox="1">
            <a:spLocks noGrp="1"/>
          </p:cNvSpPr>
          <p:nvPr>
            <p:ph type="subTitle" idx="1"/>
          </p:nvPr>
        </p:nvSpPr>
        <p:spPr>
          <a:xfrm>
            <a:off x="557250" y="830200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05" name="Google Shape;205;p15"/>
          <p:cNvSpPr>
            <a:spLocks noGrp="1"/>
          </p:cNvSpPr>
          <p:nvPr>
            <p:ph type="pic" idx="2"/>
          </p:nvPr>
        </p:nvSpPr>
        <p:spPr>
          <a:xfrm>
            <a:off x="545225" y="1257950"/>
            <a:ext cx="8041500" cy="36066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15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2 - Visuel seul">
  <p:cSld name="62 - Visuel seul">
    <p:bg>
      <p:bgPr>
        <a:solidFill>
          <a:schemeClr val="lt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6"/>
          <p:cNvSpPr>
            <a:spLocks noGrp="1"/>
          </p:cNvSpPr>
          <p:nvPr>
            <p:ph type="pic" idx="2"/>
          </p:nvPr>
        </p:nvSpPr>
        <p:spPr>
          <a:xfrm>
            <a:off x="3275" y="-2300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16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3 - Titre, contenu et visuel à droite - cadre blanc">
  <p:cSld name="63 - Titre, contenu et visuel à droite - cadre blanc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17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13" name="Google Shape;213;p17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4" name="Google Shape;214;p17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15" name="Google Shape;215;p17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16" name="Google Shape;216;p17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7" name="Google Shape;217;p17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18" name="Google Shape;218;p17"/>
            <p:cNvCxnSpPr>
              <a:stCxn id="21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0" name="Google Shape;220;p17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1" name="Google Shape;221;p17"/>
            <p:cNvCxnSpPr>
              <a:endCxn id="22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2" name="Google Shape;222;p17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9" name="Google Shape;219;p17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3" name="Google Shape;223;p17"/>
            <p:cNvCxnSpPr>
              <a:stCxn id="222" idx="2"/>
              <a:endCxn id="22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24" name="Google Shape;224;p17"/>
          <p:cNvSpPr txBox="1">
            <a:spLocks noGrp="1"/>
          </p:cNvSpPr>
          <p:nvPr>
            <p:ph type="body" idx="1"/>
          </p:nvPr>
        </p:nvSpPr>
        <p:spPr>
          <a:xfrm>
            <a:off x="562825" y="817275"/>
            <a:ext cx="5305500" cy="4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25" name="Google Shape;225;p17"/>
          <p:cNvSpPr txBox="1">
            <a:spLocks noGrp="1"/>
          </p:cNvSpPr>
          <p:nvPr>
            <p:ph type="title"/>
          </p:nvPr>
        </p:nvSpPr>
        <p:spPr>
          <a:xfrm>
            <a:off x="562825" y="357529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26" name="Google Shape;226;p17"/>
          <p:cNvGrpSpPr/>
          <p:nvPr/>
        </p:nvGrpSpPr>
        <p:grpSpPr>
          <a:xfrm>
            <a:off x="364209" y="292130"/>
            <a:ext cx="82155" cy="82230"/>
            <a:chOff x="7483200" y="518225"/>
            <a:chExt cx="602750" cy="603300"/>
          </a:xfrm>
        </p:grpSpPr>
        <p:sp>
          <p:nvSpPr>
            <p:cNvPr id="227" name="Google Shape;227;p17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29" name="Google Shape;229;p17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4 - Titre, sous-titre, contenu et visuel à droite - cadre blanc">
  <p:cSld name="64 - Titre, sous-titre, contenu et visuel à droite - cadre blanc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8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32" name="Google Shape;232;p18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33" name="Google Shape;233;p18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34" name="Google Shape;234;p18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cxnSp>
          <p:nvCxnSpPr>
            <p:cNvPr id="235" name="Google Shape;235;p18"/>
            <p:cNvCxnSpPr>
              <a:stCxn id="236" idx="2"/>
              <a:endCxn id="237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38" name="Google Shape;238;p18"/>
            <p:cNvGrpSpPr/>
            <p:nvPr/>
          </p:nvGrpSpPr>
          <p:grpSpPr>
            <a:xfrm>
              <a:off x="276303" y="295049"/>
              <a:ext cx="8682472" cy="4585476"/>
              <a:chOff x="276303" y="295049"/>
              <a:chExt cx="8682472" cy="4585476"/>
            </a:xfrm>
          </p:grpSpPr>
          <p:sp>
            <p:nvSpPr>
              <p:cNvPr id="239" name="Google Shape;239;p18"/>
              <p:cNvSpPr/>
              <p:nvPr/>
            </p:nvSpPr>
            <p:spPr>
              <a:xfrm>
                <a:off x="276303" y="295049"/>
                <a:ext cx="163500" cy="1635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0" name="Google Shape;240;p18"/>
              <p:cNvSpPr txBox="1"/>
              <p:nvPr/>
            </p:nvSpPr>
            <p:spPr>
              <a:xfrm>
                <a:off x="8459275" y="46519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lang="en-US" sz="800" b="0" i="0" u="none" strike="noStrike" cap="non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lang="en-US" sz="800" b="0" i="0" u="none" strike="noStrike" cap="non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241" name="Google Shape;241;p18"/>
              <p:cNvCxnSpPr>
                <a:stCxn id="242" idx="2"/>
              </p:cNvCxnSpPr>
              <p:nvPr/>
            </p:nvCxnSpPr>
            <p:spPr>
              <a:xfrm>
                <a:off x="8676034" y="4864644"/>
                <a:ext cx="191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7" name="Google Shape;237;p18"/>
              <p:cNvSpPr/>
              <p:nvPr/>
            </p:nvSpPr>
            <p:spPr>
              <a:xfrm>
                <a:off x="8662728" y="4667715"/>
                <a:ext cx="200700" cy="196200"/>
              </a:xfrm>
              <a:prstGeom prst="arc">
                <a:avLst>
                  <a:gd name="adj1" fmla="val 16241889"/>
                  <a:gd name="adj2" fmla="val 167312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243" name="Google Shape;243;p18"/>
              <p:cNvCxnSpPr>
                <a:endCxn id="237" idx="2"/>
              </p:cNvCxnSpPr>
              <p:nvPr/>
            </p:nvCxnSpPr>
            <p:spPr>
              <a:xfrm rot="10800000">
                <a:off x="8863304" y="4770697"/>
                <a:ext cx="0" cy="98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6" name="Google Shape;236;p18"/>
              <p:cNvSpPr/>
              <p:nvPr/>
            </p:nvSpPr>
            <p:spPr>
              <a:xfrm rot="-5400000">
                <a:off x="8575218" y="4670051"/>
                <a:ext cx="200700" cy="196200"/>
              </a:xfrm>
              <a:prstGeom prst="arc">
                <a:avLst>
                  <a:gd name="adj1" fmla="val 16241889"/>
                  <a:gd name="adj2" fmla="val 11524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2" name="Google Shape;242;p18"/>
              <p:cNvSpPr/>
              <p:nvPr/>
            </p:nvSpPr>
            <p:spPr>
              <a:xfrm rot="-5400000" flipH="1">
                <a:off x="8575218" y="4666195"/>
                <a:ext cx="200700" cy="196200"/>
              </a:xfrm>
              <a:prstGeom prst="arc">
                <a:avLst>
                  <a:gd name="adj1" fmla="val 16241889"/>
                  <a:gd name="adj2" fmla="val 15973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</p:grpSp>
      <p:sp>
        <p:nvSpPr>
          <p:cNvPr id="244" name="Google Shape;244;p18"/>
          <p:cNvSpPr txBox="1">
            <a:spLocks noGrp="1"/>
          </p:cNvSpPr>
          <p:nvPr>
            <p:ph type="body" idx="1"/>
          </p:nvPr>
        </p:nvSpPr>
        <p:spPr>
          <a:xfrm>
            <a:off x="562800" y="1273200"/>
            <a:ext cx="5305500" cy="3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0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45" name="Google Shape;245;p18"/>
          <p:cNvSpPr txBox="1">
            <a:spLocks noGrp="1"/>
          </p:cNvSpPr>
          <p:nvPr>
            <p:ph type="subTitle" idx="2"/>
          </p:nvPr>
        </p:nvSpPr>
        <p:spPr>
          <a:xfrm>
            <a:off x="571015" y="778000"/>
            <a:ext cx="53055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46" name="Google Shape;246;p18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47" name="Google Shape;247;p18"/>
          <p:cNvGrpSpPr/>
          <p:nvPr/>
        </p:nvGrpSpPr>
        <p:grpSpPr>
          <a:xfrm>
            <a:off x="276301" y="295049"/>
            <a:ext cx="163560" cy="163519"/>
            <a:chOff x="6838242" y="539639"/>
            <a:chExt cx="1200000" cy="1199700"/>
          </a:xfrm>
        </p:grpSpPr>
        <p:sp>
          <p:nvSpPr>
            <p:cNvPr id="248" name="Google Shape;248;p18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49" name="Google Shape;249;p18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0" name="Google Shape;250;p18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1" name="Google Shape;251;p18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5 - Titre, contenu, visuel à droite et bloc conclu - cadre blanc">
  <p:cSld name="65 - Titre, contenu, visuel à droite et bloc conclu - cadre blanc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19"/>
          <p:cNvGrpSpPr/>
          <p:nvPr/>
        </p:nvGrpSpPr>
        <p:grpSpPr>
          <a:xfrm rot="10800000">
            <a:off x="5754900" y="3471525"/>
            <a:ext cx="1392300" cy="1392300"/>
            <a:chOff x="7475475" y="301725"/>
            <a:chExt cx="1392300" cy="1392300"/>
          </a:xfrm>
        </p:grpSpPr>
        <p:sp>
          <p:nvSpPr>
            <p:cNvPr id="254" name="Google Shape;254;p19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55" name="Google Shape;255;p19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6" name="Google Shape;256;p19"/>
          <p:cNvSpPr/>
          <p:nvPr/>
        </p:nvSpPr>
        <p:spPr>
          <a:xfrm>
            <a:off x="6549661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257" name="Google Shape;257;p19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58" name="Google Shape;258;p19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59" name="Google Shape;259;p19"/>
            <p:cNvCxnSpPr>
              <a:stCxn id="26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1" name="Google Shape;261;p19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2" name="Google Shape;262;p19"/>
            <p:cNvCxnSpPr>
              <a:endCxn id="26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3" name="Google Shape;263;p19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60" name="Google Shape;260;p19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4" name="Google Shape;264;p19"/>
            <p:cNvCxnSpPr>
              <a:stCxn id="263" idx="2"/>
              <a:endCxn id="26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5" name="Google Shape;265;p19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</p:grpSp>
      <p:sp>
        <p:nvSpPr>
          <p:cNvPr id="266" name="Google Shape;266;p19"/>
          <p:cNvSpPr txBox="1">
            <a:spLocks noGrp="1"/>
          </p:cNvSpPr>
          <p:nvPr>
            <p:ph type="body" idx="1"/>
          </p:nvPr>
        </p:nvSpPr>
        <p:spPr>
          <a:xfrm>
            <a:off x="562775" y="817275"/>
            <a:ext cx="4790400" cy="4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67" name="Google Shape;267;p19"/>
          <p:cNvSpPr txBox="1">
            <a:spLocks noGrp="1"/>
          </p:cNvSpPr>
          <p:nvPr>
            <p:ph type="title"/>
          </p:nvPr>
        </p:nvSpPr>
        <p:spPr>
          <a:xfrm>
            <a:off x="562825" y="361375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68" name="Google Shape;268;p19"/>
          <p:cNvSpPr txBox="1">
            <a:spLocks noGrp="1"/>
          </p:cNvSpPr>
          <p:nvPr>
            <p:ph type="body" idx="2"/>
          </p:nvPr>
        </p:nvSpPr>
        <p:spPr>
          <a:xfrm>
            <a:off x="6920978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cxnSp>
        <p:nvCxnSpPr>
          <p:cNvPr id="269" name="Google Shape;269;p19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0" name="Google Shape;270;p19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364209" y="345001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2" name="Google Shape;272;p1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6 - Titre, sous-titre, contenu, visuel à droite et bloc conclu - cadre blanc">
  <p:cSld name="66 - Titre, sous-titre, contenu, visuel à droite et bloc conclu - cadre blanc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0"/>
          <p:cNvSpPr txBox="1">
            <a:spLocks noGrp="1"/>
          </p:cNvSpPr>
          <p:nvPr>
            <p:ph type="body" idx="1"/>
          </p:nvPr>
        </p:nvSpPr>
        <p:spPr>
          <a:xfrm>
            <a:off x="562825" y="1267800"/>
            <a:ext cx="4790400" cy="3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75" name="Google Shape;275;p20"/>
          <p:cNvSpPr txBox="1">
            <a:spLocks noGrp="1"/>
          </p:cNvSpPr>
          <p:nvPr>
            <p:ph type="subTitle" idx="2"/>
          </p:nvPr>
        </p:nvSpPr>
        <p:spPr>
          <a:xfrm>
            <a:off x="571015" y="777619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76" name="Google Shape;276;p20"/>
          <p:cNvSpPr txBox="1">
            <a:spLocks noGrp="1"/>
          </p:cNvSpPr>
          <p:nvPr>
            <p:ph type="title"/>
          </p:nvPr>
        </p:nvSpPr>
        <p:spPr>
          <a:xfrm>
            <a:off x="562825" y="367000"/>
            <a:ext cx="47904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77" name="Google Shape;277;p20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278" name="Google Shape;278;p20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279" name="Google Shape;279;p20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0" name="Google Shape;280;p20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1" name="Google Shape;281;p20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282" name="Google Shape;282;p20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83" name="Google Shape;283;p20"/>
            <p:cNvCxnSpPr>
              <a:stCxn id="28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5" name="Google Shape;285;p20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6" name="Google Shape;286;p20"/>
            <p:cNvCxnSpPr>
              <a:endCxn id="28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7" name="Google Shape;287;p20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84" name="Google Shape;284;p20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8" name="Google Shape;288;p20"/>
            <p:cNvCxnSpPr>
              <a:stCxn id="287" idx="2"/>
              <a:endCxn id="28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89" name="Google Shape;289;p20"/>
          <p:cNvGrpSpPr/>
          <p:nvPr/>
        </p:nvGrpSpPr>
        <p:grpSpPr>
          <a:xfrm rot="10800000">
            <a:off x="5754902" y="3471525"/>
            <a:ext cx="1392300" cy="1392300"/>
            <a:chOff x="7475475" y="301725"/>
            <a:chExt cx="1392300" cy="1392300"/>
          </a:xfrm>
        </p:grpSpPr>
        <p:sp>
          <p:nvSpPr>
            <p:cNvPr id="290" name="Google Shape;290;p20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91" name="Google Shape;291;p20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92" name="Google Shape;292;p20"/>
          <p:cNvSpPr/>
          <p:nvPr/>
        </p:nvSpPr>
        <p:spPr>
          <a:xfrm>
            <a:off x="6543075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3" name="Google Shape;293;p20"/>
          <p:cNvSpPr txBox="1">
            <a:spLocks noGrp="1"/>
          </p:cNvSpPr>
          <p:nvPr>
            <p:ph type="body" idx="3"/>
          </p:nvPr>
        </p:nvSpPr>
        <p:spPr>
          <a:xfrm>
            <a:off x="6920975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cxnSp>
        <p:nvCxnSpPr>
          <p:cNvPr id="294" name="Google Shape;294;p20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5" name="Google Shape;295;p20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7 - Titre, contenu et visuel à gauche - cadre blanc">
  <p:cSld name="67 - Titre, contenu et visuel à gauche - cadre blanc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"/>
          <p:cNvSpPr txBox="1">
            <a:spLocks noGrp="1"/>
          </p:cNvSpPr>
          <p:nvPr>
            <p:ph type="title"/>
          </p:nvPr>
        </p:nvSpPr>
        <p:spPr>
          <a:xfrm>
            <a:off x="3440825" y="359479"/>
            <a:ext cx="51366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98" name="Google Shape;298;p21"/>
          <p:cNvSpPr txBox="1">
            <a:spLocks noGrp="1"/>
          </p:cNvSpPr>
          <p:nvPr>
            <p:ph type="body" idx="1"/>
          </p:nvPr>
        </p:nvSpPr>
        <p:spPr>
          <a:xfrm>
            <a:off x="3440825" y="817275"/>
            <a:ext cx="5136600" cy="40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99" name="Google Shape;299;p21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00" name="Google Shape;300;p21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1" name="Google Shape;301;p21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02" name="Google Shape;302;p21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03" name="Google Shape;303;p21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04" name="Google Shape;304;p21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5" name="Google Shape;305;p21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6" name="Google Shape;306;p21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07" name="Google Shape;307;p21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08" name="Google Shape;308;p21"/>
            <p:cNvCxnSpPr>
              <a:stCxn id="30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0" name="Google Shape;310;p21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1" name="Google Shape;311;p21"/>
            <p:cNvCxnSpPr>
              <a:endCxn id="31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2" name="Google Shape;312;p21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9" name="Google Shape;309;p21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3" name="Google Shape;313;p21"/>
            <p:cNvCxnSpPr>
              <a:stCxn id="312" idx="2"/>
              <a:endCxn id="31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14" name="Google Shape;314;p2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8 - Titre, sous-titre, contenu et visuel à gauche - cadre blanc">
  <p:cSld name="68 - Titre, sous-titre, contenu et visuel à gauche - cadre blanc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2"/>
          <p:cNvSpPr/>
          <p:nvPr/>
        </p:nvSpPr>
        <p:spPr>
          <a:xfrm rot="5400000" flipH="1">
            <a:off x="4143250" y="131125"/>
            <a:ext cx="4709400" cy="4865400"/>
          </a:xfrm>
          <a:prstGeom prst="round2SameRect">
            <a:avLst>
              <a:gd name="adj1" fmla="val 1367"/>
              <a:gd name="adj2" fmla="val 0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7" name="Google Shape;317;p22"/>
          <p:cNvSpPr txBox="1">
            <a:spLocks noGrp="1"/>
          </p:cNvSpPr>
          <p:nvPr>
            <p:ph type="subTitle" idx="1"/>
          </p:nvPr>
        </p:nvSpPr>
        <p:spPr>
          <a:xfrm>
            <a:off x="3442450" y="779144"/>
            <a:ext cx="51393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8" name="Google Shape;318;p22"/>
          <p:cNvSpPr txBox="1">
            <a:spLocks noGrp="1"/>
          </p:cNvSpPr>
          <p:nvPr>
            <p:ph type="body" idx="2"/>
          </p:nvPr>
        </p:nvSpPr>
        <p:spPr>
          <a:xfrm>
            <a:off x="3438150" y="1271025"/>
            <a:ext cx="5139300" cy="3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9" name="Google Shape;319;p22"/>
          <p:cNvSpPr txBox="1">
            <a:spLocks noGrp="1"/>
          </p:cNvSpPr>
          <p:nvPr>
            <p:ph type="title"/>
          </p:nvPr>
        </p:nvSpPr>
        <p:spPr>
          <a:xfrm>
            <a:off x="3438150" y="358969"/>
            <a:ext cx="51393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20" name="Google Shape;320;p22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21" name="Google Shape;321;p22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22" name="Google Shape;322;p22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23" name="Google Shape;323;p22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24" name="Google Shape;324;p22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25" name="Google Shape;325;p22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6" name="Google Shape;326;p22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7" name="Google Shape;327;p22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28" name="Google Shape;328;p22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29" name="Google Shape;329;p22"/>
            <p:cNvCxnSpPr>
              <a:stCxn id="33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1" name="Google Shape;331;p22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2" name="Google Shape;332;p22"/>
            <p:cNvCxnSpPr>
              <a:endCxn id="33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3" name="Google Shape;333;p22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30" name="Google Shape;330;p22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4" name="Google Shape;334;p22"/>
            <p:cNvCxnSpPr>
              <a:stCxn id="333" idx="2"/>
              <a:endCxn id="33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35" name="Google Shape;335;p2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9 - Titre, contenu, visuel à gauche et bloc conclu - cadre blanc">
  <p:cSld name="69 - Titre, contenu, visuel à gauche et bloc conclu - cadre blanc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23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38" name="Google Shape;338;p23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39" name="Google Shape;339;p23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0" name="Google Shape;340;p23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1" name="Google Shape;341;p23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42" name="Google Shape;342;p23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43" name="Google Shape;343;p23"/>
            <p:cNvCxnSpPr>
              <a:stCxn id="34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5" name="Google Shape;345;p23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6" name="Google Shape;346;p23"/>
            <p:cNvCxnSpPr>
              <a:endCxn id="34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7" name="Google Shape;347;p23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44" name="Google Shape;344;p23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8" name="Google Shape;348;p23"/>
            <p:cNvCxnSpPr>
              <a:stCxn id="347" idx="2"/>
              <a:endCxn id="34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49" name="Google Shape;349;p23"/>
          <p:cNvSpPr txBox="1">
            <a:spLocks noGrp="1"/>
          </p:cNvSpPr>
          <p:nvPr>
            <p:ph type="title"/>
          </p:nvPr>
        </p:nvSpPr>
        <p:spPr>
          <a:xfrm>
            <a:off x="3932050" y="354600"/>
            <a:ext cx="45882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50" name="Google Shape;350;p23"/>
          <p:cNvGrpSpPr/>
          <p:nvPr/>
        </p:nvGrpSpPr>
        <p:grpSpPr>
          <a:xfrm rot="10800000">
            <a:off x="420900" y="3471525"/>
            <a:ext cx="1392300" cy="1392300"/>
            <a:chOff x="7475475" y="301725"/>
            <a:chExt cx="1392300" cy="1392300"/>
          </a:xfrm>
        </p:grpSpPr>
        <p:sp>
          <p:nvSpPr>
            <p:cNvPr id="351" name="Google Shape;351;p23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52" name="Google Shape;352;p23"/>
            <p:cNvSpPr txBox="1"/>
            <p:nvPr/>
          </p:nvSpPr>
          <p:spPr>
            <a:xfrm rot="10800000">
              <a:off x="7776275" y="553855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53" name="Google Shape;353;p23"/>
          <p:cNvSpPr txBox="1">
            <a:spLocks noGrp="1"/>
          </p:cNvSpPr>
          <p:nvPr>
            <p:ph type="body" idx="1"/>
          </p:nvPr>
        </p:nvSpPr>
        <p:spPr>
          <a:xfrm>
            <a:off x="1511925" y="817275"/>
            <a:ext cx="1719000" cy="20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54" name="Google Shape;354;p23"/>
          <p:cNvSpPr txBox="1">
            <a:spLocks noGrp="1"/>
          </p:cNvSpPr>
          <p:nvPr>
            <p:ph type="body" idx="2"/>
          </p:nvPr>
        </p:nvSpPr>
        <p:spPr>
          <a:xfrm>
            <a:off x="3932200" y="817275"/>
            <a:ext cx="4588200" cy="4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55" name="Google Shape;355;p23"/>
          <p:cNvSpPr/>
          <p:nvPr/>
        </p:nvSpPr>
        <p:spPr>
          <a:xfrm>
            <a:off x="1209075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56" name="Google Shape;356;p2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0 - Titre, sous-titre, contenu, visuel à gauche et bloc conclu - cadre blanc">
  <p:cSld name="70 - Titre, sous-titre, contenu, visuel à gauche et bloc conclu - cadre blanc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oogle Shape;358;p24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59" name="Google Shape;359;p24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60" name="Google Shape;360;p24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1" name="Google Shape;361;p24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2" name="Google Shape;362;p24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63" name="Google Shape;363;p24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64" name="Google Shape;364;p24"/>
            <p:cNvCxnSpPr>
              <a:stCxn id="365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6" name="Google Shape;366;p24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7" name="Google Shape;367;p24"/>
            <p:cNvCxnSpPr>
              <a:endCxn id="366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8" name="Google Shape;368;p24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65" name="Google Shape;365;p24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9" name="Google Shape;369;p24"/>
            <p:cNvCxnSpPr>
              <a:stCxn id="368" idx="2"/>
              <a:endCxn id="366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70" name="Google Shape;370;p24"/>
          <p:cNvSpPr txBox="1">
            <a:spLocks noGrp="1"/>
          </p:cNvSpPr>
          <p:nvPr>
            <p:ph type="body" idx="1"/>
          </p:nvPr>
        </p:nvSpPr>
        <p:spPr>
          <a:xfrm>
            <a:off x="3943350" y="1271025"/>
            <a:ext cx="4564200" cy="35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1" name="Google Shape;371;p24"/>
          <p:cNvSpPr txBox="1">
            <a:spLocks noGrp="1"/>
          </p:cNvSpPr>
          <p:nvPr>
            <p:ph type="subTitle" idx="2"/>
          </p:nvPr>
        </p:nvSpPr>
        <p:spPr>
          <a:xfrm>
            <a:off x="3935150" y="770950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2" name="Google Shape;372;p24"/>
          <p:cNvSpPr txBox="1">
            <a:spLocks noGrp="1"/>
          </p:cNvSpPr>
          <p:nvPr>
            <p:ph type="title"/>
          </p:nvPr>
        </p:nvSpPr>
        <p:spPr>
          <a:xfrm>
            <a:off x="3935150" y="348725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73" name="Google Shape;373;p24"/>
          <p:cNvGrpSpPr/>
          <p:nvPr/>
        </p:nvGrpSpPr>
        <p:grpSpPr>
          <a:xfrm rot="10800000">
            <a:off x="420900" y="3471800"/>
            <a:ext cx="1392300" cy="1392300"/>
            <a:chOff x="7475475" y="301725"/>
            <a:chExt cx="1392300" cy="1392300"/>
          </a:xfrm>
        </p:grpSpPr>
        <p:sp>
          <p:nvSpPr>
            <p:cNvPr id="374" name="Google Shape;374;p24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75" name="Google Shape;375;p24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76" name="Google Shape;376;p24"/>
          <p:cNvSpPr/>
          <p:nvPr/>
        </p:nvSpPr>
        <p:spPr>
          <a:xfrm>
            <a:off x="1209075" y="30031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77" name="Google Shape;377;p24"/>
          <p:cNvSpPr txBox="1">
            <a:spLocks noGrp="1"/>
          </p:cNvSpPr>
          <p:nvPr>
            <p:ph type="body" idx="3"/>
          </p:nvPr>
        </p:nvSpPr>
        <p:spPr>
          <a:xfrm>
            <a:off x="1511925" y="812385"/>
            <a:ext cx="1719000" cy="20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sz="12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8" name="Google Shape;378;p24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0 - Table des matières [2]">
  <p:cSld name="90 - Table des matières [2]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5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1" name="Google Shape;381;p25"/>
          <p:cNvSpPr txBox="1">
            <a:spLocks noGrp="1"/>
          </p:cNvSpPr>
          <p:nvPr>
            <p:ph type="body" idx="1"/>
          </p:nvPr>
        </p:nvSpPr>
        <p:spPr>
          <a:xfrm>
            <a:off x="2236850" y="2248633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2" name="Google Shape;382;p25"/>
          <p:cNvSpPr txBox="1">
            <a:spLocks noGrp="1"/>
          </p:cNvSpPr>
          <p:nvPr>
            <p:ph type="body" idx="2"/>
          </p:nvPr>
        </p:nvSpPr>
        <p:spPr>
          <a:xfrm>
            <a:off x="6210950" y="2248625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3" name="Google Shape;383;p25"/>
          <p:cNvSpPr/>
          <p:nvPr/>
        </p:nvSpPr>
        <p:spPr>
          <a:xfrm>
            <a:off x="1106400" y="22486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4" name="Google Shape;384;p25"/>
          <p:cNvSpPr txBox="1"/>
          <p:nvPr/>
        </p:nvSpPr>
        <p:spPr>
          <a:xfrm>
            <a:off x="1086263" y="2254176"/>
            <a:ext cx="8082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5" name="Google Shape;385;p25"/>
          <p:cNvSpPr/>
          <p:nvPr/>
        </p:nvSpPr>
        <p:spPr>
          <a:xfrm>
            <a:off x="5192425" y="2286425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6" name="Google Shape;386;p25"/>
          <p:cNvSpPr txBox="1"/>
          <p:nvPr/>
        </p:nvSpPr>
        <p:spPr>
          <a:xfrm>
            <a:off x="5160164" y="2254177"/>
            <a:ext cx="852600" cy="8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1 - Table des matières [3]">
  <p:cSld name="91 - Table des matières [3]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6"/>
          <p:cNvSpPr txBox="1">
            <a:spLocks noGrp="1"/>
          </p:cNvSpPr>
          <p:nvPr>
            <p:ph type="title"/>
          </p:nvPr>
        </p:nvSpPr>
        <p:spPr>
          <a:xfrm>
            <a:off x="829600" y="12635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9" name="Google Shape;389;p26"/>
          <p:cNvSpPr txBox="1">
            <a:spLocks noGrp="1"/>
          </p:cNvSpPr>
          <p:nvPr>
            <p:ph type="body" idx="1"/>
          </p:nvPr>
        </p:nvSpPr>
        <p:spPr>
          <a:xfrm>
            <a:off x="1172550" y="26890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0" name="Google Shape;390;p26"/>
          <p:cNvSpPr txBox="1">
            <a:spLocks noGrp="1"/>
          </p:cNvSpPr>
          <p:nvPr>
            <p:ph type="body" idx="2"/>
          </p:nvPr>
        </p:nvSpPr>
        <p:spPr>
          <a:xfrm>
            <a:off x="3666975" y="27118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1" name="Google Shape;391;p26"/>
          <p:cNvSpPr txBox="1">
            <a:spLocks noGrp="1"/>
          </p:cNvSpPr>
          <p:nvPr>
            <p:ph type="body" idx="3"/>
          </p:nvPr>
        </p:nvSpPr>
        <p:spPr>
          <a:xfrm>
            <a:off x="6260400" y="2711825"/>
            <a:ext cx="23172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2" name="Google Shape;392;p26"/>
          <p:cNvSpPr/>
          <p:nvPr/>
        </p:nvSpPr>
        <p:spPr>
          <a:xfrm rot="10800000">
            <a:off x="3666963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3" name="Google Shape;393;p26"/>
          <p:cNvSpPr/>
          <p:nvPr/>
        </p:nvSpPr>
        <p:spPr>
          <a:xfrm rot="10800000">
            <a:off x="1172550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4" name="Google Shape;394;p26"/>
          <p:cNvSpPr/>
          <p:nvPr/>
        </p:nvSpPr>
        <p:spPr>
          <a:xfrm rot="10800000">
            <a:off x="6260388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5" name="Google Shape;395;p26"/>
          <p:cNvSpPr txBox="1"/>
          <p:nvPr/>
        </p:nvSpPr>
        <p:spPr>
          <a:xfrm>
            <a:off x="1164446" y="179938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6" name="Google Shape;396;p26"/>
          <p:cNvSpPr txBox="1"/>
          <p:nvPr/>
        </p:nvSpPr>
        <p:spPr>
          <a:xfrm>
            <a:off x="3650472" y="179937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7" name="Google Shape;397;p26"/>
          <p:cNvSpPr txBox="1"/>
          <p:nvPr/>
        </p:nvSpPr>
        <p:spPr>
          <a:xfrm>
            <a:off x="6243911" y="1799374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2 - Table des matières [4]">
  <p:cSld name="92 - Table des matières [4]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7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0" name="Google Shape;400;p27"/>
          <p:cNvSpPr txBox="1">
            <a:spLocks noGrp="1"/>
          </p:cNvSpPr>
          <p:nvPr>
            <p:ph type="body" idx="1"/>
          </p:nvPr>
        </p:nvSpPr>
        <p:spPr>
          <a:xfrm>
            <a:off x="1681525" y="1738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1" name="Google Shape;401;p27"/>
          <p:cNvSpPr txBox="1">
            <a:spLocks noGrp="1"/>
          </p:cNvSpPr>
          <p:nvPr>
            <p:ph type="body" idx="2"/>
          </p:nvPr>
        </p:nvSpPr>
        <p:spPr>
          <a:xfrm>
            <a:off x="1681500" y="30141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2" name="Google Shape;402;p27"/>
          <p:cNvSpPr txBox="1">
            <a:spLocks noGrp="1"/>
          </p:cNvSpPr>
          <p:nvPr>
            <p:ph type="body" idx="3"/>
          </p:nvPr>
        </p:nvSpPr>
        <p:spPr>
          <a:xfrm>
            <a:off x="5619625" y="17381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3" name="Google Shape;403;p27"/>
          <p:cNvSpPr txBox="1">
            <a:spLocks noGrp="1"/>
          </p:cNvSpPr>
          <p:nvPr>
            <p:ph type="body" idx="4"/>
          </p:nvPr>
        </p:nvSpPr>
        <p:spPr>
          <a:xfrm>
            <a:off x="5619750" y="30141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4" name="Google Shape;404;p27"/>
          <p:cNvSpPr/>
          <p:nvPr/>
        </p:nvSpPr>
        <p:spPr>
          <a:xfrm rot="5400000">
            <a:off x="4767525" y="2951177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5" name="Google Shape;405;p27"/>
          <p:cNvSpPr/>
          <p:nvPr/>
        </p:nvSpPr>
        <p:spPr>
          <a:xfrm rot="5400000">
            <a:off x="4767525" y="172202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6" name="Google Shape;406;p27"/>
          <p:cNvSpPr/>
          <p:nvPr/>
        </p:nvSpPr>
        <p:spPr>
          <a:xfrm rot="5400000">
            <a:off x="867525" y="2980796"/>
            <a:ext cx="671700" cy="6717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7" name="Google Shape;407;p27"/>
          <p:cNvSpPr/>
          <p:nvPr/>
        </p:nvSpPr>
        <p:spPr>
          <a:xfrm rot="5400000">
            <a:off x="867525" y="1722025"/>
            <a:ext cx="671700" cy="6717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8" name="Google Shape;408;p27"/>
          <p:cNvSpPr txBox="1"/>
          <p:nvPr/>
        </p:nvSpPr>
        <p:spPr>
          <a:xfrm>
            <a:off x="967623" y="1866129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09" name="Google Shape;409;p27"/>
          <p:cNvSpPr txBox="1"/>
          <p:nvPr/>
        </p:nvSpPr>
        <p:spPr>
          <a:xfrm>
            <a:off x="967623" y="3116186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0" name="Google Shape;410;p27"/>
          <p:cNvSpPr txBox="1"/>
          <p:nvPr/>
        </p:nvSpPr>
        <p:spPr>
          <a:xfrm>
            <a:off x="4869747" y="1851848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1" name="Google Shape;411;p27"/>
          <p:cNvSpPr txBox="1"/>
          <p:nvPr/>
        </p:nvSpPr>
        <p:spPr>
          <a:xfrm>
            <a:off x="4869747" y="3072492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3 - Table des matières [5]">
  <p:cSld name="93 - Table des matières [5]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8"/>
          <p:cNvSpPr txBox="1">
            <a:spLocks noGrp="1"/>
          </p:cNvSpPr>
          <p:nvPr>
            <p:ph type="title"/>
          </p:nvPr>
        </p:nvSpPr>
        <p:spPr>
          <a:xfrm>
            <a:off x="829600" y="11393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4" name="Google Shape;414;p28"/>
          <p:cNvSpPr txBox="1">
            <a:spLocks noGrp="1"/>
          </p:cNvSpPr>
          <p:nvPr>
            <p:ph type="body" idx="1"/>
          </p:nvPr>
        </p:nvSpPr>
        <p:spPr>
          <a:xfrm>
            <a:off x="1681525" y="1651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5" name="Google Shape;415;p28"/>
          <p:cNvSpPr txBox="1">
            <a:spLocks noGrp="1"/>
          </p:cNvSpPr>
          <p:nvPr>
            <p:ph type="body" idx="2"/>
          </p:nvPr>
        </p:nvSpPr>
        <p:spPr>
          <a:xfrm>
            <a:off x="1681525" y="2447225"/>
            <a:ext cx="27903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6" name="Google Shape;416;p28"/>
          <p:cNvSpPr txBox="1">
            <a:spLocks noGrp="1"/>
          </p:cNvSpPr>
          <p:nvPr>
            <p:ph type="body" idx="3"/>
          </p:nvPr>
        </p:nvSpPr>
        <p:spPr>
          <a:xfrm>
            <a:off x="1681525" y="32436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7" name="Google Shape;417;p28"/>
          <p:cNvSpPr txBox="1">
            <a:spLocks noGrp="1"/>
          </p:cNvSpPr>
          <p:nvPr>
            <p:ph type="body" idx="4"/>
          </p:nvPr>
        </p:nvSpPr>
        <p:spPr>
          <a:xfrm>
            <a:off x="5619625" y="1650825"/>
            <a:ext cx="2958000" cy="6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8" name="Google Shape;418;p28"/>
          <p:cNvSpPr txBox="1">
            <a:spLocks noGrp="1"/>
          </p:cNvSpPr>
          <p:nvPr>
            <p:ph type="body" idx="5"/>
          </p:nvPr>
        </p:nvSpPr>
        <p:spPr>
          <a:xfrm>
            <a:off x="5619625" y="24475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9" name="Google Shape;419;p28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0" name="Google Shape;420;p28"/>
          <p:cNvSpPr/>
          <p:nvPr/>
        </p:nvSpPr>
        <p:spPr>
          <a:xfrm rot="5400000">
            <a:off x="883425" y="2447222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1" name="Google Shape;421;p28"/>
          <p:cNvSpPr/>
          <p:nvPr/>
        </p:nvSpPr>
        <p:spPr>
          <a:xfrm rot="5400000">
            <a:off x="883425" y="3243569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2" name="Google Shape;422;p28"/>
          <p:cNvSpPr/>
          <p:nvPr/>
        </p:nvSpPr>
        <p:spPr>
          <a:xfrm rot="5400000">
            <a:off x="4767525" y="1651025"/>
            <a:ext cx="6561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3" name="Google Shape;423;p28"/>
          <p:cNvSpPr/>
          <p:nvPr/>
        </p:nvSpPr>
        <p:spPr>
          <a:xfrm rot="5400000">
            <a:off x="4767525" y="2447566"/>
            <a:ext cx="6561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4" name="Google Shape;424;p28"/>
          <p:cNvSpPr txBox="1"/>
          <p:nvPr/>
        </p:nvSpPr>
        <p:spPr>
          <a:xfrm>
            <a:off x="985647" y="178739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5" name="Google Shape;425;p28"/>
          <p:cNvSpPr txBox="1"/>
          <p:nvPr/>
        </p:nvSpPr>
        <p:spPr>
          <a:xfrm>
            <a:off x="985647" y="258794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6" name="Google Shape;426;p28"/>
          <p:cNvSpPr txBox="1"/>
          <p:nvPr/>
        </p:nvSpPr>
        <p:spPr>
          <a:xfrm>
            <a:off x="985647" y="3388496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7" name="Google Shape;427;p28"/>
          <p:cNvSpPr txBox="1"/>
          <p:nvPr/>
        </p:nvSpPr>
        <p:spPr>
          <a:xfrm>
            <a:off x="4869767" y="178743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8" name="Google Shape;428;p28"/>
          <p:cNvSpPr txBox="1"/>
          <p:nvPr/>
        </p:nvSpPr>
        <p:spPr>
          <a:xfrm>
            <a:off x="4867105" y="2563728"/>
            <a:ext cx="4395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4 - Table des matières [6]">
  <p:cSld name="94 - Table des matières [6]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9"/>
          <p:cNvSpPr txBox="1">
            <a:spLocks noGrp="1"/>
          </p:cNvSpPr>
          <p:nvPr>
            <p:ph type="title"/>
          </p:nvPr>
        </p:nvSpPr>
        <p:spPr>
          <a:xfrm>
            <a:off x="829600" y="10321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1" name="Google Shape;431;p29"/>
          <p:cNvSpPr txBox="1">
            <a:spLocks noGrp="1"/>
          </p:cNvSpPr>
          <p:nvPr>
            <p:ph type="body" idx="1"/>
          </p:nvPr>
        </p:nvSpPr>
        <p:spPr>
          <a:xfrm>
            <a:off x="1747225" y="16507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2" name="Google Shape;432;p29"/>
          <p:cNvSpPr txBox="1">
            <a:spLocks noGrp="1"/>
          </p:cNvSpPr>
          <p:nvPr>
            <p:ph type="body" idx="2"/>
          </p:nvPr>
        </p:nvSpPr>
        <p:spPr>
          <a:xfrm>
            <a:off x="1747225" y="244722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3" name="Google Shape;433;p29"/>
          <p:cNvSpPr txBox="1">
            <a:spLocks noGrp="1"/>
          </p:cNvSpPr>
          <p:nvPr>
            <p:ph type="body" idx="3"/>
          </p:nvPr>
        </p:nvSpPr>
        <p:spPr>
          <a:xfrm>
            <a:off x="1747225" y="32436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4" name="Google Shape;434;p29"/>
          <p:cNvSpPr txBox="1">
            <a:spLocks noGrp="1"/>
          </p:cNvSpPr>
          <p:nvPr>
            <p:ph type="body" idx="4"/>
          </p:nvPr>
        </p:nvSpPr>
        <p:spPr>
          <a:xfrm>
            <a:off x="5685325" y="16508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5" name="Google Shape;435;p29"/>
          <p:cNvSpPr txBox="1">
            <a:spLocks noGrp="1"/>
          </p:cNvSpPr>
          <p:nvPr>
            <p:ph type="body" idx="5"/>
          </p:nvPr>
        </p:nvSpPr>
        <p:spPr>
          <a:xfrm>
            <a:off x="5685325" y="24472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6" name="Google Shape;436;p29"/>
          <p:cNvSpPr txBox="1">
            <a:spLocks noGrp="1"/>
          </p:cNvSpPr>
          <p:nvPr>
            <p:ph type="body" idx="6"/>
          </p:nvPr>
        </p:nvSpPr>
        <p:spPr>
          <a:xfrm>
            <a:off x="5685325" y="32437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7" name="Google Shape;437;p29"/>
          <p:cNvSpPr/>
          <p:nvPr/>
        </p:nvSpPr>
        <p:spPr>
          <a:xfrm rot="5400000">
            <a:off x="4767525" y="3243573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8" name="Google Shape;438;p29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9" name="Google Shape;439;p29"/>
          <p:cNvSpPr/>
          <p:nvPr/>
        </p:nvSpPr>
        <p:spPr>
          <a:xfrm rot="5400000">
            <a:off x="883425" y="2447224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0" name="Google Shape;440;p29"/>
          <p:cNvSpPr/>
          <p:nvPr/>
        </p:nvSpPr>
        <p:spPr>
          <a:xfrm rot="5400000">
            <a:off x="883425" y="3243573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1" name="Google Shape;441;p29"/>
          <p:cNvSpPr/>
          <p:nvPr/>
        </p:nvSpPr>
        <p:spPr>
          <a:xfrm rot="5400000">
            <a:off x="47675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2" name="Google Shape;442;p29"/>
          <p:cNvSpPr/>
          <p:nvPr/>
        </p:nvSpPr>
        <p:spPr>
          <a:xfrm rot="5400000">
            <a:off x="4767525" y="2447224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3" name="Google Shape;443;p29"/>
          <p:cNvSpPr txBox="1"/>
          <p:nvPr/>
        </p:nvSpPr>
        <p:spPr>
          <a:xfrm>
            <a:off x="985647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4" name="Google Shape;444;p29"/>
          <p:cNvSpPr txBox="1"/>
          <p:nvPr/>
        </p:nvSpPr>
        <p:spPr>
          <a:xfrm>
            <a:off x="985647" y="255458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5" name="Google Shape;445;p29"/>
          <p:cNvSpPr txBox="1"/>
          <p:nvPr/>
        </p:nvSpPr>
        <p:spPr>
          <a:xfrm>
            <a:off x="985647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6" name="Google Shape;446;p29"/>
          <p:cNvSpPr txBox="1"/>
          <p:nvPr/>
        </p:nvSpPr>
        <p:spPr>
          <a:xfrm>
            <a:off x="4868853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7" name="Google Shape;447;p29"/>
          <p:cNvSpPr txBox="1"/>
          <p:nvPr/>
        </p:nvSpPr>
        <p:spPr>
          <a:xfrm>
            <a:off x="4868853" y="2554580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8" name="Google Shape;448;p29"/>
          <p:cNvSpPr txBox="1"/>
          <p:nvPr/>
        </p:nvSpPr>
        <p:spPr>
          <a:xfrm>
            <a:off x="4868853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5 - Table des matières [7]">
  <p:cSld name="95 - Table des matières [7]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0"/>
          <p:cNvSpPr txBox="1">
            <a:spLocks noGrp="1"/>
          </p:cNvSpPr>
          <p:nvPr>
            <p:ph type="title"/>
          </p:nvPr>
        </p:nvSpPr>
        <p:spPr>
          <a:xfrm>
            <a:off x="829600" y="891150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1" name="Google Shape;451;p30"/>
          <p:cNvSpPr txBox="1">
            <a:spLocks noGrp="1"/>
          </p:cNvSpPr>
          <p:nvPr>
            <p:ph type="body" idx="1"/>
          </p:nvPr>
        </p:nvSpPr>
        <p:spPr>
          <a:xfrm>
            <a:off x="1678225" y="13977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2" name="Google Shape;452;p30"/>
          <p:cNvSpPr txBox="1">
            <a:spLocks noGrp="1"/>
          </p:cNvSpPr>
          <p:nvPr>
            <p:ph type="body" idx="2"/>
          </p:nvPr>
        </p:nvSpPr>
        <p:spPr>
          <a:xfrm>
            <a:off x="1678225" y="21186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3" name="Google Shape;453;p30"/>
          <p:cNvSpPr txBox="1">
            <a:spLocks noGrp="1"/>
          </p:cNvSpPr>
          <p:nvPr>
            <p:ph type="body" idx="3"/>
          </p:nvPr>
        </p:nvSpPr>
        <p:spPr>
          <a:xfrm>
            <a:off x="1678225" y="28520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4" name="Google Shape;454;p30"/>
          <p:cNvSpPr txBox="1">
            <a:spLocks noGrp="1"/>
          </p:cNvSpPr>
          <p:nvPr>
            <p:ph type="body" idx="4"/>
          </p:nvPr>
        </p:nvSpPr>
        <p:spPr>
          <a:xfrm>
            <a:off x="1678125" y="35768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5" name="Google Shape;455;p30"/>
          <p:cNvSpPr txBox="1">
            <a:spLocks noGrp="1"/>
          </p:cNvSpPr>
          <p:nvPr>
            <p:ph type="body" idx="5"/>
          </p:nvPr>
        </p:nvSpPr>
        <p:spPr>
          <a:xfrm>
            <a:off x="5619625" y="1385200"/>
            <a:ext cx="29208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6" name="Google Shape;456;p30"/>
          <p:cNvSpPr txBox="1">
            <a:spLocks noGrp="1"/>
          </p:cNvSpPr>
          <p:nvPr>
            <p:ph type="body" idx="6"/>
          </p:nvPr>
        </p:nvSpPr>
        <p:spPr>
          <a:xfrm>
            <a:off x="5619625" y="210155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7" name="Google Shape;457;p30"/>
          <p:cNvSpPr txBox="1">
            <a:spLocks noGrp="1"/>
          </p:cNvSpPr>
          <p:nvPr>
            <p:ph type="body" idx="7"/>
          </p:nvPr>
        </p:nvSpPr>
        <p:spPr>
          <a:xfrm>
            <a:off x="5619625" y="285210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8" name="Google Shape;458;p30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59" name="Google Shape;459;p30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0" name="Google Shape;460;p30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1" name="Google Shape;461;p30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2" name="Google Shape;462;p30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3" name="Google Shape;463;p30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4" name="Google Shape;464;p30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5" name="Google Shape;465;p30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6" name="Google Shape;466;p30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7" name="Google Shape;467;p30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8" name="Google Shape;468;p30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9" name="Google Shape;469;p30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0" name="Google Shape;470;p30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1" name="Google Shape;471;p30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6 - Table des matières [8]">
  <p:cSld name="96 - Table des matières [8]"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1"/>
          <p:cNvSpPr txBox="1">
            <a:spLocks noGrp="1"/>
          </p:cNvSpPr>
          <p:nvPr>
            <p:ph type="title"/>
          </p:nvPr>
        </p:nvSpPr>
        <p:spPr>
          <a:xfrm>
            <a:off x="829600" y="89702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4" name="Google Shape;474;p31"/>
          <p:cNvSpPr txBox="1">
            <a:spLocks noGrp="1"/>
          </p:cNvSpPr>
          <p:nvPr>
            <p:ph type="body" idx="1"/>
          </p:nvPr>
        </p:nvSpPr>
        <p:spPr>
          <a:xfrm>
            <a:off x="1681525" y="13977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5" name="Google Shape;475;p31"/>
          <p:cNvSpPr txBox="1">
            <a:spLocks noGrp="1"/>
          </p:cNvSpPr>
          <p:nvPr>
            <p:ph type="body" idx="2"/>
          </p:nvPr>
        </p:nvSpPr>
        <p:spPr>
          <a:xfrm>
            <a:off x="1681525" y="21207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6" name="Google Shape;476;p31"/>
          <p:cNvSpPr txBox="1">
            <a:spLocks noGrp="1"/>
          </p:cNvSpPr>
          <p:nvPr>
            <p:ph type="body" idx="3"/>
          </p:nvPr>
        </p:nvSpPr>
        <p:spPr>
          <a:xfrm>
            <a:off x="1681525" y="28520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7" name="Google Shape;477;p31"/>
          <p:cNvSpPr txBox="1">
            <a:spLocks noGrp="1"/>
          </p:cNvSpPr>
          <p:nvPr>
            <p:ph type="body" idx="4"/>
          </p:nvPr>
        </p:nvSpPr>
        <p:spPr>
          <a:xfrm>
            <a:off x="1681525" y="35855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8" name="Google Shape;478;p31"/>
          <p:cNvSpPr txBox="1">
            <a:spLocks noGrp="1"/>
          </p:cNvSpPr>
          <p:nvPr>
            <p:ph type="body" idx="5"/>
          </p:nvPr>
        </p:nvSpPr>
        <p:spPr>
          <a:xfrm>
            <a:off x="5619625" y="13978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9" name="Google Shape;479;p31"/>
          <p:cNvSpPr txBox="1">
            <a:spLocks noGrp="1"/>
          </p:cNvSpPr>
          <p:nvPr>
            <p:ph type="body" idx="6"/>
          </p:nvPr>
        </p:nvSpPr>
        <p:spPr>
          <a:xfrm>
            <a:off x="5619625" y="21207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0" name="Google Shape;480;p31"/>
          <p:cNvSpPr txBox="1">
            <a:spLocks noGrp="1"/>
          </p:cNvSpPr>
          <p:nvPr>
            <p:ph type="body" idx="7"/>
          </p:nvPr>
        </p:nvSpPr>
        <p:spPr>
          <a:xfrm>
            <a:off x="5619625" y="28434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1" name="Google Shape;481;p31"/>
          <p:cNvSpPr txBox="1">
            <a:spLocks noGrp="1"/>
          </p:cNvSpPr>
          <p:nvPr>
            <p:ph type="body" idx="8"/>
          </p:nvPr>
        </p:nvSpPr>
        <p:spPr>
          <a:xfrm>
            <a:off x="5619625" y="35663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2" name="Google Shape;482;p31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3" name="Google Shape;483;p31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4" name="Google Shape;484;p31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5" name="Google Shape;485;p31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6" name="Google Shape;486;p31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7" name="Google Shape;487;p31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8" name="Google Shape;488;p31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9" name="Google Shape;489;p31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0" name="Google Shape;490;p31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1" name="Google Shape;491;p31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2" name="Google Shape;492;p31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3" name="Google Shape;493;p31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4" name="Google Shape;494;p31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5" name="Google Shape;495;p31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6" name="Google Shape;496;p31"/>
          <p:cNvSpPr/>
          <p:nvPr/>
        </p:nvSpPr>
        <p:spPr>
          <a:xfrm rot="5400000">
            <a:off x="4788825" y="356642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97" name="Google Shape;497;p31"/>
          <p:cNvSpPr txBox="1"/>
          <p:nvPr/>
        </p:nvSpPr>
        <p:spPr>
          <a:xfrm>
            <a:off x="4814169" y="3638040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7 - Table des matières [9]">
  <p:cSld name="97 - Table des matières [9]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2"/>
          <p:cNvSpPr txBox="1">
            <a:spLocks noGrp="1"/>
          </p:cNvSpPr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0" name="Google Shape;500;p32"/>
          <p:cNvSpPr txBox="1">
            <a:spLocks noGrp="1"/>
          </p:cNvSpPr>
          <p:nvPr>
            <p:ph type="body" idx="1"/>
          </p:nvPr>
        </p:nvSpPr>
        <p:spPr>
          <a:xfrm>
            <a:off x="1681525" y="11224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1" name="Google Shape;501;p32"/>
          <p:cNvSpPr txBox="1">
            <a:spLocks noGrp="1"/>
          </p:cNvSpPr>
          <p:nvPr>
            <p:ph type="body" idx="2"/>
          </p:nvPr>
        </p:nvSpPr>
        <p:spPr>
          <a:xfrm>
            <a:off x="1681525" y="18195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2" name="Google Shape;502;p32"/>
          <p:cNvSpPr txBox="1">
            <a:spLocks noGrp="1"/>
          </p:cNvSpPr>
          <p:nvPr>
            <p:ph type="body" idx="3"/>
          </p:nvPr>
        </p:nvSpPr>
        <p:spPr>
          <a:xfrm>
            <a:off x="1681525" y="24900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3" name="Google Shape;503;p32"/>
          <p:cNvSpPr txBox="1">
            <a:spLocks noGrp="1"/>
          </p:cNvSpPr>
          <p:nvPr>
            <p:ph type="body" idx="4"/>
          </p:nvPr>
        </p:nvSpPr>
        <p:spPr>
          <a:xfrm>
            <a:off x="1681525" y="32864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4" name="Google Shape;504;p32"/>
          <p:cNvSpPr txBox="1">
            <a:spLocks noGrp="1"/>
          </p:cNvSpPr>
          <p:nvPr>
            <p:ph type="body" idx="5"/>
          </p:nvPr>
        </p:nvSpPr>
        <p:spPr>
          <a:xfrm>
            <a:off x="1681525" y="39788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5" name="Google Shape;505;p32"/>
          <p:cNvSpPr txBox="1">
            <a:spLocks noGrp="1"/>
          </p:cNvSpPr>
          <p:nvPr>
            <p:ph type="body" idx="6"/>
          </p:nvPr>
        </p:nvSpPr>
        <p:spPr>
          <a:xfrm>
            <a:off x="5619625" y="10771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6" name="Google Shape;506;p32"/>
          <p:cNvSpPr txBox="1">
            <a:spLocks noGrp="1"/>
          </p:cNvSpPr>
          <p:nvPr>
            <p:ph type="body" idx="7"/>
          </p:nvPr>
        </p:nvSpPr>
        <p:spPr>
          <a:xfrm>
            <a:off x="5619625" y="18106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7" name="Google Shape;507;p32"/>
          <p:cNvSpPr txBox="1">
            <a:spLocks noGrp="1"/>
          </p:cNvSpPr>
          <p:nvPr>
            <p:ph type="body" idx="8"/>
          </p:nvPr>
        </p:nvSpPr>
        <p:spPr>
          <a:xfrm>
            <a:off x="5619625" y="26070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8" name="Google Shape;508;p32"/>
          <p:cNvSpPr txBox="1">
            <a:spLocks noGrp="1"/>
          </p:cNvSpPr>
          <p:nvPr>
            <p:ph type="body" idx="9"/>
          </p:nvPr>
        </p:nvSpPr>
        <p:spPr>
          <a:xfrm>
            <a:off x="5619625" y="32145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9" name="Google Shape;509;p32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0" name="Google Shape;510;p32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1" name="Google Shape;511;p32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2" name="Google Shape;512;p32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3" name="Google Shape;513;p32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4" name="Google Shape;514;p32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5" name="Google Shape;515;p32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6" name="Google Shape;516;p32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7" name="Google Shape;517;p32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8" name="Google Shape;518;p32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9" name="Google Shape;519;p32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0" name="Google Shape;520;p32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1" name="Google Shape;521;p32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2" name="Google Shape;522;p32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3" name="Google Shape;523;p32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4" name="Google Shape;524;p32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5" name="Google Shape;525;p32"/>
          <p:cNvSpPr/>
          <p:nvPr/>
        </p:nvSpPr>
        <p:spPr>
          <a:xfrm rot="5400000">
            <a:off x="4788825" y="32573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6" name="Google Shape;526;p32"/>
          <p:cNvSpPr txBox="1"/>
          <p:nvPr/>
        </p:nvSpPr>
        <p:spPr>
          <a:xfrm>
            <a:off x="4814169" y="33289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8 - Table des matières [10]">
  <p:cSld name="98 - Table des matières [10]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3"/>
          <p:cNvSpPr txBox="1">
            <a:spLocks noGrp="1"/>
          </p:cNvSpPr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29" name="Google Shape;529;p33"/>
          <p:cNvSpPr txBox="1">
            <a:spLocks noGrp="1"/>
          </p:cNvSpPr>
          <p:nvPr>
            <p:ph type="body" idx="1"/>
          </p:nvPr>
        </p:nvSpPr>
        <p:spPr>
          <a:xfrm>
            <a:off x="1678225" y="1122425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0" name="Google Shape;530;p33"/>
          <p:cNvSpPr txBox="1">
            <a:spLocks noGrp="1"/>
          </p:cNvSpPr>
          <p:nvPr>
            <p:ph type="body" idx="2"/>
          </p:nvPr>
        </p:nvSpPr>
        <p:spPr>
          <a:xfrm>
            <a:off x="1678225" y="18195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1" name="Google Shape;531;p33"/>
          <p:cNvSpPr txBox="1">
            <a:spLocks noGrp="1"/>
          </p:cNvSpPr>
          <p:nvPr>
            <p:ph type="body" idx="3"/>
          </p:nvPr>
        </p:nvSpPr>
        <p:spPr>
          <a:xfrm>
            <a:off x="1678225" y="255302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2" name="Google Shape;532;p33"/>
          <p:cNvSpPr txBox="1">
            <a:spLocks noGrp="1"/>
          </p:cNvSpPr>
          <p:nvPr>
            <p:ph type="body" idx="4"/>
          </p:nvPr>
        </p:nvSpPr>
        <p:spPr>
          <a:xfrm>
            <a:off x="1678125" y="32864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3" name="Google Shape;533;p33"/>
          <p:cNvSpPr txBox="1">
            <a:spLocks noGrp="1"/>
          </p:cNvSpPr>
          <p:nvPr>
            <p:ph type="body" idx="5"/>
          </p:nvPr>
        </p:nvSpPr>
        <p:spPr>
          <a:xfrm>
            <a:off x="1681525" y="401517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4" name="Google Shape;534;p33"/>
          <p:cNvSpPr txBox="1">
            <a:spLocks noGrp="1"/>
          </p:cNvSpPr>
          <p:nvPr>
            <p:ph type="body" idx="6"/>
          </p:nvPr>
        </p:nvSpPr>
        <p:spPr>
          <a:xfrm>
            <a:off x="5619625" y="11401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5" name="Google Shape;535;p33"/>
          <p:cNvSpPr txBox="1">
            <a:spLocks noGrp="1"/>
          </p:cNvSpPr>
          <p:nvPr>
            <p:ph type="body" idx="7"/>
          </p:nvPr>
        </p:nvSpPr>
        <p:spPr>
          <a:xfrm>
            <a:off x="5619625" y="18736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6" name="Google Shape;536;p33"/>
          <p:cNvSpPr txBox="1">
            <a:spLocks noGrp="1"/>
          </p:cNvSpPr>
          <p:nvPr>
            <p:ph type="body" idx="8"/>
          </p:nvPr>
        </p:nvSpPr>
        <p:spPr>
          <a:xfrm>
            <a:off x="5619625" y="25440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7" name="Google Shape;537;p33"/>
          <p:cNvSpPr txBox="1">
            <a:spLocks noGrp="1"/>
          </p:cNvSpPr>
          <p:nvPr>
            <p:ph type="body" idx="9"/>
          </p:nvPr>
        </p:nvSpPr>
        <p:spPr>
          <a:xfrm>
            <a:off x="5619625" y="33405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8" name="Google Shape;538;p33"/>
          <p:cNvSpPr txBox="1">
            <a:spLocks noGrp="1"/>
          </p:cNvSpPr>
          <p:nvPr>
            <p:ph type="body" idx="13"/>
          </p:nvPr>
        </p:nvSpPr>
        <p:spPr>
          <a:xfrm>
            <a:off x="5619625" y="40329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9" name="Google Shape;539;p33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0" name="Google Shape;540;p33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1" name="Google Shape;541;p33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2" name="Google Shape;542;p33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3" name="Google Shape;543;p33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4" name="Google Shape;544;p33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5" name="Google Shape;545;p33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6" name="Google Shape;546;p33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7" name="Google Shape;547;p33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8" name="Google Shape;548;p33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9" name="Google Shape;549;p33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0" name="Google Shape;550;p33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1" name="Google Shape;551;p33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2" name="Google Shape;552;p33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3" name="Google Shape;553;p33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4" name="Google Shape;554;p33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5" name="Google Shape;555;p33"/>
          <p:cNvSpPr/>
          <p:nvPr/>
        </p:nvSpPr>
        <p:spPr>
          <a:xfrm rot="5400000">
            <a:off x="4788825" y="3261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6" name="Google Shape;556;p33"/>
          <p:cNvSpPr txBox="1"/>
          <p:nvPr/>
        </p:nvSpPr>
        <p:spPr>
          <a:xfrm>
            <a:off x="4814169" y="3333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7" name="Google Shape;557;p33"/>
          <p:cNvSpPr/>
          <p:nvPr/>
        </p:nvSpPr>
        <p:spPr>
          <a:xfrm rot="5400000">
            <a:off x="47888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8" name="Google Shape;558;p33"/>
          <p:cNvSpPr txBox="1"/>
          <p:nvPr/>
        </p:nvSpPr>
        <p:spPr>
          <a:xfrm>
            <a:off x="48141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10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9 - Table des matières [all]">
  <p:cSld name="99 - Table des matières [all]"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4"/>
          <p:cNvSpPr txBox="1">
            <a:spLocks noGrp="1"/>
          </p:cNvSpPr>
          <p:nvPr>
            <p:ph type="title"/>
          </p:nvPr>
        </p:nvSpPr>
        <p:spPr>
          <a:xfrm>
            <a:off x="564931" y="360737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1" name="Google Shape;561;p34"/>
          <p:cNvSpPr txBox="1">
            <a:spLocks noGrp="1"/>
          </p:cNvSpPr>
          <p:nvPr>
            <p:ph type="body" idx="1"/>
          </p:nvPr>
        </p:nvSpPr>
        <p:spPr>
          <a:xfrm>
            <a:off x="571500" y="803050"/>
            <a:ext cx="7053000" cy="4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2" name="Google Shape;562;p34"/>
          <p:cNvSpPr txBox="1">
            <a:spLocks noGrp="1"/>
          </p:cNvSpPr>
          <p:nvPr>
            <p:ph type="body" idx="2"/>
          </p:nvPr>
        </p:nvSpPr>
        <p:spPr>
          <a:xfrm>
            <a:off x="7624600" y="803050"/>
            <a:ext cx="1016100" cy="4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- Titre et sous-titre 2">
  <p:cSld name="03 - Titre et sous-titre_1_2"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5"/>
          <p:cNvSpPr txBox="1">
            <a:spLocks noGrp="1"/>
          </p:cNvSpPr>
          <p:nvPr>
            <p:ph type="subTitle" idx="1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5" name="Google Shape;565;p35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7" name="Google Shape;7;p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" name="Google Shape;10;p1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1" name="Google Shape;11;p1"/>
          <p:cNvCxnSpPr>
            <a:stCxn id="12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1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4" name="Google Shape;14;p1"/>
          <p:cNvCxnSpPr>
            <a:endCxn id="13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" name="Google Shape;15;p1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" name="Google Shape;12;p1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" name="Google Shape;16;p1"/>
          <p:cNvCxnSpPr>
            <a:stCxn id="15" idx="2"/>
            <a:endCxn id="13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6">
          <p15:clr>
            <a:srgbClr val="EA4335"/>
          </p15:clr>
        </p15:guide>
        <p15:guide id="2" pos="2880">
          <p15:clr>
            <a:srgbClr val="EA4335"/>
          </p15:clr>
        </p15:guide>
        <p15:guide id="3" orient="horz" pos="3064">
          <p15:clr>
            <a:srgbClr val="EA4335"/>
          </p15:clr>
        </p15:guide>
        <p15:guide id="4" orient="horz" pos="236">
          <p15:clr>
            <a:srgbClr val="EA4335"/>
          </p15:clr>
        </p15:guide>
        <p15:guide id="5" pos="360">
          <p15:clr>
            <a:srgbClr val="EA4335"/>
          </p15:clr>
        </p15:guide>
        <p15:guide id="6" pos="5403">
          <p15:clr>
            <a:srgbClr val="EA4335"/>
          </p15:clr>
        </p15:guide>
        <p15:guide id="7" orient="horz" pos="515">
          <p15:clr>
            <a:srgbClr val="E46962"/>
          </p15:clr>
        </p15:guide>
        <p15:guide id="8" orient="horz" pos="802">
          <p15:clr>
            <a:srgbClr val="E46962"/>
          </p15:clr>
        </p15:guide>
        <p15:guide id="9" pos="3697">
          <p15:clr>
            <a:srgbClr val="E46962"/>
          </p15:clr>
        </p15:guide>
        <p15:guide id="10" pos="2168">
          <p15:clr>
            <a:srgbClr val="E46962"/>
          </p15:clr>
        </p15:guide>
        <p15:guide id="11" pos="3372">
          <p15:clr>
            <a:srgbClr val="E46962"/>
          </p15:clr>
        </p15:guide>
        <p15:guide id="12" pos="2484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BMAD IAP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Infra as a Product Transformation Pack — synthèse de cadrage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OCTO Technology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r>
              <a:t>v2.4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350">
                <a:solidFill>
                  <a:srgbClr val="00D2DD"/>
                </a:solidFill>
              </a:rPr>
              <a:t>EXECUTIVE SUMMARY   ·   </a:t>
            </a:r>
            <a:r>
              <a:rPr b="1" sz="1350">
                <a:solidFill>
                  <a:srgbClr val="0E2356"/>
                </a:solidFill>
              </a:rPr>
              <a:t>Une transformation à deux piliers, cadrée et mesurable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0E2356"/>
                </a:solidFill>
              </a:rPr>
              <a:t>Transformer l'infrastructure en plateforme opérée comme un produit, ET traiter structurellement le gaspillage qui l'en empêche — deux piliers non séquentiels, cadrés par une doctrine non négociable et mesurés par des KPIs dédiés.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2423160"/>
            <a:ext cx="1813941" cy="1852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2423160"/>
            <a:ext cx="64008" cy="1852168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6947" y="2587752"/>
            <a:ext cx="148475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2C5CC5"/>
                </a:solidFill>
              </a:rPr>
              <a:t>Doctrine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7" y="3017520"/>
            <a:ext cx="1484757" cy="11206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800" b="0" i="0">
                <a:solidFill>
                  <a:srgbClr val="0E2356"/>
                </a:solidFill>
              </a:rPr>
              <a:t>Gate IA non négociable : checkpoint humain systématique sur toute donnée client, quel que soit le mode d'exécution IA retenu.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59177" y="2423160"/>
            <a:ext cx="1813941" cy="1852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59177" y="2423160"/>
            <a:ext cx="64008" cy="1852168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23769" y="2587752"/>
            <a:ext cx="148475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E6B34"/>
                </a:solidFill>
              </a:rPr>
              <a:t>Méthode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23769" y="3017520"/>
            <a:ext cx="1484757" cy="11206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800" b="0" i="0">
                <a:solidFill>
                  <a:srgbClr val="0E2356"/>
                </a:solidFill>
              </a:rPr>
              <a:t>Gaspillage traité avec un score explicite (impact × faisabilité − prudence IA) ; modèles d'équipe Team Topologies étendus aux agents IA, mandat écrit avant délégation.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55998" y="2423160"/>
            <a:ext cx="1813941" cy="1852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55998" y="2423160"/>
            <a:ext cx="64008" cy="1852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0590" y="2587752"/>
            <a:ext cx="148475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B8860B"/>
                </a:solidFill>
              </a:rPr>
              <a:t>Maturité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0590" y="3017520"/>
            <a:ext cx="1484757" cy="11206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800" b="0" i="0">
                <a:solidFill>
                  <a:srgbClr val="0E2356"/>
                </a:solidFill>
              </a:rPr>
              <a:t>Deux échelles jamais confondues : maturité IA client (M0-M4) et grille produit/plateforme V3.2 — chacune sa lecture, son usage.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52819" y="2423160"/>
            <a:ext cx="1813941" cy="1852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52819" y="2423160"/>
            <a:ext cx="64008" cy="185216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17411" y="2587752"/>
            <a:ext cx="148475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B3261E"/>
                </a:solidFill>
              </a:rPr>
              <a:t>Posture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7411" y="3017520"/>
            <a:ext cx="1484757" cy="11206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800" b="0" i="0">
                <a:solidFill>
                  <a:srgbClr val="0E2356"/>
                </a:solidFill>
              </a:rPr>
              <a:t>Niveau d'ambition A (aide au coach) assumé aujourd'hui — un choix de gouvernance, pas une limite technique subie, mesuré par 3 familles de KPIs distinctes.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b="1">
                <a:solidFill>
                  <a:srgbClr val="0E2356"/>
                </a:solidFill>
              </a:rPr>
              <a:t>Le constat</a:t>
            </a:r>
            <a:r>
              <a:rPr>
                <a:solidFill>
                  <a:srgbClr val="0E2356"/>
                </a:solidFill>
              </a:rPr>
              <a:t> — Une infrastructure vécue comme un guichet ou un centre de coûts subit la demande au lieu de la piloter : ni utilisateurs identifiés, ni feuille de route, ni levier d'adoption.</a:t>
            </a:r>
          </a:p>
          <a:p>
            <a:r>
              <a:rPr b="1">
                <a:solidFill>
                  <a:srgbClr val="0E2356"/>
                </a:solidFill>
              </a:rPr>
              <a:t>Ce que ça coûte</a:t>
            </a:r>
            <a:r>
              <a:rPr>
                <a:solidFill>
                  <a:srgbClr val="0E2356"/>
                </a:solidFill>
              </a:rPr>
              <a:t> — La capacité disponible part en gaspillage (RUN subi, ressources orphelines, experts seniors sur des tâches répétitives) — et le réflexe « plus d'outils » ou « mettons de l'IA » l'aggrave au lieu de le traiter.</a:t>
            </a:r>
          </a:p>
          <a:p>
            <a:r>
              <a:rPr b="1">
                <a:solidFill>
                  <a:srgbClr val="0E2356"/>
                </a:solidFill>
              </a:rPr>
              <a:t>Ce qu'un bon diagnostic exige</a:t>
            </a:r>
            <a:r>
              <a:rPr>
                <a:solidFill>
                  <a:srgbClr val="0E2356"/>
                </a:solidFill>
              </a:rPr>
              <a:t> — Partir des utilisateurs réels et de leurs douleurs, pas d'une réponse toute faite : c'est ce que déroulent les chapitres suivants.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E2356"/>
                </a:solidFill>
              </a:rPr>
              <a:t>Le risque n'est pas de manquer d'outils : c'est de traiter le mauvais problème</a:t>
            </a:r>
          </a:p>
        </p:txBody>
      </p:sp>
      <p:pic>
        <p:nvPicPr>
          <p:cNvPr id="4" name="Picture 3" descr="sunset_1_960x1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019" y="304800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2C5CC5"/>
                </a:solidFill>
              </a:rPr>
              <a:t>Contexte</a:t>
            </a:r>
          </a:p>
          <a:p>
            <a:r>
              <a:rPr sz="1050" i="1">
                <a:solidFill>
                  <a:srgbClr val="586586"/>
                </a:solidFill>
              </a:rPr>
              <a:t>La double mission, et pourquoi cette transformation a du sens pour un client infra maintenant.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lIns="0" rIns="0" tIns="0" bIns="0" anchor="ctr"/>
          <a:lstStyle/>
          <a:p>
            <a:pPr algn="ctr" marL="0" indent="0">
              <a:buNone/>
            </a:pPr>
            <a:r>
              <a:rPr sz="1700">
                <a:solidFill>
                  <a:srgbClr val="2C5CC5"/>
                </a:solidFill>
              </a:rPr>
              <a:t>01</a:t>
            </a:r>
          </a:p>
        </p:txBody>
      </p:sp>
      <p:pic>
        <p:nvPicPr>
          <p:cNvPr id="4" name="Picture 3" descr="mountains_0_960x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700">
                <a:solidFill>
                  <a:srgbClr val="2C5CC5"/>
                </a:solidFill>
              </a:rPr>
              <a:t>CONTEXTE   ·   </a:t>
            </a:r>
            <a:r>
              <a:rPr b="1" sz="1700">
                <a:solidFill>
                  <a:srgbClr val="0E2356"/>
                </a:solidFill>
              </a:rPr>
              <a:t>Une double mission : transformer ET assainir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2356" y="1508760"/>
            <a:ext cx="381076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2356" y="1508760"/>
            <a:ext cx="64008" cy="160020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3524" y="1645919"/>
            <a:ext cx="340842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2C5CC5"/>
                </a:solidFill>
              </a:rPr>
              <a:t>TRANSFORMER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" y="1965960"/>
            <a:ext cx="3408426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586586"/>
                </a:solidFill>
              </a:rPr>
              <a:t>CE QU'IL VISE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0E2356"/>
                </a:solidFill>
              </a:rPr>
              <a:t>Cible produit/plateforme : utilisateurs identifiés, valeur, roadmap, engagements de qualité, gouvernance lisible.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" y="2560320"/>
            <a:ext cx="3408426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586586"/>
                </a:solidFill>
              </a:rPr>
              <a:t>CE QU'IL FINANCE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0E2356"/>
                </a:solidFill>
              </a:rPr>
              <a:t>La vision à moyen terme — ce que le sponsor achète.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55998" y="1508760"/>
            <a:ext cx="381076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55998" y="1508760"/>
            <a:ext cx="64008" cy="160020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7166" y="1645919"/>
            <a:ext cx="340842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B3261E"/>
                </a:solidFill>
              </a:rPr>
              <a:t>ASSAINIR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7166" y="1965960"/>
            <a:ext cx="3408426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586586"/>
                </a:solidFill>
              </a:rPr>
              <a:t>CE QU'IL VISE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0E2356"/>
                </a:solidFill>
              </a:rPr>
              <a:t>Traitement mesurable des gaspillages : flux, RUN, humain, financier, cognitif, décisionnel, environnemental, 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7166" y="2560320"/>
            <a:ext cx="3408426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586586"/>
                </a:solidFill>
              </a:rPr>
              <a:t>CE QU'IL FINANCE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0E2356"/>
                </a:solidFill>
              </a:rPr>
              <a:t>La capacité récupérée finance la trajectoire produit — mécanisme instrumenté dès la première mission (KPI de réinvestissement).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" y="3291840"/>
            <a:ext cx="7804404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586586"/>
                </a:solidFill>
              </a:rPr>
              <a:t>Les deux piliers ne sont ni séquentiels ni optionnels l'un par rapport à l'autre : une cible produit sans traitement du gaspillage manque de capacité pour s'y déployer ; l'inverse reste une réduction de coûts sans vision.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" y="3858768"/>
            <a:ext cx="2479548" cy="566928"/>
          </a:xfrm>
          <a:prstGeom prst="roundRect">
            <a:avLst>
              <a:gd name="adj" fmla="val 12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" y="3858768"/>
            <a:ext cx="2296667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</a:rPr>
              <a:t>Efficacité du delivery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24783" y="3858768"/>
            <a:ext cx="2479548" cy="566928"/>
          </a:xfrm>
          <a:prstGeom prst="roundRect">
            <a:avLst>
              <a:gd name="adj" fmla="val 12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6224" y="3858768"/>
            <a:ext cx="2296667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</a:rPr>
              <a:t>Robustesse du RUN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87212" y="3858768"/>
            <a:ext cx="2479548" cy="566928"/>
          </a:xfrm>
          <a:prstGeom prst="roundRect">
            <a:avLst>
              <a:gd name="adj" fmla="val 12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78652" y="3858768"/>
            <a:ext cx="2296667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</a:rPr>
              <a:t>Valeur perçue (utilisateurs internes)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50">
                <a:solidFill>
                  <a:srgbClr val="2C5CC5"/>
                </a:solidFill>
              </a:rPr>
              <a:t>CONTEXTE   ·   </a:t>
            </a:r>
            <a:r>
              <a:rPr b="1" sz="1250">
                <a:solidFill>
                  <a:srgbClr val="0E2356"/>
                </a:solidFill>
              </a:rPr>
              <a:t>Pourquoi cette transformation, pour un client infra — et maintenant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0E2356"/>
                </a:solidFill>
              </a:rPr>
              <a:t>Trois bascules rendent l'Infra-as-a-Product pertinente — et urgente — pour un client dont l'infrastructure est encore vécue comme un centre de coûts et un guichet.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645920"/>
            <a:ext cx="2479548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1645920"/>
            <a:ext cx="64008" cy="251460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5" y="1847088"/>
            <a:ext cx="2004059" cy="211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50" b="1" i="0">
                <a:solidFill>
                  <a:srgbClr val="586586"/>
                </a:solidFill>
              </a:rPr>
              <a:t>DÉCLENCHEUR 1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1" i="0">
                <a:solidFill>
                  <a:srgbClr val="B3261E"/>
                </a:solidFill>
              </a:rPr>
              <a:t>L'infra subie n'est plus tenable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900" b="0" i="0">
                <a:solidFill>
                  <a:srgbClr val="0E2356"/>
                </a:solidFill>
              </a:rPr>
              <a:t>RUN subi, experts seniors drainés sur du répétitif, gaspillage cloud non maîtrisé, plateforme contournée : le coût du statu quo ne cesse de monter.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24783" y="1645920"/>
            <a:ext cx="2479548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24783" y="1645920"/>
            <a:ext cx="64008" cy="2514600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99104" y="1847088"/>
            <a:ext cx="2004059" cy="211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50" b="1" i="0">
                <a:solidFill>
                  <a:srgbClr val="586586"/>
                </a:solidFill>
              </a:rPr>
              <a:t>DÉCLENCHEUR 2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1" i="0">
                <a:solidFill>
                  <a:srgbClr val="1E6B34"/>
                </a:solidFill>
              </a:rPr>
              <a:t>Le modèle produit/plateforme est prouvé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900" b="0" i="0">
                <a:solidFill>
                  <a:srgbClr val="0E2356"/>
                </a:solidFill>
              </a:rPr>
              <a:t>Platform engineering et product operating model ne sont plus un pari mais un standard : la cible est connue, outillée, reproductible.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87212" y="1645920"/>
            <a:ext cx="2479548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887212" y="1645920"/>
            <a:ext cx="64008" cy="2514600"/>
          </a:xfrm>
          <a:prstGeom prst="roundRect">
            <a:avLst>
              <a:gd name="adj" fmla="val 50000"/>
            </a:avLst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61532" y="1847088"/>
            <a:ext cx="2004059" cy="211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50" b="1" i="0">
                <a:solidFill>
                  <a:srgbClr val="586586"/>
                </a:solidFill>
              </a:rPr>
              <a:t>DÉCLENCHEUR 3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1" i="0">
                <a:solidFill>
                  <a:srgbClr val="6A3D9A"/>
                </a:solidFill>
              </a:rPr>
              <a:t>L'IA rebat les cartes — l'organisation d'abord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900" b="0" i="0">
                <a:solidFill>
                  <a:srgbClr val="0E2356"/>
                </a:solidFill>
              </a:rPr>
              <a:t>L'IA amplifie une organisation mûre, jamais l'inverse. S'y préparer maintenant (doctrine confidentialité-first) évite de la subir plus tard.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" y="4325112"/>
            <a:ext cx="7804404" cy="658368"/>
          </a:xfrm>
          <a:prstGeom prst="roundRect">
            <a:avLst>
              <a:gd name="adj" fmla="val 1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2356" y="4325112"/>
            <a:ext cx="73152" cy="658368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" y="4325112"/>
            <a:ext cx="7383779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0E2356"/>
                </a:solidFill>
              </a:rPr>
              <a:t>Et surtout — nos deux missions répondent trait pour trait aux deux douleurs du client.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800" b="0" i="0">
                <a:solidFill>
                  <a:srgbClr val="586586"/>
                </a:solidFill>
              </a:rPr>
              <a:t>Subir le RUN → TRANSFORMER (cible produit/plateforme) ; le gaspillage → ASSAINIR (capacité récupérée réinvestie dans la trajectoire — mesuré par KPI).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38086"/>
                </a:solidFill>
              </a:rPr>
              <a:t>Personas</a:t>
            </a:r>
          </a:p>
          <a:p>
            <a:r>
              <a:rPr sz="1050" i="1">
                <a:solidFill>
                  <a:srgbClr val="586586"/>
                </a:solidFill>
              </a:rPr>
              <a:t>Quatre parties prenantes interrogées séparément — leurs voix, leurs postures, les tensions.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lIns="0" rIns="0" tIns="0" bIns="0" anchor="ctr"/>
          <a:lstStyle/>
          <a:p>
            <a:pPr algn="ctr" marL="0" indent="0">
              <a:buNone/>
            </a:pPr>
            <a:r>
              <a:rPr sz="1700">
                <a:solidFill>
                  <a:srgbClr val="138086"/>
                </a:solidFill>
              </a:rPr>
              <a:t>02</a:t>
            </a:r>
          </a:p>
        </p:txBody>
      </p:sp>
      <p:pic>
        <p:nvPicPr>
          <p:cNvPr id="4" name="Picture 3" descr="forest_0_960x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00">
                <a:solidFill>
                  <a:srgbClr val="138086"/>
                </a:solidFill>
              </a:rPr>
              <a:t>PERSONAS   ·   </a:t>
            </a:r>
            <a:r>
              <a:rPr b="1" sz="1200">
                <a:solidFill>
                  <a:srgbClr val="0E2356"/>
                </a:solidFill>
              </a:rPr>
              <a:t>Quatre parties prenantes interrogées séparément — leur voix, leur posture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Product Discovery fusionnée dans iap-product-definition en MVP1 — mais chaque partie prenante répond à la même trame, pour révéler convergences ET divergences plutôt qu'un diagnostic monolithique.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618488"/>
            <a:ext cx="381076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1618488"/>
            <a:ext cx="64008" cy="160020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9244" y="1755648"/>
            <a:ext cx="3380994" cy="10789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C5CC5"/>
                </a:solidFill>
              </a:rPr>
              <a:t>Infra &amp; RUN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 i="0">
                <a:solidFill>
                  <a:srgbClr val="586586"/>
                </a:solidFill>
              </a:rPr>
              <a:t>Tient l'exploitation, subit les astreintes.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800" b="0" i="1">
                <a:solidFill>
                  <a:srgbClr val="0E2356"/>
                </a:solidFill>
              </a:rPr>
              <a:t>« Opérable sans sacrifier le delivery ? »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800" b="0" i="0">
                <a:solidFill>
                  <a:srgbClr val="586586"/>
                </a:solidFill>
              </a:rPr>
              <a:t>Subit — Experts seniors mobilisés sur du répétitif.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800" b="0" i="0">
                <a:solidFill>
                  <a:srgbClr val="2C5CC5"/>
                </a:solidFill>
              </a:rPr>
              <a:t>Vise — Capacité récupérée, RUN maîtrisé.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92958" y="2871215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92958" y="2871215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VIGILANT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55998" y="1618488"/>
            <a:ext cx="381076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55998" y="1618488"/>
            <a:ext cx="64008" cy="1600200"/>
          </a:xfrm>
          <a:prstGeom prst="roundRect">
            <a:avLst>
              <a:gd name="adj" fmla="val 50000"/>
            </a:avLst>
          </a:prstGeom>
          <a:solidFill>
            <a:srgbClr val="138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2886" y="1755648"/>
            <a:ext cx="3380994" cy="10789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38086"/>
                </a:solidFill>
              </a:rPr>
              <a:t>Utilisateur applicatif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 i="0">
                <a:solidFill>
                  <a:srgbClr val="586586"/>
                </a:solidFill>
              </a:rPr>
              <a:t>Consomme la plateforme — ou la contourne.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800" b="0" i="1">
                <a:solidFill>
                  <a:srgbClr val="0E2356"/>
                </a:solidFill>
              </a:rPr>
              <a:t>« Pourquoi adopterais-je la plateforme ? »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800" b="0" i="0">
                <a:solidFill>
                  <a:srgbClr val="586586"/>
                </a:solidFill>
              </a:rPr>
              <a:t>Subit — Guichet unique, contournement plus rapide.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800" b="0" i="0">
                <a:solidFill>
                  <a:srgbClr val="138086"/>
                </a:solidFill>
              </a:rPr>
              <a:t>Vise — Un self-service adopté par choix.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2871215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871215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SCEPTIQUE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" y="3383280"/>
            <a:ext cx="381076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2356" y="3383280"/>
            <a:ext cx="64008" cy="160020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" y="3520440"/>
            <a:ext cx="3380994" cy="10789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B8860B"/>
                </a:solidFill>
              </a:rPr>
              <a:t>Management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 i="0">
                <a:solidFill>
                  <a:srgbClr val="586586"/>
                </a:solidFill>
              </a:rPr>
              <a:t>Expert devenu manager, pilote à vue.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800" b="0" i="1">
                <a:solidFill>
                  <a:srgbClr val="0E2356"/>
                </a:solidFill>
              </a:rPr>
              <a:t>« Comment piloter avec un signal fiable ? »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800" b="0" i="0">
                <a:solidFill>
                  <a:srgbClr val="586586"/>
                </a:solidFill>
              </a:rPr>
              <a:t>Subit — Reporting-miroir et micromanagement.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800" b="0" i="0">
                <a:solidFill>
                  <a:srgbClr val="B8860B"/>
                </a:solidFill>
              </a:rPr>
              <a:t>Vise — Un signal de flux de confiance.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92958" y="4636008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92958" y="4636008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ALLIÉ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55998" y="3383280"/>
            <a:ext cx="381076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55998" y="3383280"/>
            <a:ext cx="64008" cy="1600200"/>
          </a:xfrm>
          <a:prstGeom prst="roundRect">
            <a:avLst>
              <a:gd name="adj" fmla="val 50000"/>
            </a:avLst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2886" y="3520440"/>
            <a:ext cx="3380994" cy="10789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A3D9A"/>
                </a:solidFill>
              </a:rPr>
              <a:t>Sponsor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 i="0">
                <a:solidFill>
                  <a:srgbClr val="586586"/>
                </a:solidFill>
              </a:rPr>
              <a:t>Porte le budget et la promesse business.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800" b="0" i="1">
                <a:solidFill>
                  <a:srgbClr val="0E2356"/>
                </a:solidFill>
              </a:rPr>
              <a:t>« Quel problème business règle-t-on ? »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800" b="0" i="0">
                <a:solidFill>
                  <a:srgbClr val="586586"/>
                </a:solidFill>
              </a:rPr>
              <a:t>Subit — Craint une transformation cosmétique.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800" b="0" i="0">
                <a:solidFill>
                  <a:srgbClr val="6A3D9A"/>
                </a:solidFill>
              </a:rPr>
              <a:t>Vise — Problème business réglé, KPIs de mission.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86600" y="4636008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4636008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ALLIÉ EXIGEANT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00">
                <a:solidFill>
                  <a:srgbClr val="138086"/>
                </a:solidFill>
              </a:rPr>
              <a:t>PERSONAS   ·   </a:t>
            </a:r>
            <a:r>
              <a:rPr b="1" sz="1200">
                <a:solidFill>
                  <a:srgbClr val="0E2356"/>
                </a:solidFill>
              </a:rPr>
              <a:t>Interroger chaque persona séparément révèle des tensions qu'un diagnostic fusionné lisserait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2356" y="1143000"/>
            <a:ext cx="7804404" cy="6172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2356" y="1143000"/>
            <a:ext cx="54864" cy="30861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1451610"/>
            <a:ext cx="54864" cy="30861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5236" y="1216152"/>
            <a:ext cx="2468880" cy="4709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B8860B"/>
                </a:solidFill>
              </a:rPr>
              <a:t>Management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700" b="0" i="1">
                <a:solidFill>
                  <a:srgbClr val="586586"/>
                </a:solidFill>
              </a:rPr>
              <a:t>en tension avec</a:t>
            </a:r>
          </a:p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C5CC5"/>
                </a:solidFill>
              </a:rPr>
              <a:t>Infra &amp;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42716" y="1216152"/>
            <a:ext cx="4786883" cy="4709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Le même métrique de flux, lu « signal de pilotage de confiance » d'un côté, « surveillance » de l'autre.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" y="1869948"/>
            <a:ext cx="7804404" cy="6172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2356" y="1869948"/>
            <a:ext cx="54864" cy="308610"/>
          </a:xfrm>
          <a:prstGeom prst="roundRect">
            <a:avLst>
              <a:gd name="adj" fmla="val 50000"/>
            </a:avLst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2356" y="2178558"/>
            <a:ext cx="54864" cy="30861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" y="1943100"/>
            <a:ext cx="2468880" cy="4709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A3D9A"/>
                </a:solidFill>
              </a:rPr>
              <a:t>Sponsor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700" b="0" i="1">
                <a:solidFill>
                  <a:srgbClr val="586586"/>
                </a:solidFill>
              </a:rPr>
              <a:t>en tension avec</a:t>
            </a:r>
          </a:p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C5CC5"/>
                </a:solidFill>
              </a:rPr>
              <a:t>Infra &amp;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2716" y="1943100"/>
            <a:ext cx="4786883" cy="4709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Horizon : valeur business rapide et visible d'un côté, soulagement durable et structurel du RUN de l'autre.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" y="2596896"/>
            <a:ext cx="7804404" cy="6172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2356" y="2596896"/>
            <a:ext cx="54864" cy="308610"/>
          </a:xfrm>
          <a:prstGeom prst="roundRect">
            <a:avLst>
              <a:gd name="adj" fmla="val 50000"/>
            </a:avLst>
          </a:prstGeom>
          <a:solidFill>
            <a:srgbClr val="138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2356" y="2905506"/>
            <a:ext cx="54864" cy="30861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" y="2670048"/>
            <a:ext cx="2468880" cy="4709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38086"/>
                </a:solidFill>
              </a:rPr>
              <a:t>Utilisateur applicatif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700" b="0" i="1">
                <a:solidFill>
                  <a:srgbClr val="586586"/>
                </a:solidFill>
              </a:rPr>
              <a:t>en tension avec</a:t>
            </a:r>
          </a:p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C5CC5"/>
                </a:solidFill>
              </a:rPr>
              <a:t>Infra &amp; 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2716" y="2670048"/>
            <a:ext cx="4786883" cy="4709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Self-service adopté par choix face à l'opérabilité sans sacrifier le delivery : qui absorbe le coût du self-service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" y="3323844"/>
            <a:ext cx="7804404" cy="617220"/>
          </a:xfrm>
          <a:prstGeom prst="roundRect">
            <a:avLst>
              <a:gd name="adj" fmla="val 8000"/>
            </a:avLst>
          </a:prstGeom>
          <a:solidFill>
            <a:srgbClr val="FBEEED"/>
          </a:solidFill>
          <a:ln w="1270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2356" y="3323844"/>
            <a:ext cx="54864" cy="308610"/>
          </a:xfrm>
          <a:prstGeom prst="roundRect">
            <a:avLst>
              <a:gd name="adj" fmla="val 50000"/>
            </a:avLst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2356" y="3632454"/>
            <a:ext cx="54864" cy="30861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" y="3396996"/>
            <a:ext cx="2468880" cy="4709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A3D9A"/>
                </a:solidFill>
              </a:rPr>
              <a:t>Sponsor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700" b="0" i="1">
                <a:solidFill>
                  <a:srgbClr val="586586"/>
                </a:solidFill>
              </a:rPr>
              <a:t>en tension avec</a:t>
            </a:r>
          </a:p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B3261E"/>
                </a:solidFill>
              </a:rPr>
              <a:t>RSSI</a:t>
            </a:r>
          </a:p>
          <a:p>
            <a:pPr algn="l">
              <a:spcBef>
                <a:spcPts val="300"/>
              </a:spcBef>
            </a:pPr>
            <a:r>
              <a:rPr sz="650" b="1" i="0">
                <a:solidFill>
                  <a:srgbClr val="B3261E"/>
                </a:solidFill>
              </a:rPr>
              <a:t>ANGLE MORT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2716" y="3396996"/>
            <a:ext cx="4786883" cy="4709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Vitesse de démonstration face au gate confidentialité, bloquant sur donnée client.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" y="4069080"/>
            <a:ext cx="7804404" cy="512064"/>
          </a:xfrm>
          <a:prstGeom prst="roundRect">
            <a:avLst>
              <a:gd name="adj" fmla="val 12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2356" y="4069080"/>
            <a:ext cx="64008" cy="512064"/>
          </a:xfrm>
          <a:prstGeom prst="roundRect">
            <a:avLst>
              <a:gd name="adj" fmla="val 50000"/>
            </a:avLst>
          </a:prstGeom>
          <a:solidFill>
            <a:srgbClr val="138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" y="4069080"/>
            <a:ext cx="7420356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138086"/>
                </a:solidFill>
              </a:rPr>
              <a:t>Ces tensions ne se tranchent pas — on les tient des deux bouts.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 i="0">
                <a:solidFill>
                  <a:srgbClr val="0E2356"/>
                </a:solidFill>
              </a:rPr>
              <a:t>La méthode (ch. Proposition) : la métrique de flux = signal partagé, le gate confidentialité = non négociable.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" y="4672583"/>
            <a:ext cx="78044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586586"/>
                </a:solidFill>
              </a:rPr>
              <a:t>Angles morts, non interrogés à ce stade : le client métier consommateur des services, le RSSI (porteur du gate), le junior / nouvel arrivant.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B3261E"/>
                </a:solidFill>
              </a:rPr>
              <a:t>Besoins &amp; douleurs</a:t>
            </a:r>
          </a:p>
          <a:p>
            <a:r>
              <a:rPr sz="1050" i="1">
                <a:solidFill>
                  <a:srgbClr val="586586"/>
                </a:solidFill>
              </a:rPr>
              <a:t>Les douleurs approfondies et mesurables, et les 8 familles de gaspillage qui les rangent.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lIns="0" rIns="0" tIns="0" bIns="0" anchor="ctr"/>
          <a:lstStyle/>
          <a:p>
            <a:pPr algn="ctr" marL="0" indent="0">
              <a:buNone/>
            </a:pPr>
            <a:r>
              <a:rPr sz="1700">
                <a:solidFill>
                  <a:srgbClr val="B3261E"/>
                </a:solidFill>
              </a:rPr>
              <a:t>03</a:t>
            </a:r>
          </a:p>
        </p:txBody>
      </p:sp>
      <p:pic>
        <p:nvPicPr>
          <p:cNvPr id="4" name="Picture 3" descr="ocean_0_960x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00">
                <a:solidFill>
                  <a:srgbClr val="B3261E"/>
                </a:solidFill>
              </a:rPr>
              <a:t>BESOINS &amp; DOULEURS   ·   </a:t>
            </a:r>
            <a:r>
              <a:rPr b="1" sz="1200">
                <a:solidFill>
                  <a:srgbClr val="0E2356"/>
                </a:solidFill>
              </a:rPr>
              <a:t>Les douleurs des clients infra : mesurables, pas des plaintes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Chaque douleur appartient à un persona et se range dans une famille de gaspillage — c'est ce qui la rend traitable plutôt que subie.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2084" y="1463039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PERSONA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60804" y="1463039"/>
            <a:ext cx="32918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LA DOULEUR, APPROFONDIE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62372" y="1463039"/>
            <a:ext cx="16916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SIGNAL / MESURE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63740" y="1463039"/>
            <a:ext cx="13030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FAMILLE(S)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" y="1700784"/>
            <a:ext cx="7804404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2356" y="1700784"/>
            <a:ext cx="54864" cy="603504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" y="1773936"/>
            <a:ext cx="107899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2C5CC5"/>
                </a:solidFill>
              </a:rPr>
              <a:t>Infra &amp;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60804" y="1773936"/>
            <a:ext cx="31546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RUN subi : les mêmes incidents reviennent et mobilisent les experts seniors, le BUILD est sacrifié à l'astreinte.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62372" y="1773936"/>
            <a:ext cx="158191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Tickets récurrents/mois, part du temps en RUN non maîtrisé.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3740" y="1773936"/>
            <a:ext cx="13030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2C5CC5"/>
                </a:solidFill>
              </a:rPr>
              <a:t>RUN · Humain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" y="2414015"/>
            <a:ext cx="7804404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2356" y="2414015"/>
            <a:ext cx="54864" cy="603504"/>
          </a:xfrm>
          <a:prstGeom prst="roundRect">
            <a:avLst>
              <a:gd name="adj" fmla="val 50000"/>
            </a:avLst>
          </a:prstGeom>
          <a:solidFill>
            <a:srgbClr val="138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" y="2487168"/>
            <a:ext cx="107899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138086"/>
                </a:solidFill>
              </a:rPr>
              <a:t>Utilisateur applicatif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0804" y="2487168"/>
            <a:ext cx="31546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Aucun self-service ni parcours conçu : tout passe par un guichet, le contournement (shadow IT) va plus vite que la demande officielle.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2372" y="2487168"/>
            <a:ext cx="158191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Taux de contournement, délai de mise à disposition.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3740" y="2487168"/>
            <a:ext cx="13030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138086"/>
                </a:solidFill>
              </a:rPr>
              <a:t>Flux · Cognitif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6" y="3127248"/>
            <a:ext cx="7804404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2356" y="3127248"/>
            <a:ext cx="54864" cy="603504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" y="3200400"/>
            <a:ext cx="107899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B8860B"/>
                </a:solidFill>
              </a:rPr>
              <a:t>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60804" y="3200400"/>
            <a:ext cx="31546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« Expert devenu manager malgré lui » : reporting miroir et micromanagement compensatoire, faute de signal fiable sur le flux.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2372" y="3200400"/>
            <a:ext cx="158191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Ratio temps reporting / temps résolution d'obstacles.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3740" y="3200400"/>
            <a:ext cx="13030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B8860B"/>
                </a:solidFill>
              </a:rPr>
              <a:t>Décisionnel · Humain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" y="3840479"/>
            <a:ext cx="7804404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2356" y="3840479"/>
            <a:ext cx="54864" cy="603504"/>
          </a:xfrm>
          <a:prstGeom prst="roundRect">
            <a:avLst>
              <a:gd name="adj" fmla="val 50000"/>
            </a:avLst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" y="3913631"/>
            <a:ext cx="107899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6A3D9A"/>
                </a:solidFill>
              </a:rPr>
              <a:t>Sponsor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60804" y="3913631"/>
            <a:ext cx="31546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Pression à « mettre de l'IA » sans cas d'usage, peur d'une transformation cosmétique : beaucoup d'activité, peu de valeur démontrée.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62372" y="3913631"/>
            <a:ext cx="158191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Valeur / capacité récupérée démontrée vs promise.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63740" y="3913631"/>
            <a:ext cx="13030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6A3D9A"/>
                </a:solidFill>
              </a:rPr>
              <a:t>Décisionnel · IA (gadget)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" y="4572000"/>
            <a:ext cx="78044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3261E"/>
                </a:solidFill>
              </a:rPr>
              <a:t>Ces douleurs se rangent en 8 familles de gaspillage → slide suivante.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00">
                <a:solidFill>
                  <a:srgbClr val="B3261E"/>
                </a:solidFill>
              </a:rPr>
              <a:t>BESOINS &amp; DOULEURS   ·   </a:t>
            </a:r>
            <a:r>
              <a:rPr b="1" sz="1200">
                <a:solidFill>
                  <a:srgbClr val="0E2356"/>
                </a:solidFill>
              </a:rPr>
              <a:t>Les 8 familles de gaspillage — le langage commun qui rend les douleurs traitables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0E2356"/>
                </a:solidFill>
              </a:rPr>
              <a:t>Nommer la famille, c'est déjà pouvoir la détecter, la quantifier et la prioriser (méthode de traitement → chapitre Proposition).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554480"/>
            <a:ext cx="3810762" cy="76123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1554480"/>
            <a:ext cx="54864" cy="76123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5236" y="1609344"/>
            <a:ext cx="3499866" cy="65151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E2356"/>
                </a:solidFill>
              </a:rPr>
              <a:t>1. Flux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 i="0">
                <a:solidFill>
                  <a:srgbClr val="586586"/>
                </a:solidFill>
              </a:rPr>
              <a:t>Attentes, validations multiples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55998" y="1554480"/>
            <a:ext cx="3810762" cy="76123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55998" y="1554480"/>
            <a:ext cx="54864" cy="76123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38878" y="1609344"/>
            <a:ext cx="3499866" cy="65151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E2356"/>
                </a:solidFill>
              </a:rPr>
              <a:t>2. Humain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 i="0">
                <a:solidFill>
                  <a:srgbClr val="586586"/>
                </a:solidFill>
              </a:rPr>
              <a:t>Experts seniors sur tâches répétitives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" y="2443734"/>
            <a:ext cx="3810762" cy="76123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2356" y="2443734"/>
            <a:ext cx="54864" cy="76123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" y="2498598"/>
            <a:ext cx="3499866" cy="65151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E2356"/>
                </a:solidFill>
              </a:rPr>
              <a:t>3. RUN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 i="0">
                <a:solidFill>
                  <a:srgbClr val="586586"/>
                </a:solidFill>
              </a:rPr>
              <a:t>Incidents récurrents, demandes répétées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55998" y="2443734"/>
            <a:ext cx="3810762" cy="76123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55998" y="2443734"/>
            <a:ext cx="54864" cy="76123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8878" y="2498598"/>
            <a:ext cx="3499866" cy="65151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E2356"/>
                </a:solidFill>
              </a:rPr>
              <a:t>4. Financier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 i="0">
                <a:solidFill>
                  <a:srgbClr val="586586"/>
                </a:solidFill>
              </a:rPr>
              <a:t>Surdimensionnement, ressources non décommissionnées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" y="3332988"/>
            <a:ext cx="3810762" cy="76123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2356" y="3332988"/>
            <a:ext cx="54864" cy="76123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" y="3387852"/>
            <a:ext cx="3499866" cy="65151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E2356"/>
                </a:solidFill>
              </a:rPr>
              <a:t>5. Cognitif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 i="0">
                <a:solidFill>
                  <a:srgbClr val="586586"/>
                </a:solidFill>
              </a:rPr>
              <a:t>Trop d'outils, procédures complexes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55998" y="3332988"/>
            <a:ext cx="3810762" cy="76123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55998" y="3332988"/>
            <a:ext cx="54864" cy="76123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8878" y="3387852"/>
            <a:ext cx="3499866" cy="65151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E2356"/>
                </a:solidFill>
              </a:rPr>
              <a:t>6. Décisionnel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 i="0">
                <a:solidFill>
                  <a:srgbClr val="586586"/>
                </a:solidFill>
              </a:rPr>
              <a:t>Arbitrages subjectifs, priorisation opaque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" y="4222242"/>
            <a:ext cx="3810762" cy="76123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2356" y="4222242"/>
            <a:ext cx="54864" cy="76123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" y="4277105"/>
            <a:ext cx="3499866" cy="65151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E2356"/>
                </a:solidFill>
              </a:rPr>
              <a:t>7. Environnemental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 i="0">
                <a:solidFill>
                  <a:srgbClr val="586586"/>
                </a:solidFill>
              </a:rPr>
              <a:t>Ressources inutilisées, environnements non éteints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55998" y="4222242"/>
            <a:ext cx="3810762" cy="761238"/>
          </a:xfrm>
          <a:prstGeom prst="roundRect">
            <a:avLst>
              <a:gd name="adj" fmla="val 1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55998" y="4222242"/>
            <a:ext cx="54864" cy="76123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38878" y="4277105"/>
            <a:ext cx="3499866" cy="65151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8. IA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 i="0">
                <a:solidFill>
                  <a:srgbClr val="C7CBE0"/>
                </a:solidFill>
              </a:rPr>
              <a:t>Cas d'usage gadget, automatisation sans garde-fous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E6B34"/>
                </a:solidFill>
              </a:rPr>
              <a:t>Proposition</a:t>
            </a:r>
          </a:p>
          <a:p>
            <a:r>
              <a:rPr sz="1050" i="1">
                <a:solidFill>
                  <a:srgbClr val="586586"/>
                </a:solidFill>
              </a:rPr>
              <a:t>Traiter l'infra comme un produit : la thèse, la méthode scorée, des exemples, la cible et les livrables.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lIns="0" rIns="0" tIns="0" bIns="0" anchor="ctr"/>
          <a:lstStyle/>
          <a:p>
            <a:pPr algn="ctr" marL="0" indent="0">
              <a:buNone/>
            </a:pPr>
            <a:r>
              <a:rPr sz="1700">
                <a:solidFill>
                  <a:srgbClr val="1E6B34"/>
                </a:solidFill>
              </a:rPr>
              <a:t>04</a:t>
            </a:r>
          </a:p>
        </p:txBody>
      </p:sp>
      <p:pic>
        <p:nvPicPr>
          <p:cNvPr id="4" name="Picture 3" descr="dunes_0_960x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00">
                <a:solidFill>
                  <a:srgbClr val="1E6B34"/>
                </a:solidFill>
              </a:rPr>
              <a:t>PROPOSITION   ·   </a:t>
            </a:r>
            <a:r>
              <a:rPr b="1" sz="1200">
                <a:solidFill>
                  <a:srgbClr val="0E2356"/>
                </a:solidFill>
              </a:rPr>
              <a:t>Pourquoi « Infrastructure as a Product » — le socle de la proposition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2356" y="1051560"/>
            <a:ext cx="7804404" cy="868680"/>
          </a:xfrm>
          <a:prstGeom prst="roundRect">
            <a:avLst>
              <a:gd name="adj" fmla="val 1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2356" y="1051560"/>
            <a:ext cx="73152" cy="868680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6676" y="1051560"/>
            <a:ext cx="7347204" cy="8686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E2356"/>
                </a:solidFill>
              </a:rPr>
              <a:t>Traiter l'infrastructure comme un produit, pas comme un guichet de tickets.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900" b="0" i="0">
                <a:solidFill>
                  <a:srgbClr val="586586"/>
                </a:solidFill>
              </a:rPr>
              <a:t>Un produit a des utilisateurs, un cycle de vie et une valeur mesurée — trois bascules qui répondent directement aux personas et à leurs douleurs.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356" y="2148839"/>
            <a:ext cx="2479548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2356" y="2148839"/>
            <a:ext cx="64008" cy="2834640"/>
          </a:xfrm>
          <a:prstGeom prst="roundRect">
            <a:avLst>
              <a:gd name="adj" fmla="val 50000"/>
            </a:avLst>
          </a:prstGeom>
          <a:solidFill>
            <a:srgbClr val="138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5" y="2350008"/>
            <a:ext cx="2004059" cy="2432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38086"/>
                </a:solidFill>
              </a:rPr>
              <a:t>Des utilisateurs, pas des tickets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900" b="0" i="0">
                <a:solidFill>
                  <a:srgbClr val="0E2356"/>
                </a:solidFill>
              </a:rPr>
              <a:t>On conçoit l'adoption — self-service, onboarding, parcours — au lieu de subir un guichet que le contournement rend inutile.</a:t>
            </a:r>
          </a:p>
          <a:p>
            <a:pPr algn="l">
              <a:spcBef>
                <a:spcPts val="1200"/>
              </a:spcBef>
            </a:pPr>
            <a:r>
              <a:rPr sz="650" b="1" i="0">
                <a:solidFill>
                  <a:srgbClr val="586586"/>
                </a:solidFill>
              </a:rPr>
              <a:t>RÉPOND À</a:t>
            </a:r>
          </a:p>
          <a:p>
            <a:pPr algn="l">
              <a:spcBef>
                <a:spcPts val="200"/>
              </a:spcBef>
            </a:pPr>
            <a:r>
              <a:rPr sz="900" b="1" i="0">
                <a:solidFill>
                  <a:srgbClr val="138086"/>
                </a:solidFill>
              </a:rPr>
              <a:t>l'Utilisateur applicatif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24783" y="2148839"/>
            <a:ext cx="2479548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24783" y="2148839"/>
            <a:ext cx="64008" cy="283464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9104" y="2350008"/>
            <a:ext cx="2004059" cy="2432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2C5CC5"/>
                </a:solidFill>
              </a:rPr>
              <a:t>Un cycle de vie, une équipe qui en répond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900" b="0" i="0">
                <a:solidFill>
                  <a:srgbClr val="0E2356"/>
                </a:solidFill>
              </a:rPr>
              <a:t>Le produit a un propriétaire, une roadmap et une dette gérée : on sort du RUN subi et on récupère de la capacité.</a:t>
            </a:r>
          </a:p>
          <a:p>
            <a:pPr algn="l">
              <a:spcBef>
                <a:spcPts val="1200"/>
              </a:spcBef>
            </a:pPr>
            <a:r>
              <a:rPr sz="650" b="1" i="0">
                <a:solidFill>
                  <a:srgbClr val="586586"/>
                </a:solidFill>
              </a:rPr>
              <a:t>RÉPOND À</a:t>
            </a:r>
          </a:p>
          <a:p>
            <a:pPr algn="l">
              <a:spcBef>
                <a:spcPts val="200"/>
              </a:spcBef>
            </a:pPr>
            <a:r>
              <a:rPr sz="900" b="1" i="0">
                <a:solidFill>
                  <a:srgbClr val="2C5CC5"/>
                </a:solidFill>
              </a:rPr>
              <a:t>Infra &amp; 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87212" y="2148839"/>
            <a:ext cx="2479548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7212" y="2148839"/>
            <a:ext cx="64008" cy="283464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1532" y="2350008"/>
            <a:ext cx="2004059" cy="2432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B8860B"/>
                </a:solidFill>
              </a:rPr>
              <a:t>Un pilotage par la valeur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900" b="0" i="0">
                <a:solidFill>
                  <a:srgbClr val="0E2356"/>
                </a:solidFill>
              </a:rPr>
              <a:t>On mesure l'usage et la valeur produite, pas l'activité : un signal de flux fiable, des KPIs de mission — pas du reporting-miroir.</a:t>
            </a:r>
          </a:p>
          <a:p>
            <a:pPr algn="l">
              <a:spcBef>
                <a:spcPts val="1200"/>
              </a:spcBef>
            </a:pPr>
            <a:r>
              <a:rPr sz="650" b="1" i="0">
                <a:solidFill>
                  <a:srgbClr val="586586"/>
                </a:solidFill>
              </a:rPr>
              <a:t>RÉPOND À</a:t>
            </a:r>
          </a:p>
          <a:p>
            <a:pPr algn="l">
              <a:spcBef>
                <a:spcPts val="200"/>
              </a:spcBef>
            </a:pPr>
            <a:r>
              <a:rPr sz="900" b="1" i="0">
                <a:solidFill>
                  <a:srgbClr val="B8860B"/>
                </a:solidFill>
              </a:rPr>
              <a:t>Management &amp; Sponsor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50">
                <a:solidFill>
                  <a:srgbClr val="1E6B34"/>
                </a:solidFill>
              </a:rPr>
              <a:t>PROPOSITION   ·   </a:t>
            </a:r>
            <a:r>
              <a:rPr b="1" sz="1250">
                <a:solidFill>
                  <a:srgbClr val="0E2356"/>
                </a:solidFill>
              </a:rPr>
              <a:t>Du gaspillage au backlog priorisé : chaîne de traitement +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0E2356"/>
                </a:solidFill>
              </a:rPr>
              <a:t>Chaque famille de gaspillage (chapitre précédent) passe par la même chaîne de traitement, puis reçoit un score explicite qui la classe dans un backlog priorisé — jamais un tri à l'intuition.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2356" y="1645919"/>
            <a:ext cx="7804404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</a:rPr>
              <a:t>CHAÎNE DE TRAITEMENT — de la détection à la prévention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1847" y="2093976"/>
            <a:ext cx="5675930" cy="18288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5543" y="1956815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6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5543" y="1956815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1E6B34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" y="2285999"/>
            <a:ext cx="14189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0E2356"/>
                </a:solidFill>
              </a:rPr>
              <a:t>Détecter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4525" y="1956815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6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4525" y="1956815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1E6B34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1338" y="2285999"/>
            <a:ext cx="14189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0E2356"/>
                </a:solidFill>
              </a:rPr>
              <a:t>Qualifier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63508" y="1956815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6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63508" y="1956815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1E6B34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0321" y="2285999"/>
            <a:ext cx="14189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0E2356"/>
                </a:solidFill>
              </a:rPr>
              <a:t>Quantifier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82490" y="1956815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6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82490" y="1956815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1E6B34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9303" y="2285999"/>
            <a:ext cx="14189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0E2356"/>
                </a:solidFill>
              </a:rPr>
              <a:t>Cause racine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01473" y="1956815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6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1473" y="1956815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1E6B34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8286" y="2285999"/>
            <a:ext cx="14189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0E2356"/>
                </a:solidFill>
              </a:rPr>
              <a:t>Pattern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81338" y="2752344"/>
            <a:ext cx="5675930" cy="18288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835034" y="2615183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35034" y="2615183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71847" y="2944367"/>
            <a:ext cx="14189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1E6B34"/>
                </a:solidFill>
              </a:rPr>
              <a:t>Prioriser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54017" y="2615183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6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54017" y="2615183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1E6B34"/>
                </a:solidFill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0829" y="2944367"/>
            <a:ext cx="14189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0E2356"/>
                </a:solidFill>
              </a:rPr>
              <a:t>Expérimenter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72999" y="2615183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6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72999" y="2615183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1E6B34"/>
                </a:solidFill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09812" y="2944367"/>
            <a:ext cx="14189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0E2356"/>
                </a:solidFill>
              </a:rPr>
              <a:t>Mesurer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91982" y="2615183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6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1982" y="2615183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1E6B34"/>
                </a:solidFill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28794" y="2944367"/>
            <a:ext cx="14189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0E2356"/>
                </a:solidFill>
              </a:rPr>
              <a:t>Industrialiser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10964" y="2615183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6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10964" y="2615183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1E6B34"/>
                </a:solidFill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7777" y="2944367"/>
            <a:ext cx="14189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0E2356"/>
                </a:solidFill>
              </a:rPr>
              <a:t>Prévenir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2356" y="3456432"/>
            <a:ext cx="7804404" cy="1417320"/>
          </a:xfrm>
          <a:prstGeom prst="roundRect">
            <a:avLst>
              <a:gd name="adj" fmla="val 8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3524" y="3456432"/>
            <a:ext cx="3627882" cy="1417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</a:rPr>
              <a:t>Priorité = (impact × faisabilité) − prudence IA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800" b="0" i="0">
                <a:solidFill>
                  <a:srgbClr val="C7CBE0"/>
                </a:solidFill>
              </a:rPr>
              <a:t>Le score ne remplace pas l'arbitrage humain : il rend la discussion explicite, et classe les candidats dans un backlog priorisé.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64558" y="3566160"/>
            <a:ext cx="3765041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8891B3"/>
                </a:solidFill>
              </a:rPr>
              <a:t>SCORE ILLUSTRATIF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64558" y="3803904"/>
            <a:ext cx="1097280" cy="3261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C7CBE0"/>
                </a:solidFill>
              </a:rPr>
              <a:t>Impact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07558" y="39029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790438" y="39029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973318" y="39029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156198" y="39029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339078" y="39029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A4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64558" y="4130040"/>
            <a:ext cx="1097280" cy="3261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C7CBE0"/>
                </a:solidFill>
              </a:rPr>
              <a:t>Faisabilité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07558" y="42291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790438" y="42291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73318" y="42291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156198" y="42291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A4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339078" y="42291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A4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64558" y="4456176"/>
            <a:ext cx="1097280" cy="3261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C7CBE0"/>
                </a:solidFill>
              </a:rPr>
              <a:t>Prudence IA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07558" y="45552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790438" y="45552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A4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973318" y="45552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A4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156198" y="45552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A4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339078" y="45552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A4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62356" y="1874519"/>
            <a:ext cx="128016" cy="1417320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3836" y="1874519"/>
            <a:ext cx="7392924" cy="1417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E6B34"/>
                </a:solidFill>
              </a:rPr>
              <a:t>PROPOSITION  ·  SOUS-CHAPITRE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3400" b="1" i="0">
                <a:solidFill>
                  <a:srgbClr val="0E2356"/>
                </a:solidFill>
              </a:rPr>
              <a:t>Exemples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050" b="0" i="1">
                <a:solidFill>
                  <a:srgbClr val="586586"/>
                </a:solidFill>
              </a:rPr>
              <a:t>La méthode en pratique — trois cas illustratifs : priorisation chiffrée, diagnostic tagué, recommandation actionnable.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300">
                <a:solidFill>
                  <a:srgbClr val="1E6B34"/>
                </a:solidFill>
              </a:rPr>
              <a:t>EXEMPLES   ·   </a:t>
            </a:r>
            <a:r>
              <a:rPr b="1" sz="1300">
                <a:solidFill>
                  <a:srgbClr val="0E2356"/>
                </a:solidFill>
              </a:rPr>
              <a:t>La priorisation en pratique : la faisabilité tempère l'impact brut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0" i="1">
                <a:solidFill>
                  <a:srgbClr val="586586"/>
                </a:solidFill>
              </a:rPr>
              <a:t>Exemple illustratif — 3 gaspillages fictifs notés sur la formule de la chaîne de traitement (plus haut dans la Proposition).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417319"/>
            <a:ext cx="780440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72084" y="1691639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2084" y="169163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" y="1527048"/>
            <a:ext cx="2011680" cy="6949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E2356"/>
                </a:solidFill>
              </a:rPr>
              <a:t>Triage manuel de tickets récurrents</a:t>
            </a:r>
          </a:p>
          <a:p>
            <a:pPr algn="l">
              <a:spcBef>
                <a:spcPts val="300"/>
              </a:spcBef>
            </a:pPr>
            <a:r>
              <a:rPr sz="700" b="0" i="0">
                <a:solidFill>
                  <a:srgbClr val="586586"/>
                </a:solidFill>
              </a:rPr>
              <a:t>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14116" y="1545336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IMPACT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4116" y="18196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60420" y="18196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06724" y="18196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3028" y="18196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99332" y="18196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4276" y="1545336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FAISABILITÉ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94276" y="18196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40580" y="18196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86884" y="18196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33188" y="18196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79492" y="18196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74436" y="1545336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PRUDENCE 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74436" y="18196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20740" y="18196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67044" y="18196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13348" y="18196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9652" y="181965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100316" y="1655063"/>
            <a:ext cx="1266443" cy="438912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00316" y="1655063"/>
            <a:ext cx="1266443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0E2356"/>
                </a:solidFill>
              </a:rPr>
              <a:t>11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" y="2441448"/>
            <a:ext cx="780440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72084" y="271576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" y="27157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#2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276" y="2551176"/>
            <a:ext cx="2011680" cy="6949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E2356"/>
                </a:solidFill>
              </a:rPr>
              <a:t>Ressources cloud surdimensionnées, jamais décommissionnées</a:t>
            </a:r>
          </a:p>
          <a:p>
            <a:pPr algn="l">
              <a:spcBef>
                <a:spcPts val="300"/>
              </a:spcBef>
            </a:pPr>
            <a:r>
              <a:rPr sz="700" b="0" i="0">
                <a:solidFill>
                  <a:srgbClr val="586586"/>
                </a:solidFill>
              </a:rPr>
              <a:t>Financier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14116" y="2569464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IMPACT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14116" y="28437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60420" y="28437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506724" y="28437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653028" y="28437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799332" y="28437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94276" y="2569464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FAISABILITÉ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94276" y="28437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640580" y="28437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786884" y="28437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933188" y="28437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079492" y="28437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74436" y="2569464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PRUDENCE IA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774436" y="28437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920740" y="28437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067044" y="28437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213348" y="28437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359652" y="28437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100316" y="2679191"/>
            <a:ext cx="1266443" cy="438912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00316" y="2679191"/>
            <a:ext cx="1266443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0E2356"/>
                </a:solidFill>
              </a:rPr>
              <a:t>10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2356" y="3465576"/>
            <a:ext cx="780440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72084" y="37398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5865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2084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#3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5276" y="3575304"/>
            <a:ext cx="2011680" cy="6949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E2356"/>
                </a:solidFill>
              </a:rPr>
              <a:t>Chatbot IA gadget sur la FAQ interne</a:t>
            </a:r>
          </a:p>
          <a:p>
            <a:pPr algn="l">
              <a:spcBef>
                <a:spcPts val="300"/>
              </a:spcBef>
            </a:pPr>
            <a:r>
              <a:rPr sz="700" b="0" i="0">
                <a:solidFill>
                  <a:srgbClr val="586586"/>
                </a:solidFill>
              </a:rPr>
              <a:t>IA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14116" y="3593592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IMPACT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214116" y="3867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360420" y="3867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3506724" y="3867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3653028" y="3867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799332" y="3867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94276" y="3593592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FAISABILITÉ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494276" y="3867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640580" y="3867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786884" y="3867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4933188" y="3867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5079492" y="3867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774436" y="3593592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PRUDENCE IA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774436" y="3867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5920740" y="3867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067044" y="3867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213348" y="3867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359652" y="3867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7100316" y="3703320"/>
            <a:ext cx="1266443" cy="438912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00316" y="3703320"/>
            <a:ext cx="1266443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0E2356"/>
                </a:solidFill>
              </a:rPr>
              <a:t>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2356" y="4517136"/>
            <a:ext cx="7804404" cy="46634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586586"/>
                </a:solidFill>
              </a:rPr>
              <a:t>#1 et #2 quasi ex-aequo malgré un impact brut très différent (la faisabilité rééquilibre) ; #3 écarté malgré sa facilité — la prudence IA pénalise un gadget à faible valeur réelle. Le score rend l'arbitrage explicite, il ne le remplace pas.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350">
                <a:solidFill>
                  <a:srgbClr val="1E6B34"/>
                </a:solidFill>
              </a:rPr>
              <a:t>EXEMPLES   ·   </a:t>
            </a:r>
            <a:r>
              <a:rPr b="1" sz="1350">
                <a:solidFill>
                  <a:srgbClr val="0E2356"/>
                </a:solidFill>
              </a:rPr>
              <a:t>Un exemple de synthèse : des verbatims tagués, pas une intuition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0E2356"/>
                </a:solidFill>
              </a:rPr>
              <a:t>THÈME : RUN / SUPPORT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417319"/>
            <a:ext cx="7804404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1417319"/>
            <a:ext cx="64008" cy="960120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5236" y="1545336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" y="1545336"/>
            <a:ext cx="91440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CONFIRMÉ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96795" y="1545336"/>
            <a:ext cx="6387083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1">
                <a:solidFill>
                  <a:srgbClr val="586586"/>
                </a:solidFill>
              </a:rPr>
              <a:t>Interview #4 · Équipe infra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" y="1874519"/>
            <a:ext cx="7438644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0E2356"/>
                </a:solidFill>
              </a:rPr>
              <a:t>« On reçoit les mêmes 5 types de tickets depuis 2 ans, personne n'a jamais formalisé la procédure de triage.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" y="2487168"/>
            <a:ext cx="7804404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2356" y="2487168"/>
            <a:ext cx="64008" cy="96012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5236" y="2615184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" y="2615184"/>
            <a:ext cx="91440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DÉDUIT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96795" y="2615184"/>
            <a:ext cx="6387083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1">
                <a:solidFill>
                  <a:srgbClr val="586586"/>
                </a:solidFill>
              </a:rPr>
              <a:t>Recoupement de 3 interviews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" y="2944368"/>
            <a:ext cx="7438644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0E2356"/>
                </a:solidFill>
              </a:rPr>
              <a:t>« Le temps de triage moyen semble avoir doublé depuis le départ de l'expert référent, mais personne n'a de chiffre exact.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" y="3584448"/>
            <a:ext cx="7804404" cy="777240"/>
          </a:xfrm>
          <a:prstGeom prst="roundRect">
            <a:avLst>
              <a:gd name="adj" fmla="val 8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" y="3584448"/>
            <a:ext cx="7402068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Synthèse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800" b="0" i="0">
                <a:solidFill>
                  <a:srgbClr val="C7CBE0"/>
                </a:solidFill>
              </a:rPr>
              <a:t>Gaspillage RUN récurrent, cause racine = process tacite jamais documenté — candidat prioritaire pour la chaîne de traitement (chapitre Proposition).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00">
                <a:solidFill>
                  <a:srgbClr val="1E6B34"/>
                </a:solidFill>
              </a:rPr>
              <a:t>EXEMPLES   ·   </a:t>
            </a:r>
            <a:r>
              <a:rPr b="1" sz="1200">
                <a:solidFill>
                  <a:srgbClr val="0E2356"/>
                </a:solidFill>
              </a:rPr>
              <a:t>Une recommandation type : valeur/complexité chiffrées, backlog actionnable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2356" y="1234439"/>
            <a:ext cx="7804404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2356" y="1234439"/>
            <a:ext cx="64008" cy="1051560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5236" y="1362455"/>
            <a:ext cx="74386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RECOMMANDATION</a:t>
            </a:r>
          </a:p>
          <a:p>
            <a:pPr algn="l">
              <a:spcBef>
                <a:spcPts val="200"/>
              </a:spcBef>
            </a:pPr>
            <a:r>
              <a:rPr sz="1400" b="1" i="0">
                <a:solidFill>
                  <a:srgbClr val="0E2356"/>
                </a:solidFill>
              </a:rPr>
              <a:t>Documenter puis outiller le triage de tickets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" y="1892807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VALEUR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" y="211226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00683" y="211226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6131" y="211226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11580" y="211226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67028" y="211226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8436" y="1892807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COMPLEXITÉ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8436" y="211226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43884" y="211226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99332" y="211226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954780" y="211226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10228" y="211226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2356" y="2468880"/>
            <a:ext cx="3810762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2356" y="2468880"/>
            <a:ext cx="64008" cy="1627632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26947" y="2596896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7" y="2596896"/>
            <a:ext cx="91440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COACH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7" y="2944368"/>
            <a:ext cx="348157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E2356"/>
                </a:solidFill>
              </a:rPr>
              <a:t>Rédiger le runbook de triage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7" y="3236976"/>
            <a:ext cx="348157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OWNER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0E2356"/>
                </a:solidFill>
              </a:rPr>
              <a:t>Consultant BMAD IAP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7" y="3621024"/>
            <a:ext cx="3481578" cy="3840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CRITÈRE D'ACCEPTATION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800" b="0" i="0">
                <a:solidFill>
                  <a:srgbClr val="0E2356"/>
                </a:solidFill>
              </a:rPr>
              <a:t>Runbook validé par l'équipe RUN en atelier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55998" y="2468880"/>
            <a:ext cx="3810762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55998" y="2468880"/>
            <a:ext cx="64008" cy="1627632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20590" y="2596896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20590" y="2596896"/>
            <a:ext cx="91440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DÉLÉGUÉ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20590" y="2944368"/>
            <a:ext cx="348157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E2356"/>
                </a:solidFill>
              </a:rPr>
              <a:t>Appliquer le runbook seule pendant 2 semaines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0590" y="3236976"/>
            <a:ext cx="348157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OWNER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0E2356"/>
                </a:solidFill>
              </a:rPr>
              <a:t>Équipe infra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20590" y="3621024"/>
            <a:ext cx="3481578" cy="3840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CRITÈRE D'ACCEPTATION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800" b="0" i="0">
                <a:solidFill>
                  <a:srgbClr val="0E2356"/>
                </a:solidFill>
              </a:rPr>
              <a:t>Aucun ticket mal routé sur l'échantillon audité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450">
                <a:solidFill>
                  <a:srgbClr val="1E6B34"/>
                </a:solidFill>
              </a:rPr>
              <a:t>PROPOSITION   ·   </a:t>
            </a:r>
            <a:r>
              <a:rPr b="1" sz="1450">
                <a:solidFill>
                  <a:srgbClr val="0E2356"/>
                </a:solidFill>
              </a:rPr>
              <a:t>La cible IAP est une Platform Team — agents IA compris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2356" y="1097280"/>
            <a:ext cx="1813941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2356" y="1097280"/>
            <a:ext cx="64008" cy="141732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8660" y="1225295"/>
            <a:ext cx="1521333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2C5CC5"/>
                </a:solidFill>
              </a:rPr>
              <a:t>Stream-aligned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" y="1627631"/>
            <a:ext cx="152133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0E2356"/>
                </a:solidFill>
              </a:rPr>
              <a:t>Flux de valeur métier continu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" y="2011680"/>
            <a:ext cx="1521333" cy="4114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586586"/>
                </a:solidFill>
              </a:rPr>
              <a:t>Équipes applicatives clientes de la plateforme infra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59177" y="1097280"/>
            <a:ext cx="1813941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59177" y="1097280"/>
            <a:ext cx="64008" cy="1417320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05481" y="1225295"/>
            <a:ext cx="1521333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1E6B34"/>
                </a:solidFill>
              </a:rPr>
              <a:t>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5481" y="1627631"/>
            <a:ext cx="152133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0E2356"/>
                </a:solidFill>
              </a:rPr>
              <a:t>Capacités en self-service (X-as-a-Service)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5481" y="2011680"/>
            <a:ext cx="1521333" cy="4114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586586"/>
                </a:solidFill>
              </a:rPr>
              <a:t>La cible même de la transformation IAP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55998" y="1097280"/>
            <a:ext cx="1813941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55998" y="1097280"/>
            <a:ext cx="64008" cy="141732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2302" y="1225295"/>
            <a:ext cx="1521333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B8860B"/>
                </a:solidFill>
              </a:rPr>
              <a:t>Enabling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2302" y="1627631"/>
            <a:ext cx="152133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0E2356"/>
                </a:solidFill>
              </a:rPr>
              <a:t>Montée en compétence temporaire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2302" y="2011680"/>
            <a:ext cx="1521333" cy="4114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586586"/>
                </a:solidFill>
              </a:rPr>
              <a:t>Posture du coach BMAD IAP — jamais permanente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52819" y="1097280"/>
            <a:ext cx="1813941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52819" y="1097280"/>
            <a:ext cx="64008" cy="1417320"/>
          </a:xfrm>
          <a:prstGeom prst="roundRect">
            <a:avLst>
              <a:gd name="adj" fmla="val 50000"/>
            </a:avLst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99123" y="1225295"/>
            <a:ext cx="1521333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6A3D9A"/>
                </a:solidFill>
              </a:rPr>
              <a:t>Complicated-subsystem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9123" y="1627631"/>
            <a:ext cx="152133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0E2356"/>
                </a:solidFill>
              </a:rPr>
              <a:t>Expertise pointue, compétences rares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9123" y="2011680"/>
            <a:ext cx="1521333" cy="4114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586586"/>
                </a:solidFill>
              </a:rPr>
              <a:t>Un vrai sous-système complexe, pas un produit plateforme classique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" y="2679192"/>
            <a:ext cx="7804404" cy="1371600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" y="2679192"/>
            <a:ext cx="7402068" cy="1371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</a:rPr>
              <a:t>Extension — les agents IA comme coéquipiers, et leur mise en œuvre (v1.7)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Un agent peut être membre d'une Stream-aligned team ou capacité exposée par la Platform Team. Aux 3 modes d'interaction Team Topologies — Collaboration, X-as-a-Service, Facilitating — s'ajoute un 4ᵉ candidat : Supervision. L'adoption suit la trajectoire Coach → Délégué (assisté → supervisé → délégué) : mandat écrit (ce que l'agent décide seul / ce qui escalade / qui répond de ses erreurs) avant tout palier au-delà de l'assisté — jamais un usage qui dérive à l'implicite.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00">
                <a:solidFill>
                  <a:srgbClr val="1E6B34"/>
                </a:solidFill>
              </a:rPr>
              <a:t>PROPOSITION   ·   </a:t>
            </a:r>
            <a:r>
              <a:rPr b="1" sz="1200">
                <a:solidFill>
                  <a:srgbClr val="0E2356"/>
                </a:solidFill>
              </a:rPr>
              <a:t>La Gate IA s'applique à chaque étape, de la collecte à la boucle de réévaluation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800" b="0" i="1">
                <a:solidFill>
                  <a:srgbClr val="586586"/>
                </a:solidFill>
              </a:rPr>
              <a:t>Deux sources de collecte convergent vers un diagnostic structuré ; une boucle de réévaluation referme le cycle.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325880"/>
            <a:ext cx="7804404" cy="329184"/>
          </a:xfrm>
          <a:prstGeom prst="roundRect">
            <a:avLst>
              <a:gd name="adj" fmla="val 12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5236" y="1325880"/>
            <a:ext cx="743864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FFFFFF"/>
                </a:solidFill>
              </a:rPr>
              <a:t>GATE IA &amp; CONFIDENTIALITÉ — checkpoint humain, transversal à chaque étape qui invoque un LLM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2356" y="1801368"/>
            <a:ext cx="1813941" cy="45720"/>
          </a:xfrm>
          <a:prstGeom prst="rect">
            <a:avLst/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356" y="1892807"/>
            <a:ext cx="181394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2C5CC5"/>
                </a:solidFill>
              </a:rPr>
              <a:t>COLLECTE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" y="2167128"/>
            <a:ext cx="1813941" cy="1325880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" y="2276856"/>
            <a:ext cx="1631061" cy="11064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700" b="0" i="0">
                <a:solidFill>
                  <a:srgbClr val="0E2356"/>
                </a:solidFill>
              </a:rPr>
              <a:t>·  Interviews par persona (trame / thème / question)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700" b="0" i="0">
                <a:solidFill>
                  <a:srgbClr val="0E2356"/>
                </a:solidFill>
              </a:rPr>
              <a:t>·  Import outils : ServiceNow/Jira/CMDB si accès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6297" y="1874519"/>
            <a:ext cx="1828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586586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59177" y="1801368"/>
            <a:ext cx="1813941" cy="45720"/>
          </a:xfrm>
          <a:prstGeom prst="rect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59177" y="1892807"/>
            <a:ext cx="181394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6A3D9A"/>
                </a:solidFill>
              </a:rPr>
              <a:t>DIAGNOSTIC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59177" y="2167128"/>
            <a:ext cx="1813941" cy="1325880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0617" y="2276856"/>
            <a:ext cx="1631061" cy="11064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700" b="0" i="0">
                <a:solidFill>
                  <a:srgbClr val="0E2356"/>
                </a:solidFill>
              </a:rPr>
              <a:t>·  Synthèse par thème puis synthèse globale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700" b="0" i="0">
                <a:solidFill>
                  <a:srgbClr val="0E2356"/>
                </a:solidFill>
              </a:rPr>
              <a:t>·  Registre de gaspillage (tags CONFIRMÉ/DÉDUIT/INCERTAIN)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3118" y="1874519"/>
            <a:ext cx="1828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586586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55998" y="1801368"/>
            <a:ext cx="1813941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5998" y="1892807"/>
            <a:ext cx="181394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B8860B"/>
                </a:solidFill>
              </a:rPr>
              <a:t>CONCEPTION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55998" y="2167128"/>
            <a:ext cx="1813941" cy="1325880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7438" y="2276856"/>
            <a:ext cx="1631061" cy="11064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700" b="0" i="0">
                <a:solidFill>
                  <a:srgbClr val="0E2356"/>
                </a:solidFill>
              </a:rPr>
              <a:t>·  Définition produit (+ cible MVP)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700" b="0" i="0">
                <a:solidFill>
                  <a:srgbClr val="0E2356"/>
                </a:solidFill>
              </a:rPr>
              <a:t>·  Operating model + traitement du gaspillage (décisions actées)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9939" y="1874519"/>
            <a:ext cx="1828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586586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52819" y="1801368"/>
            <a:ext cx="1813941" cy="45720"/>
          </a:xfrm>
          <a:prstGeom prst="rect">
            <a:avLst/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2819" y="1892807"/>
            <a:ext cx="181394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1E6B34"/>
                </a:solidFill>
              </a:rPr>
              <a:t>RESTITUTION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2819" y="2167128"/>
            <a:ext cx="1813941" cy="1325880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4259" y="2276856"/>
            <a:ext cx="1631061" cy="11064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700" b="0" i="0">
                <a:solidFill>
                  <a:srgbClr val="0E2356"/>
                </a:solidFill>
              </a:rPr>
              <a:t>·  Deck exécutif : axes valeur/complexité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700" b="0" i="0">
                <a:solidFill>
                  <a:srgbClr val="0E2356"/>
                </a:solidFill>
              </a:rPr>
              <a:t>·  + radar de maturité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" y="3639312"/>
            <a:ext cx="7804404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" y="3639312"/>
            <a:ext cx="7438644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750" b="0" i="1">
                <a:solidFill>
                  <a:srgbClr val="586586"/>
                </a:solidFill>
              </a:rPr>
              <a:t>iap-risk-reviewer — lecture seule, challenge Product definition / Operating model → Deck exécutif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2356" y="4133088"/>
            <a:ext cx="7804404" cy="502920"/>
          </a:xfrm>
          <a:prstGeom prst="roundRect">
            <a:avLst>
              <a:gd name="adj" fmla="val 1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" y="4133088"/>
            <a:ext cx="7438644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</a:rPr>
              <a:t>⟲ Boucle de réévaluation — iap-re-assessment, T+6-12 mois, alimente la bibliothèque de REX, reboucle vers la Collecte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700">
                <a:solidFill>
                  <a:srgbClr val="1E6B34"/>
                </a:solidFill>
              </a:rPr>
              <a:t>PROPOSITION   ·   </a:t>
            </a:r>
            <a:r>
              <a:rPr b="1" sz="1700">
                <a:solidFill>
                  <a:srgbClr val="0E2356"/>
                </a:solidFill>
              </a:rPr>
              <a:t>Livrables PPT par étape — piste à valider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iap-deck-builder est cadré comme un seul deck modulaire 16 sections, produit une fois à la Restitution — la trajectoire ci-avant implique plusieurs publics et moments de décision distincts. Piste : un profil de sections par étape, pas 4 générateurs séparés.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920240"/>
            <a:ext cx="1813941" cy="2046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1920240"/>
            <a:ext cx="64008" cy="2046224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8660" y="204825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" y="204825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" y="2048256"/>
            <a:ext cx="113728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2C5CC5"/>
                </a:solidFill>
              </a:rPr>
              <a:t>Assessment flash</a:t>
            </a:r>
          </a:p>
        </p:txBody>
      </p:sp>
      <p:sp>
        <p:nvSpPr>
          <p:cNvPr id="9" name="Rectangle 8"/>
          <p:cNvSpPr/>
          <p:nvPr/>
        </p:nvSpPr>
        <p:spPr>
          <a:xfrm>
            <a:off x="708660" y="2450592"/>
            <a:ext cx="1521333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" y="2523744"/>
            <a:ext cx="152133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0" i="1">
                <a:solidFill>
                  <a:srgbClr val="586586"/>
                </a:solidFill>
              </a:rPr>
              <a:t>Sponsor, comité de lancement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" y="2761488"/>
            <a:ext cx="1521333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0E2356"/>
                </a:solidFill>
              </a:rPr>
              <a:t>LIVRABLES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1" i="0">
                <a:solidFill>
                  <a:srgbClr val="0E2356"/>
                </a:solidFill>
              </a:rPr>
              <a:t>Deck exécutif de restitution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" y="3346704"/>
            <a:ext cx="1521333" cy="510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 i="0">
                <a:solidFill>
                  <a:srgbClr val="586586"/>
                </a:solidFill>
              </a:rPr>
              <a:t>(déjà cadré) synthèse globale, axes valeur/complexité, radar T0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59177" y="1920240"/>
            <a:ext cx="1813941" cy="2046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59177" y="1920240"/>
            <a:ext cx="64008" cy="2046224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05481" y="204825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05481" y="204825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9529" y="2048256"/>
            <a:ext cx="113728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B8860B"/>
                </a:solidFill>
              </a:rPr>
              <a:t>Premier déploiement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05481" y="2450592"/>
            <a:ext cx="1521333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05481" y="2523744"/>
            <a:ext cx="152133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0" i="1">
                <a:solidFill>
                  <a:srgbClr val="586586"/>
                </a:solidFill>
              </a:rPr>
              <a:t>Équipes pilotes +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05481" y="2761488"/>
            <a:ext cx="1521333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0E2356"/>
                </a:solidFill>
              </a:rPr>
              <a:t>LIVRABLES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1" i="0">
                <a:solidFill>
                  <a:srgbClr val="0E2356"/>
                </a:solidFill>
              </a:rPr>
              <a:t>Deck de plan de déploiement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05481" y="3346704"/>
            <a:ext cx="1521333" cy="510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 i="0">
                <a:solidFill>
                  <a:srgbClr val="586586"/>
                </a:solidFill>
              </a:rPr>
              <a:t>(nouveau) Cible TOM détaillée, backlog Coach/Délégué, mandat agent 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55998" y="1920240"/>
            <a:ext cx="1813941" cy="2046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55998" y="1920240"/>
            <a:ext cx="64008" cy="2046224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02302" y="204825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2302" y="204825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86350" y="2048256"/>
            <a:ext cx="113728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E6B34"/>
                </a:solidFill>
              </a:rPr>
              <a:t>Implémentation itérative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02302" y="2450592"/>
            <a:ext cx="1521333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2302" y="2523744"/>
            <a:ext cx="152133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0" i="1">
                <a:solidFill>
                  <a:srgbClr val="586586"/>
                </a:solidFill>
              </a:rPr>
              <a:t>Instance de comitologie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2302" y="2761488"/>
            <a:ext cx="1521333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0E2356"/>
                </a:solidFill>
              </a:rPr>
              <a:t>LIVRABLES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1" i="0">
                <a:solidFill>
                  <a:srgbClr val="0E2356"/>
                </a:solidFill>
              </a:rPr>
              <a:t>Deck de comité de pilotage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2302" y="3346704"/>
            <a:ext cx="1521333" cy="510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 i="0">
                <a:solidFill>
                  <a:srgbClr val="586586"/>
                </a:solidFill>
              </a:rPr>
              <a:t>(nouveau, périodique) Avancement backlog, delta KPIs, risques actifs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52819" y="1920240"/>
            <a:ext cx="1813941" cy="2046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52819" y="1920240"/>
            <a:ext cx="64008" cy="2046224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699123" y="204825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99123" y="204825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3171" y="2048256"/>
            <a:ext cx="113728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B3261E"/>
                </a:solidFill>
              </a:rPr>
              <a:t>Boucle de réévaluation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99123" y="2450592"/>
            <a:ext cx="1521333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99123" y="2523744"/>
            <a:ext cx="152133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0" i="1">
                <a:solidFill>
                  <a:srgbClr val="586586"/>
                </a:solidFill>
              </a:rPr>
              <a:t>Sponsor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9123" y="2761488"/>
            <a:ext cx="1521333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0E2356"/>
                </a:solidFill>
              </a:rPr>
              <a:t>LIVRABLES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1" i="0">
                <a:solidFill>
                  <a:srgbClr val="0E2356"/>
                </a:solidFill>
              </a:rPr>
              <a:t>Deck de bilan / ré-évaluation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9123" y="3346704"/>
            <a:ext cx="1521333" cy="510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 i="0">
                <a:solidFill>
                  <a:srgbClr val="586586"/>
                </a:solidFill>
              </a:rPr>
              <a:t>(nouveau) Delta maturité T0→T+6-12, REX consolidé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600">
                <a:solidFill>
                  <a:srgbClr val="1E6B34"/>
                </a:solidFill>
              </a:rPr>
              <a:t>PROPOSITION   ·   </a:t>
            </a:r>
            <a:r>
              <a:rPr b="1" sz="1600">
                <a:solidFill>
                  <a:srgbClr val="0E2356"/>
                </a:solidFill>
              </a:rPr>
              <a:t>Trois niveaux d'ambition, pas un spectre linéaire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2356" y="1463039"/>
            <a:ext cx="2479548" cy="1432560"/>
          </a:xfrm>
          <a:prstGeom prst="roundRect">
            <a:avLst>
              <a:gd name="adj" fmla="val 6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2356" y="1463039"/>
            <a:ext cx="64008" cy="143256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5236" y="1600199"/>
            <a:ext cx="211378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 · Aide au coach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" y="1965960"/>
            <a:ext cx="2113788" cy="4358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E8EBF5"/>
                </a:solidFill>
              </a:rPr>
              <a:t>Génère un livrable à la demande — aucune initiative propre. Le consultant pilote à 100 %.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" y="2511552"/>
            <a:ext cx="21137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État actuel du cadrage (MVP0–MVP5)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24783" y="1463039"/>
            <a:ext cx="2479548" cy="1432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24783" y="1463039"/>
            <a:ext cx="64008" cy="143256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7664" y="1600199"/>
            <a:ext cx="211378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B8860B"/>
                </a:solidFill>
              </a:rPr>
              <a:t>B · Assistant interactif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7664" y="1965960"/>
            <a:ext cx="2113788" cy="4358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E2356"/>
                </a:solidFill>
              </a:rPr>
              <a:t>Guide pas à pas, pose des questions de clarification, signale les incohérences.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7664" y="2511552"/>
            <a:ext cx="21137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</a:rPr>
              <a:t>Palier intermédiaire, entre MVP5 et MVP6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87212" y="1463039"/>
            <a:ext cx="2479548" cy="1432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87212" y="1463039"/>
            <a:ext cx="64008" cy="143256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0092" y="1600199"/>
            <a:ext cx="211378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B3261E"/>
                </a:solidFill>
              </a:rPr>
              <a:t>C · Companion connecté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0092" y="1965960"/>
            <a:ext cx="2113788" cy="4358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E2356"/>
                </a:solidFill>
              </a:rPr>
              <a:t>Connecté en direct à ServiceNow/Jira/Confluence/Datadog/CMDB/FinOps, quasi autonome.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0092" y="2511552"/>
            <a:ext cx="21137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</a:rPr>
              <a:t>= MVP6, non engagé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" y="3060192"/>
            <a:ext cx="7804404" cy="192328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800" b="0" i="1">
                <a:solidFill>
                  <a:srgbClr val="586586"/>
                </a:solidFill>
              </a:rPr>
              <a:t>Monter de A à C n'est pas qu'une question de fonctionnalités : le niveau C suppose un accès direct aux données de production du client — risque sécurité/confidentialité d'un tout autre ordre. Un cabinet peut durablement rester au niveau A ou B par choix de gouvernance, pas seulement par contrainte technique transitoire. MVP0–6 = jalons de la roadmap de mise en œuvre ; MVP6, le « companion connecté », n'est pas engagé.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00">
                <a:solidFill>
                  <a:srgbClr val="1E6B34"/>
                </a:solidFill>
              </a:rPr>
              <a:t>PROPOSITION   ·   </a:t>
            </a:r>
            <a:r>
              <a:rPr b="1" sz="1200">
                <a:solidFill>
                  <a:srgbClr val="0E2356"/>
                </a:solidFill>
              </a:rPr>
              <a:t>Le lien avec le SI du client change avec le niveau d'ambition, pas la méthode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97280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NIVEAU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59636" y="1097280"/>
            <a:ext cx="23317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82796" y="1097280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MODE DE CONNEXION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88836" y="1097280"/>
            <a:ext cx="1783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LIVRABLES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2356" y="1371600"/>
            <a:ext cx="7804404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2356" y="1371600"/>
            <a:ext cx="54864" cy="96012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" y="1371600"/>
            <a:ext cx="896112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2C5CC5"/>
                </a:solidFill>
              </a:rPr>
              <a:t>A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700" b="0" i="0">
                <a:solidFill>
                  <a:srgbClr val="586586"/>
                </a:solidFill>
              </a:rPr>
              <a:t>Aide au coach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9636" y="1371600"/>
            <a:ext cx="2240279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Exports ponctuels (ServiceNow/Jira), interviews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2796" y="1371600"/>
            <a:ext cx="2423160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Aucune — tout est apporté par le consultant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8836" y="1371600"/>
            <a:ext cx="1691639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Markdown + deck, à la demande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" y="2423160"/>
            <a:ext cx="7804404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2356" y="2423160"/>
            <a:ext cx="54864" cy="96012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" y="2423160"/>
            <a:ext cx="896112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B8860B"/>
                </a:solidFill>
              </a:rPr>
              <a:t>B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700" b="0" i="0">
                <a:solidFill>
                  <a:srgbClr val="586586"/>
                </a:solidFill>
              </a:rPr>
              <a:t>Assistant interactif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9636" y="2423160"/>
            <a:ext cx="2240279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Exports + App companion (capture terrain)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2796" y="2423160"/>
            <a:ext cx="2423160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Site web centralisé, orchestration assistée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8836" y="2423160"/>
            <a:ext cx="1691639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+ tableau de bord multi-engagements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" y="3474720"/>
            <a:ext cx="7804404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2356" y="3474720"/>
            <a:ext cx="54864" cy="96012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" y="3474720"/>
            <a:ext cx="896112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B3261E"/>
                </a:solidFill>
              </a:rPr>
              <a:t>C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700" b="0" i="0">
                <a:solidFill>
                  <a:srgbClr val="586586"/>
                </a:solidFill>
              </a:rPr>
              <a:t>Companion connecté (non engagé)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59636" y="3474720"/>
            <a:ext cx="2240279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ServiceNow/Jira/Confluence/Datadog/CMDB/FinOps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82796" y="3474720"/>
            <a:ext cx="2423160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Connecteurs API directs, en continu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8836" y="3474720"/>
            <a:ext cx="1691639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Livrables mis à jour en continu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" y="4572000"/>
            <a:ext cx="7804404" cy="4114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586586"/>
                </a:solidFill>
              </a:rPr>
              <a:t>Le niveau C suppose un accès direct aux données de production du client — un cabinet peut durablement rester au niveau A ou B par choix de gouvernance (slide précédente).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B8860B"/>
                </a:solidFill>
              </a:rPr>
              <a:t>Démarche</a:t>
            </a:r>
          </a:p>
          <a:p>
            <a:r>
              <a:rPr sz="1050" i="1">
                <a:solidFill>
                  <a:srgbClr val="586586"/>
                </a:solidFill>
              </a:rPr>
              <a:t>La trajectoire de mise en œuvre, son fil humain, et la vue bout-en-bout des livrables.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lIns="0" rIns="0" tIns="0" bIns="0" anchor="ctr"/>
          <a:lstStyle/>
          <a:p>
            <a:pPr algn="ctr" marL="0" indent="0">
              <a:buNone/>
            </a:pPr>
            <a:r>
              <a:rPr sz="1700">
                <a:solidFill>
                  <a:srgbClr val="B8860B"/>
                </a:solidFill>
              </a:rPr>
              <a:t>05</a:t>
            </a:r>
          </a:p>
        </p:txBody>
      </p:sp>
      <p:pic>
        <p:nvPicPr>
          <p:cNvPr id="4" name="Picture 3" descr="canyon_0_960x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450">
                <a:solidFill>
                  <a:srgbClr val="B8860B"/>
                </a:solidFill>
              </a:rPr>
              <a:t>DÉMARCHE   ·   </a:t>
            </a:r>
            <a:r>
              <a:rPr b="1" sz="1450">
                <a:solidFill>
                  <a:srgbClr val="0E2356"/>
                </a:solidFill>
              </a:rPr>
              <a:t>Mise en œuvre du target operating model — piste à valider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13816" y="1383487"/>
            <a:ext cx="7301484" cy="21945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17866" y="11430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17866" y="11430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" y="1755648"/>
            <a:ext cx="1813941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800" b="1" i="0">
                <a:solidFill>
                  <a:srgbClr val="0E2356"/>
                </a:solidFill>
              </a:rPr>
              <a:t>Assessment flash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6406" y="2084831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6406" y="2084831"/>
            <a:ext cx="100584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1–2 sem.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" y="2377439"/>
            <a:ext cx="1722501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700" b="0" i="0">
                <a:solidFill>
                  <a:srgbClr val="586586"/>
                </a:solidFill>
              </a:rPr>
              <a:t>= Schéma de fonctionnement déjà cadré (Collecte → Diagnostic → Conception → Restitution).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4687" y="11430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4687" y="11430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9177" y="1755648"/>
            <a:ext cx="1813941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800" b="1" i="0">
                <a:solidFill>
                  <a:srgbClr val="0E2356"/>
                </a:solidFill>
              </a:rPr>
              <a:t>Premier déploiement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3227" y="2084831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63227" y="2084831"/>
            <a:ext cx="100584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4–5 sem.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4897" y="2377439"/>
            <a:ext cx="1722501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700" b="0" i="0">
                <a:solidFill>
                  <a:srgbClr val="586586"/>
                </a:solidFill>
              </a:rPr>
              <a:t>1-2 équipes pilotes, mode Coach dominant. Piste agent IA (si retenue) : qualifier, cadrer, mandater.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1508" y="11430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1508" y="11430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5998" y="1755648"/>
            <a:ext cx="1813941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800" b="1" i="0">
                <a:solidFill>
                  <a:srgbClr val="0E2356"/>
                </a:solidFill>
              </a:rPr>
              <a:t>Implémentation itérative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60048" y="2084831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60048" y="2084831"/>
            <a:ext cx="100584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→ T+6-12 mois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1718" y="2377439"/>
            <a:ext cx="1722501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700" b="0" i="0">
                <a:solidFill>
                  <a:srgbClr val="586586"/>
                </a:solidFill>
              </a:rPr>
              <a:t>Généralisation équipe par équipe, bascule Coach → Délégué. Piste agent IA : supervisé puis délégué.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08329" y="11430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08329" y="11430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2819" y="1755648"/>
            <a:ext cx="1813941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800" b="1" i="0">
                <a:solidFill>
                  <a:srgbClr val="0E2356"/>
                </a:solidFill>
              </a:rPr>
              <a:t>Boucle de réévaluation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56869" y="2084831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56869" y="2084831"/>
            <a:ext cx="100584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T+6-12 mois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98539" y="2377439"/>
            <a:ext cx="1722501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700" b="0" i="0">
                <a:solidFill>
                  <a:srgbClr val="586586"/>
                </a:solidFill>
              </a:rPr>
              <a:t>iap-re-assessment reboucle vers la Collecte — alimente la bibliothèque de REX.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" y="3355848"/>
            <a:ext cx="7804404" cy="1280160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6" y="3355848"/>
            <a:ext cx="7438644" cy="1280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0E2356"/>
                </a:solidFill>
              </a:rPr>
              <a:t>Bifurcation avec/sans agents IA déployés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700" b="0" i="0">
                <a:solidFill>
                  <a:srgbClr val="0E2356"/>
                </a:solidFill>
              </a:rPr>
              <a:t>Le tronc commun ①→②→③→⟲ ne change pas de structure — la piste agent IA (si retenue) se greffe sur ②/③ via la démarche d'accompagnement en 5 phases déjà cadrée, plutôt que d'être un chemin séparé à maintenir. Owner proposé (non tranché) : iap-operating-model-architect + iap-change-coach sur le volet humain.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350">
                <a:solidFill>
                  <a:srgbClr val="B8860B"/>
                </a:solidFill>
              </a:rPr>
              <a:t>DÉMARCHE   ·   </a:t>
            </a:r>
            <a:r>
              <a:rPr b="1" sz="1350">
                <a:solidFill>
                  <a:srgbClr val="0E2356"/>
                </a:solidFill>
              </a:rPr>
              <a:t>La trajectoire accompagne aussi les personnes, de bout en bout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2356" y="1069848"/>
            <a:ext cx="960120" cy="566928"/>
          </a:xfrm>
          <a:prstGeom prst="roundRect">
            <a:avLst>
              <a:gd name="adj" fmla="val 12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2356" y="1069848"/>
            <a:ext cx="96012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70 %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7068" y="1069848"/>
            <a:ext cx="6679692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E2356"/>
                </a:solidFill>
              </a:rPr>
              <a:t>des transformations sont inachevées ou échouent parce que les facteurs humains et culturels sont mal pris en compte (Kotter, Harvard Business Review).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750" b="0" i="1">
                <a:solidFill>
                  <a:srgbClr val="586586"/>
                </a:solidFill>
              </a:rPr>
              <a:t>Le fil humain suit la même trame ①②③⟲ que la trajectoire — un fil dans les phases, pas un stream séparé, porté par iap-change-coach de bout en bout.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356" y="2103977"/>
            <a:ext cx="7804404" cy="205111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32166" y="1898237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32166" y="1898237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" y="2401157"/>
            <a:ext cx="165849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2C5CC5"/>
                </a:solidFill>
              </a:rPr>
              <a:t>Engager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" y="2602325"/>
            <a:ext cx="1658493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600" b="1" i="0">
                <a:solidFill>
                  <a:srgbClr val="586586"/>
                </a:solidFill>
              </a:rPr>
              <a:t>ASSESSMENT FLASH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" y="2803493"/>
            <a:ext cx="1658493" cy="87001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0E2356"/>
                </a:solidFill>
              </a:rPr>
              <a:t>L'engagement personnel du sponsor est testé dès l'intake, avant signature ; les interviews écoutent les tensions ; la restitution revient aux interviewés, pas au seul sponsor.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" y="3728370"/>
            <a:ext cx="1658493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" y="3783234"/>
            <a:ext cx="1658493" cy="2255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650" b="1" i="0">
                <a:solidFill>
                  <a:srgbClr val="2C5CC5"/>
                </a:solidFill>
              </a:rPr>
              <a:t>iap-change-coach · iap-intake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3457" y="2231993"/>
            <a:ext cx="10972" cy="1795081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83267" y="1898237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83267" y="1898237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9761" y="2401157"/>
            <a:ext cx="165849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B8860B"/>
                </a:solidFill>
              </a:rPr>
              <a:t>Expérimenter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9761" y="2602325"/>
            <a:ext cx="1658493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600" b="1" i="0">
                <a:solidFill>
                  <a:srgbClr val="586586"/>
                </a:solidFill>
              </a:rPr>
              <a:t>PREMIER DÉPLOIEMENT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9761" y="2803493"/>
            <a:ext cx="1658493" cy="87001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0E2356"/>
                </a:solidFill>
              </a:rPr>
              <a:t>Équipes pilotes volontaires, jamais désignées d'office ; formation sur les cas réels de l'équipe — « pas de formation sans coaching ».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9761" y="3728370"/>
            <a:ext cx="1658493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9761" y="3783234"/>
            <a:ext cx="1658493" cy="2255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650" b="1" i="0">
                <a:solidFill>
                  <a:srgbClr val="B8860B"/>
                </a:solidFill>
              </a:rPr>
              <a:t>iap-change-coach · équipe pilote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64558" y="2231993"/>
            <a:ext cx="10972" cy="1795081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34368" y="1898237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34368" y="1898237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0862" y="2401157"/>
            <a:ext cx="165849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1E6B34"/>
                </a:solidFill>
              </a:rPr>
              <a:t>Outiller &amp; relayer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0862" y="2602325"/>
            <a:ext cx="1658493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600" b="1" i="0">
                <a:solidFill>
                  <a:srgbClr val="586586"/>
                </a:solidFill>
              </a:rPr>
              <a:t>IMPLÉMENTATION ITÉRATIVE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0862" y="2803493"/>
            <a:ext cx="1658493" cy="87001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0E2356"/>
                </a:solidFill>
              </a:rPr>
              <a:t>Les résistances sont un signal à écouter ; communauté de managers (N+1/N+2 embarqués) ; relais internes formés — le consultant se rend dispensable.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0862" y="3728370"/>
            <a:ext cx="1658493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0862" y="3783234"/>
            <a:ext cx="1658493" cy="2255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650" b="1" i="0">
                <a:solidFill>
                  <a:srgbClr val="1E6B34"/>
                </a:solidFill>
              </a:rPr>
              <a:t>iap-change-coach · operating-model-architect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15659" y="2231993"/>
            <a:ext cx="10972" cy="1795081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185469" y="1898237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85469" y="1898237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1963" y="2401157"/>
            <a:ext cx="165849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B3261E"/>
                </a:solidFill>
              </a:rPr>
              <a:t>Mesurer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1963" y="2602325"/>
            <a:ext cx="1658493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600" b="1" i="0">
                <a:solidFill>
                  <a:srgbClr val="586586"/>
                </a:solidFill>
              </a:rPr>
              <a:t>BOUCLE DE RÉÉVALUATION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1963" y="2803493"/>
            <a:ext cx="1658493" cy="87001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0E2356"/>
                </a:solidFill>
              </a:rPr>
              <a:t>Satisfaction et adhésion mesurées au même instrument à T0 et à la réévaluation — le delta humain se lit à côté du delta de maturité.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61963" y="3728370"/>
            <a:ext cx="1658493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61963" y="3783234"/>
            <a:ext cx="1658493" cy="2255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650" b="1" i="0">
                <a:solidFill>
                  <a:srgbClr val="B3261E"/>
                </a:solidFill>
              </a:rPr>
              <a:t>iap-change-coach · metrics-sre-finops-lead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2356" y="4319682"/>
            <a:ext cx="7804404" cy="548640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5236" y="4319682"/>
            <a:ext cx="743864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0E2356"/>
                </a:solidFill>
              </a:rPr>
              <a:t>Ce que ça ne crée pas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700" b="0" i="0">
                <a:solidFill>
                  <a:srgbClr val="0E2356"/>
                </a:solidFill>
              </a:rPr>
              <a:t>Pas de nouvel agent (iap-change-coach porte le fil de bout en bout), pas de phase en plus — et jamais d'évaluation individuelle des personnes (déontologie du consultant, transposée telle quelle).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00">
                <a:solidFill>
                  <a:srgbClr val="B8860B"/>
                </a:solidFill>
              </a:rPr>
              <a:t>DÉMARCHE   ·   </a:t>
            </a:r>
            <a:r>
              <a:rPr b="1" sz="1200">
                <a:solidFill>
                  <a:srgbClr val="0E2356"/>
                </a:solidFill>
              </a:rPr>
              <a:t>Comment ça fonctionne, de bout en bout : quels livrables, à quel moment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0" i="1">
                <a:solidFill>
                  <a:srgbClr val="586586"/>
                </a:solidFill>
              </a:rPr>
              <a:t>Assemble la trajectoire (slide précédente) et les livrables détaillés (chapitre Proposition) en une seule vue d'ensemble.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8096" y="1632204"/>
            <a:ext cx="7392924" cy="18288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63586" y="1435607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3586" y="1435607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" y="1938528"/>
            <a:ext cx="181394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E2356"/>
                </a:solidFill>
              </a:rPr>
              <a:t>Assessment flash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2126" y="2212848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2126" y="2212848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1-2 sem.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" y="2505456"/>
            <a:ext cx="1813941" cy="1005840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" y="2578608"/>
            <a:ext cx="1631061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LIVRABLES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" y="2779775"/>
            <a:ext cx="1631061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700" b="0" i="0">
                <a:solidFill>
                  <a:srgbClr val="0E2356"/>
                </a:solidFill>
              </a:rPr>
              <a:t>·  Deck exécutif de restitution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60407" y="1435607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60407" y="1435607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9177" y="1938528"/>
            <a:ext cx="181394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E2356"/>
                </a:solidFill>
              </a:rPr>
              <a:t>Premier déploiement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08947" y="2212848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08947" y="2212848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4-5 sem.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59177" y="2505456"/>
            <a:ext cx="1813941" cy="1005840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0617" y="2578608"/>
            <a:ext cx="1631061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LIVRABLES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0617" y="2779775"/>
            <a:ext cx="1631061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700" b="0" i="0">
                <a:solidFill>
                  <a:srgbClr val="0E2356"/>
                </a:solidFill>
              </a:rPr>
              <a:t>·  Deck de plan de déploiement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700" b="0" i="0">
                <a:solidFill>
                  <a:srgbClr val="0E2356"/>
                </a:solidFill>
              </a:rPr>
              <a:t>·  Export markdown (1re version)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57228" y="1435607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228" y="1435607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5998" y="1938528"/>
            <a:ext cx="181394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E2356"/>
                </a:solidFill>
              </a:rPr>
              <a:t>Implémentation itérative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05768" y="2212848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5768" y="2212848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→ T+6-12 mois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55998" y="2505456"/>
            <a:ext cx="1813941" cy="1005840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7438" y="2578608"/>
            <a:ext cx="1631061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LIVRABLES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7438" y="2779775"/>
            <a:ext cx="1631061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700" b="0" i="0">
                <a:solidFill>
                  <a:srgbClr val="0E2356"/>
                </a:solidFill>
              </a:rPr>
              <a:t>·  Deck de comité de pilotage (périodique)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54049" y="1435607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54049" y="1435607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2819" y="1938528"/>
            <a:ext cx="181394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E2356"/>
                </a:solidFill>
              </a:rPr>
              <a:t>Boucle de réévaluation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02589" y="2212848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02589" y="2212848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T+6-12 mois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52819" y="2505456"/>
            <a:ext cx="1813941" cy="1005840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44259" y="2578608"/>
            <a:ext cx="1631061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LIVRABLES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44259" y="2779775"/>
            <a:ext cx="1631061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700" b="0" i="0">
                <a:solidFill>
                  <a:srgbClr val="0E2356"/>
                </a:solidFill>
              </a:rPr>
              <a:t>·  Deck de bilan / ré-évaluation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700" b="0" i="0">
                <a:solidFill>
                  <a:srgbClr val="0E2356"/>
                </a:solidFill>
              </a:rPr>
              <a:t>·  Export markdown amendé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2356" y="3648456"/>
            <a:ext cx="7804404" cy="1188720"/>
          </a:xfrm>
          <a:prstGeom prst="roundRect">
            <a:avLst>
              <a:gd name="adj" fmla="val 8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3524" y="3648456"/>
            <a:ext cx="7402068" cy="11887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Deux flux de livrables, une seule trajectoire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800" b="0" i="0">
                <a:solidFill>
                  <a:srgbClr val="C7CBE0"/>
                </a:solidFill>
              </a:rPr>
              <a:t>Le flux PPT (sponsor, comité de pilotage) et le flux markdown (équipe qui exécute) avancent en parallèle sur le même calendrier ①→②→③→⟲ — jamais deux trajectoires séparées à maintenir.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6A3D9A"/>
                </a:solidFill>
              </a:rPr>
              <a:t>IA</a:t>
            </a:r>
          </a:p>
          <a:p>
            <a:r>
              <a:rPr sz="1050" i="1">
                <a:solidFill>
                  <a:srgbClr val="586586"/>
                </a:solidFill>
              </a:rPr>
              <a:t>L'IA au service de la réponse : le gate confidentialité, la prudence, les agents candidats, l'export.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lIns="0" rIns="0" tIns="0" bIns="0" anchor="ctr"/>
          <a:lstStyle/>
          <a:p>
            <a:pPr algn="ctr" marL="0" indent="0">
              <a:buNone/>
            </a:pPr>
            <a:r>
              <a:rPr sz="1700">
                <a:solidFill>
                  <a:srgbClr val="6A3D9A"/>
                </a:solidFill>
              </a:rPr>
              <a:t>06</a:t>
            </a:r>
          </a:p>
        </p:txBody>
      </p:sp>
      <p:pic>
        <p:nvPicPr>
          <p:cNvPr id="4" name="Picture 3" descr="nightsky_0_960x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700">
                <a:solidFill>
                  <a:srgbClr val="6A3D9A"/>
                </a:solidFill>
              </a:rPr>
              <a:t>IA   ·   </a:t>
            </a:r>
            <a:r>
              <a:rPr b="1" sz="1700">
                <a:solidFill>
                  <a:srgbClr val="0E2356"/>
                </a:solidFill>
              </a:rPr>
              <a:t>Les données du client gouvernent le choix du modèle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86586"/>
                </a:solidFill>
              </a:rPr>
              <a:t>Checkpoint toujours humain avant tout usage IA sur données client — iap-ai-data-confidentiality-gate, quel que soit le mode d'exécution retenu.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463039"/>
            <a:ext cx="1234440" cy="566928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2356" y="1463039"/>
            <a:ext cx="12344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D0 · Public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79676" y="1463039"/>
            <a:ext cx="38404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0E2356"/>
                </a:solidFill>
              </a:rPr>
              <a:t>Articles publics, docs méthodo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3036" y="1463039"/>
            <a:ext cx="2363724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586586"/>
                </a:solidFill>
              </a:rPr>
              <a:t>IA externe possible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" y="2121408"/>
            <a:ext cx="1234440" cy="566928"/>
          </a:xfrm>
          <a:prstGeom prst="roundRect">
            <a:avLst>
              <a:gd name="adj" fmla="val 50000"/>
            </a:avLst>
          </a:prstGeom>
          <a:solidFill>
            <a:srgbClr val="5B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2356" y="2121408"/>
            <a:ext cx="12344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D1 · Interne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9676" y="2121408"/>
            <a:ext cx="38404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0E2356"/>
                </a:solidFill>
              </a:rPr>
              <a:t>Organisation macro, catalogue anonymisé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3036" y="2121408"/>
            <a:ext cx="2363724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586586"/>
                </a:solidFill>
              </a:rPr>
              <a:t>IA client recommandée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" y="2779776"/>
            <a:ext cx="1234440" cy="56692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" y="2779776"/>
            <a:ext cx="12344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D2 · Confidentiel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9676" y="2779776"/>
            <a:ext cx="38404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0E2356"/>
                </a:solidFill>
              </a:rPr>
              <a:t>Notes d'interview, reporting, portefeuille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3036" y="2779776"/>
            <a:ext cx="2363724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586586"/>
                </a:solidFill>
              </a:rPr>
              <a:t>IA client ou LLM privé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" y="3438144"/>
            <a:ext cx="1234440" cy="566928"/>
          </a:xfrm>
          <a:prstGeom prst="roundRect">
            <a:avLst>
              <a:gd name="adj" fmla="val 50000"/>
            </a:avLst>
          </a:prstGeom>
          <a:solidFill>
            <a:srgbClr val="C1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356" y="3438144"/>
            <a:ext cx="12344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D3 · Restreint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9676" y="3438144"/>
            <a:ext cx="38404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0E2356"/>
                </a:solidFill>
              </a:rPr>
              <a:t>Tickets détaillés, logs, CMDB, IAM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3036" y="3438144"/>
            <a:ext cx="2363724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586586"/>
                </a:solidFill>
              </a:rPr>
              <a:t>LLM local, contrôles forts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6" y="4096511"/>
            <a:ext cx="1234440" cy="56692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2356" y="4096511"/>
            <a:ext cx="12344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D4 · Critique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9676" y="4096511"/>
            <a:ext cx="38404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0E2356"/>
                </a:solidFill>
              </a:rPr>
              <a:t>Secrets de production, données réglementées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3036" y="4096511"/>
            <a:ext cx="2363724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586586"/>
                </a:solidFill>
              </a:rPr>
              <a:t>Local/on-prem, sans IA générative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700">
                <a:solidFill>
                  <a:srgbClr val="6A3D9A"/>
                </a:solidFill>
              </a:rPr>
              <a:t>IA   ·   </a:t>
            </a:r>
            <a:r>
              <a:rPr b="1" sz="1700">
                <a:solidFill>
                  <a:srgbClr val="0E2356"/>
                </a:solidFill>
              </a:rPr>
              <a:t>La prudence IA est un frein chiffré, pas un veto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E2356"/>
                </a:solidFill>
              </a:rPr>
              <a:t>Prudence IA = confidentialité + besoin de supervision + criticité de la décision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554480"/>
            <a:ext cx="247954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1554480"/>
            <a:ext cx="64008" cy="141732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8660" y="1682495"/>
            <a:ext cx="21869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2C5CC5"/>
                </a:solidFill>
              </a:rPr>
              <a:t>CONFIDENTIALITÉ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" y="2057400"/>
            <a:ext cx="21869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E2356"/>
                </a:solidFill>
              </a:rPr>
              <a:t>Reprend directement la classification du gate IA (D0-D4, slide précédente) — plus la donnée est sensible, plus le score monte.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24783" y="1554480"/>
            <a:ext cx="247954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24783" y="1554480"/>
            <a:ext cx="64008" cy="141732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1088" y="1682495"/>
            <a:ext cx="21869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B8860B"/>
                </a:solidFill>
              </a:rPr>
              <a:t>BESOIN DE SUPERVISION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1088" y="2057400"/>
            <a:ext cx="21869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E2356"/>
                </a:solidFill>
              </a:rPr>
              <a:t>Le palier d'adoption visé (assisté / supervisé / délégué) — un agent encore au stade assisté pèse plus lourd qu'un agent déjà éprouvé.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87212" y="1554480"/>
            <a:ext cx="247954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7212" y="1554480"/>
            <a:ext cx="64008" cy="141732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3516" y="1682495"/>
            <a:ext cx="21869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B3261E"/>
                </a:solidFill>
              </a:rPr>
              <a:t>CRITICITÉ DE LA DÉCISION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3516" y="2057400"/>
            <a:ext cx="21869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E2356"/>
                </a:solidFill>
              </a:rPr>
              <a:t>L'impact d'une erreur si l'agent se trompe seul — une recommandation réversible pèse moins qu'une décision irréversible.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" y="3136392"/>
            <a:ext cx="7804404" cy="1051560"/>
          </a:xfrm>
          <a:prstGeom prst="roundRect">
            <a:avLst>
              <a:gd name="adj" fmla="val 8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" y="3136392"/>
            <a:ext cx="7402068" cy="10515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Un frein, pas un veto automatique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800" b="0" i="0">
                <a:solidFill>
                  <a:srgbClr val="C7CBE0"/>
                </a:solidFill>
              </a:rPr>
              <a:t>Le score est SOUSTRAIT de impact × faisabilité — un candidat facile et à fort impact peut quand même être écarté si sa prudence IA est trop haute (cf. l'exemple chiffré du chapitre Proposition). Le score ne remplace pas l'arbitrage humain : il le rend explicite. Avancer malgré un score élevé reste possible, mais se documente comme une décision à part entière (même discipline que la dérogation du gate DevOps).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350">
                <a:solidFill>
                  <a:srgbClr val="6A3D9A"/>
                </a:solidFill>
              </a:rPr>
              <a:t>IA   ·   </a:t>
            </a:r>
            <a:r>
              <a:rPr b="1" sz="1350">
                <a:solidFill>
                  <a:srgbClr val="0E2356"/>
                </a:solidFill>
              </a:rPr>
              <a:t>Un agent de triage peut absorber le gaspillage RUN le plus répétitif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B3261E"/>
                </a:solidFill>
              </a:rPr>
              <a:t>Agent de triage de tickets</a:t>
            </a:r>
          </a:p>
          <a:p>
            <a:pPr algn="l">
              <a:spcBef>
                <a:spcPts val="200"/>
              </a:spcBef>
            </a:pPr>
            <a:r>
              <a:rPr sz="800" b="0" i="1">
                <a:solidFill>
                  <a:srgbClr val="586586"/>
                </a:solidFill>
              </a:rPr>
              <a:t>Gaspillage RUN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554480"/>
            <a:ext cx="7804404" cy="6697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1554480"/>
            <a:ext cx="54864" cy="669797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" y="1664207"/>
            <a:ext cx="7402068" cy="4503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B3261E"/>
                </a:solidFill>
              </a:rPr>
              <a:t>POURQUOI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900" b="0" i="0">
                <a:solidFill>
                  <a:srgbClr val="0E2356"/>
                </a:solidFill>
              </a:rPr>
              <a:t>Les mêmes types de tickets reviennent depuis des années et mobilisent des experts seniors sur un travail répétitif à faible valeur — le gaspillage RUN le plus classique.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2356" y="2681478"/>
            <a:ext cx="7804404" cy="6697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2356" y="2681478"/>
            <a:ext cx="54864" cy="669797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" y="2791206"/>
            <a:ext cx="7402068" cy="4503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B3261E"/>
                </a:solidFill>
              </a:rPr>
              <a:t>CE QUE FAIT L'AGENT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900" b="0" i="0">
                <a:solidFill>
                  <a:srgbClr val="0E2356"/>
                </a:solidFill>
              </a:rPr>
              <a:t>Lit chaque ticket entrant, le classe selon un runbook déjà documenté et le route vers la bonne équipe. Le processus doit être explicite avant l'agent (préalable non négociable) — jamais l'inverse.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" y="3808476"/>
            <a:ext cx="7804404" cy="6697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2356" y="3808476"/>
            <a:ext cx="54864" cy="669797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" y="3918204"/>
            <a:ext cx="7402068" cy="4503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B3261E"/>
                </a:solidFill>
              </a:rPr>
              <a:t>GAIN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900" b="0" i="0">
                <a:solidFill>
                  <a:srgbClr val="0E2356"/>
                </a:solidFill>
              </a:rPr>
              <a:t>Capacité RUN récupérée : dans le cas nominal du cadrage, jusqu'à 15 tickets/mois traités sans intervention humaine, temps de triage divisé par deux.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50">
                <a:solidFill>
                  <a:srgbClr val="6A3D9A"/>
                </a:solidFill>
              </a:rPr>
              <a:t>IA   ·   </a:t>
            </a:r>
            <a:r>
              <a:rPr b="1" sz="1250">
                <a:solidFill>
                  <a:srgbClr val="0E2356"/>
                </a:solidFill>
              </a:rPr>
              <a:t>Un agent de veille FinOps rend le décommissionnement continu, pas ponctuel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B8860B"/>
                </a:solidFill>
              </a:rPr>
              <a:t>Agent de veille FinOps</a:t>
            </a:r>
          </a:p>
          <a:p>
            <a:pPr algn="l">
              <a:spcBef>
                <a:spcPts val="200"/>
              </a:spcBef>
            </a:pPr>
            <a:r>
              <a:rPr sz="800" b="0" i="1">
                <a:solidFill>
                  <a:srgbClr val="586586"/>
                </a:solidFill>
              </a:rPr>
              <a:t>Gaspillage Financier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554480"/>
            <a:ext cx="7804404" cy="6697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1554480"/>
            <a:ext cx="54864" cy="669797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" y="1664207"/>
            <a:ext cx="7402068" cy="4503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B8860B"/>
                </a:solidFill>
              </a:rPr>
              <a:t>POURQUOI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900" b="0" i="0">
                <a:solidFill>
                  <a:srgbClr val="0E2356"/>
                </a:solidFill>
              </a:rPr>
              <a:t>Les ressources cloud surdimensionnées ou orphelines ne sont détectées qu'à l'occasion d'audits ponctuels — le gaspillage s'accumule entre deux revues manuelles.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2356" y="2681478"/>
            <a:ext cx="7804404" cy="6697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2356" y="2681478"/>
            <a:ext cx="54864" cy="669797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" y="2791206"/>
            <a:ext cx="7402068" cy="4503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B8860B"/>
                </a:solidFill>
              </a:rPr>
              <a:t>CE QUE FAIT L'AGENT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900" b="0" i="0">
                <a:solidFill>
                  <a:srgbClr val="0E2356"/>
                </a:solidFill>
              </a:rPr>
              <a:t>Scanne en continu la CMDB et la facturation cloud, détecte les ressources inactives ou surdimensionnées, et propose une liste de décommissionnement à valider — ne décommissionne jamais seul.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" y="3808476"/>
            <a:ext cx="7804404" cy="6697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2356" y="3808476"/>
            <a:ext cx="54864" cy="669797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" y="3918204"/>
            <a:ext cx="7402068" cy="4503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B8860B"/>
                </a:solidFill>
              </a:rPr>
              <a:t>GAIN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900" b="0" i="0">
                <a:solidFill>
                  <a:srgbClr val="0E2356"/>
                </a:solidFill>
              </a:rPr>
              <a:t>Coût récupéré et directement mesurable (ressources décommissionnées par mois) — un KPI de mission déjà cadré, pas à inventer.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300">
                <a:solidFill>
                  <a:srgbClr val="6A3D9A"/>
                </a:solidFill>
              </a:rPr>
              <a:t>IA   ·   </a:t>
            </a:r>
            <a:r>
              <a:rPr b="1" sz="1300">
                <a:solidFill>
                  <a:srgbClr val="0E2356"/>
                </a:solidFill>
              </a:rPr>
              <a:t>Un agent documentaire réduit la charge cognitive sans remplacer l'expert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6A3D9A"/>
                </a:solidFill>
              </a:rPr>
              <a:t>Agent documentaire (RAG)</a:t>
            </a:r>
          </a:p>
          <a:p>
            <a:pPr algn="l">
              <a:spcBef>
                <a:spcPts val="200"/>
              </a:spcBef>
            </a:pPr>
            <a:r>
              <a:rPr sz="800" b="0" i="1">
                <a:solidFill>
                  <a:srgbClr val="586586"/>
                </a:solidFill>
              </a:rPr>
              <a:t>Gaspillage Cognitif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554480"/>
            <a:ext cx="7804404" cy="6697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1554480"/>
            <a:ext cx="54864" cy="669797"/>
          </a:xfrm>
          <a:prstGeom prst="roundRect">
            <a:avLst>
              <a:gd name="adj" fmla="val 50000"/>
            </a:avLst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" y="1664207"/>
            <a:ext cx="7402068" cy="4503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6A3D9A"/>
                </a:solidFill>
              </a:rPr>
              <a:t>POURQUOI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900" b="0" i="0">
                <a:solidFill>
                  <a:srgbClr val="0E2356"/>
                </a:solidFill>
              </a:rPr>
              <a:t>Trop d'outils, procédures dispersées : la charge cognitive pour retrouver l'information ralentit les équipes et sollicite en permanence les mêmes experts.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2356" y="2681478"/>
            <a:ext cx="7804404" cy="6697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2356" y="2681478"/>
            <a:ext cx="54864" cy="669797"/>
          </a:xfrm>
          <a:prstGeom prst="roundRect">
            <a:avLst>
              <a:gd name="adj" fmla="val 50000"/>
            </a:avLst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" y="2791206"/>
            <a:ext cx="7402068" cy="4503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6A3D9A"/>
                </a:solidFill>
              </a:rPr>
              <a:t>CE QUE FAIT L'AGENT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900" b="0" i="0">
                <a:solidFill>
                  <a:srgbClr val="0E2356"/>
                </a:solidFill>
              </a:rPr>
              <a:t>Indexe la documentation existante (runbooks, wikis, tickets résolus) et répond aux questions fréquentes avec la source citée — jamais une réponse sans preuve.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" y="3808476"/>
            <a:ext cx="7804404" cy="6697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2356" y="3808476"/>
            <a:ext cx="54864" cy="669797"/>
          </a:xfrm>
          <a:prstGeom prst="roundRect">
            <a:avLst>
              <a:gd name="adj" fmla="val 50000"/>
            </a:avLst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" y="3918204"/>
            <a:ext cx="7402068" cy="4503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6A3D9A"/>
                </a:solidFill>
              </a:rPr>
              <a:t>GAIN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900" b="0" i="0">
                <a:solidFill>
                  <a:srgbClr val="0E2356"/>
                </a:solidFill>
              </a:rPr>
              <a:t>Charge cognitive réduite, onboarding plus rapide, moins d'interruptions des experts seniors pour des questions déjà documentées.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" y="4624578"/>
            <a:ext cx="7804404" cy="35890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Ces 3 candidats restent soumis au scoring (chapitre Proposition) et au gate IA (ouverture de ce chapitre) avant toute décision — des exemples illustratifs, pas une liste actée.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00">
                <a:solidFill>
                  <a:srgbClr val="6A3D9A"/>
                </a:solidFill>
              </a:rPr>
              <a:t>IA   ·   </a:t>
            </a:r>
            <a:r>
              <a:rPr b="1" sz="1200">
                <a:solidFill>
                  <a:srgbClr val="0E2356"/>
                </a:solidFill>
              </a:rPr>
              <a:t>Export markdown — agentic ou documentation, selon le contexte client (piste à valider)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Pas un 5e deck PPT : un livrable markdown pour l'équipe qui exécute (versionnable, committable) — les 4 decks du chapitre Proposition restent pour sponsor et comité de pilotage.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435607"/>
            <a:ext cx="3810762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1435607"/>
            <a:ext cx="64008" cy="141732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5236" y="1563624"/>
            <a:ext cx="344500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B3261E"/>
                </a:solidFill>
              </a:rPr>
              <a:t>DOCUMENTATION-FIRST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" y="1892807"/>
            <a:ext cx="344500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586586"/>
                </a:solidFill>
              </a:rPr>
              <a:t>QUAND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800" b="0" i="0">
                <a:solidFill>
                  <a:srgbClr val="0E2356"/>
                </a:solidFill>
              </a:rPr>
              <a:t>Agentic Readiness [0]-[1], données D3-D4 sans LLM local, ou score de gaspillage faible.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" y="2423160"/>
            <a:ext cx="344500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LIVRABLE · OWNER</a:t>
            </a:r>
          </a:p>
          <a:p>
            <a:pPr algn="l">
              <a:spcBef>
                <a:spcPts val="200"/>
              </a:spcBef>
            </a:pPr>
            <a:r>
              <a:rPr sz="800" b="1" i="0">
                <a:solidFill>
                  <a:srgbClr val="0E2356"/>
                </a:solidFill>
              </a:rPr>
              <a:t>Runbook du processus — iap-adoption-plan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55998" y="1435607"/>
            <a:ext cx="3810762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55998" y="1435607"/>
            <a:ext cx="64008" cy="141732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8878" y="1563624"/>
            <a:ext cx="344500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2C5CC5"/>
                </a:solidFill>
              </a:rPr>
              <a:t>AGENTIC-IMPLEMENTATION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8878" y="1892807"/>
            <a:ext cx="344500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586586"/>
                </a:solidFill>
              </a:rPr>
              <a:t>QUAND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800" b="0" i="0">
                <a:solidFill>
                  <a:srgbClr val="0E2356"/>
                </a:solidFill>
              </a:rPr>
              <a:t>Agentic Readiness [2]-[3], données D0-D2 (ou D3-D4 avec LLM local), score positif.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8878" y="2423160"/>
            <a:ext cx="344500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LIVRABLE · OWNER</a:t>
            </a:r>
          </a:p>
          <a:p>
            <a:pPr algn="l">
              <a:spcBef>
                <a:spcPts val="200"/>
              </a:spcBef>
            </a:pPr>
            <a:r>
              <a:rPr sz="800" b="1" i="0">
                <a:solidFill>
                  <a:srgbClr val="0E2356"/>
                </a:solidFill>
              </a:rPr>
              <a:t>Plan d'implémentation agentic — iap-agentic-opportunities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" y="2990088"/>
            <a:ext cx="2479548" cy="502920"/>
          </a:xfrm>
          <a:prstGeom prst="roundRect">
            <a:avLst>
              <a:gd name="adj" fmla="val 1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" y="3044952"/>
            <a:ext cx="2260092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0E2356"/>
                </a:solidFill>
              </a:rPr>
              <a:t>PILIER AGENTIC READINESS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700" b="0" i="0">
                <a:solidFill>
                  <a:srgbClr val="586586"/>
                </a:solidFill>
              </a:rPr>
              <a:t>[0-1] → documentation · [2-3] → agentic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24783" y="2990088"/>
            <a:ext cx="2479548" cy="502920"/>
          </a:xfrm>
          <a:prstGeom prst="roundRect">
            <a:avLst>
              <a:gd name="adj" fmla="val 1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4512" y="3044952"/>
            <a:ext cx="2260092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0E2356"/>
                </a:solidFill>
              </a:rPr>
              <a:t>DONNÉES (GATE IA)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700" b="0" i="0">
                <a:solidFill>
                  <a:srgbClr val="586586"/>
                </a:solidFill>
              </a:rPr>
              <a:t>D3-D4 sans LLM local → doc · D0-D2 → agentic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87212" y="2990088"/>
            <a:ext cx="2479548" cy="502920"/>
          </a:xfrm>
          <a:prstGeom prst="roundRect">
            <a:avLst>
              <a:gd name="adj" fmla="val 1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96940" y="3044952"/>
            <a:ext cx="2260092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0E2356"/>
                </a:solidFill>
              </a:rPr>
              <a:t>SCORE DE GASPILLAGE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700" b="0" i="0">
                <a:solidFill>
                  <a:srgbClr val="586586"/>
                </a:solidFill>
              </a:rPr>
              <a:t>faible/négatif → doc · positif → agentic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6" y="3630168"/>
            <a:ext cx="7804404" cy="960120"/>
          </a:xfrm>
          <a:prstGeom prst="roundRect">
            <a:avLst>
              <a:gd name="adj" fmla="val 8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" y="3630168"/>
            <a:ext cx="7402068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Pas un aller simple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800" b="0" i="0">
                <a:solidFill>
                  <a:srgbClr val="C7CBE0"/>
                </a:solidFill>
              </a:rPr>
              <a:t>À chaque boucle de réévaluation, le même fichier est amendé — jamais dupliqué — sur le modèle du registre de risques IA : un client documentation-first peut basculer en agentic si son Agentic Readiness progresse, et inversement en cas de perte de compétence avérée.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00">
                <a:solidFill>
                  <a:srgbClr val="6A3D9A"/>
                </a:solidFill>
              </a:rPr>
              <a:t>IA   ·   </a:t>
            </a:r>
            <a:r>
              <a:rPr b="1" sz="1200">
                <a:solidFill>
                  <a:srgbClr val="0E2356"/>
                </a:solidFill>
              </a:rPr>
              <a:t>Onze agents spécialisés, un seul bloquant : le gate confidentialité les traverse tous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Un mandat unique par agent, regroupés par étape. Le gate confidentialité est le seul à pouvoir arrêter la chaîne — transversal, il précède tout usage d'un modèle IA sur donnée client.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600200"/>
            <a:ext cx="1813941" cy="2258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1600200"/>
            <a:ext cx="64008" cy="2258568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0372" y="1709928"/>
            <a:ext cx="155790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2C5CC5"/>
                </a:solidFill>
              </a:rPr>
              <a:t>INTAKE</a:t>
            </a:r>
          </a:p>
          <a:p>
            <a:pPr algn="l">
              <a:spcBef>
                <a:spcPts val="100"/>
              </a:spcBef>
            </a:pPr>
            <a:r>
              <a:rPr sz="650" b="0" i="0">
                <a:solidFill>
                  <a:srgbClr val="586586"/>
                </a:solidFill>
              </a:rPr>
              <a:t>1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" y="2075688"/>
            <a:ext cx="1557909" cy="71589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E2356"/>
                </a:solidFill>
              </a:rPr>
              <a:t>iap-intake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650" b="0" i="0">
                <a:solidFill>
                  <a:srgbClr val="586586"/>
                </a:solidFill>
              </a:rPr>
              <a:t>Qualifie le contexte client, le positionne sur les deux échelles de maturité, puis choisit le chemin de mission : diagnostic, pilote, adoption ou gate d'abord.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59177" y="1600200"/>
            <a:ext cx="1813941" cy="2258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59177" y="1600200"/>
            <a:ext cx="64008" cy="2258568"/>
          </a:xfrm>
          <a:prstGeom prst="roundRect">
            <a:avLst>
              <a:gd name="adj" fmla="val 50000"/>
            </a:avLst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87193" y="1709928"/>
            <a:ext cx="155790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6A3D9A"/>
                </a:solidFill>
              </a:rPr>
              <a:t>DIAGNOSTIC</a:t>
            </a:r>
          </a:p>
          <a:p>
            <a:pPr algn="l">
              <a:spcBef>
                <a:spcPts val="100"/>
              </a:spcBef>
            </a:pPr>
            <a:r>
              <a:rPr sz="650" b="0" i="0">
                <a:solidFill>
                  <a:srgbClr val="586586"/>
                </a:solidFill>
              </a:rPr>
              <a:t>2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7193" y="2365883"/>
            <a:ext cx="1557909" cy="336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E2356"/>
                </a:solidFill>
              </a:rPr>
              <a:t>iap-diagnostic-systemique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650" b="0" i="0">
                <a:solidFill>
                  <a:srgbClr val="586586"/>
                </a:solidFill>
              </a:rPr>
              <a:t>Structure, flux, RUN, posture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7193" y="3159252"/>
            <a:ext cx="1557909" cy="336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E2356"/>
                </a:solidFill>
              </a:rPr>
              <a:t>iap-discovery-gaspillage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650" b="0" i="0">
                <a:solidFill>
                  <a:srgbClr val="586586"/>
                </a:solidFill>
              </a:rPr>
              <a:t>Preuves, causes racines, options de traitement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55998" y="1600200"/>
            <a:ext cx="1813941" cy="2258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55998" y="1600200"/>
            <a:ext cx="64008" cy="22585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4014" y="1709928"/>
            <a:ext cx="155790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B8860B"/>
                </a:solidFill>
              </a:rPr>
              <a:t>CONCEPTION</a:t>
            </a:r>
          </a:p>
          <a:p>
            <a:pPr algn="l">
              <a:spcBef>
                <a:spcPts val="100"/>
              </a:spcBef>
            </a:pPr>
            <a:r>
              <a:rPr sz="650" b="0" i="0">
                <a:solidFill>
                  <a:srgbClr val="586586"/>
                </a:solidFill>
              </a:rPr>
              <a:t>4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4014" y="2075688"/>
            <a:ext cx="1557909" cy="336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E2356"/>
                </a:solidFill>
              </a:rPr>
              <a:t>iap-waste-treatment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650" b="0" i="0">
                <a:solidFill>
                  <a:srgbClr val="586586"/>
                </a:solidFill>
              </a:rPr>
              <a:t>Backlog priorisé et scoré des gaspillages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4014" y="2533607"/>
            <a:ext cx="1557909" cy="336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E2356"/>
                </a:solidFill>
              </a:rPr>
              <a:t>iap-product-definition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650" b="0" i="0">
                <a:solidFill>
                  <a:srgbClr val="586586"/>
                </a:solidFill>
              </a:rPr>
              <a:t>Personas, capacités, valeur, roadmap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4014" y="2991527"/>
            <a:ext cx="1557909" cy="336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E2356"/>
                </a:solidFill>
              </a:rPr>
              <a:t>iap-operating-model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650" b="0" i="0">
                <a:solidFill>
                  <a:srgbClr val="586586"/>
                </a:solidFill>
              </a:rPr>
              <a:t>Rôles, gouvernance, financement (décisions actées)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4014" y="3449447"/>
            <a:ext cx="1557909" cy="336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E2356"/>
                </a:solidFill>
              </a:rPr>
              <a:t>iap-agentic-opportunities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650" b="0" i="0">
                <a:solidFill>
                  <a:srgbClr val="586586"/>
                </a:solidFill>
              </a:rPr>
              <a:t>Le gaspillage d'abord, l'IA ensuite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2819" y="1600200"/>
            <a:ext cx="1813941" cy="2258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2819" y="1600200"/>
            <a:ext cx="64008" cy="2258568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80835" y="1709928"/>
            <a:ext cx="155790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E6B34"/>
                </a:solidFill>
              </a:rPr>
              <a:t>ADOPTION &amp; RESTITUTION</a:t>
            </a:r>
          </a:p>
          <a:p>
            <a:pPr algn="l">
              <a:spcBef>
                <a:spcPts val="100"/>
              </a:spcBef>
            </a:pPr>
            <a:r>
              <a:rPr sz="650" b="0" i="0">
                <a:solidFill>
                  <a:srgbClr val="586586"/>
                </a:solidFill>
              </a:rPr>
              <a:t>3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80835" y="2075688"/>
            <a:ext cx="1557909" cy="336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E2356"/>
                </a:solidFill>
              </a:rPr>
              <a:t>iap-adoption-plan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650" b="0" i="0">
                <a:solidFill>
                  <a:srgbClr val="586586"/>
                </a:solidFill>
              </a:rPr>
              <a:t>Onboarding, documentation, communautés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0835" y="2762567"/>
            <a:ext cx="1557909" cy="336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E2356"/>
                </a:solidFill>
              </a:rPr>
              <a:t>iap-scenario-playbook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650" b="0" i="0">
                <a:solidFill>
                  <a:srgbClr val="586586"/>
                </a:solidFill>
              </a:rPr>
              <a:t>Adapte la démarche au scénario client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0835" y="3449447"/>
            <a:ext cx="1557909" cy="336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E2356"/>
                </a:solidFill>
              </a:rPr>
              <a:t>iap-deck-builder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650" b="0" i="0">
                <a:solidFill>
                  <a:srgbClr val="586586"/>
                </a:solidFill>
              </a:rPr>
              <a:t>Deck modulaire, restitution exécutive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" y="3995928"/>
            <a:ext cx="7804404" cy="548640"/>
          </a:xfrm>
          <a:prstGeom prst="roundRect">
            <a:avLst>
              <a:gd name="adj" fmla="val 1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8660" y="41422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" y="4142232"/>
            <a:ext cx="105156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BLOQUANT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43100" y="4087368"/>
            <a:ext cx="6249924" cy="36575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iap-ai-data-confidentiality-gate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750" b="0" i="0">
                <a:solidFill>
                  <a:srgbClr val="C7CBE0"/>
                </a:solidFill>
              </a:rPr>
              <a:t>Classe les données (D0-D4), décide le mode d'exécution IA et pose les garde-fous — transversal, avant tout usage d'un modèle IA sur donnée client.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" y="4654296"/>
            <a:ext cx="7804404" cy="3291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Onze mandats distincts, un seul peut arrêter la chaîne — tous les autres proposent et produisent, la décision finale reste humaine.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2C5CC5"/>
                </a:solidFill>
              </a:rPr>
              <a:t>KPI</a:t>
            </a:r>
          </a:p>
          <a:p>
            <a:r>
              <a:rPr sz="1050" i="1">
                <a:solidFill>
                  <a:srgbClr val="586586"/>
                </a:solidFill>
              </a:rPr>
              <a:t>Trois familles de KPIs à ne jamais confondre, leur mise en place, la grille de maturité, et le cas chiffré.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lIns="0" rIns="0" tIns="0" bIns="0" anchor="ctr"/>
          <a:lstStyle/>
          <a:p>
            <a:pPr algn="ctr" marL="0" indent="0">
              <a:buNone/>
            </a:pPr>
            <a:r>
              <a:rPr sz="1700">
                <a:solidFill>
                  <a:srgbClr val="2C5CC5"/>
                </a:solidFill>
              </a:rPr>
              <a:t>07</a:t>
            </a:r>
          </a:p>
        </p:txBody>
      </p:sp>
      <p:pic>
        <p:nvPicPr>
          <p:cNvPr id="4" name="Picture 3" descr="meadow_1_960x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700">
                <a:solidFill>
                  <a:srgbClr val="2C5CC5"/>
                </a:solidFill>
              </a:rPr>
              <a:t>KPI   ·   </a:t>
            </a:r>
            <a:r>
              <a:rPr b="1" sz="1700">
                <a:solidFill>
                  <a:srgbClr val="0E2356"/>
                </a:solidFill>
              </a:rPr>
              <a:t>Trois familles de KPIs, à ne jamais confondre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2356" y="1741392"/>
            <a:ext cx="2479548" cy="255225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2356" y="1741392"/>
            <a:ext cx="64008" cy="2552255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6947" y="1887696"/>
            <a:ext cx="2150364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2C5CC5"/>
                </a:solidFill>
              </a:rPr>
              <a:t>KPIs de mission</a:t>
            </a:r>
          </a:p>
          <a:p>
            <a:pPr algn="l">
              <a:spcBef>
                <a:spcPts val="200"/>
              </a:spcBef>
            </a:pPr>
            <a:r>
              <a:rPr sz="850" b="0" i="1">
                <a:solidFill>
                  <a:srgbClr val="586586"/>
                </a:solidFill>
              </a:rPr>
              <a:t>Côté 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7" y="2472912"/>
            <a:ext cx="2150364" cy="1683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0E2356"/>
                </a:solidFill>
              </a:rPr>
              <a:t>·  Gaspillage traité (capacité RUN récupérée)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0E2356"/>
                </a:solidFill>
              </a:rPr>
              <a:t>·  Adoption produit (self-service)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0E2356"/>
                </a:solidFill>
              </a:rPr>
              <a:t>·  Fiabilité &amp; coût (MTTR : délai moyen de résolution, coût/capacité)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0E2356"/>
                </a:solidFill>
              </a:rPr>
              <a:t>·  Gouvernance IA (supervision, incidents)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0E2356"/>
                </a:solidFill>
              </a:rPr>
              <a:t>·  Maturité (delta par pilier, T0→réévaluation)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24783" y="1741392"/>
            <a:ext cx="2479548" cy="255225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24783" y="1741392"/>
            <a:ext cx="64008" cy="2552255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9376" y="1887696"/>
            <a:ext cx="2150364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E6B34"/>
                </a:solidFill>
              </a:rPr>
              <a:t>KPIs d'usage du module</a:t>
            </a:r>
          </a:p>
          <a:p>
            <a:pPr algn="l">
              <a:spcBef>
                <a:spcPts val="200"/>
              </a:spcBef>
            </a:pPr>
            <a:r>
              <a:rPr sz="850" b="0" i="1">
                <a:solidFill>
                  <a:srgbClr val="586586"/>
                </a:solidFill>
              </a:rPr>
              <a:t>Côté cabinet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9376" y="2472912"/>
            <a:ext cx="2150364" cy="1683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0E2356"/>
                </a:solidFill>
              </a:rPr>
              <a:t>·  Accélération (temps pour un cadrage flash)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0E2356"/>
                </a:solidFill>
              </a:rPr>
              <a:t>·  Réutilisation (templates vs ad hoc)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0E2356"/>
                </a:solidFill>
              </a:rPr>
              <a:t>·  Cohérence (écarts détectés par risk-reviewer)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0E2356"/>
                </a:solidFill>
              </a:rPr>
              <a:t>·  Capitalisation (REX ajoutés)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0E2356"/>
                </a:solidFill>
              </a:rPr>
              <a:t>·  Adoption interne (consultants, missions)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87212" y="1741392"/>
            <a:ext cx="2479548" cy="2552255"/>
          </a:xfrm>
          <a:prstGeom prst="roundRect">
            <a:avLst>
              <a:gd name="adj" fmla="val 6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87212" y="1741392"/>
            <a:ext cx="64008" cy="2552255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51804" y="1887696"/>
            <a:ext cx="2150364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</a:rPr>
              <a:t>Grille de maturité</a:t>
            </a:r>
          </a:p>
          <a:p>
            <a:pPr algn="l">
              <a:spcBef>
                <a:spcPts val="200"/>
              </a:spcBef>
            </a:pPr>
            <a:r>
              <a:rPr sz="850" b="0" i="1">
                <a:solidFill>
                  <a:srgbClr val="AEB6D4"/>
                </a:solidFill>
              </a:rPr>
              <a:t>Progression dans le temps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1804" y="2472912"/>
            <a:ext cx="2150364" cy="1683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E8EBF5"/>
                </a:solidFill>
              </a:rPr>
              <a:t>·  Delta par pilier (Excellence Tech., Agilité, IA/Agentic)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E8EBF5"/>
                </a:solidFill>
              </a:rPr>
              <a:t>·  Re-assessment T+6–12 mois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E8EBF5"/>
                </a:solidFill>
              </a:rPr>
              <a:t>·  Score de priorisation ≠ KPI de résultat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550">
                <a:solidFill>
                  <a:srgbClr val="2C5CC5"/>
                </a:solidFill>
              </a:rPr>
              <a:t>KPI   ·   </a:t>
            </a:r>
            <a:r>
              <a:rPr b="1" sz="1550">
                <a:solidFill>
                  <a:srgbClr val="0E2356"/>
                </a:solidFill>
              </a:rPr>
              <a:t>KPIs : pourquoi chaque famille, et quoi mesurer précisément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2356" y="1097280"/>
            <a:ext cx="7804404" cy="1222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2356" y="1097280"/>
            <a:ext cx="64008" cy="1222248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6947" y="1207007"/>
            <a:ext cx="1554480" cy="1002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C5CC5"/>
                </a:solidFill>
              </a:rPr>
              <a:t>KPIs de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4308" y="1207007"/>
            <a:ext cx="2868930" cy="1002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POURQUOI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Sans eux, un deck peut être livré dans les règles sans jamais savoir si le client va réellement mieux — la « transformation cosmétique » appliquée cette fois au résultat.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70398" y="1207007"/>
            <a:ext cx="2868930" cy="1002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QUOI, PRÉCISÉMENT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Capacité RUN récupérée en heures/mois ; delta de MTTR en minutes ; taux de self-service sur la capacité livrée — pas un pourcentage vague.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" y="2429256"/>
            <a:ext cx="7804404" cy="1222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2356" y="2429256"/>
            <a:ext cx="64008" cy="1222248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7" y="2538984"/>
            <a:ext cx="1554480" cy="1002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E6B34"/>
                </a:solidFill>
              </a:rPr>
              <a:t>KPIs d'usage du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4308" y="2538984"/>
            <a:ext cx="2868930" cy="1002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POURQUOI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Le module est réutilisé mission après mission — sans mesure d'usage, impossible de distinguer une méthode qui s'améliore d'une méthode qui stagne.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70398" y="2538984"/>
            <a:ext cx="2868930" cy="1002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QUOI, PRÉCISÉMENT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Temps en heures consultant pour un cadrage flash ; part des livrables issus d'un template sans réécriture substantielle — pas juste « utilisé un template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" y="3761232"/>
            <a:ext cx="7804404" cy="1222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2356" y="3761232"/>
            <a:ext cx="64008" cy="122224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7" y="3870960"/>
            <a:ext cx="1554480" cy="1002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8860B"/>
                </a:solidFill>
              </a:rPr>
              <a:t>Grille de maturité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4308" y="3870960"/>
            <a:ext cx="2868930" cy="1002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POURQUOI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Sans mesure répétée dans le temps, la maturité reste une opinion de consultant, pas un delta objectivable — ce qui rend la boucle ⟲ vérifiable plutôt que déclarative.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70398" y="3870960"/>
            <a:ext cx="2868930" cy="1002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QUOI, PRÉCISÉMENT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Delta par pilier (pas un score agrégé qui masquerait un recul) ; même instrument (grille V3.2) à T0 et à chaque re-assessment.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700">
                <a:solidFill>
                  <a:srgbClr val="2C5CC5"/>
                </a:solidFill>
              </a:rPr>
              <a:t>KPI   ·   </a:t>
            </a:r>
            <a:r>
              <a:rPr b="1" sz="1700">
                <a:solidFill>
                  <a:srgbClr val="0E2356"/>
                </a:solidFill>
              </a:rPr>
              <a:t>KPIs : comment on les met en place, concrètement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2356" y="1097280"/>
            <a:ext cx="780440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2356" y="1097280"/>
            <a:ext cx="54864" cy="91440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5236" y="1188720"/>
            <a:ext cx="18288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C5CC5"/>
                </a:solidFill>
              </a:rPr>
              <a:t>KPIs de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11196" y="1188720"/>
            <a:ext cx="1793748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OWNER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iap-metrics-sre-finops-lead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2104" y="1188720"/>
            <a:ext cx="1793748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SOURCE DES DONNÉES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ServiceNow/Jira/CMDB si accès (preuves externes), sinon déclaratif — tagué DÉDUIT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3012" y="1188720"/>
            <a:ext cx="1793748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CADENCE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Continu, lu à chaque étape ②③⟲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356" y="2121408"/>
            <a:ext cx="780440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2356" y="2121408"/>
            <a:ext cx="54864" cy="914400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" y="2212848"/>
            <a:ext cx="18288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E6B34"/>
                </a:solidFill>
              </a:rPr>
              <a:t>KPIs d'usage du 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1196" y="2212848"/>
            <a:ext cx="1793748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OWNER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Le consultant, au fil des missions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2104" y="2212848"/>
            <a:ext cx="1793748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SOURCE DES DONNÉES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Journal de mission + bibliothèque de REX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3012" y="2212848"/>
            <a:ext cx="1793748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CADENCE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Par mission, consolidé à MVP5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" y="3145536"/>
            <a:ext cx="780440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2356" y="3145536"/>
            <a:ext cx="54864" cy="91440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" y="3236976"/>
            <a:ext cx="18288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8860B"/>
                </a:solidFill>
              </a:rPr>
              <a:t>Grille de maturité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1196" y="3236976"/>
            <a:ext cx="1793748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OWNER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iap-strategy-lead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2104" y="3236976"/>
            <a:ext cx="1793748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SOURCE DES DONNÉES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Grille V3.2 repassée en atelier ou en interview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3012" y="3236976"/>
            <a:ext cx="1793748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CADENCE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T0 (① Assessment flash) puis chaque boucle 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" y="4197096"/>
            <a:ext cx="7804404" cy="777240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" y="4197096"/>
            <a:ext cx="7438644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0E2356"/>
                </a:solidFill>
              </a:rPr>
              <a:t>Pas d'instrumentation automatique en MVP1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800" b="0" i="0">
                <a:solidFill>
                  <a:srgbClr val="586586"/>
                </a:solidFill>
              </a:rPr>
              <a:t>Cohérent avec le Niveau A/B assumé (§Ambition de l'outil) : recueil et rapport à la main tant qu'aucun tableau de bord temps réel n'est promis avant le Niveau C.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50">
                <a:solidFill>
                  <a:srgbClr val="2C5CC5"/>
                </a:solidFill>
              </a:rPr>
              <a:t>KPI   ·   </a:t>
            </a:r>
            <a:r>
              <a:rPr b="1" sz="1250">
                <a:solidFill>
                  <a:srgbClr val="0E2356"/>
                </a:solidFill>
              </a:rPr>
              <a:t>La grille de maturité : deux échelles distinctes, mesurées dans le temps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La 3ᵉ famille de KPIs. Deux lectures qui ne mesurent pas la même chose et se lisent séparément ; le KPI de progression, c'est le DELTA par pilier entre T0 et chaque réévaluation — pas le niveau absolu.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2356" y="1508760"/>
            <a:ext cx="381076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</a:rPr>
              <a:t>CAPACITÉ IA DU CLIENT (M0–M4)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50" b="0" i="0">
                <a:solidFill>
                  <a:srgbClr val="2C5CC5"/>
                </a:solidFill>
              </a:rPr>
              <a:t>→ gouverne le choix du modèle IA et le gate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" y="1984248"/>
            <a:ext cx="566928" cy="530352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" y="1984248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6443" y="1984248"/>
            <a:ext cx="296951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</a:rPr>
              <a:t>Pas d'IA interne utilisable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 i="0">
                <a:solidFill>
                  <a:srgbClr val="586586"/>
                </a:solidFill>
              </a:rPr>
              <a:t>Méthodo générique, données anonymisées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" y="2569463"/>
            <a:ext cx="566928" cy="530352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2356" y="2569463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6443" y="2569463"/>
            <a:ext cx="296951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</a:rPr>
              <a:t>IA interne basique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 i="0">
                <a:solidFill>
                  <a:srgbClr val="586586"/>
                </a:solidFill>
              </a:rPr>
              <a:t>Synthèses internes, pas d'analyse critique auto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" y="3154679"/>
            <a:ext cx="566928" cy="530352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6" y="3154679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6443" y="3154679"/>
            <a:ext cx="296951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</a:rPr>
              <a:t>IA privée avec RAG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 i="0">
                <a:solidFill>
                  <a:srgbClr val="586586"/>
                </a:solidFill>
              </a:rPr>
              <a:t>Diagnostic documentaire, consolidation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" y="3739896"/>
            <a:ext cx="566928" cy="530352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" y="3739896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6443" y="3739896"/>
            <a:ext cx="296951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</a:rPr>
              <a:t>Plateforme IA gouvernée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 i="0">
                <a:solidFill>
                  <a:srgbClr val="586586"/>
                </a:solidFill>
              </a:rPr>
              <a:t>Workflows agentic contrôlés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" y="4325112"/>
            <a:ext cx="566928" cy="530352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6" y="4325112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6443" y="4325112"/>
            <a:ext cx="296951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</a:rPr>
              <a:t>IA industrielle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 i="0">
                <a:solidFill>
                  <a:srgbClr val="586586"/>
                </a:solidFill>
              </a:rPr>
              <a:t>Agents spécialisés à fort volume, contrôle humain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5998" y="1508760"/>
            <a:ext cx="381076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</a:rPr>
              <a:t>MATURITÉ PRODUIT / PLATEFORME (grille V3.2)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50" b="0" i="0">
                <a:solidFill>
                  <a:srgbClr val="1E6B34"/>
                </a:solidFill>
              </a:rPr>
              <a:t>→ gouverne la trajectoire de transformation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55998" y="218541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12030" y="1984248"/>
            <a:ext cx="355473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0E2356"/>
                </a:solidFill>
              </a:rPr>
              <a:t>Équipe Produit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586586"/>
                </a:solidFill>
              </a:rPr>
              <a:t>Adjacent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55998" y="277063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12030" y="2569463"/>
            <a:ext cx="355473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0E2356"/>
                </a:solidFill>
              </a:rPr>
              <a:t>Excellence Technique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1E6B34"/>
                </a:solidFill>
              </a:rPr>
              <a:t>Cœur du périmètre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55998" y="335584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12030" y="3154679"/>
            <a:ext cx="355473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0E2356"/>
                </a:solidFill>
              </a:rPr>
              <a:t>Culture de l'Entreprise Agile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586586"/>
                </a:solidFill>
              </a:rPr>
              <a:t>Adjacent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55998" y="3941063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12030" y="3739896"/>
            <a:ext cx="355473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0E2356"/>
                </a:solidFill>
              </a:rPr>
              <a:t>Agilité à l'Échelle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B8860B"/>
                </a:solidFill>
              </a:rPr>
              <a:t>Cœur du périmètre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55998" y="4526279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12030" y="4325112"/>
            <a:ext cx="355473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0E2356"/>
                </a:solidFill>
              </a:rPr>
              <a:t>IA, Agentic et Organisation Augmentée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6A3D9A"/>
                </a:solidFill>
              </a:rPr>
              <a:t>Où se lit l'axe IA (M0–M4)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600">
                <a:solidFill>
                  <a:srgbClr val="2C5CC5"/>
                </a:solidFill>
              </a:rPr>
              <a:t>KPI   ·   </a:t>
            </a:r>
            <a:r>
              <a:rPr b="1" sz="1600">
                <a:solidFill>
                  <a:srgbClr val="0E2356"/>
                </a:solidFill>
              </a:rPr>
              <a:t>KPIs en pratique : le cas nominal RUN massif, avant/après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0" i="1">
                <a:solidFill>
                  <a:srgbClr val="586586"/>
                </a:solidFill>
              </a:rPr>
              <a:t>Même fixture illustrative que le cas nominal de l'export markdown (chapitre IA) — pas un client réel.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2356" y="1417319"/>
            <a:ext cx="2606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00" b="1">
                <a:solidFill>
                  <a:srgbClr val="586586"/>
                </a:solidFill>
              </a:rPr>
              <a:t>KPI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78124" y="1417319"/>
            <a:ext cx="1600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00" b="1">
                <a:solidFill>
                  <a:srgbClr val="586586"/>
                </a:solidFill>
              </a:rPr>
              <a:t>T0 · ① ASSESSMENT FLASH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88052" y="1417319"/>
            <a:ext cx="1691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00" b="1">
                <a:solidFill>
                  <a:srgbClr val="586586"/>
                </a:solidFill>
              </a:rPr>
              <a:t>T+6-12 MOIS · </a:t>
            </a:r>
            <a:r>
              <a:rPr sz="700" b="0">
                <a:solidFill>
                  <a:srgbClr val="586586"/>
                </a:solidFill>
              </a:rPr>
              <a:t>⟲</a:t>
            </a:r>
            <a:r>
              <a:rPr sz="700" b="1">
                <a:solidFill>
                  <a:srgbClr val="586586"/>
                </a:solidFill>
              </a:rPr>
              <a:t> RÉÉVALUATION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89420" y="1417319"/>
            <a:ext cx="15773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00" b="1">
                <a:solidFill>
                  <a:srgbClr val="586586"/>
                </a:solidFill>
              </a:rPr>
              <a:t>TAG</a:t>
            </a:r>
          </a:p>
        </p:txBody>
      </p:sp>
      <p:sp>
        <p:nvSpPr>
          <p:cNvPr id="8" name="Rectangle 7"/>
          <p:cNvSpPr/>
          <p:nvPr/>
        </p:nvSpPr>
        <p:spPr>
          <a:xfrm>
            <a:off x="562356" y="2276856"/>
            <a:ext cx="7804404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2356" y="1709928"/>
            <a:ext cx="26060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E2356"/>
                </a:solidFill>
              </a:rPr>
              <a:t>Pilier Agentic Readiness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8124" y="1709928"/>
            <a:ext cx="1600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0E2356"/>
                </a:solidFill>
              </a:rPr>
              <a:t>[1] — process pas assez explicite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8052" y="1709928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0E2356"/>
                </a:solidFill>
              </a:rPr>
              <a:t>[2] — process explicite, rôles définis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89420" y="1874519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9420" y="1874519"/>
            <a:ext cx="100584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CONFIRMÉ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" y="2916936"/>
            <a:ext cx="7804404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" y="2350008"/>
            <a:ext cx="26060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E2356"/>
                </a:solidFill>
              </a:rPr>
              <a:t>Tickets récurrents évités / mois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8124" y="2350008"/>
            <a:ext cx="1600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0E2356"/>
                </a:solidFill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8052" y="2350008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0E2356"/>
                </a:solidFill>
              </a:rPr>
              <a:t>≈ 15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9420" y="251460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9420" y="2514600"/>
            <a:ext cx="100584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DÉDUIT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2356" y="3557015"/>
            <a:ext cx="7804404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2356" y="2990087"/>
            <a:ext cx="26060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E2356"/>
                </a:solidFill>
              </a:rPr>
              <a:t>Temps de triage moyen / ticket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8124" y="2990087"/>
            <a:ext cx="1600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0E2356"/>
                </a:solidFill>
              </a:rPr>
              <a:t>25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8052" y="2990087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0E2356"/>
                </a:solidFill>
              </a:rPr>
              <a:t>12 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89420" y="3154679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89420" y="3154679"/>
            <a:ext cx="100584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DÉDUIT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2356" y="4197096"/>
            <a:ext cx="7804404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2356" y="3630168"/>
            <a:ext cx="26060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E2356"/>
                </a:solidFill>
              </a:rPr>
              <a:t>Recommandation associée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8124" y="3630168"/>
            <a:ext cx="1600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0E2356"/>
                </a:solidFill>
              </a:rPr>
              <a:t>Documentation-first (runbook)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8052" y="3630168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0E2356"/>
                </a:solidFill>
              </a:rPr>
              <a:t>Agentic-implementation (même fichier amendé)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9420" y="3630168"/>
            <a:ext cx="15773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86586"/>
                </a:solidFill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" y="4334256"/>
            <a:ext cx="7804404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586586"/>
                </a:solidFill>
              </a:rPr>
              <a:t>Le point à retenir n'est pas l'ampleur des chiffres (fixture, pas une preuve) mais la discipline de mesure : même instrument aux deux instants, tag de confiance explicite, et un KPI de maturité qui déclenche directement le changement de recommandation.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6 - OCTO">
  <a:themeElements>
    <a:clrScheme name="Custom">
      <a:dk1>
        <a:srgbClr val="0E2356"/>
      </a:dk1>
      <a:lt1>
        <a:srgbClr val="FFFFFF"/>
      </a:lt1>
      <a:dk2>
        <a:srgbClr val="3E4F78"/>
      </a:dk2>
      <a:lt2>
        <a:srgbClr val="586586"/>
      </a:lt2>
      <a:accent1>
        <a:srgbClr val="6E7B9A"/>
      </a:accent1>
      <a:accent2>
        <a:srgbClr val="9FA7BB"/>
      </a:accent2>
      <a:accent3>
        <a:srgbClr val="00D2DD"/>
      </a:accent3>
      <a:accent4>
        <a:srgbClr val="B7BDCC"/>
      </a:accent4>
      <a:accent5>
        <a:srgbClr val="CFD3DD"/>
      </a:accent5>
      <a:accent6>
        <a:srgbClr val="E7E9EE"/>
      </a:accent6>
      <a:hlink>
        <a:srgbClr val="33B5CB"/>
      </a:hlink>
      <a:folHlink>
        <a:srgbClr val="33B5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Custom">
      <a:dk1>
        <a:srgbClr val="0E2356"/>
      </a:dk1>
      <a:lt1>
        <a:srgbClr val="FFFFFF"/>
      </a:lt1>
      <a:dk2>
        <a:srgbClr val="566589"/>
      </a:dk2>
      <a:lt2>
        <a:srgbClr val="8691AA"/>
      </a:lt2>
      <a:accent1>
        <a:srgbClr val="B7BDCC"/>
      </a:accent1>
      <a:accent2>
        <a:srgbClr val="ECEDF3"/>
      </a:accent2>
      <a:accent3>
        <a:srgbClr val="DDF4F8"/>
      </a:accent3>
      <a:accent4>
        <a:srgbClr val="B6E8F0"/>
      </a:accent4>
      <a:accent5>
        <a:srgbClr val="80D7E5"/>
      </a:accent5>
      <a:accent6>
        <a:srgbClr val="00AFCB"/>
      </a:accent6>
      <a:hlink>
        <a:srgbClr val="26BBD3"/>
      </a:hlink>
      <a:folHlink>
        <a:srgbClr val="26BB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</Words>
  <Application>Microsoft Office PowerPoint</Application>
  <PresentationFormat>On-screen Show (16:9)</PresentationFormat>
  <Paragraphs>76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Outfit Light</vt:lpstr>
      <vt:lpstr>Century Gothic</vt:lpstr>
      <vt:lpstr>Helvetica Neue Light</vt:lpstr>
      <vt:lpstr>Outfit</vt:lpstr>
      <vt:lpstr>Outfit Medium</vt:lpstr>
      <vt:lpstr>Outfit SemiBold</vt:lpstr>
      <vt:lpstr>2026 - OCTO</vt:lpstr>
      <vt:lpstr>OCTO Technology</vt:lpstr>
      <vt:lpstr>Sommaire</vt:lpstr>
      <vt:lpstr>Contexte</vt:lpstr>
      <vt:lpstr>xxx</vt:lpstr>
      <vt:lpstr>Notre approche</vt:lpstr>
      <vt:lpstr>Notre approche </vt:lpstr>
      <vt:lpstr>Une approche contextualisée pour un premier déploiement aligné </vt:lpstr>
      <vt:lpstr>Planning des interventions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Camus, Claude</cp:lastModifiedBy>
  <cp:revision>1</cp:revision>
  <dcterms:modified xsi:type="dcterms:W3CDTF">2026-06-19T16:03:54Z</dcterms:modified>
</cp:coreProperties>
</file>