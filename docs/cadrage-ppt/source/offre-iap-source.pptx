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8" r:id="rId6"/>
    <p:sldMasterId id="214748373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y="5143500" cx="9144000"/>
  <p:notesSz cx="6858000" cy="9144000"/>
  <p:embeddedFontLst>
    <p:embeddedFont>
      <p:font typeface="Outfit Light"/>
      <p:regular r:id="rId41"/>
      <p:bold r:id="rId42"/>
    </p:embeddedFont>
    <p:embeddedFont>
      <p:font typeface="Outfit"/>
      <p:regular r:id="rId43"/>
      <p:bold r:id="rId44"/>
    </p:embeddedFont>
    <p:embeddedFont>
      <p:font typeface="Outfit SemiBold"/>
      <p:regular r:id="rId45"/>
      <p:bold r:id="rId46"/>
    </p:embeddedFont>
    <p:embeddedFont>
      <p:font typeface="Outfit Medium"/>
      <p:regular r:id="rId47"/>
      <p:bold r:id="rId48"/>
    </p:embeddedFont>
    <p:embeddedFont>
      <p:font typeface="Century Gothic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edric Chevaleri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F0FF75-54D8-41D8-AE5D-ABBCEC0B821A}">
  <a:tblStyle styleId="{F2F0FF75-54D8-41D8-AE5D-ABBCEC0B82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A048815-846B-4994-9E09-B67923FC3A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font" Target="fonts/OutfitLight-bold.fntdata"/><Relationship Id="rId41" Type="http://schemas.openxmlformats.org/officeDocument/2006/relationships/font" Target="fonts/OutfitLight-regular.fntdata"/><Relationship Id="rId44" Type="http://schemas.openxmlformats.org/officeDocument/2006/relationships/font" Target="fonts/Outfit-bold.fntdata"/><Relationship Id="rId43" Type="http://schemas.openxmlformats.org/officeDocument/2006/relationships/font" Target="fonts/Outfit-regular.fntdata"/><Relationship Id="rId46" Type="http://schemas.openxmlformats.org/officeDocument/2006/relationships/font" Target="fonts/OutfitSemiBold-bold.fntdata"/><Relationship Id="rId45" Type="http://schemas.openxmlformats.org/officeDocument/2006/relationships/font" Target="fonts/Outfi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OutfitMedium-bold.fntdata"/><Relationship Id="rId47" Type="http://schemas.openxmlformats.org/officeDocument/2006/relationships/font" Target="fonts/OutfitMedium-regular.fntdata"/><Relationship Id="rId49" Type="http://schemas.openxmlformats.org/officeDocument/2006/relationships/font" Target="fonts/CenturyGothic-regular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CenturyGothic-italic.fntdata"/><Relationship Id="rId50" Type="http://schemas.openxmlformats.org/officeDocument/2006/relationships/font" Target="fonts/CenturyGothic-bold.fntdata"/><Relationship Id="rId52" Type="http://schemas.openxmlformats.org/officeDocument/2006/relationships/font" Target="fonts/CenturyGothic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25T12:57:37.126">
    <p:pos x="354" y="227"/>
    <p:text>expliciter pourquoi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730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667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667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667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ac55f3490c_0_8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g2ac55f3490c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AFCB"/>
              </a:buClr>
              <a:buSzPts val="1400"/>
              <a:buFont typeface="Century Gothic"/>
              <a:buChar char="๏"/>
            </a:pPr>
            <a:r>
              <a:rPr lang="en-US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Couverture générique 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2ac55f3490c_0_9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ac55f3490c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2ac55f3490c_0_9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8" name="Google Shape;1358;g2ac55f3490c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ac55f3490c_0_91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5" name="Google Shape;1365;g2ac55f3490c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h45db42fdfc2099ef_1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h45db42fdfc2099e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h45db42fdfc2099ef_3_215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h45db42fdfc2099ef_3_2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@MILE : compléter avec des verbatims de DP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h45db42fdfc2099ef_1_10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h45db42fdfc2099ef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h45db42fdfc2099e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h45db42fdfc2099ef_4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h45db42fdfc2099ef_1_8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h45db42fdfc2099ef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2ac55f3490c_0_9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1" name="Google Shape;1431;g2ac55f3490c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h45db42fdfc2099ef_4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h45db42fdfc2099ef_4_5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45db42fdfc2099ef_4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h45db42fdfc2099ef_4_6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h45db42fdfc2099ef_4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h45db42fdfc2099ef_4_6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h45db42fdfc2099ef_1_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2" name="Google Shape;1522;h45db42fdfc2099ef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h45db42fdfc2099ef_1_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h45db42fdfc2099e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h45db42fdfc2099ef_1_3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h45db42fdfc2099e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da166e3558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da166e355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h45db42fdfc2099ef_3_27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h45db42fdfc2099ef_3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h45db42fdfc2099ef_1_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h45db42fdfc2099ef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h45db42fdfc2099ef_3_2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h45db42fdfc2099ef_3_218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h45db42fdfc2099ef_1_1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h45db42fdfc2099ef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h45db42fdfc2099ef_1_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h45db42fdfc2099e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h45db42fdfc2099ef_1_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h45db42fdfc2099ef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h45db42fdfc2099ef_1_9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h45db42fdfc2099ef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h45db42fdfc2099ef_1_7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h45db42fdfc2099ef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h45db42fdfc2099ef_1_5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6" name="Google Shape;1686;h45db42fdfc2099ef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h45db42fdfc2099ef_1_6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h45db42fdfc2099ef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h45db42fdfc2099ef_1_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0" name="Google Shape;1700;h45db42fdfc2099ef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h45db42fdfc2099ef_1_8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7" name="Google Shape;1707;h45db42fdfc2099ef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h45db42fdfc2099ef_3_277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h45db42fdfc2099ef_3_2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h45db42fdfc2099ef_3_1363:notes"/>
          <p:cNvSpPr txBox="1"/>
          <p:nvPr>
            <p:ph idx="1" type="body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VACA</a:t>
            </a:r>
            <a:endParaRPr/>
          </a:p>
        </p:txBody>
      </p:sp>
      <p:sp>
        <p:nvSpPr>
          <p:cNvPr id="1721" name="Google Shape;1721;h45db42fdfc2099ef_3_1363:notes"/>
          <p:cNvSpPr/>
          <p:nvPr>
            <p:ph idx="2" type="sldImg"/>
          </p:nvPr>
        </p:nvSpPr>
        <p:spPr>
          <a:xfrm>
            <a:off x="336550" y="1093788"/>
            <a:ext cx="6184800" cy="3478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2ac55f3490c_0_9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4" name="Google Shape;1734;g2ac55f3490c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Slide vide" showMasterSp="0">
  <p:cSld name="06 - Slide vide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re, sous-titre et contenu">
  <p:cSld name="01 - Titre, sous-titre et contenu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- Chapitre [1]" showMasterSp="0">
  <p:cSld name="50 - Chapitre [1]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fmla="val 10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re et contenu">
  <p:cSld name="02 - Titre et contenu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idx="1" type="body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">
  <p:cSld name="03 - Titre et sous-titr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subTitle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itre seul">
  <p:cSld name="04 - Titre seul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Focus">
  <p:cSld name="05 - Focus">
    <p:bg>
      <p:bgPr>
        <a:solidFill>
          <a:schemeClr val="dk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fmla="val 35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/>
          <p:nvPr>
            <p:ph idx="1" type="subTitle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2" type="body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flipH="1" rot="-5400000">
                <a:off x="8499018" y="45899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Slide vide fond foncé" showMasterSp="0">
  <p:cSld name="07 - Slide vide fond foncé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Couverture [1]" showMasterSp="0">
  <p:cSld name="40 - Couverture [1]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flipH="1" rot="-5400561">
              <a:off x="2143273" y="1358457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b="338" l="0" r="0" t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" name="Google Shape;117;p10"/>
          <p:cNvSpPr txBox="1"/>
          <p:nvPr>
            <p:ph idx="1" type="subTitle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flipH="1" rot="-5400570">
              <a:off x="1792271" y="1738633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0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Couverture [2]" showMasterSp="0">
  <p:cSld name="41 - Couverture [2]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" name="Google Shape;131;p11"/>
          <p:cNvSpPr txBox="1"/>
          <p:nvPr>
            <p:ph idx="1" type="subTitle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flipH="1" rot="-5400561">
              <a:off x="2143273" y="1358460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flipH="1" rot="-5400570">
              <a:off x="1792271" y="1738695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1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- Chapitre [2]" showMasterSp="0">
  <p:cSld name="51 - Chapitre [2]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flipH="1" rot="5400000">
            <a:off x="1344924" y="364825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61" name="Google Shape;161;p12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- There is a better way" showMasterSp="0">
  <p:cSld name="59 - There is a better way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13862" l="17993" r="18089" t="18848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 - Titre et visuel" showMasterSp="0">
  <p:cSld name="60 - Titre et visuel"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4"/>
          <p:cNvSpPr/>
          <p:nvPr>
            <p:ph idx="2" type="pic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 - Titre, sous-titre et visuel" showMasterSp="0">
  <p:cSld name="61 - Titre, sous-titre et visuel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fmla="val 161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b="0" i="0" sz="6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b="0" i="0" sz="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/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04" name="Google Shape;204;p15"/>
          <p:cNvSpPr txBox="1"/>
          <p:nvPr>
            <p:ph idx="1" type="subTitle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05" name="Google Shape;205;p15"/>
          <p:cNvSpPr/>
          <p:nvPr>
            <p:ph idx="2" type="pic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 - Visuel seul" showMasterSp="0">
  <p:cSld name="62 - Visuel seul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/>
          <p:nvPr>
            <p:ph idx="2" type="pic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 - Titre, contenu et visuel à droite - cadre blanc" showMasterSp="0">
  <p:cSld name="63 - Titre, contenu et visuel à droite - cadre blanc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4" name="Google Shape;224;p17"/>
          <p:cNvSpPr txBox="1"/>
          <p:nvPr>
            <p:ph idx="1" type="body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25" name="Google Shape;225;p17"/>
          <p:cNvSpPr txBox="1"/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 - cadre blanc" showMasterSp="0">
  <p:cSld name="64 - Titre, sous-titre, contenu et visuel à droite - cadre blanc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/>
          <p:nvPr>
            <p:ph idx="1" type="body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18"/>
          <p:cNvSpPr txBox="1"/>
          <p:nvPr>
            <p:ph idx="2" type="subTitle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6" name="Google Shape;246;p18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 - cadre blanc" showMasterSp="0">
  <p:cSld name="65 - Titre, contenu, visuel à droite et bloc conclu - cadre blanc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/>
          <p:nvPr>
            <p:ph idx="1" type="body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67" name="Google Shape;267;p19"/>
          <p:cNvSpPr txBox="1"/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68" name="Google Shape;268;p19"/>
          <p:cNvSpPr txBox="1"/>
          <p:nvPr>
            <p:ph idx="2" type="body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 - cadre blanc" showMasterSp="0">
  <p:cSld name="66 - Titre, sous-titre, contenu, visuel à droite et bloc conclu - cadre blanc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idx="1" type="body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75" name="Google Shape;275;p20"/>
          <p:cNvSpPr txBox="1"/>
          <p:nvPr>
            <p:ph idx="2" type="subTitle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76" name="Google Shape;276;p20"/>
          <p:cNvSpPr txBox="1"/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/>
          <p:nvPr>
            <p:ph idx="3" type="body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7 - Titre, contenu et visuel à gauche - cadre blanc" showMasterSp="0">
  <p:cSld name="67 - Titre, contenu et visuel à gauche - cadre blanc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/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8" name="Google Shape;298;p21"/>
          <p:cNvSpPr txBox="1"/>
          <p:nvPr>
            <p:ph idx="1" type="body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8 - Titre, sous-titre, contenu et visuel à gauche - cadre blanc" showMasterSp="0">
  <p:cSld name="68 - Titre, sous-titre, contenu et visuel à gauche - cadre blanc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flipH="1" rot="5400000">
            <a:off x="4143250" y="131125"/>
            <a:ext cx="4709400" cy="4865400"/>
          </a:xfrm>
          <a:prstGeom prst="round2SameRect">
            <a:avLst>
              <a:gd fmla="val 13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/>
          <p:nvPr>
            <p:ph idx="1" type="subTitle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8" name="Google Shape;318;p22"/>
          <p:cNvSpPr txBox="1"/>
          <p:nvPr>
            <p:ph idx="2" type="body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9" name="Google Shape;319;p22"/>
          <p:cNvSpPr txBox="1"/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9 - Titre, contenu, visuel à gauche et bloc conclu - cadre blanc" showMasterSp="0">
  <p:cSld name="69 - Titre, contenu, visuel à gauche et bloc conclu - cadre blanc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49" name="Google Shape;349;p23"/>
          <p:cNvSpPr txBox="1"/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/>
          <p:nvPr>
            <p:ph idx="1" type="body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4" name="Google Shape;354;p23"/>
          <p:cNvSpPr txBox="1"/>
          <p:nvPr>
            <p:ph idx="2" type="body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 - cadre blanc" showMasterSp="0">
  <p:cSld name="70 - Titre, sous-titre, contenu, visuel à gauche et bloc conclu - cadre blanc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0" name="Google Shape;370;p24"/>
          <p:cNvSpPr txBox="1"/>
          <p:nvPr>
            <p:ph idx="1" type="body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1" name="Google Shape;371;p24"/>
          <p:cNvSpPr txBox="1"/>
          <p:nvPr>
            <p:ph idx="2" type="subTitle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2" name="Google Shape;372;p24"/>
          <p:cNvSpPr txBox="1"/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/>
          <p:nvPr>
            <p:ph idx="3" type="body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Table des matières [2]">
  <p:cSld name="90 - Table des matières [2]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81" name="Google Shape;381;p25"/>
          <p:cNvSpPr txBox="1"/>
          <p:nvPr>
            <p:ph idx="1" type="body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82" name="Google Shape;382;p25"/>
          <p:cNvSpPr txBox="1"/>
          <p:nvPr>
            <p:ph idx="2" type="body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Table des matières [3]">
  <p:cSld name="91 - Table des matières [3]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/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89" name="Google Shape;389;p26"/>
          <p:cNvSpPr txBox="1"/>
          <p:nvPr>
            <p:ph idx="1" type="body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90" name="Google Shape;390;p26"/>
          <p:cNvSpPr txBox="1"/>
          <p:nvPr>
            <p:ph idx="2" type="body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91" name="Google Shape;391;p26"/>
          <p:cNvSpPr txBox="1"/>
          <p:nvPr>
            <p:ph idx="3" type="body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Table des matières [4]">
  <p:cSld name="92 - Table des matières [4]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idx="2" type="body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2" name="Google Shape;402;p27"/>
          <p:cNvSpPr txBox="1"/>
          <p:nvPr>
            <p:ph idx="3" type="body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3" name="Google Shape;403;p27"/>
          <p:cNvSpPr txBox="1"/>
          <p:nvPr>
            <p:ph idx="4" type="body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3 - Table des matières [5]">
  <p:cSld name="93 - Table des matières [5]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/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4" name="Google Shape;414;p28"/>
          <p:cNvSpPr txBox="1"/>
          <p:nvPr>
            <p:ph idx="1" type="body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5" name="Google Shape;415;p28"/>
          <p:cNvSpPr txBox="1"/>
          <p:nvPr>
            <p:ph idx="2" type="body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6" name="Google Shape;416;p28"/>
          <p:cNvSpPr txBox="1"/>
          <p:nvPr>
            <p:ph idx="3" type="body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7" name="Google Shape;417;p28"/>
          <p:cNvSpPr txBox="1"/>
          <p:nvPr>
            <p:ph idx="4" type="body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8" name="Google Shape;418;p28"/>
          <p:cNvSpPr txBox="1"/>
          <p:nvPr>
            <p:ph idx="5" type="body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4 - Table des matières [6]">
  <p:cSld name="94 - Table des matières [6]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/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1" name="Google Shape;431;p29"/>
          <p:cNvSpPr txBox="1"/>
          <p:nvPr>
            <p:ph idx="1" type="body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2" name="Google Shape;432;p29"/>
          <p:cNvSpPr txBox="1"/>
          <p:nvPr>
            <p:ph idx="2" type="body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3" name="Google Shape;433;p29"/>
          <p:cNvSpPr txBox="1"/>
          <p:nvPr>
            <p:ph idx="3" type="body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4" name="Google Shape;434;p29"/>
          <p:cNvSpPr txBox="1"/>
          <p:nvPr>
            <p:ph idx="4" type="body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5" name="Google Shape;435;p29"/>
          <p:cNvSpPr txBox="1"/>
          <p:nvPr>
            <p:ph idx="5" type="body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6" name="Google Shape;436;p29"/>
          <p:cNvSpPr txBox="1"/>
          <p:nvPr>
            <p:ph idx="6" type="body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5 - Table des matières [7]">
  <p:cSld name="95 - Table des matières [7]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/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1" name="Google Shape;451;p30"/>
          <p:cNvSpPr txBox="1"/>
          <p:nvPr>
            <p:ph idx="1" type="body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2" name="Google Shape;452;p30"/>
          <p:cNvSpPr txBox="1"/>
          <p:nvPr>
            <p:ph idx="2" type="body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3" name="Google Shape;453;p30"/>
          <p:cNvSpPr txBox="1"/>
          <p:nvPr>
            <p:ph idx="3" type="body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4" name="Google Shape;454;p30"/>
          <p:cNvSpPr txBox="1"/>
          <p:nvPr>
            <p:ph idx="4" type="body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5" name="Google Shape;455;p30"/>
          <p:cNvSpPr txBox="1"/>
          <p:nvPr>
            <p:ph idx="5" type="body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6" name="Google Shape;456;p30"/>
          <p:cNvSpPr txBox="1"/>
          <p:nvPr>
            <p:ph idx="6" type="body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7" name="Google Shape;457;p30"/>
          <p:cNvSpPr txBox="1"/>
          <p:nvPr>
            <p:ph idx="7" type="body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 - Table des matières [8]">
  <p:cSld name="96 - Table des matières [8]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/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4" name="Google Shape;474;p31"/>
          <p:cNvSpPr txBox="1"/>
          <p:nvPr>
            <p:ph idx="1" type="body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5" name="Google Shape;475;p31"/>
          <p:cNvSpPr txBox="1"/>
          <p:nvPr>
            <p:ph idx="2" type="body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6" name="Google Shape;476;p31"/>
          <p:cNvSpPr txBox="1"/>
          <p:nvPr>
            <p:ph idx="3" type="body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7" name="Google Shape;477;p31"/>
          <p:cNvSpPr txBox="1"/>
          <p:nvPr>
            <p:ph idx="4" type="body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8" name="Google Shape;478;p31"/>
          <p:cNvSpPr txBox="1"/>
          <p:nvPr>
            <p:ph idx="5" type="body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9" name="Google Shape;479;p31"/>
          <p:cNvSpPr txBox="1"/>
          <p:nvPr>
            <p:ph idx="6" type="body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0" name="Google Shape;480;p31"/>
          <p:cNvSpPr txBox="1"/>
          <p:nvPr>
            <p:ph idx="7" type="body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1" name="Google Shape;481;p31"/>
          <p:cNvSpPr txBox="1"/>
          <p:nvPr>
            <p:ph idx="8" type="body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7 - Table des matières [9]">
  <p:cSld name="97 - Table des matières [9]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0" name="Google Shape;500;p32"/>
          <p:cNvSpPr txBox="1"/>
          <p:nvPr>
            <p:ph idx="1" type="body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1" name="Google Shape;501;p32"/>
          <p:cNvSpPr txBox="1"/>
          <p:nvPr>
            <p:ph idx="2" type="body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2" name="Google Shape;502;p32"/>
          <p:cNvSpPr txBox="1"/>
          <p:nvPr>
            <p:ph idx="3" type="body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3" name="Google Shape;503;p32"/>
          <p:cNvSpPr txBox="1"/>
          <p:nvPr>
            <p:ph idx="4" type="body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4" name="Google Shape;504;p32"/>
          <p:cNvSpPr txBox="1"/>
          <p:nvPr>
            <p:ph idx="5" type="body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5" name="Google Shape;505;p32"/>
          <p:cNvSpPr txBox="1"/>
          <p:nvPr>
            <p:ph idx="6" type="body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6" name="Google Shape;506;p32"/>
          <p:cNvSpPr txBox="1"/>
          <p:nvPr>
            <p:ph idx="7" type="body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7" name="Google Shape;507;p32"/>
          <p:cNvSpPr txBox="1"/>
          <p:nvPr>
            <p:ph idx="8" type="body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8" name="Google Shape;508;p32"/>
          <p:cNvSpPr txBox="1"/>
          <p:nvPr>
            <p:ph idx="9" type="body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8 - Table des matières [10]">
  <p:cSld name="98 - Table des matières [10]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29" name="Google Shape;529;p33"/>
          <p:cNvSpPr txBox="1"/>
          <p:nvPr>
            <p:ph idx="1" type="body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0" name="Google Shape;530;p33"/>
          <p:cNvSpPr txBox="1"/>
          <p:nvPr>
            <p:ph idx="2" type="body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1" name="Google Shape;531;p33"/>
          <p:cNvSpPr txBox="1"/>
          <p:nvPr>
            <p:ph idx="3" type="body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2" name="Google Shape;532;p33"/>
          <p:cNvSpPr txBox="1"/>
          <p:nvPr>
            <p:ph idx="4" type="body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3" name="Google Shape;533;p33"/>
          <p:cNvSpPr txBox="1"/>
          <p:nvPr>
            <p:ph idx="5" type="body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4" name="Google Shape;534;p33"/>
          <p:cNvSpPr txBox="1"/>
          <p:nvPr>
            <p:ph idx="6" type="body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5" name="Google Shape;535;p33"/>
          <p:cNvSpPr txBox="1"/>
          <p:nvPr>
            <p:ph idx="7" type="body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6" name="Google Shape;536;p33"/>
          <p:cNvSpPr txBox="1"/>
          <p:nvPr>
            <p:ph idx="8" type="body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7" name="Google Shape;537;p33"/>
          <p:cNvSpPr txBox="1"/>
          <p:nvPr>
            <p:ph idx="9" type="body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8" name="Google Shape;538;p33"/>
          <p:cNvSpPr txBox="1"/>
          <p:nvPr>
            <p:ph idx="13" type="body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 - Table des matières [all]">
  <p:cSld name="99 - Table des matières [all]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/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61" name="Google Shape;561;p34"/>
          <p:cNvSpPr txBox="1"/>
          <p:nvPr>
            <p:ph idx="1" type="body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62" name="Google Shape;562;p34"/>
          <p:cNvSpPr txBox="1"/>
          <p:nvPr>
            <p:ph idx="2" type="body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Couverture [1]" showMasterSp="0">
  <p:cSld name="40 - Couverture [1]">
    <p:bg>
      <p:bgPr>
        <a:solidFill>
          <a:schemeClr val="lt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78" name="Google Shape;578;p36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79" name="Google Shape;579;p36"/>
          <p:cNvGrpSpPr/>
          <p:nvPr/>
        </p:nvGrpSpPr>
        <p:grpSpPr>
          <a:xfrm>
            <a:off x="276295" y="292119"/>
            <a:ext cx="345989" cy="338615"/>
            <a:chOff x="6838242" y="518225"/>
            <a:chExt cx="1247708" cy="1221114"/>
          </a:xfrm>
        </p:grpSpPr>
        <p:sp>
          <p:nvSpPr>
            <p:cNvPr id="580" name="Google Shape;580;p36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83" name="Google Shape;583;p36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585" name="Google Shape;585;p36"/>
          <p:cNvGrpSpPr/>
          <p:nvPr/>
        </p:nvGrpSpPr>
        <p:grpSpPr>
          <a:xfrm>
            <a:off x="1097923" y="1336704"/>
            <a:ext cx="4598402" cy="1873538"/>
            <a:chOff x="2164723" y="1336704"/>
            <a:chExt cx="4598402" cy="1873538"/>
          </a:xfrm>
        </p:grpSpPr>
        <p:cxnSp>
          <p:nvCxnSpPr>
            <p:cNvPr id="586" name="Google Shape;586;p36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7" name="Google Shape;587;p36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588" name="Google Shape;588;p36"/>
            <p:cNvCxnSpPr>
              <a:endCxn id="587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9" name="Google Shape;589;p36"/>
            <p:cNvSpPr/>
            <p:nvPr/>
          </p:nvSpPr>
          <p:spPr>
            <a:xfrm rot="-5399439">
              <a:off x="2143273" y="1392991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90" name="Google Shape;590;p36"/>
            <p:cNvSpPr/>
            <p:nvPr/>
          </p:nvSpPr>
          <p:spPr>
            <a:xfrm flipH="1" rot="-5400561">
              <a:off x="2143273" y="1358454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591" name="Google Shape;591;p36"/>
            <p:cNvCxnSpPr>
              <a:stCxn id="589" idx="2"/>
              <a:endCxn id="587" idx="0"/>
            </p:cNvCxnSpPr>
            <p:nvPr/>
          </p:nvCxnSpPr>
          <p:spPr>
            <a:xfrm>
              <a:off x="3065855" y="1371397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2" name="Google Shape;592;p36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593" name="Google Shape;593;p36"/>
          <p:cNvPicPr preferRelativeResize="0"/>
          <p:nvPr/>
        </p:nvPicPr>
        <p:blipFill rotWithShape="1">
          <a:blip r:embed="rId3">
            <a:alphaModFix/>
          </a:blip>
          <a:srcRect b="338" l="0" r="0" t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6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b="0"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95" name="Google Shape;595;p36"/>
          <p:cNvSpPr txBox="1"/>
          <p:nvPr>
            <p:ph idx="1" type="subTitle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596" name="Google Shape;596;p36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597" name="Google Shape;597;p36"/>
          <p:cNvGrpSpPr/>
          <p:nvPr/>
        </p:nvGrpSpPr>
        <p:grpSpPr>
          <a:xfrm rot="10800000">
            <a:off x="4572194" y="3152684"/>
            <a:ext cx="2605006" cy="616928"/>
            <a:chOff x="2164721" y="1365821"/>
            <a:chExt cx="4598421" cy="1890676"/>
          </a:xfrm>
        </p:grpSpPr>
        <p:cxnSp>
          <p:nvCxnSpPr>
            <p:cNvPr id="598" name="Google Shape;598;p36"/>
            <p:cNvCxnSpPr>
              <a:stCxn id="599" idx="2"/>
            </p:cNvCxnSpPr>
            <p:nvPr/>
          </p:nvCxnSpPr>
          <p:spPr>
            <a:xfrm>
              <a:off x="2699642" y="3175561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0" name="Google Shape;600;p36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01" name="Google Shape;601;p36"/>
            <p:cNvCxnSpPr>
              <a:endCxn id="600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2" name="Google Shape;602;p36"/>
            <p:cNvSpPr/>
            <p:nvPr/>
          </p:nvSpPr>
          <p:spPr>
            <a:xfrm rot="-5399453">
              <a:off x="1791865" y="1744197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99" name="Google Shape;599;p36"/>
            <p:cNvSpPr/>
            <p:nvPr/>
          </p:nvSpPr>
          <p:spPr>
            <a:xfrm flipH="1" rot="-5400570">
              <a:off x="1792271" y="1738571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03" name="Google Shape;603;p36"/>
            <p:cNvCxnSpPr>
              <a:stCxn id="602" idx="2"/>
              <a:endCxn id="600" idx="0"/>
            </p:cNvCxnSpPr>
            <p:nvPr/>
          </p:nvCxnSpPr>
          <p:spPr>
            <a:xfrm>
              <a:off x="2736435" y="1371153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04" name="Google Shape;604;p36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36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606" name="Google Shape;606;p36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Slide vide" showMasterSp="0">
  <p:cSld name="06 - Slide vide">
    <p:bg>
      <p:bgPr>
        <a:solidFill>
          <a:schemeClr val="lt1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37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609" name="Google Shape;609;p3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612" name="Google Shape;612;p37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613" name="Google Shape;613;p37"/>
          <p:cNvCxnSpPr>
            <a:stCxn id="614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5" name="Google Shape;615;p37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16" name="Google Shape;616;p37"/>
          <p:cNvCxnSpPr>
            <a:endCxn id="615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7" name="Google Shape;617;p37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14" name="Google Shape;614;p37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18" name="Google Shape;618;p37"/>
          <p:cNvCxnSpPr>
            <a:stCxn id="617" idx="2"/>
            <a:endCxn id="615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3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re et contenu">
  <p:cSld name="02 - Titre et contenu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8"/>
          <p:cNvSpPr txBox="1"/>
          <p:nvPr>
            <p:ph idx="1" type="body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22" name="Google Shape;622;p38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- Chapitre [1]" showMasterSp="0">
  <p:cSld name="50 - Chapitre [1]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9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fmla="val 10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6" name="Google Shape;626;p39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627" name="Google Shape;627;p39"/>
          <p:cNvGrpSpPr/>
          <p:nvPr/>
        </p:nvGrpSpPr>
        <p:grpSpPr>
          <a:xfrm>
            <a:off x="3171774" y="1360130"/>
            <a:ext cx="170063" cy="166438"/>
            <a:chOff x="6838242" y="518225"/>
            <a:chExt cx="1247708" cy="1221114"/>
          </a:xfrm>
        </p:grpSpPr>
        <p:sp>
          <p:nvSpPr>
            <p:cNvPr id="628" name="Google Shape;628;p3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631" name="Google Shape;631;p39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632" name="Google Shape;632;p39"/>
          <p:cNvCxnSpPr>
            <a:stCxn id="633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39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35" name="Google Shape;635;p39"/>
          <p:cNvCxnSpPr>
            <a:endCxn id="634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39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3" name="Google Shape;633;p39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37" name="Google Shape;637;p39"/>
          <p:cNvCxnSpPr>
            <a:stCxn id="636" idx="2"/>
            <a:endCxn id="634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p39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9" name="Google Shape;639;p39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40" name="Google Shape;640;p39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1" name="Google Shape;641;p39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42" name="Google Shape;642;p39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itre seul">
  <p:cSld name="04 - Titre seul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0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 1">
  <p:cSld name="03 - Titre et sous-titre_2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1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47" name="Google Shape;647;p41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">
  <p:cSld name="03 - Titre et sous-titre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2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0" name="Google Shape;650;p42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re, sous-titre et contenu">
  <p:cSld name="01 - Titre, sous-titre et contenu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3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3" name="Google Shape;653;p43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4" name="Google Shape;654;p43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">
  <p:cSld name="03 - Titre et sous-titre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4"/>
          <p:cNvSpPr txBox="1"/>
          <p:nvPr>
            <p:ph idx="1" type="subTitle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7" name="Google Shape;657;p44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0" name="Google Shape;660;p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1" name="Google Shape;661;p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b1a46074_15_0)">
  <p:cSld name="Generated (g3ebb1a46074_15_0)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2">
  <p:cSld name="03 - Titre et sous-titre_1_2_2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7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65" name="Google Shape;665;p47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8">
  <p:cSld name="03 - Titre et sous-titre_1_15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8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68" name="Google Shape;668;p48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12">
  <p:cSld name="03 - Titre et sous-titre_1_19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9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1" name="Google Shape;671;p49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4">
  <p:cSld name="03 - Titre et sous-titre_1_1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0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4" name="Google Shape;674;p50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1">
  <p:cSld name="03 - Titre et sous-titre_1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- There is a better way" showMasterSp="0">
  <p:cSld name="59 - There is a better way">
    <p:bg>
      <p:bgPr>
        <a:solidFill>
          <a:schemeClr val="lt1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oogle Shape;680;p53"/>
          <p:cNvGrpSpPr/>
          <p:nvPr/>
        </p:nvGrpSpPr>
        <p:grpSpPr>
          <a:xfrm>
            <a:off x="290070" y="235357"/>
            <a:ext cx="345989" cy="338615"/>
            <a:chOff x="6838242" y="518225"/>
            <a:chExt cx="1247708" cy="1221114"/>
          </a:xfrm>
        </p:grpSpPr>
        <p:sp>
          <p:nvSpPr>
            <p:cNvPr id="681" name="Google Shape;681;p5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684" name="Google Shape;684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3"/>
          <p:cNvPicPr preferRelativeResize="0"/>
          <p:nvPr/>
        </p:nvPicPr>
        <p:blipFill rotWithShape="1">
          <a:blip r:embed="rId3">
            <a:alphaModFix/>
          </a:blip>
          <a:srcRect b="13862" l="17993" r="18089" t="18848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 - Table des matières [all]">
  <p:cSld name="99 - Table des matières [all]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4"/>
          <p:cNvSpPr txBox="1"/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89" name="Google Shape;689;p54"/>
          <p:cNvSpPr txBox="1"/>
          <p:nvPr>
            <p:ph idx="1" type="body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0" name="Google Shape;690;p54"/>
          <p:cNvSpPr txBox="1"/>
          <p:nvPr>
            <p:ph idx="2" type="body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Focus">
  <p:cSld name="05 - Focus">
    <p:bg>
      <p:bgPr>
        <a:solidFill>
          <a:schemeClr val="dk2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5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3" name="Google Shape;693;p55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fmla="val 35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4" name="Google Shape;694;p55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95" name="Google Shape;695;p55"/>
          <p:cNvSpPr txBox="1"/>
          <p:nvPr>
            <p:ph idx="1" type="subTitle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6" name="Google Shape;696;p55"/>
          <p:cNvSpPr txBox="1"/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7" name="Google Shape;697;p55"/>
          <p:cNvSpPr txBox="1"/>
          <p:nvPr>
            <p:ph idx="2" type="body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698" name="Google Shape;698;p55"/>
          <p:cNvGrpSpPr/>
          <p:nvPr/>
        </p:nvGrpSpPr>
        <p:grpSpPr>
          <a:xfrm>
            <a:off x="89499" y="125680"/>
            <a:ext cx="8793076" cy="4738970"/>
            <a:chOff x="89499" y="125680"/>
            <a:chExt cx="8793076" cy="4738970"/>
          </a:xfrm>
        </p:grpSpPr>
        <p:grpSp>
          <p:nvGrpSpPr>
            <p:cNvPr id="699" name="Google Shape;699;p55"/>
            <p:cNvGrpSpPr/>
            <p:nvPr/>
          </p:nvGrpSpPr>
          <p:grpSpPr>
            <a:xfrm>
              <a:off x="89499" y="125680"/>
              <a:ext cx="170063" cy="166438"/>
              <a:chOff x="6838242" y="518225"/>
              <a:chExt cx="1247708" cy="1221114"/>
            </a:xfrm>
          </p:grpSpPr>
          <p:sp>
            <p:nvSpPr>
              <p:cNvPr id="700" name="Google Shape;700;p55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1" name="Google Shape;701;p55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2" name="Google Shape;702;p55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03" name="Google Shape;703;p55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04" name="Google Shape;704;p55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05" name="Google Shape;705;p55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06" name="Google Shape;706;p55"/>
              <p:cNvCxnSpPr>
                <a:stCxn id="707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08" name="Google Shape;708;p55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709" name="Google Shape;709;p55"/>
              <p:cNvCxnSpPr>
                <a:endCxn id="708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0" name="Google Shape;710;p55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7" name="Google Shape;707;p55"/>
              <p:cNvSpPr/>
              <p:nvPr/>
            </p:nvSpPr>
            <p:spPr>
              <a:xfrm flipH="1" rot="-5400000">
                <a:off x="8499018" y="45899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711" name="Google Shape;711;p55"/>
              <p:cNvCxnSpPr>
                <a:stCxn id="710" idx="2"/>
                <a:endCxn id="708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69 - Titre, contenu, visuel à gauche et bloc conclu" showMasterSp="0">
  <p:cSld name="69 - Titre, contenu, visuel à gauche et bloc conclu - cadre blanc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56"/>
          <p:cNvGrpSpPr/>
          <p:nvPr/>
        </p:nvGrpSpPr>
        <p:grpSpPr>
          <a:xfrm>
            <a:off x="542975" y="553850"/>
            <a:ext cx="3356100" cy="2104200"/>
            <a:chOff x="542975" y="553850"/>
            <a:chExt cx="3356100" cy="2104200"/>
          </a:xfrm>
        </p:grpSpPr>
        <p:sp>
          <p:nvSpPr>
            <p:cNvPr id="714" name="Google Shape;714;p56"/>
            <p:cNvSpPr/>
            <p:nvPr/>
          </p:nvSpPr>
          <p:spPr>
            <a:xfrm>
              <a:off x="542975" y="553850"/>
              <a:ext cx="3356100" cy="2104200"/>
            </a:xfrm>
            <a:prstGeom prst="round1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6"/>
            <p:cNvSpPr txBox="1"/>
            <p:nvPr/>
          </p:nvSpPr>
          <p:spPr>
            <a:xfrm>
              <a:off x="1647825" y="10826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16" name="Google Shape;716;p56"/>
          <p:cNvSpPr txBox="1"/>
          <p:nvPr>
            <p:ph type="title"/>
          </p:nvPr>
        </p:nvSpPr>
        <p:spPr>
          <a:xfrm>
            <a:off x="4300925" y="361400"/>
            <a:ext cx="419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7" name="Google Shape;717;p56"/>
          <p:cNvSpPr txBox="1"/>
          <p:nvPr>
            <p:ph idx="1" type="body"/>
          </p:nvPr>
        </p:nvSpPr>
        <p:spPr>
          <a:xfrm>
            <a:off x="4300925" y="956650"/>
            <a:ext cx="42477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8" name="Google Shape;718;p56"/>
          <p:cNvSpPr txBox="1"/>
          <p:nvPr>
            <p:ph idx="2" type="body"/>
          </p:nvPr>
        </p:nvSpPr>
        <p:spPr>
          <a:xfrm>
            <a:off x="876300" y="2895600"/>
            <a:ext cx="26478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None/>
              <a:defRPr b="1" i="0" sz="1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9" name="Google Shape;719;p56"/>
          <p:cNvSpPr/>
          <p:nvPr/>
        </p:nvSpPr>
        <p:spPr>
          <a:xfrm rot="10800000">
            <a:off x="542807" y="2658150"/>
            <a:ext cx="3356100" cy="21996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91AA"/>
              </a:buClr>
              <a:buSzPts val="1680"/>
              <a:buFont typeface="Century Gothic"/>
              <a:buNone/>
            </a:pPr>
            <a:r>
              <a:t/>
            </a:r>
            <a:endParaRPr b="1" i="0" sz="2800" u="none" cap="none" strike="noStrike">
              <a:solidFill>
                <a:srgbClr val="56658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20" name="Google Shape;720;p56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721" name="Google Shape;721;p56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722" name="Google Shape;722;p56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56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56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5" name="Google Shape;725;p56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26" name="Google Shape;726;p56"/>
            <p:cNvCxnSpPr>
              <a:stCxn id="727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8" name="Google Shape;728;p56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9" name="Google Shape;729;p56"/>
            <p:cNvCxnSpPr>
              <a:endCxn id="728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0" name="Google Shape;730;p56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6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1" name="Google Shape;731;p56"/>
            <p:cNvCxnSpPr>
              <a:stCxn id="730" idx="2"/>
              <a:endCxn id="728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2" name="Google Shape;732;p56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" showMasterSp="0">
  <p:cSld name="70 - Titre, sous-titre, contenu, visuel à gauche et bloc conclu - cadre blanc_1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57"/>
          <p:cNvGrpSpPr/>
          <p:nvPr/>
        </p:nvGrpSpPr>
        <p:grpSpPr>
          <a:xfrm>
            <a:off x="542975" y="553850"/>
            <a:ext cx="3356100" cy="2104200"/>
            <a:chOff x="542975" y="553850"/>
            <a:chExt cx="3356100" cy="2104200"/>
          </a:xfrm>
        </p:grpSpPr>
        <p:sp>
          <p:nvSpPr>
            <p:cNvPr id="735" name="Google Shape;735;p57"/>
            <p:cNvSpPr/>
            <p:nvPr/>
          </p:nvSpPr>
          <p:spPr>
            <a:xfrm>
              <a:off x="542975" y="553850"/>
              <a:ext cx="3356100" cy="2104200"/>
            </a:xfrm>
            <a:prstGeom prst="round1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7"/>
            <p:cNvSpPr txBox="1"/>
            <p:nvPr/>
          </p:nvSpPr>
          <p:spPr>
            <a:xfrm>
              <a:off x="1647825" y="10826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37" name="Google Shape;737;p57"/>
          <p:cNvSpPr txBox="1"/>
          <p:nvPr>
            <p:ph type="title"/>
          </p:nvPr>
        </p:nvSpPr>
        <p:spPr>
          <a:xfrm>
            <a:off x="4300925" y="361400"/>
            <a:ext cx="419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38" name="Google Shape;738;p57"/>
          <p:cNvSpPr txBox="1"/>
          <p:nvPr>
            <p:ph idx="1" type="subTitle"/>
          </p:nvPr>
        </p:nvSpPr>
        <p:spPr>
          <a:xfrm>
            <a:off x="4300925" y="840675"/>
            <a:ext cx="419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39" name="Google Shape;739;p57"/>
          <p:cNvSpPr txBox="1"/>
          <p:nvPr>
            <p:ph idx="2" type="body"/>
          </p:nvPr>
        </p:nvSpPr>
        <p:spPr>
          <a:xfrm>
            <a:off x="4300776" y="1273150"/>
            <a:ext cx="4196100" cy="35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○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○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●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40" name="Google Shape;740;p57"/>
          <p:cNvSpPr txBox="1"/>
          <p:nvPr>
            <p:ph idx="3" type="body"/>
          </p:nvPr>
        </p:nvSpPr>
        <p:spPr>
          <a:xfrm>
            <a:off x="876300" y="2895600"/>
            <a:ext cx="26478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None/>
              <a:defRPr b="1" i="0" sz="1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41" name="Google Shape;741;p57"/>
          <p:cNvSpPr/>
          <p:nvPr/>
        </p:nvSpPr>
        <p:spPr>
          <a:xfrm rot="10800000">
            <a:off x="542807" y="2658150"/>
            <a:ext cx="3356100" cy="21996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91AA"/>
              </a:buClr>
              <a:buSzPts val="1680"/>
              <a:buFont typeface="Century Gothic"/>
              <a:buNone/>
            </a:pPr>
            <a:r>
              <a:t/>
            </a:r>
            <a:endParaRPr b="1" i="0" sz="2800" u="none" cap="none" strike="noStrike">
              <a:solidFill>
                <a:srgbClr val="56658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42" name="Google Shape;742;p57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743" name="Google Shape;743;p57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744" name="Google Shape;744;p57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57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57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7" name="Google Shape;747;p5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48" name="Google Shape;748;p57"/>
            <p:cNvCxnSpPr>
              <a:stCxn id="74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0" name="Google Shape;750;p5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" name="Google Shape;751;p57"/>
            <p:cNvCxnSpPr>
              <a:endCxn id="75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2" name="Google Shape;752;p5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7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3" name="Google Shape;753;p57"/>
            <p:cNvCxnSpPr>
              <a:stCxn id="752" idx="2"/>
              <a:endCxn id="75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54" name="Google Shape;754;p5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 - Titre, contenu et visuel à droite - cadre blanc" showMasterSp="0">
  <p:cSld name="63 - Titre, contenu et visuel à droite - cadre blanc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oogle Shape;756;p5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757" name="Google Shape;757;p5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58" name="Google Shape;758;p5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59" name="Google Shape;759;p5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760" name="Google Shape;760;p58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61" name="Google Shape;761;p58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62" name="Google Shape;762;p58"/>
            <p:cNvCxnSpPr>
              <a:stCxn id="763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4" name="Google Shape;764;p58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765" name="Google Shape;765;p58"/>
            <p:cNvCxnSpPr>
              <a:endCxn id="764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6" name="Google Shape;766;p58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63" name="Google Shape;763;p58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767" name="Google Shape;767;p58"/>
            <p:cNvCxnSpPr>
              <a:stCxn id="766" idx="2"/>
              <a:endCxn id="764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68" name="Google Shape;768;p58"/>
          <p:cNvSpPr txBox="1"/>
          <p:nvPr>
            <p:ph idx="1" type="body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69" name="Google Shape;769;p58"/>
          <p:cNvSpPr txBox="1"/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70" name="Google Shape;770;p58"/>
          <p:cNvGrpSpPr/>
          <p:nvPr/>
        </p:nvGrpSpPr>
        <p:grpSpPr>
          <a:xfrm>
            <a:off x="364207" y="292130"/>
            <a:ext cx="82155" cy="82230"/>
            <a:chOff x="7483200" y="518225"/>
            <a:chExt cx="602750" cy="603300"/>
          </a:xfrm>
        </p:grpSpPr>
        <p:sp>
          <p:nvSpPr>
            <p:cNvPr id="771" name="Google Shape;771;p58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72" name="Google Shape;772;p5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73" name="Google Shape;773;p5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" showMasterSp="0">
  <p:cSld name="64 - Titre, sous-titre, contenu et visuel à droite - cadre blanc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9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76" name="Google Shape;776;p59"/>
          <p:cNvSpPr txBox="1"/>
          <p:nvPr>
            <p:ph idx="1" type="subTitle"/>
          </p:nvPr>
        </p:nvSpPr>
        <p:spPr>
          <a:xfrm>
            <a:off x="562825" y="840675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77" name="Google Shape;777;p59"/>
          <p:cNvSpPr txBox="1"/>
          <p:nvPr>
            <p:ph idx="2" type="body"/>
          </p:nvPr>
        </p:nvSpPr>
        <p:spPr>
          <a:xfrm>
            <a:off x="562825" y="1273150"/>
            <a:ext cx="53055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78" name="Google Shape;778;p59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779" name="Google Shape;779;p59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9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81" name="Google Shape;781;p59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cxnSp>
          <p:nvCxnSpPr>
            <p:cNvPr id="782" name="Google Shape;782;p59"/>
            <p:cNvCxnSpPr>
              <a:stCxn id="783" idx="2"/>
              <a:endCxn id="784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5" name="Google Shape;785;p59"/>
            <p:cNvGrpSpPr/>
            <p:nvPr/>
          </p:nvGrpSpPr>
          <p:grpSpPr>
            <a:xfrm>
              <a:off x="276301" y="292130"/>
              <a:ext cx="8682474" cy="4588395"/>
              <a:chOff x="276301" y="292130"/>
              <a:chExt cx="8682474" cy="4588395"/>
            </a:xfrm>
          </p:grpSpPr>
          <p:grpSp>
            <p:nvGrpSpPr>
              <p:cNvPr id="786" name="Google Shape;786;p59"/>
              <p:cNvGrpSpPr/>
              <p:nvPr/>
            </p:nvGrpSpPr>
            <p:grpSpPr>
              <a:xfrm>
                <a:off x="276301" y="292130"/>
                <a:ext cx="170063" cy="166438"/>
                <a:chOff x="6838242" y="518225"/>
                <a:chExt cx="1247708" cy="1221114"/>
              </a:xfrm>
            </p:grpSpPr>
            <p:sp>
              <p:nvSpPr>
                <p:cNvPr id="787" name="Google Shape;787;p59"/>
                <p:cNvSpPr/>
                <p:nvPr/>
              </p:nvSpPr>
              <p:spPr>
                <a:xfrm>
                  <a:off x="7870550" y="518225"/>
                  <a:ext cx="215400" cy="215400"/>
                </a:xfrm>
                <a:prstGeom prst="ellipse">
                  <a:avLst/>
                </a:prstGeom>
                <a:solidFill>
                  <a:srgbClr val="00D2D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59"/>
                <p:cNvSpPr/>
                <p:nvPr/>
              </p:nvSpPr>
              <p:spPr>
                <a:xfrm>
                  <a:off x="6838242" y="539639"/>
                  <a:ext cx="1200000" cy="1199700"/>
                </a:xfrm>
                <a:prstGeom prst="donut">
                  <a:avLst>
                    <a:gd fmla="val 20918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59"/>
                <p:cNvSpPr/>
                <p:nvPr/>
              </p:nvSpPr>
              <p:spPr>
                <a:xfrm>
                  <a:off x="7483200" y="906125"/>
                  <a:ext cx="215400" cy="215400"/>
                </a:xfrm>
                <a:prstGeom prst="ellipse">
                  <a:avLst/>
                </a:prstGeom>
                <a:solidFill>
                  <a:srgbClr val="00D2D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90" name="Google Shape;790;p59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Century Gothic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chemeClr val="dk1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91" name="Google Shape;791;p59"/>
              <p:cNvCxnSpPr>
                <a:stCxn id="79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84" name="Google Shape;784;p59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3" name="Google Shape;793;p59"/>
              <p:cNvCxnSpPr>
                <a:endCxn id="784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83" name="Google Shape;783;p59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59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94" name="Google Shape;794;p5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Mise en page personnalisée [1] ">
  <p:cSld name="CUSTOM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0"/>
          <p:cNvSpPr txBox="1"/>
          <p:nvPr>
            <p:ph type="title"/>
          </p:nvPr>
        </p:nvSpPr>
        <p:spPr>
          <a:xfrm>
            <a:off x="562825" y="361400"/>
            <a:ext cx="4656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97" name="Google Shape;797;p60"/>
          <p:cNvSpPr txBox="1"/>
          <p:nvPr>
            <p:ph idx="1" type="body"/>
          </p:nvPr>
        </p:nvSpPr>
        <p:spPr>
          <a:xfrm>
            <a:off x="562825" y="956650"/>
            <a:ext cx="46569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98" name="Google Shape;798;p60"/>
          <p:cNvSpPr txBox="1"/>
          <p:nvPr>
            <p:ph idx="2" type="body"/>
          </p:nvPr>
        </p:nvSpPr>
        <p:spPr>
          <a:xfrm>
            <a:off x="5943600" y="876300"/>
            <a:ext cx="16479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 SemiBold"/>
              <a:buNone/>
              <a:defRPr b="0" i="0" sz="16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99" name="Google Shape;799;p60"/>
          <p:cNvGrpSpPr/>
          <p:nvPr/>
        </p:nvGrpSpPr>
        <p:grpSpPr>
          <a:xfrm>
            <a:off x="6830775" y="2827650"/>
            <a:ext cx="2037000" cy="2037000"/>
            <a:chOff x="6830775" y="2827650"/>
            <a:chExt cx="2037000" cy="2037000"/>
          </a:xfrm>
        </p:grpSpPr>
        <p:sp>
          <p:nvSpPr>
            <p:cNvPr id="800" name="Google Shape;800;p60"/>
            <p:cNvSpPr/>
            <p:nvPr/>
          </p:nvSpPr>
          <p:spPr>
            <a:xfrm rot="10800000">
              <a:off x="6830775" y="2827650"/>
              <a:ext cx="2037000" cy="20370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60"/>
            <p:cNvSpPr txBox="1"/>
            <p:nvPr/>
          </p:nvSpPr>
          <p:spPr>
            <a:xfrm>
              <a:off x="7871538" y="30684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Arial"/>
                  <a:ea typeface="Arial"/>
                  <a:cs typeface="Arial"/>
                  <a:sym typeface="Arial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2" name="Google Shape;802;p60"/>
          <p:cNvSpPr/>
          <p:nvPr/>
        </p:nvSpPr>
        <p:spPr>
          <a:xfrm>
            <a:off x="5621550" y="2921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p60"/>
          <p:cNvGrpSpPr/>
          <p:nvPr/>
        </p:nvGrpSpPr>
        <p:grpSpPr>
          <a:xfrm>
            <a:off x="5621553" y="3667487"/>
            <a:ext cx="512493" cy="357328"/>
            <a:chOff x="1014425" y="1076189"/>
            <a:chExt cx="1147800" cy="800286"/>
          </a:xfrm>
        </p:grpSpPr>
        <p:grpSp>
          <p:nvGrpSpPr>
            <p:cNvPr id="804" name="Google Shape;804;p60"/>
            <p:cNvGrpSpPr/>
            <p:nvPr/>
          </p:nvGrpSpPr>
          <p:grpSpPr>
            <a:xfrm>
              <a:off x="1014425" y="1076189"/>
              <a:ext cx="538200" cy="800286"/>
              <a:chOff x="1014425" y="1076189"/>
              <a:chExt cx="538200" cy="800286"/>
            </a:xfrm>
          </p:grpSpPr>
          <p:sp>
            <p:nvSpPr>
              <p:cNvPr id="805" name="Google Shape;805;p60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0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07" name="Google Shape;807;p60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8" name="Google Shape;808;p60"/>
            <p:cNvGrpSpPr/>
            <p:nvPr/>
          </p:nvGrpSpPr>
          <p:grpSpPr>
            <a:xfrm>
              <a:off x="1624025" y="1076189"/>
              <a:ext cx="538200" cy="800286"/>
              <a:chOff x="1014425" y="1076189"/>
              <a:chExt cx="538200" cy="800286"/>
            </a:xfrm>
          </p:grpSpPr>
          <p:sp>
            <p:nvSpPr>
              <p:cNvPr id="809" name="Google Shape;809;p60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60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11" name="Google Shape;811;p60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Mise en page personnalisée [2] ">
  <p:cSld name="CUSTOM_1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1"/>
          <p:cNvSpPr txBox="1"/>
          <p:nvPr>
            <p:ph type="title"/>
          </p:nvPr>
        </p:nvSpPr>
        <p:spPr>
          <a:xfrm>
            <a:off x="562825" y="361400"/>
            <a:ext cx="4656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14" name="Google Shape;814;p61"/>
          <p:cNvSpPr txBox="1"/>
          <p:nvPr>
            <p:ph idx="1" type="subTitle"/>
          </p:nvPr>
        </p:nvSpPr>
        <p:spPr>
          <a:xfrm>
            <a:off x="562825" y="840677"/>
            <a:ext cx="4656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15" name="Google Shape;815;p61"/>
          <p:cNvSpPr txBox="1"/>
          <p:nvPr>
            <p:ph idx="2" type="body"/>
          </p:nvPr>
        </p:nvSpPr>
        <p:spPr>
          <a:xfrm>
            <a:off x="562825" y="1273150"/>
            <a:ext cx="46569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○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○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●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16" name="Google Shape;816;p61"/>
          <p:cNvSpPr txBox="1"/>
          <p:nvPr>
            <p:ph idx="3" type="body"/>
          </p:nvPr>
        </p:nvSpPr>
        <p:spPr>
          <a:xfrm>
            <a:off x="5943600" y="876300"/>
            <a:ext cx="16479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 SemiBold"/>
              <a:buNone/>
              <a:defRPr b="0" i="0" sz="16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817" name="Google Shape;817;p61"/>
          <p:cNvGrpSpPr/>
          <p:nvPr/>
        </p:nvGrpSpPr>
        <p:grpSpPr>
          <a:xfrm>
            <a:off x="6830775" y="2827650"/>
            <a:ext cx="2037000" cy="2037000"/>
            <a:chOff x="6830775" y="2827650"/>
            <a:chExt cx="2037000" cy="2037000"/>
          </a:xfrm>
        </p:grpSpPr>
        <p:sp>
          <p:nvSpPr>
            <p:cNvPr id="818" name="Google Shape;818;p61"/>
            <p:cNvSpPr/>
            <p:nvPr/>
          </p:nvSpPr>
          <p:spPr>
            <a:xfrm rot="10800000">
              <a:off x="6830775" y="2827650"/>
              <a:ext cx="2037000" cy="20370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1"/>
            <p:cNvSpPr txBox="1"/>
            <p:nvPr/>
          </p:nvSpPr>
          <p:spPr>
            <a:xfrm>
              <a:off x="7871538" y="30684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Arial"/>
                  <a:ea typeface="Arial"/>
                  <a:cs typeface="Arial"/>
                  <a:sym typeface="Arial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0" name="Google Shape;820;p61"/>
          <p:cNvSpPr/>
          <p:nvPr/>
        </p:nvSpPr>
        <p:spPr>
          <a:xfrm>
            <a:off x="5621550" y="2921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1" name="Google Shape;821;p61"/>
          <p:cNvGrpSpPr/>
          <p:nvPr/>
        </p:nvGrpSpPr>
        <p:grpSpPr>
          <a:xfrm>
            <a:off x="5621553" y="3667487"/>
            <a:ext cx="512493" cy="357328"/>
            <a:chOff x="1014425" y="1076189"/>
            <a:chExt cx="1147800" cy="800286"/>
          </a:xfrm>
        </p:grpSpPr>
        <p:grpSp>
          <p:nvGrpSpPr>
            <p:cNvPr id="822" name="Google Shape;822;p61"/>
            <p:cNvGrpSpPr/>
            <p:nvPr/>
          </p:nvGrpSpPr>
          <p:grpSpPr>
            <a:xfrm>
              <a:off x="1014425" y="1076189"/>
              <a:ext cx="538200" cy="800286"/>
              <a:chOff x="1014425" y="1076189"/>
              <a:chExt cx="538200" cy="800286"/>
            </a:xfrm>
          </p:grpSpPr>
          <p:sp>
            <p:nvSpPr>
              <p:cNvPr id="823" name="Google Shape;823;p61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61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25" name="Google Shape;825;p61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6" name="Google Shape;826;p61"/>
            <p:cNvGrpSpPr/>
            <p:nvPr/>
          </p:nvGrpSpPr>
          <p:grpSpPr>
            <a:xfrm>
              <a:off x="1624025" y="1076189"/>
              <a:ext cx="538200" cy="800286"/>
              <a:chOff x="1014425" y="1076189"/>
              <a:chExt cx="538200" cy="800286"/>
            </a:xfrm>
          </p:grpSpPr>
          <p:sp>
            <p:nvSpPr>
              <p:cNvPr id="827" name="Google Shape;827;p61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61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29" name="Google Shape;829;p61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 1" showMasterSp="0">
  <p:cSld name="65 - Titre, contenu, visuel à droite et bloc conclu - cadre blanc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oogle Shape;831;p62"/>
          <p:cNvGrpSpPr/>
          <p:nvPr/>
        </p:nvGrpSpPr>
        <p:grpSpPr>
          <a:xfrm>
            <a:off x="7475475" y="301725"/>
            <a:ext cx="1392300" cy="1392300"/>
            <a:chOff x="7475475" y="301725"/>
            <a:chExt cx="1392300" cy="1392300"/>
          </a:xfrm>
        </p:grpSpPr>
        <p:sp>
          <p:nvSpPr>
            <p:cNvPr id="832" name="Google Shape;832;p62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62"/>
            <p:cNvSpPr txBox="1"/>
            <p:nvPr/>
          </p:nvSpPr>
          <p:spPr>
            <a:xfrm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34" name="Google Shape;834;p62"/>
          <p:cNvSpPr txBox="1"/>
          <p:nvPr>
            <p:ph type="title"/>
          </p:nvPr>
        </p:nvSpPr>
        <p:spPr>
          <a:xfrm>
            <a:off x="562825" y="361400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35" name="Google Shape;835;p62"/>
          <p:cNvSpPr txBox="1"/>
          <p:nvPr>
            <p:ph idx="1" type="body"/>
          </p:nvPr>
        </p:nvSpPr>
        <p:spPr>
          <a:xfrm>
            <a:off x="562825" y="956650"/>
            <a:ext cx="47904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36" name="Google Shape;836;p62"/>
          <p:cNvSpPr txBox="1"/>
          <p:nvPr>
            <p:ph idx="2" type="body"/>
          </p:nvPr>
        </p:nvSpPr>
        <p:spPr>
          <a:xfrm>
            <a:off x="6076950" y="2200275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utfit SemiBold"/>
              <a:buNone/>
              <a:defRPr b="0" i="0" sz="19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7" name="Google Shape;837;p62"/>
          <p:cNvSpPr/>
          <p:nvPr/>
        </p:nvSpPr>
        <p:spPr>
          <a:xfrm>
            <a:off x="5754900" y="16940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6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839" name="Google Shape;839;p6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840" name="Google Shape;840;p6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6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6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43" name="Google Shape;843;p62"/>
            <p:cNvCxnSpPr>
              <a:stCxn id="8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5" name="Google Shape;845;p6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6" name="Google Shape;846;p62"/>
            <p:cNvCxnSpPr>
              <a:endCxn id="8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7" name="Google Shape;847;p6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62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8" name="Google Shape;848;p62"/>
            <p:cNvCxnSpPr>
              <a:stCxn id="847" idx="2"/>
              <a:endCxn id="8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9" name="Google Shape;849;p6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850" name="Google Shape;850;p6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 1" showMasterSp="0">
  <p:cSld name="66 - Titre, sous-titre, contenu, visuel à droite et bloc conclu - cadre blanc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3"/>
          <p:cNvSpPr txBox="1"/>
          <p:nvPr>
            <p:ph type="title"/>
          </p:nvPr>
        </p:nvSpPr>
        <p:spPr>
          <a:xfrm>
            <a:off x="562825" y="361400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3" name="Google Shape;853;p63"/>
          <p:cNvSpPr txBox="1"/>
          <p:nvPr>
            <p:ph idx="1" type="subTitle"/>
          </p:nvPr>
        </p:nvSpPr>
        <p:spPr>
          <a:xfrm>
            <a:off x="562825" y="840675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54" name="Google Shape;854;p63"/>
          <p:cNvSpPr txBox="1"/>
          <p:nvPr>
            <p:ph idx="2" type="body"/>
          </p:nvPr>
        </p:nvSpPr>
        <p:spPr>
          <a:xfrm>
            <a:off x="562825" y="127315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5" name="Google Shape;855;p63"/>
          <p:cNvSpPr txBox="1"/>
          <p:nvPr>
            <p:ph idx="3" type="body"/>
          </p:nvPr>
        </p:nvSpPr>
        <p:spPr>
          <a:xfrm>
            <a:off x="6076950" y="2200275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utfit SemiBold"/>
              <a:buNone/>
              <a:defRPr b="0" i="0" sz="19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6" name="Google Shape;856;p63"/>
          <p:cNvSpPr/>
          <p:nvPr/>
        </p:nvSpPr>
        <p:spPr>
          <a:xfrm rot="10800000">
            <a:off x="7475475" y="301725"/>
            <a:ext cx="1392300" cy="13923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63"/>
          <p:cNvSpPr/>
          <p:nvPr/>
        </p:nvSpPr>
        <p:spPr>
          <a:xfrm>
            <a:off x="5754900" y="16940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6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859" name="Google Shape;859;p6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860" name="Google Shape;860;p6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6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6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3" name="Google Shape;863;p6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864" name="Google Shape;864;p63"/>
            <p:cNvCxnSpPr>
              <a:stCxn id="8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6" name="Google Shape;866;p6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7" name="Google Shape;867;p63"/>
            <p:cNvCxnSpPr>
              <a:endCxn id="8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8" name="Google Shape;868;p6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63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9" name="Google Shape;869;p63"/>
            <p:cNvCxnSpPr>
              <a:stCxn id="868" idx="2"/>
              <a:endCxn id="8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70" name="Google Shape;870;p6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iBio [1]">
  <p:cSld name="03 - Titre et sous-titre_1_2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4"/>
          <p:cNvSpPr/>
          <p:nvPr/>
        </p:nvSpPr>
        <p:spPr>
          <a:xfrm>
            <a:off x="1352525" y="1474711"/>
            <a:ext cx="7077000" cy="3017400"/>
          </a:xfrm>
          <a:prstGeom prst="round2DiagRect">
            <a:avLst>
              <a:gd fmla="val 0" name="adj1"/>
              <a:gd fmla="val 2423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 b="0" i="0" sz="1200" u="none" cap="none" strike="noStrike">
              <a:solidFill>
                <a:srgbClr val="E1FDF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3" name="Google Shape;873;p64"/>
          <p:cNvSpPr txBox="1"/>
          <p:nvPr>
            <p:ph idx="1" type="body"/>
          </p:nvPr>
        </p:nvSpPr>
        <p:spPr>
          <a:xfrm>
            <a:off x="2591500" y="1474700"/>
            <a:ext cx="5838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0" lIns="270000" spcFirstLastPara="1" rIns="270000" wrap="square" tIns="90000">
            <a:norm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4" name="Google Shape;874;p64"/>
          <p:cNvSpPr/>
          <p:nvPr/>
        </p:nvSpPr>
        <p:spPr>
          <a:xfrm>
            <a:off x="706600" y="3098899"/>
            <a:ext cx="1890300" cy="1393200"/>
          </a:xfrm>
          <a:prstGeom prst="round2DiagRect">
            <a:avLst>
              <a:gd fmla="val 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4"/>
          <p:cNvSpPr txBox="1"/>
          <p:nvPr>
            <p:ph idx="2" type="subTitle"/>
          </p:nvPr>
        </p:nvSpPr>
        <p:spPr>
          <a:xfrm>
            <a:off x="1206700" y="4656550"/>
            <a:ext cx="686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7200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6" name="Google Shape;876;p64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7" name="Google Shape;877;p64"/>
          <p:cNvSpPr txBox="1"/>
          <p:nvPr>
            <p:ph idx="3" type="subTitle"/>
          </p:nvPr>
        </p:nvSpPr>
        <p:spPr>
          <a:xfrm>
            <a:off x="913900" y="3098900"/>
            <a:ext cx="16776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000" lIns="91425" spcFirstLastPara="1" rIns="126000" wrap="square" tIns="1260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78" name="Google Shape;878;p64"/>
          <p:cNvGrpSpPr/>
          <p:nvPr/>
        </p:nvGrpSpPr>
        <p:grpSpPr>
          <a:xfrm>
            <a:off x="998581" y="4636526"/>
            <a:ext cx="179627" cy="239252"/>
            <a:chOff x="5906808" y="2949414"/>
            <a:chExt cx="738900" cy="984172"/>
          </a:xfrm>
        </p:grpSpPr>
        <p:sp>
          <p:nvSpPr>
            <p:cNvPr id="879" name="Google Shape;879;p64"/>
            <p:cNvSpPr/>
            <p:nvPr/>
          </p:nvSpPr>
          <p:spPr>
            <a:xfrm rot="2304170">
              <a:off x="5894972" y="3161653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64"/>
            <p:cNvSpPr/>
            <p:nvPr/>
          </p:nvSpPr>
          <p:spPr>
            <a:xfrm flipH="1" rot="8495830">
              <a:off x="5894972" y="3493925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1" name="Google Shape;881;p64"/>
          <p:cNvSpPr/>
          <p:nvPr>
            <p:ph idx="4" type="pic"/>
          </p:nvPr>
        </p:nvSpPr>
        <p:spPr>
          <a:xfrm>
            <a:off x="701500" y="1208898"/>
            <a:ext cx="1890000" cy="1890000"/>
          </a:xfrm>
          <a:prstGeom prst="round2DiagRect">
            <a:avLst>
              <a:gd fmla="val 33909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iBio [2]">
  <p:cSld name="03 - Titre et sous-titre_1_2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65"/>
          <p:cNvSpPr/>
          <p:nvPr/>
        </p:nvSpPr>
        <p:spPr>
          <a:xfrm>
            <a:off x="1352525" y="1474711"/>
            <a:ext cx="7077000" cy="3017400"/>
          </a:xfrm>
          <a:prstGeom prst="round2DiagRect">
            <a:avLst>
              <a:gd fmla="val 0" name="adj1"/>
              <a:gd fmla="val 2423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 b="0" i="0" sz="1200" u="none" cap="none" strike="noStrike">
              <a:solidFill>
                <a:srgbClr val="E1FDF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4" name="Google Shape;884;p65"/>
          <p:cNvSpPr txBox="1"/>
          <p:nvPr>
            <p:ph idx="1" type="subTitle"/>
          </p:nvPr>
        </p:nvSpPr>
        <p:spPr>
          <a:xfrm>
            <a:off x="1206700" y="4656550"/>
            <a:ext cx="686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7200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85" name="Google Shape;885;p65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86" name="Google Shape;886;p65"/>
          <p:cNvSpPr/>
          <p:nvPr/>
        </p:nvSpPr>
        <p:spPr>
          <a:xfrm rot="10800000">
            <a:off x="706600" y="3098900"/>
            <a:ext cx="1884900" cy="1393200"/>
          </a:xfrm>
          <a:prstGeom prst="round1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65"/>
          <p:cNvSpPr txBox="1"/>
          <p:nvPr>
            <p:ph idx="2" type="subTitle"/>
          </p:nvPr>
        </p:nvSpPr>
        <p:spPr>
          <a:xfrm>
            <a:off x="913900" y="3098900"/>
            <a:ext cx="16776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000" lIns="91425" spcFirstLastPara="1" rIns="126000" wrap="square" tIns="1260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8" name="Google Shape;888;p65"/>
          <p:cNvSpPr txBox="1"/>
          <p:nvPr>
            <p:ph idx="3" type="body"/>
          </p:nvPr>
        </p:nvSpPr>
        <p:spPr>
          <a:xfrm>
            <a:off x="2591500" y="1474700"/>
            <a:ext cx="5838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0" lIns="270000" spcFirstLastPara="1" rIns="270000" wrap="square" tIns="90000">
            <a:norm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889" name="Google Shape;889;p65"/>
          <p:cNvGrpSpPr/>
          <p:nvPr/>
        </p:nvGrpSpPr>
        <p:grpSpPr>
          <a:xfrm>
            <a:off x="998581" y="4636526"/>
            <a:ext cx="179627" cy="239252"/>
            <a:chOff x="5906808" y="2949414"/>
            <a:chExt cx="738900" cy="984172"/>
          </a:xfrm>
        </p:grpSpPr>
        <p:sp>
          <p:nvSpPr>
            <p:cNvPr id="890" name="Google Shape;890;p65"/>
            <p:cNvSpPr/>
            <p:nvPr/>
          </p:nvSpPr>
          <p:spPr>
            <a:xfrm rot="2304170">
              <a:off x="5894972" y="3161653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5"/>
            <p:cNvSpPr/>
            <p:nvPr/>
          </p:nvSpPr>
          <p:spPr>
            <a:xfrm flipH="1" rot="8495830">
              <a:off x="5894972" y="3493925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2" name="Google Shape;892;p65"/>
          <p:cNvSpPr/>
          <p:nvPr>
            <p:ph idx="4" type="pic"/>
          </p:nvPr>
        </p:nvSpPr>
        <p:spPr>
          <a:xfrm>
            <a:off x="701500" y="1208898"/>
            <a:ext cx="1890000" cy="18900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 2">
  <p:cSld name="03 - Titre et sous-titre_1_5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6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95" name="Google Shape;895;p66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 [1]">
  <p:cSld name="04 - Titre seul_1_2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7"/>
          <p:cNvSpPr/>
          <p:nvPr>
            <p:ph idx="2" type="pic"/>
          </p:nvPr>
        </p:nvSpPr>
        <p:spPr>
          <a:xfrm>
            <a:off x="8302775" y="0"/>
            <a:ext cx="841200" cy="8412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898" name="Google Shape;898;p67"/>
          <p:cNvSpPr/>
          <p:nvPr/>
        </p:nvSpPr>
        <p:spPr>
          <a:xfrm flipH="1">
            <a:off x="6683525" y="248375"/>
            <a:ext cx="1596900" cy="2667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0E2356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899" name="Google Shape;899;p67"/>
          <p:cNvGrpSpPr/>
          <p:nvPr/>
        </p:nvGrpSpPr>
        <p:grpSpPr>
          <a:xfrm>
            <a:off x="539500" y="515225"/>
            <a:ext cx="7988392" cy="4349277"/>
            <a:chOff x="537050" y="515225"/>
            <a:chExt cx="7988392" cy="4349277"/>
          </a:xfrm>
        </p:grpSpPr>
        <p:sp>
          <p:nvSpPr>
            <p:cNvPr id="900" name="Google Shape;900;p67"/>
            <p:cNvSpPr/>
            <p:nvPr/>
          </p:nvSpPr>
          <p:spPr>
            <a:xfrm>
              <a:off x="5049417" y="1231802"/>
              <a:ext cx="1767600" cy="3632700"/>
            </a:xfrm>
            <a:prstGeom prst="rect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01" name="Google Shape;901;p67"/>
            <p:cNvSpPr/>
            <p:nvPr/>
          </p:nvSpPr>
          <p:spPr>
            <a:xfrm flipH="1" rot="10800000">
              <a:off x="6816042" y="1231773"/>
              <a:ext cx="1709400" cy="3632700"/>
            </a:xfrm>
            <a:prstGeom prst="round1Rect">
              <a:avLst>
                <a:gd fmla="val 16667" name="adj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02" name="Google Shape;902;p67"/>
            <p:cNvSpPr/>
            <p:nvPr/>
          </p:nvSpPr>
          <p:spPr>
            <a:xfrm>
              <a:off x="537050" y="515225"/>
              <a:ext cx="7986600" cy="716400"/>
            </a:xfrm>
            <a:prstGeom prst="round2DiagRect">
              <a:avLst>
                <a:gd fmla="val 0" name="adj1"/>
                <a:gd fmla="val 26225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903" name="Google Shape;903;p67"/>
          <p:cNvSpPr txBox="1"/>
          <p:nvPr>
            <p:ph type="title"/>
          </p:nvPr>
        </p:nvSpPr>
        <p:spPr>
          <a:xfrm>
            <a:off x="539496" y="248375"/>
            <a:ext cx="6149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4850" spcFirstLastPara="1" rIns="5485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4" name="Google Shape;904;p67"/>
          <p:cNvSpPr txBox="1"/>
          <p:nvPr>
            <p:ph idx="1" type="body"/>
          </p:nvPr>
        </p:nvSpPr>
        <p:spPr>
          <a:xfrm>
            <a:off x="539500" y="1572768"/>
            <a:ext cx="42612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5" name="Google Shape;905;p67"/>
          <p:cNvSpPr txBox="1"/>
          <p:nvPr>
            <p:ph idx="3" type="subTitle"/>
          </p:nvPr>
        </p:nvSpPr>
        <p:spPr>
          <a:xfrm>
            <a:off x="539500" y="1335024"/>
            <a:ext cx="4261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50" spcFirstLastPara="1" rIns="5485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 [2]">
  <p:cSld name="04 - Titre seul_1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8"/>
          <p:cNvSpPr/>
          <p:nvPr/>
        </p:nvSpPr>
        <p:spPr>
          <a:xfrm>
            <a:off x="3864987" y="660584"/>
            <a:ext cx="858300" cy="858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08" name="Google Shape;908;p68"/>
          <p:cNvCxnSpPr>
            <a:stCxn id="907" idx="0"/>
          </p:cNvCxnSpPr>
          <p:nvPr/>
        </p:nvCxnSpPr>
        <p:spPr>
          <a:xfrm rot="10800000">
            <a:off x="3280137" y="660584"/>
            <a:ext cx="10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68"/>
          <p:cNvCxnSpPr>
            <a:stCxn id="910" idx="2"/>
            <a:endCxn id="907" idx="2"/>
          </p:cNvCxnSpPr>
          <p:nvPr/>
        </p:nvCxnSpPr>
        <p:spPr>
          <a:xfrm rot="10800000">
            <a:off x="4723312" y="1089756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68"/>
          <p:cNvSpPr/>
          <p:nvPr/>
        </p:nvSpPr>
        <p:spPr>
          <a:xfrm rot="10800000">
            <a:off x="4723312" y="4006206"/>
            <a:ext cx="858300" cy="858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11" name="Google Shape;911;p68"/>
          <p:cNvCxnSpPr/>
          <p:nvPr/>
        </p:nvCxnSpPr>
        <p:spPr>
          <a:xfrm rot="10800000">
            <a:off x="5152462" y="4864506"/>
            <a:ext cx="30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2" name="Google Shape;91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838841" y="3970295"/>
            <a:ext cx="533924" cy="9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68"/>
          <p:cNvSpPr txBox="1"/>
          <p:nvPr>
            <p:ph idx="1" type="body"/>
          </p:nvPr>
        </p:nvSpPr>
        <p:spPr>
          <a:xfrm>
            <a:off x="4800025" y="777275"/>
            <a:ext cx="38589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4" name="Google Shape;914;p68"/>
          <p:cNvSpPr txBox="1"/>
          <p:nvPr>
            <p:ph idx="2" type="body"/>
          </p:nvPr>
        </p:nvSpPr>
        <p:spPr>
          <a:xfrm>
            <a:off x="512064" y="777275"/>
            <a:ext cx="4142100" cy="3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5" name="Google Shape;915;p68"/>
          <p:cNvSpPr/>
          <p:nvPr/>
        </p:nvSpPr>
        <p:spPr>
          <a:xfrm rot="5400000">
            <a:off x="2107252" y="-1155444"/>
            <a:ext cx="242100" cy="3397500"/>
          </a:xfrm>
          <a:prstGeom prst="round2DiagRect">
            <a:avLst>
              <a:gd fmla="val 0" name="adj1"/>
              <a:gd fmla="val 39860" name="adj2"/>
            </a:avLst>
          </a:prstGeom>
          <a:solidFill>
            <a:srgbClr val="0E2356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Google Shape;916;p68"/>
          <p:cNvGrpSpPr/>
          <p:nvPr/>
        </p:nvGrpSpPr>
        <p:grpSpPr>
          <a:xfrm>
            <a:off x="3744931" y="405175"/>
            <a:ext cx="266700" cy="266700"/>
            <a:chOff x="37136" y="1551801"/>
            <a:chExt cx="266700" cy="266700"/>
          </a:xfrm>
        </p:grpSpPr>
        <p:sp>
          <p:nvSpPr>
            <p:cNvPr id="917" name="Google Shape;917;p68"/>
            <p:cNvSpPr/>
            <p:nvPr/>
          </p:nvSpPr>
          <p:spPr>
            <a:xfrm>
              <a:off x="37136" y="1551801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Outfit Light"/>
                <a:ea typeface="Outfit Light"/>
                <a:cs typeface="Outfit Light"/>
                <a:sym typeface="Outfit Light"/>
              </a:endParaRPr>
            </a:p>
          </p:txBody>
        </p:sp>
        <p:sp>
          <p:nvSpPr>
            <p:cNvPr id="918" name="Google Shape;918;p68"/>
            <p:cNvSpPr/>
            <p:nvPr/>
          </p:nvSpPr>
          <p:spPr>
            <a:xfrm>
              <a:off x="98230" y="1612880"/>
              <a:ext cx="144600" cy="144600"/>
            </a:xfrm>
            <a:prstGeom prst="ellipse">
              <a:avLst/>
            </a:prstGeom>
            <a:solidFill>
              <a:srgbClr val="00D2DD"/>
            </a:solidFill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D2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 2">
  <p:cSld name="03 - Titre et sous-titre_3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9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21" name="Google Shape;921;p69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Slide vide fond foncé" showMasterSp="0">
  <p:cSld name="07 - Slide vide fond foncé">
    <p:bg>
      <p:bgPr>
        <a:solidFill>
          <a:schemeClr val="lt1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p70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924" name="Google Shape;924;p7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25" name="Google Shape;925;p7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26" name="Google Shape;926;p7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927" name="Google Shape;927;p70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28" name="Google Shape;928;p70"/>
          <p:cNvCxnSpPr>
            <a:stCxn id="929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0" name="Google Shape;930;p70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1" name="Google Shape;931;p70"/>
          <p:cNvCxnSpPr>
            <a:endCxn id="930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2" name="Google Shape;932;p70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29" name="Google Shape;929;p70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3" name="Google Shape;933;p70"/>
          <p:cNvCxnSpPr>
            <a:stCxn id="932" idx="2"/>
            <a:endCxn id="930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4" name="Google Shape;934;p70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35" name="Google Shape;935;p7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Couverture [2]" showMasterSp="0">
  <p:cSld name="41 - Couverture [2]">
    <p:bg>
      <p:bgPr>
        <a:solidFill>
          <a:schemeClr val="dk1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1"/>
          <p:cNvSpPr txBox="1"/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b="0"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38" name="Google Shape;938;p71"/>
          <p:cNvSpPr txBox="1"/>
          <p:nvPr>
            <p:ph idx="1" type="subTitle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939" name="Google Shape;939;p7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71"/>
          <p:cNvGrpSpPr/>
          <p:nvPr/>
        </p:nvGrpSpPr>
        <p:grpSpPr>
          <a:xfrm>
            <a:off x="2164723" y="1336707"/>
            <a:ext cx="4598402" cy="1873532"/>
            <a:chOff x="2164723" y="1336707"/>
            <a:chExt cx="4598402" cy="1873532"/>
          </a:xfrm>
        </p:grpSpPr>
        <p:cxnSp>
          <p:nvCxnSpPr>
            <p:cNvPr id="941" name="Google Shape;941;p7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2" name="Google Shape;942;p7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3" name="Google Shape;943;p71"/>
            <p:cNvCxnSpPr>
              <a:endCxn id="942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4" name="Google Shape;944;p71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71"/>
            <p:cNvSpPr/>
            <p:nvPr/>
          </p:nvSpPr>
          <p:spPr>
            <a:xfrm flipH="1" rot="-5400561">
              <a:off x="2143273" y="1358457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6" name="Google Shape;946;p71"/>
            <p:cNvCxnSpPr>
              <a:stCxn id="944" idx="2"/>
              <a:endCxn id="942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47" name="Google Shape;947;p7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948" name="Google Shape;948;p71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949" name="Google Shape;949;p7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7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7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2" name="Google Shape;952;p7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953" name="Google Shape;953;p7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954" name="Google Shape;954;p71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955" name="Google Shape;955;p71"/>
            <p:cNvCxnSpPr>
              <a:stCxn id="956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7" name="Google Shape;957;p7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8" name="Google Shape;958;p71"/>
            <p:cNvCxnSpPr>
              <a:endCxn id="957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9" name="Google Shape;959;p71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71"/>
            <p:cNvSpPr/>
            <p:nvPr/>
          </p:nvSpPr>
          <p:spPr>
            <a:xfrm flipH="1" rot="-5400570">
              <a:off x="1792271" y="1738633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0" name="Google Shape;960;p71"/>
            <p:cNvCxnSpPr>
              <a:stCxn id="959" idx="2"/>
              <a:endCxn id="957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61" name="Google Shape;961;p7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2" name="Google Shape;962;p71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3" name="Google Shape;963;p71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- Chapitre [2]" showMasterSp="0">
  <p:cSld name="51 - Chapitre [2]">
    <p:bg>
      <p:bgPr>
        <a:solidFill>
          <a:schemeClr val="lt1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2"/>
          <p:cNvSpPr/>
          <p:nvPr/>
        </p:nvSpPr>
        <p:spPr>
          <a:xfrm flipH="1" rot="5400000">
            <a:off x="1344924" y="364825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966" name="Google Shape;966;p7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72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68" name="Google Shape;968;p72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9" name="Google Shape;969;p7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70" name="Google Shape;970;p72"/>
          <p:cNvCxnSpPr>
            <a:stCxn id="971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2" name="Google Shape;972;p7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73" name="Google Shape;973;p72"/>
          <p:cNvCxnSpPr>
            <a:endCxn id="972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4" name="Google Shape;974;p7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1" name="Google Shape;971;p72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75" name="Google Shape;975;p72"/>
          <p:cNvCxnSpPr>
            <a:stCxn id="974" idx="2"/>
            <a:endCxn id="972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6" name="Google Shape;976;p7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7" name="Google Shape;977;p7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978" name="Google Shape;978;p7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9" name="Google Shape;979;p7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980" name="Google Shape;980;p72"/>
          <p:cNvGrpSpPr/>
          <p:nvPr/>
        </p:nvGrpSpPr>
        <p:grpSpPr>
          <a:xfrm>
            <a:off x="1450809" y="508105"/>
            <a:ext cx="170063" cy="166438"/>
            <a:chOff x="6838242" y="518225"/>
            <a:chExt cx="1247708" cy="1221114"/>
          </a:xfrm>
        </p:grpSpPr>
        <p:sp>
          <p:nvSpPr>
            <p:cNvPr id="981" name="Google Shape;981;p7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82" name="Google Shape;982;p7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83" name="Google Shape;983;p7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 - Titre et visuel" showMasterSp="0">
  <p:cSld name="60 - Titre et visuel">
    <p:bg>
      <p:bgPr>
        <a:solidFill>
          <a:schemeClr val="lt1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3"/>
          <p:cNvSpPr txBox="1"/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87" name="Google Shape;987;p73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88" name="Google Shape;988;p73"/>
          <p:cNvCxnSpPr>
            <a:stCxn id="989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0" name="Google Shape;990;p73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91" name="Google Shape;991;p73"/>
          <p:cNvCxnSpPr>
            <a:endCxn id="990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2" name="Google Shape;992;p73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89" name="Google Shape;989;p73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93" name="Google Shape;993;p73"/>
          <p:cNvCxnSpPr>
            <a:stCxn id="992" idx="2"/>
            <a:endCxn id="990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4" name="Google Shape;994;p73"/>
          <p:cNvSpPr/>
          <p:nvPr>
            <p:ph idx="2" type="pic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73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 - Titre, sous-titre et visuel" showMasterSp="0">
  <p:cSld name="61 - Titre, sous-titre et visuel">
    <p:bg>
      <p:bgPr>
        <a:solidFill>
          <a:schemeClr val="lt1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4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fmla="val 161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998" name="Google Shape;998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74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000" name="Google Shape;1000;p74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b="0" i="0" sz="6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1" name="Google Shape;1001;p74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b="0" i="0" sz="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2" name="Google Shape;1002;p74"/>
          <p:cNvSpPr txBox="1"/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03" name="Google Shape;1003;p74"/>
          <p:cNvSpPr txBox="1"/>
          <p:nvPr>
            <p:ph idx="1" type="subTitle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04" name="Google Shape;1004;p74"/>
          <p:cNvSpPr/>
          <p:nvPr>
            <p:ph idx="2" type="pic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1005" name="Google Shape;1005;p7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 - Visuel seul" showMasterSp="0">
  <p:cSld name="62 - Visuel seul">
    <p:bg>
      <p:bgPr>
        <a:solidFill>
          <a:schemeClr val="lt1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5"/>
          <p:cNvSpPr/>
          <p:nvPr>
            <p:ph idx="2" type="pic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7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 - cadre blanc" showMasterSp="0">
  <p:cSld name="64 - Titre, sous-titre, contenu et visuel à droite - cadre blanc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011;p76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1012" name="Google Shape;1012;p76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13" name="Google Shape;1013;p76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014" name="Google Shape;1014;p76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1015" name="Google Shape;1015;p76"/>
            <p:cNvCxnSpPr>
              <a:stCxn id="1016" idx="2"/>
              <a:endCxn id="101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18" name="Google Shape;1018;p76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1019" name="Google Shape;1019;p76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20" name="Google Shape;1020;p76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1021" name="Google Shape;1021;p76"/>
              <p:cNvCxnSpPr>
                <a:stCxn id="102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17" name="Google Shape;1017;p76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1023" name="Google Shape;1023;p76"/>
              <p:cNvCxnSpPr>
                <a:endCxn id="101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16" name="Google Shape;1016;p76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22" name="Google Shape;1022;p76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1024" name="Google Shape;1024;p76"/>
          <p:cNvSpPr txBox="1"/>
          <p:nvPr>
            <p:ph idx="1" type="body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25" name="Google Shape;1025;p76"/>
          <p:cNvSpPr txBox="1"/>
          <p:nvPr>
            <p:ph idx="2" type="subTitle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26" name="Google Shape;1026;p76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27" name="Google Shape;1027;p76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1028" name="Google Shape;1028;p76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29" name="Google Shape;1029;p76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30" name="Google Shape;1030;p76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31" name="Google Shape;1031;p76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 - cadre blanc" showMasterSp="0">
  <p:cSld name="65 - Titre, contenu, visuel à droite et bloc conclu - cadre blanc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77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1034" name="Google Shape;1034;p77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5" name="Google Shape;1035;p77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36" name="Google Shape;1036;p77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37" name="Google Shape;1037;p7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1038" name="Google Shape;1038;p7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39" name="Google Shape;1039;p77"/>
            <p:cNvCxnSpPr>
              <a:stCxn id="104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1" name="Google Shape;1041;p7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42" name="Google Shape;1042;p77"/>
            <p:cNvCxnSpPr>
              <a:endCxn id="104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3" name="Google Shape;1043;p7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0" name="Google Shape;1040;p77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44" name="Google Shape;1044;p77"/>
            <p:cNvCxnSpPr>
              <a:stCxn id="1043" idx="2"/>
              <a:endCxn id="104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5" name="Google Shape;1045;p7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1046" name="Google Shape;1046;p77"/>
          <p:cNvSpPr txBox="1"/>
          <p:nvPr>
            <p:ph idx="1" type="body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47" name="Google Shape;1047;p77"/>
          <p:cNvSpPr txBox="1"/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48" name="Google Shape;1048;p77"/>
          <p:cNvSpPr txBox="1"/>
          <p:nvPr>
            <p:ph idx="2" type="body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049" name="Google Shape;1049;p77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0" name="Google Shape;1050;p77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51" name="Google Shape;1051;p77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52" name="Google Shape;1052;p7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 - cadre blanc" showMasterSp="0">
  <p:cSld name="66 - Titre, sous-titre, contenu, visuel à droite et bloc conclu - cadre blanc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8"/>
          <p:cNvSpPr txBox="1"/>
          <p:nvPr>
            <p:ph idx="1" type="body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55" name="Google Shape;1055;p78"/>
          <p:cNvSpPr txBox="1"/>
          <p:nvPr>
            <p:ph idx="2" type="subTitle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56" name="Google Shape;1056;p78"/>
          <p:cNvSpPr txBox="1"/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57" name="Google Shape;1057;p78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058" name="Google Shape;1058;p78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059" name="Google Shape;1059;p7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60" name="Google Shape;1060;p7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61" name="Google Shape;1061;p7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062" name="Google Shape;1062;p78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063" name="Google Shape;1063;p78"/>
            <p:cNvCxnSpPr>
              <a:stCxn id="106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5" name="Google Shape;1065;p78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66" name="Google Shape;1066;p78"/>
            <p:cNvCxnSpPr>
              <a:endCxn id="106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7" name="Google Shape;1067;p78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64" name="Google Shape;1064;p78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68" name="Google Shape;1068;p78"/>
            <p:cNvCxnSpPr>
              <a:stCxn id="1067" idx="2"/>
              <a:endCxn id="106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69" name="Google Shape;1069;p78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1070" name="Google Shape;1070;p78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71" name="Google Shape;1071;p78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72" name="Google Shape;1072;p78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73" name="Google Shape;1073;p78"/>
          <p:cNvSpPr txBox="1"/>
          <p:nvPr>
            <p:ph idx="3" type="body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074" name="Google Shape;1074;p78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5" name="Google Shape;1075;p7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7 - Titre, contenu et visuel à gauche - cadre blanc" showMasterSp="0">
  <p:cSld name="67 - Titre, contenu et visuel à gauche - cadre blanc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79"/>
          <p:cNvSpPr txBox="1"/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78" name="Google Shape;1078;p79"/>
          <p:cNvSpPr txBox="1"/>
          <p:nvPr>
            <p:ph idx="1" type="body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79" name="Google Shape;1079;p79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1080" name="Google Shape;1080;p79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81" name="Google Shape;1081;p79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082" name="Google Shape;1082;p79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083" name="Google Shape;1083;p79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084" name="Google Shape;1084;p79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85" name="Google Shape;1085;p79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86" name="Google Shape;1086;p79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087" name="Google Shape;1087;p7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088" name="Google Shape;1088;p79"/>
            <p:cNvCxnSpPr>
              <a:stCxn id="108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0" name="Google Shape;1090;p7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91" name="Google Shape;1091;p79"/>
            <p:cNvCxnSpPr>
              <a:endCxn id="109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2" name="Google Shape;1092;p7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89" name="Google Shape;1089;p79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93" name="Google Shape;1093;p79"/>
            <p:cNvCxnSpPr>
              <a:stCxn id="1092" idx="2"/>
              <a:endCxn id="109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94" name="Google Shape;1094;p7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8 - Titre, sous-titre, contenu et visuel à gauche - cadre blanc" showMasterSp="0">
  <p:cSld name="68 - Titre, sous-titre, contenu et visuel à gauche - cadre blanc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0"/>
          <p:cNvSpPr/>
          <p:nvPr/>
        </p:nvSpPr>
        <p:spPr>
          <a:xfrm flipH="1" rot="5400000">
            <a:off x="4143250" y="131125"/>
            <a:ext cx="4709400" cy="4865400"/>
          </a:xfrm>
          <a:prstGeom prst="round2SameRect">
            <a:avLst>
              <a:gd fmla="val 13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97" name="Google Shape;1097;p80"/>
          <p:cNvSpPr txBox="1"/>
          <p:nvPr>
            <p:ph idx="1" type="subTitle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8" name="Google Shape;1098;p80"/>
          <p:cNvSpPr txBox="1"/>
          <p:nvPr>
            <p:ph idx="2" type="body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9" name="Google Shape;1099;p80"/>
          <p:cNvSpPr txBox="1"/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00" name="Google Shape;1100;p80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1101" name="Google Shape;1101;p80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02" name="Google Shape;1102;p80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103" name="Google Shape;1103;p80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04" name="Google Shape;1104;p80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05" name="Google Shape;1105;p8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06" name="Google Shape;1106;p8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07" name="Google Shape;1107;p8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08" name="Google Shape;1108;p8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09" name="Google Shape;1109;p80"/>
            <p:cNvCxnSpPr>
              <a:stCxn id="111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1" name="Google Shape;1111;p8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12" name="Google Shape;1112;p80"/>
            <p:cNvCxnSpPr>
              <a:endCxn id="111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3" name="Google Shape;1113;p8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10" name="Google Shape;1110;p80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14" name="Google Shape;1114;p80"/>
            <p:cNvCxnSpPr>
              <a:stCxn id="1113" idx="2"/>
              <a:endCxn id="111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15" name="Google Shape;1115;p8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9 - Titre, contenu, visuel à gauche et bloc conclu - cadre blanc" showMasterSp="0">
  <p:cSld name="69 - Titre, contenu, visuel à gauche et bloc conclu - cadre blanc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7" name="Google Shape;1117;p81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18" name="Google Shape;1118;p81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19" name="Google Shape;1119;p8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20" name="Google Shape;1120;p8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21" name="Google Shape;1121;p8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22" name="Google Shape;1122;p8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23" name="Google Shape;1123;p81"/>
            <p:cNvCxnSpPr>
              <a:stCxn id="112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5" name="Google Shape;1125;p8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26" name="Google Shape;1126;p81"/>
            <p:cNvCxnSpPr>
              <a:endCxn id="112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7" name="Google Shape;1127;p8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4" name="Google Shape;1124;p81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28" name="Google Shape;1128;p81"/>
            <p:cNvCxnSpPr>
              <a:stCxn id="1127" idx="2"/>
              <a:endCxn id="112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29" name="Google Shape;1129;p81"/>
          <p:cNvSpPr txBox="1"/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30" name="Google Shape;1130;p81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1131" name="Google Shape;1131;p81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32" name="Google Shape;1132;p81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133" name="Google Shape;1133;p81"/>
          <p:cNvSpPr txBox="1"/>
          <p:nvPr>
            <p:ph idx="1" type="body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4" name="Google Shape;1134;p81"/>
          <p:cNvSpPr txBox="1"/>
          <p:nvPr>
            <p:ph idx="2" type="body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5" name="Google Shape;1135;p81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36" name="Google Shape;1136;p8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 - cadre blanc" showMasterSp="0">
  <p:cSld name="70 - Titre, sous-titre, contenu, visuel à gauche et bloc conclu - cadre blanc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82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39" name="Google Shape;1139;p82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40" name="Google Shape;1140;p8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41" name="Google Shape;1141;p8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42" name="Google Shape;1142;p8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43" name="Google Shape;1143;p8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44" name="Google Shape;1144;p82"/>
            <p:cNvCxnSpPr>
              <a:stCxn id="114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6" name="Google Shape;1146;p8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47" name="Google Shape;1147;p82"/>
            <p:cNvCxnSpPr>
              <a:endCxn id="114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8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45" name="Google Shape;1145;p82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49" name="Google Shape;1149;p82"/>
            <p:cNvCxnSpPr>
              <a:stCxn id="1148" idx="2"/>
              <a:endCxn id="114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50" name="Google Shape;1150;p82"/>
          <p:cNvSpPr txBox="1"/>
          <p:nvPr>
            <p:ph idx="1" type="body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1" name="Google Shape;1151;p82"/>
          <p:cNvSpPr txBox="1"/>
          <p:nvPr>
            <p:ph idx="2" type="subTitle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2" name="Google Shape;1152;p82"/>
          <p:cNvSpPr txBox="1"/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53" name="Google Shape;1153;p82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1154" name="Google Shape;1154;p82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55" name="Google Shape;1155;p82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156" name="Google Shape;1156;p82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57" name="Google Shape;1157;p82"/>
          <p:cNvSpPr txBox="1"/>
          <p:nvPr>
            <p:ph idx="3" type="body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8" name="Google Shape;1158;p8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Table des matières [2]">
  <p:cSld name="90 - Table des matières [2]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3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1" name="Google Shape;1161;p83"/>
          <p:cNvSpPr txBox="1"/>
          <p:nvPr>
            <p:ph idx="1" type="body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2" name="Google Shape;1162;p83"/>
          <p:cNvSpPr txBox="1"/>
          <p:nvPr>
            <p:ph idx="2" type="body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3" name="Google Shape;1163;p83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64" name="Google Shape;1164;p83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65" name="Google Shape;1165;p83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66" name="Google Shape;1166;p83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Table des matières [3]">
  <p:cSld name="91 - Table des matières [3]"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4"/>
          <p:cNvSpPr txBox="1"/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9" name="Google Shape;1169;p84"/>
          <p:cNvSpPr txBox="1"/>
          <p:nvPr>
            <p:ph idx="1" type="body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0" name="Google Shape;1170;p84"/>
          <p:cNvSpPr txBox="1"/>
          <p:nvPr>
            <p:ph idx="2" type="body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1" name="Google Shape;1171;p84"/>
          <p:cNvSpPr txBox="1"/>
          <p:nvPr>
            <p:ph idx="3" type="body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2" name="Google Shape;1172;p84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3" name="Google Shape;1173;p84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4" name="Google Shape;1174;p84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5" name="Google Shape;1175;p84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6" name="Google Shape;1176;p84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7" name="Google Shape;1177;p84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Table des matières [4]">
  <p:cSld name="92 - Table des matières [4]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5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0" name="Google Shape;1180;p85"/>
          <p:cNvSpPr txBox="1"/>
          <p:nvPr>
            <p:ph idx="1" type="body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1" name="Google Shape;1181;p85"/>
          <p:cNvSpPr txBox="1"/>
          <p:nvPr>
            <p:ph idx="2" type="body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2" name="Google Shape;1182;p85"/>
          <p:cNvSpPr txBox="1"/>
          <p:nvPr>
            <p:ph idx="3" type="body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3" name="Google Shape;1183;p85"/>
          <p:cNvSpPr txBox="1"/>
          <p:nvPr>
            <p:ph idx="4" type="body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4" name="Google Shape;1184;p85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5" name="Google Shape;1185;p85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6" name="Google Shape;1186;p85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7" name="Google Shape;1187;p85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8" name="Google Shape;1188;p85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89" name="Google Shape;1189;p85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90" name="Google Shape;1190;p85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91" name="Google Shape;1191;p85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3 - Table des matières [5]">
  <p:cSld name="93 - Table des matières [5]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6"/>
          <p:cNvSpPr txBox="1"/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4" name="Google Shape;1194;p86"/>
          <p:cNvSpPr txBox="1"/>
          <p:nvPr>
            <p:ph idx="1" type="body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5" name="Google Shape;1195;p86"/>
          <p:cNvSpPr txBox="1"/>
          <p:nvPr>
            <p:ph idx="2" type="body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6" name="Google Shape;1196;p86"/>
          <p:cNvSpPr txBox="1"/>
          <p:nvPr>
            <p:ph idx="3" type="body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7" name="Google Shape;1197;p86"/>
          <p:cNvSpPr txBox="1"/>
          <p:nvPr>
            <p:ph idx="4" type="body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8" name="Google Shape;1198;p86"/>
          <p:cNvSpPr txBox="1"/>
          <p:nvPr>
            <p:ph idx="5" type="body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9" name="Google Shape;1199;p86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0" name="Google Shape;1200;p86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1" name="Google Shape;1201;p86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2" name="Google Shape;1202;p86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3" name="Google Shape;1203;p86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4" name="Google Shape;1204;p86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5" name="Google Shape;1205;p86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6" name="Google Shape;1206;p86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7" name="Google Shape;1207;p86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8" name="Google Shape;1208;p86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4 - Table des matières [6]">
  <p:cSld name="94 - Table des matières [6]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7"/>
          <p:cNvSpPr txBox="1"/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1" name="Google Shape;1211;p87"/>
          <p:cNvSpPr txBox="1"/>
          <p:nvPr>
            <p:ph idx="1" type="body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2" name="Google Shape;1212;p87"/>
          <p:cNvSpPr txBox="1"/>
          <p:nvPr>
            <p:ph idx="2" type="body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3" name="Google Shape;1213;p87"/>
          <p:cNvSpPr txBox="1"/>
          <p:nvPr>
            <p:ph idx="3" type="body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4" name="Google Shape;1214;p87"/>
          <p:cNvSpPr txBox="1"/>
          <p:nvPr>
            <p:ph idx="4" type="body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5" name="Google Shape;1215;p87"/>
          <p:cNvSpPr txBox="1"/>
          <p:nvPr>
            <p:ph idx="5" type="body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6" name="Google Shape;1216;p87"/>
          <p:cNvSpPr txBox="1"/>
          <p:nvPr>
            <p:ph idx="6" type="body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7" name="Google Shape;1217;p87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18" name="Google Shape;1218;p87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19" name="Google Shape;1219;p87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0" name="Google Shape;1220;p87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1" name="Google Shape;1221;p87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2" name="Google Shape;1222;p87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3" name="Google Shape;1223;p87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4" name="Google Shape;1224;p87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5" name="Google Shape;1225;p87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6" name="Google Shape;1226;p87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7" name="Google Shape;1227;p87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8" name="Google Shape;1228;p87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5 - Table des matières [7]">
  <p:cSld name="95 - Table des matières [7]"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88"/>
          <p:cNvSpPr txBox="1"/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1" name="Google Shape;1231;p88"/>
          <p:cNvSpPr txBox="1"/>
          <p:nvPr>
            <p:ph idx="1" type="body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2" name="Google Shape;1232;p88"/>
          <p:cNvSpPr txBox="1"/>
          <p:nvPr>
            <p:ph idx="2" type="body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3" name="Google Shape;1233;p88"/>
          <p:cNvSpPr txBox="1"/>
          <p:nvPr>
            <p:ph idx="3" type="body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4" name="Google Shape;1234;p88"/>
          <p:cNvSpPr txBox="1"/>
          <p:nvPr>
            <p:ph idx="4" type="body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5" name="Google Shape;1235;p88"/>
          <p:cNvSpPr txBox="1"/>
          <p:nvPr>
            <p:ph idx="5" type="body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6" name="Google Shape;1236;p88"/>
          <p:cNvSpPr txBox="1"/>
          <p:nvPr>
            <p:ph idx="6" type="body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7" name="Google Shape;1237;p88"/>
          <p:cNvSpPr txBox="1"/>
          <p:nvPr>
            <p:ph idx="7" type="body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8" name="Google Shape;1238;p88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39" name="Google Shape;1239;p88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0" name="Google Shape;1240;p88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1" name="Google Shape;1241;p88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2" name="Google Shape;1242;p88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3" name="Google Shape;1243;p88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4" name="Google Shape;1244;p88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5" name="Google Shape;1245;p88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6" name="Google Shape;1246;p88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7" name="Google Shape;1247;p88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8" name="Google Shape;1248;p88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9" name="Google Shape;1249;p88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50" name="Google Shape;1250;p88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51" name="Google Shape;1251;p88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 - Table des matières [8]">
  <p:cSld name="96 - Table des matières [8]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9"/>
          <p:cNvSpPr txBox="1"/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4" name="Google Shape;1254;p89"/>
          <p:cNvSpPr txBox="1"/>
          <p:nvPr>
            <p:ph idx="1" type="body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5" name="Google Shape;1255;p89"/>
          <p:cNvSpPr txBox="1"/>
          <p:nvPr>
            <p:ph idx="2" type="body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6" name="Google Shape;1256;p89"/>
          <p:cNvSpPr txBox="1"/>
          <p:nvPr>
            <p:ph idx="3" type="body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7" name="Google Shape;1257;p89"/>
          <p:cNvSpPr txBox="1"/>
          <p:nvPr>
            <p:ph idx="4" type="body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8" name="Google Shape;1258;p89"/>
          <p:cNvSpPr txBox="1"/>
          <p:nvPr>
            <p:ph idx="5" type="body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9" name="Google Shape;1259;p89"/>
          <p:cNvSpPr txBox="1"/>
          <p:nvPr>
            <p:ph idx="6" type="body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0" name="Google Shape;1260;p89"/>
          <p:cNvSpPr txBox="1"/>
          <p:nvPr>
            <p:ph idx="7" type="body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1" name="Google Shape;1261;p89"/>
          <p:cNvSpPr txBox="1"/>
          <p:nvPr>
            <p:ph idx="8" type="body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2" name="Google Shape;1262;p89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3" name="Google Shape;1263;p89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4" name="Google Shape;1264;p89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5" name="Google Shape;1265;p89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6" name="Google Shape;1266;p89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7" name="Google Shape;1267;p89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8" name="Google Shape;1268;p89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9" name="Google Shape;1269;p89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0" name="Google Shape;1270;p89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1" name="Google Shape;1271;p89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2" name="Google Shape;1272;p89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3" name="Google Shape;1273;p89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4" name="Google Shape;1274;p89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5" name="Google Shape;1275;p89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6" name="Google Shape;1276;p89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77" name="Google Shape;1277;p89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7 - Table des matières [9]">
  <p:cSld name="97 - Table des matières [9]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90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0" name="Google Shape;1280;p90"/>
          <p:cNvSpPr txBox="1"/>
          <p:nvPr>
            <p:ph idx="1" type="body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1" name="Google Shape;1281;p90"/>
          <p:cNvSpPr txBox="1"/>
          <p:nvPr>
            <p:ph idx="2" type="body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2" name="Google Shape;1282;p90"/>
          <p:cNvSpPr txBox="1"/>
          <p:nvPr>
            <p:ph idx="3" type="body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3" name="Google Shape;1283;p90"/>
          <p:cNvSpPr txBox="1"/>
          <p:nvPr>
            <p:ph idx="4" type="body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4" name="Google Shape;1284;p90"/>
          <p:cNvSpPr txBox="1"/>
          <p:nvPr>
            <p:ph idx="5" type="body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5" name="Google Shape;1285;p90"/>
          <p:cNvSpPr txBox="1"/>
          <p:nvPr>
            <p:ph idx="6" type="body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6" name="Google Shape;1286;p90"/>
          <p:cNvSpPr txBox="1"/>
          <p:nvPr>
            <p:ph idx="7" type="body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7" name="Google Shape;1287;p90"/>
          <p:cNvSpPr txBox="1"/>
          <p:nvPr>
            <p:ph idx="8" type="body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8" name="Google Shape;1288;p90"/>
          <p:cNvSpPr txBox="1"/>
          <p:nvPr>
            <p:ph idx="9" type="body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9" name="Google Shape;1289;p90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0" name="Google Shape;1290;p90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1" name="Google Shape;1291;p90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2" name="Google Shape;1292;p90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3" name="Google Shape;1293;p90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4" name="Google Shape;1294;p90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5" name="Google Shape;1295;p90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6" name="Google Shape;1296;p90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7" name="Google Shape;1297;p90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8" name="Google Shape;1298;p90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9" name="Google Shape;1299;p90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0" name="Google Shape;1300;p90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1" name="Google Shape;1301;p90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2" name="Google Shape;1302;p90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3" name="Google Shape;1303;p90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04" name="Google Shape;1304;p90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5" name="Google Shape;1305;p90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06" name="Google Shape;1306;p90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8 - Table des matières [10]">
  <p:cSld name="98 - Table des matières [10]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91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09" name="Google Shape;1309;p91"/>
          <p:cNvSpPr txBox="1"/>
          <p:nvPr>
            <p:ph idx="1" type="body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0" name="Google Shape;1310;p91"/>
          <p:cNvSpPr txBox="1"/>
          <p:nvPr>
            <p:ph idx="2" type="body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1" name="Google Shape;1311;p91"/>
          <p:cNvSpPr txBox="1"/>
          <p:nvPr>
            <p:ph idx="3" type="body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2" name="Google Shape;1312;p91"/>
          <p:cNvSpPr txBox="1"/>
          <p:nvPr>
            <p:ph idx="4" type="body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3" name="Google Shape;1313;p91"/>
          <p:cNvSpPr txBox="1"/>
          <p:nvPr>
            <p:ph idx="5" type="body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4" name="Google Shape;1314;p91"/>
          <p:cNvSpPr txBox="1"/>
          <p:nvPr>
            <p:ph idx="6" type="body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5" name="Google Shape;1315;p91"/>
          <p:cNvSpPr txBox="1"/>
          <p:nvPr>
            <p:ph idx="7" type="body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6" name="Google Shape;1316;p91"/>
          <p:cNvSpPr txBox="1"/>
          <p:nvPr>
            <p:ph idx="8" type="body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7" name="Google Shape;1317;p91"/>
          <p:cNvSpPr txBox="1"/>
          <p:nvPr>
            <p:ph idx="9" type="body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8" name="Google Shape;1318;p91"/>
          <p:cNvSpPr txBox="1"/>
          <p:nvPr>
            <p:ph idx="13" type="body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9" name="Google Shape;1319;p91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0" name="Google Shape;1320;p91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1" name="Google Shape;1321;p91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2" name="Google Shape;1322;p91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3" name="Google Shape;1323;p91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4" name="Google Shape;1324;p91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5" name="Google Shape;1325;p91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6" name="Google Shape;1326;p91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7" name="Google Shape;1327;p91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8" name="Google Shape;1328;p91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9" name="Google Shape;1329;p91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0" name="Google Shape;1330;p91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1" name="Google Shape;1331;p91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2" name="Google Shape;1332;p91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3" name="Google Shape;1333;p91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4" name="Google Shape;1334;p91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5" name="Google Shape;1335;p91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6" name="Google Shape;1336;p91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7" name="Google Shape;1337;p91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8" name="Google Shape;1338;p91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 1">
  <p:cSld name="03 - Titre et sous-titre_1_2_3"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2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41" name="Google Shape;1341;p92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3.xml"/><Relationship Id="rId42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74.xml"/><Relationship Id="rId44" Type="http://schemas.openxmlformats.org/officeDocument/2006/relationships/slideLayout" Target="../slideLayouts/slideLayout77.xml"/><Relationship Id="rId43" Type="http://schemas.openxmlformats.org/officeDocument/2006/relationships/slideLayout" Target="../slideLayouts/slideLayout76.xml"/><Relationship Id="rId46" Type="http://schemas.openxmlformats.org/officeDocument/2006/relationships/slideLayout" Target="../slideLayouts/slideLayout79.xml"/><Relationship Id="rId45" Type="http://schemas.openxmlformats.org/officeDocument/2006/relationships/slideLayout" Target="../slideLayouts/slideLayout78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48" Type="http://schemas.openxmlformats.org/officeDocument/2006/relationships/slideLayout" Target="../slideLayouts/slideLayout81.xml"/><Relationship Id="rId47" Type="http://schemas.openxmlformats.org/officeDocument/2006/relationships/slideLayout" Target="../slideLayouts/slideLayout80.xml"/><Relationship Id="rId49" Type="http://schemas.openxmlformats.org/officeDocument/2006/relationships/slideLayout" Target="../slideLayouts/slideLayout8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67.xml"/><Relationship Id="rId37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69.xml"/><Relationship Id="rId39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2.xml"/><Relationship Id="rId51" Type="http://schemas.openxmlformats.org/officeDocument/2006/relationships/slideLayout" Target="../slideLayouts/slideLayout84.xml"/><Relationship Id="rId50" Type="http://schemas.openxmlformats.org/officeDocument/2006/relationships/slideLayout" Target="../slideLayouts/slideLayout83.xml"/><Relationship Id="rId53" Type="http://schemas.openxmlformats.org/officeDocument/2006/relationships/slideLayout" Target="../slideLayouts/slideLayout86.xml"/><Relationship Id="rId52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44.xml"/><Relationship Id="rId5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43.xml"/><Relationship Id="rId54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46.xml"/><Relationship Id="rId5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45.xml"/><Relationship Id="rId56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58" Type="http://schemas.openxmlformats.org/officeDocument/2006/relationships/theme" Target="../theme/theme3.xml"/><Relationship Id="rId17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35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565" name="Google Shape;565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66" name="Google Shape;566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67" name="Google Shape;567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68" name="Google Shape;568;p35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569" name="Google Shape;569;p35"/>
          <p:cNvCxnSpPr>
            <a:stCxn id="57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35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72" name="Google Shape;572;p35"/>
          <p:cNvCxnSpPr>
            <a:endCxn id="57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p35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0" name="Google Shape;570;p35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74" name="Google Shape;574;p35"/>
          <p:cNvCxnSpPr>
            <a:stCxn id="573" idx="2"/>
            <a:endCxn id="57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35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3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Offre Infra as a Product</a:t>
            </a:r>
            <a:endParaRPr/>
          </a:p>
        </p:txBody>
      </p:sp>
      <p:sp>
        <p:nvSpPr>
          <p:cNvPr id="1347" name="Google Shape;1347;p93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r>
              <a:rPr lang="en-US"/>
              <a:t>26</a:t>
            </a:r>
            <a:endParaRPr/>
          </a:p>
        </p:txBody>
      </p:sp>
      <p:sp>
        <p:nvSpPr>
          <p:cNvPr id="1348" name="Google Shape;1348;p93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94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Sommaire</a:t>
            </a:r>
            <a:endParaRPr/>
          </a:p>
        </p:txBody>
      </p:sp>
      <p:sp>
        <p:nvSpPr>
          <p:cNvPr id="1354" name="Google Shape;1354;p94"/>
          <p:cNvSpPr txBox="1"/>
          <p:nvPr>
            <p:ph idx="1" type="body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(calculé)</a:t>
            </a:r>
            <a:endParaRPr/>
          </a:p>
        </p:txBody>
      </p:sp>
      <p:sp>
        <p:nvSpPr>
          <p:cNvPr id="1355" name="Google Shape;1355;p94"/>
          <p:cNvSpPr txBox="1"/>
          <p:nvPr>
            <p:ph idx="2" type="body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(voir menu)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95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1361" name="Google Shape;1361;p95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t/>
            </a:r>
            <a:endParaRPr/>
          </a:p>
        </p:txBody>
      </p:sp>
      <p:sp>
        <p:nvSpPr>
          <p:cNvPr id="1362" name="Google Shape;1362;p95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96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Contexte et enjeux</a:t>
            </a:r>
            <a:endParaRPr/>
          </a:p>
        </p:txBody>
      </p:sp>
      <p:sp>
        <p:nvSpPr>
          <p:cNvPr id="1368" name="Google Shape;1368;p96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01</a:t>
            </a:r>
            <a:endParaRPr b="1" sz="1700"/>
          </a:p>
        </p:txBody>
      </p:sp>
      <p:pic>
        <p:nvPicPr>
          <p:cNvPr id="1369" name="Google Shape;1369;p96"/>
          <p:cNvPicPr preferRelativeResize="0"/>
          <p:nvPr/>
        </p:nvPicPr>
        <p:blipFill rotWithShape="1">
          <a:blip r:embed="rId3">
            <a:alphaModFix/>
          </a:blip>
          <a:srcRect b="671" l="0" r="0" t="661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97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97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9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 problématiques de l’infra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98"/>
          <p:cNvSpPr txBox="1"/>
          <p:nvPr>
            <p:ph idx="1" type="body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“Nos développeurs attendent trois semaines pour obtenir leur environnement.”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“Notre équipe Infra est devenue un goulot d'étranglement.”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“Nous avons une plateforme mais personne ne l'utilise.”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“Nous avons plusieurs plateformes qui font plus ou moins la même chose.”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“Nos coûts Cloud explosent.”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“Nous voulons réduire les tickets.”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“Quand on développe un produit on doit solliciter plusieurs équipes et on ne sait pas toujours à qui s’adresser, pour quoi 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“Nous n’avons pas de vision globale plateforme avec des outils intégrés et simples au service des applications”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98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 situations vécues par l’infra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99"/>
          <p:cNvSpPr txBox="1"/>
          <p:nvPr>
            <p:ph idx="1" type="body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99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89" name="Google Shape;1389;p99"/>
          <p:cNvGraphicFramePr/>
          <p:nvPr/>
        </p:nvGraphicFramePr>
        <p:xfrm>
          <a:off x="475383" y="8225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{F2F0FF75-54D8-41D8-AE5D-ABBCEC0B821A}</a:tableStyleId>
              </a:tblPr>
              <a:tblGrid>
                <a:gridCol w="2305050"/>
                <a:gridCol w="3457575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Problème</a:t>
                      </a:r>
                      <a:endParaRPr b="1"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Apport approche produit</a:t>
                      </a:r>
                      <a:endParaRPr b="1"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0" name="Google Shape;1390;p99"/>
          <p:cNvGraphicFramePr/>
          <p:nvPr/>
        </p:nvGraphicFramePr>
        <p:xfrm>
          <a:off x="627783" y="974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{6A048815-846B-4994-9E09-B67923FC3A97}</a:tableStyleId>
              </a:tblPr>
              <a:tblGrid>
                <a:gridCol w="1905000"/>
                <a:gridCol w="0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L’infra est perçue comme un centre de coûts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Clarifier la proposition de valeur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1" name="Google Shape;1391;p99"/>
          <p:cNvGraphicFramePr/>
          <p:nvPr/>
        </p:nvGraphicFramePr>
        <p:xfrm>
          <a:off x="780183" y="1127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{F2F0FF75-54D8-41D8-AE5D-ABBCEC0B821A}</a:tableStyleId>
              </a:tblPr>
              <a:tblGrid>
                <a:gridCol w="3086100"/>
                <a:gridCol w="2686050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Les utilisateurs ne comprennent pas l’offre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Formaliser un catalogue de capacités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2" name="Google Shape;1392;p99"/>
          <p:cNvGraphicFramePr/>
          <p:nvPr/>
        </p:nvGraphicFramePr>
        <p:xfrm>
          <a:off x="932583" y="1279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{6A048815-846B-4994-9E09-B67923FC3A97}</a:tableStyleId>
              </a:tblPr>
              <a:tblGrid>
                <a:gridCol w="1905000"/>
                <a:gridCol w="0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Les demandes sont trop spécifiques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Identifier les besoins récurrents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3" name="Google Shape;1393;p99"/>
          <p:cNvGraphicFramePr/>
          <p:nvPr/>
        </p:nvGraphicFramePr>
        <p:xfrm>
          <a:off x="1084983" y="14321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{F2F0FF75-54D8-41D8-AE5D-ABBCEC0B821A}</a:tableStyleId>
              </a:tblPr>
              <a:tblGrid>
                <a:gridCol w="2819400"/>
                <a:gridCol w="2990850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Les outils sont peu adoptés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Travailler l’UX et l’adoption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4" name="Google Shape;1394;p99"/>
          <p:cNvGraphicFramePr/>
          <p:nvPr/>
        </p:nvGraphicFramePr>
        <p:xfrm>
          <a:off x="1237383" y="15845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{6A048815-846B-4994-9E09-B67923FC3A97}</a:tableStyleId>
              </a:tblPr>
              <a:tblGrid>
                <a:gridCol w="1905000"/>
                <a:gridCol w="0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Les équipes applicatives contournent l’infra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Rendre l’offre plus simple et plus désirable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5" name="Google Shape;1395;p99"/>
          <p:cNvGraphicFramePr/>
          <p:nvPr/>
        </p:nvGraphicFramePr>
        <p:xfrm>
          <a:off x="1389783" y="1736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{F2F0FF75-54D8-41D8-AE5D-ABBCEC0B821A}</a:tableStyleId>
              </a:tblPr>
              <a:tblGrid>
                <a:gridCol w="2295525"/>
                <a:gridCol w="3476625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Les priorités sont politiques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Prioriser par valeur, usage, risque, adoption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6" name="Google Shape;1396;p99"/>
          <p:cNvGraphicFramePr/>
          <p:nvPr/>
        </p:nvGraphicFramePr>
        <p:xfrm>
          <a:off x="1542183" y="1889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{6A048815-846B-4994-9E09-B67923FC3A97}</a:tableStyleId>
              </a:tblPr>
              <a:tblGrid>
                <a:gridCol w="1905000"/>
                <a:gridCol w="0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Les capacités livrées ne sont pas utilisées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Mesurer l’usage réel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7" name="Google Shape;1397;p99"/>
          <p:cNvGraphicFramePr/>
          <p:nvPr/>
        </p:nvGraphicFramePr>
        <p:xfrm>
          <a:off x="1694583" y="2041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{F2F0FF75-54D8-41D8-AE5D-ABBCEC0B821A}</a:tableStyleId>
              </a:tblPr>
              <a:tblGrid>
                <a:gridCol w="3086100"/>
                <a:gridCol w="2676525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L’automatisation manque de financement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Construire un business case produit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8" name="Google Shape;1398;p99"/>
          <p:cNvGraphicFramePr/>
          <p:nvPr/>
        </p:nvGraphicFramePr>
        <p:xfrm>
          <a:off x="1846983" y="21941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{6A048815-846B-4994-9E09-B67923FC3A97}</a:tableStyleId>
              </a:tblPr>
              <a:tblGrid>
                <a:gridCol w="1905000"/>
                <a:gridCol w="0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L’obsolescence est subie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Piloter le cycle de vie des capacités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9" name="Google Shape;1399;p99"/>
          <p:cNvGraphicFramePr/>
          <p:nvPr/>
        </p:nvGraphicFramePr>
        <p:xfrm>
          <a:off x="1999383" y="23465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{F2F0FF75-54D8-41D8-AE5D-ABBCEC0B821A}</a:tableStyleId>
              </a:tblPr>
              <a:tblGrid>
                <a:gridCol w="2124075"/>
                <a:gridCol w="3629025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La plateforme est trop technique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Définir des parcours utilisateurs compréhensibles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00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CONTEXTE   ·   D'un guichet sursollicité à une infra as a product — l'</a:t>
            </a: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IA rend ce virage nécessaire</a:t>
            </a: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405" name="Google Shape;1405;p100"/>
          <p:cNvSpPr txBox="1"/>
          <p:nvPr/>
        </p:nvSpPr>
        <p:spPr>
          <a:xfrm>
            <a:off x="562356" y="1069848"/>
            <a:ext cx="4069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QUE VIT L'INFRA</a:t>
            </a:r>
            <a:endParaRPr/>
          </a:p>
        </p:txBody>
      </p:sp>
      <p:sp>
        <p:nvSpPr>
          <p:cNvPr id="1406" name="Google Shape;1406;p100"/>
          <p:cNvSpPr txBox="1"/>
          <p:nvPr/>
        </p:nvSpPr>
        <p:spPr>
          <a:xfrm>
            <a:off x="5134356" y="1069848"/>
            <a:ext cx="323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QU'ON VISE</a:t>
            </a:r>
            <a:endParaRPr/>
          </a:p>
        </p:txBody>
      </p:sp>
      <p:sp>
        <p:nvSpPr>
          <p:cNvPr id="1407" name="Google Shape;1407;p100"/>
          <p:cNvSpPr/>
          <p:nvPr/>
        </p:nvSpPr>
        <p:spPr>
          <a:xfrm>
            <a:off x="562356" y="1307592"/>
            <a:ext cx="40692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00"/>
          <p:cNvSpPr txBox="1"/>
          <p:nvPr/>
        </p:nvSpPr>
        <p:spPr>
          <a:xfrm>
            <a:off x="745236" y="1307592"/>
            <a:ext cx="37032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Sortir de la sursollicitation et du guichet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équipiers qui font trop de choses, engorgés — décommissionnement jamais fait, trop de RUN au quotidien.</a:t>
            </a:r>
            <a:endParaRPr/>
          </a:p>
        </p:txBody>
      </p:sp>
      <p:sp>
        <p:nvSpPr>
          <p:cNvPr id="1409" name="Google Shape;1409;p100"/>
          <p:cNvSpPr/>
          <p:nvPr/>
        </p:nvSpPr>
        <p:spPr>
          <a:xfrm>
            <a:off x="4741164" y="1527048"/>
            <a:ext cx="283500" cy="3657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00"/>
          <p:cNvSpPr/>
          <p:nvPr/>
        </p:nvSpPr>
        <p:spPr>
          <a:xfrm>
            <a:off x="5134356" y="1307592"/>
            <a:ext cx="32325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00"/>
          <p:cNvSpPr txBox="1"/>
          <p:nvPr/>
        </p:nvSpPr>
        <p:spPr>
          <a:xfrm>
            <a:off x="5317236" y="1307592"/>
            <a:ext cx="2866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Assainir et travailler le gaspillage</a:t>
            </a:r>
            <a:endParaRPr/>
          </a:p>
        </p:txBody>
      </p:sp>
      <p:sp>
        <p:nvSpPr>
          <p:cNvPr id="1412" name="Google Shape;1412;p100"/>
          <p:cNvSpPr/>
          <p:nvPr/>
        </p:nvSpPr>
        <p:spPr>
          <a:xfrm>
            <a:off x="562356" y="2240280"/>
            <a:ext cx="40692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00"/>
          <p:cNvSpPr txBox="1"/>
          <p:nvPr/>
        </p:nvSpPr>
        <p:spPr>
          <a:xfrm>
            <a:off x="745236" y="2240280"/>
            <a:ext cx="37032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Mieux servir les utilisateurs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Passer d'un guichet de demandes à une approche as a service.</a:t>
            </a:r>
            <a:endParaRPr/>
          </a:p>
        </p:txBody>
      </p:sp>
      <p:sp>
        <p:nvSpPr>
          <p:cNvPr id="1414" name="Google Shape;1414;p100"/>
          <p:cNvSpPr/>
          <p:nvPr/>
        </p:nvSpPr>
        <p:spPr>
          <a:xfrm>
            <a:off x="4741164" y="2459736"/>
            <a:ext cx="283500" cy="3657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100"/>
          <p:cNvSpPr/>
          <p:nvPr/>
        </p:nvSpPr>
        <p:spPr>
          <a:xfrm>
            <a:off x="5134356" y="2240280"/>
            <a:ext cx="32325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00"/>
          <p:cNvSpPr txBox="1"/>
          <p:nvPr/>
        </p:nvSpPr>
        <p:spPr>
          <a:xfrm>
            <a:off x="5317236" y="2240280"/>
            <a:ext cx="2866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Une infra recentrée sur ses utilisateurs</a:t>
            </a:r>
            <a:endParaRPr/>
          </a:p>
        </p:txBody>
      </p:sp>
      <p:sp>
        <p:nvSpPr>
          <p:cNvPr id="1417" name="Google Shape;1417;p100"/>
          <p:cNvSpPr/>
          <p:nvPr/>
        </p:nvSpPr>
        <p:spPr>
          <a:xfrm>
            <a:off x="562356" y="3246120"/>
            <a:ext cx="7804500" cy="731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0E23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100"/>
          <p:cNvSpPr/>
          <p:nvPr/>
        </p:nvSpPr>
        <p:spPr>
          <a:xfrm>
            <a:off x="745236" y="33832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100"/>
          <p:cNvSpPr/>
          <p:nvPr/>
        </p:nvSpPr>
        <p:spPr>
          <a:xfrm>
            <a:off x="626364" y="4581144"/>
            <a:ext cx="45600" cy="310800"/>
          </a:xfrm>
          <a:prstGeom prst="rect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100"/>
          <p:cNvSpPr txBox="1"/>
          <p:nvPr/>
        </p:nvSpPr>
        <p:spPr>
          <a:xfrm>
            <a:off x="726947" y="450799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21" name="Google Shape;1421;p100"/>
          <p:cNvSpPr txBox="1"/>
          <p:nvPr/>
        </p:nvSpPr>
        <p:spPr>
          <a:xfrm>
            <a:off x="1074425" y="4602879"/>
            <a:ext cx="710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L'objectif : infra as a product.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01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Efficacité opérationnelle : réduire les dépendances en offrant plus d’autonomie, utiliser le profils experts aux bons endroits, délivrer rapidement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Offrir une expérience fluide, sans couture aux utilisateurs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Robustesse</a:t>
            </a:r>
            <a:r>
              <a:rPr lang="en-US"/>
              <a:t> du système : monitoring pour </a:t>
            </a:r>
            <a:r>
              <a:rPr lang="en-US"/>
              <a:t>accélérer</a:t>
            </a:r>
            <a:r>
              <a:rPr lang="en-US"/>
              <a:t> la prise de décision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Réduction du co</a:t>
            </a:r>
            <a:r>
              <a:rPr lang="en-US"/>
              <a:t>ût : optimiser les dépenses (ex : catalogue du parc existant, licences inutilisées, </a:t>
            </a:r>
            <a:r>
              <a:rPr lang="en-US"/>
              <a:t>décommissionnement</a:t>
            </a:r>
            <a:r>
              <a:rPr lang="en-US"/>
              <a:t> des assets “zombies”)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Anticiper le futur de manière sereine : l’utilisation de l’IA va solliciter de plus en plus d’infra pour les mises en production, l’usage de l’IA au sein de l’entreprise va nécessite une gouvernance et coordination</a:t>
            </a:r>
            <a:endParaRPr/>
          </a:p>
        </p:txBody>
      </p:sp>
      <p:sp>
        <p:nvSpPr>
          <p:cNvPr id="1427" name="Google Shape;1427;p101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01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 enjeux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02"/>
          <p:cNvSpPr txBox="1"/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Nos convictions</a:t>
            </a:r>
            <a:endParaRPr/>
          </a:p>
        </p:txBody>
      </p:sp>
      <p:sp>
        <p:nvSpPr>
          <p:cNvPr id="1434" name="Google Shape;1434;p102"/>
          <p:cNvSpPr txBox="1"/>
          <p:nvPr>
            <p:ph idx="2" type="body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t/>
            </a:r>
            <a:endParaRPr/>
          </a:p>
        </p:txBody>
      </p:sp>
      <p:sp>
        <p:nvSpPr>
          <p:cNvPr id="1435" name="Google Shape;1435;p102"/>
          <p:cNvSpPr txBox="1"/>
          <p:nvPr>
            <p:ph idx="1" type="subTitle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03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NOS CONVICTIONS   ·   Nos convictions sur votre transformation en mode produit (1/2) — les conditions qui favorisent le succès</a:t>
            </a:r>
            <a:endParaRPr/>
          </a:p>
        </p:txBody>
      </p:sp>
      <p:sp>
        <p:nvSpPr>
          <p:cNvPr id="1441" name="Google Shape;1441;p103"/>
          <p:cNvSpPr/>
          <p:nvPr/>
        </p:nvSpPr>
        <p:spPr>
          <a:xfrm>
            <a:off x="562356" y="1143000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E2356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103"/>
          <p:cNvSpPr txBox="1"/>
          <p:nvPr/>
        </p:nvSpPr>
        <p:spPr>
          <a:xfrm>
            <a:off x="562356" y="114300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/>
          </a:p>
        </p:txBody>
      </p:sp>
      <p:sp>
        <p:nvSpPr>
          <p:cNvPr id="1443" name="Google Shape;1443;p103"/>
          <p:cNvSpPr/>
          <p:nvPr/>
        </p:nvSpPr>
        <p:spPr>
          <a:xfrm>
            <a:off x="646480" y="1453896"/>
            <a:ext cx="14700" cy="4833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03"/>
          <p:cNvSpPr/>
          <p:nvPr/>
        </p:nvSpPr>
        <p:spPr>
          <a:xfrm>
            <a:off x="617219" y="1900504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103"/>
          <p:cNvSpPr txBox="1"/>
          <p:nvPr/>
        </p:nvSpPr>
        <p:spPr>
          <a:xfrm>
            <a:off x="1293876" y="1124712"/>
            <a:ext cx="4695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Partir des utilisateurs et de leurs douleurs, pas du catalogue d'outils.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Une plateforme n'est adoptée que si elle résout une douleur mesurée chez ceux qui la consomment.</a:t>
            </a:r>
            <a:endParaRPr/>
          </a:p>
        </p:txBody>
      </p:sp>
      <p:sp>
        <p:nvSpPr>
          <p:cNvPr id="1446" name="Google Shape;1446;p103"/>
          <p:cNvSpPr/>
          <p:nvPr/>
        </p:nvSpPr>
        <p:spPr>
          <a:xfrm>
            <a:off x="562356" y="2108073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103"/>
          <p:cNvSpPr txBox="1"/>
          <p:nvPr/>
        </p:nvSpPr>
        <p:spPr>
          <a:xfrm>
            <a:off x="562356" y="2108073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/>
          </a:p>
        </p:txBody>
      </p:sp>
      <p:sp>
        <p:nvSpPr>
          <p:cNvPr id="1448" name="Google Shape;1448;p103"/>
          <p:cNvSpPr/>
          <p:nvPr/>
        </p:nvSpPr>
        <p:spPr>
          <a:xfrm>
            <a:off x="646480" y="2418969"/>
            <a:ext cx="14700" cy="6315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103"/>
          <p:cNvSpPr/>
          <p:nvPr/>
        </p:nvSpPr>
        <p:spPr>
          <a:xfrm>
            <a:off x="617219" y="3013976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103"/>
          <p:cNvSpPr txBox="1"/>
          <p:nvPr/>
        </p:nvSpPr>
        <p:spPr>
          <a:xfrm>
            <a:off x="1293876" y="2089785"/>
            <a:ext cx="46953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Bien choisir les premiers périmètres de transformation.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Significatifs au regard de ce que la transformation doit résoudre.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Ni trop complexes, pour réussir et apprendre ; ni trop simples, pour créer du mouvement et faire émerger des promoteurs.</a:t>
            </a:r>
            <a:endParaRPr/>
          </a:p>
        </p:txBody>
      </p:sp>
      <p:sp>
        <p:nvSpPr>
          <p:cNvPr id="1451" name="Google Shape;1451;p103"/>
          <p:cNvSpPr/>
          <p:nvPr/>
        </p:nvSpPr>
        <p:spPr>
          <a:xfrm>
            <a:off x="562356" y="3221545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03"/>
          <p:cNvSpPr txBox="1"/>
          <p:nvPr/>
        </p:nvSpPr>
        <p:spPr>
          <a:xfrm>
            <a:off x="562356" y="3221545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/>
          </a:p>
        </p:txBody>
      </p:sp>
      <p:sp>
        <p:nvSpPr>
          <p:cNvPr id="1453" name="Google Shape;1453;p103"/>
          <p:cNvSpPr/>
          <p:nvPr/>
        </p:nvSpPr>
        <p:spPr>
          <a:xfrm>
            <a:off x="646480" y="3532441"/>
            <a:ext cx="14700" cy="6477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103"/>
          <p:cNvSpPr/>
          <p:nvPr/>
        </p:nvSpPr>
        <p:spPr>
          <a:xfrm>
            <a:off x="617219" y="4143641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103"/>
          <p:cNvSpPr txBox="1"/>
          <p:nvPr/>
        </p:nvSpPr>
        <p:spPr>
          <a:xfrm>
            <a:off x="1293876" y="3203257"/>
            <a:ext cx="46953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Traiter le gaspillage avant de construire, et prioriser sur des critères partagés.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Nommer, scorer, prioriser (valeur, coût, complexité) libère la capacité que le RUN confisque aujourd'hui.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décisions ritualisées, reliées au budget.</a:t>
            </a:r>
            <a:endParaRPr/>
          </a:p>
        </p:txBody>
      </p:sp>
      <p:sp>
        <p:nvSpPr>
          <p:cNvPr id="1456" name="Google Shape;1456;p103"/>
          <p:cNvSpPr/>
          <p:nvPr/>
        </p:nvSpPr>
        <p:spPr>
          <a:xfrm>
            <a:off x="562356" y="4351210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03"/>
          <p:cNvSpPr txBox="1"/>
          <p:nvPr/>
        </p:nvSpPr>
        <p:spPr>
          <a:xfrm>
            <a:off x="562356" y="435121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4.</a:t>
            </a:r>
            <a:endParaRPr/>
          </a:p>
        </p:txBody>
      </p:sp>
      <p:sp>
        <p:nvSpPr>
          <p:cNvPr id="1458" name="Google Shape;1458;p103"/>
          <p:cNvSpPr/>
          <p:nvPr/>
        </p:nvSpPr>
        <p:spPr>
          <a:xfrm>
            <a:off x="646480" y="4662106"/>
            <a:ext cx="14700" cy="1926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103"/>
          <p:cNvSpPr/>
          <p:nvPr/>
        </p:nvSpPr>
        <p:spPr>
          <a:xfrm>
            <a:off x="617219" y="4818202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03"/>
          <p:cNvSpPr txBox="1"/>
          <p:nvPr/>
        </p:nvSpPr>
        <p:spPr>
          <a:xfrm>
            <a:off x="1293876" y="4332922"/>
            <a:ext cx="46953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 propriétaire, une roadmap, une valeur mesurée.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Sans porteur produit, l'infra retourne au guichet.</a:t>
            </a:r>
            <a:endParaRPr/>
          </a:p>
        </p:txBody>
      </p:sp>
      <p:pic>
        <p:nvPicPr>
          <p:cNvPr descr="tropical_0_libre_960x1628.jpg" id="1461" name="Google Shape;1461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143000"/>
            <a:ext cx="2103000" cy="3566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04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5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NOS CONVICTIONS   ·   Nos convictions sur votre transformation en mode produit (2/2)</a:t>
            </a:r>
            <a:endParaRPr/>
          </a:p>
        </p:txBody>
      </p:sp>
      <p:sp>
        <p:nvSpPr>
          <p:cNvPr id="1467" name="Google Shape;1467;p104"/>
          <p:cNvSpPr/>
          <p:nvPr/>
        </p:nvSpPr>
        <p:spPr>
          <a:xfrm>
            <a:off x="562356" y="1143000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104"/>
          <p:cNvSpPr txBox="1"/>
          <p:nvPr/>
        </p:nvSpPr>
        <p:spPr>
          <a:xfrm>
            <a:off x="562356" y="114300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5.</a:t>
            </a:r>
            <a:endParaRPr/>
          </a:p>
        </p:txBody>
      </p:sp>
      <p:sp>
        <p:nvSpPr>
          <p:cNvPr id="1469" name="Google Shape;1469;p104"/>
          <p:cNvSpPr/>
          <p:nvPr/>
        </p:nvSpPr>
        <p:spPr>
          <a:xfrm>
            <a:off x="646480" y="1453896"/>
            <a:ext cx="14700" cy="7686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104"/>
          <p:cNvSpPr/>
          <p:nvPr/>
        </p:nvSpPr>
        <p:spPr>
          <a:xfrm>
            <a:off x="617219" y="2186063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104"/>
          <p:cNvSpPr txBox="1"/>
          <p:nvPr/>
        </p:nvSpPr>
        <p:spPr>
          <a:xfrm>
            <a:off x="1293876" y="1124712"/>
            <a:ext cx="39639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Articuler la transformation à tous les niveaux.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Central (DSI et sponsor, garants de l'approche) ; opérationnel (animation des équipes) ; transverse (fluidifier les interactions entre équipes).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RH : rôles, parcours de formation, accompagnement des profils clés.</a:t>
            </a:r>
            <a:endParaRPr/>
          </a:p>
        </p:txBody>
      </p:sp>
      <p:sp>
        <p:nvSpPr>
          <p:cNvPr id="1472" name="Google Shape;1472;p104"/>
          <p:cNvSpPr/>
          <p:nvPr/>
        </p:nvSpPr>
        <p:spPr>
          <a:xfrm>
            <a:off x="562356" y="2393632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104"/>
          <p:cNvSpPr txBox="1"/>
          <p:nvPr/>
        </p:nvSpPr>
        <p:spPr>
          <a:xfrm>
            <a:off x="562356" y="2393632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6.</a:t>
            </a:r>
            <a:endParaRPr/>
          </a:p>
        </p:txBody>
      </p:sp>
      <p:sp>
        <p:nvSpPr>
          <p:cNvPr id="1474" name="Google Shape;1474;p104"/>
          <p:cNvSpPr/>
          <p:nvPr/>
        </p:nvSpPr>
        <p:spPr>
          <a:xfrm>
            <a:off x="646480" y="2704528"/>
            <a:ext cx="14700" cy="6315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04"/>
          <p:cNvSpPr/>
          <p:nvPr/>
        </p:nvSpPr>
        <p:spPr>
          <a:xfrm>
            <a:off x="617219" y="3299536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04"/>
          <p:cNvSpPr txBox="1"/>
          <p:nvPr/>
        </p:nvSpPr>
        <p:spPr>
          <a:xfrm>
            <a:off x="1293876" y="2375344"/>
            <a:ext cx="39639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S'améliorer en continu, au rythme des saisons.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Mesure systématique et transparente des progrès, à tous les niveaux.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équipes redevables de leurs améliorations ; succès et erreurs partagés.</a:t>
            </a:r>
            <a:endParaRPr/>
          </a:p>
        </p:txBody>
      </p:sp>
      <p:sp>
        <p:nvSpPr>
          <p:cNvPr id="1477" name="Google Shape;1477;p104"/>
          <p:cNvSpPr/>
          <p:nvPr/>
        </p:nvSpPr>
        <p:spPr>
          <a:xfrm>
            <a:off x="562356" y="3507105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104"/>
          <p:cNvSpPr txBox="1"/>
          <p:nvPr/>
        </p:nvSpPr>
        <p:spPr>
          <a:xfrm>
            <a:off x="562356" y="3507105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7.</a:t>
            </a:r>
            <a:endParaRPr/>
          </a:p>
        </p:txBody>
      </p:sp>
      <p:sp>
        <p:nvSpPr>
          <p:cNvPr id="1479" name="Google Shape;1479;p104"/>
          <p:cNvSpPr/>
          <p:nvPr/>
        </p:nvSpPr>
        <p:spPr>
          <a:xfrm>
            <a:off x="646480" y="3818001"/>
            <a:ext cx="14700" cy="4671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104"/>
          <p:cNvSpPr/>
          <p:nvPr/>
        </p:nvSpPr>
        <p:spPr>
          <a:xfrm>
            <a:off x="617219" y="4248416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04"/>
          <p:cNvSpPr txBox="1"/>
          <p:nvPr/>
        </p:nvSpPr>
        <p:spPr>
          <a:xfrm>
            <a:off x="1293876" y="3488817"/>
            <a:ext cx="39639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Nous rendre dispensables.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Transmettre pour que vos équipes portent et incarnent la transformation : la réussite se mesure au jour où elles tiennent le modèle sans nous.</a:t>
            </a:r>
            <a:endParaRPr/>
          </a:p>
        </p:txBody>
      </p:sp>
      <p:sp>
        <p:nvSpPr>
          <p:cNvPr id="1482" name="Google Shape;1482;p104"/>
          <p:cNvSpPr/>
          <p:nvPr/>
        </p:nvSpPr>
        <p:spPr>
          <a:xfrm>
            <a:off x="5577840" y="1143000"/>
            <a:ext cx="2788800" cy="2697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85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104"/>
          <p:cNvSpPr/>
          <p:nvPr/>
        </p:nvSpPr>
        <p:spPr>
          <a:xfrm>
            <a:off x="5687568" y="1307592"/>
            <a:ext cx="54900" cy="2368200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104"/>
          <p:cNvSpPr txBox="1"/>
          <p:nvPr/>
        </p:nvSpPr>
        <p:spPr>
          <a:xfrm>
            <a:off x="5888736" y="1344168"/>
            <a:ext cx="23133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NOTRE CONVICTION SUR L'AGENTIC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L'IA fait gagner du temps là où il est perdu, pas là où on décide.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Elle accélère le diagnostic, la qualification des demandes et la restitution : le temps de triage du RUN est rendu aux équipes, mesuré dès le T0, pas promis.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Une expertise OCTO qui complète notre démarche : jamais un prérequis, toujours après le gate de confidentialité.</a:t>
            </a:r>
            <a:endParaRPr/>
          </a:p>
        </p:txBody>
      </p:sp>
      <p:pic>
        <p:nvPicPr>
          <p:cNvPr descr="nightsky_0_libre_960x337.jpg" id="1485" name="Google Shape;148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4005072"/>
            <a:ext cx="2788800" cy="9783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05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NOS CONVICTIONS   ·   Ce que change l'infra as a product, concrètement — un exemple avant/après.</a:t>
            </a:r>
            <a:endParaRPr/>
          </a:p>
        </p:txBody>
      </p:sp>
      <p:sp>
        <p:nvSpPr>
          <p:cNvPr id="1491" name="Google Shape;1491;p105"/>
          <p:cNvSpPr/>
          <p:nvPr/>
        </p:nvSpPr>
        <p:spPr>
          <a:xfrm>
            <a:off x="562356" y="1069848"/>
            <a:ext cx="914400" cy="255900"/>
          </a:xfrm>
          <a:prstGeom prst="roundRect">
            <a:avLst>
              <a:gd fmla="val 50000" name="adj"/>
            </a:avLst>
          </a:prstGeom>
          <a:solidFill>
            <a:srgbClr val="5865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105"/>
          <p:cNvSpPr txBox="1"/>
          <p:nvPr/>
        </p:nvSpPr>
        <p:spPr>
          <a:xfrm>
            <a:off x="562356" y="1069848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AVANT</a:t>
            </a:r>
            <a:endParaRPr/>
          </a:p>
        </p:txBody>
      </p:sp>
      <p:sp>
        <p:nvSpPr>
          <p:cNvPr id="1493" name="Google Shape;1493;p105"/>
          <p:cNvSpPr/>
          <p:nvPr/>
        </p:nvSpPr>
        <p:spPr>
          <a:xfrm>
            <a:off x="4894326" y="1069848"/>
            <a:ext cx="2377500" cy="25590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105"/>
          <p:cNvSpPr txBox="1"/>
          <p:nvPr/>
        </p:nvSpPr>
        <p:spPr>
          <a:xfrm>
            <a:off x="4894326" y="1069848"/>
            <a:ext cx="237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APRÈS — infra as a product</a:t>
            </a:r>
            <a:endParaRPr/>
          </a:p>
        </p:txBody>
      </p:sp>
      <p:sp>
        <p:nvSpPr>
          <p:cNvPr id="1495" name="Google Shape;1495;p105"/>
          <p:cNvSpPr/>
          <p:nvPr/>
        </p:nvSpPr>
        <p:spPr>
          <a:xfrm>
            <a:off x="562356" y="1453895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105"/>
          <p:cNvSpPr/>
          <p:nvPr/>
        </p:nvSpPr>
        <p:spPr>
          <a:xfrm>
            <a:off x="4894326" y="1453895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105"/>
          <p:cNvSpPr txBox="1"/>
          <p:nvPr/>
        </p:nvSpPr>
        <p:spPr>
          <a:xfrm>
            <a:off x="690372" y="1453895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Guichet de tickets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personne n'est propriétaire du service.</a:t>
            </a:r>
            <a:endParaRPr/>
          </a:p>
        </p:txBody>
      </p:sp>
      <p:sp>
        <p:nvSpPr>
          <p:cNvPr id="1498" name="Google Shape;1498;p105"/>
          <p:cNvSpPr txBox="1"/>
          <p:nvPr/>
        </p:nvSpPr>
        <p:spPr>
          <a:xfrm>
            <a:off x="5022342" y="1453895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Un propriétaire produit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une roadmap, des indicateurs de pilotage.</a:t>
            </a:r>
            <a:endParaRPr/>
          </a:p>
        </p:txBody>
      </p:sp>
      <p:sp>
        <p:nvSpPr>
          <p:cNvPr id="1499" name="Google Shape;1499;p105"/>
          <p:cNvSpPr/>
          <p:nvPr/>
        </p:nvSpPr>
        <p:spPr>
          <a:xfrm>
            <a:off x="562356" y="1979802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105"/>
          <p:cNvSpPr/>
          <p:nvPr/>
        </p:nvSpPr>
        <p:spPr>
          <a:xfrm>
            <a:off x="4894326" y="1979802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105"/>
          <p:cNvSpPr txBox="1"/>
          <p:nvPr/>
        </p:nvSpPr>
        <p:spPr>
          <a:xfrm>
            <a:off x="690372" y="1979802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triage du RUN trop long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traité au fil de l'eau.</a:t>
            </a:r>
            <a:endParaRPr/>
          </a:p>
        </p:txBody>
      </p:sp>
      <p:sp>
        <p:nvSpPr>
          <p:cNvPr id="1502" name="Google Shape;1502;p105"/>
          <p:cNvSpPr txBox="1"/>
          <p:nvPr/>
        </p:nvSpPr>
        <p:spPr>
          <a:xfrm>
            <a:off x="5022342" y="1979802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Temps de triage du RUN réduit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capacité RUN récupérée.</a:t>
            </a:r>
            <a:endParaRPr/>
          </a:p>
        </p:txBody>
      </p:sp>
      <p:sp>
        <p:nvSpPr>
          <p:cNvPr id="1503" name="Google Shape;1503;p105"/>
          <p:cNvSpPr/>
          <p:nvPr/>
        </p:nvSpPr>
        <p:spPr>
          <a:xfrm>
            <a:off x="562356" y="2505710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105"/>
          <p:cNvSpPr/>
          <p:nvPr/>
        </p:nvSpPr>
        <p:spPr>
          <a:xfrm>
            <a:off x="4894326" y="2505710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105"/>
          <p:cNvSpPr txBox="1"/>
          <p:nvPr/>
        </p:nvSpPr>
        <p:spPr>
          <a:xfrm>
            <a:off x="690372" y="2505710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Backlog invisible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aucun indicateur de pilotage.</a:t>
            </a:r>
            <a:endParaRPr/>
          </a:p>
        </p:txBody>
      </p:sp>
      <p:sp>
        <p:nvSpPr>
          <p:cNvPr id="1506" name="Google Shape;1506;p105"/>
          <p:cNvSpPr txBox="1"/>
          <p:nvPr/>
        </p:nvSpPr>
        <p:spPr>
          <a:xfrm>
            <a:off x="5022342" y="2505710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Backlog visible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priorisé, mesuré dans le temps.</a:t>
            </a:r>
            <a:endParaRPr/>
          </a:p>
        </p:txBody>
      </p:sp>
      <p:sp>
        <p:nvSpPr>
          <p:cNvPr id="1507" name="Google Shape;1507;p105"/>
          <p:cNvSpPr/>
          <p:nvPr/>
        </p:nvSpPr>
        <p:spPr>
          <a:xfrm>
            <a:off x="562356" y="3031617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105"/>
          <p:cNvSpPr/>
          <p:nvPr/>
        </p:nvSpPr>
        <p:spPr>
          <a:xfrm>
            <a:off x="4894326" y="3031617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105"/>
          <p:cNvSpPr txBox="1"/>
          <p:nvPr/>
        </p:nvSpPr>
        <p:spPr>
          <a:xfrm>
            <a:off x="690372" y="3031617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Beaucoup de projets, peu d'indicateurs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du contrôle et du reporting partout.</a:t>
            </a:r>
            <a:endParaRPr/>
          </a:p>
        </p:txBody>
      </p:sp>
      <p:sp>
        <p:nvSpPr>
          <p:cNvPr id="1510" name="Google Shape;1510;p105"/>
          <p:cNvSpPr txBox="1"/>
          <p:nvPr/>
        </p:nvSpPr>
        <p:spPr>
          <a:xfrm>
            <a:off x="5022342" y="3031617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Process explicite, rôles définis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l'agent n'arrive qu'une fois le process écrit.</a:t>
            </a:r>
            <a:endParaRPr/>
          </a:p>
        </p:txBody>
      </p:sp>
      <p:sp>
        <p:nvSpPr>
          <p:cNvPr id="1511" name="Google Shape;1511;p105"/>
          <p:cNvSpPr/>
          <p:nvPr/>
        </p:nvSpPr>
        <p:spPr>
          <a:xfrm>
            <a:off x="562356" y="3557524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105"/>
          <p:cNvSpPr/>
          <p:nvPr/>
        </p:nvSpPr>
        <p:spPr>
          <a:xfrm>
            <a:off x="4894326" y="3557524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105"/>
          <p:cNvSpPr txBox="1"/>
          <p:nvPr/>
        </p:nvSpPr>
        <p:spPr>
          <a:xfrm>
            <a:off x="690372" y="3557524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 pilotage dans la douleur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trop de sujets pour trop peu de capacité.</a:t>
            </a:r>
            <a:endParaRPr/>
          </a:p>
        </p:txBody>
      </p:sp>
      <p:sp>
        <p:nvSpPr>
          <p:cNvPr id="1514" name="Google Shape;1514;p105"/>
          <p:cNvSpPr txBox="1"/>
          <p:nvPr/>
        </p:nvSpPr>
        <p:spPr>
          <a:xfrm>
            <a:off x="5022342" y="3557524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Des évolutions tech atteignables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un pilotage serein, des priorités tenues.</a:t>
            </a:r>
            <a:endParaRPr/>
          </a:p>
        </p:txBody>
      </p:sp>
      <p:sp>
        <p:nvSpPr>
          <p:cNvPr id="1515" name="Google Shape;1515;p105"/>
          <p:cNvSpPr/>
          <p:nvPr/>
        </p:nvSpPr>
        <p:spPr>
          <a:xfrm>
            <a:off x="4144518" y="1682495"/>
            <a:ext cx="640200" cy="209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285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105"/>
          <p:cNvSpPr/>
          <p:nvPr/>
        </p:nvSpPr>
        <p:spPr>
          <a:xfrm>
            <a:off x="562356" y="4337304"/>
            <a:ext cx="7804500" cy="646200"/>
          </a:xfrm>
          <a:prstGeom prst="roundRect">
            <a:avLst>
              <a:gd fmla="val 28301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105"/>
          <p:cNvSpPr/>
          <p:nvPr/>
        </p:nvSpPr>
        <p:spPr>
          <a:xfrm>
            <a:off x="626364" y="4428744"/>
            <a:ext cx="45600" cy="463200"/>
          </a:xfrm>
          <a:prstGeom prst="rect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105"/>
          <p:cNvSpPr txBox="1"/>
          <p:nvPr/>
        </p:nvSpPr>
        <p:spPr>
          <a:xfrm>
            <a:off x="726947" y="4355591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519" name="Google Shape;1519;p105"/>
          <p:cNvSpPr txBox="1"/>
          <p:nvPr/>
        </p:nvSpPr>
        <p:spPr>
          <a:xfrm>
            <a:off x="1074420" y="4337304"/>
            <a:ext cx="710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Faire les bonnes choses au bon moment, un backlog piloté, des résultats concrets — l'agentique accélère la démarche, il ne la remplace pas.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06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Les choix possibles</a:t>
            </a:r>
            <a:endParaRPr/>
          </a:p>
        </p:txBody>
      </p:sp>
      <p:sp>
        <p:nvSpPr>
          <p:cNvPr id="1525" name="Google Shape;1525;p106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01</a:t>
            </a:r>
            <a:endParaRPr b="1" sz="1700"/>
          </a:p>
        </p:txBody>
      </p:sp>
      <p:pic>
        <p:nvPicPr>
          <p:cNvPr id="1526" name="Google Shape;1526;p106"/>
          <p:cNvPicPr preferRelativeResize="0"/>
          <p:nvPr/>
        </p:nvPicPr>
        <p:blipFill rotWithShape="1">
          <a:blip r:embed="rId3">
            <a:alphaModFix/>
          </a:blip>
          <a:srcRect b="671" l="0" r="0" t="661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0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 différents niveaux</a:t>
            </a:r>
            <a:endParaRPr/>
          </a:p>
        </p:txBody>
      </p:sp>
      <p:sp>
        <p:nvSpPr>
          <p:cNvPr id="1532" name="Google Shape;1532;p107"/>
          <p:cNvSpPr txBox="1"/>
          <p:nvPr/>
        </p:nvSpPr>
        <p:spPr>
          <a:xfrm>
            <a:off x="562356" y="1051560"/>
            <a:ext cx="78045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Sponsor qualifié : DSI (direction des systèmes d'information) ou direction infrastructure, sur une ligne budgétaire transformation — jamais le budget RUN (exploitation courante).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La modernisation infra recule face à la cyber dans les priorités budgétaires 2026 (baromètre Abraxio) : l</a:t>
            </a:r>
            <a:r>
              <a:rPr b="0" i="0" lang="en-US" sz="800" u="none" cap="none" strike="noStrike">
                <a:solidFill>
                  <a:srgbClr val="586586"/>
                </a:solidFill>
                <a:highlight>
                  <a:srgbClr val="FFFF00"/>
                </a:highlight>
                <a:latin typeface="Outfit"/>
                <a:ea typeface="Outfit"/>
                <a:cs typeface="Outfit"/>
                <a:sym typeface="Outfit"/>
              </a:rPr>
              <a:t>e langage de vente est « récupérer de la capacité humaine rare », pas « moderniser l'infra ».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533" name="Google Shape;1533;p107"/>
          <p:cNvSpPr txBox="1"/>
          <p:nvPr/>
        </p:nvSpPr>
        <p:spPr>
          <a:xfrm>
            <a:off x="562356" y="1863216"/>
            <a:ext cx="30174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ACHAT ALTERNATIF</a:t>
            </a:r>
            <a:endParaRPr/>
          </a:p>
        </p:txBody>
      </p:sp>
      <p:sp>
        <p:nvSpPr>
          <p:cNvPr id="1534" name="Google Shape;1534;p107"/>
          <p:cNvSpPr txBox="1"/>
          <p:nvPr/>
        </p:nvSpPr>
        <p:spPr>
          <a:xfrm>
            <a:off x="3963924" y="1863216"/>
            <a:ext cx="4402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QUI LUI MANQUE — LA RÉPONSE IAP</a:t>
            </a:r>
            <a:endParaRPr/>
          </a:p>
        </p:txBody>
      </p:sp>
      <p:sp>
        <p:nvSpPr>
          <p:cNvPr id="1535" name="Google Shape;1535;p107"/>
          <p:cNvSpPr/>
          <p:nvPr/>
        </p:nvSpPr>
        <p:spPr>
          <a:xfrm>
            <a:off x="562356" y="2054225"/>
            <a:ext cx="3017400" cy="381900"/>
          </a:xfrm>
          <a:prstGeom prst="roundRect">
            <a:avLst>
              <a:gd fmla="val 47872" name="adj"/>
            </a:avLst>
          </a:prstGeom>
          <a:solidFill>
            <a:srgbClr val="FFFFFF"/>
          </a:solidFill>
          <a:ln cap="flat" cmpd="sng" w="139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07"/>
          <p:cNvSpPr txBox="1"/>
          <p:nvPr/>
        </p:nvSpPr>
        <p:spPr>
          <a:xfrm>
            <a:off x="681228" y="2054225"/>
            <a:ext cx="2779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Ne rien faire</a:t>
            </a:r>
            <a:r>
              <a:rPr b="0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Zéro coût apparent.</a:t>
            </a:r>
            <a:endParaRPr/>
          </a:p>
        </p:txBody>
      </p:sp>
      <p:sp>
        <p:nvSpPr>
          <p:cNvPr id="1537" name="Google Shape;1537;p107"/>
          <p:cNvSpPr/>
          <p:nvPr/>
        </p:nvSpPr>
        <p:spPr>
          <a:xfrm>
            <a:off x="3633642" y="2149729"/>
            <a:ext cx="276600" cy="191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107"/>
          <p:cNvSpPr/>
          <p:nvPr/>
        </p:nvSpPr>
        <p:spPr>
          <a:xfrm>
            <a:off x="3963924" y="2054225"/>
            <a:ext cx="4402800" cy="381900"/>
          </a:xfrm>
          <a:prstGeom prst="roundRect">
            <a:avLst>
              <a:gd fmla="val 47872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107"/>
          <p:cNvSpPr txBox="1"/>
          <p:nvPr/>
        </p:nvSpPr>
        <p:spPr>
          <a:xfrm>
            <a:off x="4082796" y="2148838"/>
            <a:ext cx="4165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Le coût du statu quo monte</a:t>
            </a:r>
            <a:r>
              <a:rPr b="0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— C'est lui que l'Assessment flash chiffre (déclencheur ①).</a:t>
            </a:r>
            <a:endParaRPr/>
          </a:p>
        </p:txBody>
      </p:sp>
      <p:sp>
        <p:nvSpPr>
          <p:cNvPr id="1540" name="Google Shape;1540;p107"/>
          <p:cNvSpPr/>
          <p:nvPr/>
        </p:nvSpPr>
        <p:spPr>
          <a:xfrm>
            <a:off x="562356" y="2500249"/>
            <a:ext cx="3017400" cy="509100"/>
          </a:xfrm>
          <a:prstGeom prst="roundRect">
            <a:avLst>
              <a:gd fmla="val 35928" name="adj"/>
            </a:avLst>
          </a:prstGeom>
          <a:solidFill>
            <a:srgbClr val="FFFFFF"/>
          </a:solidFill>
          <a:ln cap="flat" cmpd="sng" w="139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107"/>
          <p:cNvSpPr txBox="1"/>
          <p:nvPr/>
        </p:nvSpPr>
        <p:spPr>
          <a:xfrm>
            <a:off x="681228" y="2500249"/>
            <a:ext cx="277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FinOps outillé seul</a:t>
            </a:r>
            <a:r>
              <a:rPr b="0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Mesure le gaspillage : marché mature, gaspillage cloud estimé à 29 % (Flexera).</a:t>
            </a:r>
            <a:endParaRPr/>
          </a:p>
        </p:txBody>
      </p:sp>
      <p:sp>
        <p:nvSpPr>
          <p:cNvPr id="1542" name="Google Shape;1542;p107"/>
          <p:cNvSpPr/>
          <p:nvPr/>
        </p:nvSpPr>
        <p:spPr>
          <a:xfrm>
            <a:off x="3633642" y="2627503"/>
            <a:ext cx="276600" cy="2544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107"/>
          <p:cNvSpPr/>
          <p:nvPr/>
        </p:nvSpPr>
        <p:spPr>
          <a:xfrm>
            <a:off x="3963924" y="2500249"/>
            <a:ext cx="4402800" cy="509100"/>
          </a:xfrm>
          <a:prstGeom prst="roundRect">
            <a:avLst>
              <a:gd fmla="val 35928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107"/>
          <p:cNvSpPr txBox="1"/>
          <p:nvPr/>
        </p:nvSpPr>
        <p:spPr>
          <a:xfrm>
            <a:off x="4082796" y="2500249"/>
            <a:ext cx="416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Ni cible produit, ni réallocation</a:t>
            </a:r>
            <a:r>
              <a:rPr b="0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— IAP se place en aval : le chiffre devient une capacité produit gouvernée, pas seulement une économie.</a:t>
            </a:r>
            <a:endParaRPr/>
          </a:p>
        </p:txBody>
      </p:sp>
      <p:sp>
        <p:nvSpPr>
          <p:cNvPr id="1545" name="Google Shape;1545;p107"/>
          <p:cNvSpPr/>
          <p:nvPr/>
        </p:nvSpPr>
        <p:spPr>
          <a:xfrm>
            <a:off x="562356" y="3073273"/>
            <a:ext cx="3017400" cy="509100"/>
          </a:xfrm>
          <a:prstGeom prst="roundRect">
            <a:avLst>
              <a:gd fmla="val 35928" name="adj"/>
            </a:avLst>
          </a:prstGeom>
          <a:solidFill>
            <a:srgbClr val="FFFFFF"/>
          </a:solidFill>
          <a:ln cap="flat" cmpd="sng" w="139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107"/>
          <p:cNvSpPr txBox="1"/>
          <p:nvPr/>
        </p:nvSpPr>
        <p:spPr>
          <a:xfrm>
            <a:off x="681228" y="3073273"/>
            <a:ext cx="277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Platform engineering pur</a:t>
            </a:r>
            <a:r>
              <a:rPr b="0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La cible produit/plateforme, un modèle devenu standard.</a:t>
            </a:r>
            <a:endParaRPr/>
          </a:p>
        </p:txBody>
      </p:sp>
      <p:sp>
        <p:nvSpPr>
          <p:cNvPr id="1547" name="Google Shape;1547;p107"/>
          <p:cNvSpPr/>
          <p:nvPr/>
        </p:nvSpPr>
        <p:spPr>
          <a:xfrm>
            <a:off x="3633642" y="3200527"/>
            <a:ext cx="276600" cy="2544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107"/>
          <p:cNvSpPr/>
          <p:nvPr/>
        </p:nvSpPr>
        <p:spPr>
          <a:xfrm>
            <a:off x="3963924" y="3073273"/>
            <a:ext cx="4402800" cy="509100"/>
          </a:xfrm>
          <a:prstGeom prst="roundRect">
            <a:avLst>
              <a:gd fmla="val 35928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107"/>
          <p:cNvSpPr txBox="1"/>
          <p:nvPr/>
        </p:nvSpPr>
        <p:spPr>
          <a:xfrm>
            <a:off x="4082796" y="3073273"/>
            <a:ext cx="416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 cible sans le financement</a:t>
            </a:r>
            <a:r>
              <a:rPr b="0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— Reproduit l'écart 80/30 déjà posé au déclencheur ② : 80 % de platform teams en 2026, moins de 30 % de gains mesurables (Gartner).</a:t>
            </a:r>
            <a:endParaRPr/>
          </a:p>
        </p:txBody>
      </p:sp>
      <p:sp>
        <p:nvSpPr>
          <p:cNvPr id="1550" name="Google Shape;1550;p107"/>
          <p:cNvSpPr/>
          <p:nvPr/>
        </p:nvSpPr>
        <p:spPr>
          <a:xfrm>
            <a:off x="562356" y="3646297"/>
            <a:ext cx="3017400" cy="381900"/>
          </a:xfrm>
          <a:prstGeom prst="roundRect">
            <a:avLst>
              <a:gd fmla="val 47872" name="adj"/>
            </a:avLst>
          </a:prstGeom>
          <a:solidFill>
            <a:srgbClr val="FFFFFF"/>
          </a:solidFill>
          <a:ln cap="flat" cmpd="sng" w="139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07"/>
          <p:cNvSpPr txBox="1"/>
          <p:nvPr/>
        </p:nvSpPr>
        <p:spPr>
          <a:xfrm>
            <a:off x="681228" y="3646297"/>
            <a:ext cx="277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AIOps / agentic outillé</a:t>
            </a:r>
            <a:r>
              <a:rPr b="0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Time-to-value court (ServiceNow, Datadog).</a:t>
            </a:r>
            <a:endParaRPr/>
          </a:p>
        </p:txBody>
      </p:sp>
      <p:sp>
        <p:nvSpPr>
          <p:cNvPr id="1552" name="Google Shape;1552;p107"/>
          <p:cNvSpPr/>
          <p:nvPr/>
        </p:nvSpPr>
        <p:spPr>
          <a:xfrm>
            <a:off x="3633642" y="3741801"/>
            <a:ext cx="276600" cy="191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77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107"/>
          <p:cNvSpPr/>
          <p:nvPr/>
        </p:nvSpPr>
        <p:spPr>
          <a:xfrm>
            <a:off x="3963924" y="3646297"/>
            <a:ext cx="4402800" cy="381900"/>
          </a:xfrm>
          <a:prstGeom prst="roundRect">
            <a:avLst>
              <a:gd fmla="val 47872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107"/>
          <p:cNvSpPr txBox="1"/>
          <p:nvPr/>
        </p:nvSpPr>
        <p:spPr>
          <a:xfrm>
            <a:off x="4082796" y="3646297"/>
            <a:ext cx="416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Automatise le RUN sans transformer</a:t>
            </a:r>
            <a:r>
              <a:rPr b="0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— Plus de 40 % des projets agentic seront abandonnés d'ici 2027 (Gartner, juin 2025).</a:t>
            </a:r>
            <a:endParaRPr/>
          </a:p>
        </p:txBody>
      </p:sp>
      <p:sp>
        <p:nvSpPr>
          <p:cNvPr id="1555" name="Google Shape;1555;p107"/>
          <p:cNvSpPr/>
          <p:nvPr/>
        </p:nvSpPr>
        <p:spPr>
          <a:xfrm>
            <a:off x="562356" y="4192016"/>
            <a:ext cx="3810900" cy="791400"/>
          </a:xfrm>
          <a:prstGeom prst="roundRect">
            <a:avLst>
              <a:gd fmla="val 23106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107"/>
          <p:cNvSpPr txBox="1"/>
          <p:nvPr/>
        </p:nvSpPr>
        <p:spPr>
          <a:xfrm>
            <a:off x="690372" y="4301744"/>
            <a:ext cx="35547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QUE LES QUATRE ALTERNATIVES N'ONT PAS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« Infrastructure as a Product » existe ailleurs (Thoughtworks, Itential) ; nous gardons l'étiquette. Le différenciateur : produit + gaspillage + doctrine IA.</a:t>
            </a:r>
            <a:endParaRPr/>
          </a:p>
        </p:txBody>
      </p:sp>
      <p:sp>
        <p:nvSpPr>
          <p:cNvPr id="1557" name="Google Shape;1557;p107"/>
          <p:cNvSpPr/>
          <p:nvPr/>
        </p:nvSpPr>
        <p:spPr>
          <a:xfrm>
            <a:off x="4555998" y="4192016"/>
            <a:ext cx="3810900" cy="791400"/>
          </a:xfrm>
          <a:prstGeom prst="roundRect">
            <a:avLst>
              <a:gd fmla="val 23106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107"/>
          <p:cNvSpPr txBox="1"/>
          <p:nvPr/>
        </p:nvSpPr>
        <p:spPr>
          <a:xfrm>
            <a:off x="4684014" y="4301744"/>
            <a:ext cx="35547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LA RÉPONSE AU « JE NE VEUX QUE LA BAISSE DE COÛTS »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 Assessment flash d'entrée, puis la trajectoire — jamais l'assainissement seul. Sous pression IA : un cas d'usage public, « tout de suite, sous gate ».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08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08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 typologies de transfo</a:t>
            </a:r>
            <a:endParaRPr/>
          </a:p>
        </p:txBody>
      </p:sp>
      <p:sp>
        <p:nvSpPr>
          <p:cNvPr id="1565" name="Google Shape;1565;p108"/>
          <p:cNvSpPr txBox="1"/>
          <p:nvPr>
            <p:ph idx="1" type="body"/>
          </p:nvPr>
        </p:nvSpPr>
        <p:spPr>
          <a:xfrm>
            <a:off x="562825" y="1196277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๏"/>
            </a:pPr>
            <a:r>
              <a:rPr lang="en-US" sz="1300"/>
              <a:t>Transformation orientée</a:t>
            </a:r>
            <a:r>
              <a:rPr b="1" lang="en-US" sz="1300"/>
              <a:t> expérience</a:t>
            </a:r>
            <a:r>
              <a:rPr lang="en-US" sz="1300"/>
              <a:t> :  “Nos utilisateurs trouvent l’infra trop compliquée”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&gt;"/>
            </a:pPr>
            <a:r>
              <a:rPr lang="en-US"/>
              <a:t>exp des dev, self-service, golden paths, portail, documentation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๏"/>
            </a:pPr>
            <a:r>
              <a:rPr lang="en-US" sz="1300"/>
              <a:t>Transformation orientée </a:t>
            </a:r>
            <a:r>
              <a:rPr b="1" lang="en-US" sz="1300"/>
              <a:t>delivery</a:t>
            </a:r>
            <a:r>
              <a:rPr lang="en-US" sz="1300"/>
              <a:t> : “Nous sommes trop lents”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&gt;"/>
            </a:pPr>
            <a:r>
              <a:rPr lang="en-US"/>
              <a:t>automatisation, IaC, CI/CD, provisioning, standardisation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๏"/>
            </a:pPr>
            <a:r>
              <a:rPr lang="en-US" sz="1300"/>
              <a:t>Transformation orientée </a:t>
            </a:r>
            <a:r>
              <a:rPr b="1" lang="en-US" sz="1300"/>
              <a:t>organisation</a:t>
            </a:r>
            <a:r>
              <a:rPr lang="en-US" sz="1300"/>
              <a:t> : “Tout remonte à l’équipe Infra centrale”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&gt;"/>
            </a:pPr>
            <a:r>
              <a:rPr lang="en-US" sz="1300"/>
              <a:t>Team topo, ownership, plateforme, responsabilités, équipes produit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๏"/>
            </a:pPr>
            <a:r>
              <a:rPr lang="en-US" sz="1300"/>
              <a:t>Transformation orientée </a:t>
            </a:r>
            <a:r>
              <a:rPr b="1" lang="en-US" sz="1300"/>
              <a:t>valeur</a:t>
            </a:r>
            <a:r>
              <a:rPr lang="en-US" sz="1300"/>
              <a:t> : “Nous dépensons bcp mais nous ne savons pas ce que cela apporte”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&gt;"/>
            </a:pPr>
            <a:r>
              <a:rPr lang="en-US"/>
              <a:t>Product management, finops, value metrics, portefeuille, priorisation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๏"/>
            </a:pPr>
            <a:r>
              <a:rPr lang="en-US" sz="1300"/>
              <a:t>Transformation orientée </a:t>
            </a:r>
            <a:r>
              <a:rPr b="1" lang="en-US" sz="1300"/>
              <a:t>fiabilité </a:t>
            </a:r>
            <a:r>
              <a:rPr lang="en-US" sz="1300"/>
              <a:t>: “Nos systèmes sont trop fragiles”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&gt;"/>
            </a:pPr>
            <a:r>
              <a:rPr lang="en-US"/>
              <a:t>SRE, observalbilité, SLO, error budgets, automatisation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๏"/>
            </a:pPr>
            <a:r>
              <a:rPr lang="en-US" sz="1300"/>
              <a:t>Transformation orientée </a:t>
            </a:r>
            <a:r>
              <a:rPr b="1" lang="en-US" sz="1300"/>
              <a:t>stratégie</a:t>
            </a:r>
            <a:r>
              <a:rPr lang="en-US" sz="1300"/>
              <a:t> : “Nous voulons que l’infra devienne un levier stratégique”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&gt;"/>
            </a:pPr>
            <a:r>
              <a:rPr lang="en-US"/>
              <a:t>Operating model, plateforme, architecture, organisation, gouvernance, portefeuille produit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 même client </a:t>
            </a:r>
            <a:r>
              <a:rPr b="1" lang="en-US"/>
              <a:t>peut envisager plusieurs types de transformation</a:t>
            </a:r>
            <a:r>
              <a:rPr lang="en-US"/>
              <a:t> en parallèle, il revient au coach de déterminer</a:t>
            </a:r>
            <a:r>
              <a:rPr b="1" lang="en-US"/>
              <a:t> le point d’entrée pertinent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09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1571" name="Google Shape;1571;p109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Infra as a product, pourquoi ce choix ?</a:t>
            </a:r>
            <a:endParaRPr/>
          </a:p>
        </p:txBody>
      </p:sp>
      <p:pic>
        <p:nvPicPr>
          <p:cNvPr id="1572" name="Google Shape;1572;p109"/>
          <p:cNvPicPr preferRelativeResize="0"/>
          <p:nvPr/>
        </p:nvPicPr>
        <p:blipFill rotWithShape="1">
          <a:blip r:embed="rId3">
            <a:alphaModFix/>
          </a:blip>
          <a:srcRect b="661" l="2310" r="1850" t="671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fmla="val 0" name="adj1"/>
              <a:gd fmla="val 15980" name="adj2"/>
            </a:avLst>
          </a:prstGeom>
          <a:noFill/>
          <a:ln>
            <a:noFill/>
          </a:ln>
        </p:spPr>
      </p:pic>
      <p:sp>
        <p:nvSpPr>
          <p:cNvPr id="1573" name="Google Shape;1573;p109"/>
          <p:cNvSpPr txBox="1"/>
          <p:nvPr/>
        </p:nvSpPr>
        <p:spPr>
          <a:xfrm>
            <a:off x="4765475" y="1683900"/>
            <a:ext cx="96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sz="45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74" name="Google Shape;1574;p109"/>
          <p:cNvSpPr txBox="1"/>
          <p:nvPr/>
        </p:nvSpPr>
        <p:spPr>
          <a:xfrm>
            <a:off x="3382308" y="940105"/>
            <a:ext cx="319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Cha</a:t>
            </a:r>
            <a:r>
              <a:rPr b="1" lang="en-US" sz="45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pitre</a:t>
            </a:r>
            <a:r>
              <a:rPr b="1" lang="en-US" sz="4500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1" sz="4500">
              <a:solidFill>
                <a:srgbClr val="00D2D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10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10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Définition produit à ajouter </a:t>
            </a:r>
            <a:endParaRPr/>
          </a:p>
        </p:txBody>
      </p:sp>
      <p:sp>
        <p:nvSpPr>
          <p:cNvPr id="1581" name="Google Shape;1581;p110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Infra as a Product : c’est quoi 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11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Avant - Après</a:t>
            </a:r>
            <a:endParaRPr/>
          </a:p>
        </p:txBody>
      </p:sp>
      <p:sp>
        <p:nvSpPr>
          <p:cNvPr id="1587" name="Google Shape;1587;p111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Notre promesse</a:t>
            </a:r>
            <a:endParaRPr/>
          </a:p>
        </p:txBody>
      </p:sp>
      <p:sp>
        <p:nvSpPr>
          <p:cNvPr id="1588" name="Google Shape;1588;p111"/>
          <p:cNvSpPr/>
          <p:nvPr/>
        </p:nvSpPr>
        <p:spPr>
          <a:xfrm>
            <a:off x="562356" y="1069848"/>
            <a:ext cx="914400" cy="255900"/>
          </a:xfrm>
          <a:prstGeom prst="roundRect">
            <a:avLst>
              <a:gd fmla="val 50000" name="adj"/>
            </a:avLst>
          </a:prstGeom>
          <a:solidFill>
            <a:srgbClr val="5865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111"/>
          <p:cNvSpPr txBox="1"/>
          <p:nvPr/>
        </p:nvSpPr>
        <p:spPr>
          <a:xfrm>
            <a:off x="562356" y="1069848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AVANT</a:t>
            </a:r>
            <a:endParaRPr/>
          </a:p>
        </p:txBody>
      </p:sp>
      <p:sp>
        <p:nvSpPr>
          <p:cNvPr id="1590" name="Google Shape;1590;p111"/>
          <p:cNvSpPr/>
          <p:nvPr/>
        </p:nvSpPr>
        <p:spPr>
          <a:xfrm>
            <a:off x="4894326" y="1069848"/>
            <a:ext cx="2377500" cy="25590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11"/>
          <p:cNvSpPr txBox="1"/>
          <p:nvPr/>
        </p:nvSpPr>
        <p:spPr>
          <a:xfrm>
            <a:off x="4894326" y="1069848"/>
            <a:ext cx="237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APRÈS — infra as a product</a:t>
            </a:r>
            <a:endParaRPr/>
          </a:p>
        </p:txBody>
      </p:sp>
      <p:sp>
        <p:nvSpPr>
          <p:cNvPr id="1592" name="Google Shape;1592;p111"/>
          <p:cNvSpPr/>
          <p:nvPr/>
        </p:nvSpPr>
        <p:spPr>
          <a:xfrm>
            <a:off x="562356" y="1453895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111"/>
          <p:cNvSpPr/>
          <p:nvPr/>
        </p:nvSpPr>
        <p:spPr>
          <a:xfrm>
            <a:off x="4894326" y="1453895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111"/>
          <p:cNvSpPr txBox="1"/>
          <p:nvPr/>
        </p:nvSpPr>
        <p:spPr>
          <a:xfrm>
            <a:off x="690372" y="1453895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Guichet de tickets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personne n'est propriétaire du service.</a:t>
            </a:r>
            <a:endParaRPr/>
          </a:p>
        </p:txBody>
      </p:sp>
      <p:sp>
        <p:nvSpPr>
          <p:cNvPr id="1595" name="Google Shape;1595;p111"/>
          <p:cNvSpPr txBox="1"/>
          <p:nvPr/>
        </p:nvSpPr>
        <p:spPr>
          <a:xfrm>
            <a:off x="5022342" y="1453895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Un propriétaire produit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une roadmap, des indicateurs de pilotage.</a:t>
            </a:r>
            <a:endParaRPr/>
          </a:p>
        </p:txBody>
      </p:sp>
      <p:sp>
        <p:nvSpPr>
          <p:cNvPr id="1596" name="Google Shape;1596;p111"/>
          <p:cNvSpPr/>
          <p:nvPr/>
        </p:nvSpPr>
        <p:spPr>
          <a:xfrm>
            <a:off x="562356" y="1979802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111"/>
          <p:cNvSpPr/>
          <p:nvPr/>
        </p:nvSpPr>
        <p:spPr>
          <a:xfrm>
            <a:off x="4894326" y="1979802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111"/>
          <p:cNvSpPr txBox="1"/>
          <p:nvPr/>
        </p:nvSpPr>
        <p:spPr>
          <a:xfrm>
            <a:off x="690372" y="1979802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triage du RUN trop long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traité au fil de l'eau.</a:t>
            </a:r>
            <a:endParaRPr/>
          </a:p>
        </p:txBody>
      </p:sp>
      <p:sp>
        <p:nvSpPr>
          <p:cNvPr id="1599" name="Google Shape;1599;p111"/>
          <p:cNvSpPr txBox="1"/>
          <p:nvPr/>
        </p:nvSpPr>
        <p:spPr>
          <a:xfrm>
            <a:off x="5022342" y="1979802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Temps de triage du RUN réduit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capacité RUN récupérée.</a:t>
            </a:r>
            <a:endParaRPr/>
          </a:p>
        </p:txBody>
      </p:sp>
      <p:sp>
        <p:nvSpPr>
          <p:cNvPr id="1600" name="Google Shape;1600;p111"/>
          <p:cNvSpPr/>
          <p:nvPr/>
        </p:nvSpPr>
        <p:spPr>
          <a:xfrm>
            <a:off x="562356" y="2505710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111"/>
          <p:cNvSpPr/>
          <p:nvPr/>
        </p:nvSpPr>
        <p:spPr>
          <a:xfrm>
            <a:off x="4894326" y="2505710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111"/>
          <p:cNvSpPr txBox="1"/>
          <p:nvPr/>
        </p:nvSpPr>
        <p:spPr>
          <a:xfrm>
            <a:off x="690372" y="2505710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Backlog invisible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aucun indicateur de pilotage.</a:t>
            </a:r>
            <a:endParaRPr/>
          </a:p>
        </p:txBody>
      </p:sp>
      <p:sp>
        <p:nvSpPr>
          <p:cNvPr id="1603" name="Google Shape;1603;p111"/>
          <p:cNvSpPr txBox="1"/>
          <p:nvPr/>
        </p:nvSpPr>
        <p:spPr>
          <a:xfrm>
            <a:off x="5022342" y="2505710"/>
            <a:ext cx="3216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Backlog visible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priorisé, mesuré dans le temps.</a:t>
            </a:r>
            <a:endParaRPr/>
          </a:p>
        </p:txBody>
      </p:sp>
      <p:sp>
        <p:nvSpPr>
          <p:cNvPr id="1604" name="Google Shape;1604;p111"/>
          <p:cNvSpPr/>
          <p:nvPr/>
        </p:nvSpPr>
        <p:spPr>
          <a:xfrm>
            <a:off x="562356" y="3031617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111"/>
          <p:cNvSpPr/>
          <p:nvPr/>
        </p:nvSpPr>
        <p:spPr>
          <a:xfrm>
            <a:off x="4894326" y="3031617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111"/>
          <p:cNvSpPr txBox="1"/>
          <p:nvPr/>
        </p:nvSpPr>
        <p:spPr>
          <a:xfrm>
            <a:off x="690372" y="3031617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Beaucoup de projets, peu d'indicateurs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du contrôle et du reporting partout.</a:t>
            </a:r>
            <a:endParaRPr/>
          </a:p>
        </p:txBody>
      </p:sp>
      <p:sp>
        <p:nvSpPr>
          <p:cNvPr id="1607" name="Google Shape;1607;p111"/>
          <p:cNvSpPr txBox="1"/>
          <p:nvPr/>
        </p:nvSpPr>
        <p:spPr>
          <a:xfrm>
            <a:off x="5022342" y="3031617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Process explicite, rôles définis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l'agent n'arrive qu'une fois le process écrit.</a:t>
            </a:r>
            <a:endParaRPr/>
          </a:p>
        </p:txBody>
      </p:sp>
      <p:sp>
        <p:nvSpPr>
          <p:cNvPr id="1608" name="Google Shape;1608;p111"/>
          <p:cNvSpPr/>
          <p:nvPr/>
        </p:nvSpPr>
        <p:spPr>
          <a:xfrm>
            <a:off x="562356" y="3557524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111"/>
          <p:cNvSpPr/>
          <p:nvPr/>
        </p:nvSpPr>
        <p:spPr>
          <a:xfrm>
            <a:off x="4894326" y="3557524"/>
            <a:ext cx="3472500" cy="452700"/>
          </a:xfrm>
          <a:prstGeom prst="roundRect">
            <a:avLst>
              <a:gd fmla="val 40392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111"/>
          <p:cNvSpPr txBox="1"/>
          <p:nvPr/>
        </p:nvSpPr>
        <p:spPr>
          <a:xfrm>
            <a:off x="690372" y="3557524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—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 pilotage dans la douleur</a:t>
            </a: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trop de sujets pour trop peu de capacité.</a:t>
            </a:r>
            <a:endParaRPr/>
          </a:p>
        </p:txBody>
      </p:sp>
      <p:sp>
        <p:nvSpPr>
          <p:cNvPr id="1611" name="Google Shape;1611;p111"/>
          <p:cNvSpPr txBox="1"/>
          <p:nvPr/>
        </p:nvSpPr>
        <p:spPr>
          <a:xfrm>
            <a:off x="5022342" y="3557524"/>
            <a:ext cx="3216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Des évolutions tech atteignables</a:t>
            </a: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un pilotage serein, des priorités tenues.</a:t>
            </a:r>
            <a:endParaRPr/>
          </a:p>
        </p:txBody>
      </p:sp>
      <p:sp>
        <p:nvSpPr>
          <p:cNvPr id="1612" name="Google Shape;1612;p111"/>
          <p:cNvSpPr/>
          <p:nvPr/>
        </p:nvSpPr>
        <p:spPr>
          <a:xfrm>
            <a:off x="4144518" y="1682495"/>
            <a:ext cx="640200" cy="209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285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11"/>
          <p:cNvSpPr/>
          <p:nvPr/>
        </p:nvSpPr>
        <p:spPr>
          <a:xfrm>
            <a:off x="562356" y="4337304"/>
            <a:ext cx="7804500" cy="646200"/>
          </a:xfrm>
          <a:prstGeom prst="roundRect">
            <a:avLst>
              <a:gd fmla="val 28301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11"/>
          <p:cNvSpPr/>
          <p:nvPr/>
        </p:nvSpPr>
        <p:spPr>
          <a:xfrm>
            <a:off x="626364" y="4428744"/>
            <a:ext cx="45600" cy="463200"/>
          </a:xfrm>
          <a:prstGeom prst="rect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111"/>
          <p:cNvSpPr txBox="1"/>
          <p:nvPr/>
        </p:nvSpPr>
        <p:spPr>
          <a:xfrm>
            <a:off x="726947" y="4355591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616" name="Google Shape;1616;p111"/>
          <p:cNvSpPr txBox="1"/>
          <p:nvPr/>
        </p:nvSpPr>
        <p:spPr>
          <a:xfrm>
            <a:off x="1074420" y="4337304"/>
            <a:ext cx="710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Faire les bonnes choses au bon moment, un backlog piloté, des résultats concrets — l'agentique accélère la démarche, il ne la remplace pas.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12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5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CONTEXTE   ·   Pourquoi cette transformation, pour un client infra — et maintenant</a:t>
            </a:r>
            <a:endParaRPr/>
          </a:p>
        </p:txBody>
      </p:sp>
      <p:sp>
        <p:nvSpPr>
          <p:cNvPr id="1622" name="Google Shape;1622;p112"/>
          <p:cNvSpPr txBox="1"/>
          <p:nvPr/>
        </p:nvSpPr>
        <p:spPr>
          <a:xfrm>
            <a:off x="562356" y="1051560"/>
            <a:ext cx="780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Trois bascules rendent l'Infra-as-a-Product pertinente — et urgente — maintenant.</a:t>
            </a:r>
            <a:endParaRPr/>
          </a:p>
        </p:txBody>
      </p:sp>
      <p:sp>
        <p:nvSpPr>
          <p:cNvPr id="1623" name="Google Shape;1623;p112"/>
          <p:cNvSpPr/>
          <p:nvPr/>
        </p:nvSpPr>
        <p:spPr>
          <a:xfrm>
            <a:off x="562356" y="1618488"/>
            <a:ext cx="2479500" cy="1756800"/>
          </a:xfrm>
          <a:prstGeom prst="roundRect">
            <a:avLst>
              <a:gd fmla="val 10409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112"/>
          <p:cNvSpPr/>
          <p:nvPr/>
        </p:nvSpPr>
        <p:spPr>
          <a:xfrm>
            <a:off x="745236" y="1408176"/>
            <a:ext cx="420600" cy="420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112"/>
          <p:cNvSpPr txBox="1"/>
          <p:nvPr/>
        </p:nvSpPr>
        <p:spPr>
          <a:xfrm>
            <a:off x="745236" y="1408176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/>
          </a:p>
        </p:txBody>
      </p:sp>
      <p:sp>
        <p:nvSpPr>
          <p:cNvPr id="1626" name="Google Shape;1626;p112"/>
          <p:cNvSpPr txBox="1"/>
          <p:nvPr/>
        </p:nvSpPr>
        <p:spPr>
          <a:xfrm>
            <a:off x="745236" y="1956816"/>
            <a:ext cx="2113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L'infra subie n'est plus tenable</a:t>
            </a:r>
            <a:endParaRPr/>
          </a:p>
        </p:txBody>
      </p:sp>
      <p:sp>
        <p:nvSpPr>
          <p:cNvPr id="1627" name="Google Shape;1627;p112"/>
          <p:cNvSpPr txBox="1"/>
          <p:nvPr/>
        </p:nvSpPr>
        <p:spPr>
          <a:xfrm>
            <a:off x="745236" y="2404872"/>
            <a:ext cx="21138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7CBE0"/>
                </a:solidFill>
                <a:latin typeface="Outfit"/>
                <a:ea typeface="Outfit"/>
                <a:cs typeface="Outfit"/>
                <a:sym typeface="Outfit"/>
              </a:rPr>
              <a:t>RUN subi, experts seniors drainés sur du répétitif, gaspillage cloud non maîtrisé, plateforme contournée : le coût du statu quo ne cesse de monter.</a:t>
            </a:r>
            <a:endParaRPr/>
          </a:p>
        </p:txBody>
      </p:sp>
      <p:sp>
        <p:nvSpPr>
          <p:cNvPr id="1628" name="Google Shape;1628;p112"/>
          <p:cNvSpPr/>
          <p:nvPr/>
        </p:nvSpPr>
        <p:spPr>
          <a:xfrm>
            <a:off x="3224783" y="1618488"/>
            <a:ext cx="2479500" cy="1756800"/>
          </a:xfrm>
          <a:prstGeom prst="roundRect">
            <a:avLst>
              <a:gd fmla="val 10409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112"/>
          <p:cNvSpPr/>
          <p:nvPr/>
        </p:nvSpPr>
        <p:spPr>
          <a:xfrm>
            <a:off x="3407664" y="1408176"/>
            <a:ext cx="420600" cy="42060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112"/>
          <p:cNvSpPr txBox="1"/>
          <p:nvPr/>
        </p:nvSpPr>
        <p:spPr>
          <a:xfrm>
            <a:off x="3407664" y="1408176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/>
          </a:p>
        </p:txBody>
      </p:sp>
      <p:sp>
        <p:nvSpPr>
          <p:cNvPr id="1631" name="Google Shape;1631;p112"/>
          <p:cNvSpPr txBox="1"/>
          <p:nvPr/>
        </p:nvSpPr>
        <p:spPr>
          <a:xfrm>
            <a:off x="3407664" y="1956816"/>
            <a:ext cx="2113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modèle produit/plateforme est prouvé</a:t>
            </a:r>
            <a:endParaRPr/>
          </a:p>
        </p:txBody>
      </p:sp>
      <p:sp>
        <p:nvSpPr>
          <p:cNvPr id="1632" name="Google Shape;1632;p112"/>
          <p:cNvSpPr txBox="1"/>
          <p:nvPr/>
        </p:nvSpPr>
        <p:spPr>
          <a:xfrm>
            <a:off x="3407664" y="2404872"/>
            <a:ext cx="21138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Devenu un standard — mais Gartner : 80 % de grandes organisations avec platform team en 2026, moins de 30 % de gains mesurables. C'est cet écart qu'Assainir adresse.</a:t>
            </a:r>
            <a:endParaRPr/>
          </a:p>
        </p:txBody>
      </p:sp>
      <p:sp>
        <p:nvSpPr>
          <p:cNvPr id="1633" name="Google Shape;1633;p112"/>
          <p:cNvSpPr/>
          <p:nvPr/>
        </p:nvSpPr>
        <p:spPr>
          <a:xfrm>
            <a:off x="5887212" y="1618488"/>
            <a:ext cx="2479500" cy="1756800"/>
          </a:xfrm>
          <a:prstGeom prst="roundRect">
            <a:avLst>
              <a:gd fmla="val 10409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112"/>
          <p:cNvSpPr/>
          <p:nvPr/>
        </p:nvSpPr>
        <p:spPr>
          <a:xfrm>
            <a:off x="6070092" y="1408176"/>
            <a:ext cx="420600" cy="42060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112"/>
          <p:cNvSpPr txBox="1"/>
          <p:nvPr/>
        </p:nvSpPr>
        <p:spPr>
          <a:xfrm>
            <a:off x="6070092" y="1408176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/>
          </a:p>
        </p:txBody>
      </p:sp>
      <p:sp>
        <p:nvSpPr>
          <p:cNvPr id="1636" name="Google Shape;1636;p112"/>
          <p:cNvSpPr txBox="1"/>
          <p:nvPr/>
        </p:nvSpPr>
        <p:spPr>
          <a:xfrm>
            <a:off x="6070092" y="1956816"/>
            <a:ext cx="2113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L'IA rebat les cartes — l'organisation d'abord</a:t>
            </a:r>
            <a:endParaRPr/>
          </a:p>
        </p:txBody>
      </p:sp>
      <p:sp>
        <p:nvSpPr>
          <p:cNvPr id="1637" name="Google Shape;1637;p112"/>
          <p:cNvSpPr txBox="1"/>
          <p:nvPr/>
        </p:nvSpPr>
        <p:spPr>
          <a:xfrm>
            <a:off x="6070092" y="2404872"/>
            <a:ext cx="21138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L'IA amplifie une organisation mûre, jamais l'inverse. S'y préparer maintenant (doctrine confidentialité-first) évite de la subir plus tard.</a:t>
            </a:r>
            <a:endParaRPr/>
          </a:p>
        </p:txBody>
      </p:sp>
      <p:sp>
        <p:nvSpPr>
          <p:cNvPr id="1638" name="Google Shape;1638;p112"/>
          <p:cNvSpPr txBox="1"/>
          <p:nvPr/>
        </p:nvSpPr>
        <p:spPr>
          <a:xfrm>
            <a:off x="562356" y="3631311"/>
            <a:ext cx="780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ET SURTOUT — NOS DEUX MISSIONS RÉPONDENT TRAIT POUR TRAIT AUX DEUX DOULEURS DU CLIENT</a:t>
            </a:r>
            <a:endParaRPr/>
          </a:p>
        </p:txBody>
      </p:sp>
      <p:sp>
        <p:nvSpPr>
          <p:cNvPr id="1639" name="Google Shape;1639;p112"/>
          <p:cNvSpPr/>
          <p:nvPr/>
        </p:nvSpPr>
        <p:spPr>
          <a:xfrm>
            <a:off x="562356" y="3887343"/>
            <a:ext cx="1234500" cy="60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112"/>
          <p:cNvSpPr txBox="1"/>
          <p:nvPr/>
        </p:nvSpPr>
        <p:spPr>
          <a:xfrm>
            <a:off x="562356" y="3887343"/>
            <a:ext cx="123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Subir le RUN</a:t>
            </a:r>
            <a:endParaRPr/>
          </a:p>
        </p:txBody>
      </p:sp>
      <p:sp>
        <p:nvSpPr>
          <p:cNvPr id="1641" name="Google Shape;1641;p112"/>
          <p:cNvSpPr/>
          <p:nvPr/>
        </p:nvSpPr>
        <p:spPr>
          <a:xfrm>
            <a:off x="1851660" y="4042791"/>
            <a:ext cx="219600" cy="2925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112"/>
          <p:cNvSpPr/>
          <p:nvPr/>
        </p:nvSpPr>
        <p:spPr>
          <a:xfrm>
            <a:off x="2125980" y="3887343"/>
            <a:ext cx="2247000" cy="60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112"/>
          <p:cNvSpPr txBox="1"/>
          <p:nvPr/>
        </p:nvSpPr>
        <p:spPr>
          <a:xfrm>
            <a:off x="2308860" y="3887343"/>
            <a:ext cx="1972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TRANSFORMER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cible produit/plateforme</a:t>
            </a:r>
            <a:endParaRPr/>
          </a:p>
        </p:txBody>
      </p:sp>
      <p:sp>
        <p:nvSpPr>
          <p:cNvPr id="1644" name="Google Shape;1644;p112"/>
          <p:cNvSpPr/>
          <p:nvPr/>
        </p:nvSpPr>
        <p:spPr>
          <a:xfrm>
            <a:off x="4555998" y="3887343"/>
            <a:ext cx="1234500" cy="60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112"/>
          <p:cNvSpPr txBox="1"/>
          <p:nvPr/>
        </p:nvSpPr>
        <p:spPr>
          <a:xfrm>
            <a:off x="4555998" y="3887343"/>
            <a:ext cx="123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gaspillage</a:t>
            </a:r>
            <a:endParaRPr/>
          </a:p>
        </p:txBody>
      </p:sp>
      <p:sp>
        <p:nvSpPr>
          <p:cNvPr id="1646" name="Google Shape;1646;p112"/>
          <p:cNvSpPr/>
          <p:nvPr/>
        </p:nvSpPr>
        <p:spPr>
          <a:xfrm>
            <a:off x="5845302" y="4042791"/>
            <a:ext cx="219600" cy="2925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112"/>
          <p:cNvSpPr/>
          <p:nvPr/>
        </p:nvSpPr>
        <p:spPr>
          <a:xfrm>
            <a:off x="6119622" y="3887343"/>
            <a:ext cx="2247000" cy="60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112"/>
          <p:cNvSpPr txBox="1"/>
          <p:nvPr/>
        </p:nvSpPr>
        <p:spPr>
          <a:xfrm>
            <a:off x="6302502" y="3887343"/>
            <a:ext cx="1972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ASSAINIR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capacité récupérée à réinvestir — sous réserve d'une réallocation côté client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13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13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pourquoi maintenant ?</a:t>
            </a:r>
            <a:endParaRPr/>
          </a:p>
        </p:txBody>
      </p:sp>
      <p:sp>
        <p:nvSpPr>
          <p:cNvPr id="1655" name="Google Shape;1655;p113"/>
          <p:cNvSpPr txBox="1"/>
          <p:nvPr/>
        </p:nvSpPr>
        <p:spPr>
          <a:xfrm>
            <a:off x="593200" y="1396625"/>
            <a:ext cx="792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</a:pPr>
            <a:r>
              <a:rPr lang="en-US">
                <a:latin typeface="Outfit"/>
                <a:ea typeface="Outfit"/>
                <a:cs typeface="Outfit"/>
                <a:sym typeface="Outfit"/>
              </a:rPr>
              <a:t>L’IA offres des opportunités : faciliter le tri et la catégorisation des demandes, explorer le parc plus facilement, faciliter la mise en oeuvre du catalogue de service, la documentation rapide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14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Démarche globale</a:t>
            </a:r>
            <a:endParaRPr/>
          </a:p>
        </p:txBody>
      </p:sp>
      <p:sp>
        <p:nvSpPr>
          <p:cNvPr id="1661" name="Google Shape;1661;p114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01</a:t>
            </a:r>
            <a:endParaRPr b="1" sz="1700"/>
          </a:p>
        </p:txBody>
      </p:sp>
      <p:pic>
        <p:nvPicPr>
          <p:cNvPr id="1662" name="Google Shape;1662;p114"/>
          <p:cNvPicPr preferRelativeResize="0"/>
          <p:nvPr/>
        </p:nvPicPr>
        <p:blipFill rotWithShape="1">
          <a:blip r:embed="rId3">
            <a:alphaModFix/>
          </a:blip>
          <a:srcRect b="671" l="0" r="0" t="661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15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/>
              <a:t>Explorer et </a:t>
            </a:r>
            <a:r>
              <a:rPr lang="en-US"/>
              <a:t>diagnostiquer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t/>
            </a:r>
            <a:endParaRPr/>
          </a:p>
        </p:txBody>
      </p:sp>
      <p:sp>
        <p:nvSpPr>
          <p:cNvPr id="1668" name="Google Shape;1668;p115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étapes, activités clés, livrables</a:t>
            </a:r>
            <a:endParaRPr/>
          </a:p>
        </p:txBody>
      </p:sp>
      <p:sp>
        <p:nvSpPr>
          <p:cNvPr id="1669" name="Google Shape;1669;p115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Démarche globale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16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16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16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L’utilisation de l’IA dans la démarche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17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117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11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 planning estimé - Timeline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18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Démarche détaillée</a:t>
            </a:r>
            <a:endParaRPr/>
          </a:p>
        </p:txBody>
      </p:sp>
      <p:sp>
        <p:nvSpPr>
          <p:cNvPr id="1689" name="Google Shape;1689;p118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01</a:t>
            </a:r>
            <a:endParaRPr b="1" sz="1700"/>
          </a:p>
        </p:txBody>
      </p:sp>
      <p:pic>
        <p:nvPicPr>
          <p:cNvPr id="1690" name="Google Shape;1690;p118"/>
          <p:cNvPicPr preferRelativeResize="0"/>
          <p:nvPr/>
        </p:nvPicPr>
        <p:blipFill rotWithShape="1">
          <a:blip r:embed="rId3">
            <a:alphaModFix/>
          </a:blip>
          <a:srcRect b="671" l="0" r="0" t="661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19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19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étapes, activités clés, livrables</a:t>
            </a:r>
            <a:endParaRPr/>
          </a:p>
        </p:txBody>
      </p:sp>
      <p:sp>
        <p:nvSpPr>
          <p:cNvPr id="1697" name="Google Shape;1697;p119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activités, livrables, pré-requis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20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 dispositif</a:t>
            </a:r>
            <a:endParaRPr/>
          </a:p>
        </p:txBody>
      </p:sp>
      <p:sp>
        <p:nvSpPr>
          <p:cNvPr id="1703" name="Google Shape;1703;p120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01</a:t>
            </a:r>
            <a:endParaRPr b="1" sz="1700"/>
          </a:p>
        </p:txBody>
      </p:sp>
      <p:pic>
        <p:nvPicPr>
          <p:cNvPr id="1704" name="Google Shape;1704;p120"/>
          <p:cNvPicPr preferRelativeResize="0"/>
          <p:nvPr/>
        </p:nvPicPr>
        <p:blipFill rotWithShape="1">
          <a:blip r:embed="rId3">
            <a:alphaModFix/>
          </a:blip>
          <a:srcRect b="671" l="0" r="0" t="661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21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 prix</a:t>
            </a:r>
            <a:endParaRPr/>
          </a:p>
        </p:txBody>
      </p:sp>
      <p:sp>
        <p:nvSpPr>
          <p:cNvPr id="1710" name="Google Shape;1710;p121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01</a:t>
            </a:r>
            <a:endParaRPr b="1" sz="1700"/>
          </a:p>
        </p:txBody>
      </p:sp>
      <p:pic>
        <p:nvPicPr>
          <p:cNvPr id="1711" name="Google Shape;1711;p121"/>
          <p:cNvPicPr preferRelativeResize="0"/>
          <p:nvPr/>
        </p:nvPicPr>
        <p:blipFill rotWithShape="1">
          <a:blip r:embed="rId3">
            <a:alphaModFix/>
          </a:blip>
          <a:srcRect b="671" l="0" r="0" t="661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  <p:sp>
        <p:nvSpPr>
          <p:cNvPr id="1712" name="Google Shape;1712;p121"/>
          <p:cNvSpPr txBox="1"/>
          <p:nvPr/>
        </p:nvSpPr>
        <p:spPr>
          <a:xfrm>
            <a:off x="0" y="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Offre Infra as a Product</a:t>
            </a:r>
            <a:endParaRPr sz="1300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122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P&amp;D :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CLOUD : BTO, CGI, DACQ, JTE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FORUM :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&gt;"/>
            </a:pPr>
            <a:r>
              <a:rPr lang="en-US"/>
              <a:t>ALFO, BENI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&gt;"/>
            </a:pPr>
            <a:r>
              <a:rPr lang="en-US"/>
              <a:t>j’ai réfléchi à ton sujet et j’ai pensé à ça ⇔se baser sur une propale existante ou tester (en sous-partie par exemple) via une réponse à une demande client qui n’est pas encore répondue en AVV par exemple (!! dimension comment packager ?) ; avoir des slides qui peuvent être intégrées directement dans des propales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r>
              <a:rPr lang="en-US"/>
              <a:t>CDR</a:t>
            </a:r>
            <a:endParaRPr/>
          </a:p>
        </p:txBody>
      </p:sp>
      <p:sp>
        <p:nvSpPr>
          <p:cNvPr id="1718" name="Google Shape;1718;p122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Personnes à contacter pour baffer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23"/>
          <p:cNvSpPr/>
          <p:nvPr/>
        </p:nvSpPr>
        <p:spPr>
          <a:xfrm rot="5400000">
            <a:off x="433800" y="891525"/>
            <a:ext cx="1517400" cy="1517400"/>
          </a:xfrm>
          <a:prstGeom prst="teardrop">
            <a:avLst>
              <a:gd fmla="val 100000" name="adj"/>
            </a:avLst>
          </a:prstGeom>
          <a:solidFill>
            <a:schemeClr val="dk1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123"/>
          <p:cNvSpPr txBox="1"/>
          <p:nvPr/>
        </p:nvSpPr>
        <p:spPr>
          <a:xfrm>
            <a:off x="597475" y="1109275"/>
            <a:ext cx="11901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L’équipe</a:t>
            </a:r>
            <a:endParaRPr b="1" i="0" sz="22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5" name="Google Shape;1725;p123"/>
          <p:cNvSpPr/>
          <p:nvPr/>
        </p:nvSpPr>
        <p:spPr>
          <a:xfrm>
            <a:off x="5464500" y="4105055"/>
            <a:ext cx="18306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Gaëlle MILOCHEVITCH</a:t>
            </a:r>
            <a:endParaRPr b="1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MILE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6" name="Google Shape;1726;p123"/>
          <p:cNvSpPr/>
          <p:nvPr/>
        </p:nvSpPr>
        <p:spPr>
          <a:xfrm>
            <a:off x="3141300" y="1795725"/>
            <a:ext cx="17244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Claude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CAMUS 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CACL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7" name="Google Shape;1727;p123"/>
          <p:cNvSpPr/>
          <p:nvPr/>
        </p:nvSpPr>
        <p:spPr>
          <a:xfrm>
            <a:off x="5290563" y="1795725"/>
            <a:ext cx="19773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Lan LEVY 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LLE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8" name="Google Shape;1728;p123"/>
          <p:cNvSpPr/>
          <p:nvPr/>
        </p:nvSpPr>
        <p:spPr>
          <a:xfrm>
            <a:off x="3141300" y="4111505"/>
            <a:ext cx="19113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Cédric CHEVALÉRIAS</a:t>
            </a:r>
            <a:endParaRPr b="1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CECH</a:t>
            </a:r>
            <a:endParaRPr b="1" i="0" sz="12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29" name="Google Shape;1729;p123" title="Capture d’écran 2026-08-12 à 11.39.4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363" y="2624891"/>
            <a:ext cx="1437175" cy="1337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123" title="Capture d’écran 2026-08-12 à 11.40.3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1213" y="2624904"/>
            <a:ext cx="1437175" cy="132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1" name="Google Shape;1731;p123"/>
          <p:cNvPicPr preferRelativeResize="0"/>
          <p:nvPr/>
        </p:nvPicPr>
        <p:blipFill rotWithShape="1">
          <a:blip r:embed="rId5">
            <a:alphaModFix/>
          </a:blip>
          <a:srcRect b="820" l="400" r="-400" t="-820"/>
          <a:stretch/>
        </p:blipFill>
        <p:spPr>
          <a:xfrm>
            <a:off x="3522749" y="2677200"/>
            <a:ext cx="1196626" cy="11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0E2356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