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6"/>
    <p:sldMasterId id="2147483739" r:id="rId7"/>
  </p:sldMasterIdLst>
  <p:notesMasterIdLst>
    <p:notesMasterId r:id="rId8"/>
  </p:notesMasterIdLst>
  <p:sldIdLst>
    <p:sldId id="256" r:id="rId9"/>
    <p:sldId id="293" r:id="rId58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6" r:id="rId19"/>
    <p:sldId id="267" r:id="rId20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7" r:id="rId30"/>
    <p:sldId id="278" r:id="rId31"/>
    <p:sldId id="279" r:id="rId32"/>
    <p:sldId id="280" r:id="rId33"/>
    <p:sldId id="281" r:id="rId34"/>
    <p:sldId id="282" r:id="rId35"/>
    <p:sldId id="292" r:id="rId57"/>
    <p:sldId id="291" r:id="rId56"/>
    <p:sldId id="290" r:id="rId55"/>
    <p:sldId id="283" r:id="rId36"/>
    <p:sldId id="288" r:id="rId53"/>
    <p:sldId id="284" r:id="rId37"/>
    <p:sldId id="289" r:id="rId54"/>
    <p:sldId id="286" r:id="rId39"/>
    <p:sldId id="287" r:id="rId40"/>
  </p:sldIdLst>
  <p:sldSz cy="5143500" cx="9144000"/>
  <p:notesSz cx="6858000" cy="9144000"/>
  <p:embeddedFontLst>
    <p:embeddedFont>
      <p:font typeface="Outfit Light"/>
      <p:regular r:id="rId41"/>
      <p:bold r:id="rId42"/>
    </p:embeddedFont>
    <p:embeddedFont>
      <p:font typeface="Outfit"/>
      <p:regular r:id="rId43"/>
      <p:bold r:id="rId44"/>
    </p:embeddedFont>
    <p:embeddedFont>
      <p:font typeface="Outfit SemiBold"/>
      <p:regular r:id="rId45"/>
      <p:bold r:id="rId46"/>
    </p:embeddedFont>
    <p:embeddedFont>
      <p:font typeface="Outfit Medium"/>
      <p:regular r:id="rId47"/>
      <p:bold r:id="rId48"/>
    </p:embeddedFont>
    <p:embeddedFont>
      <p:font typeface="Century Gothic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edric Chevaleri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F0FF75-54D8-41D8-AE5D-ABBCEC0B821A}">
  <a:tblStyle styleId="{F2F0FF75-54D8-41D8-AE5D-ABBCEC0B82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A048815-846B-4994-9E09-B67923FC3A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font" Target="fonts/OutfitLight-regular.fntdata"/><Relationship Id="rId42" Type="http://schemas.openxmlformats.org/officeDocument/2006/relationships/font" Target="fonts/OutfitLight-bold.fntdata"/><Relationship Id="rId43" Type="http://schemas.openxmlformats.org/officeDocument/2006/relationships/font" Target="fonts/Outfit-regular.fntdata"/><Relationship Id="rId44" Type="http://schemas.openxmlformats.org/officeDocument/2006/relationships/font" Target="fonts/Outfit-bold.fntdata"/><Relationship Id="rId45" Type="http://schemas.openxmlformats.org/officeDocument/2006/relationships/font" Target="fonts/OutfitSemiBold-regular.fntdata"/><Relationship Id="rId46" Type="http://schemas.openxmlformats.org/officeDocument/2006/relationships/font" Target="fonts/OutfitSemiBold-bold.fntdata"/><Relationship Id="rId47" Type="http://schemas.openxmlformats.org/officeDocument/2006/relationships/font" Target="fonts/OutfitMedium-regular.fntdata"/><Relationship Id="rId48" Type="http://schemas.openxmlformats.org/officeDocument/2006/relationships/font" Target="fonts/OutfitMedium-bold.fntdata"/><Relationship Id="rId49" Type="http://schemas.openxmlformats.org/officeDocument/2006/relationships/font" Target="fonts/CenturyGothic-regular.fntdata"/><Relationship Id="rId50" Type="http://schemas.openxmlformats.org/officeDocument/2006/relationships/font" Target="fonts/CenturyGothic-bold.fntdata"/><Relationship Id="rId51" Type="http://schemas.openxmlformats.org/officeDocument/2006/relationships/font" Target="fonts/CenturyGothic-italic.fntdata"/><Relationship Id="rId52" Type="http://schemas.openxmlformats.org/officeDocument/2006/relationships/font" Target="fonts/CenturyGothic-boldItalic.fntdata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36.xml"/><Relationship Id="rId57" Type="http://schemas.openxmlformats.org/officeDocument/2006/relationships/slide" Target="slides/slide37.xml"/><Relationship Id="rId58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667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667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667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ac55f3490c_0_8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g2ac55f3490c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ac55f3490c_0_9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g2ac55f3490c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ac55f3490c_0_9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5" name="Google Shape;1365;g2ac55f3490c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h45db42fdfc2099ef_1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h45db42fdfc2099e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h45db42fdfc2099ef_3_215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h45db42fdfc2099ef_3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Outfit"/>
                <a:ea typeface="Outfit"/>
                <a:cs typeface="Outfit"/>
                <a:sym typeface="Outfit"/>
              </a:rPr>
              <a:t>@MILE : compléter avec des verbatims de DP</a:t>
            </a:r>
            <a:endParaRPr sz="1100"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h45db42fdfc2099ef_1_10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h45db42fdfc2099ef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h45db42fdfc2099e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h45db42fdfc2099ef_4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h45db42fdfc2099ef_1_8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h45db42fdfc2099ef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h45db42fdfc2099ef_4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h45db42fdfc2099ef_4_5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45db42fdfc2099ef_4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h45db42fdfc2099ef_4_6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h45db42fdfc2099ef_1_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2" name="Google Shape;1522;h45db42fdfc2099ef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h45db42fdfc2099ef_1_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h45db42fdfc2099e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h45db42fdfc2099ef_1_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h45db42fdfc2099e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da166e3558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da166e355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h45db42fdfc2099ef_3_27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h45db42fdfc2099ef_3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h45db42fdfc2099ef_1_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h45db42fdfc2099e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h45db42fdfc2099ef_3_2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h45db42fdfc2099ef_3_218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h45db42fdfc2099ef_1_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h45db42fdfc2099e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h45db42fdfc2099ef_1_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h45db42fdfc2099ef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h45db42fdfc2099ef_1_9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h45db42fdfc2099ef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h45db42fdfc2099ef_1_7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h45db42fdfc2099ef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h45db42fdfc2099ef_1_5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6" name="Google Shape;1686;h45db42fdfc2099e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h45db42fdfc2099ef_1_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h45db42fdfc2099ef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h45db42fdfc2099ef_1_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0" name="Google Shape;1700;h45db42fdfc2099ef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h45db42fdfc2099ef_1_8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7" name="Google Shape;1707;h45db42fdfc2099e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h45db42fdfc2099ef_3_1363:notes"/>
          <p:cNvSpPr txBox="1"/>
          <p:nvPr>
            <p:ph idx="1" type="body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Personnes à contacter :</a:t>
            </a:r>
          </a:p>
          <a:p>
            <a:r>
              <a:t>P&amp;D : </a:t>
            </a:r>
          </a:p>
          <a:p>
            <a:r>
              <a:t>CLOUD : BTO, CGI, DACQ, JTE</a:t>
            </a:r>
          </a:p>
          <a:p>
            <a:r>
              <a:t>FORUM : </a:t>
            </a:r>
          </a:p>
          <a:p>
            <a:r>
              <a:t>ALFO, BENI</a:t>
            </a:r>
          </a:p>
          <a:p>
            <a:r>
              <a:t>j’ai réfléchi à ton sujet et j’ai pensé à ça ⇔se baser sur une propale existante ou tester (en sous-partie par exemple) via une réponse à une demande client qui n’est pas encore répondue en AVV par exemple (!! dimension comment packager ?) ; avoir des slides qui peuvent être intégrées directement dans des propales </a:t>
            </a:r>
          </a:p>
          <a:p>
            <a:r>
              <a:t>CDR</a:t>
            </a:r>
          </a:p>
        </p:txBody>
      </p:sp>
      <p:sp>
        <p:nvSpPr>
          <p:cNvPr id="1721" name="Google Shape;1721;h45db42fdfc2099ef_3_1363:notes"/>
          <p:cNvSpPr/>
          <p:nvPr>
            <p:ph idx="2" type="sldImg"/>
          </p:nvPr>
        </p:nvSpPr>
        <p:spPr>
          <a:xfrm>
            <a:off x="336550" y="1093788"/>
            <a:ext cx="6184800" cy="3478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ac55f3490c_0_9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4" name="Google Shape;1734;g2ac55f3490c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subTitle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Slide vide fond foncé" showMasterSp="0">
  <p:cSld name="07 - Slide vide fond foncé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338" l="0" r="0" t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" name="Google Shape;117;p10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0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" name="Google Shape;131;p11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flipH="1" rot="-5400561">
              <a:off x="2143273" y="1358460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flipH="1" rot="-5400570">
              <a:off x="1792271" y="1738695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1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flipH="1" rot="5400000">
            <a:off x="1344924" y="364825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61" name="Google Shape;161;p12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13862" l="17993" r="18089" t="18848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- Titre et visuel" showMasterSp="0">
  <p:cSld name="60 - Titre et visuel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4"/>
          <p:cNvSpPr/>
          <p:nvPr>
            <p:ph idx="2" type="pic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- Titre, sous-titre et visuel" showMasterSp="0">
  <p:cSld name="61 - Titre, sous-titre et visuel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fmla="val 16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b="0" i="0" sz="6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b="0" i="0" sz="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/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04" name="Google Shape;204;p15"/>
          <p:cNvSpPr txBox="1"/>
          <p:nvPr>
            <p:ph idx="1" type="subTitle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05" name="Google Shape;205;p15"/>
          <p:cNvSpPr/>
          <p:nvPr>
            <p:ph idx="2" type="pic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 - Visuel seul" showMasterSp="0">
  <p:cSld name="62 - Visuel seul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/>
          <p:nvPr>
            <p:ph idx="2" type="pic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sz="11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 - cadre blanc" showMasterSp="0">
  <p:cSld name="64 - Titre, sous-titre, contenu et visuel à droite - cadre blanc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/>
          <p:nvPr>
            <p:ph idx="1" type="body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18"/>
          <p:cNvSpPr txBox="1"/>
          <p:nvPr>
            <p:ph idx="2" type="subTitle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6" name="Google Shape;246;p18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 - cadre blanc" showMasterSp="0">
  <p:cSld name="65 - Titre, contenu, visuel à droite et bloc conclu - cadre blanc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/>
          <p:nvPr>
            <p:ph idx="1" type="body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7" name="Google Shape;267;p19"/>
          <p:cNvSpPr txBox="1"/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68" name="Google Shape;268;p19"/>
          <p:cNvSpPr txBox="1"/>
          <p:nvPr>
            <p:ph idx="2" type="body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 - cadre blanc" showMasterSp="0">
  <p:cSld name="66 - Titre, sous-titre, contenu, visuel à droite et bloc conclu - cadre blanc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idx="1" type="body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75" name="Google Shape;275;p20"/>
          <p:cNvSpPr txBox="1"/>
          <p:nvPr>
            <p:ph idx="2" type="subTitle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76" name="Google Shape;276;p20"/>
          <p:cNvSpPr txBox="1"/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/>
          <p:nvPr>
            <p:ph idx="3" type="body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 - Titre, contenu et visuel à gauche - cadre blanc" showMasterSp="0">
  <p:cSld name="67 - Titre, contenu et visuel à gauche - cadre blanc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/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8" name="Google Shape;298;p21"/>
          <p:cNvSpPr txBox="1"/>
          <p:nvPr>
            <p:ph idx="1" type="body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 - Titre, sous-titre, contenu et visuel à gauche - cadre blanc" showMasterSp="0">
  <p:cSld name="68 - Titre, sous-titre, contenu et visuel à gauche - cadre blanc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flipH="1" rot="5400000">
            <a:off x="4143250" y="131125"/>
            <a:ext cx="4709400" cy="4865400"/>
          </a:xfrm>
          <a:prstGeom prst="round2SameRect">
            <a:avLst>
              <a:gd fmla="val 13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/>
          <p:nvPr>
            <p:ph idx="1" type="subTitle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8" name="Google Shape;318;p22"/>
          <p:cNvSpPr txBox="1"/>
          <p:nvPr>
            <p:ph idx="2" type="body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9" name="Google Shape;319;p22"/>
          <p:cNvSpPr txBox="1"/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 - Titre, contenu, visuel à gauche et bloc conclu - cadre blanc" showMasterSp="0">
  <p:cSld name="69 - Titre, contenu, visuel à gauche et bloc conclu - cadre blanc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9" name="Google Shape;349;p23"/>
          <p:cNvSpPr txBox="1"/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/>
          <p:nvPr>
            <p:ph idx="1" type="body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4" name="Google Shape;354;p23"/>
          <p:cNvSpPr txBox="1"/>
          <p:nvPr>
            <p:ph idx="2" type="body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 - cadre blanc" showMasterSp="0">
  <p:cSld name="70 - Titre, sous-titre, contenu, visuel à gauche et bloc conclu - cadre blanc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0" name="Google Shape;370;p24"/>
          <p:cNvSpPr txBox="1"/>
          <p:nvPr>
            <p:ph idx="1" type="body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1" name="Google Shape;371;p24"/>
          <p:cNvSpPr txBox="1"/>
          <p:nvPr>
            <p:ph idx="2" type="subTitle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2" name="Google Shape;372;p24"/>
          <p:cNvSpPr txBox="1"/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/>
          <p:nvPr>
            <p:ph idx="3" type="body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Table des matières [2]">
  <p:cSld name="90 - Table des matières [2]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1" name="Google Shape;381;p25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2" name="Google Shape;382;p25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Table des matières [3]">
  <p:cSld name="91 - Table des matières [3]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/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89" name="Google Shape;389;p26"/>
          <p:cNvSpPr txBox="1"/>
          <p:nvPr>
            <p:ph idx="1" type="body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0" name="Google Shape;390;p26"/>
          <p:cNvSpPr txBox="1"/>
          <p:nvPr>
            <p:ph idx="2" type="body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1" name="Google Shape;391;p26"/>
          <p:cNvSpPr txBox="1"/>
          <p:nvPr>
            <p:ph idx="3" type="body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Table des matières [4]">
  <p:cSld name="92 - Table des matières [4]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1" type="body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idx="2" type="body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2" name="Google Shape;402;p27"/>
          <p:cNvSpPr txBox="1"/>
          <p:nvPr>
            <p:ph idx="3" type="body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3" name="Google Shape;403;p27"/>
          <p:cNvSpPr txBox="1"/>
          <p:nvPr>
            <p:ph idx="4" type="body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Table des matières [5]">
  <p:cSld name="93 - Table des matières [5]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/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4" name="Google Shape;414;p28"/>
          <p:cNvSpPr txBox="1"/>
          <p:nvPr>
            <p:ph idx="1" type="body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2" type="body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3" type="body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7" name="Google Shape;417;p28"/>
          <p:cNvSpPr txBox="1"/>
          <p:nvPr>
            <p:ph idx="4" type="body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8" name="Google Shape;418;p28"/>
          <p:cNvSpPr txBox="1"/>
          <p:nvPr>
            <p:ph idx="5" type="body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Table des matières [6]">
  <p:cSld name="94 - Table des matières [6]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/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1" name="Google Shape;431;p29"/>
          <p:cNvSpPr txBox="1"/>
          <p:nvPr>
            <p:ph idx="1" type="body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2" name="Google Shape;432;p29"/>
          <p:cNvSpPr txBox="1"/>
          <p:nvPr>
            <p:ph idx="2" type="body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3" name="Google Shape;433;p29"/>
          <p:cNvSpPr txBox="1"/>
          <p:nvPr>
            <p:ph idx="3" type="body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4" name="Google Shape;434;p29"/>
          <p:cNvSpPr txBox="1"/>
          <p:nvPr>
            <p:ph idx="4" type="body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5" name="Google Shape;435;p29"/>
          <p:cNvSpPr txBox="1"/>
          <p:nvPr>
            <p:ph idx="5" type="body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6" name="Google Shape;436;p29"/>
          <p:cNvSpPr txBox="1"/>
          <p:nvPr>
            <p:ph idx="6" type="body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Table des matières [7]">
  <p:cSld name="95 - Table des matières [7]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1" name="Google Shape;451;p30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2" name="Google Shape;452;p30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3" name="Google Shape;453;p30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4" name="Google Shape;454;p30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5" name="Google Shape;455;p30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6" name="Google Shape;456;p30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7" name="Google Shape;457;p30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 - Table des matières [8]">
  <p:cSld name="96 - Table des matières [8]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/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4" name="Google Shape;474;p31"/>
          <p:cNvSpPr txBox="1"/>
          <p:nvPr>
            <p:ph idx="1" type="body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5" name="Google Shape;475;p31"/>
          <p:cNvSpPr txBox="1"/>
          <p:nvPr>
            <p:ph idx="2" type="body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6" name="Google Shape;476;p31"/>
          <p:cNvSpPr txBox="1"/>
          <p:nvPr>
            <p:ph idx="3" type="body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7" name="Google Shape;477;p31"/>
          <p:cNvSpPr txBox="1"/>
          <p:nvPr>
            <p:ph idx="4" type="body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8" name="Google Shape;478;p31"/>
          <p:cNvSpPr txBox="1"/>
          <p:nvPr>
            <p:ph idx="5" type="body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9" name="Google Shape;479;p31"/>
          <p:cNvSpPr txBox="1"/>
          <p:nvPr>
            <p:ph idx="6" type="body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0" name="Google Shape;480;p31"/>
          <p:cNvSpPr txBox="1"/>
          <p:nvPr>
            <p:ph idx="7" type="body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1" name="Google Shape;481;p31"/>
          <p:cNvSpPr txBox="1"/>
          <p:nvPr>
            <p:ph idx="8" type="body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 - Table des matières [9]">
  <p:cSld name="97 - Table des matières [9]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0" name="Google Shape;500;p32"/>
          <p:cNvSpPr txBox="1"/>
          <p:nvPr>
            <p:ph idx="1" type="body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1" name="Google Shape;501;p32"/>
          <p:cNvSpPr txBox="1"/>
          <p:nvPr>
            <p:ph idx="2" type="body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2" name="Google Shape;502;p32"/>
          <p:cNvSpPr txBox="1"/>
          <p:nvPr>
            <p:ph idx="3" type="body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3" name="Google Shape;503;p32"/>
          <p:cNvSpPr txBox="1"/>
          <p:nvPr>
            <p:ph idx="4" type="body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4" name="Google Shape;504;p32"/>
          <p:cNvSpPr txBox="1"/>
          <p:nvPr>
            <p:ph idx="5" type="body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5" name="Google Shape;505;p32"/>
          <p:cNvSpPr txBox="1"/>
          <p:nvPr>
            <p:ph idx="6" type="body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6" name="Google Shape;506;p32"/>
          <p:cNvSpPr txBox="1"/>
          <p:nvPr>
            <p:ph idx="7" type="body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7" name="Google Shape;507;p32"/>
          <p:cNvSpPr txBox="1"/>
          <p:nvPr>
            <p:ph idx="8" type="body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8" name="Google Shape;508;p32"/>
          <p:cNvSpPr txBox="1"/>
          <p:nvPr>
            <p:ph idx="9" type="body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8 - Table des matières [10]">
  <p:cSld name="98 - Table des matières [10]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9" name="Google Shape;529;p33"/>
          <p:cNvSpPr txBox="1"/>
          <p:nvPr>
            <p:ph idx="1" type="body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0" name="Google Shape;530;p33"/>
          <p:cNvSpPr txBox="1"/>
          <p:nvPr>
            <p:ph idx="2" type="body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1" name="Google Shape;531;p33"/>
          <p:cNvSpPr txBox="1"/>
          <p:nvPr>
            <p:ph idx="3" type="body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2" name="Google Shape;532;p33"/>
          <p:cNvSpPr txBox="1"/>
          <p:nvPr>
            <p:ph idx="4" type="body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3" name="Google Shape;533;p33"/>
          <p:cNvSpPr txBox="1"/>
          <p:nvPr>
            <p:ph idx="5" type="body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4" name="Google Shape;534;p33"/>
          <p:cNvSpPr txBox="1"/>
          <p:nvPr>
            <p:ph idx="6" type="body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5" name="Google Shape;535;p33"/>
          <p:cNvSpPr txBox="1"/>
          <p:nvPr>
            <p:ph idx="7" type="body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6" name="Google Shape;536;p33"/>
          <p:cNvSpPr txBox="1"/>
          <p:nvPr>
            <p:ph idx="8" type="body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7" name="Google Shape;537;p33"/>
          <p:cNvSpPr txBox="1"/>
          <p:nvPr>
            <p:ph idx="9" type="body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8" name="Google Shape;538;p33"/>
          <p:cNvSpPr txBox="1"/>
          <p:nvPr>
            <p:ph idx="13" type="body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 - Table des matières [all]">
  <p:cSld name="99 - Table des matières [all]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/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1" name="Google Shape;561;p34"/>
          <p:cNvSpPr txBox="1"/>
          <p:nvPr>
            <p:ph idx="1" type="body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62" name="Google Shape;562;p34"/>
          <p:cNvSpPr txBox="1"/>
          <p:nvPr>
            <p:ph idx="2" type="body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78" name="Google Shape;578;p36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79" name="Google Shape;579;p36"/>
          <p:cNvGrpSpPr/>
          <p:nvPr/>
        </p:nvGrpSpPr>
        <p:grpSpPr>
          <a:xfrm>
            <a:off x="276295" y="292119"/>
            <a:ext cx="345989" cy="338615"/>
            <a:chOff x="6838242" y="518225"/>
            <a:chExt cx="1247708" cy="1221114"/>
          </a:xfrm>
        </p:grpSpPr>
        <p:sp>
          <p:nvSpPr>
            <p:cNvPr id="580" name="Google Shape;580;p36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83" name="Google Shape;583;p36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85" name="Google Shape;585;p36"/>
          <p:cNvGrpSpPr/>
          <p:nvPr/>
        </p:nvGrpSpPr>
        <p:grpSpPr>
          <a:xfrm>
            <a:off x="1097923" y="1336704"/>
            <a:ext cx="4598402" cy="1873538"/>
            <a:chOff x="2164723" y="1336704"/>
            <a:chExt cx="4598402" cy="1873538"/>
          </a:xfrm>
        </p:grpSpPr>
        <p:cxnSp>
          <p:nvCxnSpPr>
            <p:cNvPr id="586" name="Google Shape;586;p36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7" name="Google Shape;587;p36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588" name="Google Shape;588;p36"/>
            <p:cNvCxnSpPr>
              <a:endCxn id="587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9" name="Google Shape;589;p36"/>
            <p:cNvSpPr/>
            <p:nvPr/>
          </p:nvSpPr>
          <p:spPr>
            <a:xfrm rot="-5399439">
              <a:off x="2143273" y="1392991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0" name="Google Shape;590;p36"/>
            <p:cNvSpPr/>
            <p:nvPr/>
          </p:nvSpPr>
          <p:spPr>
            <a:xfrm flipH="1" rot="-5400561">
              <a:off x="2143273" y="1358454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591" name="Google Shape;591;p36"/>
            <p:cNvCxnSpPr>
              <a:stCxn id="589" idx="2"/>
              <a:endCxn id="587" idx="0"/>
            </p:cNvCxnSpPr>
            <p:nvPr/>
          </p:nvCxnSpPr>
          <p:spPr>
            <a:xfrm>
              <a:off x="3065855" y="1371397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2" name="Google Shape;592;p36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593" name="Google Shape;593;p36"/>
          <p:cNvPicPr preferRelativeResize="0"/>
          <p:nvPr/>
        </p:nvPicPr>
        <p:blipFill rotWithShape="1">
          <a:blip r:embed="rId3">
            <a:alphaModFix/>
          </a:blip>
          <a:srcRect b="338" l="0" r="0" t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6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95" name="Google Shape;595;p36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596" name="Google Shape;596;p36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97" name="Google Shape;597;p36"/>
          <p:cNvGrpSpPr/>
          <p:nvPr/>
        </p:nvGrpSpPr>
        <p:grpSpPr>
          <a:xfrm rot="10800000">
            <a:off x="4572194" y="3152684"/>
            <a:ext cx="2605006" cy="616928"/>
            <a:chOff x="2164721" y="1365821"/>
            <a:chExt cx="4598421" cy="1890676"/>
          </a:xfrm>
        </p:grpSpPr>
        <p:cxnSp>
          <p:nvCxnSpPr>
            <p:cNvPr id="598" name="Google Shape;598;p36"/>
            <p:cNvCxnSpPr>
              <a:stCxn id="599" idx="2"/>
            </p:cNvCxnSpPr>
            <p:nvPr/>
          </p:nvCxnSpPr>
          <p:spPr>
            <a:xfrm>
              <a:off x="2699642" y="3175561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0" name="Google Shape;600;p36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01" name="Google Shape;601;p36"/>
            <p:cNvCxnSpPr>
              <a:endCxn id="600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36"/>
            <p:cNvSpPr/>
            <p:nvPr/>
          </p:nvSpPr>
          <p:spPr>
            <a:xfrm rot="-5399453">
              <a:off x="1791865" y="1744197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99" name="Google Shape;599;p36"/>
            <p:cNvSpPr/>
            <p:nvPr/>
          </p:nvSpPr>
          <p:spPr>
            <a:xfrm flipH="1" rot="-5400570">
              <a:off x="1792271" y="1738571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03" name="Google Shape;603;p36"/>
            <p:cNvCxnSpPr>
              <a:stCxn id="602" idx="2"/>
              <a:endCxn id="600" idx="0"/>
            </p:cNvCxnSpPr>
            <p:nvPr/>
          </p:nvCxnSpPr>
          <p:spPr>
            <a:xfrm>
              <a:off x="2736435" y="1371153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04" name="Google Shape;604;p36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36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606" name="Google Shape;606;p36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37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609" name="Google Shape;609;p3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12" name="Google Shape;612;p37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613" name="Google Shape;613;p37"/>
          <p:cNvCxnSpPr>
            <a:stCxn id="614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5" name="Google Shape;615;p37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16" name="Google Shape;616;p37"/>
          <p:cNvCxnSpPr>
            <a:endCxn id="615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37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14" name="Google Shape;614;p37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18" name="Google Shape;618;p37"/>
          <p:cNvCxnSpPr>
            <a:stCxn id="617" idx="2"/>
            <a:endCxn id="615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3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8"/>
          <p:cNvSpPr txBox="1"/>
          <p:nvPr>
            <p:ph idx="1" type="body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22" name="Google Shape;622;p38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9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fmla="val 10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39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627" name="Google Shape;627;p39"/>
          <p:cNvGrpSpPr/>
          <p:nvPr/>
        </p:nvGrpSpPr>
        <p:grpSpPr>
          <a:xfrm>
            <a:off x="3171774" y="1360130"/>
            <a:ext cx="170063" cy="166438"/>
            <a:chOff x="6838242" y="518225"/>
            <a:chExt cx="1247708" cy="1221114"/>
          </a:xfrm>
        </p:grpSpPr>
        <p:sp>
          <p:nvSpPr>
            <p:cNvPr id="628" name="Google Shape;628;p3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631" name="Google Shape;631;p39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632" name="Google Shape;632;p39"/>
          <p:cNvCxnSpPr>
            <a:stCxn id="633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39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35" name="Google Shape;635;p39"/>
          <p:cNvCxnSpPr>
            <a:endCxn id="634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39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3" name="Google Shape;633;p39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37" name="Google Shape;637;p39"/>
          <p:cNvCxnSpPr>
            <a:stCxn id="636" idx="2"/>
            <a:endCxn id="634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39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39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40" name="Google Shape;640;p39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39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42" name="Google Shape;642;p39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 1">
  <p:cSld name="03 - Titre et sous-titre_2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1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47" name="Google Shape;647;p41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">
  <p:cSld name="03 - Titre et sous-titre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2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0" name="Google Shape;650;p42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3"/>
          <p:cNvSpPr txBox="1"/>
          <p:nvPr>
            <p:ph idx="1" type="body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3" name="Google Shape;653;p43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4" name="Google Shape;654;p43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4"/>
          <p:cNvSpPr txBox="1"/>
          <p:nvPr>
            <p:ph idx="1" type="subTitle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7" name="Google Shape;657;p44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0" name="Google Shape;660;p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1" name="Google Shape;661;p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b1a46074_15_0)">
  <p:cSld name="Generated (g3ebb1a46074_15_0)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2">
  <p:cSld name="03 - Titre et sous-titre_1_2_2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7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65" name="Google Shape;665;p47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8">
  <p:cSld name="03 - Titre et sous-titre_1_15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8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68" name="Google Shape;668;p48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12">
  <p:cSld name="03 - Titre et sous-titre_1_19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1" name="Google Shape;671;p49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4">
  <p:cSld name="03 - Titre et sous-titre_1_1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0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4" name="Google Shape;674;p50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 1">
  <p:cSld name="03 - Titre et sous-titre_1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1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53"/>
          <p:cNvGrpSpPr/>
          <p:nvPr/>
        </p:nvGrpSpPr>
        <p:grpSpPr>
          <a:xfrm>
            <a:off x="290070" y="235357"/>
            <a:ext cx="345989" cy="338615"/>
            <a:chOff x="6838242" y="518225"/>
            <a:chExt cx="1247708" cy="1221114"/>
          </a:xfrm>
        </p:grpSpPr>
        <p:sp>
          <p:nvSpPr>
            <p:cNvPr id="681" name="Google Shape;681;p5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684" name="Google Shape;684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3"/>
          <p:cNvPicPr preferRelativeResize="0"/>
          <p:nvPr/>
        </p:nvPicPr>
        <p:blipFill rotWithShape="1">
          <a:blip r:embed="rId3">
            <a:alphaModFix/>
          </a:blip>
          <a:srcRect b="13862" l="17993" r="18089" t="18848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9 - Table des matières [all]">
  <p:cSld name="99 - Table des matières [all]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"/>
          <p:cNvSpPr txBox="1"/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89" name="Google Shape;689;p54"/>
          <p:cNvSpPr txBox="1"/>
          <p:nvPr>
            <p:ph idx="1" type="body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0" name="Google Shape;690;p54"/>
          <p:cNvSpPr txBox="1"/>
          <p:nvPr>
            <p:ph idx="2" type="body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5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3" name="Google Shape;693;p55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4" name="Google Shape;694;p55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95" name="Google Shape;695;p55"/>
          <p:cNvSpPr txBox="1"/>
          <p:nvPr>
            <p:ph idx="1" type="subTitle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6" name="Google Shape;696;p55"/>
          <p:cNvSpPr txBox="1"/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97" name="Google Shape;697;p55"/>
          <p:cNvSpPr txBox="1"/>
          <p:nvPr>
            <p:ph idx="2" type="body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698" name="Google Shape;698;p55"/>
          <p:cNvGrpSpPr/>
          <p:nvPr/>
        </p:nvGrpSpPr>
        <p:grpSpPr>
          <a:xfrm>
            <a:off x="89499" y="125680"/>
            <a:ext cx="8793076" cy="4738970"/>
            <a:chOff x="89499" y="125680"/>
            <a:chExt cx="8793076" cy="4738970"/>
          </a:xfrm>
        </p:grpSpPr>
        <p:grpSp>
          <p:nvGrpSpPr>
            <p:cNvPr id="699" name="Google Shape;699;p55"/>
            <p:cNvGrpSpPr/>
            <p:nvPr/>
          </p:nvGrpSpPr>
          <p:grpSpPr>
            <a:xfrm>
              <a:off x="89499" y="125680"/>
              <a:ext cx="170063" cy="166438"/>
              <a:chOff x="6838242" y="518225"/>
              <a:chExt cx="1247708" cy="1221114"/>
            </a:xfrm>
          </p:grpSpPr>
          <p:sp>
            <p:nvSpPr>
              <p:cNvPr id="700" name="Google Shape;700;p55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1" name="Google Shape;701;p55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2" name="Google Shape;702;p55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03" name="Google Shape;703;p55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04" name="Google Shape;704;p55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05" name="Google Shape;705;p55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06" name="Google Shape;706;p55"/>
              <p:cNvCxnSpPr>
                <a:stCxn id="707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8" name="Google Shape;708;p55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709" name="Google Shape;709;p55"/>
              <p:cNvCxnSpPr>
                <a:endCxn id="708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0" name="Google Shape;710;p55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07" name="Google Shape;707;p55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711" name="Google Shape;711;p55"/>
              <p:cNvCxnSpPr>
                <a:stCxn id="710" idx="2"/>
                <a:endCxn id="708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69 - Titre, contenu, visuel à gauche et bloc conclu" showMasterSp="0">
  <p:cSld name="69 - Titre, contenu, visuel à gauche et bloc conclu - cadre blanc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56"/>
          <p:cNvGrpSpPr/>
          <p:nvPr/>
        </p:nvGrpSpPr>
        <p:grpSpPr>
          <a:xfrm>
            <a:off x="542975" y="553850"/>
            <a:ext cx="3356100" cy="2104200"/>
            <a:chOff x="542975" y="553850"/>
            <a:chExt cx="3356100" cy="2104200"/>
          </a:xfrm>
        </p:grpSpPr>
        <p:sp>
          <p:nvSpPr>
            <p:cNvPr id="714" name="Google Shape;714;p56"/>
            <p:cNvSpPr/>
            <p:nvPr/>
          </p:nvSpPr>
          <p:spPr>
            <a:xfrm>
              <a:off x="542975" y="553850"/>
              <a:ext cx="3356100" cy="21042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6"/>
            <p:cNvSpPr txBox="1"/>
            <p:nvPr/>
          </p:nvSpPr>
          <p:spPr>
            <a:xfrm>
              <a:off x="1647825" y="10826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16" name="Google Shape;716;p56"/>
          <p:cNvSpPr txBox="1"/>
          <p:nvPr>
            <p:ph type="title"/>
          </p:nvPr>
        </p:nvSpPr>
        <p:spPr>
          <a:xfrm>
            <a:off x="4300925" y="361400"/>
            <a:ext cx="419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7" name="Google Shape;717;p56"/>
          <p:cNvSpPr txBox="1"/>
          <p:nvPr>
            <p:ph idx="1" type="body"/>
          </p:nvPr>
        </p:nvSpPr>
        <p:spPr>
          <a:xfrm>
            <a:off x="4300925" y="956650"/>
            <a:ext cx="42477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8" name="Google Shape;718;p56"/>
          <p:cNvSpPr txBox="1"/>
          <p:nvPr>
            <p:ph idx="2" type="body"/>
          </p:nvPr>
        </p:nvSpPr>
        <p:spPr>
          <a:xfrm>
            <a:off x="876300" y="2895600"/>
            <a:ext cx="2647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None/>
              <a:defRPr b="1" i="0" sz="1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19" name="Google Shape;719;p56"/>
          <p:cNvSpPr/>
          <p:nvPr/>
        </p:nvSpPr>
        <p:spPr>
          <a:xfrm rot="10800000">
            <a:off x="542807" y="2658150"/>
            <a:ext cx="3356100" cy="21996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91AA"/>
              </a:buClr>
              <a:buSzPts val="1680"/>
              <a:buFont typeface="Century Gothic"/>
              <a:buNone/>
            </a:pPr>
            <a:r>
              <a:t/>
            </a:r>
            <a:endParaRPr b="1" i="0" sz="2800" u="none" cap="none" strike="noStrike">
              <a:solidFill>
                <a:srgbClr val="56658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20" name="Google Shape;720;p56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721" name="Google Shape;721;p56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722" name="Google Shape;722;p56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56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56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5" name="Google Shape;725;p56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26" name="Google Shape;726;p56"/>
            <p:cNvCxnSpPr>
              <a:stCxn id="727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8" name="Google Shape;728;p56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9" name="Google Shape;729;p56"/>
            <p:cNvCxnSpPr>
              <a:endCxn id="728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0" name="Google Shape;730;p56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6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1" name="Google Shape;731;p56"/>
            <p:cNvCxnSpPr>
              <a:stCxn id="730" idx="2"/>
              <a:endCxn id="728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2" name="Google Shape;732;p5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" showMasterSp="0">
  <p:cSld name="70 - Titre, sous-titre, contenu, visuel à gauche et bloc conclu - cadre blanc_1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57"/>
          <p:cNvGrpSpPr/>
          <p:nvPr/>
        </p:nvGrpSpPr>
        <p:grpSpPr>
          <a:xfrm>
            <a:off x="542975" y="553850"/>
            <a:ext cx="3356100" cy="2104200"/>
            <a:chOff x="542975" y="553850"/>
            <a:chExt cx="3356100" cy="2104200"/>
          </a:xfrm>
        </p:grpSpPr>
        <p:sp>
          <p:nvSpPr>
            <p:cNvPr id="735" name="Google Shape;735;p57"/>
            <p:cNvSpPr/>
            <p:nvPr/>
          </p:nvSpPr>
          <p:spPr>
            <a:xfrm>
              <a:off x="542975" y="553850"/>
              <a:ext cx="3356100" cy="21042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7"/>
            <p:cNvSpPr txBox="1"/>
            <p:nvPr/>
          </p:nvSpPr>
          <p:spPr>
            <a:xfrm>
              <a:off x="1647825" y="10826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37" name="Google Shape;737;p57"/>
          <p:cNvSpPr txBox="1"/>
          <p:nvPr>
            <p:ph type="title"/>
          </p:nvPr>
        </p:nvSpPr>
        <p:spPr>
          <a:xfrm>
            <a:off x="4300925" y="361400"/>
            <a:ext cx="419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38" name="Google Shape;738;p57"/>
          <p:cNvSpPr txBox="1"/>
          <p:nvPr>
            <p:ph idx="1" type="subTitle"/>
          </p:nvPr>
        </p:nvSpPr>
        <p:spPr>
          <a:xfrm>
            <a:off x="4300925" y="840675"/>
            <a:ext cx="4196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9" name="Google Shape;739;p57"/>
          <p:cNvSpPr txBox="1"/>
          <p:nvPr>
            <p:ph idx="2" type="body"/>
          </p:nvPr>
        </p:nvSpPr>
        <p:spPr>
          <a:xfrm>
            <a:off x="4300776" y="1273150"/>
            <a:ext cx="4196100" cy="3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○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○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●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0" name="Google Shape;740;p57"/>
          <p:cNvSpPr txBox="1"/>
          <p:nvPr>
            <p:ph idx="3" type="body"/>
          </p:nvPr>
        </p:nvSpPr>
        <p:spPr>
          <a:xfrm>
            <a:off x="876300" y="2895600"/>
            <a:ext cx="2647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"/>
              <a:buNone/>
              <a:defRPr b="1" i="0" sz="1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41" name="Google Shape;741;p57"/>
          <p:cNvSpPr/>
          <p:nvPr/>
        </p:nvSpPr>
        <p:spPr>
          <a:xfrm rot="10800000">
            <a:off x="542807" y="2658150"/>
            <a:ext cx="3356100" cy="21996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91AA"/>
              </a:buClr>
              <a:buSzPts val="1680"/>
              <a:buFont typeface="Century Gothic"/>
              <a:buNone/>
            </a:pPr>
            <a:r>
              <a:t/>
            </a:r>
            <a:endParaRPr b="1" i="0" sz="2800" u="none" cap="none" strike="noStrike">
              <a:solidFill>
                <a:srgbClr val="56658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742" name="Google Shape;742;p57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743" name="Google Shape;743;p57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744" name="Google Shape;744;p57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57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57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7" name="Google Shape;747;p5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48" name="Google Shape;748;p57"/>
            <p:cNvCxnSpPr>
              <a:stCxn id="74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0" name="Google Shape;750;p5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57"/>
            <p:cNvCxnSpPr>
              <a:endCxn id="75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2" name="Google Shape;752;p5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3" name="Google Shape;753;p57"/>
            <p:cNvCxnSpPr>
              <a:stCxn id="752" idx="2"/>
              <a:endCxn id="75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4" name="Google Shape;754;p5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oogle Shape;756;p5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757" name="Google Shape;757;p5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58" name="Google Shape;758;p5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59" name="Google Shape;759;p5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760" name="Google Shape;760;p58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1" name="Google Shape;761;p58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762" name="Google Shape;762;p58"/>
            <p:cNvCxnSpPr>
              <a:stCxn id="763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4" name="Google Shape;764;p58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65" name="Google Shape;765;p58"/>
            <p:cNvCxnSpPr>
              <a:endCxn id="764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6" name="Google Shape;766;p58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63" name="Google Shape;763;p58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67" name="Google Shape;767;p58"/>
            <p:cNvCxnSpPr>
              <a:stCxn id="766" idx="2"/>
              <a:endCxn id="76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68" name="Google Shape;768;p58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69" name="Google Shape;769;p58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70" name="Google Shape;770;p58"/>
          <p:cNvGrpSpPr/>
          <p:nvPr/>
        </p:nvGrpSpPr>
        <p:grpSpPr>
          <a:xfrm>
            <a:off x="364207" y="292130"/>
            <a:ext cx="82155" cy="82230"/>
            <a:chOff x="7483200" y="518225"/>
            <a:chExt cx="602750" cy="603300"/>
          </a:xfrm>
        </p:grpSpPr>
        <p:sp>
          <p:nvSpPr>
            <p:cNvPr id="771" name="Google Shape;771;p58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772" name="Google Shape;772;p5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773" name="Google Shape;773;p5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" showMasterSp="0">
  <p:cSld name="64 - Titre, sous-titre, contenu et visuel à droite - cadre blanc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9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76" name="Google Shape;776;p59"/>
          <p:cNvSpPr txBox="1"/>
          <p:nvPr>
            <p:ph idx="1" type="subTitle"/>
          </p:nvPr>
        </p:nvSpPr>
        <p:spPr>
          <a:xfrm>
            <a:off x="562825" y="840675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77" name="Google Shape;777;p59"/>
          <p:cNvSpPr txBox="1"/>
          <p:nvPr>
            <p:ph idx="2" type="body"/>
          </p:nvPr>
        </p:nvSpPr>
        <p:spPr>
          <a:xfrm>
            <a:off x="562825" y="1273150"/>
            <a:ext cx="53055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78" name="Google Shape;778;p59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779" name="Google Shape;779;p59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9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781" name="Google Shape;781;p59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cxnSp>
          <p:nvCxnSpPr>
            <p:cNvPr id="782" name="Google Shape;782;p59"/>
            <p:cNvCxnSpPr>
              <a:stCxn id="783" idx="2"/>
              <a:endCxn id="784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5" name="Google Shape;785;p59"/>
            <p:cNvGrpSpPr/>
            <p:nvPr/>
          </p:nvGrpSpPr>
          <p:grpSpPr>
            <a:xfrm>
              <a:off x="276301" y="292130"/>
              <a:ext cx="8682474" cy="4588395"/>
              <a:chOff x="276301" y="292130"/>
              <a:chExt cx="8682474" cy="4588395"/>
            </a:xfrm>
          </p:grpSpPr>
          <p:grpSp>
            <p:nvGrpSpPr>
              <p:cNvPr id="786" name="Google Shape;786;p59"/>
              <p:cNvGrpSpPr/>
              <p:nvPr/>
            </p:nvGrpSpPr>
            <p:grpSpPr>
              <a:xfrm>
                <a:off x="276301" y="292130"/>
                <a:ext cx="170063" cy="166438"/>
                <a:chOff x="6838242" y="518225"/>
                <a:chExt cx="1247708" cy="1221114"/>
              </a:xfrm>
            </p:grpSpPr>
            <p:sp>
              <p:nvSpPr>
                <p:cNvPr id="787" name="Google Shape;787;p59"/>
                <p:cNvSpPr/>
                <p:nvPr/>
              </p:nvSpPr>
              <p:spPr>
                <a:xfrm>
                  <a:off x="7870550" y="518225"/>
                  <a:ext cx="215400" cy="215400"/>
                </a:xfrm>
                <a:prstGeom prst="ellipse">
                  <a:avLst/>
                </a:prstGeom>
                <a:solidFill>
                  <a:srgbClr val="00D2D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59"/>
                <p:cNvSpPr/>
                <p:nvPr/>
              </p:nvSpPr>
              <p:spPr>
                <a:xfrm>
                  <a:off x="6838242" y="539639"/>
                  <a:ext cx="1200000" cy="1199700"/>
                </a:xfrm>
                <a:prstGeom prst="donut">
                  <a:avLst>
                    <a:gd fmla="val 20918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59"/>
                <p:cNvSpPr/>
                <p:nvPr/>
              </p:nvSpPr>
              <p:spPr>
                <a:xfrm>
                  <a:off x="7483200" y="906125"/>
                  <a:ext cx="215400" cy="215400"/>
                </a:xfrm>
                <a:prstGeom prst="ellipse">
                  <a:avLst/>
                </a:prstGeom>
                <a:solidFill>
                  <a:srgbClr val="00D2D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90" name="Google Shape;790;p59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Century Gothic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chemeClr val="dk1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91" name="Google Shape;791;p59"/>
              <p:cNvCxnSpPr>
                <a:stCxn id="79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4" name="Google Shape;784;p59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3" name="Google Shape;793;p59"/>
              <p:cNvCxnSpPr>
                <a:endCxn id="784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3" name="Google Shape;783;p59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59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4" name="Google Shape;794;p5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Mise en page personnalisée [1] ">
  <p:cSld name="CUSTOM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0"/>
          <p:cNvSpPr txBox="1"/>
          <p:nvPr>
            <p:ph type="title"/>
          </p:nvPr>
        </p:nvSpPr>
        <p:spPr>
          <a:xfrm>
            <a:off x="562825" y="361400"/>
            <a:ext cx="4656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97" name="Google Shape;797;p60"/>
          <p:cNvSpPr txBox="1"/>
          <p:nvPr>
            <p:ph idx="1" type="body"/>
          </p:nvPr>
        </p:nvSpPr>
        <p:spPr>
          <a:xfrm>
            <a:off x="562825" y="956650"/>
            <a:ext cx="46569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98" name="Google Shape;798;p60"/>
          <p:cNvSpPr txBox="1"/>
          <p:nvPr>
            <p:ph idx="2" type="body"/>
          </p:nvPr>
        </p:nvSpPr>
        <p:spPr>
          <a:xfrm>
            <a:off x="5943600" y="876300"/>
            <a:ext cx="1647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 SemiBold"/>
              <a:buNone/>
              <a:defRPr b="0" i="0" sz="16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799" name="Google Shape;799;p60"/>
          <p:cNvGrpSpPr/>
          <p:nvPr/>
        </p:nvGrpSpPr>
        <p:grpSpPr>
          <a:xfrm>
            <a:off x="6830775" y="2827650"/>
            <a:ext cx="2037000" cy="2037000"/>
            <a:chOff x="6830775" y="2827650"/>
            <a:chExt cx="2037000" cy="2037000"/>
          </a:xfrm>
        </p:grpSpPr>
        <p:sp>
          <p:nvSpPr>
            <p:cNvPr id="800" name="Google Shape;800;p60"/>
            <p:cNvSpPr/>
            <p:nvPr/>
          </p:nvSpPr>
          <p:spPr>
            <a:xfrm rot="10800000">
              <a:off x="6830775" y="2827650"/>
              <a:ext cx="2037000" cy="20370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60"/>
            <p:cNvSpPr txBox="1"/>
            <p:nvPr/>
          </p:nvSpPr>
          <p:spPr>
            <a:xfrm>
              <a:off x="7871538" y="30684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Arial"/>
                  <a:ea typeface="Arial"/>
                  <a:cs typeface="Arial"/>
                  <a:sym typeface="Arial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2" name="Google Shape;802;p60"/>
          <p:cNvSpPr/>
          <p:nvPr/>
        </p:nvSpPr>
        <p:spPr>
          <a:xfrm>
            <a:off x="5621550" y="2921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3" name="Google Shape;803;p60"/>
          <p:cNvGrpSpPr/>
          <p:nvPr/>
        </p:nvGrpSpPr>
        <p:grpSpPr>
          <a:xfrm>
            <a:off x="5621553" y="3667487"/>
            <a:ext cx="512493" cy="357328"/>
            <a:chOff x="1014425" y="1076189"/>
            <a:chExt cx="1147800" cy="800286"/>
          </a:xfrm>
        </p:grpSpPr>
        <p:grpSp>
          <p:nvGrpSpPr>
            <p:cNvPr id="804" name="Google Shape;804;p60"/>
            <p:cNvGrpSpPr/>
            <p:nvPr/>
          </p:nvGrpSpPr>
          <p:grpSpPr>
            <a:xfrm>
              <a:off x="1014425" y="1076189"/>
              <a:ext cx="538200" cy="800286"/>
              <a:chOff x="1014425" y="1076189"/>
              <a:chExt cx="538200" cy="800286"/>
            </a:xfrm>
          </p:grpSpPr>
          <p:sp>
            <p:nvSpPr>
              <p:cNvPr id="805" name="Google Shape;805;p60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0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07" name="Google Shape;807;p60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8" name="Google Shape;808;p60"/>
            <p:cNvGrpSpPr/>
            <p:nvPr/>
          </p:nvGrpSpPr>
          <p:grpSpPr>
            <a:xfrm>
              <a:off x="1624025" y="1076189"/>
              <a:ext cx="538200" cy="800286"/>
              <a:chOff x="1014425" y="1076189"/>
              <a:chExt cx="538200" cy="800286"/>
            </a:xfrm>
          </p:grpSpPr>
          <p:sp>
            <p:nvSpPr>
              <p:cNvPr id="809" name="Google Shape;809;p60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0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11" name="Google Shape;811;p60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Mise en page personnalisée [2] ">
  <p:cSld name="CUSTOM_1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1"/>
          <p:cNvSpPr txBox="1"/>
          <p:nvPr>
            <p:ph type="title"/>
          </p:nvPr>
        </p:nvSpPr>
        <p:spPr>
          <a:xfrm>
            <a:off x="562825" y="361400"/>
            <a:ext cx="4656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14" name="Google Shape;814;p61"/>
          <p:cNvSpPr txBox="1"/>
          <p:nvPr>
            <p:ph idx="1" type="subTitle"/>
          </p:nvPr>
        </p:nvSpPr>
        <p:spPr>
          <a:xfrm>
            <a:off x="562825" y="840677"/>
            <a:ext cx="4656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5" name="Google Shape;815;p61"/>
          <p:cNvSpPr txBox="1"/>
          <p:nvPr>
            <p:ph idx="2" type="body"/>
          </p:nvPr>
        </p:nvSpPr>
        <p:spPr>
          <a:xfrm>
            <a:off x="562825" y="1273150"/>
            <a:ext cx="46569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○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○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●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16" name="Google Shape;816;p61"/>
          <p:cNvSpPr txBox="1"/>
          <p:nvPr>
            <p:ph idx="3" type="body"/>
          </p:nvPr>
        </p:nvSpPr>
        <p:spPr>
          <a:xfrm>
            <a:off x="5943600" y="876300"/>
            <a:ext cx="1647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utfit SemiBold"/>
              <a:buNone/>
              <a:defRPr b="0" i="0" sz="16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17" name="Google Shape;817;p61"/>
          <p:cNvGrpSpPr/>
          <p:nvPr/>
        </p:nvGrpSpPr>
        <p:grpSpPr>
          <a:xfrm>
            <a:off x="6830775" y="2827650"/>
            <a:ext cx="2037000" cy="2037000"/>
            <a:chOff x="6830775" y="2827650"/>
            <a:chExt cx="2037000" cy="2037000"/>
          </a:xfrm>
        </p:grpSpPr>
        <p:sp>
          <p:nvSpPr>
            <p:cNvPr id="818" name="Google Shape;818;p61"/>
            <p:cNvSpPr/>
            <p:nvPr/>
          </p:nvSpPr>
          <p:spPr>
            <a:xfrm rot="10800000">
              <a:off x="6830775" y="2827650"/>
              <a:ext cx="2037000" cy="20370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1"/>
            <p:cNvSpPr txBox="1"/>
            <p:nvPr/>
          </p:nvSpPr>
          <p:spPr>
            <a:xfrm>
              <a:off x="7871538" y="30684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Arial"/>
                  <a:ea typeface="Arial"/>
                  <a:cs typeface="Arial"/>
                  <a:sym typeface="Arial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0" name="Google Shape;820;p61"/>
          <p:cNvSpPr/>
          <p:nvPr/>
        </p:nvSpPr>
        <p:spPr>
          <a:xfrm>
            <a:off x="5621550" y="2921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1" name="Google Shape;821;p61"/>
          <p:cNvGrpSpPr/>
          <p:nvPr/>
        </p:nvGrpSpPr>
        <p:grpSpPr>
          <a:xfrm>
            <a:off x="5621553" y="3667487"/>
            <a:ext cx="512493" cy="357328"/>
            <a:chOff x="1014425" y="1076189"/>
            <a:chExt cx="1147800" cy="800286"/>
          </a:xfrm>
        </p:grpSpPr>
        <p:grpSp>
          <p:nvGrpSpPr>
            <p:cNvPr id="822" name="Google Shape;822;p61"/>
            <p:cNvGrpSpPr/>
            <p:nvPr/>
          </p:nvGrpSpPr>
          <p:grpSpPr>
            <a:xfrm>
              <a:off x="1014425" y="1076189"/>
              <a:ext cx="538200" cy="800286"/>
              <a:chOff x="1014425" y="1076189"/>
              <a:chExt cx="538200" cy="800286"/>
            </a:xfrm>
          </p:grpSpPr>
          <p:sp>
            <p:nvSpPr>
              <p:cNvPr id="823" name="Google Shape;823;p61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61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25" name="Google Shape;825;p61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61"/>
            <p:cNvGrpSpPr/>
            <p:nvPr/>
          </p:nvGrpSpPr>
          <p:grpSpPr>
            <a:xfrm>
              <a:off x="1624025" y="1076189"/>
              <a:ext cx="538200" cy="800286"/>
              <a:chOff x="1014425" y="1076189"/>
              <a:chExt cx="538200" cy="800286"/>
            </a:xfrm>
          </p:grpSpPr>
          <p:sp>
            <p:nvSpPr>
              <p:cNvPr id="827" name="Google Shape;827;p61"/>
              <p:cNvSpPr/>
              <p:nvPr/>
            </p:nvSpPr>
            <p:spPr>
              <a:xfrm>
                <a:off x="1014425" y="1338275"/>
                <a:ext cx="538200" cy="538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1"/>
              <p:cNvSpPr/>
              <p:nvPr/>
            </p:nvSpPr>
            <p:spPr>
              <a:xfrm>
                <a:off x="1107275" y="1078100"/>
                <a:ext cx="306600" cy="369700"/>
              </a:xfrm>
              <a:custGeom>
                <a:rect b="b" l="l" r="r" t="t"/>
                <a:pathLst>
                  <a:path extrusionOk="0" h="14788" w="12264">
                    <a:moveTo>
                      <a:pt x="0" y="13074"/>
                    </a:moveTo>
                    <a:lnTo>
                      <a:pt x="12264" y="0"/>
                    </a:lnTo>
                    <a:lnTo>
                      <a:pt x="7525" y="14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29" name="Google Shape;829;p61"/>
              <p:cNvSpPr/>
              <p:nvPr/>
            </p:nvSpPr>
            <p:spPr>
              <a:xfrm>
                <a:off x="1034455" y="1076189"/>
                <a:ext cx="379225" cy="464175"/>
              </a:xfrm>
              <a:custGeom>
                <a:rect b="b" l="l" r="r" t="t"/>
                <a:pathLst>
                  <a:path extrusionOk="0" h="18567" w="15169">
                    <a:moveTo>
                      <a:pt x="199" y="16864"/>
                    </a:moveTo>
                    <a:cubicBezTo>
                      <a:pt x="628" y="15562"/>
                      <a:pt x="2422" y="12030"/>
                      <a:pt x="4914" y="9244"/>
                    </a:cubicBezTo>
                    <a:cubicBezTo>
                      <a:pt x="7406" y="6458"/>
                      <a:pt x="15582" y="-1154"/>
                      <a:pt x="15153" y="148"/>
                    </a:cubicBezTo>
                    <a:cubicBezTo>
                      <a:pt x="14724" y="1450"/>
                      <a:pt x="4834" y="14269"/>
                      <a:pt x="2342" y="17055"/>
                    </a:cubicBezTo>
                    <a:cubicBezTo>
                      <a:pt x="-150" y="19841"/>
                      <a:pt x="-230" y="18166"/>
                      <a:pt x="199" y="168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 1" showMasterSp="0">
  <p:cSld name="65 - Titre, contenu, visuel à droite et bloc conclu - cadre blanc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p62"/>
          <p:cNvGrpSpPr/>
          <p:nvPr/>
        </p:nvGrpSpPr>
        <p:grpSpPr>
          <a:xfrm>
            <a:off x="7475475" y="301725"/>
            <a:ext cx="1392300" cy="1392300"/>
            <a:chOff x="7475475" y="301725"/>
            <a:chExt cx="1392300" cy="1392300"/>
          </a:xfrm>
        </p:grpSpPr>
        <p:sp>
          <p:nvSpPr>
            <p:cNvPr id="832" name="Google Shape;832;p62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62"/>
            <p:cNvSpPr txBox="1"/>
            <p:nvPr/>
          </p:nvSpPr>
          <p:spPr>
            <a:xfrm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34" name="Google Shape;834;p62"/>
          <p:cNvSpPr txBox="1"/>
          <p:nvPr>
            <p:ph type="title"/>
          </p:nvPr>
        </p:nvSpPr>
        <p:spPr>
          <a:xfrm>
            <a:off x="562825" y="361400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5" name="Google Shape;835;p62"/>
          <p:cNvSpPr txBox="1"/>
          <p:nvPr>
            <p:ph idx="1" type="body"/>
          </p:nvPr>
        </p:nvSpPr>
        <p:spPr>
          <a:xfrm>
            <a:off x="562825" y="956650"/>
            <a:ext cx="47904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800"/>
              <a:buFont typeface="Outfit"/>
              <a:buChar char="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000"/>
              <a:buFont typeface="Outfit"/>
              <a:buChar char="◎"/>
              <a:defRPr b="0" i="0" sz="1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667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utfit"/>
              <a:buChar char="●"/>
              <a:defRPr b="0" i="0" sz="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603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Outfit"/>
              <a:buChar char="○"/>
              <a:defRPr b="0" i="0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79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▴"/>
              <a:defRPr b="0" i="0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476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△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540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○"/>
              <a:defRPr b="0" i="0" sz="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6" name="Google Shape;836;p62"/>
          <p:cNvSpPr txBox="1"/>
          <p:nvPr>
            <p:ph idx="2" type="body"/>
          </p:nvPr>
        </p:nvSpPr>
        <p:spPr>
          <a:xfrm>
            <a:off x="6076950" y="2200275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 SemiBold"/>
              <a:buNone/>
              <a:defRPr b="0" i="0" sz="19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7" name="Google Shape;837;p62"/>
          <p:cNvSpPr/>
          <p:nvPr/>
        </p:nvSpPr>
        <p:spPr>
          <a:xfrm>
            <a:off x="5754900" y="16940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6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839" name="Google Shape;839;p6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840" name="Google Shape;840;p6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6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6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3" name="Google Shape;843;p62"/>
            <p:cNvCxnSpPr>
              <a:stCxn id="8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5" name="Google Shape;845;p6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6" name="Google Shape;846;p62"/>
            <p:cNvCxnSpPr>
              <a:endCxn id="8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7" name="Google Shape;847;p6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6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8" name="Google Shape;848;p62"/>
            <p:cNvCxnSpPr>
              <a:stCxn id="847" idx="2"/>
              <a:endCxn id="8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9" name="Google Shape;849;p6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850" name="Google Shape;850;p6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 1" showMasterSp="0">
  <p:cSld name="66 - Titre, sous-titre, contenu, visuel à droite et bloc conclu - cadre blanc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3"/>
          <p:cNvSpPr txBox="1"/>
          <p:nvPr>
            <p:ph type="title"/>
          </p:nvPr>
        </p:nvSpPr>
        <p:spPr>
          <a:xfrm>
            <a:off x="562825" y="361400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 SemiBold"/>
              <a:buNone/>
              <a:defRPr b="0" i="0" sz="1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3" name="Google Shape;853;p63"/>
          <p:cNvSpPr txBox="1"/>
          <p:nvPr>
            <p:ph idx="1" type="subTitle"/>
          </p:nvPr>
        </p:nvSpPr>
        <p:spPr>
          <a:xfrm>
            <a:off x="562825" y="840675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utfit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54" name="Google Shape;854;p63"/>
          <p:cNvSpPr txBox="1"/>
          <p:nvPr>
            <p:ph idx="2" type="body"/>
          </p:nvPr>
        </p:nvSpPr>
        <p:spPr>
          <a:xfrm>
            <a:off x="562825" y="127315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D2DD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79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540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476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○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476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Outfit"/>
              <a:buChar char="■"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5" name="Google Shape;855;p63"/>
          <p:cNvSpPr txBox="1"/>
          <p:nvPr>
            <p:ph idx="3" type="body"/>
          </p:nvPr>
        </p:nvSpPr>
        <p:spPr>
          <a:xfrm>
            <a:off x="6076950" y="2200275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 SemiBold"/>
              <a:buNone/>
              <a:defRPr b="0" i="0" sz="19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56" name="Google Shape;856;p63"/>
          <p:cNvSpPr/>
          <p:nvPr/>
        </p:nvSpPr>
        <p:spPr>
          <a:xfrm rot="10800000">
            <a:off x="7475475" y="301725"/>
            <a:ext cx="1392300" cy="13923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63"/>
          <p:cNvSpPr/>
          <p:nvPr/>
        </p:nvSpPr>
        <p:spPr>
          <a:xfrm>
            <a:off x="5754900" y="16940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6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859" name="Google Shape;859;p6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860" name="Google Shape;860;p6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6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6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3" name="Google Shape;863;p6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Century Gothic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chemeClr val="dk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864" name="Google Shape;864;p63"/>
            <p:cNvCxnSpPr>
              <a:stCxn id="8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6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7" name="Google Shape;867;p63"/>
            <p:cNvCxnSpPr>
              <a:endCxn id="8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8" name="Google Shape;868;p6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63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9" name="Google Shape;869;p63"/>
            <p:cNvCxnSpPr>
              <a:stCxn id="868" idx="2"/>
              <a:endCxn id="8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70" name="Google Shape;870;p6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2025 -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iBio [1]">
  <p:cSld name="03 - Titre et sous-titre_1_2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4"/>
          <p:cNvSpPr/>
          <p:nvPr/>
        </p:nvSpPr>
        <p:spPr>
          <a:xfrm>
            <a:off x="1352525" y="1474711"/>
            <a:ext cx="7077000" cy="3017400"/>
          </a:xfrm>
          <a:prstGeom prst="round2DiagRect">
            <a:avLst>
              <a:gd fmla="val 0" name="adj1"/>
              <a:gd fmla="val 2423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 b="0" i="0" sz="1200" u="none" cap="none" strike="noStrike">
              <a:solidFill>
                <a:srgbClr val="E1FDF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" name="Google Shape;873;p64"/>
          <p:cNvSpPr txBox="1"/>
          <p:nvPr>
            <p:ph idx="1" type="body"/>
          </p:nvPr>
        </p:nvSpPr>
        <p:spPr>
          <a:xfrm>
            <a:off x="2591500" y="1474700"/>
            <a:ext cx="583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0" lIns="270000" spcFirstLastPara="1" rIns="270000" wrap="square" tIns="9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4" name="Google Shape;874;p64"/>
          <p:cNvSpPr/>
          <p:nvPr/>
        </p:nvSpPr>
        <p:spPr>
          <a:xfrm>
            <a:off x="706600" y="3098899"/>
            <a:ext cx="1890300" cy="1393200"/>
          </a:xfrm>
          <a:prstGeom prst="round2DiagRect">
            <a:avLst>
              <a:gd fmla="val 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4"/>
          <p:cNvSpPr txBox="1"/>
          <p:nvPr>
            <p:ph idx="2" type="subTitle"/>
          </p:nvPr>
        </p:nvSpPr>
        <p:spPr>
          <a:xfrm>
            <a:off x="1206700" y="4656550"/>
            <a:ext cx="686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7200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6" name="Google Shape;876;p64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77" name="Google Shape;877;p64"/>
          <p:cNvSpPr txBox="1"/>
          <p:nvPr>
            <p:ph idx="3" type="subTitle"/>
          </p:nvPr>
        </p:nvSpPr>
        <p:spPr>
          <a:xfrm>
            <a:off x="913900" y="3098900"/>
            <a:ext cx="16776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000" lIns="91425" spcFirstLastPara="1" rIns="126000" wrap="square" tIns="1260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78" name="Google Shape;878;p64"/>
          <p:cNvGrpSpPr/>
          <p:nvPr/>
        </p:nvGrpSpPr>
        <p:grpSpPr>
          <a:xfrm>
            <a:off x="998581" y="4636526"/>
            <a:ext cx="179627" cy="239252"/>
            <a:chOff x="5906808" y="2949414"/>
            <a:chExt cx="738900" cy="984172"/>
          </a:xfrm>
        </p:grpSpPr>
        <p:sp>
          <p:nvSpPr>
            <p:cNvPr id="879" name="Google Shape;879;p64"/>
            <p:cNvSpPr/>
            <p:nvPr/>
          </p:nvSpPr>
          <p:spPr>
            <a:xfrm rot="2304170">
              <a:off x="5894972" y="3161653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4"/>
            <p:cNvSpPr/>
            <p:nvPr/>
          </p:nvSpPr>
          <p:spPr>
            <a:xfrm flipH="1" rot="8495830">
              <a:off x="5894972" y="3493925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1" name="Google Shape;881;p64"/>
          <p:cNvSpPr/>
          <p:nvPr>
            <p:ph idx="4" type="pic"/>
          </p:nvPr>
        </p:nvSpPr>
        <p:spPr>
          <a:xfrm>
            <a:off x="701500" y="1208898"/>
            <a:ext cx="1890000" cy="1890000"/>
          </a:xfrm>
          <a:prstGeom prst="round2DiagRect">
            <a:avLst>
              <a:gd fmla="val 33909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iBio [2]">
  <p:cSld name="03 - Titre et sous-titre_1_2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65"/>
          <p:cNvSpPr/>
          <p:nvPr/>
        </p:nvSpPr>
        <p:spPr>
          <a:xfrm>
            <a:off x="1352525" y="1474711"/>
            <a:ext cx="7077000" cy="3017400"/>
          </a:xfrm>
          <a:prstGeom prst="round2DiagRect">
            <a:avLst>
              <a:gd fmla="val 0" name="adj1"/>
              <a:gd fmla="val 2423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r>
              <a:t/>
            </a:r>
            <a:endParaRPr b="0" i="0" sz="1200" u="none" cap="none" strike="noStrike">
              <a:solidFill>
                <a:srgbClr val="E1FDF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4" name="Google Shape;884;p65"/>
          <p:cNvSpPr txBox="1"/>
          <p:nvPr>
            <p:ph idx="1" type="subTitle"/>
          </p:nvPr>
        </p:nvSpPr>
        <p:spPr>
          <a:xfrm>
            <a:off x="1206700" y="4656550"/>
            <a:ext cx="6868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7200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85" name="Google Shape;885;p65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86" name="Google Shape;886;p65"/>
          <p:cNvSpPr/>
          <p:nvPr/>
        </p:nvSpPr>
        <p:spPr>
          <a:xfrm rot="10800000">
            <a:off x="706600" y="3098900"/>
            <a:ext cx="1884900" cy="1393200"/>
          </a:xfrm>
          <a:prstGeom prst="round1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5"/>
          <p:cNvSpPr txBox="1"/>
          <p:nvPr>
            <p:ph idx="2" type="subTitle"/>
          </p:nvPr>
        </p:nvSpPr>
        <p:spPr>
          <a:xfrm>
            <a:off x="913900" y="3098900"/>
            <a:ext cx="16776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6000" lIns="91425" spcFirstLastPara="1" rIns="126000" wrap="square" tIns="1260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8" name="Google Shape;888;p65"/>
          <p:cNvSpPr txBox="1"/>
          <p:nvPr>
            <p:ph idx="3" type="body"/>
          </p:nvPr>
        </p:nvSpPr>
        <p:spPr>
          <a:xfrm>
            <a:off x="2591500" y="1474700"/>
            <a:ext cx="583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0" lIns="270000" spcFirstLastPara="1" rIns="270000" wrap="square" tIns="90000">
            <a:norm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"/>
              <a:buChar char="■"/>
              <a:defRPr b="0" i="0" sz="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889" name="Google Shape;889;p65"/>
          <p:cNvGrpSpPr/>
          <p:nvPr/>
        </p:nvGrpSpPr>
        <p:grpSpPr>
          <a:xfrm>
            <a:off x="998581" y="4636526"/>
            <a:ext cx="179627" cy="239252"/>
            <a:chOff x="5906808" y="2949414"/>
            <a:chExt cx="738900" cy="984172"/>
          </a:xfrm>
        </p:grpSpPr>
        <p:sp>
          <p:nvSpPr>
            <p:cNvPr id="890" name="Google Shape;890;p65"/>
            <p:cNvSpPr/>
            <p:nvPr/>
          </p:nvSpPr>
          <p:spPr>
            <a:xfrm rot="2304170">
              <a:off x="5894972" y="3161653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5"/>
            <p:cNvSpPr/>
            <p:nvPr/>
          </p:nvSpPr>
          <p:spPr>
            <a:xfrm flipH="1" rot="8495830">
              <a:off x="5894972" y="3493925"/>
              <a:ext cx="762573" cy="227422"/>
            </a:xfrm>
            <a:prstGeom prst="roundRect">
              <a:avLst>
                <a:gd fmla="val 50000" name="adj"/>
              </a:avLst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2" name="Google Shape;892;p65"/>
          <p:cNvSpPr/>
          <p:nvPr>
            <p:ph idx="4" type="pic"/>
          </p:nvPr>
        </p:nvSpPr>
        <p:spPr>
          <a:xfrm>
            <a:off x="701500" y="1208898"/>
            <a:ext cx="1890000" cy="18900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 2">
  <p:cSld name="03 - Titre et sous-titre_1_5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6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95" name="Google Shape;895;p66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 [1]">
  <p:cSld name="04 - Titre seul_1_2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7"/>
          <p:cNvSpPr/>
          <p:nvPr>
            <p:ph idx="2" type="pic"/>
          </p:nvPr>
        </p:nvSpPr>
        <p:spPr>
          <a:xfrm>
            <a:off x="8302775" y="0"/>
            <a:ext cx="841200" cy="8412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898" name="Google Shape;898;p67"/>
          <p:cNvSpPr/>
          <p:nvPr/>
        </p:nvSpPr>
        <p:spPr>
          <a:xfrm flipH="1">
            <a:off x="6683525" y="248375"/>
            <a:ext cx="1596900" cy="2667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0E2356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899" name="Google Shape;899;p67"/>
          <p:cNvGrpSpPr/>
          <p:nvPr/>
        </p:nvGrpSpPr>
        <p:grpSpPr>
          <a:xfrm>
            <a:off x="539500" y="515225"/>
            <a:ext cx="7988392" cy="4349277"/>
            <a:chOff x="537050" y="515225"/>
            <a:chExt cx="7988392" cy="4349277"/>
          </a:xfrm>
        </p:grpSpPr>
        <p:sp>
          <p:nvSpPr>
            <p:cNvPr id="900" name="Google Shape;900;p67"/>
            <p:cNvSpPr/>
            <p:nvPr/>
          </p:nvSpPr>
          <p:spPr>
            <a:xfrm>
              <a:off x="5049417" y="1231802"/>
              <a:ext cx="1767600" cy="3632700"/>
            </a:xfrm>
            <a:prstGeom prst="rect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01" name="Google Shape;901;p67"/>
            <p:cNvSpPr/>
            <p:nvPr/>
          </p:nvSpPr>
          <p:spPr>
            <a:xfrm flipH="1" rot="10800000">
              <a:off x="6816042" y="1231773"/>
              <a:ext cx="1709400" cy="3632700"/>
            </a:xfrm>
            <a:prstGeom prst="round1Rect">
              <a:avLst>
                <a:gd fmla="val 16667" name="adj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02" name="Google Shape;902;p67"/>
            <p:cNvSpPr/>
            <p:nvPr/>
          </p:nvSpPr>
          <p:spPr>
            <a:xfrm>
              <a:off x="537050" y="515225"/>
              <a:ext cx="7986600" cy="716400"/>
            </a:xfrm>
            <a:prstGeom prst="round2DiagRect">
              <a:avLst>
                <a:gd fmla="val 0" name="adj1"/>
                <a:gd fmla="val 26225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903" name="Google Shape;903;p67"/>
          <p:cNvSpPr txBox="1"/>
          <p:nvPr>
            <p:ph type="title"/>
          </p:nvPr>
        </p:nvSpPr>
        <p:spPr>
          <a:xfrm>
            <a:off x="539496" y="248375"/>
            <a:ext cx="6149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4850" spcFirstLastPara="1" rIns="5485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4" name="Google Shape;904;p67"/>
          <p:cNvSpPr txBox="1"/>
          <p:nvPr>
            <p:ph idx="1" type="body"/>
          </p:nvPr>
        </p:nvSpPr>
        <p:spPr>
          <a:xfrm>
            <a:off x="539500" y="1572768"/>
            <a:ext cx="42612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5" name="Google Shape;905;p67"/>
          <p:cNvSpPr txBox="1"/>
          <p:nvPr>
            <p:ph idx="3" type="subTitle"/>
          </p:nvPr>
        </p:nvSpPr>
        <p:spPr>
          <a:xfrm>
            <a:off x="539500" y="1335024"/>
            <a:ext cx="4261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50" spcFirstLastPara="1" rIns="5485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 [2]">
  <p:cSld name="04 - Titre seul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8"/>
          <p:cNvSpPr/>
          <p:nvPr/>
        </p:nvSpPr>
        <p:spPr>
          <a:xfrm>
            <a:off x="3864987" y="660584"/>
            <a:ext cx="858300" cy="858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08" name="Google Shape;908;p68"/>
          <p:cNvCxnSpPr>
            <a:stCxn id="907" idx="0"/>
          </p:cNvCxnSpPr>
          <p:nvPr/>
        </p:nvCxnSpPr>
        <p:spPr>
          <a:xfrm rot="10800000">
            <a:off x="3280137" y="660584"/>
            <a:ext cx="10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68"/>
          <p:cNvCxnSpPr>
            <a:stCxn id="910" idx="2"/>
            <a:endCxn id="907" idx="2"/>
          </p:cNvCxnSpPr>
          <p:nvPr/>
        </p:nvCxnSpPr>
        <p:spPr>
          <a:xfrm rot="10800000">
            <a:off x="4723312" y="1089756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68"/>
          <p:cNvSpPr/>
          <p:nvPr/>
        </p:nvSpPr>
        <p:spPr>
          <a:xfrm rot="10800000">
            <a:off x="4723312" y="4006206"/>
            <a:ext cx="858300" cy="858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11" name="Google Shape;911;p68"/>
          <p:cNvCxnSpPr/>
          <p:nvPr/>
        </p:nvCxnSpPr>
        <p:spPr>
          <a:xfrm rot="10800000">
            <a:off x="5152462" y="4864506"/>
            <a:ext cx="30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2" name="Google Shape;91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838841" y="3970295"/>
            <a:ext cx="533924" cy="9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68"/>
          <p:cNvSpPr txBox="1"/>
          <p:nvPr>
            <p:ph idx="1" type="body"/>
          </p:nvPr>
        </p:nvSpPr>
        <p:spPr>
          <a:xfrm>
            <a:off x="4800025" y="777275"/>
            <a:ext cx="38589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4" name="Google Shape;914;p68"/>
          <p:cNvSpPr txBox="1"/>
          <p:nvPr>
            <p:ph idx="2" type="body"/>
          </p:nvPr>
        </p:nvSpPr>
        <p:spPr>
          <a:xfrm>
            <a:off x="512064" y="777275"/>
            <a:ext cx="4142100" cy="3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2575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82575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82575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82575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82575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82575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82575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●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82575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○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82575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Outfit"/>
              <a:buChar char="■"/>
              <a:defRPr b="0" i="0" sz="8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5" name="Google Shape;915;p68"/>
          <p:cNvSpPr/>
          <p:nvPr/>
        </p:nvSpPr>
        <p:spPr>
          <a:xfrm rot="5400000">
            <a:off x="2107252" y="-1155444"/>
            <a:ext cx="242100" cy="3397500"/>
          </a:xfrm>
          <a:prstGeom prst="round2DiagRect">
            <a:avLst>
              <a:gd fmla="val 0" name="adj1"/>
              <a:gd fmla="val 39860" name="adj2"/>
            </a:avLst>
          </a:prstGeom>
          <a:solidFill>
            <a:srgbClr val="0E2356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68"/>
          <p:cNvGrpSpPr/>
          <p:nvPr/>
        </p:nvGrpSpPr>
        <p:grpSpPr>
          <a:xfrm>
            <a:off x="3744931" y="405175"/>
            <a:ext cx="266700" cy="266700"/>
            <a:chOff x="37136" y="1551801"/>
            <a:chExt cx="266700" cy="266700"/>
          </a:xfrm>
        </p:grpSpPr>
        <p:sp>
          <p:nvSpPr>
            <p:cNvPr id="917" name="Google Shape;917;p68"/>
            <p:cNvSpPr/>
            <p:nvPr/>
          </p:nvSpPr>
          <p:spPr>
            <a:xfrm>
              <a:off x="37136" y="1551801"/>
              <a:ext cx="266700" cy="266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Outfit Light"/>
                <a:ea typeface="Outfit Light"/>
                <a:cs typeface="Outfit Light"/>
                <a:sym typeface="Outfit Light"/>
              </a:endParaRPr>
            </a:p>
          </p:txBody>
        </p:sp>
        <p:sp>
          <p:nvSpPr>
            <p:cNvPr id="918" name="Google Shape;918;p68"/>
            <p:cNvSpPr/>
            <p:nvPr/>
          </p:nvSpPr>
          <p:spPr>
            <a:xfrm>
              <a:off x="98230" y="1612880"/>
              <a:ext cx="144600" cy="144600"/>
            </a:xfrm>
            <a:prstGeom prst="ellipse">
              <a:avLst/>
            </a:prstGeom>
            <a:solidFill>
              <a:srgbClr val="00D2DD"/>
            </a:solidFill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D2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 2">
  <p:cSld name="03 - Titre et sous-titre_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9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21" name="Google Shape;921;p69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Slide vide fond foncé" showMasterSp="0">
  <p:cSld name="07 - Slide vide fond foncé">
    <p:bg>
      <p:bgPr>
        <a:solidFill>
          <a:schemeClr val="lt1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70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924" name="Google Shape;924;p7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25" name="Google Shape;925;p7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26" name="Google Shape;926;p7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927" name="Google Shape;927;p70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28" name="Google Shape;928;p70"/>
          <p:cNvCxnSpPr>
            <a:stCxn id="929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70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1" name="Google Shape;931;p70"/>
          <p:cNvCxnSpPr>
            <a:endCxn id="930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2" name="Google Shape;932;p70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29" name="Google Shape;929;p70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3" name="Google Shape;933;p70"/>
          <p:cNvCxnSpPr>
            <a:stCxn id="932" idx="2"/>
            <a:endCxn id="930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70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35" name="Google Shape;935;p7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1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b="0"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38" name="Google Shape;938;p71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b="0"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939" name="Google Shape;939;p7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71"/>
          <p:cNvGrpSpPr/>
          <p:nvPr/>
        </p:nvGrpSpPr>
        <p:grpSpPr>
          <a:xfrm>
            <a:off x="2164723" y="1336707"/>
            <a:ext cx="4598402" cy="1873532"/>
            <a:chOff x="2164723" y="1336707"/>
            <a:chExt cx="4598402" cy="1873532"/>
          </a:xfrm>
        </p:grpSpPr>
        <p:cxnSp>
          <p:nvCxnSpPr>
            <p:cNvPr id="941" name="Google Shape;941;p7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2" name="Google Shape;942;p7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3" name="Google Shape;943;p71"/>
            <p:cNvCxnSpPr>
              <a:endCxn id="942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4" name="Google Shape;944;p71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71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6" name="Google Shape;946;p71"/>
            <p:cNvCxnSpPr>
              <a:stCxn id="944" idx="2"/>
              <a:endCxn id="942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47" name="Google Shape;947;p7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948" name="Google Shape;948;p71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949" name="Google Shape;949;p7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7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7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2" name="Google Shape;952;p7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53" name="Google Shape;953;p7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954" name="Google Shape;954;p71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955" name="Google Shape;955;p71"/>
            <p:cNvCxnSpPr>
              <a:stCxn id="956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7" name="Google Shape;957;p7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8" name="Google Shape;958;p71"/>
            <p:cNvCxnSpPr>
              <a:endCxn id="957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9" name="Google Shape;959;p71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71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0" name="Google Shape;960;p71"/>
            <p:cNvCxnSpPr>
              <a:stCxn id="959" idx="2"/>
              <a:endCxn id="957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61" name="Google Shape;961;p7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2" name="Google Shape;962;p71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3" name="Google Shape;963;p71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utfit SemiBold"/>
              <a:buNone/>
              <a:defRPr b="0"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2"/>
          <p:cNvSpPr/>
          <p:nvPr/>
        </p:nvSpPr>
        <p:spPr>
          <a:xfrm flipH="1" rot="5400000">
            <a:off x="1344924" y="364825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966" name="Google Shape;966;p7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72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68" name="Google Shape;968;p72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b="0"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9" name="Google Shape;969;p7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70" name="Google Shape;970;p72"/>
          <p:cNvCxnSpPr>
            <a:stCxn id="971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7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3" name="Google Shape;973;p72"/>
          <p:cNvCxnSpPr>
            <a:endCxn id="972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4" name="Google Shape;974;p7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1" name="Google Shape;971;p72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5" name="Google Shape;975;p72"/>
          <p:cNvCxnSpPr>
            <a:stCxn id="974" idx="2"/>
            <a:endCxn id="972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6" name="Google Shape;976;p7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7" name="Google Shape;977;p7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b="0" i="0" lang="en-US" sz="600" u="none" cap="none" strike="noStrike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b="0"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78" name="Google Shape;978;p7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9" name="Google Shape;979;p7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980" name="Google Shape;980;p72"/>
          <p:cNvGrpSpPr/>
          <p:nvPr/>
        </p:nvGrpSpPr>
        <p:grpSpPr>
          <a:xfrm>
            <a:off x="1450809" y="508105"/>
            <a:ext cx="170063" cy="166438"/>
            <a:chOff x="6838242" y="518225"/>
            <a:chExt cx="1247708" cy="1221114"/>
          </a:xfrm>
        </p:grpSpPr>
        <p:sp>
          <p:nvSpPr>
            <p:cNvPr id="981" name="Google Shape;981;p7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82" name="Google Shape;982;p7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83" name="Google Shape;983;p7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- Titre et visuel" showMasterSp="0">
  <p:cSld name="60 - Titre et visuel">
    <p:bg>
      <p:bgPr>
        <a:solidFill>
          <a:schemeClr val="lt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3"/>
          <p:cNvSpPr txBox="1"/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87" name="Google Shape;987;p73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88" name="Google Shape;988;p73"/>
          <p:cNvCxnSpPr>
            <a:stCxn id="989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0" name="Google Shape;990;p73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91" name="Google Shape;991;p73"/>
          <p:cNvCxnSpPr>
            <a:endCxn id="990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p73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89" name="Google Shape;989;p73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93" name="Google Shape;993;p73"/>
          <p:cNvCxnSpPr>
            <a:stCxn id="992" idx="2"/>
            <a:endCxn id="990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4" name="Google Shape;994;p73"/>
          <p:cNvSpPr/>
          <p:nvPr>
            <p:ph idx="2" type="pic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73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- Titre, sous-titre et visuel" showMasterSp="0">
  <p:cSld name="61 - Titre, sous-titre et visuel">
    <p:bg>
      <p:bgPr>
        <a:solidFill>
          <a:schemeClr val="lt1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4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fmla="val 161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998" name="Google Shape;998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4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000" name="Google Shape;1000;p74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b="0" i="0" sz="65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1" name="Google Shape;1001;p74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b="0" i="0" sz="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2" name="Google Shape;1002;p74"/>
          <p:cNvSpPr txBox="1"/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03" name="Google Shape;1003;p74"/>
          <p:cNvSpPr txBox="1"/>
          <p:nvPr>
            <p:ph idx="1" type="subTitle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04" name="Google Shape;1004;p74"/>
          <p:cNvSpPr/>
          <p:nvPr>
            <p:ph idx="2" type="pic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1005" name="Google Shape;1005;p7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2 - Visuel seul" showMasterSp="0">
  <p:cSld name="62 - Visuel seul">
    <p:bg>
      <p:bgPr>
        <a:solidFill>
          <a:schemeClr val="lt1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5"/>
          <p:cNvSpPr/>
          <p:nvPr>
            <p:ph idx="2" type="pic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7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b="1" i="0" sz="11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4 - Titre, sous-titre, contenu et visuel à droite - cadre blanc" showMasterSp="0">
  <p:cSld name="64 - Titre, sous-titre, contenu et visuel à droite - cadre blanc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011;p76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1012" name="Google Shape;1012;p76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13" name="Google Shape;1013;p76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14" name="Google Shape;1014;p76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1015" name="Google Shape;1015;p76"/>
            <p:cNvCxnSpPr>
              <a:stCxn id="1016" idx="2"/>
              <a:endCxn id="101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18" name="Google Shape;1018;p76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1019" name="Google Shape;1019;p76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20" name="Google Shape;1020;p76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1021" name="Google Shape;1021;p76"/>
              <p:cNvCxnSpPr>
                <a:stCxn id="102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7" name="Google Shape;1017;p76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1023" name="Google Shape;1023;p76"/>
              <p:cNvCxnSpPr>
                <a:endCxn id="101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16" name="Google Shape;1016;p76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22" name="Google Shape;1022;p76"/>
              <p:cNvSpPr/>
              <p:nvPr/>
            </p:nvSpPr>
            <p:spPr>
              <a:xfrm flipH="1" rot="-5400000">
                <a:off x="8575218" y="46661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1024" name="Google Shape;1024;p76"/>
          <p:cNvSpPr txBox="1"/>
          <p:nvPr>
            <p:ph idx="1" type="body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0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25" name="Google Shape;1025;p76"/>
          <p:cNvSpPr txBox="1"/>
          <p:nvPr>
            <p:ph idx="2" type="subTitle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26" name="Google Shape;1026;p76"/>
          <p:cNvSpPr txBox="1"/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27" name="Google Shape;1027;p76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1028" name="Google Shape;1028;p76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29" name="Google Shape;1029;p76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30" name="Google Shape;1030;p76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31" name="Google Shape;1031;p76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5 - Titre, contenu, visuel à droite et bloc conclu - cadre blanc" showMasterSp="0">
  <p:cSld name="65 - Titre, contenu, visuel à droite et bloc conclu - cadre blanc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77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1034" name="Google Shape;1034;p77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5" name="Google Shape;1035;p77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36" name="Google Shape;1036;p77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37" name="Google Shape;1037;p7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1038" name="Google Shape;1038;p7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39" name="Google Shape;1039;p77"/>
            <p:cNvCxnSpPr>
              <a:stCxn id="104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1" name="Google Shape;1041;p7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42" name="Google Shape;1042;p77"/>
            <p:cNvCxnSpPr>
              <a:endCxn id="104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3" name="Google Shape;1043;p7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0" name="Google Shape;1040;p77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44" name="Google Shape;1044;p77"/>
            <p:cNvCxnSpPr>
              <a:stCxn id="1043" idx="2"/>
              <a:endCxn id="104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5" name="Google Shape;1045;p7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1046" name="Google Shape;1046;p77"/>
          <p:cNvSpPr txBox="1"/>
          <p:nvPr>
            <p:ph idx="1" type="body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47" name="Google Shape;1047;p77"/>
          <p:cNvSpPr txBox="1"/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48" name="Google Shape;1048;p77"/>
          <p:cNvSpPr txBox="1"/>
          <p:nvPr>
            <p:ph idx="2" type="body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049" name="Google Shape;1049;p77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0" name="Google Shape;1050;p77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1" name="Google Shape;1051;p77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52" name="Google Shape;1052;p7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6 - Titre, sous-titre, contenu, visuel à droite et bloc conclu - cadre blanc" showMasterSp="0">
  <p:cSld name="66 - Titre, sous-titre, contenu, visuel à droite et bloc conclu - cadre blanc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8"/>
          <p:cNvSpPr txBox="1"/>
          <p:nvPr>
            <p:ph idx="1" type="body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5" name="Google Shape;1055;p78"/>
          <p:cNvSpPr txBox="1"/>
          <p:nvPr>
            <p:ph idx="2" type="subTitle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6" name="Google Shape;1056;p78"/>
          <p:cNvSpPr txBox="1"/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57" name="Google Shape;1057;p78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058" name="Google Shape;1058;p78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059" name="Google Shape;1059;p7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60" name="Google Shape;1060;p7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61" name="Google Shape;1061;p7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062" name="Google Shape;1062;p78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063" name="Google Shape;1063;p78"/>
            <p:cNvCxnSpPr>
              <a:stCxn id="106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5" name="Google Shape;1065;p78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66" name="Google Shape;1066;p78"/>
            <p:cNvCxnSpPr>
              <a:endCxn id="106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7" name="Google Shape;1067;p78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64" name="Google Shape;1064;p78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68" name="Google Shape;1068;p78"/>
            <p:cNvCxnSpPr>
              <a:stCxn id="1067" idx="2"/>
              <a:endCxn id="106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69" name="Google Shape;1069;p78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1070" name="Google Shape;1070;p78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71" name="Google Shape;1071;p78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72" name="Google Shape;1072;p78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73" name="Google Shape;1073;p78"/>
          <p:cNvSpPr txBox="1"/>
          <p:nvPr>
            <p:ph idx="3" type="body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074" name="Google Shape;1074;p78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5" name="Google Shape;1075;p7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7 - Titre, contenu et visuel à gauche - cadre blanc" showMasterSp="0">
  <p:cSld name="67 - Titre, contenu et visuel à gauche - cadre blanc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9"/>
          <p:cNvSpPr txBox="1"/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78" name="Google Shape;1078;p79"/>
          <p:cNvSpPr txBox="1"/>
          <p:nvPr>
            <p:ph idx="1" type="body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079" name="Google Shape;1079;p79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1080" name="Google Shape;1080;p79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81" name="Google Shape;1081;p79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82" name="Google Shape;1082;p79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083" name="Google Shape;1083;p79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084" name="Google Shape;1084;p79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85" name="Google Shape;1085;p79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086" name="Google Shape;1086;p79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087" name="Google Shape;1087;p7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088" name="Google Shape;1088;p79"/>
            <p:cNvCxnSpPr>
              <a:stCxn id="108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0" name="Google Shape;1090;p7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91" name="Google Shape;1091;p79"/>
            <p:cNvCxnSpPr>
              <a:endCxn id="109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2" name="Google Shape;1092;p7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89" name="Google Shape;1089;p79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093" name="Google Shape;1093;p79"/>
            <p:cNvCxnSpPr>
              <a:stCxn id="1092" idx="2"/>
              <a:endCxn id="109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94" name="Google Shape;1094;p7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8 - Titre, sous-titre, contenu et visuel à gauche - cadre blanc" showMasterSp="0">
  <p:cSld name="68 - Titre, sous-titre, contenu et visuel à gauche - cadre blanc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80"/>
          <p:cNvSpPr/>
          <p:nvPr/>
        </p:nvSpPr>
        <p:spPr>
          <a:xfrm flipH="1" rot="5400000">
            <a:off x="4143250" y="131125"/>
            <a:ext cx="4709400" cy="4865400"/>
          </a:xfrm>
          <a:prstGeom prst="round2SameRect">
            <a:avLst>
              <a:gd fmla="val 13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97" name="Google Shape;1097;p80"/>
          <p:cNvSpPr txBox="1"/>
          <p:nvPr>
            <p:ph idx="1" type="subTitle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8" name="Google Shape;1098;p80"/>
          <p:cNvSpPr txBox="1"/>
          <p:nvPr>
            <p:ph idx="2" type="body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9" name="Google Shape;1099;p80"/>
          <p:cNvSpPr txBox="1"/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00" name="Google Shape;1100;p80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1101" name="Google Shape;1101;p80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02" name="Google Shape;1102;p80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103" name="Google Shape;1103;p80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04" name="Google Shape;1104;p80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05" name="Google Shape;1105;p8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06" name="Google Shape;1106;p8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07" name="Google Shape;1107;p8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08" name="Google Shape;1108;p8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09" name="Google Shape;1109;p80"/>
            <p:cNvCxnSpPr>
              <a:stCxn id="111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1" name="Google Shape;1111;p8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12" name="Google Shape;1112;p80"/>
            <p:cNvCxnSpPr>
              <a:endCxn id="111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3" name="Google Shape;1113;p8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10" name="Google Shape;1110;p80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14" name="Google Shape;1114;p80"/>
            <p:cNvCxnSpPr>
              <a:stCxn id="1113" idx="2"/>
              <a:endCxn id="111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5" name="Google Shape;1115;p8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9 - Titre, contenu, visuel à gauche et bloc conclu - cadre blanc" showMasterSp="0">
  <p:cSld name="69 - Titre, contenu, visuel à gauche et bloc conclu - cadre blanc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81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18" name="Google Shape;1118;p81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19" name="Google Shape;1119;p8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20" name="Google Shape;1120;p8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21" name="Google Shape;1121;p8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22" name="Google Shape;1122;p8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23" name="Google Shape;1123;p81"/>
            <p:cNvCxnSpPr>
              <a:stCxn id="112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5" name="Google Shape;1125;p8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26" name="Google Shape;1126;p81"/>
            <p:cNvCxnSpPr>
              <a:endCxn id="112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8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4" name="Google Shape;1124;p81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28" name="Google Shape;1128;p81"/>
            <p:cNvCxnSpPr>
              <a:stCxn id="1127" idx="2"/>
              <a:endCxn id="112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29" name="Google Shape;1129;p81"/>
          <p:cNvSpPr txBox="1"/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30" name="Google Shape;1130;p81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1131" name="Google Shape;1131;p81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32" name="Google Shape;1132;p81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133" name="Google Shape;1133;p81"/>
          <p:cNvSpPr txBox="1"/>
          <p:nvPr>
            <p:ph idx="1" type="body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4" name="Google Shape;1134;p81"/>
          <p:cNvSpPr txBox="1"/>
          <p:nvPr>
            <p:ph idx="2" type="body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5" name="Google Shape;1135;p81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36" name="Google Shape;1136;p8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0 - Titre, sous-titre, contenu, visuel à gauche et bloc conclu - cadre blanc" showMasterSp="0">
  <p:cSld name="70 - Titre, sous-titre, contenu, visuel à gauche et bloc conclu - cadre blanc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82"/>
          <p:cNvGrpSpPr/>
          <p:nvPr/>
        </p:nvGrpSpPr>
        <p:grpSpPr>
          <a:xfrm>
            <a:off x="276299" y="292130"/>
            <a:ext cx="8682476" cy="4588395"/>
            <a:chOff x="276299" y="292130"/>
            <a:chExt cx="8682476" cy="4588395"/>
          </a:xfrm>
        </p:grpSpPr>
        <p:grpSp>
          <p:nvGrpSpPr>
            <p:cNvPr id="1139" name="Google Shape;1139;p82"/>
            <p:cNvGrpSpPr/>
            <p:nvPr/>
          </p:nvGrpSpPr>
          <p:grpSpPr>
            <a:xfrm>
              <a:off x="276299" y="292130"/>
              <a:ext cx="170063" cy="166438"/>
              <a:chOff x="6838242" y="518225"/>
              <a:chExt cx="1247708" cy="1221114"/>
            </a:xfrm>
          </p:grpSpPr>
          <p:sp>
            <p:nvSpPr>
              <p:cNvPr id="1140" name="Google Shape;1140;p8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41" name="Google Shape;1141;p8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fmla="val 20918" name="adj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1142" name="Google Shape;1142;p8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1143" name="Google Shape;1143;p8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b="0" i="0" lang="en-US" sz="800" u="none" cap="none" strike="noStrik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b="0" i="0" lang="en-US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b="0" i="0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1144" name="Google Shape;1144;p82"/>
            <p:cNvCxnSpPr>
              <a:stCxn id="114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8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47" name="Google Shape;1147;p82"/>
            <p:cNvCxnSpPr>
              <a:endCxn id="114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8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45" name="Google Shape;1145;p82"/>
            <p:cNvSpPr/>
            <p:nvPr/>
          </p:nvSpPr>
          <p:spPr>
            <a:xfrm flipH="1" rot="-5400000">
              <a:off x="8575218" y="4666195"/>
              <a:ext cx="200700" cy="1962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49" name="Google Shape;1149;p82"/>
            <p:cNvCxnSpPr>
              <a:stCxn id="1148" idx="2"/>
              <a:endCxn id="114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cap="flat" cmpd="sng" w="9525">
              <a:solidFill>
                <a:srgbClr val="0E235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50" name="Google Shape;1150;p82"/>
          <p:cNvSpPr txBox="1"/>
          <p:nvPr>
            <p:ph idx="1" type="body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1" name="Google Shape;1151;p82"/>
          <p:cNvSpPr txBox="1"/>
          <p:nvPr>
            <p:ph idx="2" type="subTitle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2" name="Google Shape;1152;p82"/>
          <p:cNvSpPr txBox="1"/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1153" name="Google Shape;1153;p82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1154" name="Google Shape;1154;p82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55" name="Google Shape;1155;p82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156" name="Google Shape;1156;p82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57" name="Google Shape;1157;p82"/>
          <p:cNvSpPr txBox="1"/>
          <p:nvPr>
            <p:ph idx="3" type="body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1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58" name="Google Shape;1158;p8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0 - Table des matières [2]">
  <p:cSld name="90 - Table des matières [2]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3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1" name="Google Shape;1161;p83"/>
          <p:cNvSpPr txBox="1"/>
          <p:nvPr>
            <p:ph idx="1" type="body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2" name="Google Shape;1162;p83"/>
          <p:cNvSpPr txBox="1"/>
          <p:nvPr>
            <p:ph idx="2" type="body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3" name="Google Shape;1163;p83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64" name="Google Shape;1164;p83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65" name="Google Shape;1165;p83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66" name="Google Shape;1166;p83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1 - Table des matières [3]">
  <p:cSld name="91 - Table des matières [3]"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4"/>
          <p:cNvSpPr txBox="1"/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69" name="Google Shape;1169;p84"/>
          <p:cNvSpPr txBox="1"/>
          <p:nvPr>
            <p:ph idx="1" type="body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0" name="Google Shape;1170;p84"/>
          <p:cNvSpPr txBox="1"/>
          <p:nvPr>
            <p:ph idx="2" type="body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1" name="Google Shape;1171;p84"/>
          <p:cNvSpPr txBox="1"/>
          <p:nvPr>
            <p:ph idx="3" type="body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72" name="Google Shape;1172;p84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3" name="Google Shape;1173;p84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4" name="Google Shape;1174;p84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75" name="Google Shape;1175;p84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6" name="Google Shape;1176;p84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7" name="Google Shape;1177;p84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2 - Table des matières [4]">
  <p:cSld name="92 - Table des matières [4]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5"/>
          <p:cNvSpPr txBox="1"/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0" name="Google Shape;1180;p85"/>
          <p:cNvSpPr txBox="1"/>
          <p:nvPr>
            <p:ph idx="1" type="body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1" name="Google Shape;1181;p85"/>
          <p:cNvSpPr txBox="1"/>
          <p:nvPr>
            <p:ph idx="2" type="body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2" name="Google Shape;1182;p85"/>
          <p:cNvSpPr txBox="1"/>
          <p:nvPr>
            <p:ph idx="3" type="body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3" name="Google Shape;1183;p85"/>
          <p:cNvSpPr txBox="1"/>
          <p:nvPr>
            <p:ph idx="4" type="body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84" name="Google Shape;1184;p85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5" name="Google Shape;1185;p85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6" name="Google Shape;1186;p85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7" name="Google Shape;1187;p85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88" name="Google Shape;1188;p85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89" name="Google Shape;1189;p85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0" name="Google Shape;1190;p85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1" name="Google Shape;1191;p85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3 - Table des matières [5]">
  <p:cSld name="93 - Table des matières [5]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6"/>
          <p:cNvSpPr txBox="1"/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4" name="Google Shape;1194;p86"/>
          <p:cNvSpPr txBox="1"/>
          <p:nvPr>
            <p:ph idx="1" type="body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5" name="Google Shape;1195;p86"/>
          <p:cNvSpPr txBox="1"/>
          <p:nvPr>
            <p:ph idx="2" type="body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6" name="Google Shape;1196;p86"/>
          <p:cNvSpPr txBox="1"/>
          <p:nvPr>
            <p:ph idx="3" type="body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7" name="Google Shape;1197;p86"/>
          <p:cNvSpPr txBox="1"/>
          <p:nvPr>
            <p:ph idx="4" type="body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8" name="Google Shape;1198;p86"/>
          <p:cNvSpPr txBox="1"/>
          <p:nvPr>
            <p:ph idx="5" type="body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99" name="Google Shape;1199;p86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0" name="Google Shape;1200;p86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1" name="Google Shape;1201;p86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2" name="Google Shape;1202;p86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3" name="Google Shape;1203;p86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04" name="Google Shape;1204;p86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5" name="Google Shape;1205;p86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6" name="Google Shape;1206;p86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7" name="Google Shape;1207;p86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8" name="Google Shape;1208;p86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4 - Table des matières [6]">
  <p:cSld name="94 - Table des matières [6]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7"/>
          <p:cNvSpPr txBox="1"/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1" name="Google Shape;1211;p87"/>
          <p:cNvSpPr txBox="1"/>
          <p:nvPr>
            <p:ph idx="1" type="body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2" name="Google Shape;1212;p87"/>
          <p:cNvSpPr txBox="1"/>
          <p:nvPr>
            <p:ph idx="2" type="body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3" name="Google Shape;1213;p87"/>
          <p:cNvSpPr txBox="1"/>
          <p:nvPr>
            <p:ph idx="3" type="body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4" name="Google Shape;1214;p87"/>
          <p:cNvSpPr txBox="1"/>
          <p:nvPr>
            <p:ph idx="4" type="body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5" name="Google Shape;1215;p87"/>
          <p:cNvSpPr txBox="1"/>
          <p:nvPr>
            <p:ph idx="5" type="body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6" name="Google Shape;1216;p87"/>
          <p:cNvSpPr txBox="1"/>
          <p:nvPr>
            <p:ph idx="6" type="body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17" name="Google Shape;1217;p87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18" name="Google Shape;1218;p87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19" name="Google Shape;1219;p87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0" name="Google Shape;1220;p87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1" name="Google Shape;1221;p87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2" name="Google Shape;1222;p87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23" name="Google Shape;1223;p87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4" name="Google Shape;1224;p87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1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5" name="Google Shape;1225;p87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6" name="Google Shape;1226;p87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7" name="Google Shape;1227;p87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28" name="Google Shape;1228;p87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5 - Table des matières [7]">
  <p:cSld name="95 - Table des matières [7]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88"/>
          <p:cNvSpPr txBox="1"/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1" name="Google Shape;1231;p88"/>
          <p:cNvSpPr txBox="1"/>
          <p:nvPr>
            <p:ph idx="1" type="body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2" name="Google Shape;1232;p88"/>
          <p:cNvSpPr txBox="1"/>
          <p:nvPr>
            <p:ph idx="2" type="body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3" name="Google Shape;1233;p88"/>
          <p:cNvSpPr txBox="1"/>
          <p:nvPr>
            <p:ph idx="3" type="body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4" name="Google Shape;1234;p88"/>
          <p:cNvSpPr txBox="1"/>
          <p:nvPr>
            <p:ph idx="4" type="body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5" name="Google Shape;1235;p88"/>
          <p:cNvSpPr txBox="1"/>
          <p:nvPr>
            <p:ph idx="5" type="body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6" name="Google Shape;1236;p88"/>
          <p:cNvSpPr txBox="1"/>
          <p:nvPr>
            <p:ph idx="6" type="body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7" name="Google Shape;1237;p88"/>
          <p:cNvSpPr txBox="1"/>
          <p:nvPr>
            <p:ph idx="7" type="body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38" name="Google Shape;1238;p88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39" name="Google Shape;1239;p88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0" name="Google Shape;1240;p88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1" name="Google Shape;1241;p88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2" name="Google Shape;1242;p88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3" name="Google Shape;1243;p88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4" name="Google Shape;1244;p88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45" name="Google Shape;1245;p88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6" name="Google Shape;1246;p88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7" name="Google Shape;1247;p88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8" name="Google Shape;1248;p88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9" name="Google Shape;1249;p88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0" name="Google Shape;1250;p88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1" name="Google Shape;1251;p88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6 - Table des matières [8]">
  <p:cSld name="96 - Table des matières [8]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9"/>
          <p:cNvSpPr txBox="1"/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4" name="Google Shape;1254;p89"/>
          <p:cNvSpPr txBox="1"/>
          <p:nvPr>
            <p:ph idx="1" type="body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5" name="Google Shape;1255;p89"/>
          <p:cNvSpPr txBox="1"/>
          <p:nvPr>
            <p:ph idx="2" type="body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6" name="Google Shape;1256;p89"/>
          <p:cNvSpPr txBox="1"/>
          <p:nvPr>
            <p:ph idx="3" type="body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7" name="Google Shape;1257;p89"/>
          <p:cNvSpPr txBox="1"/>
          <p:nvPr>
            <p:ph idx="4" type="body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8" name="Google Shape;1258;p89"/>
          <p:cNvSpPr txBox="1"/>
          <p:nvPr>
            <p:ph idx="5" type="body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59" name="Google Shape;1259;p89"/>
          <p:cNvSpPr txBox="1"/>
          <p:nvPr>
            <p:ph idx="6" type="body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0" name="Google Shape;1260;p89"/>
          <p:cNvSpPr txBox="1"/>
          <p:nvPr>
            <p:ph idx="7" type="body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1" name="Google Shape;1261;p89"/>
          <p:cNvSpPr txBox="1"/>
          <p:nvPr>
            <p:ph idx="8" type="body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62" name="Google Shape;1262;p89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3" name="Google Shape;1263;p89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4" name="Google Shape;1264;p89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5" name="Google Shape;1265;p89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6" name="Google Shape;1266;p89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7" name="Google Shape;1267;p89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8" name="Google Shape;1268;p89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69" name="Google Shape;1269;p89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0" name="Google Shape;1270;p89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1" name="Google Shape;1271;p89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2" name="Google Shape;1272;p89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3" name="Google Shape;1273;p89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4" name="Google Shape;1274;p89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5" name="Google Shape;1275;p89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76" name="Google Shape;1276;p89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77" name="Google Shape;1277;p89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7 - Table des matières [9]">
  <p:cSld name="97 - Table des matières [9]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0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0" name="Google Shape;1280;p90"/>
          <p:cNvSpPr txBox="1"/>
          <p:nvPr>
            <p:ph idx="1" type="body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1" name="Google Shape;1281;p90"/>
          <p:cNvSpPr txBox="1"/>
          <p:nvPr>
            <p:ph idx="2" type="body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2" name="Google Shape;1282;p90"/>
          <p:cNvSpPr txBox="1"/>
          <p:nvPr>
            <p:ph idx="3" type="body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3" name="Google Shape;1283;p90"/>
          <p:cNvSpPr txBox="1"/>
          <p:nvPr>
            <p:ph idx="4" type="body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4" name="Google Shape;1284;p90"/>
          <p:cNvSpPr txBox="1"/>
          <p:nvPr>
            <p:ph idx="5" type="body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5" name="Google Shape;1285;p90"/>
          <p:cNvSpPr txBox="1"/>
          <p:nvPr>
            <p:ph idx="6" type="body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6" name="Google Shape;1286;p90"/>
          <p:cNvSpPr txBox="1"/>
          <p:nvPr>
            <p:ph idx="7" type="body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7" name="Google Shape;1287;p90"/>
          <p:cNvSpPr txBox="1"/>
          <p:nvPr>
            <p:ph idx="8" type="body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8" name="Google Shape;1288;p90"/>
          <p:cNvSpPr txBox="1"/>
          <p:nvPr>
            <p:ph idx="9" type="body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289" name="Google Shape;1289;p90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0" name="Google Shape;1290;p90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1" name="Google Shape;1291;p90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2" name="Google Shape;1292;p90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3" name="Google Shape;1293;p90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4" name="Google Shape;1294;p90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5" name="Google Shape;1295;p90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296" name="Google Shape;1296;p90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7" name="Google Shape;1297;p90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8" name="Google Shape;1298;p90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99" name="Google Shape;1299;p90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0" name="Google Shape;1300;p90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1" name="Google Shape;1301;p90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2" name="Google Shape;1302;p90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3" name="Google Shape;1303;p90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04" name="Google Shape;1304;p90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05" name="Google Shape;1305;p90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06" name="Google Shape;1306;p90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8 - Table des matières [10]">
  <p:cSld name="98 - Table des matières [10]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1"/>
          <p:cNvSpPr txBox="1"/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09" name="Google Shape;1309;p91"/>
          <p:cNvSpPr txBox="1"/>
          <p:nvPr>
            <p:ph idx="1" type="body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0" name="Google Shape;1310;p91"/>
          <p:cNvSpPr txBox="1"/>
          <p:nvPr>
            <p:ph idx="2" type="body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1" name="Google Shape;1311;p91"/>
          <p:cNvSpPr txBox="1"/>
          <p:nvPr>
            <p:ph idx="3" type="body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2" name="Google Shape;1312;p91"/>
          <p:cNvSpPr txBox="1"/>
          <p:nvPr>
            <p:ph idx="4" type="body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3" name="Google Shape;1313;p91"/>
          <p:cNvSpPr txBox="1"/>
          <p:nvPr>
            <p:ph idx="5" type="body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4" name="Google Shape;1314;p91"/>
          <p:cNvSpPr txBox="1"/>
          <p:nvPr>
            <p:ph idx="6" type="body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5" name="Google Shape;1315;p91"/>
          <p:cNvSpPr txBox="1"/>
          <p:nvPr>
            <p:ph idx="7" type="body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6" name="Google Shape;1316;p91"/>
          <p:cNvSpPr txBox="1"/>
          <p:nvPr>
            <p:ph idx="8" type="body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7" name="Google Shape;1317;p91"/>
          <p:cNvSpPr txBox="1"/>
          <p:nvPr>
            <p:ph idx="9" type="body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8" name="Google Shape;1318;p91"/>
          <p:cNvSpPr txBox="1"/>
          <p:nvPr>
            <p:ph idx="13" type="body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19" name="Google Shape;1319;p91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0" name="Google Shape;1320;p91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1" name="Google Shape;1321;p91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2" name="Google Shape;1322;p91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3" name="Google Shape;1323;p91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4" name="Google Shape;1324;p91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5" name="Google Shape;1325;p91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26" name="Google Shape;1326;p91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7" name="Google Shape;1327;p91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8" name="Google Shape;1328;p91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9" name="Google Shape;1329;p91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0" name="Google Shape;1330;p91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1" name="Google Shape;1331;p91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2" name="Google Shape;1332;p91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3" name="Google Shape;1333;p91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4" name="Google Shape;1334;p91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5" name="Google Shape;1335;p91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6" name="Google Shape;1336;p91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37" name="Google Shape;1337;p91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fmla="val 100000" name="adj"/>
            </a:avLst>
          </a:prstGeom>
          <a:noFill/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338" name="Google Shape;1338;p91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b="1" i="0" lang="en-US" sz="17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17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 1 1">
  <p:cSld name="03 - Titre et sous-titre_1_2_3"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2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41" name="Google Shape;1341;p92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0.xml"/><Relationship Id="rId38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72.xml"/><Relationship Id="rId40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75.xml"/><Relationship Id="rId43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77.xml"/><Relationship Id="rId45" Type="http://schemas.openxmlformats.org/officeDocument/2006/relationships/slideLayout" Target="../slideLayouts/slideLayout78.xml"/><Relationship Id="rId46" Type="http://schemas.openxmlformats.org/officeDocument/2006/relationships/slideLayout" Target="../slideLayouts/slideLayout79.xml"/><Relationship Id="rId47" Type="http://schemas.openxmlformats.org/officeDocument/2006/relationships/slideLayout" Target="../slideLayouts/slideLayout80.xml"/><Relationship Id="rId48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82.xml"/><Relationship Id="rId50" Type="http://schemas.openxmlformats.org/officeDocument/2006/relationships/slideLayout" Target="../slideLayouts/slideLayout83.xml"/><Relationship Id="rId51" Type="http://schemas.openxmlformats.org/officeDocument/2006/relationships/slideLayout" Target="../slideLayouts/slideLayout84.xml"/><Relationship Id="rId52" Type="http://schemas.openxmlformats.org/officeDocument/2006/relationships/slideLayout" Target="../slideLayouts/slideLayout85.xml"/><Relationship Id="rId53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87.xml"/><Relationship Id="rId55" Type="http://schemas.openxmlformats.org/officeDocument/2006/relationships/slideLayout" Target="../slideLayouts/slideLayout88.xml"/><Relationship Id="rId56" Type="http://schemas.openxmlformats.org/officeDocument/2006/relationships/slideLayout" Target="../slideLayouts/slideLayout89.xml"/><Relationship Id="rId57" Type="http://schemas.openxmlformats.org/officeDocument/2006/relationships/slideLayout" Target="../slideLayouts/slideLayout90.xml"/><Relationship Id="rId5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35"/>
          <p:cNvGrpSpPr/>
          <p:nvPr/>
        </p:nvGrpSpPr>
        <p:grpSpPr>
          <a:xfrm>
            <a:off x="276299" y="292130"/>
            <a:ext cx="170063" cy="166438"/>
            <a:chOff x="6838242" y="518225"/>
            <a:chExt cx="1247708" cy="1221114"/>
          </a:xfrm>
        </p:grpSpPr>
        <p:sp>
          <p:nvSpPr>
            <p:cNvPr id="565" name="Google Shape;565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567" name="Google Shape;567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568" name="Google Shape;568;p35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569" name="Google Shape;569;p35"/>
          <p:cNvCxnSpPr>
            <a:stCxn id="57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35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72" name="Google Shape;572;p35"/>
          <p:cNvCxnSpPr>
            <a:endCxn id="57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35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0" name="Google Shape;570;p35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574" name="Google Shape;574;p35"/>
          <p:cNvCxnSpPr>
            <a:stCxn id="573" idx="2"/>
            <a:endCxn id="57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5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b="0" i="0" lang="en-US" sz="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2026 - All rights reserved</a:t>
            </a:r>
            <a:endParaRPr b="0" i="0" sz="5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1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3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Offre Infra as a Product</a:t>
            </a:r>
            <a:endParaRPr/>
          </a:p>
        </p:txBody>
      </p:sp>
      <p:sp>
        <p:nvSpPr>
          <p:cNvPr id="1347" name="Google Shape;1347;p93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r>
              <a:rPr lang="en-US"/>
              <a:t>26</a:t>
            </a:r>
            <a:endParaRPr/>
          </a:p>
        </p:txBody>
      </p:sp>
      <p:sp>
        <p:nvSpPr>
          <p:cNvPr id="1348" name="Google Shape;1348;p93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/>
          </a:p>
        </p:txBody>
      </p:sp>
      <p:sp>
        <p:nvSpPr>
          <p:cNvPr id="1349" name="TextBox 1348"/>
          <p:cNvSpPr txBox="1"/>
          <p:nvPr/>
        </p:nvSpPr>
        <p:spPr>
          <a:xfrm>
            <a:off x="1655064" y="2560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Outfit"/>
              </a:rPr>
              <a:t>Faire de l'infrastructure un produit que ses utilisateurs choisissent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95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362" name="Google Shape;1362;p95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r>
              <a:t>L'offre en cinq points</a:t>
            </a:r>
          </a:p>
        </p:txBody>
      </p:sp>
      <p:sp>
        <p:nvSpPr>
          <p:cNvPr id="1363" name="Rounded Rectangle 1362"/>
          <p:cNvSpPr/>
          <p:nvPr/>
        </p:nvSpPr>
        <p:spPr>
          <a:xfrm>
            <a:off x="1481328" y="1261872"/>
            <a:ext cx="6885432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4" name="Rounded Rectangle 1363"/>
          <p:cNvSpPr/>
          <p:nvPr/>
        </p:nvSpPr>
        <p:spPr>
          <a:xfrm>
            <a:off x="566928" y="1380743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5" name="TextBox 1364"/>
          <p:cNvSpPr txBox="1"/>
          <p:nvPr/>
        </p:nvSpPr>
        <p:spPr>
          <a:xfrm>
            <a:off x="603504" y="1380743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0E2356"/>
                </a:solidFill>
                <a:latin typeface="Outfit"/>
              </a:rPr>
              <a:t>Le constat</a:t>
            </a:r>
          </a:p>
        </p:txBody>
      </p:sp>
      <p:sp>
        <p:nvSpPr>
          <p:cNvPr id="1366" name="TextBox 1365"/>
          <p:cNvSpPr txBox="1"/>
          <p:nvPr/>
        </p:nvSpPr>
        <p:spPr>
          <a:xfrm>
            <a:off x="2578608" y="1261872"/>
            <a:ext cx="56509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L'infra est devenue un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guichet saturé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 : RUN subi, experts drainés sur du répétitif, offre illisible, plateformes contournées.</a:t>
            </a:r>
          </a:p>
        </p:txBody>
      </p:sp>
      <p:sp>
        <p:nvSpPr>
          <p:cNvPr id="1367" name="Rounded Rectangle 1366"/>
          <p:cNvSpPr/>
          <p:nvPr/>
        </p:nvSpPr>
        <p:spPr>
          <a:xfrm>
            <a:off x="1481328" y="1920239"/>
            <a:ext cx="6885432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8" name="Rounded Rectangle 1367"/>
          <p:cNvSpPr/>
          <p:nvPr/>
        </p:nvSpPr>
        <p:spPr>
          <a:xfrm>
            <a:off x="566928" y="2039111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9" name="TextBox 1368"/>
          <p:cNvSpPr txBox="1"/>
          <p:nvPr/>
        </p:nvSpPr>
        <p:spPr>
          <a:xfrm>
            <a:off x="603504" y="2039111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La cible</a:t>
            </a:r>
          </a:p>
        </p:txBody>
      </p:sp>
      <p:sp>
        <p:nvSpPr>
          <p:cNvPr id="1370" name="TextBox 1369"/>
          <p:cNvSpPr txBox="1"/>
          <p:nvPr/>
        </p:nvSpPr>
        <p:spPr>
          <a:xfrm>
            <a:off x="2578608" y="1920239"/>
            <a:ext cx="56509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/>
            </a:r>
            <a:r>
              <a:rPr sz="1050" b="1" i="0">
                <a:solidFill>
                  <a:srgbClr val="0E2356"/>
                </a:solidFill>
                <a:latin typeface="Outfit"/>
              </a:rPr>
              <a:t>Infra as a product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 : des utilisateurs identifiés, un catalogue de capacités, un propriétaire, une roadmap et une valeur mesurée.</a:t>
            </a:r>
          </a:p>
        </p:txBody>
      </p:sp>
      <p:sp>
        <p:nvSpPr>
          <p:cNvPr id="1371" name="Rounded Rectangle 1370"/>
          <p:cNvSpPr/>
          <p:nvPr/>
        </p:nvSpPr>
        <p:spPr>
          <a:xfrm>
            <a:off x="1481328" y="2578608"/>
            <a:ext cx="6885432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2" name="Rounded Rectangle 1371"/>
          <p:cNvSpPr/>
          <p:nvPr/>
        </p:nvSpPr>
        <p:spPr>
          <a:xfrm>
            <a:off x="566928" y="2697479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603504" y="2697479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Pourquoi maintenant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2578608" y="2578608"/>
            <a:ext cx="56509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80 % des grandes organisations ont une platform team en 2026,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moins de 30 %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 en tirent des gains mesurables (Gartner) ; l'IA amplifie une organisation mûre, jamais l'inverse.</a:t>
            </a:r>
          </a:p>
        </p:txBody>
      </p:sp>
      <p:sp>
        <p:nvSpPr>
          <p:cNvPr id="1375" name="Rounded Rectangle 1374"/>
          <p:cNvSpPr/>
          <p:nvPr/>
        </p:nvSpPr>
        <p:spPr>
          <a:xfrm>
            <a:off x="1481328" y="3236976"/>
            <a:ext cx="6885432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6" name="Rounded Rectangle 1375"/>
          <p:cNvSpPr/>
          <p:nvPr/>
        </p:nvSpPr>
        <p:spPr>
          <a:xfrm>
            <a:off x="566928" y="335584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7" name="TextBox 1376"/>
          <p:cNvSpPr txBox="1"/>
          <p:nvPr/>
        </p:nvSpPr>
        <p:spPr>
          <a:xfrm>
            <a:off x="603504" y="3355848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La démarche</a:t>
            </a:r>
          </a:p>
        </p:txBody>
      </p:sp>
      <p:sp>
        <p:nvSpPr>
          <p:cNvPr id="1378" name="TextBox 1377"/>
          <p:cNvSpPr txBox="1"/>
          <p:nvPr/>
        </p:nvSpPr>
        <p:spPr>
          <a:xfrm>
            <a:off x="2578608" y="3236976"/>
            <a:ext cx="56509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Un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Assessment flash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 d'entrée qui chiffre le statu quo, puis une trajectoire : cadrer l'offre, assainir, transformer.</a:t>
            </a:r>
          </a:p>
        </p:txBody>
      </p:sp>
      <p:sp>
        <p:nvSpPr>
          <p:cNvPr id="1379" name="Rounded Rectangle 1378"/>
          <p:cNvSpPr/>
          <p:nvPr/>
        </p:nvSpPr>
        <p:spPr>
          <a:xfrm>
            <a:off x="1481328" y="3895344"/>
            <a:ext cx="6885432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0" name="Rounded Rectangle 1379"/>
          <p:cNvSpPr/>
          <p:nvPr/>
        </p:nvSpPr>
        <p:spPr>
          <a:xfrm>
            <a:off x="566928" y="4014215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1" name="TextBox 1380"/>
          <p:cNvSpPr txBox="1"/>
          <p:nvPr/>
        </p:nvSpPr>
        <p:spPr>
          <a:xfrm>
            <a:off x="603504" y="4014215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Ce que vous obtenez</a:t>
            </a:r>
          </a:p>
        </p:txBody>
      </p:sp>
      <p:sp>
        <p:nvSpPr>
          <p:cNvPr id="1382" name="TextBox 1381"/>
          <p:cNvSpPr txBox="1"/>
          <p:nvPr/>
        </p:nvSpPr>
        <p:spPr>
          <a:xfrm>
            <a:off x="2578608" y="3895344"/>
            <a:ext cx="56509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De la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capacité humaine récupérée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 et réinvestie, mesurée dès le T0 — et des équipes qui portent le modèle sans nous.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96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 et enjeux</a:t>
            </a:r>
            <a:endParaRPr/>
          </a:p>
        </p:txBody>
      </p:sp>
      <p:sp>
        <p:nvSpPr>
          <p:cNvPr id="1368" name="Google Shape;1368;p96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01</a:t>
            </a:r>
            <a:endParaRPr b="1" sz="1700"/>
          </a:p>
        </p:txBody>
      </p:sp>
      <p:pic>
        <p:nvPicPr>
          <p:cNvPr id="1369" name="Google Shape;1369;p96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97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Quatre symptômes, une même cause : une infra pensée comme un guichet</a:t>
            </a:r>
          </a:p>
        </p:txBody>
      </p:sp>
      <p:sp>
        <p:nvSpPr>
          <p:cNvPr id="1376" name="Google Shape;1376;p9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problématiques de l’infra</a:t>
            </a:r>
            <a:endParaRPr/>
          </a:p>
        </p:txBody>
      </p:sp>
      <p:sp>
        <p:nvSpPr>
          <p:cNvPr id="1377" name="Rounded Rectangle 1376"/>
          <p:cNvSpPr/>
          <p:nvPr/>
        </p:nvSpPr>
        <p:spPr>
          <a:xfrm>
            <a:off x="566928" y="1600200"/>
            <a:ext cx="1826514" cy="1874519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1251585" y="1371600"/>
            <a:ext cx="457200" cy="457200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251585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sp>
        <p:nvSpPr>
          <p:cNvPr id="1380" name="TextBox 1379"/>
          <p:cNvSpPr txBox="1"/>
          <p:nvPr/>
        </p:nvSpPr>
        <p:spPr>
          <a:xfrm>
            <a:off x="704088" y="1965960"/>
            <a:ext cx="1552194" cy="14173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E2356"/>
                </a:solidFill>
                <a:latin typeface="Outfit"/>
              </a:rPr>
              <a:t>Des délais qui s'allongent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Trois semaines pour un environnement ; l'équipe infra devient le goulot.</a:t>
            </a:r>
          </a:p>
        </p:txBody>
      </p:sp>
      <p:sp>
        <p:nvSpPr>
          <p:cNvPr id="1381" name="Rounded Rectangle 1380"/>
          <p:cNvSpPr/>
          <p:nvPr/>
        </p:nvSpPr>
        <p:spPr>
          <a:xfrm>
            <a:off x="2558034" y="1600200"/>
            <a:ext cx="1826514" cy="1874519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3242691" y="137160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3" name="TextBox 1382"/>
          <p:cNvSpPr txBox="1"/>
          <p:nvPr/>
        </p:nvSpPr>
        <p:spPr>
          <a:xfrm>
            <a:off x="3242691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384" name="TextBox 1383"/>
          <p:cNvSpPr txBox="1"/>
          <p:nvPr/>
        </p:nvSpPr>
        <p:spPr>
          <a:xfrm>
            <a:off x="2695194" y="1965960"/>
            <a:ext cx="1552194" cy="14173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E2356"/>
                </a:solidFill>
                <a:latin typeface="Outfit"/>
              </a:rPr>
              <a:t>Une offre que personne ne lit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Plusieurs plateformes, aucune vision d'ensemble ; on ne sait pas à qui s'adresser.</a:t>
            </a:r>
          </a:p>
        </p:txBody>
      </p:sp>
      <p:sp>
        <p:nvSpPr>
          <p:cNvPr id="1385" name="Rounded Rectangle 1384"/>
          <p:cNvSpPr/>
          <p:nvPr/>
        </p:nvSpPr>
        <p:spPr>
          <a:xfrm>
            <a:off x="4549140" y="1600200"/>
            <a:ext cx="1826514" cy="1874519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5233797" y="137160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7" name="TextBox 1386"/>
          <p:cNvSpPr txBox="1"/>
          <p:nvPr/>
        </p:nvSpPr>
        <p:spPr>
          <a:xfrm>
            <a:off x="5233797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388" name="TextBox 1387"/>
          <p:cNvSpPr txBox="1"/>
          <p:nvPr/>
        </p:nvSpPr>
        <p:spPr>
          <a:xfrm>
            <a:off x="4686300" y="1965960"/>
            <a:ext cx="1552194" cy="14173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E2356"/>
                </a:solidFill>
                <a:latin typeface="Outfit"/>
              </a:rPr>
              <a:t>Des outils contournés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Une plateforme existe, les équipes applicatives passent à côté.</a:t>
            </a:r>
          </a:p>
        </p:txBody>
      </p:sp>
      <p:sp>
        <p:nvSpPr>
          <p:cNvPr id="1389" name="Rounded Rectangle 1388"/>
          <p:cNvSpPr/>
          <p:nvPr/>
        </p:nvSpPr>
        <p:spPr>
          <a:xfrm>
            <a:off x="6540246" y="1600200"/>
            <a:ext cx="1826514" cy="1874519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7224903" y="137160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7224903" y="1371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6677406" y="1965960"/>
            <a:ext cx="1552194" cy="14173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E2356"/>
                </a:solidFill>
                <a:latin typeface="Outfit"/>
              </a:rPr>
              <a:t>Des coûts sans valeur visible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Les coûts cloud explosent sans qu'on sache ce qu'ils apportent.</a:t>
            </a:r>
          </a:p>
        </p:txBody>
      </p:sp>
      <p:sp>
        <p:nvSpPr>
          <p:cNvPr id="1393" name="Rounded Rectangle 1392"/>
          <p:cNvSpPr/>
          <p:nvPr/>
        </p:nvSpPr>
        <p:spPr>
          <a:xfrm>
            <a:off x="566928" y="3749039"/>
            <a:ext cx="7799832" cy="777240"/>
          </a:xfrm>
          <a:prstGeom prst="roundRect">
            <a:avLst>
              <a:gd name="adj" fmla="val 11764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4" name="TextBox 1393"/>
          <p:cNvSpPr txBox="1"/>
          <p:nvPr/>
        </p:nvSpPr>
        <p:spPr>
          <a:xfrm>
            <a:off x="704088" y="3694176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1161288" y="3749039"/>
            <a:ext cx="702259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utfit"/>
              </a:rPr>
              <a:t>La réponse n'est pas un outil de plus, c'est une posture produit : voici les situations vécues, puis ce que l'approche apporte.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98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Des situations que toute DSI reconnaît</a:t>
            </a:r>
          </a:p>
        </p:txBody>
      </p:sp>
      <p:sp>
        <p:nvSpPr>
          <p:cNvPr id="1383" name="Round Diagonal Corner Rectangle 1382"/>
          <p:cNvSpPr/>
          <p:nvPr/>
        </p:nvSpPr>
        <p:spPr>
          <a:xfrm>
            <a:off x="566928" y="118872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4" name="TextBox 1383"/>
          <p:cNvSpPr txBox="1"/>
          <p:nvPr/>
        </p:nvSpPr>
        <p:spPr>
          <a:xfrm>
            <a:off x="676656" y="117043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385" name="Rounded Rectangle 1384"/>
          <p:cNvSpPr/>
          <p:nvPr/>
        </p:nvSpPr>
        <p:spPr>
          <a:xfrm>
            <a:off x="1570482" y="106984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6" name="TextBox 1385"/>
          <p:cNvSpPr txBox="1"/>
          <p:nvPr/>
        </p:nvSpPr>
        <p:spPr>
          <a:xfrm>
            <a:off x="1607058" y="1069848"/>
            <a:ext cx="61264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Délais</a:t>
            </a:r>
          </a:p>
        </p:txBody>
      </p:sp>
      <p:sp>
        <p:nvSpPr>
          <p:cNvPr id="1387" name="TextBox 1386"/>
          <p:cNvSpPr txBox="1"/>
          <p:nvPr/>
        </p:nvSpPr>
        <p:spPr>
          <a:xfrm>
            <a:off x="731520" y="157276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Nos développeurs attendent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trois semaines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 pour obtenir leur environnement.</a:t>
            </a:r>
          </a:p>
        </p:txBody>
      </p:sp>
      <p:sp>
        <p:nvSpPr>
          <p:cNvPr id="1388" name="Round Diagonal Corner Rectangle 1387"/>
          <p:cNvSpPr/>
          <p:nvPr/>
        </p:nvSpPr>
        <p:spPr>
          <a:xfrm>
            <a:off x="2567178" y="118872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9" name="TextBox 1388"/>
          <p:cNvSpPr txBox="1"/>
          <p:nvPr/>
        </p:nvSpPr>
        <p:spPr>
          <a:xfrm>
            <a:off x="2676906" y="117043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390" name="Rounded Rectangle 1389"/>
          <p:cNvSpPr/>
          <p:nvPr/>
        </p:nvSpPr>
        <p:spPr>
          <a:xfrm>
            <a:off x="3570732" y="106984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3607308" y="1069848"/>
            <a:ext cx="61264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Délais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2731770" y="157276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Notre équipe infra est devenue un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goulot d'étranglement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1393" name="Round Diagonal Corner Rectangle 1392"/>
          <p:cNvSpPr/>
          <p:nvPr/>
        </p:nvSpPr>
        <p:spPr>
          <a:xfrm>
            <a:off x="4567428" y="118872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4" name="TextBox 1393"/>
          <p:cNvSpPr txBox="1"/>
          <p:nvPr/>
        </p:nvSpPr>
        <p:spPr>
          <a:xfrm>
            <a:off x="4677156" y="117043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395" name="Rounded Rectangle 1394"/>
          <p:cNvSpPr/>
          <p:nvPr/>
        </p:nvSpPr>
        <p:spPr>
          <a:xfrm>
            <a:off x="5570982" y="1069848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6" name="TextBox 1395"/>
          <p:cNvSpPr txBox="1"/>
          <p:nvPr/>
        </p:nvSpPr>
        <p:spPr>
          <a:xfrm>
            <a:off x="5607558" y="1069848"/>
            <a:ext cx="61264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Délais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4732020" y="157276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Nous voulons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réduire les tickets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1398" name="Round Diagonal Corner Rectangle 1397"/>
          <p:cNvSpPr/>
          <p:nvPr/>
        </p:nvSpPr>
        <p:spPr>
          <a:xfrm>
            <a:off x="6567678" y="118872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9" name="TextBox 1398"/>
          <p:cNvSpPr txBox="1"/>
          <p:nvPr/>
        </p:nvSpPr>
        <p:spPr>
          <a:xfrm>
            <a:off x="6677406" y="117043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400" name="Rounded Rectangle 1399"/>
          <p:cNvSpPr/>
          <p:nvPr/>
        </p:nvSpPr>
        <p:spPr>
          <a:xfrm>
            <a:off x="7639812" y="1069848"/>
            <a:ext cx="617220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676388" y="1069848"/>
            <a:ext cx="5440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  <a:latin typeface="Outfit"/>
              </a:rPr>
              <a:t>Coûts</a:t>
            </a:r>
          </a:p>
        </p:txBody>
      </p:sp>
      <p:sp>
        <p:nvSpPr>
          <p:cNvPr id="1402" name="TextBox 1401"/>
          <p:cNvSpPr txBox="1"/>
          <p:nvPr/>
        </p:nvSpPr>
        <p:spPr>
          <a:xfrm>
            <a:off x="6732270" y="157276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Nos coûts cloud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explosent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1403" name="Round Diagonal Corner Rectangle 1402"/>
          <p:cNvSpPr/>
          <p:nvPr/>
        </p:nvSpPr>
        <p:spPr>
          <a:xfrm>
            <a:off x="566928" y="288036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676656" y="286207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405" name="Rounded Rectangle 1404"/>
          <p:cNvSpPr/>
          <p:nvPr/>
        </p:nvSpPr>
        <p:spPr>
          <a:xfrm>
            <a:off x="953262" y="2761488"/>
            <a:ext cx="130302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6" name="TextBox 1405"/>
          <p:cNvSpPr txBox="1"/>
          <p:nvPr/>
        </p:nvSpPr>
        <p:spPr>
          <a:xfrm>
            <a:off x="989838" y="2761488"/>
            <a:ext cx="12298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Offre illisible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731520" y="326440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Nous avons une plateforme, mais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personne ne l'utilise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1408" name="Round Diagonal Corner Rectangle 1407"/>
          <p:cNvSpPr/>
          <p:nvPr/>
        </p:nvSpPr>
        <p:spPr>
          <a:xfrm>
            <a:off x="2567178" y="288036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9" name="TextBox 1408"/>
          <p:cNvSpPr txBox="1"/>
          <p:nvPr/>
        </p:nvSpPr>
        <p:spPr>
          <a:xfrm>
            <a:off x="2676906" y="286207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410" name="Rounded Rectangle 1409"/>
          <p:cNvSpPr/>
          <p:nvPr/>
        </p:nvSpPr>
        <p:spPr>
          <a:xfrm>
            <a:off x="2953512" y="2761488"/>
            <a:ext cx="130302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1" name="TextBox 1410"/>
          <p:cNvSpPr txBox="1"/>
          <p:nvPr/>
        </p:nvSpPr>
        <p:spPr>
          <a:xfrm>
            <a:off x="2990088" y="2761488"/>
            <a:ext cx="12298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Offre illisible</a:t>
            </a:r>
          </a:p>
        </p:txBody>
      </p:sp>
      <p:sp>
        <p:nvSpPr>
          <p:cNvPr id="1412" name="TextBox 1411"/>
          <p:cNvSpPr txBox="1"/>
          <p:nvPr/>
        </p:nvSpPr>
        <p:spPr>
          <a:xfrm>
            <a:off x="2731770" y="326440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Nous avons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plusieurs plateformes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 qui font plus ou moins la même chose.</a:t>
            </a:r>
          </a:p>
        </p:txBody>
      </p:sp>
      <p:sp>
        <p:nvSpPr>
          <p:cNvPr id="1413" name="Round Diagonal Corner Rectangle 1412"/>
          <p:cNvSpPr/>
          <p:nvPr/>
        </p:nvSpPr>
        <p:spPr>
          <a:xfrm>
            <a:off x="4567428" y="288036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4" name="TextBox 1413"/>
          <p:cNvSpPr txBox="1"/>
          <p:nvPr/>
        </p:nvSpPr>
        <p:spPr>
          <a:xfrm>
            <a:off x="4677156" y="286207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415" name="Rounded Rectangle 1414"/>
          <p:cNvSpPr/>
          <p:nvPr/>
        </p:nvSpPr>
        <p:spPr>
          <a:xfrm>
            <a:off x="4953762" y="2761488"/>
            <a:ext cx="130302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4990338" y="2761488"/>
            <a:ext cx="12298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Offre illisible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4732020" y="326440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Pour développer un produit, il faut solliciter plusieurs équipes — sans savoir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à qui s'adresser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, ni pour quoi.</a:t>
            </a:r>
          </a:p>
        </p:txBody>
      </p:sp>
      <p:sp>
        <p:nvSpPr>
          <p:cNvPr id="1418" name="Round Diagonal Corner Rectangle 1417"/>
          <p:cNvSpPr/>
          <p:nvPr/>
        </p:nvSpPr>
        <p:spPr>
          <a:xfrm>
            <a:off x="6567678" y="2880360"/>
            <a:ext cx="1799082" cy="14173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6677406" y="2862072"/>
            <a:ext cx="365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0E2356"/>
                </a:solidFill>
                <a:latin typeface="Outfit"/>
              </a:rPr>
              <a:t>“</a:t>
            </a:r>
          </a:p>
        </p:txBody>
      </p:sp>
      <p:sp>
        <p:nvSpPr>
          <p:cNvPr id="1420" name="Rounded Rectangle 1419"/>
          <p:cNvSpPr/>
          <p:nvPr/>
        </p:nvSpPr>
        <p:spPr>
          <a:xfrm>
            <a:off x="6954012" y="2761488"/>
            <a:ext cx="1303020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1" name="TextBox 1420"/>
          <p:cNvSpPr txBox="1"/>
          <p:nvPr/>
        </p:nvSpPr>
        <p:spPr>
          <a:xfrm>
            <a:off x="6990588" y="2761488"/>
            <a:ext cx="1229868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Offre illisible</a:t>
            </a:r>
          </a:p>
        </p:txBody>
      </p:sp>
      <p:sp>
        <p:nvSpPr>
          <p:cNvPr id="1422" name="TextBox 1421"/>
          <p:cNvSpPr txBox="1"/>
          <p:nvPr/>
        </p:nvSpPr>
        <p:spPr>
          <a:xfrm>
            <a:off x="6732270" y="3264408"/>
            <a:ext cx="1506474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1">
                <a:solidFill>
                  <a:srgbClr val="0E2356"/>
                </a:solidFill>
                <a:latin typeface="Outfit"/>
              </a:rPr>
              <a:t>Nous n'avons </a:t>
            </a:r>
            <a:r>
              <a:rPr sz="1000" b="1" i="1">
                <a:solidFill>
                  <a:srgbClr val="0E2356"/>
                </a:solidFill>
                <a:latin typeface="Outfit"/>
              </a:rPr>
              <a:t>pas de vision globale</a:t>
            </a:r>
            <a:r>
              <a:rPr sz="1000" b="0" i="1">
                <a:solidFill>
                  <a:srgbClr val="0E2356"/>
                </a:solidFill>
                <a:latin typeface="Outfit"/>
              </a:rPr>
              <a:t> : pas d'outils intégrés et simples au service des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99"/>
          <p:cNvSpPr txBox="1"/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Ce que l'approche produit apporte, problème par problème</a:t>
            </a:r>
          </a:p>
        </p:txBody>
      </p:sp>
      <p:sp>
        <p:nvSpPr>
          <p:cNvPr id="1389" name="TextBox 1388"/>
          <p:cNvSpPr txBox="1"/>
          <p:nvPr/>
        </p:nvSpPr>
        <p:spPr>
          <a:xfrm>
            <a:off x="566928" y="932688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LE PROBLÈME</a:t>
            </a:r>
          </a:p>
        </p:txBody>
      </p:sp>
      <p:sp>
        <p:nvSpPr>
          <p:cNvPr id="1390" name="TextBox 1389"/>
          <p:cNvSpPr txBox="1"/>
          <p:nvPr/>
        </p:nvSpPr>
        <p:spPr>
          <a:xfrm>
            <a:off x="3447288" y="932688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L'APPORT DE L'APPROCHE PRODUIT</a:t>
            </a:r>
          </a:p>
        </p:txBody>
      </p:sp>
      <p:sp>
        <p:nvSpPr>
          <p:cNvPr id="1391" name="TextBox 1390"/>
          <p:cNvSpPr txBox="1"/>
          <p:nvPr/>
        </p:nvSpPr>
        <p:spPr>
          <a:xfrm>
            <a:off x="6281928" y="932688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L'INDICATEUR À SUIVRE</a:t>
            </a:r>
          </a:p>
        </p:txBody>
      </p:sp>
      <p:sp>
        <p:nvSpPr>
          <p:cNvPr id="1392" name="Rounded Rectangle 1391"/>
          <p:cNvSpPr/>
          <p:nvPr/>
        </p:nvSpPr>
        <p:spPr>
          <a:xfrm>
            <a:off x="566928" y="1188720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3" name="TextBox 1392"/>
          <p:cNvSpPr txBox="1"/>
          <p:nvPr/>
        </p:nvSpPr>
        <p:spPr>
          <a:xfrm>
            <a:off x="676656" y="1188720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L'infra est perçue comme un centre de coûts</a:t>
            </a:r>
          </a:p>
        </p:txBody>
      </p:sp>
      <p:sp>
        <p:nvSpPr>
          <p:cNvPr id="1394" name="Chevron 1393"/>
          <p:cNvSpPr/>
          <p:nvPr/>
        </p:nvSpPr>
        <p:spPr>
          <a:xfrm>
            <a:off x="3264408" y="1252728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5" name="Rounded Rectangle 1394"/>
          <p:cNvSpPr/>
          <p:nvPr/>
        </p:nvSpPr>
        <p:spPr>
          <a:xfrm>
            <a:off x="3447288" y="1188720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6" name="TextBox 1395"/>
          <p:cNvSpPr txBox="1"/>
          <p:nvPr/>
        </p:nvSpPr>
        <p:spPr>
          <a:xfrm>
            <a:off x="3557016" y="1188720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Clarifier la proposition de valeur</a:t>
            </a:r>
          </a:p>
        </p:txBody>
      </p:sp>
      <p:sp>
        <p:nvSpPr>
          <p:cNvPr id="1397" name="Rounded Rectangle 1396"/>
          <p:cNvSpPr/>
          <p:nvPr/>
        </p:nvSpPr>
        <p:spPr>
          <a:xfrm>
            <a:off x="6281928" y="1207008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6318504" y="1207008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Valeur délivrée par capacité</a:t>
            </a:r>
          </a:p>
        </p:txBody>
      </p:sp>
      <p:sp>
        <p:nvSpPr>
          <p:cNvPr id="1399" name="Rounded Rectangle 1398"/>
          <p:cNvSpPr/>
          <p:nvPr/>
        </p:nvSpPr>
        <p:spPr>
          <a:xfrm>
            <a:off x="566928" y="1523390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0" name="TextBox 1399"/>
          <p:cNvSpPr txBox="1"/>
          <p:nvPr/>
        </p:nvSpPr>
        <p:spPr>
          <a:xfrm>
            <a:off x="676656" y="1523390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utilisateurs ne comprennent pas l'offre</a:t>
            </a:r>
          </a:p>
        </p:txBody>
      </p:sp>
      <p:sp>
        <p:nvSpPr>
          <p:cNvPr id="1401" name="Chevron 1400"/>
          <p:cNvSpPr/>
          <p:nvPr/>
        </p:nvSpPr>
        <p:spPr>
          <a:xfrm>
            <a:off x="3264408" y="1587398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2" name="Rounded Rectangle 1401"/>
          <p:cNvSpPr/>
          <p:nvPr/>
        </p:nvSpPr>
        <p:spPr>
          <a:xfrm>
            <a:off x="3447288" y="1523390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3" name="TextBox 1402"/>
          <p:cNvSpPr txBox="1"/>
          <p:nvPr/>
        </p:nvSpPr>
        <p:spPr>
          <a:xfrm>
            <a:off x="3557016" y="1523390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Formaliser un catalogue de capacités</a:t>
            </a:r>
          </a:p>
        </p:txBody>
      </p:sp>
      <p:sp>
        <p:nvSpPr>
          <p:cNvPr id="1404" name="Rounded Rectangle 1403"/>
          <p:cNvSpPr/>
          <p:nvPr/>
        </p:nvSpPr>
        <p:spPr>
          <a:xfrm>
            <a:off x="6281928" y="1541678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6318504" y="1541678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Demandes couvertes par le catalogue</a:t>
            </a:r>
          </a:p>
        </p:txBody>
      </p:sp>
      <p:sp>
        <p:nvSpPr>
          <p:cNvPr id="1406" name="Rounded Rectangle 1405"/>
          <p:cNvSpPr/>
          <p:nvPr/>
        </p:nvSpPr>
        <p:spPr>
          <a:xfrm>
            <a:off x="566928" y="1858060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676656" y="1858060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demandes sont trop spécifiques</a:t>
            </a:r>
          </a:p>
        </p:txBody>
      </p:sp>
      <p:sp>
        <p:nvSpPr>
          <p:cNvPr id="1408" name="Chevron 1407"/>
          <p:cNvSpPr/>
          <p:nvPr/>
        </p:nvSpPr>
        <p:spPr>
          <a:xfrm>
            <a:off x="3264408" y="1922068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9" name="Rounded Rectangle 1408"/>
          <p:cNvSpPr/>
          <p:nvPr/>
        </p:nvSpPr>
        <p:spPr>
          <a:xfrm>
            <a:off x="3447288" y="1858060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3557016" y="1858060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Identifier les besoins récurrents</a:t>
            </a:r>
          </a:p>
        </p:txBody>
      </p:sp>
      <p:sp>
        <p:nvSpPr>
          <p:cNvPr id="1411" name="Rounded Rectangle 1410"/>
          <p:cNvSpPr/>
          <p:nvPr/>
        </p:nvSpPr>
        <p:spPr>
          <a:xfrm>
            <a:off x="6281928" y="1876348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2" name="TextBox 1411"/>
          <p:cNvSpPr txBox="1"/>
          <p:nvPr/>
        </p:nvSpPr>
        <p:spPr>
          <a:xfrm>
            <a:off x="6318504" y="1876348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Part de demandes standardisées</a:t>
            </a:r>
          </a:p>
        </p:txBody>
      </p:sp>
      <p:sp>
        <p:nvSpPr>
          <p:cNvPr id="1413" name="Rounded Rectangle 1412"/>
          <p:cNvSpPr/>
          <p:nvPr/>
        </p:nvSpPr>
        <p:spPr>
          <a:xfrm>
            <a:off x="566928" y="2192731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4" name="TextBox 1413"/>
          <p:cNvSpPr txBox="1"/>
          <p:nvPr/>
        </p:nvSpPr>
        <p:spPr>
          <a:xfrm>
            <a:off x="676656" y="2192731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outils sont peu adoptés</a:t>
            </a:r>
          </a:p>
        </p:txBody>
      </p:sp>
      <p:sp>
        <p:nvSpPr>
          <p:cNvPr id="1415" name="Chevron 1414"/>
          <p:cNvSpPr/>
          <p:nvPr/>
        </p:nvSpPr>
        <p:spPr>
          <a:xfrm>
            <a:off x="3264408" y="2256739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6" name="Rounded Rectangle 1415"/>
          <p:cNvSpPr/>
          <p:nvPr/>
        </p:nvSpPr>
        <p:spPr>
          <a:xfrm>
            <a:off x="3447288" y="2192731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7" name="TextBox 1416"/>
          <p:cNvSpPr txBox="1"/>
          <p:nvPr/>
        </p:nvSpPr>
        <p:spPr>
          <a:xfrm>
            <a:off x="3557016" y="2192731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Travailler l'UX et l'adoption</a:t>
            </a:r>
          </a:p>
        </p:txBody>
      </p:sp>
      <p:sp>
        <p:nvSpPr>
          <p:cNvPr id="1418" name="Rounded Rectangle 1417"/>
          <p:cNvSpPr/>
          <p:nvPr/>
        </p:nvSpPr>
        <p:spPr>
          <a:xfrm>
            <a:off x="6281928" y="2211019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6318504" y="2211019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Taux d'adoption</a:t>
            </a:r>
          </a:p>
        </p:txBody>
      </p:sp>
      <p:sp>
        <p:nvSpPr>
          <p:cNvPr id="1420" name="Rounded Rectangle 1419"/>
          <p:cNvSpPr/>
          <p:nvPr/>
        </p:nvSpPr>
        <p:spPr>
          <a:xfrm>
            <a:off x="566928" y="2527401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1" name="TextBox 1420"/>
          <p:cNvSpPr txBox="1"/>
          <p:nvPr/>
        </p:nvSpPr>
        <p:spPr>
          <a:xfrm>
            <a:off x="676656" y="2527401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équipes applicatives contournent l'infra</a:t>
            </a:r>
          </a:p>
        </p:txBody>
      </p:sp>
      <p:sp>
        <p:nvSpPr>
          <p:cNvPr id="1422" name="Chevron 1421"/>
          <p:cNvSpPr/>
          <p:nvPr/>
        </p:nvSpPr>
        <p:spPr>
          <a:xfrm>
            <a:off x="3264408" y="2591409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3" name="Rounded Rectangle 1422"/>
          <p:cNvSpPr/>
          <p:nvPr/>
        </p:nvSpPr>
        <p:spPr>
          <a:xfrm>
            <a:off x="3447288" y="2527401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4" name="TextBox 1423"/>
          <p:cNvSpPr txBox="1"/>
          <p:nvPr/>
        </p:nvSpPr>
        <p:spPr>
          <a:xfrm>
            <a:off x="3557016" y="2527401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Rendre l'offre simple et désirable</a:t>
            </a:r>
          </a:p>
        </p:txBody>
      </p:sp>
      <p:sp>
        <p:nvSpPr>
          <p:cNvPr id="1425" name="Rounded Rectangle 1424"/>
          <p:cNvSpPr/>
          <p:nvPr/>
        </p:nvSpPr>
        <p:spPr>
          <a:xfrm>
            <a:off x="6281928" y="2545689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6" name="TextBox 1425"/>
          <p:cNvSpPr txBox="1"/>
          <p:nvPr/>
        </p:nvSpPr>
        <p:spPr>
          <a:xfrm>
            <a:off x="6318504" y="2545689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Usages hors plateforme</a:t>
            </a:r>
          </a:p>
        </p:txBody>
      </p:sp>
      <p:sp>
        <p:nvSpPr>
          <p:cNvPr id="1427" name="Rounded Rectangle 1426"/>
          <p:cNvSpPr/>
          <p:nvPr/>
        </p:nvSpPr>
        <p:spPr>
          <a:xfrm>
            <a:off x="566928" y="2862072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676656" y="2862072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priorités sont politiques</a:t>
            </a:r>
          </a:p>
        </p:txBody>
      </p:sp>
      <p:sp>
        <p:nvSpPr>
          <p:cNvPr id="1429" name="Chevron 1428"/>
          <p:cNvSpPr/>
          <p:nvPr/>
        </p:nvSpPr>
        <p:spPr>
          <a:xfrm>
            <a:off x="3264408" y="2926079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0" name="Rounded Rectangle 1429"/>
          <p:cNvSpPr/>
          <p:nvPr/>
        </p:nvSpPr>
        <p:spPr>
          <a:xfrm>
            <a:off x="3447288" y="2862072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3557016" y="2862072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Prioriser par valeur, usage, risque, adoption</a:t>
            </a:r>
          </a:p>
        </p:txBody>
      </p:sp>
      <p:sp>
        <p:nvSpPr>
          <p:cNvPr id="1432" name="Rounded Rectangle 1431"/>
          <p:cNvSpPr/>
          <p:nvPr/>
        </p:nvSpPr>
        <p:spPr>
          <a:xfrm>
            <a:off x="6281928" y="2880360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3" name="TextBox 1432"/>
          <p:cNvSpPr txBox="1"/>
          <p:nvPr/>
        </p:nvSpPr>
        <p:spPr>
          <a:xfrm>
            <a:off x="6318504" y="2880360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Backlog priorisé sur critères partagés</a:t>
            </a:r>
          </a:p>
        </p:txBody>
      </p:sp>
      <p:sp>
        <p:nvSpPr>
          <p:cNvPr id="1434" name="Rounded Rectangle 1433"/>
          <p:cNvSpPr/>
          <p:nvPr/>
        </p:nvSpPr>
        <p:spPr>
          <a:xfrm>
            <a:off x="566928" y="3196742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676656" y="3196742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capacités livrées ne sont pas utilisées</a:t>
            </a:r>
          </a:p>
        </p:txBody>
      </p:sp>
      <p:sp>
        <p:nvSpPr>
          <p:cNvPr id="1436" name="Chevron 1435"/>
          <p:cNvSpPr/>
          <p:nvPr/>
        </p:nvSpPr>
        <p:spPr>
          <a:xfrm>
            <a:off x="3264408" y="3260750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7" name="Rounded Rectangle 1436"/>
          <p:cNvSpPr/>
          <p:nvPr/>
        </p:nvSpPr>
        <p:spPr>
          <a:xfrm>
            <a:off x="3447288" y="3196742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3557016" y="3196742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Mesurer l'usage réel</a:t>
            </a:r>
          </a:p>
        </p:txBody>
      </p:sp>
      <p:sp>
        <p:nvSpPr>
          <p:cNvPr id="1439" name="Rounded Rectangle 1438"/>
          <p:cNvSpPr/>
          <p:nvPr/>
        </p:nvSpPr>
        <p:spPr>
          <a:xfrm>
            <a:off x="6281928" y="3215030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0" name="TextBox 1439"/>
          <p:cNvSpPr txBox="1"/>
          <p:nvPr/>
        </p:nvSpPr>
        <p:spPr>
          <a:xfrm>
            <a:off x="6318504" y="3215030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Usage par capacité livrée</a:t>
            </a:r>
          </a:p>
        </p:txBody>
      </p:sp>
      <p:sp>
        <p:nvSpPr>
          <p:cNvPr id="1441" name="Rounded Rectangle 1440"/>
          <p:cNvSpPr/>
          <p:nvPr/>
        </p:nvSpPr>
        <p:spPr>
          <a:xfrm>
            <a:off x="566928" y="3531412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2" name="TextBox 1441"/>
          <p:cNvSpPr txBox="1"/>
          <p:nvPr/>
        </p:nvSpPr>
        <p:spPr>
          <a:xfrm>
            <a:off x="676656" y="3531412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L'automatisation manque de financement</a:t>
            </a:r>
          </a:p>
        </p:txBody>
      </p:sp>
      <p:sp>
        <p:nvSpPr>
          <p:cNvPr id="1443" name="Chevron 1442"/>
          <p:cNvSpPr/>
          <p:nvPr/>
        </p:nvSpPr>
        <p:spPr>
          <a:xfrm>
            <a:off x="3264408" y="3595420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4" name="Rounded Rectangle 1443"/>
          <p:cNvSpPr/>
          <p:nvPr/>
        </p:nvSpPr>
        <p:spPr>
          <a:xfrm>
            <a:off x="3447288" y="3531412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5" name="TextBox 1444"/>
          <p:cNvSpPr txBox="1"/>
          <p:nvPr/>
        </p:nvSpPr>
        <p:spPr>
          <a:xfrm>
            <a:off x="3557016" y="3531412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Construire un business case produit</a:t>
            </a:r>
          </a:p>
        </p:txBody>
      </p:sp>
      <p:sp>
        <p:nvSpPr>
          <p:cNvPr id="1446" name="Rounded Rectangle 1445"/>
          <p:cNvSpPr/>
          <p:nvPr/>
        </p:nvSpPr>
        <p:spPr>
          <a:xfrm>
            <a:off x="6281928" y="3549700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6318504" y="3549700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Capacité RUN récupérée</a:t>
            </a:r>
          </a:p>
        </p:txBody>
      </p:sp>
      <p:sp>
        <p:nvSpPr>
          <p:cNvPr id="1448" name="Rounded Rectangle 1447"/>
          <p:cNvSpPr/>
          <p:nvPr/>
        </p:nvSpPr>
        <p:spPr>
          <a:xfrm>
            <a:off x="566928" y="3866083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9" name="TextBox 1448"/>
          <p:cNvSpPr txBox="1"/>
          <p:nvPr/>
        </p:nvSpPr>
        <p:spPr>
          <a:xfrm>
            <a:off x="676656" y="3866083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L'obsolescence est subie</a:t>
            </a:r>
          </a:p>
        </p:txBody>
      </p:sp>
      <p:sp>
        <p:nvSpPr>
          <p:cNvPr id="1450" name="Chevron 1449"/>
          <p:cNvSpPr/>
          <p:nvPr/>
        </p:nvSpPr>
        <p:spPr>
          <a:xfrm>
            <a:off x="3264408" y="3930091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1" name="Rounded Rectangle 1450"/>
          <p:cNvSpPr/>
          <p:nvPr/>
        </p:nvSpPr>
        <p:spPr>
          <a:xfrm>
            <a:off x="3447288" y="3866083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2" name="TextBox 1451"/>
          <p:cNvSpPr txBox="1"/>
          <p:nvPr/>
        </p:nvSpPr>
        <p:spPr>
          <a:xfrm>
            <a:off x="3557016" y="3866083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Piloter le cycle de vie des capacités</a:t>
            </a:r>
          </a:p>
        </p:txBody>
      </p:sp>
      <p:sp>
        <p:nvSpPr>
          <p:cNvPr id="1453" name="Rounded Rectangle 1452"/>
          <p:cNvSpPr/>
          <p:nvPr/>
        </p:nvSpPr>
        <p:spPr>
          <a:xfrm>
            <a:off x="6281928" y="3884371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4" name="TextBox 1453"/>
          <p:cNvSpPr txBox="1"/>
          <p:nvPr/>
        </p:nvSpPr>
        <p:spPr>
          <a:xfrm>
            <a:off x="6318504" y="3884371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Décommissionnements tenus</a:t>
            </a:r>
          </a:p>
        </p:txBody>
      </p:sp>
      <p:sp>
        <p:nvSpPr>
          <p:cNvPr id="1455" name="Rounded Rectangle 1454"/>
          <p:cNvSpPr/>
          <p:nvPr/>
        </p:nvSpPr>
        <p:spPr>
          <a:xfrm>
            <a:off x="566928" y="4200753"/>
            <a:ext cx="265176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676656" y="4200753"/>
            <a:ext cx="2468879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La plateforme est trop technique</a:t>
            </a:r>
          </a:p>
        </p:txBody>
      </p:sp>
      <p:sp>
        <p:nvSpPr>
          <p:cNvPr id="1457" name="Chevron 1456"/>
          <p:cNvSpPr/>
          <p:nvPr/>
        </p:nvSpPr>
        <p:spPr>
          <a:xfrm>
            <a:off x="3264408" y="4264761"/>
            <a:ext cx="128016" cy="15544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8" name="Rounded Rectangle 1457"/>
          <p:cNvSpPr/>
          <p:nvPr/>
        </p:nvSpPr>
        <p:spPr>
          <a:xfrm>
            <a:off x="3447288" y="4200753"/>
            <a:ext cx="2606040" cy="283464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3557016" y="4200753"/>
            <a:ext cx="242316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Définir des parcours compréhensibles</a:t>
            </a:r>
          </a:p>
        </p:txBody>
      </p:sp>
      <p:sp>
        <p:nvSpPr>
          <p:cNvPr id="1460" name="Rounded Rectangle 1459"/>
          <p:cNvSpPr/>
          <p:nvPr/>
        </p:nvSpPr>
        <p:spPr>
          <a:xfrm>
            <a:off x="6281928" y="4219041"/>
            <a:ext cx="2084831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1" name="TextBox 1460"/>
          <p:cNvSpPr txBox="1"/>
          <p:nvPr/>
        </p:nvSpPr>
        <p:spPr>
          <a:xfrm>
            <a:off x="6318504" y="4219041"/>
            <a:ext cx="201167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0E2356"/>
                </a:solidFill>
                <a:latin typeface="Outfit"/>
              </a:rPr>
              <a:t>Délai de mise à disposition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00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CONTEXTE   ·   D'un guichet sursollicité à une infra as a product — l'</a:t>
            </a: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IA rend ce virage nécessaire</a:t>
            </a: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405" name="Google Shape;1405;p100"/>
          <p:cNvSpPr txBox="1"/>
          <p:nvPr/>
        </p:nvSpPr>
        <p:spPr>
          <a:xfrm>
            <a:off x="562356" y="1069848"/>
            <a:ext cx="4069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QUE VIT L'INFRA</a:t>
            </a:r>
            <a:endParaRPr/>
          </a:p>
        </p:txBody>
      </p:sp>
      <p:sp>
        <p:nvSpPr>
          <p:cNvPr id="1406" name="Google Shape;1406;p100"/>
          <p:cNvSpPr txBox="1"/>
          <p:nvPr/>
        </p:nvSpPr>
        <p:spPr>
          <a:xfrm>
            <a:off x="5134356" y="1069848"/>
            <a:ext cx="323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 QU'ON VISE</a:t>
            </a:r>
            <a:endParaRPr/>
          </a:p>
        </p:txBody>
      </p:sp>
      <p:sp>
        <p:nvSpPr>
          <p:cNvPr id="1407" name="Google Shape;1407;p100"/>
          <p:cNvSpPr/>
          <p:nvPr/>
        </p:nvSpPr>
        <p:spPr>
          <a:xfrm>
            <a:off x="562356" y="1307592"/>
            <a:ext cx="40692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00"/>
          <p:cNvSpPr txBox="1"/>
          <p:nvPr/>
        </p:nvSpPr>
        <p:spPr>
          <a:xfrm>
            <a:off x="745236" y="1307592"/>
            <a:ext cx="3703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Sortir de la sursollicitation et du guichet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équipiers qui font trop de choses, engorgés — décommissionnement jamais fait, trop de RUN au quotidien.</a:t>
            </a:r>
            <a:endParaRPr/>
          </a:p>
        </p:txBody>
      </p:sp>
      <p:sp>
        <p:nvSpPr>
          <p:cNvPr id="1409" name="Google Shape;1409;p100"/>
          <p:cNvSpPr/>
          <p:nvPr/>
        </p:nvSpPr>
        <p:spPr>
          <a:xfrm>
            <a:off x="4741164" y="1527048"/>
            <a:ext cx="283500" cy="3657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00"/>
          <p:cNvSpPr/>
          <p:nvPr/>
        </p:nvSpPr>
        <p:spPr>
          <a:xfrm>
            <a:off x="5134356" y="1307592"/>
            <a:ext cx="32325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00"/>
          <p:cNvSpPr txBox="1"/>
          <p:nvPr/>
        </p:nvSpPr>
        <p:spPr>
          <a:xfrm>
            <a:off x="5317236" y="1307592"/>
            <a:ext cx="2866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Assainir et traiter les problématiques</a:t>
            </a:r>
            <a:endParaRPr/>
          </a:p>
        </p:txBody>
      </p:sp>
      <p:sp>
        <p:nvSpPr>
          <p:cNvPr id="1412" name="Google Shape;1412;p100"/>
          <p:cNvSpPr/>
          <p:nvPr/>
        </p:nvSpPr>
        <p:spPr>
          <a:xfrm>
            <a:off x="562356" y="2240280"/>
            <a:ext cx="40692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F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00"/>
          <p:cNvSpPr txBox="1"/>
          <p:nvPr/>
        </p:nvSpPr>
        <p:spPr>
          <a:xfrm>
            <a:off x="745236" y="2240280"/>
            <a:ext cx="37032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Mieux servir les utilisateurs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Passer d'un guichet de demandes à une approche as a service.</a:t>
            </a:r>
            <a:endParaRPr/>
          </a:p>
        </p:txBody>
      </p:sp>
      <p:sp>
        <p:nvSpPr>
          <p:cNvPr id="1414" name="Google Shape;1414;p100"/>
          <p:cNvSpPr/>
          <p:nvPr/>
        </p:nvSpPr>
        <p:spPr>
          <a:xfrm>
            <a:off x="4741164" y="2459736"/>
            <a:ext cx="283500" cy="3657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5865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100"/>
          <p:cNvSpPr/>
          <p:nvPr/>
        </p:nvSpPr>
        <p:spPr>
          <a:xfrm>
            <a:off x="5134356" y="2240280"/>
            <a:ext cx="3232500" cy="8046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19050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00"/>
          <p:cNvSpPr txBox="1"/>
          <p:nvPr/>
        </p:nvSpPr>
        <p:spPr>
          <a:xfrm>
            <a:off x="5317236" y="2240280"/>
            <a:ext cx="2866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Une infra recentrée sur ses utilisateurs</a:t>
            </a:r>
            <a:endParaRPr/>
          </a:p>
        </p:txBody>
      </p:sp>
      <p:sp>
        <p:nvSpPr>
          <p:cNvPr id="1417" name="Google Shape;1417;p100"/>
          <p:cNvSpPr/>
          <p:nvPr/>
        </p:nvSpPr>
        <p:spPr>
          <a:xfrm>
            <a:off x="562356" y="3246120"/>
            <a:ext cx="7804500" cy="731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0E23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00"/>
          <p:cNvSpPr/>
          <p:nvPr/>
        </p:nvSpPr>
        <p:spPr>
          <a:xfrm>
            <a:off x="745236" y="33832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TextBox 1418"/>
          <p:cNvSpPr txBox="1"/>
          <p:nvPr/>
        </p:nvSpPr>
        <p:spPr>
          <a:xfrm>
            <a:off x="740664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IA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1380744" y="3246120"/>
            <a:ext cx="6793992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86586"/>
                </a:solidFill>
                <a:latin typeface="Outfit"/>
              </a:rPr>
              <a:t>AVEC L'ARRIVÉE DE L'IA — UNE SURSOLLICITATION EXACERBÉE</a:t>
            </a:r>
          </a:p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Trop de demandes, des équipes engorgées : la même pression que le guichet d'hier, </a:t>
            </a:r>
            <a:r>
              <a:rPr sz="1000" b="1" i="0">
                <a:solidFill>
                  <a:srgbClr val="0E2356"/>
                </a:solidFill>
                <a:latin typeface="Outfit"/>
              </a:rPr>
              <a:t>amplifiée par l'IA</a:t>
            </a:r>
            <a:r>
              <a:rPr sz="1000" b="0" i="0">
                <a:solidFill>
                  <a:srgbClr val="0E2356"/>
                </a:solidFill>
                <a:latin typeface="Outfit"/>
              </a:rPr>
              <a:t> plutôt que résolue par elle.</a:t>
            </a:r>
          </a:p>
        </p:txBody>
      </p:sp>
      <p:sp>
        <p:nvSpPr>
          <p:cNvPr id="1421" name="Rounded Rectangle 1420"/>
          <p:cNvSpPr/>
          <p:nvPr/>
        </p:nvSpPr>
        <p:spPr>
          <a:xfrm>
            <a:off x="566928" y="4069080"/>
            <a:ext cx="7799832" cy="484632"/>
          </a:xfrm>
          <a:prstGeom prst="roundRect">
            <a:avLst>
              <a:gd name="adj" fmla="val 18867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704088" y="4014216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1161288" y="4069080"/>
            <a:ext cx="7022592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L'objectif : infra as a product — pour absorber la demande au lieu de la subir.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01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Cinq enjeux qui justifient le passage en mode produit</a:t>
            </a:r>
          </a:p>
        </p:txBody>
      </p:sp>
      <p:sp>
        <p:nvSpPr>
          <p:cNvPr id="1428" name="Google Shape;1428;p101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enjeux</a:t>
            </a:r>
            <a:endParaRPr/>
          </a:p>
        </p:txBody>
      </p:sp>
      <p:sp>
        <p:nvSpPr>
          <p:cNvPr id="1429" name="Rounded Rectangle 1428"/>
          <p:cNvSpPr/>
          <p:nvPr/>
        </p:nvSpPr>
        <p:spPr>
          <a:xfrm>
            <a:off x="822960" y="1280160"/>
            <a:ext cx="7543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612648" y="1344168"/>
            <a:ext cx="420624" cy="420624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612648" y="13441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1207007" y="12801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Efficacité opérationnelle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3493008" y="128016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Moins de dépendances grâce à l'autonomie ; les experts aux bons endroits ; une livraison rapide.</a:t>
            </a:r>
          </a:p>
        </p:txBody>
      </p:sp>
      <p:sp>
        <p:nvSpPr>
          <p:cNvPr id="1434" name="Rounded Rectangle 1433"/>
          <p:cNvSpPr/>
          <p:nvPr/>
        </p:nvSpPr>
        <p:spPr>
          <a:xfrm>
            <a:off x="822960" y="1947672"/>
            <a:ext cx="7543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612648" y="2011679"/>
            <a:ext cx="420624" cy="42062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6" name="TextBox 1435"/>
          <p:cNvSpPr txBox="1"/>
          <p:nvPr/>
        </p:nvSpPr>
        <p:spPr>
          <a:xfrm>
            <a:off x="612648" y="201167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437" name="TextBox 1436"/>
          <p:cNvSpPr txBox="1"/>
          <p:nvPr/>
        </p:nvSpPr>
        <p:spPr>
          <a:xfrm>
            <a:off x="1207007" y="1947672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Expérience utilisateur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3493008" y="1947672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Une expérience fluide et sans couture pour les équipes qui consomment l'infra.</a:t>
            </a:r>
          </a:p>
        </p:txBody>
      </p:sp>
      <p:sp>
        <p:nvSpPr>
          <p:cNvPr id="1439" name="Rounded Rectangle 1438"/>
          <p:cNvSpPr/>
          <p:nvPr/>
        </p:nvSpPr>
        <p:spPr>
          <a:xfrm>
            <a:off x="822960" y="2615184"/>
            <a:ext cx="7543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612648" y="2679191"/>
            <a:ext cx="420624" cy="42062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612648" y="26791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1207007" y="2615184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Robustesse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3493008" y="2615184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Un monitoring qui accélère la prise de décision.</a:t>
            </a:r>
          </a:p>
        </p:txBody>
      </p:sp>
      <p:sp>
        <p:nvSpPr>
          <p:cNvPr id="1444" name="Rounded Rectangle 1443"/>
          <p:cNvSpPr/>
          <p:nvPr/>
        </p:nvSpPr>
        <p:spPr>
          <a:xfrm>
            <a:off x="822960" y="3282696"/>
            <a:ext cx="7543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612648" y="3346703"/>
            <a:ext cx="420624" cy="42062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612648" y="33467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1447" name="TextBox 1446"/>
          <p:cNvSpPr txBox="1"/>
          <p:nvPr/>
        </p:nvSpPr>
        <p:spPr>
          <a:xfrm>
            <a:off x="1207007" y="328269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Maîtrise des coûts</a:t>
            </a:r>
          </a:p>
        </p:txBody>
      </p:sp>
      <p:sp>
        <p:nvSpPr>
          <p:cNvPr id="1448" name="TextBox 1447"/>
          <p:cNvSpPr txBox="1"/>
          <p:nvPr/>
        </p:nvSpPr>
        <p:spPr>
          <a:xfrm>
            <a:off x="3493008" y="3282696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Inventaire du parc, licences inutilisées, décommissionnement des actifs « zombies ».</a:t>
            </a:r>
          </a:p>
        </p:txBody>
      </p:sp>
      <p:sp>
        <p:nvSpPr>
          <p:cNvPr id="1449" name="Rounded Rectangle 1448"/>
          <p:cNvSpPr/>
          <p:nvPr/>
        </p:nvSpPr>
        <p:spPr>
          <a:xfrm>
            <a:off x="822960" y="3950208"/>
            <a:ext cx="7543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612648" y="4014215"/>
            <a:ext cx="420624" cy="42062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1" name="TextBox 1450"/>
          <p:cNvSpPr txBox="1"/>
          <p:nvPr/>
        </p:nvSpPr>
        <p:spPr>
          <a:xfrm>
            <a:off x="612648" y="401421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1452" name="TextBox 1451"/>
          <p:cNvSpPr txBox="1"/>
          <p:nvPr/>
        </p:nvSpPr>
        <p:spPr>
          <a:xfrm>
            <a:off x="1207007" y="395020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0E2356"/>
                </a:solidFill>
                <a:latin typeface="Outfit"/>
              </a:rPr>
              <a:t>Anticiper l'IA</a:t>
            </a:r>
          </a:p>
        </p:txBody>
      </p:sp>
      <p:sp>
        <p:nvSpPr>
          <p:cNvPr id="1453" name="TextBox 1452"/>
          <p:cNvSpPr txBox="1"/>
          <p:nvPr/>
        </p:nvSpPr>
        <p:spPr>
          <a:xfrm>
            <a:off x="3493008" y="3950208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586586"/>
                </a:solidFill>
                <a:latin typeface="Outfit"/>
              </a:rPr>
              <a:t>Plus de mises en production à absorber ; un usage interne qui exige gouvernance et coordination.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03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CONVICTIONS   ·   Nos convictions sur votre transformation en mode produit (1/2) — les conditions qui favorisent le succès</a:t>
            </a:r>
            <a:endParaRPr/>
          </a:p>
        </p:txBody>
      </p:sp>
      <p:sp>
        <p:nvSpPr>
          <p:cNvPr id="1441" name="Google Shape;1441;p103"/>
          <p:cNvSpPr/>
          <p:nvPr/>
        </p:nvSpPr>
        <p:spPr>
          <a:xfrm>
            <a:off x="562356" y="114300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E2356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03"/>
          <p:cNvSpPr txBox="1"/>
          <p:nvPr/>
        </p:nvSpPr>
        <p:spPr>
          <a:xfrm>
            <a:off x="562356" y="114300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/>
          </a:p>
        </p:txBody>
      </p:sp>
      <p:sp>
        <p:nvSpPr>
          <p:cNvPr id="1443" name="Google Shape;1443;p103"/>
          <p:cNvSpPr/>
          <p:nvPr/>
        </p:nvSpPr>
        <p:spPr>
          <a:xfrm>
            <a:off x="646480" y="1453896"/>
            <a:ext cx="14700" cy="4833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03"/>
          <p:cNvSpPr/>
          <p:nvPr/>
        </p:nvSpPr>
        <p:spPr>
          <a:xfrm>
            <a:off x="617219" y="1900504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03"/>
          <p:cNvSpPr txBox="1"/>
          <p:nvPr/>
        </p:nvSpPr>
        <p:spPr>
          <a:xfrm>
            <a:off x="1293876" y="1124712"/>
            <a:ext cx="4695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Partir des utilisateurs et de leurs douleurs, pas du catalogue d'outils.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Une plateforme n'est adoptée que si elle résout une douleur mesurée chez ceux qui la consomment.</a:t>
            </a:r>
            <a:endParaRPr/>
          </a:p>
        </p:txBody>
      </p:sp>
      <p:sp>
        <p:nvSpPr>
          <p:cNvPr id="1446" name="Google Shape;1446;p103"/>
          <p:cNvSpPr/>
          <p:nvPr/>
        </p:nvSpPr>
        <p:spPr>
          <a:xfrm>
            <a:off x="562356" y="2108073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103"/>
          <p:cNvSpPr txBox="1"/>
          <p:nvPr/>
        </p:nvSpPr>
        <p:spPr>
          <a:xfrm>
            <a:off x="562356" y="2108073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/>
          </a:p>
        </p:txBody>
      </p:sp>
      <p:sp>
        <p:nvSpPr>
          <p:cNvPr id="1448" name="Google Shape;1448;p103"/>
          <p:cNvSpPr/>
          <p:nvPr/>
        </p:nvSpPr>
        <p:spPr>
          <a:xfrm>
            <a:off x="646480" y="2418969"/>
            <a:ext cx="14700" cy="6315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03"/>
          <p:cNvSpPr/>
          <p:nvPr/>
        </p:nvSpPr>
        <p:spPr>
          <a:xfrm>
            <a:off x="617219" y="301397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103"/>
          <p:cNvSpPr txBox="1"/>
          <p:nvPr/>
        </p:nvSpPr>
        <p:spPr>
          <a:xfrm>
            <a:off x="1293876" y="2089785"/>
            <a:ext cx="46953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Bien choisir les premiers périmètres de transformation.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Significatifs au regard de ce que la transformation doit résoudre.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Ni trop complexes, pour réussir et apprendre ; ni trop simples, pour créer du mouvement et faire émerger des promoteurs.</a:t>
            </a:r>
            <a:endParaRPr/>
          </a:p>
        </p:txBody>
      </p:sp>
      <p:sp>
        <p:nvSpPr>
          <p:cNvPr id="1451" name="Google Shape;1451;p103"/>
          <p:cNvSpPr/>
          <p:nvPr/>
        </p:nvSpPr>
        <p:spPr>
          <a:xfrm>
            <a:off x="562356" y="3221545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03"/>
          <p:cNvSpPr txBox="1"/>
          <p:nvPr/>
        </p:nvSpPr>
        <p:spPr>
          <a:xfrm>
            <a:off x="562356" y="3221545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/>
          </a:p>
        </p:txBody>
      </p:sp>
      <p:sp>
        <p:nvSpPr>
          <p:cNvPr id="1453" name="Google Shape;1453;p103"/>
          <p:cNvSpPr/>
          <p:nvPr/>
        </p:nvSpPr>
        <p:spPr>
          <a:xfrm>
            <a:off x="646480" y="3532441"/>
            <a:ext cx="14700" cy="6477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103"/>
          <p:cNvSpPr/>
          <p:nvPr/>
        </p:nvSpPr>
        <p:spPr>
          <a:xfrm>
            <a:off x="617219" y="4143641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103"/>
          <p:cNvSpPr txBox="1"/>
          <p:nvPr/>
        </p:nvSpPr>
        <p:spPr>
          <a:xfrm>
            <a:off x="1293876" y="3203257"/>
            <a:ext cx="46953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Traiter les douleurs avant de construire, et prioriser sur des critères partagés.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Nommer, scorer, prioriser (valeur, coût, complexité) libère la capacité que le RUN confisque aujourd'hui.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décisions ritualisées, reliées au budget.</a:t>
            </a:r>
            <a:endParaRPr/>
          </a:p>
        </p:txBody>
      </p:sp>
      <p:sp>
        <p:nvSpPr>
          <p:cNvPr id="1456" name="Google Shape;1456;p103"/>
          <p:cNvSpPr/>
          <p:nvPr/>
        </p:nvSpPr>
        <p:spPr>
          <a:xfrm>
            <a:off x="562356" y="435121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03"/>
          <p:cNvSpPr txBox="1"/>
          <p:nvPr/>
        </p:nvSpPr>
        <p:spPr>
          <a:xfrm>
            <a:off x="562356" y="435121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/>
          </a:p>
        </p:txBody>
      </p:sp>
      <p:sp>
        <p:nvSpPr>
          <p:cNvPr id="1458" name="Google Shape;1458;p103"/>
          <p:cNvSpPr/>
          <p:nvPr/>
        </p:nvSpPr>
        <p:spPr>
          <a:xfrm>
            <a:off x="646480" y="4662106"/>
            <a:ext cx="14700" cy="1926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103"/>
          <p:cNvSpPr/>
          <p:nvPr/>
        </p:nvSpPr>
        <p:spPr>
          <a:xfrm>
            <a:off x="617219" y="4818202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03"/>
          <p:cNvSpPr txBox="1"/>
          <p:nvPr/>
        </p:nvSpPr>
        <p:spPr>
          <a:xfrm>
            <a:off x="1293876" y="4332922"/>
            <a:ext cx="46953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 propriétaire, une roadmap, une valeur mesurée.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Sans porteur produit, l'infra retourne au guichet.</a:t>
            </a:r>
            <a:endParaRPr/>
          </a:p>
        </p:txBody>
      </p:sp>
      <p:pic>
        <p:nvPicPr>
          <p:cNvPr descr="tropical_0_libre_960x1628.jpg" id="1461" name="Google Shape;1461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143000"/>
            <a:ext cx="2103000" cy="3566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04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25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NOS CONVICTIONS   ·   Nos convictions sur votre transformation en mode produit (2/2)</a:t>
            </a:r>
            <a:endParaRPr/>
          </a:p>
        </p:txBody>
      </p:sp>
      <p:sp>
        <p:nvSpPr>
          <p:cNvPr id="1467" name="Google Shape;1467;p104"/>
          <p:cNvSpPr/>
          <p:nvPr/>
        </p:nvSpPr>
        <p:spPr>
          <a:xfrm>
            <a:off x="562356" y="1143000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104"/>
          <p:cNvSpPr txBox="1"/>
          <p:nvPr/>
        </p:nvSpPr>
        <p:spPr>
          <a:xfrm>
            <a:off x="562356" y="1143000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/>
          </a:p>
        </p:txBody>
      </p:sp>
      <p:sp>
        <p:nvSpPr>
          <p:cNvPr id="1469" name="Google Shape;1469;p104"/>
          <p:cNvSpPr/>
          <p:nvPr/>
        </p:nvSpPr>
        <p:spPr>
          <a:xfrm>
            <a:off x="646480" y="1453896"/>
            <a:ext cx="14700" cy="7686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104"/>
          <p:cNvSpPr/>
          <p:nvPr/>
        </p:nvSpPr>
        <p:spPr>
          <a:xfrm>
            <a:off x="617219" y="2186063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104"/>
          <p:cNvSpPr txBox="1"/>
          <p:nvPr/>
        </p:nvSpPr>
        <p:spPr>
          <a:xfrm>
            <a:off x="1293876" y="1124712"/>
            <a:ext cx="39639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Articuler la transformation à tous les niveaux.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Central (DSI et sponsor, garants de l'approche) ; opérationnel (animation des équipes) ; transverse (fluidifier les interactions entre équipes).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RH : rôles, parcours de formation, accompagnement des profils clés.</a:t>
            </a:r>
            <a:endParaRPr/>
          </a:p>
        </p:txBody>
      </p:sp>
      <p:sp>
        <p:nvSpPr>
          <p:cNvPr id="1472" name="Google Shape;1472;p104"/>
          <p:cNvSpPr/>
          <p:nvPr/>
        </p:nvSpPr>
        <p:spPr>
          <a:xfrm>
            <a:off x="562356" y="2393632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04"/>
          <p:cNvSpPr txBox="1"/>
          <p:nvPr/>
        </p:nvSpPr>
        <p:spPr>
          <a:xfrm>
            <a:off x="562356" y="2393632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6.</a:t>
            </a:r>
            <a:endParaRPr/>
          </a:p>
        </p:txBody>
      </p:sp>
      <p:sp>
        <p:nvSpPr>
          <p:cNvPr id="1474" name="Google Shape;1474;p104"/>
          <p:cNvSpPr/>
          <p:nvPr/>
        </p:nvSpPr>
        <p:spPr>
          <a:xfrm>
            <a:off x="646480" y="2704528"/>
            <a:ext cx="14700" cy="6315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04"/>
          <p:cNvSpPr/>
          <p:nvPr/>
        </p:nvSpPr>
        <p:spPr>
          <a:xfrm>
            <a:off x="617219" y="329953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04"/>
          <p:cNvSpPr txBox="1"/>
          <p:nvPr/>
        </p:nvSpPr>
        <p:spPr>
          <a:xfrm>
            <a:off x="1293876" y="2375344"/>
            <a:ext cx="3963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S'améliorer en continu, au rythme des saisons.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Mesure systématique et transparente des progrès, à tous les niveaux.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Des équipes redevables de leurs améliorations ; succès et erreurs partagés.</a:t>
            </a:r>
            <a:endParaRPr/>
          </a:p>
        </p:txBody>
      </p:sp>
      <p:sp>
        <p:nvSpPr>
          <p:cNvPr id="1477" name="Google Shape;1477;p104"/>
          <p:cNvSpPr/>
          <p:nvPr/>
        </p:nvSpPr>
        <p:spPr>
          <a:xfrm>
            <a:off x="562356" y="3507105"/>
            <a:ext cx="457200" cy="310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58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104"/>
          <p:cNvSpPr txBox="1"/>
          <p:nvPr/>
        </p:nvSpPr>
        <p:spPr>
          <a:xfrm>
            <a:off x="562356" y="3507105"/>
            <a:ext cx="45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7.</a:t>
            </a:r>
            <a:endParaRPr/>
          </a:p>
        </p:txBody>
      </p:sp>
      <p:sp>
        <p:nvSpPr>
          <p:cNvPr id="1479" name="Google Shape;1479;p104"/>
          <p:cNvSpPr/>
          <p:nvPr/>
        </p:nvSpPr>
        <p:spPr>
          <a:xfrm>
            <a:off x="646480" y="3818001"/>
            <a:ext cx="14700" cy="467100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04"/>
          <p:cNvSpPr/>
          <p:nvPr/>
        </p:nvSpPr>
        <p:spPr>
          <a:xfrm>
            <a:off x="617219" y="4248416"/>
            <a:ext cx="73200" cy="73200"/>
          </a:xfrm>
          <a:prstGeom prst="ellipse">
            <a:avLst/>
          </a:prstGeom>
          <a:solidFill>
            <a:srgbClr val="0E23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04"/>
          <p:cNvSpPr txBox="1"/>
          <p:nvPr/>
        </p:nvSpPr>
        <p:spPr>
          <a:xfrm>
            <a:off x="1293876" y="3488817"/>
            <a:ext cx="39639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Nous rendre dispensables.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Transmettre pour que vos équipes portent et incarnent la transformation : la réussite se mesure au jour où elles tiennent le modèle sans nous.</a:t>
            </a:r>
            <a:endParaRPr/>
          </a:p>
        </p:txBody>
      </p:sp>
      <p:sp>
        <p:nvSpPr>
          <p:cNvPr id="1482" name="Google Shape;1482;p104"/>
          <p:cNvSpPr/>
          <p:nvPr/>
        </p:nvSpPr>
        <p:spPr>
          <a:xfrm>
            <a:off x="5577840" y="1143000"/>
            <a:ext cx="2788800" cy="2697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857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104"/>
          <p:cNvSpPr/>
          <p:nvPr/>
        </p:nvSpPr>
        <p:spPr>
          <a:xfrm>
            <a:off x="5687568" y="1307592"/>
            <a:ext cx="54900" cy="2368200"/>
          </a:xfrm>
          <a:prstGeom prst="roundRect">
            <a:avLst>
              <a:gd fmla="val 50000" name="adj"/>
            </a:avLst>
          </a:prstGeom>
          <a:solidFill>
            <a:srgbClr val="00D2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04"/>
          <p:cNvSpPr txBox="1"/>
          <p:nvPr/>
        </p:nvSpPr>
        <p:spPr>
          <a:xfrm>
            <a:off x="5888736" y="1344168"/>
            <a:ext cx="23133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86586"/>
                </a:solidFill>
                <a:latin typeface="Outfit"/>
                <a:ea typeface="Outfit"/>
                <a:cs typeface="Outfit"/>
                <a:sym typeface="Outfit"/>
              </a:rPr>
              <a:t>NOTRE CONVICTION SUR L'AGENTIC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L'IA fait gagner du temps là où il est perdu, pas là où on décide.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Elle accélère le diagnostic, la qualification des demandes et la restitution : le temps de triage du RUN est rendu aux équipes, mesuré dès le T0, pas promis.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–  </a:t>
            </a:r>
            <a:r>
              <a:rPr b="0" i="0" lang="en-US" sz="900" u="none" cap="none" strike="noStrik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Une expertise OCTO qui complète notre démarche : jamais un prérequis, toujours après le gate de confidentialité.</a:t>
            </a:r>
            <a:endParaRPr/>
          </a:p>
        </p:txBody>
      </p:sp>
      <p:pic>
        <p:nvPicPr>
          <p:cNvPr descr="nightsky_0_libre_960x337.jpg" id="1485" name="Google Shape;148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4005072"/>
            <a:ext cx="2788800" cy="9783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06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Les choix possibles</a:t>
            </a:r>
            <a:endParaRPr/>
          </a:p>
        </p:txBody>
      </p:sp>
      <p:sp>
        <p:nvSpPr>
          <p:cNvPr id="1525" name="Google Shape;1525;p106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02</a:t>
            </a:r>
            <a:endParaRPr b="1" sz="1700"/>
          </a:p>
        </p:txBody>
      </p:sp>
      <p:pic>
        <p:nvPicPr>
          <p:cNvPr id="1526" name="Google Shape;1526;p106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0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Quatre alternatives, aucune ne finance la cible</a:t>
            </a:r>
          </a:p>
        </p:txBody>
      </p:sp>
      <p:sp>
        <p:nvSpPr>
          <p:cNvPr id="1532" name="Rounded Rectangle 1531"/>
          <p:cNvSpPr/>
          <p:nvPr/>
        </p:nvSpPr>
        <p:spPr>
          <a:xfrm>
            <a:off x="566928" y="932688"/>
            <a:ext cx="45720" cy="530352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3" name="TextBox 1532"/>
          <p:cNvSpPr txBox="1"/>
          <p:nvPr/>
        </p:nvSpPr>
        <p:spPr>
          <a:xfrm>
            <a:off x="731520" y="914400"/>
            <a:ext cx="76352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>
                <a:solidFill>
                  <a:srgbClr val="0E2356"/>
                </a:solidFill>
                <a:latin typeface="Outfit"/>
              </a:rPr>
              <a:t>Sponsor qualifié : DSI ou direction infrastructure, sur une ligne budgétaire transformation — </a:t>
            </a:r>
            <a:r>
              <a:rPr sz="950" b="1" i="0">
                <a:solidFill>
                  <a:srgbClr val="0E2356"/>
                </a:solidFill>
                <a:latin typeface="Outfit"/>
              </a:rPr>
              <a:t>jamais le budget RUN</a:t>
            </a:r>
            <a:r>
              <a:rPr sz="950" b="0" i="0">
                <a:solidFill>
                  <a:srgbClr val="0E2356"/>
                </a:solidFill>
                <a:latin typeface="Outfit"/>
              </a:rPr>
              <a:t>.</a:t>
            </a:r>
          </a:p>
          <a:p>
            <a:pPr algn="l"/>
            <a:r>
              <a:rPr sz="950" b="0" i="0">
                <a:solidFill>
                  <a:srgbClr val="0E2356"/>
                </a:solidFill>
                <a:latin typeface="Outfit"/>
              </a:rPr>
              <a:t>La modernisation de l'infra recule face à la cyber dans les priorités 2026 (baromètre Abraxio) : l'argument qui porte est « </a:t>
            </a:r>
            <a:r>
              <a:rPr sz="950" b="1" i="0">
                <a:solidFill>
                  <a:srgbClr val="0E2356"/>
                </a:solidFill>
                <a:latin typeface="Outfit"/>
              </a:rPr>
              <a:t>récupérer une capacité humaine rare</a:t>
            </a:r>
            <a:r>
              <a:rPr sz="950" b="0" i="0">
                <a:solidFill>
                  <a:srgbClr val="0E2356"/>
                </a:solidFill>
                <a:latin typeface="Outfit"/>
              </a:rPr>
              <a:t> », pas « moderniser l'infra ».</a:t>
            </a:r>
          </a:p>
        </p:txBody>
      </p:sp>
      <p:sp>
        <p:nvSpPr>
          <p:cNvPr id="1534" name="TextBox 1533"/>
          <p:cNvSpPr txBox="1"/>
          <p:nvPr/>
        </p:nvSpPr>
        <p:spPr>
          <a:xfrm>
            <a:off x="566928" y="1572768"/>
            <a:ext cx="3154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L'ALTERNATIVE</a:t>
            </a:r>
          </a:p>
        </p:txBody>
      </p:sp>
      <p:sp>
        <p:nvSpPr>
          <p:cNvPr id="1535" name="TextBox 1534"/>
          <p:cNvSpPr txBox="1"/>
          <p:nvPr/>
        </p:nvSpPr>
        <p:spPr>
          <a:xfrm>
            <a:off x="4041648" y="1572768"/>
            <a:ext cx="43251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CE QUI LUI MANQUE — LA RÉPONSE IAP</a:t>
            </a:r>
          </a:p>
        </p:txBody>
      </p:sp>
      <p:sp>
        <p:nvSpPr>
          <p:cNvPr id="1536" name="Rounded Rectangle 1535"/>
          <p:cNvSpPr/>
          <p:nvPr/>
        </p:nvSpPr>
        <p:spPr>
          <a:xfrm>
            <a:off x="566928" y="1783080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" name="TextBox 1536"/>
          <p:cNvSpPr txBox="1"/>
          <p:nvPr/>
        </p:nvSpPr>
        <p:spPr>
          <a:xfrm>
            <a:off x="676656" y="178308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Ne rien faire</a:t>
            </a:r>
            <a:r>
              <a:rPr sz="900" b="0" i="0">
                <a:solidFill>
                  <a:srgbClr val="586586"/>
                </a:solidFill>
                <a:latin typeface="Outfit"/>
              </a:rPr>
              <a:t> — Zéro coût apparent.</a:t>
            </a:r>
          </a:p>
        </p:txBody>
      </p:sp>
      <p:sp>
        <p:nvSpPr>
          <p:cNvPr id="1538" name="Chevron 1537"/>
          <p:cNvSpPr/>
          <p:nvPr/>
        </p:nvSpPr>
        <p:spPr>
          <a:xfrm>
            <a:off x="3813048" y="1901952"/>
            <a:ext cx="155448" cy="219456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9" name="Rounded Rectangle 1538"/>
          <p:cNvSpPr/>
          <p:nvPr/>
        </p:nvSpPr>
        <p:spPr>
          <a:xfrm>
            <a:off x="4041648" y="1783080"/>
            <a:ext cx="432511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0" name="TextBox 1539"/>
          <p:cNvSpPr txBox="1"/>
          <p:nvPr/>
        </p:nvSpPr>
        <p:spPr>
          <a:xfrm>
            <a:off x="4151376" y="1783080"/>
            <a:ext cx="4142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Le coût du statu quo monte</a:t>
            </a:r>
            <a:r>
              <a:rPr sz="900" b="0" i="0">
                <a:solidFill>
                  <a:srgbClr val="0E2356"/>
                </a:solidFill>
                <a:latin typeface="Outfit"/>
              </a:rPr>
              <a:t> — C'est lui que l'Assessment flash chiffre.</a:t>
            </a:r>
          </a:p>
        </p:txBody>
      </p:sp>
      <p:sp>
        <p:nvSpPr>
          <p:cNvPr id="1541" name="Rounded Rectangle 1540"/>
          <p:cNvSpPr/>
          <p:nvPr/>
        </p:nvSpPr>
        <p:spPr>
          <a:xfrm>
            <a:off x="566928" y="2313432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676656" y="2313432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FinOps outillé seul</a:t>
            </a:r>
            <a:r>
              <a:rPr sz="900" b="0" i="0">
                <a:solidFill>
                  <a:srgbClr val="586586"/>
                </a:solidFill>
                <a:latin typeface="Outfit"/>
              </a:rPr>
              <a:t> — Mesure les dépenses inutiles : marché mature, 29 % de la dépense cloud (Flexera).</a:t>
            </a:r>
          </a:p>
        </p:txBody>
      </p:sp>
      <p:sp>
        <p:nvSpPr>
          <p:cNvPr id="1543" name="Chevron 1542"/>
          <p:cNvSpPr/>
          <p:nvPr/>
        </p:nvSpPr>
        <p:spPr>
          <a:xfrm>
            <a:off x="3813048" y="2432303"/>
            <a:ext cx="155448" cy="219456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4" name="Rounded Rectangle 1543"/>
          <p:cNvSpPr/>
          <p:nvPr/>
        </p:nvSpPr>
        <p:spPr>
          <a:xfrm>
            <a:off x="4041648" y="2313432"/>
            <a:ext cx="432511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4151376" y="2313432"/>
            <a:ext cx="4142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Ni cible produit, ni réallocation</a:t>
            </a:r>
            <a:r>
              <a:rPr sz="900" b="0" i="0">
                <a:solidFill>
                  <a:srgbClr val="0E2356"/>
                </a:solidFill>
                <a:latin typeface="Outfit"/>
              </a:rPr>
              <a:t> — Le chiffre devient une capacité produit gouvernée, pas une simple économie.</a:t>
            </a:r>
          </a:p>
        </p:txBody>
      </p:sp>
      <p:sp>
        <p:nvSpPr>
          <p:cNvPr id="1546" name="Rounded Rectangle 1545"/>
          <p:cNvSpPr/>
          <p:nvPr/>
        </p:nvSpPr>
        <p:spPr>
          <a:xfrm>
            <a:off x="566928" y="2843784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7" name="TextBox 1546"/>
          <p:cNvSpPr txBox="1"/>
          <p:nvPr/>
        </p:nvSpPr>
        <p:spPr>
          <a:xfrm>
            <a:off x="676656" y="2843784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Platform engineering pur</a:t>
            </a:r>
            <a:r>
              <a:rPr sz="900" b="0" i="0">
                <a:solidFill>
                  <a:srgbClr val="586586"/>
                </a:solidFill>
                <a:latin typeface="Outfit"/>
              </a:rPr>
              <a:t> — La cible produit/plateforme, un modèle devenu standard.</a:t>
            </a:r>
          </a:p>
        </p:txBody>
      </p:sp>
      <p:sp>
        <p:nvSpPr>
          <p:cNvPr id="1548" name="Chevron 1547"/>
          <p:cNvSpPr/>
          <p:nvPr/>
        </p:nvSpPr>
        <p:spPr>
          <a:xfrm>
            <a:off x="3813048" y="2962656"/>
            <a:ext cx="155448" cy="219456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9" name="Rounded Rectangle 1548"/>
          <p:cNvSpPr/>
          <p:nvPr/>
        </p:nvSpPr>
        <p:spPr>
          <a:xfrm>
            <a:off x="4041648" y="2843784"/>
            <a:ext cx="432511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0" name="TextBox 1549"/>
          <p:cNvSpPr txBox="1"/>
          <p:nvPr/>
        </p:nvSpPr>
        <p:spPr>
          <a:xfrm>
            <a:off x="4151376" y="2843784"/>
            <a:ext cx="4142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La cible sans le financement</a:t>
            </a:r>
            <a:r>
              <a:rPr sz="900" b="0" i="0">
                <a:solidFill>
                  <a:srgbClr val="0E2356"/>
                </a:solidFill>
                <a:latin typeface="Outfit"/>
              </a:rPr>
              <a:t> — 80 % de platform teams en 2026, moins de 30 % de gains mesurables (Gartner).</a:t>
            </a:r>
          </a:p>
        </p:txBody>
      </p:sp>
      <p:sp>
        <p:nvSpPr>
          <p:cNvPr id="1551" name="Rounded Rectangle 1550"/>
          <p:cNvSpPr/>
          <p:nvPr/>
        </p:nvSpPr>
        <p:spPr>
          <a:xfrm>
            <a:off x="566928" y="3374135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2" name="TextBox 1551"/>
          <p:cNvSpPr txBox="1"/>
          <p:nvPr/>
        </p:nvSpPr>
        <p:spPr>
          <a:xfrm>
            <a:off x="676656" y="3374135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AIOps / agentic outillé</a:t>
            </a:r>
            <a:r>
              <a:rPr sz="900" b="0" i="0">
                <a:solidFill>
                  <a:srgbClr val="586586"/>
                </a:solidFill>
                <a:latin typeface="Outfit"/>
              </a:rPr>
              <a:t> — Time-to-value court (ServiceNow, Datadog).</a:t>
            </a:r>
          </a:p>
        </p:txBody>
      </p:sp>
      <p:sp>
        <p:nvSpPr>
          <p:cNvPr id="1553" name="Chevron 1552"/>
          <p:cNvSpPr/>
          <p:nvPr/>
        </p:nvSpPr>
        <p:spPr>
          <a:xfrm>
            <a:off x="3813048" y="3493007"/>
            <a:ext cx="155448" cy="219456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4" name="Rounded Rectangle 1553"/>
          <p:cNvSpPr/>
          <p:nvPr/>
        </p:nvSpPr>
        <p:spPr>
          <a:xfrm>
            <a:off x="4041648" y="3374135"/>
            <a:ext cx="4325112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5" name="TextBox 1554"/>
          <p:cNvSpPr txBox="1"/>
          <p:nvPr/>
        </p:nvSpPr>
        <p:spPr>
          <a:xfrm>
            <a:off x="4151376" y="3374135"/>
            <a:ext cx="41422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Automatise le RUN sans transformer</a:t>
            </a:r>
            <a:r>
              <a:rPr sz="900" b="0" i="0">
                <a:solidFill>
                  <a:srgbClr val="0E2356"/>
                </a:solidFill>
                <a:latin typeface="Outfit"/>
              </a:rPr>
              <a:t> — Plus de 40 % des projets agentic abandonnés d'ici 2027 (Gartner, juin 2025).</a:t>
            </a:r>
          </a:p>
        </p:txBody>
      </p:sp>
      <p:sp>
        <p:nvSpPr>
          <p:cNvPr id="1556" name="Rounded Rectangle 1555"/>
          <p:cNvSpPr/>
          <p:nvPr/>
        </p:nvSpPr>
        <p:spPr>
          <a:xfrm>
            <a:off x="566928" y="3922775"/>
            <a:ext cx="3808476" cy="630936"/>
          </a:xfrm>
          <a:prstGeom prst="roundRect">
            <a:avLst>
              <a:gd name="adj" fmla="val 17391"/>
            </a:avLst>
          </a:prstGeom>
          <a:solidFill>
            <a:srgbClr val="0E2356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704088" y="3922775"/>
            <a:ext cx="3534156" cy="6309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Outfit"/>
              </a:rPr>
              <a:t>CE QUE LES QUATRE ALTERNATIVES N'ONT PAS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Outfit"/>
              </a:rPr>
              <a:t>« Infrastructure as a Product » existe ailleurs (Thoughtworks, Itential). Notre différenciateur : produit + assainissement + doctrine IA.</a:t>
            </a:r>
          </a:p>
        </p:txBody>
      </p:sp>
      <p:sp>
        <p:nvSpPr>
          <p:cNvPr id="1558" name="Rounded Rectangle 1557"/>
          <p:cNvSpPr/>
          <p:nvPr/>
        </p:nvSpPr>
        <p:spPr>
          <a:xfrm>
            <a:off x="4558284" y="3922775"/>
            <a:ext cx="3808476" cy="630936"/>
          </a:xfrm>
          <a:prstGeom prst="roundRect">
            <a:avLst>
              <a:gd name="adj" fmla="val 17391"/>
            </a:avLst>
          </a:prstGeom>
          <a:solidFill>
            <a:srgbClr val="0E2356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9" name="TextBox 1558"/>
          <p:cNvSpPr txBox="1"/>
          <p:nvPr/>
        </p:nvSpPr>
        <p:spPr>
          <a:xfrm>
            <a:off x="4695444" y="3922775"/>
            <a:ext cx="3534156" cy="6309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Outfit"/>
              </a:rPr>
              <a:t>RÉPONSE AU « JE NE VEUX QUE LA BAISSE DES COÛTS »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Outfit"/>
              </a:rPr>
              <a:t>Un Assessment flash d'entrée, puis la trajectoire — jamais l'assainissement seul. Sous pression IA : un cas d'usage public, tout de suite, sous gate.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08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Six typologies de transformation</a:t>
            </a:r>
          </a:p>
        </p:txBody>
      </p:sp>
      <p:sp>
        <p:nvSpPr>
          <p:cNvPr id="1565" name="Rounded Rectangle 1564"/>
          <p:cNvSpPr/>
          <p:nvPr/>
        </p:nvSpPr>
        <p:spPr>
          <a:xfrm>
            <a:off x="566928" y="1097280"/>
            <a:ext cx="2478024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6" name="Rounded Rectangle 1565"/>
          <p:cNvSpPr/>
          <p:nvPr/>
        </p:nvSpPr>
        <p:spPr>
          <a:xfrm>
            <a:off x="704088" y="96926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7" name="TextBox 1566"/>
          <p:cNvSpPr txBox="1"/>
          <p:nvPr/>
        </p:nvSpPr>
        <p:spPr>
          <a:xfrm>
            <a:off x="740664" y="969264"/>
            <a:ext cx="15270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>
                <a:solidFill>
                  <a:srgbClr val="0E2356"/>
                </a:solidFill>
                <a:latin typeface="Outfit"/>
              </a:rPr>
              <a:t>01  ·  Expérience</a:t>
            </a:r>
          </a:p>
        </p:txBody>
      </p:sp>
      <p:sp>
        <p:nvSpPr>
          <p:cNvPr id="1568" name="TextBox 1567"/>
          <p:cNvSpPr txBox="1"/>
          <p:nvPr/>
        </p:nvSpPr>
        <p:spPr>
          <a:xfrm>
            <a:off x="704088" y="1298448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0E2356"/>
                </a:solidFill>
                <a:latin typeface="Outfit"/>
              </a:rPr>
              <a:t>« Nos utilisateurs trouvent l'infra trop compliquée. »</a:t>
            </a:r>
          </a:p>
        </p:txBody>
      </p:sp>
      <p:sp>
        <p:nvSpPr>
          <p:cNvPr id="1569" name="Rounded Rectangle 1568"/>
          <p:cNvSpPr/>
          <p:nvPr/>
        </p:nvSpPr>
        <p:spPr>
          <a:xfrm>
            <a:off x="704088" y="1737360"/>
            <a:ext cx="1539849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0" name="TextBox 1569"/>
          <p:cNvSpPr txBox="1"/>
          <p:nvPr/>
        </p:nvSpPr>
        <p:spPr>
          <a:xfrm>
            <a:off x="740664" y="1737360"/>
            <a:ext cx="1466697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Expérience développeur</a:t>
            </a:r>
          </a:p>
        </p:txBody>
      </p:sp>
      <p:sp>
        <p:nvSpPr>
          <p:cNvPr id="1571" name="Rounded Rectangle 1570"/>
          <p:cNvSpPr/>
          <p:nvPr/>
        </p:nvSpPr>
        <p:spPr>
          <a:xfrm>
            <a:off x="704088" y="1965960"/>
            <a:ext cx="972921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740664" y="1965960"/>
            <a:ext cx="899769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Self-service</a:t>
            </a:r>
          </a:p>
        </p:txBody>
      </p:sp>
      <p:sp>
        <p:nvSpPr>
          <p:cNvPr id="1573" name="Rounded Rectangle 1572"/>
          <p:cNvSpPr/>
          <p:nvPr/>
        </p:nvSpPr>
        <p:spPr>
          <a:xfrm>
            <a:off x="1731873" y="1965960"/>
            <a:ext cx="972921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4" name="TextBox 1573"/>
          <p:cNvSpPr txBox="1"/>
          <p:nvPr/>
        </p:nvSpPr>
        <p:spPr>
          <a:xfrm>
            <a:off x="1768449" y="1965960"/>
            <a:ext cx="899769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Golden paths</a:t>
            </a:r>
          </a:p>
        </p:txBody>
      </p:sp>
      <p:sp>
        <p:nvSpPr>
          <p:cNvPr id="1575" name="Rounded Rectangle 1574"/>
          <p:cNvSpPr/>
          <p:nvPr/>
        </p:nvSpPr>
        <p:spPr>
          <a:xfrm>
            <a:off x="704088" y="2194560"/>
            <a:ext cx="689457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740664" y="2194560"/>
            <a:ext cx="616305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Portail</a:t>
            </a:r>
          </a:p>
        </p:txBody>
      </p:sp>
      <p:sp>
        <p:nvSpPr>
          <p:cNvPr id="1577" name="Rounded Rectangle 1576"/>
          <p:cNvSpPr/>
          <p:nvPr/>
        </p:nvSpPr>
        <p:spPr>
          <a:xfrm>
            <a:off x="1448409" y="2194560"/>
            <a:ext cx="1029614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1484985" y="2194560"/>
            <a:ext cx="956462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Documentation</a:t>
            </a:r>
          </a:p>
        </p:txBody>
      </p:sp>
      <p:sp>
        <p:nvSpPr>
          <p:cNvPr id="1579" name="Rounded Rectangle 1578"/>
          <p:cNvSpPr/>
          <p:nvPr/>
        </p:nvSpPr>
        <p:spPr>
          <a:xfrm>
            <a:off x="3227832" y="1097280"/>
            <a:ext cx="2478024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0" name="Rounded Rectangle 1579"/>
          <p:cNvSpPr/>
          <p:nvPr/>
        </p:nvSpPr>
        <p:spPr>
          <a:xfrm>
            <a:off x="3364992" y="969264"/>
            <a:ext cx="1380744" cy="256032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3401568" y="969264"/>
            <a:ext cx="130759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Outfit"/>
              </a:rPr>
              <a:t>02  ·  Delivery</a:t>
            </a:r>
          </a:p>
        </p:txBody>
      </p:sp>
      <p:sp>
        <p:nvSpPr>
          <p:cNvPr id="1582" name="TextBox 1581"/>
          <p:cNvSpPr txBox="1"/>
          <p:nvPr/>
        </p:nvSpPr>
        <p:spPr>
          <a:xfrm>
            <a:off x="3364992" y="1298448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0E2356"/>
                </a:solidFill>
                <a:latin typeface="Outfit"/>
              </a:rPr>
              <a:t>« Nous sommes trop lents. »</a:t>
            </a:r>
          </a:p>
        </p:txBody>
      </p:sp>
      <p:sp>
        <p:nvSpPr>
          <p:cNvPr id="1583" name="Rounded Rectangle 1582"/>
          <p:cNvSpPr/>
          <p:nvPr/>
        </p:nvSpPr>
        <p:spPr>
          <a:xfrm>
            <a:off x="3364992" y="1737360"/>
            <a:ext cx="1086307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3401568" y="1737360"/>
            <a:ext cx="1013155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Automatisation</a:t>
            </a:r>
          </a:p>
        </p:txBody>
      </p:sp>
      <p:sp>
        <p:nvSpPr>
          <p:cNvPr id="1585" name="Rounded Rectangle 1584"/>
          <p:cNvSpPr/>
          <p:nvPr/>
        </p:nvSpPr>
        <p:spPr>
          <a:xfrm>
            <a:off x="4506163" y="1737360"/>
            <a:ext cx="462686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6" name="TextBox 1585"/>
          <p:cNvSpPr txBox="1"/>
          <p:nvPr/>
        </p:nvSpPr>
        <p:spPr>
          <a:xfrm>
            <a:off x="4542739" y="1737360"/>
            <a:ext cx="389534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IaC</a:t>
            </a:r>
          </a:p>
        </p:txBody>
      </p:sp>
      <p:sp>
        <p:nvSpPr>
          <p:cNvPr id="1587" name="Rounded Rectangle 1586"/>
          <p:cNvSpPr/>
          <p:nvPr/>
        </p:nvSpPr>
        <p:spPr>
          <a:xfrm>
            <a:off x="3364992" y="1965960"/>
            <a:ext cx="576072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3401568" y="1965960"/>
            <a:ext cx="502920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CI/CD</a:t>
            </a:r>
          </a:p>
        </p:txBody>
      </p:sp>
      <p:sp>
        <p:nvSpPr>
          <p:cNvPr id="1589" name="Rounded Rectangle 1588"/>
          <p:cNvSpPr/>
          <p:nvPr/>
        </p:nvSpPr>
        <p:spPr>
          <a:xfrm>
            <a:off x="3995928" y="1965960"/>
            <a:ext cx="972921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0" name="TextBox 1589"/>
          <p:cNvSpPr txBox="1"/>
          <p:nvPr/>
        </p:nvSpPr>
        <p:spPr>
          <a:xfrm>
            <a:off x="4032504" y="1965960"/>
            <a:ext cx="899769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Provisioning</a:t>
            </a:r>
          </a:p>
        </p:txBody>
      </p:sp>
      <p:sp>
        <p:nvSpPr>
          <p:cNvPr id="1591" name="Rounded Rectangle 1590"/>
          <p:cNvSpPr/>
          <p:nvPr/>
        </p:nvSpPr>
        <p:spPr>
          <a:xfrm>
            <a:off x="3364992" y="2194560"/>
            <a:ext cx="1143000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3401568" y="2194560"/>
            <a:ext cx="106984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Standardisation</a:t>
            </a:r>
          </a:p>
        </p:txBody>
      </p:sp>
      <p:sp>
        <p:nvSpPr>
          <p:cNvPr id="1593" name="Rounded Rectangle 1592"/>
          <p:cNvSpPr/>
          <p:nvPr/>
        </p:nvSpPr>
        <p:spPr>
          <a:xfrm>
            <a:off x="5888736" y="1097280"/>
            <a:ext cx="2478024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4" name="Rounded Rectangle 1593"/>
          <p:cNvSpPr/>
          <p:nvPr/>
        </p:nvSpPr>
        <p:spPr>
          <a:xfrm>
            <a:off x="6025896" y="969264"/>
            <a:ext cx="1819656" cy="256032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5" name="TextBox 1594"/>
          <p:cNvSpPr txBox="1"/>
          <p:nvPr/>
        </p:nvSpPr>
        <p:spPr>
          <a:xfrm>
            <a:off x="6062472" y="969264"/>
            <a:ext cx="1746504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Outfit"/>
              </a:rPr>
              <a:t>03  ·  Organisation</a:t>
            </a:r>
          </a:p>
        </p:txBody>
      </p:sp>
      <p:sp>
        <p:nvSpPr>
          <p:cNvPr id="1596" name="TextBox 1595"/>
          <p:cNvSpPr txBox="1"/>
          <p:nvPr/>
        </p:nvSpPr>
        <p:spPr>
          <a:xfrm>
            <a:off x="6025896" y="1298448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0E2356"/>
                </a:solidFill>
                <a:latin typeface="Outfit"/>
              </a:rPr>
              <a:t>« Tout remonte à l'équipe infra centrale. »</a:t>
            </a:r>
          </a:p>
        </p:txBody>
      </p:sp>
      <p:sp>
        <p:nvSpPr>
          <p:cNvPr id="1597" name="Rounded Rectangle 1596"/>
          <p:cNvSpPr/>
          <p:nvPr/>
        </p:nvSpPr>
        <p:spPr>
          <a:xfrm>
            <a:off x="6025896" y="1737360"/>
            <a:ext cx="1143000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6062472" y="1737360"/>
            <a:ext cx="106984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Team Topologies</a:t>
            </a:r>
          </a:p>
        </p:txBody>
      </p:sp>
      <p:sp>
        <p:nvSpPr>
          <p:cNvPr id="1599" name="Rounded Rectangle 1598"/>
          <p:cNvSpPr/>
          <p:nvPr/>
        </p:nvSpPr>
        <p:spPr>
          <a:xfrm>
            <a:off x="7223760" y="1737360"/>
            <a:ext cx="802843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7260336" y="1737360"/>
            <a:ext cx="729691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Ownership</a:t>
            </a:r>
          </a:p>
        </p:txBody>
      </p:sp>
      <p:sp>
        <p:nvSpPr>
          <p:cNvPr id="1601" name="Rounded Rectangle 1600"/>
          <p:cNvSpPr/>
          <p:nvPr/>
        </p:nvSpPr>
        <p:spPr>
          <a:xfrm>
            <a:off x="6025896" y="1965960"/>
            <a:ext cx="859536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2" name="TextBox 1601"/>
          <p:cNvSpPr txBox="1"/>
          <p:nvPr/>
        </p:nvSpPr>
        <p:spPr>
          <a:xfrm>
            <a:off x="6062472" y="1965960"/>
            <a:ext cx="786384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Plateforme</a:t>
            </a:r>
          </a:p>
        </p:txBody>
      </p:sp>
      <p:sp>
        <p:nvSpPr>
          <p:cNvPr id="1603" name="Rounded Rectangle 1602"/>
          <p:cNvSpPr/>
          <p:nvPr/>
        </p:nvSpPr>
        <p:spPr>
          <a:xfrm>
            <a:off x="6940296" y="1965960"/>
            <a:ext cx="1143000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6976872" y="1965960"/>
            <a:ext cx="106984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Équipes produit</a:t>
            </a:r>
          </a:p>
        </p:txBody>
      </p:sp>
      <p:sp>
        <p:nvSpPr>
          <p:cNvPr id="1605" name="Rounded Rectangle 1604"/>
          <p:cNvSpPr/>
          <p:nvPr/>
        </p:nvSpPr>
        <p:spPr>
          <a:xfrm>
            <a:off x="566928" y="2670048"/>
            <a:ext cx="2478024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6" name="Rounded Rectangle 1605"/>
          <p:cNvSpPr/>
          <p:nvPr/>
        </p:nvSpPr>
        <p:spPr>
          <a:xfrm>
            <a:off x="704088" y="2542032"/>
            <a:ext cx="1161288" cy="256032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740664" y="2542032"/>
            <a:ext cx="1088136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Outfit"/>
              </a:rPr>
              <a:t>04  ·  Valeur</a:t>
            </a:r>
          </a:p>
        </p:txBody>
      </p:sp>
      <p:sp>
        <p:nvSpPr>
          <p:cNvPr id="1608" name="TextBox 1607"/>
          <p:cNvSpPr txBox="1"/>
          <p:nvPr/>
        </p:nvSpPr>
        <p:spPr>
          <a:xfrm>
            <a:off x="704088" y="2871216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0E2356"/>
                </a:solidFill>
                <a:latin typeface="Outfit"/>
              </a:rPr>
              <a:t>« Nous dépensons beaucoup sans savoir ce que cela apporte. »</a:t>
            </a:r>
          </a:p>
        </p:txBody>
      </p:sp>
      <p:sp>
        <p:nvSpPr>
          <p:cNvPr id="1609" name="Rounded Rectangle 1608"/>
          <p:cNvSpPr/>
          <p:nvPr/>
        </p:nvSpPr>
        <p:spPr>
          <a:xfrm>
            <a:off x="704088" y="3310128"/>
            <a:ext cx="1313078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0" name="TextBox 1609"/>
          <p:cNvSpPr txBox="1"/>
          <p:nvPr/>
        </p:nvSpPr>
        <p:spPr>
          <a:xfrm>
            <a:off x="740664" y="3310128"/>
            <a:ext cx="123992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Product management</a:t>
            </a:r>
          </a:p>
        </p:txBody>
      </p:sp>
      <p:sp>
        <p:nvSpPr>
          <p:cNvPr id="1611" name="Rounded Rectangle 1610"/>
          <p:cNvSpPr/>
          <p:nvPr/>
        </p:nvSpPr>
        <p:spPr>
          <a:xfrm>
            <a:off x="2072030" y="3310128"/>
            <a:ext cx="632764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2108606" y="3310128"/>
            <a:ext cx="559612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FinOps</a:t>
            </a:r>
          </a:p>
        </p:txBody>
      </p:sp>
      <p:sp>
        <p:nvSpPr>
          <p:cNvPr id="1613" name="Rounded Rectangle 1612"/>
          <p:cNvSpPr/>
          <p:nvPr/>
        </p:nvSpPr>
        <p:spPr>
          <a:xfrm>
            <a:off x="704088" y="3538728"/>
            <a:ext cx="1369771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4" name="TextBox 1613"/>
          <p:cNvSpPr txBox="1"/>
          <p:nvPr/>
        </p:nvSpPr>
        <p:spPr>
          <a:xfrm>
            <a:off x="740664" y="3538728"/>
            <a:ext cx="1296619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Métriques de valeur</a:t>
            </a:r>
          </a:p>
        </p:txBody>
      </p:sp>
      <p:sp>
        <p:nvSpPr>
          <p:cNvPr id="1615" name="Rounded Rectangle 1614"/>
          <p:cNvSpPr/>
          <p:nvPr/>
        </p:nvSpPr>
        <p:spPr>
          <a:xfrm>
            <a:off x="704088" y="3767328"/>
            <a:ext cx="972921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6" name="TextBox 1615"/>
          <p:cNvSpPr txBox="1"/>
          <p:nvPr/>
        </p:nvSpPr>
        <p:spPr>
          <a:xfrm>
            <a:off x="740664" y="3767328"/>
            <a:ext cx="899769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Priorisation</a:t>
            </a:r>
          </a:p>
        </p:txBody>
      </p:sp>
      <p:sp>
        <p:nvSpPr>
          <p:cNvPr id="1617" name="Rounded Rectangle 1616"/>
          <p:cNvSpPr/>
          <p:nvPr/>
        </p:nvSpPr>
        <p:spPr>
          <a:xfrm>
            <a:off x="3227832" y="2670048"/>
            <a:ext cx="2478024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8" name="Rounded Rectangle 1617"/>
          <p:cNvSpPr/>
          <p:nvPr/>
        </p:nvSpPr>
        <p:spPr>
          <a:xfrm>
            <a:off x="3364992" y="2542032"/>
            <a:ext cx="1490472" cy="256032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3401568" y="2542032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Outfit"/>
              </a:rPr>
              <a:t>05  ·  Fiabilité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3364992" y="2871216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0E2356"/>
                </a:solidFill>
                <a:latin typeface="Outfit"/>
              </a:rPr>
              <a:t>« Nos systèmes sont trop fragiles. »</a:t>
            </a:r>
          </a:p>
        </p:txBody>
      </p:sp>
      <p:sp>
        <p:nvSpPr>
          <p:cNvPr id="1621" name="Rounded Rectangle 1620"/>
          <p:cNvSpPr/>
          <p:nvPr/>
        </p:nvSpPr>
        <p:spPr>
          <a:xfrm>
            <a:off x="3364992" y="3310128"/>
            <a:ext cx="462686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3401568" y="3310128"/>
            <a:ext cx="389534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SRE</a:t>
            </a:r>
          </a:p>
        </p:txBody>
      </p:sp>
      <p:sp>
        <p:nvSpPr>
          <p:cNvPr id="1623" name="Rounded Rectangle 1622"/>
          <p:cNvSpPr/>
          <p:nvPr/>
        </p:nvSpPr>
        <p:spPr>
          <a:xfrm>
            <a:off x="3882542" y="3310128"/>
            <a:ext cx="1029614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4" name="TextBox 1623"/>
          <p:cNvSpPr txBox="1"/>
          <p:nvPr/>
        </p:nvSpPr>
        <p:spPr>
          <a:xfrm>
            <a:off x="3919118" y="3310128"/>
            <a:ext cx="956462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Observabilité</a:t>
            </a:r>
          </a:p>
        </p:txBody>
      </p:sp>
      <p:sp>
        <p:nvSpPr>
          <p:cNvPr id="1625" name="Rounded Rectangle 1624"/>
          <p:cNvSpPr/>
          <p:nvPr/>
        </p:nvSpPr>
        <p:spPr>
          <a:xfrm>
            <a:off x="4967020" y="3310128"/>
            <a:ext cx="462686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6" name="TextBox 1625"/>
          <p:cNvSpPr txBox="1"/>
          <p:nvPr/>
        </p:nvSpPr>
        <p:spPr>
          <a:xfrm>
            <a:off x="5003596" y="3310128"/>
            <a:ext cx="389534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SLO</a:t>
            </a:r>
          </a:p>
        </p:txBody>
      </p:sp>
      <p:sp>
        <p:nvSpPr>
          <p:cNvPr id="1627" name="Rounded Rectangle 1626"/>
          <p:cNvSpPr/>
          <p:nvPr/>
        </p:nvSpPr>
        <p:spPr>
          <a:xfrm>
            <a:off x="3364992" y="3538728"/>
            <a:ext cx="1029614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3401568" y="3538728"/>
            <a:ext cx="956462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Error budgets</a:t>
            </a:r>
          </a:p>
        </p:txBody>
      </p:sp>
      <p:sp>
        <p:nvSpPr>
          <p:cNvPr id="1629" name="Rounded Rectangle 1628"/>
          <p:cNvSpPr/>
          <p:nvPr/>
        </p:nvSpPr>
        <p:spPr>
          <a:xfrm>
            <a:off x="4449470" y="3538728"/>
            <a:ext cx="1086307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0" name="TextBox 1629"/>
          <p:cNvSpPr txBox="1"/>
          <p:nvPr/>
        </p:nvSpPr>
        <p:spPr>
          <a:xfrm>
            <a:off x="4486046" y="3538728"/>
            <a:ext cx="1013155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Automatisation</a:t>
            </a:r>
          </a:p>
        </p:txBody>
      </p:sp>
      <p:sp>
        <p:nvSpPr>
          <p:cNvPr id="1631" name="Rounded Rectangle 1630"/>
          <p:cNvSpPr/>
          <p:nvPr/>
        </p:nvSpPr>
        <p:spPr>
          <a:xfrm>
            <a:off x="5888736" y="2670048"/>
            <a:ext cx="2478024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2" name="Rounded Rectangle 1631"/>
          <p:cNvSpPr/>
          <p:nvPr/>
        </p:nvSpPr>
        <p:spPr>
          <a:xfrm>
            <a:off x="6025896" y="2542032"/>
            <a:ext cx="1490472" cy="256032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3" name="TextBox 1632"/>
          <p:cNvSpPr txBox="1"/>
          <p:nvPr/>
        </p:nvSpPr>
        <p:spPr>
          <a:xfrm>
            <a:off x="6062472" y="2542032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Outfit"/>
              </a:rPr>
              <a:t>06  ·  Stratégie</a:t>
            </a:r>
          </a:p>
        </p:txBody>
      </p:sp>
      <p:sp>
        <p:nvSpPr>
          <p:cNvPr id="1634" name="TextBox 1633"/>
          <p:cNvSpPr txBox="1"/>
          <p:nvPr/>
        </p:nvSpPr>
        <p:spPr>
          <a:xfrm>
            <a:off x="6025896" y="2871216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1">
                <a:solidFill>
                  <a:srgbClr val="0E2356"/>
                </a:solidFill>
                <a:latin typeface="Outfit"/>
              </a:rPr>
              <a:t>« Nous voulons que l'infra devienne un levier stratégique. »</a:t>
            </a:r>
          </a:p>
        </p:txBody>
      </p:sp>
      <p:sp>
        <p:nvSpPr>
          <p:cNvPr id="1635" name="Rounded Rectangle 1634"/>
          <p:cNvSpPr/>
          <p:nvPr/>
        </p:nvSpPr>
        <p:spPr>
          <a:xfrm>
            <a:off x="6025896" y="3310128"/>
            <a:ext cx="1143000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6" name="TextBox 1635"/>
          <p:cNvSpPr txBox="1"/>
          <p:nvPr/>
        </p:nvSpPr>
        <p:spPr>
          <a:xfrm>
            <a:off x="6062472" y="3310128"/>
            <a:ext cx="106984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Operating model</a:t>
            </a:r>
          </a:p>
        </p:txBody>
      </p:sp>
      <p:sp>
        <p:nvSpPr>
          <p:cNvPr id="1637" name="Rounded Rectangle 1636"/>
          <p:cNvSpPr/>
          <p:nvPr/>
        </p:nvSpPr>
        <p:spPr>
          <a:xfrm>
            <a:off x="7223760" y="3310128"/>
            <a:ext cx="972921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8" name="TextBox 1637"/>
          <p:cNvSpPr txBox="1"/>
          <p:nvPr/>
        </p:nvSpPr>
        <p:spPr>
          <a:xfrm>
            <a:off x="7260336" y="3310128"/>
            <a:ext cx="899769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Architecture</a:t>
            </a:r>
          </a:p>
        </p:txBody>
      </p:sp>
      <p:sp>
        <p:nvSpPr>
          <p:cNvPr id="1639" name="Rounded Rectangle 1638"/>
          <p:cNvSpPr/>
          <p:nvPr/>
        </p:nvSpPr>
        <p:spPr>
          <a:xfrm>
            <a:off x="6025896" y="3538728"/>
            <a:ext cx="916228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6062472" y="3538728"/>
            <a:ext cx="84307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Gouvernance</a:t>
            </a:r>
          </a:p>
        </p:txBody>
      </p:sp>
      <p:sp>
        <p:nvSpPr>
          <p:cNvPr id="1641" name="Rounded Rectangle 1640"/>
          <p:cNvSpPr/>
          <p:nvPr/>
        </p:nvSpPr>
        <p:spPr>
          <a:xfrm>
            <a:off x="6025896" y="3767328"/>
            <a:ext cx="1426464" cy="19202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2" name="TextBox 1641"/>
          <p:cNvSpPr txBox="1"/>
          <p:nvPr/>
        </p:nvSpPr>
        <p:spPr>
          <a:xfrm>
            <a:off x="6062472" y="3767328"/>
            <a:ext cx="1353312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0" i="0">
                <a:solidFill>
                  <a:srgbClr val="0E2356"/>
                </a:solidFill>
                <a:latin typeface="Outfit"/>
              </a:rPr>
              <a:t>Portefeuille produit</a:t>
            </a:r>
          </a:p>
        </p:txBody>
      </p:sp>
      <p:sp>
        <p:nvSpPr>
          <p:cNvPr id="1643" name="Rounded Rectangle 1642"/>
          <p:cNvSpPr/>
          <p:nvPr/>
        </p:nvSpPr>
        <p:spPr>
          <a:xfrm>
            <a:off x="566928" y="4114800"/>
            <a:ext cx="7799832" cy="438912"/>
          </a:xfrm>
          <a:prstGeom prst="roundRect">
            <a:avLst>
              <a:gd name="adj" fmla="val 20833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4" name="TextBox 1643"/>
          <p:cNvSpPr txBox="1"/>
          <p:nvPr/>
        </p:nvSpPr>
        <p:spPr>
          <a:xfrm>
            <a:off x="704088" y="4059936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1645" name="TextBox 1644"/>
          <p:cNvSpPr txBox="1"/>
          <p:nvPr/>
        </p:nvSpPr>
        <p:spPr>
          <a:xfrm>
            <a:off x="1161288" y="4114800"/>
            <a:ext cx="7022592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Outfit"/>
              </a:rPr>
              <a:t>Un même client peut mener plusieurs transformations en parallèle : c'est au coach de choisir le point d'entrée.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09"/>
          <p:cNvSpPr txBox="1"/>
          <p:nvPr>
            <p:ph idx="1" type="body"/>
          </p:nvPr>
        </p:nvSpPr>
        <p:spPr>
          <a:xfrm>
            <a:off x="841248" y="374650"/>
            <a:ext cx="499500" cy="43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1571" name="Google Shape;1571;p109"/>
          <p:cNvSpPr txBox="1"/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Infra as a product, pourquoi ce choix ?</a:t>
            </a:r>
            <a:endParaRPr/>
          </a:p>
        </p:txBody>
      </p:sp>
      <p:pic>
        <p:nvPicPr>
          <p:cNvPr id="1572" name="Google Shape;1572;p109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fmla="val 0" name="adj1"/>
              <a:gd fmla="val 15980" name="adj2"/>
            </a:avLst>
          </a:prstGeom>
          <a:noFill/>
          <a:ln>
            <a:noFill/>
          </a:ln>
        </p:spPr>
      </p:pic>
      <p:sp>
        <p:nvSpPr>
          <p:cNvPr id="1573" name="Google Shape;1573;p109"/>
          <p:cNvSpPr txBox="1"/>
          <p:nvPr/>
        </p:nvSpPr>
        <p:spPr>
          <a:xfrm>
            <a:off x="4765475" y="1683900"/>
            <a:ext cx="96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b="1" sz="45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10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Une définition, quatre piliers</a:t>
            </a:r>
          </a:p>
        </p:txBody>
      </p:sp>
      <p:sp>
        <p:nvSpPr>
          <p:cNvPr id="1581" name="Google Shape;1581;p110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Infra as a Product : c’est quoi ?</a:t>
            </a:r>
            <a:endParaRPr/>
          </a:p>
        </p:txBody>
      </p:sp>
      <p:sp>
        <p:nvSpPr>
          <p:cNvPr id="1582" name="Rounded Rectangle 1581"/>
          <p:cNvSpPr/>
          <p:nvPr/>
        </p:nvSpPr>
        <p:spPr>
          <a:xfrm>
            <a:off x="566928" y="1234440"/>
            <a:ext cx="7799832" cy="822960"/>
          </a:xfrm>
          <a:prstGeom prst="roundRect">
            <a:avLst>
              <a:gd name="adj" fmla="val 13333"/>
            </a:avLst>
          </a:prstGeom>
          <a:solidFill>
            <a:srgbClr val="0E2356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3" name="TextBox 1582"/>
          <p:cNvSpPr txBox="1"/>
          <p:nvPr/>
        </p:nvSpPr>
        <p:spPr>
          <a:xfrm>
            <a:off x="749808" y="123444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1584" name="TextBox 1583"/>
          <p:cNvSpPr txBox="1"/>
          <p:nvPr/>
        </p:nvSpPr>
        <p:spPr>
          <a:xfrm>
            <a:off x="1252728" y="1234440"/>
            <a:ext cx="6931152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Traiter l'infrastructure comme un produit </a:t>
            </a:r>
            <a:r>
              <a:rPr sz="1100" b="0" i="0">
                <a:solidFill>
                  <a:srgbClr val="FFFFFF"/>
                </a:solidFill>
                <a:latin typeface="Outfit"/>
              </a:rPr>
              <a:t>— des utilisateurs identifiés, une proposition de valeur, un catalogue de capacités, un propriétaire et une roadmap, et une valeur mesurée par l'usage.</a:t>
            </a:r>
          </a:p>
        </p:txBody>
      </p:sp>
      <p:sp>
        <p:nvSpPr>
          <p:cNvPr id="1585" name="Rounded Rectangle 1584"/>
          <p:cNvSpPr/>
          <p:nvPr/>
        </p:nvSpPr>
        <p:spPr>
          <a:xfrm>
            <a:off x="566928" y="2514600"/>
            <a:ext cx="1826514" cy="192024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1251585" y="2286000"/>
            <a:ext cx="457200" cy="457200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7" name="TextBox 1586"/>
          <p:cNvSpPr txBox="1"/>
          <p:nvPr/>
        </p:nvSpPr>
        <p:spPr>
          <a:xfrm>
            <a:off x="1251585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704088" y="2898648"/>
            <a:ext cx="155219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2356"/>
                </a:solidFill>
                <a:latin typeface="Outfit"/>
              </a:rPr>
              <a:t>Utilisateurs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Partir des équipes qui consomment l'infra et de leurs douleurs mesurées.</a:t>
            </a:r>
          </a:p>
        </p:txBody>
      </p:sp>
      <p:sp>
        <p:nvSpPr>
          <p:cNvPr id="1589" name="Rounded Rectangle 1588"/>
          <p:cNvSpPr/>
          <p:nvPr/>
        </p:nvSpPr>
        <p:spPr>
          <a:xfrm>
            <a:off x="2558034" y="2514600"/>
            <a:ext cx="1826514" cy="192024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3242691" y="228600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3242691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592" name="TextBox 1591"/>
          <p:cNvSpPr txBox="1"/>
          <p:nvPr/>
        </p:nvSpPr>
        <p:spPr>
          <a:xfrm>
            <a:off x="2695194" y="2898648"/>
            <a:ext cx="155219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2356"/>
                </a:solidFill>
                <a:latin typeface="Outfit"/>
              </a:rPr>
              <a:t>Catalogue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Des capacités lisibles, en self-service, avec un niveau de service explicite.</a:t>
            </a:r>
          </a:p>
        </p:txBody>
      </p:sp>
      <p:sp>
        <p:nvSpPr>
          <p:cNvPr id="1593" name="Rounded Rectangle 1592"/>
          <p:cNvSpPr/>
          <p:nvPr/>
        </p:nvSpPr>
        <p:spPr>
          <a:xfrm>
            <a:off x="4549140" y="2514600"/>
            <a:ext cx="1826514" cy="192024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5233797" y="228600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5" name="TextBox 1594"/>
          <p:cNvSpPr txBox="1"/>
          <p:nvPr/>
        </p:nvSpPr>
        <p:spPr>
          <a:xfrm>
            <a:off x="5233797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596" name="TextBox 1595"/>
          <p:cNvSpPr txBox="1"/>
          <p:nvPr/>
        </p:nvSpPr>
        <p:spPr>
          <a:xfrm>
            <a:off x="4686300" y="2898648"/>
            <a:ext cx="155219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2356"/>
                </a:solidFill>
                <a:latin typeface="Outfit"/>
              </a:rPr>
              <a:t>Ownership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Un propriétaire produit par capacité, une roadmap priorisée sur des critères partagés.</a:t>
            </a:r>
          </a:p>
        </p:txBody>
      </p:sp>
      <p:sp>
        <p:nvSpPr>
          <p:cNvPr id="1597" name="Rounded Rectangle 1596"/>
          <p:cNvSpPr/>
          <p:nvPr/>
        </p:nvSpPr>
        <p:spPr>
          <a:xfrm>
            <a:off x="6540246" y="2514600"/>
            <a:ext cx="1826514" cy="1920240"/>
          </a:xfrm>
          <a:prstGeom prst="roundRect">
            <a:avLst>
              <a:gd name="adj" fmla="val 6007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7224903" y="228600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9" name="TextBox 1598"/>
          <p:cNvSpPr txBox="1"/>
          <p:nvPr/>
        </p:nvSpPr>
        <p:spPr>
          <a:xfrm>
            <a:off x="7224903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1600" name="TextBox 1599"/>
          <p:cNvSpPr txBox="1"/>
          <p:nvPr/>
        </p:nvSpPr>
        <p:spPr>
          <a:xfrm>
            <a:off x="6677406" y="2898648"/>
            <a:ext cx="155219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2356"/>
                </a:solidFill>
                <a:latin typeface="Outfit"/>
              </a:rPr>
              <a:t>Mesure</a:t>
            </a:r>
          </a:p>
          <a:p>
            <a:pPr algn="ctr"/>
            <a:r>
              <a:rPr sz="1050" b="0" i="0">
                <a:solidFill>
                  <a:srgbClr val="586586"/>
                </a:solidFill>
                <a:latin typeface="Outfit"/>
              </a:rPr>
              <a:t>L'adoption et l'usage réel pilotent les décisions, jusqu'au décommissionnement.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11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Notre promesse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566928" y="777240"/>
            <a:ext cx="7799832" cy="3749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0E2356"/>
                </a:solidFill>
                <a:latin typeface="Outfit"/>
              </a:rPr>
              <a:t>Ce que change l'infra as a product, concrètement</a:t>
            </a:r>
          </a:p>
        </p:txBody>
      </p:sp>
      <p:sp>
        <p:nvSpPr>
          <p:cNvPr id="1589" name="Rounded Rectangle 1588"/>
          <p:cNvSpPr/>
          <p:nvPr/>
        </p:nvSpPr>
        <p:spPr>
          <a:xfrm>
            <a:off x="566928" y="1216152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0" name="TextBox 1589"/>
          <p:cNvSpPr txBox="1"/>
          <p:nvPr/>
        </p:nvSpPr>
        <p:spPr>
          <a:xfrm>
            <a:off x="603504" y="1216152"/>
            <a:ext cx="93268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  <a:latin typeface="Outfit"/>
              </a:rPr>
              <a:t>AVANT</a:t>
            </a:r>
          </a:p>
        </p:txBody>
      </p:sp>
      <p:sp>
        <p:nvSpPr>
          <p:cNvPr id="1591" name="Rounded Rectangle 1590"/>
          <p:cNvSpPr/>
          <p:nvPr/>
        </p:nvSpPr>
        <p:spPr>
          <a:xfrm>
            <a:off x="4754880" y="1216152"/>
            <a:ext cx="2194560" cy="24688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2" name="TextBox 1591"/>
          <p:cNvSpPr txBox="1"/>
          <p:nvPr/>
        </p:nvSpPr>
        <p:spPr>
          <a:xfrm>
            <a:off x="4791456" y="1216152"/>
            <a:ext cx="212140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Outfit"/>
              </a:rPr>
              <a:t>APRÈS — infra as a product</a:t>
            </a:r>
          </a:p>
        </p:txBody>
      </p:sp>
      <p:sp>
        <p:nvSpPr>
          <p:cNvPr id="1593" name="Rounded Rectangle 1592"/>
          <p:cNvSpPr/>
          <p:nvPr/>
        </p:nvSpPr>
        <p:spPr>
          <a:xfrm>
            <a:off x="566928" y="1554480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694944" y="1554480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586586"/>
                </a:solidFill>
                <a:latin typeface="Outfit"/>
              </a:rPr>
              <a:t>Guichet de tickets</a:t>
            </a:r>
            <a:r>
              <a:rPr sz="950" b="0" i="0">
                <a:solidFill>
                  <a:srgbClr val="586586"/>
                </a:solidFill>
                <a:latin typeface="Outfit"/>
              </a:rPr>
              <a:t> — personne n'est propriétaire du service.</a:t>
            </a:r>
          </a:p>
        </p:txBody>
      </p:sp>
      <p:sp>
        <p:nvSpPr>
          <p:cNvPr id="1595" name="Chevron 1594"/>
          <p:cNvSpPr/>
          <p:nvPr/>
        </p:nvSpPr>
        <p:spPr>
          <a:xfrm>
            <a:off x="4288536" y="1645920"/>
            <a:ext cx="182880" cy="24688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6" name="Rounded Rectangle 1595"/>
          <p:cNvSpPr/>
          <p:nvPr/>
        </p:nvSpPr>
        <p:spPr>
          <a:xfrm>
            <a:off x="4754880" y="1554480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4882896" y="1554480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✓  </a:t>
            </a:r>
            <a:r>
              <a:rPr sz="950" b="1" i="0">
                <a:solidFill>
                  <a:srgbClr val="0E2356"/>
                </a:solidFill>
                <a:latin typeface="Outfit"/>
              </a:rPr>
              <a:t>Un propriétaire produit</a:t>
            </a:r>
            <a:r>
              <a:rPr sz="950" b="0" i="0">
                <a:solidFill>
                  <a:srgbClr val="0E2356"/>
                </a:solidFill>
                <a:latin typeface="Outfit"/>
              </a:rPr>
              <a:t> — une roadmap, des indicateurs de pilotage.</a:t>
            </a:r>
          </a:p>
        </p:txBody>
      </p:sp>
      <p:sp>
        <p:nvSpPr>
          <p:cNvPr id="1598" name="Rounded Rectangle 1597"/>
          <p:cNvSpPr/>
          <p:nvPr/>
        </p:nvSpPr>
        <p:spPr>
          <a:xfrm>
            <a:off x="566928" y="2048256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9" name="TextBox 1598"/>
          <p:cNvSpPr txBox="1"/>
          <p:nvPr/>
        </p:nvSpPr>
        <p:spPr>
          <a:xfrm>
            <a:off x="694944" y="2048256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586586"/>
                </a:solidFill>
                <a:latin typeface="Outfit"/>
              </a:rPr>
              <a:t>Triage du RUN trop long</a:t>
            </a:r>
            <a:r>
              <a:rPr sz="950" b="0" i="0">
                <a:solidFill>
                  <a:srgbClr val="586586"/>
                </a:solidFill>
                <a:latin typeface="Outfit"/>
              </a:rPr>
              <a:t> — traité au fil de l'eau.</a:t>
            </a:r>
          </a:p>
        </p:txBody>
      </p:sp>
      <p:sp>
        <p:nvSpPr>
          <p:cNvPr id="1600" name="Chevron 1599"/>
          <p:cNvSpPr/>
          <p:nvPr/>
        </p:nvSpPr>
        <p:spPr>
          <a:xfrm>
            <a:off x="4288536" y="2139696"/>
            <a:ext cx="182880" cy="24688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1" name="Rounded Rectangle 1600"/>
          <p:cNvSpPr/>
          <p:nvPr/>
        </p:nvSpPr>
        <p:spPr>
          <a:xfrm>
            <a:off x="4754880" y="2048256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2" name="TextBox 1601"/>
          <p:cNvSpPr txBox="1"/>
          <p:nvPr/>
        </p:nvSpPr>
        <p:spPr>
          <a:xfrm>
            <a:off x="4882896" y="2048256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✓  </a:t>
            </a:r>
            <a:r>
              <a:rPr sz="950" b="1" i="0">
                <a:solidFill>
                  <a:srgbClr val="0E2356"/>
                </a:solidFill>
                <a:latin typeface="Outfit"/>
              </a:rPr>
              <a:t>Temps de triage du RUN réduit</a:t>
            </a:r>
            <a:r>
              <a:rPr sz="950" b="0" i="0">
                <a:solidFill>
                  <a:srgbClr val="0E2356"/>
                </a:solidFill>
                <a:latin typeface="Outfit"/>
              </a:rPr>
              <a:t> — capacité RUN récupérée.</a:t>
            </a:r>
          </a:p>
        </p:txBody>
      </p:sp>
      <p:sp>
        <p:nvSpPr>
          <p:cNvPr id="1603" name="Rounded Rectangle 1602"/>
          <p:cNvSpPr/>
          <p:nvPr/>
        </p:nvSpPr>
        <p:spPr>
          <a:xfrm>
            <a:off x="566928" y="2542032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694944" y="2542032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586586"/>
                </a:solidFill>
                <a:latin typeface="Outfit"/>
              </a:rPr>
              <a:t>Backlog invisible</a:t>
            </a:r>
            <a:r>
              <a:rPr sz="950" b="0" i="0">
                <a:solidFill>
                  <a:srgbClr val="586586"/>
                </a:solidFill>
                <a:latin typeface="Outfit"/>
              </a:rPr>
              <a:t> — aucun indicateur de pilotage.</a:t>
            </a:r>
          </a:p>
        </p:txBody>
      </p:sp>
      <p:sp>
        <p:nvSpPr>
          <p:cNvPr id="1605" name="Chevron 1604"/>
          <p:cNvSpPr/>
          <p:nvPr/>
        </p:nvSpPr>
        <p:spPr>
          <a:xfrm>
            <a:off x="4288536" y="2633472"/>
            <a:ext cx="182880" cy="24688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6" name="Rounded Rectangle 1605"/>
          <p:cNvSpPr/>
          <p:nvPr/>
        </p:nvSpPr>
        <p:spPr>
          <a:xfrm>
            <a:off x="4754880" y="2542032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4882896" y="2542032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✓  </a:t>
            </a:r>
            <a:r>
              <a:rPr sz="950" b="1" i="0">
                <a:solidFill>
                  <a:srgbClr val="0E2356"/>
                </a:solidFill>
                <a:latin typeface="Outfit"/>
              </a:rPr>
              <a:t>Backlog visible</a:t>
            </a:r>
            <a:r>
              <a:rPr sz="950" b="0" i="0">
                <a:solidFill>
                  <a:srgbClr val="0E2356"/>
                </a:solidFill>
                <a:latin typeface="Outfit"/>
              </a:rPr>
              <a:t> — priorisé, mesuré dans le temps.</a:t>
            </a:r>
          </a:p>
        </p:txBody>
      </p:sp>
      <p:sp>
        <p:nvSpPr>
          <p:cNvPr id="1608" name="Rounded Rectangle 1607"/>
          <p:cNvSpPr/>
          <p:nvPr/>
        </p:nvSpPr>
        <p:spPr>
          <a:xfrm>
            <a:off x="566928" y="3035808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694944" y="3035808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586586"/>
                </a:solidFill>
                <a:latin typeface="Outfit"/>
              </a:rPr>
              <a:t>Beaucoup de projets, peu d'indicateurs</a:t>
            </a:r>
            <a:r>
              <a:rPr sz="950" b="0" i="0">
                <a:solidFill>
                  <a:srgbClr val="586586"/>
                </a:solidFill>
                <a:latin typeface="Outfit"/>
              </a:rPr>
              <a:t> — du contrôle et du reporting partout.</a:t>
            </a:r>
          </a:p>
        </p:txBody>
      </p:sp>
      <p:sp>
        <p:nvSpPr>
          <p:cNvPr id="1610" name="Chevron 1609"/>
          <p:cNvSpPr/>
          <p:nvPr/>
        </p:nvSpPr>
        <p:spPr>
          <a:xfrm>
            <a:off x="4288536" y="3127248"/>
            <a:ext cx="182880" cy="24688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1" name="Rounded Rectangle 1610"/>
          <p:cNvSpPr/>
          <p:nvPr/>
        </p:nvSpPr>
        <p:spPr>
          <a:xfrm>
            <a:off x="4754880" y="3035808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4882896" y="3035808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✓  </a:t>
            </a:r>
            <a:r>
              <a:rPr sz="950" b="1" i="0">
                <a:solidFill>
                  <a:srgbClr val="0E2356"/>
                </a:solidFill>
                <a:latin typeface="Outfit"/>
              </a:rPr>
              <a:t>Process explicite, rôles définis</a:t>
            </a:r>
            <a:r>
              <a:rPr sz="950" b="0" i="0">
                <a:solidFill>
                  <a:srgbClr val="0E2356"/>
                </a:solidFill>
                <a:latin typeface="Outfit"/>
              </a:rPr>
              <a:t> — l'agent n'arrive qu'une fois le process écrit.</a:t>
            </a:r>
          </a:p>
        </p:txBody>
      </p:sp>
      <p:sp>
        <p:nvSpPr>
          <p:cNvPr id="1613" name="Rounded Rectangle 1612"/>
          <p:cNvSpPr/>
          <p:nvPr/>
        </p:nvSpPr>
        <p:spPr>
          <a:xfrm>
            <a:off x="566928" y="3529584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4" name="TextBox 1613"/>
          <p:cNvSpPr txBox="1"/>
          <p:nvPr/>
        </p:nvSpPr>
        <p:spPr>
          <a:xfrm>
            <a:off x="694944" y="3529584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586586"/>
                </a:solidFill>
                <a:latin typeface="Outfit"/>
              </a:rPr>
              <a:t>Un pilotage dans la douleur</a:t>
            </a:r>
            <a:r>
              <a:rPr sz="950" b="0" i="0">
                <a:solidFill>
                  <a:srgbClr val="586586"/>
                </a:solidFill>
                <a:latin typeface="Outfit"/>
              </a:rPr>
              <a:t> — trop de sujets pour trop peu de capacité.</a:t>
            </a:r>
          </a:p>
        </p:txBody>
      </p:sp>
      <p:sp>
        <p:nvSpPr>
          <p:cNvPr id="1615" name="Chevron 1614"/>
          <p:cNvSpPr/>
          <p:nvPr/>
        </p:nvSpPr>
        <p:spPr>
          <a:xfrm>
            <a:off x="4288536" y="3621024"/>
            <a:ext cx="182880" cy="246888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6" name="Rounded Rectangle 1615"/>
          <p:cNvSpPr/>
          <p:nvPr/>
        </p:nvSpPr>
        <p:spPr>
          <a:xfrm>
            <a:off x="4754880" y="3529584"/>
            <a:ext cx="3611880" cy="429768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7" name="TextBox 1616"/>
          <p:cNvSpPr txBox="1"/>
          <p:nvPr/>
        </p:nvSpPr>
        <p:spPr>
          <a:xfrm>
            <a:off x="4882896" y="3529584"/>
            <a:ext cx="3392424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✓  </a:t>
            </a:r>
            <a:r>
              <a:rPr sz="950" b="1" i="0">
                <a:solidFill>
                  <a:srgbClr val="0E2356"/>
                </a:solidFill>
                <a:latin typeface="Outfit"/>
              </a:rPr>
              <a:t>Des évolutions tech atteignables</a:t>
            </a:r>
            <a:r>
              <a:rPr sz="950" b="0" i="0">
                <a:solidFill>
                  <a:srgbClr val="0E2356"/>
                </a:solidFill>
                <a:latin typeface="Outfit"/>
              </a:rPr>
              <a:t> — un pilotage serein, des priorités tenues.</a:t>
            </a:r>
          </a:p>
        </p:txBody>
      </p:sp>
      <p:sp>
        <p:nvSpPr>
          <p:cNvPr id="1618" name="Rounded Rectangle 1617"/>
          <p:cNvSpPr/>
          <p:nvPr/>
        </p:nvSpPr>
        <p:spPr>
          <a:xfrm>
            <a:off x="566928" y="4069080"/>
            <a:ext cx="7799832" cy="484632"/>
          </a:xfrm>
          <a:prstGeom prst="roundRect">
            <a:avLst>
              <a:gd name="adj" fmla="val 18867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704088" y="4014216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1161288" y="4069080"/>
            <a:ext cx="7022592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Faire les bonnes choses au bon moment, un backlog piloté, des résultats concrets — l'agentique accélère la démarche, il ne la remplace pas.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12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Pourquoi cette transformation — et pourquoi maintenant</a:t>
            </a:r>
          </a:p>
        </p:txBody>
      </p:sp>
      <p:sp>
        <p:nvSpPr>
          <p:cNvPr id="1622" name="Rounded Rectangle 1621"/>
          <p:cNvSpPr/>
          <p:nvPr/>
        </p:nvSpPr>
        <p:spPr>
          <a:xfrm>
            <a:off x="566928" y="932688"/>
            <a:ext cx="45720" cy="31089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3" name="TextBox 1622"/>
          <p:cNvSpPr txBox="1"/>
          <p:nvPr/>
        </p:nvSpPr>
        <p:spPr>
          <a:xfrm>
            <a:off x="731520" y="914400"/>
            <a:ext cx="76352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0E2356"/>
                </a:solidFill>
                <a:latin typeface="Outfit"/>
              </a:rPr>
              <a:t>Trois bascules rendent l'infra as a product </a:t>
            </a:r>
            <a:r>
              <a:rPr sz="1150" b="1" i="0">
                <a:solidFill>
                  <a:srgbClr val="0E2356"/>
                </a:solidFill>
                <a:latin typeface="Outfit"/>
              </a:rPr>
              <a:t>pertinente — et urgente —</a:t>
            </a:r>
            <a:r>
              <a:rPr sz="1150" b="0" i="0">
                <a:solidFill>
                  <a:srgbClr val="0E2356"/>
                </a:solidFill>
                <a:latin typeface="Outfit"/>
              </a:rPr>
              <a:t> maintenant.</a:t>
            </a:r>
          </a:p>
        </p:txBody>
      </p:sp>
      <p:sp>
        <p:nvSpPr>
          <p:cNvPr id="1624" name="Rounded Rectangle 1623"/>
          <p:cNvSpPr/>
          <p:nvPr/>
        </p:nvSpPr>
        <p:spPr>
          <a:xfrm>
            <a:off x="566928" y="1600200"/>
            <a:ext cx="2465832" cy="1600200"/>
          </a:xfrm>
          <a:prstGeom prst="roundRect">
            <a:avLst>
              <a:gd name="adj" fmla="val 6857"/>
            </a:avLst>
          </a:prstGeom>
          <a:solidFill>
            <a:srgbClr val="0E2356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5" name="Oval 1624"/>
          <p:cNvSpPr/>
          <p:nvPr/>
        </p:nvSpPr>
        <p:spPr>
          <a:xfrm>
            <a:off x="722376" y="1389888"/>
            <a:ext cx="420624" cy="420624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6" name="TextBox 1625"/>
          <p:cNvSpPr txBox="1"/>
          <p:nvPr/>
        </p:nvSpPr>
        <p:spPr>
          <a:xfrm>
            <a:off x="722376" y="13898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sp>
        <p:nvSpPr>
          <p:cNvPr id="1627" name="TextBox 1626"/>
          <p:cNvSpPr txBox="1"/>
          <p:nvPr/>
        </p:nvSpPr>
        <p:spPr>
          <a:xfrm>
            <a:off x="731520" y="1901952"/>
            <a:ext cx="2136648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Outfit"/>
              </a:rPr>
              <a:t>L'infra subie n'est plus tenable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Outfit"/>
              </a:rPr>
              <a:t>RUN subi, experts seniors drainés sur du répétitif, dépenses cloud non maîtrisées, plateforme contournée : le coût du statu quo ne cesse de monter.</a:t>
            </a:r>
          </a:p>
        </p:txBody>
      </p:sp>
      <p:sp>
        <p:nvSpPr>
          <p:cNvPr id="1628" name="Rounded Rectangle 1627"/>
          <p:cNvSpPr/>
          <p:nvPr/>
        </p:nvSpPr>
        <p:spPr>
          <a:xfrm>
            <a:off x="3233928" y="1600200"/>
            <a:ext cx="24658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9" name="Oval 1628"/>
          <p:cNvSpPr/>
          <p:nvPr/>
        </p:nvSpPr>
        <p:spPr>
          <a:xfrm>
            <a:off x="3389376" y="1389888"/>
            <a:ext cx="420624" cy="42062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0" name="TextBox 1629"/>
          <p:cNvSpPr txBox="1"/>
          <p:nvPr/>
        </p:nvSpPr>
        <p:spPr>
          <a:xfrm>
            <a:off x="3389376" y="13898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631" name="TextBox 1630"/>
          <p:cNvSpPr txBox="1"/>
          <p:nvPr/>
        </p:nvSpPr>
        <p:spPr>
          <a:xfrm>
            <a:off x="3398520" y="1901952"/>
            <a:ext cx="2136648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E2356"/>
                </a:solidFill>
                <a:latin typeface="Outfit"/>
              </a:rPr>
              <a:t>Le modèle produit/plateforme est prouvé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Devenu un standard — mais 80 % des grandes organisations ont une platform team en 2026, moins de 30 % en tirent des gains mesurables (Gartner). Nous adressons cet écart.</a:t>
            </a:r>
          </a:p>
        </p:txBody>
      </p:sp>
      <p:sp>
        <p:nvSpPr>
          <p:cNvPr id="1632" name="Rounded Rectangle 1631"/>
          <p:cNvSpPr/>
          <p:nvPr/>
        </p:nvSpPr>
        <p:spPr>
          <a:xfrm>
            <a:off x="5900928" y="1600200"/>
            <a:ext cx="24658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3" name="Oval 1632"/>
          <p:cNvSpPr/>
          <p:nvPr/>
        </p:nvSpPr>
        <p:spPr>
          <a:xfrm>
            <a:off x="6056376" y="1389888"/>
            <a:ext cx="420624" cy="42062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6056376" y="13898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6065520" y="1901952"/>
            <a:ext cx="2136648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E2356"/>
                </a:solidFill>
                <a:latin typeface="Outfit"/>
              </a:rPr>
              <a:t>L'IA rebat les cartes — l'organisation d'abord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L'IA amplifie une organisation mûre, jamais l'inverse. S'y préparer maintenant (doctrine confidentialité-first) évite de la subir plus tard.</a:t>
            </a:r>
          </a:p>
        </p:txBody>
      </p:sp>
      <p:sp>
        <p:nvSpPr>
          <p:cNvPr id="1636" name="TextBox 1635"/>
          <p:cNvSpPr txBox="1"/>
          <p:nvPr/>
        </p:nvSpPr>
        <p:spPr>
          <a:xfrm>
            <a:off x="566928" y="3401568"/>
            <a:ext cx="779983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ET SURTOUT — NOS DEUX MISSIONS RÉPONDENT TRAIT POUR TRAIT AUX DEUX DOULEURS DU CLIENT</a:t>
            </a:r>
          </a:p>
        </p:txBody>
      </p:sp>
      <p:sp>
        <p:nvSpPr>
          <p:cNvPr id="1637" name="Rounded Rectangle 1636"/>
          <p:cNvSpPr/>
          <p:nvPr/>
        </p:nvSpPr>
        <p:spPr>
          <a:xfrm>
            <a:off x="566928" y="3831335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8" name="TextBox 1637"/>
          <p:cNvSpPr txBox="1"/>
          <p:nvPr/>
        </p:nvSpPr>
        <p:spPr>
          <a:xfrm>
            <a:off x="603504" y="3831335"/>
            <a:ext cx="12527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Subir le RUN</a:t>
            </a:r>
          </a:p>
        </p:txBody>
      </p:sp>
      <p:sp>
        <p:nvSpPr>
          <p:cNvPr id="1639" name="Chevron 1638"/>
          <p:cNvSpPr/>
          <p:nvPr/>
        </p:nvSpPr>
        <p:spPr>
          <a:xfrm>
            <a:off x="1965960" y="3931920"/>
            <a:ext cx="164592" cy="256032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0" name="Rounded Rectangle 1639"/>
          <p:cNvSpPr/>
          <p:nvPr/>
        </p:nvSpPr>
        <p:spPr>
          <a:xfrm>
            <a:off x="2212848" y="3703320"/>
            <a:ext cx="2116836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1" name="TextBox 1640"/>
          <p:cNvSpPr txBox="1"/>
          <p:nvPr/>
        </p:nvSpPr>
        <p:spPr>
          <a:xfrm>
            <a:off x="2350008" y="3703320"/>
            <a:ext cx="1888236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E2356"/>
                </a:solidFill>
                <a:latin typeface="Outfit"/>
              </a:rPr>
              <a:t>TRANSFORMER</a:t>
            </a:r>
          </a:p>
          <a:p>
            <a:pPr algn="l"/>
            <a:r>
              <a:rPr sz="900" b="0" i="0">
                <a:solidFill>
                  <a:srgbClr val="586586"/>
                </a:solidFill>
                <a:latin typeface="Outfit"/>
              </a:rPr>
              <a:t>cible produit/plateforme</a:t>
            </a:r>
          </a:p>
        </p:txBody>
      </p:sp>
      <p:sp>
        <p:nvSpPr>
          <p:cNvPr id="1642" name="Rounded Rectangle 1641"/>
          <p:cNvSpPr/>
          <p:nvPr/>
        </p:nvSpPr>
        <p:spPr>
          <a:xfrm>
            <a:off x="4604004" y="3831335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4640580" y="3831335"/>
            <a:ext cx="12527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Les dépenses subies</a:t>
            </a:r>
          </a:p>
        </p:txBody>
      </p:sp>
      <p:sp>
        <p:nvSpPr>
          <p:cNvPr id="1644" name="Chevron 1643"/>
          <p:cNvSpPr/>
          <p:nvPr/>
        </p:nvSpPr>
        <p:spPr>
          <a:xfrm>
            <a:off x="6003036" y="3931920"/>
            <a:ext cx="164592" cy="256032"/>
          </a:xfrm>
          <a:prstGeom prst="chevron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5" name="Rounded Rectangle 1644"/>
          <p:cNvSpPr/>
          <p:nvPr/>
        </p:nvSpPr>
        <p:spPr>
          <a:xfrm>
            <a:off x="6249924" y="3703320"/>
            <a:ext cx="2116836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6387084" y="3703320"/>
            <a:ext cx="1888236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0E2356"/>
                </a:solidFill>
                <a:latin typeface="Outfit"/>
              </a:rPr>
              <a:t>ASSAINIR</a:t>
            </a:r>
          </a:p>
          <a:p>
            <a:pPr algn="l"/>
            <a:r>
              <a:rPr sz="900" b="0" i="0">
                <a:solidFill>
                  <a:srgbClr val="586586"/>
                </a:solidFill>
                <a:latin typeface="Outfit"/>
              </a:rPr>
              <a:t>capacité récupérée à réinvestir — sous réserve d'une réallocation côté client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14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Démarche globale</a:t>
            </a:r>
            <a:endParaRPr/>
          </a:p>
        </p:txBody>
      </p:sp>
      <p:sp>
        <p:nvSpPr>
          <p:cNvPr id="1661" name="Google Shape;1661;p114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04</a:t>
            </a:r>
            <a:endParaRPr b="1" sz="1700"/>
          </a:p>
        </p:txBody>
      </p:sp>
      <p:pic>
        <p:nvPicPr>
          <p:cNvPr id="1662" name="Google Shape;1662;p114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15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Quatre phases, des livrables à chaque étape</a:t>
            </a:r>
          </a:p>
        </p:txBody>
      </p:sp>
      <p:sp>
        <p:nvSpPr>
          <p:cNvPr id="1669" name="Google Shape;1669;p115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Démarche globale</a:t>
            </a:r>
            <a:endParaRPr/>
          </a:p>
        </p:txBody>
      </p:sp>
      <p:sp>
        <p:nvSpPr>
          <p:cNvPr id="1670" name="Chevron 1669"/>
          <p:cNvSpPr/>
          <p:nvPr/>
        </p:nvSpPr>
        <p:spPr>
          <a:xfrm>
            <a:off x="566928" y="1261872"/>
            <a:ext cx="2004822" cy="548640"/>
          </a:xfrm>
          <a:prstGeom prst="chevron">
            <a:avLst>
              <a:gd name="adj" fmla="val 35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795528" y="1261872"/>
            <a:ext cx="154762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0E2356"/>
                </a:solidFill>
                <a:latin typeface="Outfit"/>
              </a:rPr>
              <a:t>1. Explorer et diagnostiquer</a:t>
            </a:r>
          </a:p>
        </p:txBody>
      </p:sp>
      <p:sp>
        <p:nvSpPr>
          <p:cNvPr id="1672" name="Rounded Rectangle 1671"/>
          <p:cNvSpPr/>
          <p:nvPr/>
        </p:nvSpPr>
        <p:spPr>
          <a:xfrm>
            <a:off x="612648" y="1965960"/>
            <a:ext cx="1803654" cy="256032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3" name="TextBox 1672"/>
          <p:cNvSpPr txBox="1"/>
          <p:nvPr/>
        </p:nvSpPr>
        <p:spPr>
          <a:xfrm>
            <a:off x="740664" y="2103120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ACTIVITÉS CLÉS</a:t>
            </a:r>
          </a:p>
        </p:txBody>
      </p:sp>
      <p:sp>
        <p:nvSpPr>
          <p:cNvPr id="1674" name="TextBox 1673"/>
          <p:cNvSpPr txBox="1"/>
          <p:nvPr/>
        </p:nvSpPr>
        <p:spPr>
          <a:xfrm>
            <a:off x="740664" y="2331720"/>
            <a:ext cx="154762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Assessment flash : entretiens, inventaire du parc et des demandes, coût du statu quo chiffré.</a:t>
            </a:r>
          </a:p>
        </p:txBody>
      </p:sp>
      <p:sp>
        <p:nvSpPr>
          <p:cNvPr id="1675" name="Rectangle 1674"/>
          <p:cNvSpPr/>
          <p:nvPr/>
        </p:nvSpPr>
        <p:spPr>
          <a:xfrm>
            <a:off x="740664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6" name="TextBox 1675"/>
          <p:cNvSpPr txBox="1"/>
          <p:nvPr/>
        </p:nvSpPr>
        <p:spPr>
          <a:xfrm>
            <a:off x="740664" y="3630168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LIVRABLE</a:t>
            </a:r>
          </a:p>
        </p:txBody>
      </p:sp>
      <p:sp>
        <p:nvSpPr>
          <p:cNvPr id="1677" name="TextBox 1676"/>
          <p:cNvSpPr txBox="1"/>
          <p:nvPr/>
        </p:nvSpPr>
        <p:spPr>
          <a:xfrm>
            <a:off x="740664" y="3840480"/>
            <a:ext cx="154762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Diagnostic et coût du statu quo</a:t>
            </a:r>
          </a:p>
        </p:txBody>
      </p:sp>
      <p:sp>
        <p:nvSpPr>
          <p:cNvPr id="1678" name="Chevron 1677"/>
          <p:cNvSpPr/>
          <p:nvPr/>
        </p:nvSpPr>
        <p:spPr>
          <a:xfrm>
            <a:off x="2535174" y="1261872"/>
            <a:ext cx="2004822" cy="548640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9" name="TextBox 1678"/>
          <p:cNvSpPr txBox="1"/>
          <p:nvPr/>
        </p:nvSpPr>
        <p:spPr>
          <a:xfrm>
            <a:off x="2763774" y="1261872"/>
            <a:ext cx="154762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2. Cadrer l'offre</a:t>
            </a:r>
          </a:p>
        </p:txBody>
      </p:sp>
      <p:sp>
        <p:nvSpPr>
          <p:cNvPr id="1680" name="Rounded Rectangle 1679"/>
          <p:cNvSpPr/>
          <p:nvPr/>
        </p:nvSpPr>
        <p:spPr>
          <a:xfrm>
            <a:off x="2580894" y="1965960"/>
            <a:ext cx="1803654" cy="256032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1" name="TextBox 1680"/>
          <p:cNvSpPr txBox="1"/>
          <p:nvPr/>
        </p:nvSpPr>
        <p:spPr>
          <a:xfrm>
            <a:off x="2708910" y="2103120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ACTIVITÉS CLÉS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2708910" y="2331720"/>
            <a:ext cx="154762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Utilisateurs et parcours, catalogue de capacités cible, critères de priorisation partagés.</a:t>
            </a:r>
          </a:p>
        </p:txBody>
      </p:sp>
      <p:sp>
        <p:nvSpPr>
          <p:cNvPr id="1683" name="Rectangle 1682"/>
          <p:cNvSpPr/>
          <p:nvPr/>
        </p:nvSpPr>
        <p:spPr>
          <a:xfrm>
            <a:off x="2708910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4" name="TextBox 1683"/>
          <p:cNvSpPr txBox="1"/>
          <p:nvPr/>
        </p:nvSpPr>
        <p:spPr>
          <a:xfrm>
            <a:off x="2708910" y="3630168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LIVRABLE</a:t>
            </a:r>
          </a:p>
        </p:txBody>
      </p:sp>
      <p:sp>
        <p:nvSpPr>
          <p:cNvPr id="1685" name="TextBox 1684"/>
          <p:cNvSpPr txBox="1"/>
          <p:nvPr/>
        </p:nvSpPr>
        <p:spPr>
          <a:xfrm>
            <a:off x="2708910" y="3840480"/>
            <a:ext cx="154762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Catalogue cible et roadmap</a:t>
            </a:r>
          </a:p>
        </p:txBody>
      </p:sp>
      <p:sp>
        <p:nvSpPr>
          <p:cNvPr id="1686" name="Chevron 1685"/>
          <p:cNvSpPr/>
          <p:nvPr/>
        </p:nvSpPr>
        <p:spPr>
          <a:xfrm>
            <a:off x="4503420" y="1261872"/>
            <a:ext cx="2004822" cy="548640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7" name="TextBox 1686"/>
          <p:cNvSpPr txBox="1"/>
          <p:nvPr/>
        </p:nvSpPr>
        <p:spPr>
          <a:xfrm>
            <a:off x="4732020" y="1261872"/>
            <a:ext cx="154762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3. Assainir</a:t>
            </a:r>
          </a:p>
        </p:txBody>
      </p:sp>
      <p:sp>
        <p:nvSpPr>
          <p:cNvPr id="1688" name="Rounded Rectangle 1687"/>
          <p:cNvSpPr/>
          <p:nvPr/>
        </p:nvSpPr>
        <p:spPr>
          <a:xfrm>
            <a:off x="4549140" y="1965960"/>
            <a:ext cx="1803654" cy="256032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4677156" y="2103120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ACTIVITÉS CLÉS</a:t>
            </a:r>
          </a:p>
        </p:txBody>
      </p:sp>
      <p:sp>
        <p:nvSpPr>
          <p:cNvPr id="1690" name="TextBox 1689"/>
          <p:cNvSpPr txBox="1"/>
          <p:nvPr/>
        </p:nvSpPr>
        <p:spPr>
          <a:xfrm>
            <a:off x="4677156" y="2331720"/>
            <a:ext cx="154762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Traiter les douleurs prioritaires : décommissionnement, licences, triage du RUN.</a:t>
            </a:r>
          </a:p>
        </p:txBody>
      </p:sp>
      <p:sp>
        <p:nvSpPr>
          <p:cNvPr id="1691" name="Rectangle 1690"/>
          <p:cNvSpPr/>
          <p:nvPr/>
        </p:nvSpPr>
        <p:spPr>
          <a:xfrm>
            <a:off x="4677156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4677156" y="3630168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LIVRABLE</a:t>
            </a:r>
          </a:p>
        </p:txBody>
      </p:sp>
      <p:sp>
        <p:nvSpPr>
          <p:cNvPr id="1693" name="TextBox 1692"/>
          <p:cNvSpPr txBox="1"/>
          <p:nvPr/>
        </p:nvSpPr>
        <p:spPr>
          <a:xfrm>
            <a:off x="4677156" y="3840480"/>
            <a:ext cx="154762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Capacité récupérée, mesurée</a:t>
            </a:r>
          </a:p>
        </p:txBody>
      </p:sp>
      <p:sp>
        <p:nvSpPr>
          <p:cNvPr id="1694" name="Chevron 1693"/>
          <p:cNvSpPr/>
          <p:nvPr/>
        </p:nvSpPr>
        <p:spPr>
          <a:xfrm>
            <a:off x="6471666" y="1261872"/>
            <a:ext cx="1895094" cy="548640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6700266" y="1261872"/>
            <a:ext cx="143789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4. Transformer</a:t>
            </a:r>
          </a:p>
        </p:txBody>
      </p:sp>
      <p:sp>
        <p:nvSpPr>
          <p:cNvPr id="1696" name="Rounded Rectangle 1695"/>
          <p:cNvSpPr/>
          <p:nvPr/>
        </p:nvSpPr>
        <p:spPr>
          <a:xfrm>
            <a:off x="6517386" y="1965960"/>
            <a:ext cx="1803654" cy="2560320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6645402" y="2103120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ACTIVITÉS CLÉS</a:t>
            </a:r>
          </a:p>
        </p:txBody>
      </p:sp>
      <p:sp>
        <p:nvSpPr>
          <p:cNvPr id="1698" name="TextBox 1697"/>
          <p:cNvSpPr txBox="1"/>
          <p:nvPr/>
        </p:nvSpPr>
        <p:spPr>
          <a:xfrm>
            <a:off x="6645402" y="2331720"/>
            <a:ext cx="154762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Premiers périmètres en mode produit : propriétaire, backlog, indicateurs d'usage.</a:t>
            </a:r>
          </a:p>
        </p:txBody>
      </p:sp>
      <p:sp>
        <p:nvSpPr>
          <p:cNvPr id="1699" name="Rectangle 1698"/>
          <p:cNvSpPr/>
          <p:nvPr/>
        </p:nvSpPr>
        <p:spPr>
          <a:xfrm>
            <a:off x="6645402" y="3520440"/>
            <a:ext cx="154762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0" name="TextBox 1699"/>
          <p:cNvSpPr txBox="1"/>
          <p:nvPr/>
        </p:nvSpPr>
        <p:spPr>
          <a:xfrm>
            <a:off x="6645402" y="3630168"/>
            <a:ext cx="154762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LIVRABLE</a:t>
            </a:r>
          </a:p>
        </p:txBody>
      </p:sp>
      <p:sp>
        <p:nvSpPr>
          <p:cNvPr id="1701" name="TextBox 1700"/>
          <p:cNvSpPr txBox="1"/>
          <p:nvPr/>
        </p:nvSpPr>
        <p:spPr>
          <a:xfrm>
            <a:off x="6645402" y="3840480"/>
            <a:ext cx="154762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  <a:latin typeface="Outfit"/>
              </a:rPr>
              <a:t>Premiers produits d'infra en service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16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L'IA accélère la démarche, elle ne la remplace pas — toujours après le gate de confidentialité</a:t>
            </a:r>
          </a:p>
        </p:txBody>
      </p:sp>
      <p:sp>
        <p:nvSpPr>
          <p:cNvPr id="1676" name="Google Shape;1676;p116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L’utilisation de l’IA dans la démarche</a:t>
            </a:r>
            <a:endParaRPr/>
          </a:p>
        </p:txBody>
      </p:sp>
      <p:sp>
        <p:nvSpPr>
          <p:cNvPr id="1677" name="Chevron 1676"/>
          <p:cNvSpPr/>
          <p:nvPr/>
        </p:nvSpPr>
        <p:spPr>
          <a:xfrm>
            <a:off x="566928" y="1280160"/>
            <a:ext cx="2377440" cy="548640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8" name="TextBox 1677"/>
          <p:cNvSpPr txBox="1"/>
          <p:nvPr/>
        </p:nvSpPr>
        <p:spPr>
          <a:xfrm>
            <a:off x="795528" y="128016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Explorer et diagnostiquer</a:t>
            </a:r>
          </a:p>
        </p:txBody>
      </p:sp>
      <p:sp>
        <p:nvSpPr>
          <p:cNvPr id="1679" name="Rounded Rectangle 1678"/>
          <p:cNvSpPr/>
          <p:nvPr/>
        </p:nvSpPr>
        <p:spPr>
          <a:xfrm>
            <a:off x="3081528" y="1280160"/>
            <a:ext cx="528523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0" name="Oval 1679"/>
          <p:cNvSpPr/>
          <p:nvPr/>
        </p:nvSpPr>
        <p:spPr>
          <a:xfrm>
            <a:off x="2916936" y="1389888"/>
            <a:ext cx="329184" cy="32918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1" name="TextBox 1680"/>
          <p:cNvSpPr txBox="1"/>
          <p:nvPr/>
        </p:nvSpPr>
        <p:spPr>
          <a:xfrm>
            <a:off x="2916936" y="13898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IA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3401568" y="1280160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Explorer le parc et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catégoriser l'historique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 des demandes plus vite.</a:t>
            </a:r>
          </a:p>
        </p:txBody>
      </p:sp>
      <p:sp>
        <p:nvSpPr>
          <p:cNvPr id="1683" name="Chevron 1682"/>
          <p:cNvSpPr/>
          <p:nvPr/>
        </p:nvSpPr>
        <p:spPr>
          <a:xfrm>
            <a:off x="566928" y="1947672"/>
            <a:ext cx="2377440" cy="548640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4" name="TextBox 1683"/>
          <p:cNvSpPr txBox="1"/>
          <p:nvPr/>
        </p:nvSpPr>
        <p:spPr>
          <a:xfrm>
            <a:off x="795528" y="194767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Cadrer l'offre</a:t>
            </a:r>
          </a:p>
        </p:txBody>
      </p:sp>
      <p:sp>
        <p:nvSpPr>
          <p:cNvPr id="1685" name="Rounded Rectangle 1684"/>
          <p:cNvSpPr/>
          <p:nvPr/>
        </p:nvSpPr>
        <p:spPr>
          <a:xfrm>
            <a:off x="3081528" y="1947672"/>
            <a:ext cx="528523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xfrm>
            <a:off x="2916936" y="2057399"/>
            <a:ext cx="329184" cy="32918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7" name="TextBox 1686"/>
          <p:cNvSpPr txBox="1"/>
          <p:nvPr/>
        </p:nvSpPr>
        <p:spPr>
          <a:xfrm>
            <a:off x="2916936" y="2057399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IA</a:t>
            </a:r>
          </a:p>
        </p:txBody>
      </p:sp>
      <p:sp>
        <p:nvSpPr>
          <p:cNvPr id="1688" name="TextBox 1687"/>
          <p:cNvSpPr txBox="1"/>
          <p:nvPr/>
        </p:nvSpPr>
        <p:spPr>
          <a:xfrm>
            <a:off x="3401568" y="1947672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Accélérer la mise en place du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catalogue de services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1689" name="Chevron 1688"/>
          <p:cNvSpPr/>
          <p:nvPr/>
        </p:nvSpPr>
        <p:spPr>
          <a:xfrm>
            <a:off x="566928" y="2615184"/>
            <a:ext cx="2377440" cy="548640"/>
          </a:xfrm>
          <a:prstGeom prst="chevron">
            <a:avLst>
              <a:gd name="adj" fmla="val 35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0" name="TextBox 1689"/>
          <p:cNvSpPr txBox="1"/>
          <p:nvPr/>
        </p:nvSpPr>
        <p:spPr>
          <a:xfrm>
            <a:off x="795528" y="261518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0E2356"/>
                </a:solidFill>
                <a:latin typeface="Outfit"/>
              </a:rPr>
              <a:t>Assainir</a:t>
            </a:r>
          </a:p>
        </p:txBody>
      </p:sp>
      <p:sp>
        <p:nvSpPr>
          <p:cNvPr id="1691" name="Rounded Rectangle 1690"/>
          <p:cNvSpPr/>
          <p:nvPr/>
        </p:nvSpPr>
        <p:spPr>
          <a:xfrm>
            <a:off x="3081528" y="2615184"/>
            <a:ext cx="528523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2" name="Oval 1691"/>
          <p:cNvSpPr/>
          <p:nvPr/>
        </p:nvSpPr>
        <p:spPr>
          <a:xfrm>
            <a:off x="2916936" y="2724911"/>
            <a:ext cx="329184" cy="329184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3" name="TextBox 1692"/>
          <p:cNvSpPr txBox="1"/>
          <p:nvPr/>
        </p:nvSpPr>
        <p:spPr>
          <a:xfrm>
            <a:off x="2916936" y="2724911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  <a:latin typeface="Outfit"/>
              </a:rPr>
              <a:t>IA</a:t>
            </a:r>
          </a:p>
        </p:txBody>
      </p:sp>
      <p:sp>
        <p:nvSpPr>
          <p:cNvPr id="1694" name="TextBox 1693"/>
          <p:cNvSpPr txBox="1"/>
          <p:nvPr/>
        </p:nvSpPr>
        <p:spPr>
          <a:xfrm>
            <a:off x="3401568" y="2615184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>Trier et qualifier les demandes entrantes : le temps de triage du RUN est </a:t>
            </a:r>
            <a:r>
              <a:rPr sz="1050" b="1" i="0">
                <a:solidFill>
                  <a:srgbClr val="0E2356"/>
                </a:solidFill>
                <a:latin typeface="Outfit"/>
              </a:rPr>
              <a:t>rendu aux équipes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1695" name="Chevron 1694"/>
          <p:cNvSpPr/>
          <p:nvPr/>
        </p:nvSpPr>
        <p:spPr>
          <a:xfrm>
            <a:off x="566928" y="3282696"/>
            <a:ext cx="2377440" cy="548640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6" name="TextBox 1695"/>
          <p:cNvSpPr txBox="1"/>
          <p:nvPr/>
        </p:nvSpPr>
        <p:spPr>
          <a:xfrm>
            <a:off x="795528" y="3282696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Transformer</a:t>
            </a:r>
          </a:p>
        </p:txBody>
      </p:sp>
      <p:sp>
        <p:nvSpPr>
          <p:cNvPr id="1697" name="Rounded Rectangle 1696"/>
          <p:cNvSpPr/>
          <p:nvPr/>
        </p:nvSpPr>
        <p:spPr>
          <a:xfrm>
            <a:off x="3081528" y="3282696"/>
            <a:ext cx="528523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xfrm>
            <a:off x="2916936" y="3392423"/>
            <a:ext cx="329184" cy="32918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9" name="TextBox 1698"/>
          <p:cNvSpPr txBox="1"/>
          <p:nvPr/>
        </p:nvSpPr>
        <p:spPr>
          <a:xfrm>
            <a:off x="2916936" y="339242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IA</a:t>
            </a:r>
          </a:p>
        </p:txBody>
      </p:sp>
      <p:sp>
        <p:nvSpPr>
          <p:cNvPr id="1700" name="TextBox 1699"/>
          <p:cNvSpPr txBox="1"/>
          <p:nvPr/>
        </p:nvSpPr>
        <p:spPr>
          <a:xfrm>
            <a:off x="3401568" y="3282696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0E2356"/>
                </a:solidFill>
                <a:latin typeface="Outfit"/>
              </a:rPr>
              <a:t/>
            </a:r>
            <a:r>
              <a:rPr sz="1050" b="1" i="0">
                <a:solidFill>
                  <a:srgbClr val="0E2356"/>
                </a:solidFill>
                <a:latin typeface="Outfit"/>
              </a:rPr>
              <a:t>Documenter rapidement</a:t>
            </a:r>
            <a:r>
              <a:rPr sz="1050" b="0" i="0">
                <a:solidFill>
                  <a:srgbClr val="0E2356"/>
                </a:solidFill>
                <a:latin typeface="Outfit"/>
              </a:rPr>
              <a:t> les capacités et les parcours utilisateurs.</a:t>
            </a:r>
          </a:p>
        </p:txBody>
      </p:sp>
      <p:sp>
        <p:nvSpPr>
          <p:cNvPr id="1701" name="Rounded Rectangle 1700"/>
          <p:cNvSpPr/>
          <p:nvPr/>
        </p:nvSpPr>
        <p:spPr>
          <a:xfrm>
            <a:off x="566928" y="4023360"/>
            <a:ext cx="7799832" cy="502920"/>
          </a:xfrm>
          <a:prstGeom prst="roundRect">
            <a:avLst>
              <a:gd name="adj" fmla="val 18181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2" name="TextBox 1701"/>
          <p:cNvSpPr txBox="1"/>
          <p:nvPr/>
        </p:nvSpPr>
        <p:spPr>
          <a:xfrm>
            <a:off x="704088" y="3968496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00D2DD"/>
                </a:solidFill>
                <a:latin typeface="Outfit"/>
              </a:rPr>
              <a:t>“</a:t>
            </a:r>
          </a:p>
        </p:txBody>
      </p:sp>
      <p:sp>
        <p:nvSpPr>
          <p:cNvPr id="1703" name="TextBox 1702"/>
          <p:cNvSpPr txBox="1"/>
          <p:nvPr/>
        </p:nvSpPr>
        <p:spPr>
          <a:xfrm>
            <a:off x="1161288" y="4023360"/>
            <a:ext cx="702259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Un gain mesuré dès le T0, pas promis.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17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Planning indicatif — durées à confirmer avec le client</a:t>
            </a:r>
          </a:p>
        </p:txBody>
      </p:sp>
      <p:sp>
        <p:nvSpPr>
          <p:cNvPr id="1683" name="Google Shape;1683;p117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 planning estimé - Timeline</a:t>
            </a:r>
            <a:endParaRPr/>
          </a:p>
        </p:txBody>
      </p:sp>
      <p:sp>
        <p:nvSpPr>
          <p:cNvPr id="1684" name="Oval 1683"/>
          <p:cNvSpPr/>
          <p:nvPr/>
        </p:nvSpPr>
        <p:spPr>
          <a:xfrm>
            <a:off x="2862072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3222345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xfrm>
            <a:off x="3582619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7" name="Oval 1686"/>
          <p:cNvSpPr/>
          <p:nvPr/>
        </p:nvSpPr>
        <p:spPr>
          <a:xfrm>
            <a:off x="3942892" y="1325880"/>
            <a:ext cx="91440" cy="9144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4303166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9" name="Oval 1688"/>
          <p:cNvSpPr/>
          <p:nvPr/>
        </p:nvSpPr>
        <p:spPr>
          <a:xfrm>
            <a:off x="4663440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0" name="Oval 1689"/>
          <p:cNvSpPr/>
          <p:nvPr/>
        </p:nvSpPr>
        <p:spPr>
          <a:xfrm>
            <a:off x="5023713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xfrm>
            <a:off x="5383987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2" name="Oval 1691"/>
          <p:cNvSpPr/>
          <p:nvPr/>
        </p:nvSpPr>
        <p:spPr>
          <a:xfrm>
            <a:off x="5744260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3" name="Oval 1692"/>
          <p:cNvSpPr/>
          <p:nvPr/>
        </p:nvSpPr>
        <p:spPr>
          <a:xfrm>
            <a:off x="6104534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xfrm>
            <a:off x="6464808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5" name="Oval 1694"/>
          <p:cNvSpPr/>
          <p:nvPr/>
        </p:nvSpPr>
        <p:spPr>
          <a:xfrm>
            <a:off x="6825081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6" name="Oval 1695"/>
          <p:cNvSpPr/>
          <p:nvPr/>
        </p:nvSpPr>
        <p:spPr>
          <a:xfrm>
            <a:off x="7185355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7545628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xfrm>
            <a:off x="7905902" y="1325880"/>
            <a:ext cx="91440" cy="91440"/>
          </a:xfrm>
          <a:prstGeom prst="ellipse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9" name="Oval 1698"/>
          <p:cNvSpPr/>
          <p:nvPr/>
        </p:nvSpPr>
        <p:spPr>
          <a:xfrm>
            <a:off x="8266176" y="1325880"/>
            <a:ext cx="91440" cy="9144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0" name="TextBox 1699"/>
          <p:cNvSpPr txBox="1"/>
          <p:nvPr/>
        </p:nvSpPr>
        <p:spPr>
          <a:xfrm>
            <a:off x="2852928" y="107899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>
                <a:solidFill>
                  <a:srgbClr val="586586"/>
                </a:solidFill>
                <a:latin typeface="Outfit"/>
              </a:rPr>
              <a:t>Démarrage</a:t>
            </a:r>
          </a:p>
        </p:txBody>
      </p:sp>
      <p:sp>
        <p:nvSpPr>
          <p:cNvPr id="1701" name="TextBox 1700"/>
          <p:cNvSpPr txBox="1"/>
          <p:nvPr/>
        </p:nvSpPr>
        <p:spPr>
          <a:xfrm>
            <a:off x="6537960" y="107899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850" b="1" i="0">
                <a:solidFill>
                  <a:srgbClr val="586586"/>
                </a:solidFill>
                <a:latin typeface="Outfit"/>
              </a:rPr>
              <a:t>Autonomie des équipes</a:t>
            </a:r>
          </a:p>
        </p:txBody>
      </p:sp>
      <p:sp>
        <p:nvSpPr>
          <p:cNvPr id="1702" name="Rounded Rectangle 1701"/>
          <p:cNvSpPr/>
          <p:nvPr/>
        </p:nvSpPr>
        <p:spPr>
          <a:xfrm>
            <a:off x="566928" y="164592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3" name="TextBox 1702"/>
          <p:cNvSpPr txBox="1"/>
          <p:nvPr/>
        </p:nvSpPr>
        <p:spPr>
          <a:xfrm>
            <a:off x="603504" y="1645920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1. Explorer et diagnostiquer</a:t>
            </a:r>
          </a:p>
        </p:txBody>
      </p:sp>
      <p:sp>
        <p:nvSpPr>
          <p:cNvPr id="1704" name="Rectangle 1703"/>
          <p:cNvSpPr/>
          <p:nvPr/>
        </p:nvSpPr>
        <p:spPr>
          <a:xfrm>
            <a:off x="2852928" y="1850745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5" name="Rounded Rectangle 1704"/>
          <p:cNvSpPr/>
          <p:nvPr/>
        </p:nvSpPr>
        <p:spPr>
          <a:xfrm>
            <a:off x="2852928" y="1737360"/>
            <a:ext cx="1378458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6" name="Rounded Rectangle 1705"/>
          <p:cNvSpPr/>
          <p:nvPr/>
        </p:nvSpPr>
        <p:spPr>
          <a:xfrm>
            <a:off x="566928" y="224942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7" name="TextBox 1706"/>
          <p:cNvSpPr txBox="1"/>
          <p:nvPr/>
        </p:nvSpPr>
        <p:spPr>
          <a:xfrm>
            <a:off x="603504" y="2249424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2. Cadrer l'offre</a:t>
            </a:r>
          </a:p>
        </p:txBody>
      </p:sp>
      <p:sp>
        <p:nvSpPr>
          <p:cNvPr id="1708" name="Rectangle 1707"/>
          <p:cNvSpPr/>
          <p:nvPr/>
        </p:nvSpPr>
        <p:spPr>
          <a:xfrm>
            <a:off x="2852928" y="2454249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9" name="Rounded Rectangle 1708"/>
          <p:cNvSpPr/>
          <p:nvPr/>
        </p:nvSpPr>
        <p:spPr>
          <a:xfrm>
            <a:off x="3955694" y="2340864"/>
            <a:ext cx="1488734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0" name="Rounded Rectangle 1709"/>
          <p:cNvSpPr/>
          <p:nvPr/>
        </p:nvSpPr>
        <p:spPr>
          <a:xfrm>
            <a:off x="566928" y="285292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603504" y="2852928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3. Assainir</a:t>
            </a:r>
          </a:p>
        </p:txBody>
      </p:sp>
      <p:sp>
        <p:nvSpPr>
          <p:cNvPr id="1712" name="Rectangle 1711"/>
          <p:cNvSpPr/>
          <p:nvPr/>
        </p:nvSpPr>
        <p:spPr>
          <a:xfrm>
            <a:off x="2852928" y="3057753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3" name="Rounded Rectangle 1712"/>
          <p:cNvSpPr/>
          <p:nvPr/>
        </p:nvSpPr>
        <p:spPr>
          <a:xfrm>
            <a:off x="5058460" y="2944368"/>
            <a:ext cx="2205532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4" name="Rounded Rectangle 1713"/>
          <p:cNvSpPr/>
          <p:nvPr/>
        </p:nvSpPr>
        <p:spPr>
          <a:xfrm>
            <a:off x="566928" y="345643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5" name="TextBox 1714"/>
          <p:cNvSpPr txBox="1"/>
          <p:nvPr/>
        </p:nvSpPr>
        <p:spPr>
          <a:xfrm>
            <a:off x="603504" y="3456432"/>
            <a:ext cx="2029967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4. Transformer</a:t>
            </a:r>
          </a:p>
        </p:txBody>
      </p:sp>
      <p:sp>
        <p:nvSpPr>
          <p:cNvPr id="1716" name="Rectangle 1715"/>
          <p:cNvSpPr/>
          <p:nvPr/>
        </p:nvSpPr>
        <p:spPr>
          <a:xfrm>
            <a:off x="2852928" y="3661257"/>
            <a:ext cx="5513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7" name="Rounded Rectangle 1716"/>
          <p:cNvSpPr/>
          <p:nvPr/>
        </p:nvSpPr>
        <p:spPr>
          <a:xfrm>
            <a:off x="5885535" y="3547872"/>
            <a:ext cx="2481224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8" name="Diamond 1717"/>
          <p:cNvSpPr/>
          <p:nvPr/>
        </p:nvSpPr>
        <p:spPr>
          <a:xfrm>
            <a:off x="4130802" y="1755648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4395978" y="169164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50" b="1" i="0">
                <a:solidFill>
                  <a:srgbClr val="0E2356"/>
                </a:solidFill>
                <a:latin typeface="Outfit"/>
              </a:rPr>
              <a:t>Jalon : restitution de l'Assessment flash</a:t>
            </a:r>
          </a:p>
        </p:txBody>
      </p:sp>
      <p:sp>
        <p:nvSpPr>
          <p:cNvPr id="1720" name="Rounded Rectangle 1719"/>
          <p:cNvSpPr/>
          <p:nvPr/>
        </p:nvSpPr>
        <p:spPr>
          <a:xfrm>
            <a:off x="566928" y="4151375"/>
            <a:ext cx="45720" cy="32918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1" name="TextBox 1720"/>
          <p:cNvSpPr txBox="1"/>
          <p:nvPr/>
        </p:nvSpPr>
        <p:spPr>
          <a:xfrm>
            <a:off x="731520" y="4133087"/>
            <a:ext cx="7635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86586"/>
                </a:solidFill>
                <a:latin typeface="Outfit"/>
              </a:rPr>
              <a:t>Durées à compléter : elles dépendent du périmètre retenu à l'issue de l'Assessment flash.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18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Démarche détaillée</a:t>
            </a:r>
            <a:endParaRPr/>
          </a:p>
        </p:txBody>
      </p:sp>
      <p:sp>
        <p:nvSpPr>
          <p:cNvPr id="1689" name="Google Shape;1689;p118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05</a:t>
            </a:r>
            <a:endParaRPr b="1" sz="1700"/>
          </a:p>
        </p:txBody>
      </p:sp>
      <p:pic>
        <p:nvPicPr>
          <p:cNvPr id="1690" name="Google Shape;1690;p118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19"/>
          <p:cNvSpPr txBox="1"/>
          <p:nvPr>
            <p:ph idx="2" type="subTitle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Activités, livrables et prérequis par phase</a:t>
            </a:r>
          </a:p>
        </p:txBody>
      </p:sp>
      <p:sp>
        <p:nvSpPr>
          <p:cNvPr id="1697" name="Google Shape;1697;p119"/>
          <p:cNvSpPr txBox="1"/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r>
              <a:t>Démarche détaillée</a:t>
            </a:r>
          </a:p>
        </p:txBody>
      </p:sp>
      <p:sp>
        <p:nvSpPr>
          <p:cNvPr id="1698" name="Rectangle 1697"/>
          <p:cNvSpPr/>
          <p:nvPr/>
        </p:nvSpPr>
        <p:spPr>
          <a:xfrm>
            <a:off x="566928" y="1737360"/>
            <a:ext cx="7799832" cy="10972"/>
          </a:xfrm>
          <a:prstGeom prst="rect">
            <a:avLst/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9" name="TextBox 1698"/>
          <p:cNvSpPr txBox="1"/>
          <p:nvPr/>
        </p:nvSpPr>
        <p:spPr>
          <a:xfrm>
            <a:off x="566928" y="1801368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ACTIVITÉS</a:t>
            </a:r>
          </a:p>
        </p:txBody>
      </p:sp>
      <p:sp>
        <p:nvSpPr>
          <p:cNvPr id="1700" name="Rectangle 1699"/>
          <p:cNvSpPr/>
          <p:nvPr/>
        </p:nvSpPr>
        <p:spPr>
          <a:xfrm>
            <a:off x="566928" y="2953512"/>
            <a:ext cx="7799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566928" y="3017520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LIVRABLES</a:t>
            </a:r>
          </a:p>
        </p:txBody>
      </p:sp>
      <p:sp>
        <p:nvSpPr>
          <p:cNvPr id="1702" name="Rectangle 1701"/>
          <p:cNvSpPr/>
          <p:nvPr/>
        </p:nvSpPr>
        <p:spPr>
          <a:xfrm>
            <a:off x="566928" y="3758184"/>
            <a:ext cx="7799832" cy="10972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3" name="TextBox 1702"/>
          <p:cNvSpPr txBox="1"/>
          <p:nvPr/>
        </p:nvSpPr>
        <p:spPr>
          <a:xfrm>
            <a:off x="566928" y="3822191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PRÉREQUIS</a:t>
            </a:r>
          </a:p>
        </p:txBody>
      </p:sp>
      <p:sp>
        <p:nvSpPr>
          <p:cNvPr id="1704" name="Rounded Rectangle 1703"/>
          <p:cNvSpPr/>
          <p:nvPr/>
        </p:nvSpPr>
        <p:spPr>
          <a:xfrm>
            <a:off x="1618488" y="1261872"/>
            <a:ext cx="1604772" cy="38404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5" name="TextBox 1704"/>
          <p:cNvSpPr txBox="1"/>
          <p:nvPr/>
        </p:nvSpPr>
        <p:spPr>
          <a:xfrm>
            <a:off x="1655064" y="1261872"/>
            <a:ext cx="15316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1. Explorer et diagnostiquer</a:t>
            </a:r>
          </a:p>
        </p:txBody>
      </p:sp>
      <p:sp>
        <p:nvSpPr>
          <p:cNvPr id="1706" name="TextBox 1705"/>
          <p:cNvSpPr txBox="1"/>
          <p:nvPr/>
        </p:nvSpPr>
        <p:spPr>
          <a:xfrm>
            <a:off x="1655064" y="1801368"/>
            <a:ext cx="1531620" cy="10698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Entretiens utilisateurs et équipe infra ; inventaire du parc, des licences et des demandes ; chiffrage du statu quo</a:t>
            </a:r>
          </a:p>
        </p:txBody>
      </p:sp>
      <p:sp>
        <p:nvSpPr>
          <p:cNvPr id="1707" name="TextBox 1706"/>
          <p:cNvSpPr txBox="1"/>
          <p:nvPr/>
        </p:nvSpPr>
        <p:spPr>
          <a:xfrm>
            <a:off x="1655064" y="3017520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Diagnostic ; coût du statu quo ; périmètres candidats</a:t>
            </a:r>
          </a:p>
        </p:txBody>
      </p:sp>
      <p:sp>
        <p:nvSpPr>
          <p:cNvPr id="1708" name="TextBox 1707"/>
          <p:cNvSpPr txBox="1"/>
          <p:nvPr/>
        </p:nvSpPr>
        <p:spPr>
          <a:xfrm>
            <a:off x="1655064" y="3822191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Sponsor nommé ; accès aux données de tickets et d'inventaire</a:t>
            </a:r>
          </a:p>
        </p:txBody>
      </p:sp>
      <p:sp>
        <p:nvSpPr>
          <p:cNvPr id="1709" name="Rounded Rectangle 1708"/>
          <p:cNvSpPr/>
          <p:nvPr/>
        </p:nvSpPr>
        <p:spPr>
          <a:xfrm>
            <a:off x="3332988" y="1261872"/>
            <a:ext cx="1604772" cy="38404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0" name="TextBox 1709"/>
          <p:cNvSpPr txBox="1"/>
          <p:nvPr/>
        </p:nvSpPr>
        <p:spPr>
          <a:xfrm>
            <a:off x="3369564" y="1261872"/>
            <a:ext cx="15316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2. Cadrer l'offre</a:t>
            </a:r>
          </a:p>
        </p:txBody>
      </p:sp>
      <p:sp>
        <p:nvSpPr>
          <p:cNvPr id="1711" name="TextBox 1710"/>
          <p:cNvSpPr txBox="1"/>
          <p:nvPr/>
        </p:nvSpPr>
        <p:spPr>
          <a:xfrm>
            <a:off x="3369564" y="1801368"/>
            <a:ext cx="1531620" cy="10698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Parcours utilisateurs ; catalogue de capacités cible ; critères de priorisation ; rôles produit</a:t>
            </a:r>
          </a:p>
        </p:txBody>
      </p:sp>
      <p:sp>
        <p:nvSpPr>
          <p:cNvPr id="1712" name="TextBox 1711"/>
          <p:cNvSpPr txBox="1"/>
          <p:nvPr/>
        </p:nvSpPr>
        <p:spPr>
          <a:xfrm>
            <a:off x="3369564" y="3017520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Catalogue cible ; roadmap priorisée ; rôles définis</a:t>
            </a:r>
          </a:p>
        </p:txBody>
      </p:sp>
      <p:sp>
        <p:nvSpPr>
          <p:cNvPr id="1713" name="TextBox 1712"/>
          <p:cNvSpPr txBox="1"/>
          <p:nvPr/>
        </p:nvSpPr>
        <p:spPr>
          <a:xfrm>
            <a:off x="3369564" y="3822191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Arbitrage du sponsor sur les premiers périmètres</a:t>
            </a:r>
          </a:p>
        </p:txBody>
      </p:sp>
      <p:sp>
        <p:nvSpPr>
          <p:cNvPr id="1714" name="Rounded Rectangle 1713"/>
          <p:cNvSpPr/>
          <p:nvPr/>
        </p:nvSpPr>
        <p:spPr>
          <a:xfrm>
            <a:off x="5047488" y="1261872"/>
            <a:ext cx="1604772" cy="38404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5" name="TextBox 1714"/>
          <p:cNvSpPr txBox="1"/>
          <p:nvPr/>
        </p:nvSpPr>
        <p:spPr>
          <a:xfrm>
            <a:off x="5084064" y="1261872"/>
            <a:ext cx="15316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3. Assainir</a:t>
            </a:r>
          </a:p>
        </p:txBody>
      </p:sp>
      <p:sp>
        <p:nvSpPr>
          <p:cNvPr id="1716" name="TextBox 1715"/>
          <p:cNvSpPr txBox="1"/>
          <p:nvPr/>
        </p:nvSpPr>
        <p:spPr>
          <a:xfrm>
            <a:off x="5084064" y="1801368"/>
            <a:ext cx="1531620" cy="10698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Décommissionnement ; licences inutilisées ; triage du RUN outillé par l'IA, après le gate de confidentialité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5084064" y="3017520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Capacité récupérée et mesurée ; plan de réallocation</a:t>
            </a:r>
          </a:p>
        </p:txBody>
      </p:sp>
      <p:sp>
        <p:nvSpPr>
          <p:cNvPr id="1718" name="TextBox 1717"/>
          <p:cNvSpPr txBox="1"/>
          <p:nvPr/>
        </p:nvSpPr>
        <p:spPr>
          <a:xfrm>
            <a:off x="5084064" y="3822191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Réallocation de la capacité décidée côté client</a:t>
            </a:r>
          </a:p>
        </p:txBody>
      </p:sp>
      <p:sp>
        <p:nvSpPr>
          <p:cNvPr id="1719" name="Rounded Rectangle 1718"/>
          <p:cNvSpPr/>
          <p:nvPr/>
        </p:nvSpPr>
        <p:spPr>
          <a:xfrm>
            <a:off x="6761988" y="1261872"/>
            <a:ext cx="1604772" cy="38404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6798564" y="1261872"/>
            <a:ext cx="15316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4. Transformer</a:t>
            </a:r>
          </a:p>
        </p:txBody>
      </p:sp>
      <p:sp>
        <p:nvSpPr>
          <p:cNvPr id="1721" name="TextBox 1720"/>
          <p:cNvSpPr txBox="1"/>
          <p:nvPr/>
        </p:nvSpPr>
        <p:spPr>
          <a:xfrm>
            <a:off x="6798564" y="1801368"/>
            <a:ext cx="1531620" cy="10698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Premiers périmètres en mode produit ; backlog et indicateurs d'usage ; accompagnement des profils clés</a:t>
            </a:r>
          </a:p>
        </p:txBody>
      </p:sp>
      <p:sp>
        <p:nvSpPr>
          <p:cNvPr id="1722" name="TextBox 1721"/>
          <p:cNvSpPr txBox="1"/>
          <p:nvPr/>
        </p:nvSpPr>
        <p:spPr>
          <a:xfrm>
            <a:off x="6798564" y="3017520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Produits d'infra en service ; rituels de pilotage ; transfert aux équipes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6798564" y="3822191"/>
            <a:ext cx="153162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Propriétaires produit désignés ; ligne budgétaire transformation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20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 dispositif</a:t>
            </a:r>
            <a:endParaRPr/>
          </a:p>
        </p:txBody>
      </p:sp>
      <p:sp>
        <p:nvSpPr>
          <p:cNvPr id="1703" name="Google Shape;1703;p120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06</a:t>
            </a:r>
            <a:endParaRPr b="1" sz="1700"/>
          </a:p>
        </p:txBody>
      </p:sp>
      <p:pic>
        <p:nvPicPr>
          <p:cNvPr id="1704" name="Google Shape;1704;p120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21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Le prix</a:t>
            </a:r>
            <a:endParaRPr/>
          </a:p>
        </p:txBody>
      </p:sp>
      <p:sp>
        <p:nvSpPr>
          <p:cNvPr id="1710" name="Google Shape;1710;p121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700"/>
              <a:t>07</a:t>
            </a:r>
            <a:endParaRPr b="1" sz="1700"/>
          </a:p>
        </p:txBody>
      </p:sp>
      <p:pic>
        <p:nvPicPr>
          <p:cNvPr id="1711" name="Google Shape;1711;p121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1405950" y="1659800"/>
            <a:ext cx="2551200" cy="25515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  <p:sp>
        <p:nvSpPr>
          <p:cNvPr id="1712" name="Google Shape;1712;p121"/>
          <p:cNvSpPr txBox="1"/>
          <p:nvPr/>
        </p:nvSpPr>
        <p:spPr>
          <a:xfrm>
            <a:off x="0" y="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rPr>
              <a:t>Offre Infra as a Product</a:t>
            </a:r>
            <a:endParaRPr sz="1300">
              <a:solidFill>
                <a:schemeClr val="lt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23"/>
          <p:cNvSpPr/>
          <p:nvPr/>
        </p:nvSpPr>
        <p:spPr>
          <a:xfrm rot="5400000">
            <a:off x="433800" y="891525"/>
            <a:ext cx="1517400" cy="1517400"/>
          </a:xfrm>
          <a:prstGeom prst="teardrop">
            <a:avLst>
              <a:gd fmla="val 100000" name="adj"/>
            </a:avLst>
          </a:prstGeom>
          <a:solidFill>
            <a:schemeClr val="dk1"/>
          </a:solidFill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123"/>
          <p:cNvSpPr txBox="1"/>
          <p:nvPr/>
        </p:nvSpPr>
        <p:spPr>
          <a:xfrm>
            <a:off x="597475" y="1109275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L’équipe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5" name="Google Shape;1725;p123"/>
          <p:cNvSpPr/>
          <p:nvPr/>
        </p:nvSpPr>
        <p:spPr>
          <a:xfrm>
            <a:off x="5464500" y="4105055"/>
            <a:ext cx="18306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Gaëlle MILOCHEVITCH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MILE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6" name="Google Shape;1726;p123"/>
          <p:cNvSpPr/>
          <p:nvPr/>
        </p:nvSpPr>
        <p:spPr>
          <a:xfrm>
            <a:off x="3141300" y="1795725"/>
            <a:ext cx="17244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</a:t>
            </a: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CAMUS 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CACL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7" name="Google Shape;1727;p123"/>
          <p:cNvSpPr/>
          <p:nvPr/>
        </p:nvSpPr>
        <p:spPr>
          <a:xfrm>
            <a:off x="5290563" y="1795725"/>
            <a:ext cx="19773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Lan LEVY </a:t>
            </a:r>
            <a:endParaRPr b="1"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LLE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8" name="Google Shape;1728;p123"/>
          <p:cNvSpPr/>
          <p:nvPr/>
        </p:nvSpPr>
        <p:spPr>
          <a:xfrm>
            <a:off x="3141300" y="4111505"/>
            <a:ext cx="1911300" cy="613200"/>
          </a:xfrm>
          <a:prstGeom prst="round2DiagRect">
            <a:avLst>
              <a:gd fmla="val 0" name="adj1"/>
              <a:gd fmla="val 1045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Cédric CHEVALÉRIAS</a:t>
            </a:r>
            <a:endParaRPr b="1" i="0" sz="1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5715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CECH</a:t>
            </a:r>
            <a:endParaRPr b="1" i="0" sz="120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29" name="Google Shape;1729;p123" title="Capture d’écran 2026-08-12 à 11.39.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363" y="2624891"/>
            <a:ext cx="1437175" cy="1337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123" title="Capture d’écran 2026-08-12 à 11.40.3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1213" y="2624904"/>
            <a:ext cx="1437175" cy="132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p123"/>
          <p:cNvPicPr preferRelativeResize="0"/>
          <p:nvPr/>
        </p:nvPicPr>
        <p:blipFill rotWithShape="1">
          <a:blip r:embed="rId5">
            <a:alphaModFix/>
          </a:blip>
          <a:srcRect b="820" l="400" r="-400" t="-820"/>
          <a:stretch/>
        </p:blipFill>
        <p:spPr>
          <a:xfrm>
            <a:off x="3522749" y="2677200"/>
            <a:ext cx="1196626" cy="11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Picture 1731" descr="equipe_claude_camus_r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860" y="607005"/>
            <a:ext cx="1097280" cy="1097280"/>
          </a:xfrm>
          <a:prstGeom prst="rect">
            <a:avLst/>
          </a:prstGeom>
        </p:spPr>
      </p:pic>
      <p:sp>
        <p:nvSpPr>
          <p:cNvPr id="1733" name="Oval 1732"/>
          <p:cNvSpPr/>
          <p:nvPr/>
        </p:nvSpPr>
        <p:spPr>
          <a:xfrm>
            <a:off x="3454860" y="607005"/>
            <a:ext cx="1097280" cy="1097280"/>
          </a:xfrm>
          <a:prstGeom prst="ellipse">
            <a:avLst/>
          </a:prstGeom>
          <a:noFill/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dispositif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566928" y="1143000"/>
            <a:ext cx="2743200" cy="3410712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325880"/>
            <a:ext cx="2286000" cy="3044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Outfit"/>
              </a:rPr>
              <a:t>NOTRE APPROCHE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Outfit"/>
              </a:rPr>
              <a:t>Un dispositif resserré, qui se rend dispensable.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FFFFFF"/>
                </a:solidFill>
                <a:latin typeface="Outfit"/>
              </a:rPr>
              <a:t>Un noyau OCTO, des experts mobilisés au bon moment et un transfert continu : la réussite se mesure au jour où vos équipes tiennent le modèle sans nous.</a:t>
            </a:r>
          </a:p>
          <a:p>
            <a:pPr algn="l"/>
            <a:r>
              <a:rPr sz="900" b="0" i="1">
                <a:solidFill>
                  <a:srgbClr val="FFFFFF"/>
                </a:solidFill>
                <a:latin typeface="Outfit"/>
              </a:rPr>
              <a:t>Dimensionnement à compléter selon le périmètre retenu.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4488" y="1143000"/>
            <a:ext cx="4462272" cy="65836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48456" y="1216151"/>
            <a:ext cx="512064" cy="512064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48456" y="1216151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0E2356"/>
                </a:solidFill>
                <a:latin typeface="Outfit"/>
              </a:rPr>
              <a:t>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536" y="1143000"/>
            <a:ext cx="3959352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2356"/>
                </a:solidFill>
                <a:latin typeface="Outfit"/>
              </a:rPr>
              <a:t>Coach produit / plateforme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Porte la démarche, anime les rituels, accompagne les propriétaires produit.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4488" y="1911095"/>
            <a:ext cx="4462272" cy="65836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48456" y="1984248"/>
            <a:ext cx="512064" cy="51206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9842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1911095"/>
            <a:ext cx="3959352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2356"/>
                </a:solidFill>
                <a:latin typeface="Outfit"/>
              </a:rPr>
              <a:t>Expert plateforme et infrastructure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Diagnostic du parc, catalogue de capacités, automatisation.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4488" y="2679191"/>
            <a:ext cx="4462272" cy="65836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8456" y="2752344"/>
            <a:ext cx="512064" cy="512064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75234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79191"/>
            <a:ext cx="3959352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E2356"/>
                </a:solidFill>
                <a:latin typeface="Outfit"/>
              </a:rPr>
              <a:t>Expert IA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Outille le triage et l'exploration, toujours après le gate de confidentialité.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557016"/>
            <a:ext cx="4736592" cy="996696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13048" y="343814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9624" y="3438144"/>
            <a:ext cx="1024127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  <a:latin typeface="Outfit"/>
              </a:rPr>
              <a:t>CÔTÉ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3648456"/>
            <a:ext cx="4370831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Un sponsor (DSI ou direction infrastructure), </a:t>
            </a:r>
            <a:r>
              <a:rPr sz="1000" b="1" i="0">
                <a:solidFill>
                  <a:srgbClr val="0E2356"/>
                </a:solidFill>
                <a:latin typeface="Outfit"/>
              </a:rPr>
              <a:t>des propriétaires produit désignés</a:t>
            </a:r>
            <a:r>
              <a:rPr sz="1000" b="0" i="0">
                <a:solidFill>
                  <a:srgbClr val="0E2356"/>
                </a:solidFill>
                <a:latin typeface="Outfit"/>
              </a:rPr>
              <a:t>, les équipes infra et applicatives.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234440"/>
            <a:ext cx="7434072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21024" y="10881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84448" y="1051560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21024" y="41056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84448" y="4251960"/>
            <a:ext cx="36576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61841" y="1508760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61841" y="1719072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61841" y="1929384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1841" y="2139696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1841" y="2350008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1841" y="2560320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61841" y="2770632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1841" y="2980944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1841" y="3191256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841" y="3401568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841" y="3611880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841" y="3822192"/>
            <a:ext cx="10972" cy="109728"/>
          </a:xfrm>
          <a:prstGeom prst="rect">
            <a:avLst/>
          </a:prstGeom>
          <a:solidFill>
            <a:srgbClr val="CFD3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1508760"/>
            <a:ext cx="2514600" cy="24688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800" b="1" i="0">
                <a:solidFill>
                  <a:srgbClr val="586586"/>
                </a:solidFill>
                <a:latin typeface="Outfit"/>
              </a:rPr>
              <a:t>UN PRIX EN DEUX TEMPS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E2356"/>
                </a:solidFill>
                <a:latin typeface="Outfit"/>
              </a:rPr>
              <a:t>On chiffre d'abord, on s'engage ensuite.</a:t>
            </a:r>
          </a:p>
          <a:p>
            <a:pPr algn="l"/>
            <a:r>
              <a:rPr sz="1000" b="0" i="0">
                <a:solidFill>
                  <a:srgbClr val="0E2356"/>
                </a:solidFill>
                <a:latin typeface="Outfit"/>
              </a:rPr>
              <a:t>Financé sur une ligne budgétaire transformation, </a:t>
            </a:r>
            <a:r>
              <a:rPr sz="1000" b="1" i="0">
                <a:solidFill>
                  <a:srgbClr val="0E2356"/>
                </a:solidFill>
                <a:latin typeface="Outfit"/>
              </a:rPr>
              <a:t>jamais sur le budget RUN</a:t>
            </a:r>
            <a:r>
              <a:rPr sz="1000" b="0" i="0">
                <a:solidFill>
                  <a:srgbClr val="0E2356"/>
                </a:solidFill>
                <a:latin typeface="Outfit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4087368" y="1600200"/>
            <a:ext cx="457200" cy="457200"/>
          </a:xfrm>
          <a:prstGeom prst="ellipse">
            <a:avLst/>
          </a:prstGeom>
          <a:solidFill>
            <a:srgbClr val="00D2DD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368" y="1600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0E2356"/>
                </a:solidFill>
                <a:latin typeface="Outfi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1554480"/>
            <a:ext cx="322783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E2356"/>
                </a:solidFill>
                <a:latin typeface="Outfit"/>
              </a:rPr>
              <a:t>Assessment flash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Forfait d'entrée : diagnostic et coût du statu quo chiffré.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81728" y="22860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2286000"/>
            <a:ext cx="2029967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Montant : à compléter</a:t>
            </a:r>
          </a:p>
        </p:txBody>
      </p:sp>
      <p:sp>
        <p:nvSpPr>
          <p:cNvPr id="26" name="Oval 25"/>
          <p:cNvSpPr/>
          <p:nvPr/>
        </p:nvSpPr>
        <p:spPr>
          <a:xfrm>
            <a:off x="4087368" y="2926080"/>
            <a:ext cx="457200" cy="457200"/>
          </a:xfrm>
          <a:prstGeom prst="ellipse">
            <a:avLst/>
          </a:prstGeom>
          <a:solidFill>
            <a:srgbClr val="0E235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8" y="2926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880360"/>
            <a:ext cx="322783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E2356"/>
                </a:solidFill>
                <a:latin typeface="Outfit"/>
              </a:rPr>
              <a:t>Trajectoire</a:t>
            </a:r>
          </a:p>
          <a:p>
            <a:pPr algn="l"/>
            <a:r>
              <a:rPr sz="950" b="0" i="0">
                <a:solidFill>
                  <a:srgbClr val="586586"/>
                </a:solidFill>
                <a:latin typeface="Outfit"/>
              </a:rPr>
              <a:t>Cadrer l'offre, assainir, transformer — dimensionnée à l'issue de l'Assessment flash.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1728" y="361188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3611880"/>
            <a:ext cx="2029967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Montant : à compléter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La problématique d'abord, l'IA ensuite — exemples illustratifs, soumis au scoring et au gate de confidentialité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Exemples de réalisation : trois agents, un par problématique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2465832" cy="3227832"/>
          </a:xfrm>
          <a:prstGeom prst="roundRect">
            <a:avLst>
              <a:gd name="adj" fmla="val 4449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1207007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207007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  <a:latin typeface="Outfit"/>
              </a:rPr>
              <a:t>Famille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527048"/>
            <a:ext cx="21915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0E2356"/>
                </a:solidFill>
                <a:latin typeface="Outfit"/>
              </a:rPr>
              <a:t>Agent de triage de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74519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57400"/>
            <a:ext cx="219151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mêmes tickets reviennent depuis des années et mobilisent des seniors sur du répétitif à faible valeur.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97479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CE QUE FAIT L'AGENT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880360"/>
            <a:ext cx="2191512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Lit chaque ticket, le classe selon un runbook déjà documenté, le route vers la bonne équipe. Le processus est écrit AVANT l'agent.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794760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77640"/>
            <a:ext cx="219151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Jusqu'à 15 tickets/mois sans intervention humaine, temps de triage divisé par deux (cas nominal du cadrage).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3928" y="1325880"/>
            <a:ext cx="2465832" cy="3227832"/>
          </a:xfrm>
          <a:prstGeom prst="roundRect">
            <a:avLst>
              <a:gd name="adj" fmla="val 444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71088" y="1207007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7664" y="1207007"/>
            <a:ext cx="1225295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Famille Financier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1088" y="1527048"/>
            <a:ext cx="21915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0E2356"/>
                </a:solidFill>
                <a:latin typeface="Outfit"/>
              </a:rPr>
              <a:t>Agent de veille FinOps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1088" y="1874519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POURQUOI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088" y="2057400"/>
            <a:ext cx="219151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Les ressources cloud surdimensionnées ou orphelines n'apparaissent qu'aux audits ponctuels.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088" y="2697479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CE QUE FAIT L'AGENT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088" y="2880360"/>
            <a:ext cx="2191512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Scanne en continu la CMDB et la facturation, repère l'inactif et le surdimensionné, propose une liste à valider — ne décommissionne jamais seul.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1088" y="3794760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GAIN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1088" y="3977640"/>
            <a:ext cx="219151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Coût récupéré directement mesurable — un indicateur de mission déjà cadré.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00928" y="1325880"/>
            <a:ext cx="2465832" cy="3227832"/>
          </a:xfrm>
          <a:prstGeom prst="roundRect">
            <a:avLst>
              <a:gd name="adj" fmla="val 4449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8088" y="1207007"/>
            <a:ext cx="1225295" cy="237744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4664" y="1207007"/>
            <a:ext cx="1152143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Famille Cognitif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8088" y="1527048"/>
            <a:ext cx="21915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0E2356"/>
                </a:solidFill>
                <a:latin typeface="Outfit"/>
              </a:rPr>
              <a:t>Agent documentaire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8088" y="1874519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POURQUOI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8088" y="2057400"/>
            <a:ext cx="219151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Trop d'outils, des procédures dispersées : retrouver l'information sollicite toujours les mêmes experts.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088" y="2697479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CE QUE FAIT L'AGENT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8088" y="2880360"/>
            <a:ext cx="2191512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Indexe runbooks, wikis et tickets résolus, répond aux questions fréquentes avec la source citée — jamais de réponse sans preuve.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8088" y="3794760"/>
            <a:ext cx="21915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8088" y="3977640"/>
            <a:ext cx="219151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  <a:latin typeface="Outfit"/>
              </a:rPr>
              <a:t>Charge cognitive réduite, onboarding plus rapide, moins d'interruptions des experts.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Résultat : un backlog de problématiques priorisé, un porteur par ligne et un delta mesuré avant de généraliser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de réalisation : repérer, prioriser, tenir</a:t>
            </a:r>
          </a:p>
        </p:txBody>
      </p:sp>
      <p:sp>
        <p:nvSpPr>
          <p:cNvPr id="5" name="Chevron 4"/>
          <p:cNvSpPr/>
          <p:nvPr/>
        </p:nvSpPr>
        <p:spPr>
          <a:xfrm>
            <a:off x="566928" y="1234440"/>
            <a:ext cx="2648712" cy="438912"/>
          </a:xfrm>
          <a:prstGeom prst="chevron">
            <a:avLst>
              <a:gd name="adj" fmla="val 35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123" y="1234440"/>
            <a:ext cx="2268321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0E2356"/>
                </a:solidFill>
                <a:latin typeface="Outfit"/>
              </a:rPr>
              <a:t>1. Repérer et chiffrer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783080"/>
            <a:ext cx="2447544" cy="2770632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874519"/>
            <a:ext cx="21915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On détecte chaque problématique et on la quantifie, preuves à l'appui.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2331720"/>
            <a:ext cx="978408" cy="20116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90525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0E2356"/>
                </a:solidFill>
                <a:latin typeface="Outfit"/>
              </a:rPr>
              <a:t>CÔTÉ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578608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Ouvre ses données — CMDB, facturation, tickets — et nomme ce qui le gêne vraiment.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063239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39"/>
            <a:ext cx="7772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Outfit"/>
              </a:rPr>
              <a:t>CÔTÉ OCTO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310127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Apporte la grille des 8 familles de douleur et la méthode de quantification.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79476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122529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0E2356"/>
                </a:solidFill>
                <a:latin typeface="Outfit"/>
              </a:rPr>
              <a:t>TRANCHÉ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041648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 périmètre mesuré, et ce qu'on accepte d'appeler problématique.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197352" y="1234440"/>
            <a:ext cx="2648712" cy="438912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7547" y="1234440"/>
            <a:ext cx="2268321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2. Prioriser dans un backlog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3072" y="1783080"/>
            <a:ext cx="2447544" cy="2770632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1088" y="1874519"/>
            <a:ext cx="21915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Chaque problématique reçoit un score et prend sa place dans le backlog.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1088" y="2331720"/>
            <a:ext cx="978408" cy="20116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7664" y="2331720"/>
            <a:ext cx="90525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0E2356"/>
                </a:solidFill>
                <a:latin typeface="Outfit"/>
              </a:rPr>
              <a:t>CÔTÉ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1088" y="2578608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Arbitre ce qu'aucune équipe ne tranche seule : fermer, standardiser, décommissionner.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1088" y="3063239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7664" y="3063239"/>
            <a:ext cx="7772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Outfit"/>
              </a:rPr>
              <a:t>CÔTÉ OCTO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1088" y="3310127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Instruit les causes racines et propose le score — une proposition, jamais un verdict.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71088" y="379476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7664" y="3794760"/>
            <a:ext cx="122529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0E2356"/>
                </a:solidFill>
                <a:latin typeface="Outfit"/>
              </a:rPr>
              <a:t>TRANCHÉ ENSEMBLE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1088" y="4041648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 backlog priorisé et, pour chaque ligne, le porteur nommé.</a:t>
            </a:r>
          </a:p>
        </p:txBody>
      </p:sp>
      <p:sp>
        <p:nvSpPr>
          <p:cNvPr id="31" name="Chevron 30"/>
          <p:cNvSpPr/>
          <p:nvPr/>
        </p:nvSpPr>
        <p:spPr>
          <a:xfrm>
            <a:off x="5827776" y="1234440"/>
            <a:ext cx="2538984" cy="438912"/>
          </a:xfrm>
          <a:prstGeom prst="chevron">
            <a:avLst>
              <a:gd name="adj" fmla="val 35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7971" y="1234440"/>
            <a:ext cx="215859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3. Tenir dans la durée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73496" y="1783080"/>
            <a:ext cx="2447544" cy="2770632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 w="15875">
            <a:solidFill>
              <a:srgbClr val="CF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01512" y="1874519"/>
            <a:ext cx="21915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0E2356"/>
                </a:solidFill>
                <a:latin typeface="Outfit"/>
              </a:rPr>
              <a:t>On expérimente, on mesure le delta réel, puis on industrialise.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01512" y="2331720"/>
            <a:ext cx="978408" cy="20116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8088" y="2331720"/>
            <a:ext cx="90525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0E2356"/>
                </a:solidFill>
                <a:latin typeface="Outfit"/>
              </a:rPr>
              <a:t>CÔTÉ CLIENT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1512" y="2578608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Porte les expérimentations et libère le temps qu'elles demandent.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01512" y="3063239"/>
            <a:ext cx="850392" cy="201168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088" y="3063239"/>
            <a:ext cx="7772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Outfit"/>
              </a:rPr>
              <a:t>CÔTÉ OCTO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1512" y="3310127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Outille, mesure le delta réel et industrialise ce qui a marché.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01512" y="379476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8088" y="3794760"/>
            <a:ext cx="122529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50" b="1" i="0">
                <a:solidFill>
                  <a:srgbClr val="0E2356"/>
                </a:solidFill>
                <a:latin typeface="Outfit"/>
              </a:rPr>
              <a:t>TRANCHÉ ENSEMBLE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1512" y="4041648"/>
            <a:ext cx="219151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E2356"/>
                </a:solidFill>
                <a:latin typeface="Outfit"/>
              </a:rPr>
              <a:t>Le seuil au-delà duquel on généralise — ou on arrête.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Les personnes d'abord, des livrables à chaque phase — la technique en option, dans une approche globale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détail de l'accompagnement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8488" y="1188720"/>
            <a:ext cx="1618488" cy="36576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5064" y="1188720"/>
            <a:ext cx="15453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0E2356"/>
                </a:solidFill>
                <a:latin typeface="Outfit"/>
              </a:rPr>
              <a:t>1. Explorer et diagnostiquer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1188720"/>
            <a:ext cx="1618488" cy="36576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1188720"/>
            <a:ext cx="15453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2. Cadrer l'offre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1188720"/>
            <a:ext cx="1618488" cy="36576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188720"/>
            <a:ext cx="15453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3. Assainir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1188720"/>
            <a:ext cx="1618488" cy="365760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188720"/>
            <a:ext cx="15453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utfit"/>
              </a:rPr>
              <a:t>4. 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691640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LES PERSONNES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1645920"/>
            <a:ext cx="1618488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9928" y="1709928"/>
            <a:ext cx="1435608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E2356"/>
                </a:solidFill>
                <a:latin typeface="Outfit"/>
              </a:rPr>
              <a:t>Engager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L'engagement du sponsor se construit dès le cadrage ; la restitution revient aux interviewés.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6" y="1645920"/>
            <a:ext cx="1618488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709928"/>
            <a:ext cx="1435608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E2356"/>
                </a:solidFill>
                <a:latin typeface="Outfit"/>
              </a:rPr>
              <a:t>Expérimenter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Équipes pilotes volontaires, jamais désignées ; formation sur les cas réels — pas de formation sans coaching.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1645920"/>
            <a:ext cx="1618488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4" y="1709928"/>
            <a:ext cx="1435608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E2356"/>
                </a:solidFill>
                <a:latin typeface="Outfit"/>
              </a:rPr>
              <a:t>Outiller et relayer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Les résistances sont un signal ; des relais internes formés prennent le relais.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272" y="1645920"/>
            <a:ext cx="1618488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E235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1709928"/>
            <a:ext cx="1435608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E2356"/>
                </a:solidFill>
                <a:latin typeface="Outfit"/>
              </a:rPr>
              <a:t>Mesurer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Satisfaction et adhésion au même instrument qu'au T0 : le delta humain à côté du delta de maturité.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11879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LA TECHNIQUE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40480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840480"/>
            <a:ext cx="79552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0E2356"/>
                </a:solidFill>
                <a:latin typeface="Outfit"/>
              </a:rPr>
              <a:t>EN 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78224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50" b="0" i="1">
                <a:solidFill>
                  <a:srgbClr val="586586"/>
                </a:solidFill>
                <a:latin typeface="Outfit"/>
              </a:rPr>
              <a:t>dans une approche globale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8488" y="3566160"/>
            <a:ext cx="161848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5875">
            <a:solidFill>
              <a:srgbClr val="CFD3D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9928" y="3630168"/>
            <a:ext cx="1435608" cy="877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586586"/>
                </a:solidFill>
                <a:latin typeface="Outfit"/>
              </a:rPr>
              <a:t>Cartographier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Dette, plateformes vieillissantes, dépendances : une base factuelle partagée.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28416" y="3566160"/>
            <a:ext cx="161848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5875">
            <a:solidFill>
              <a:srgbClr val="CFD3D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3630168"/>
            <a:ext cx="1435608" cy="877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586586"/>
                </a:solidFill>
                <a:latin typeface="Outfit"/>
              </a:rPr>
              <a:t>Décommissionner et observer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Sur les pilotes, ce qui peut être décommissionné l'est ; l'observabilité du reste est posée.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8344" y="3566160"/>
            <a:ext cx="161848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5875">
            <a:solidFill>
              <a:srgbClr val="CFD3D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9784" y="3630168"/>
            <a:ext cx="1435608" cy="877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586586"/>
                </a:solidFill>
                <a:latin typeface="Outfit"/>
              </a:rPr>
              <a:t>Standardiser et outiller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CI/CD et infra as code deviennent le mode par défaut.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48272" y="3566160"/>
            <a:ext cx="1618488" cy="969264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5875">
            <a:solidFill>
              <a:srgbClr val="CFD3D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3630168"/>
            <a:ext cx="1435608" cy="877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586586"/>
                </a:solidFill>
                <a:latin typeface="Outfit"/>
              </a:rPr>
              <a:t>Mesurer et réengager</a:t>
            </a:r>
          </a:p>
          <a:p>
            <a:pPr algn="l"/>
            <a:r>
              <a:rPr sz="850" b="0" i="0">
                <a:solidFill>
                  <a:srgbClr val="586586"/>
                </a:solidFill>
                <a:latin typeface="Outfit"/>
              </a:rPr>
              <a:t>Dette et indicateurs infra rejoués au même instrument qu'au T0.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734056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  <a:latin typeface="Outfit"/>
              </a:rPr>
              <a:t>EXEMPLES DE LIVRABLES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18488" y="2688336"/>
            <a:ext cx="1618488" cy="786384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9928" y="2761488"/>
            <a:ext cx="143560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Rapport de diagnostic flash, découpé en thèmes</a:t>
            </a:r>
          </a:p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Backlog priorisé et plan de déploiement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8416" y="2688336"/>
            <a:ext cx="1618488" cy="786384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19856" y="2761488"/>
            <a:ext cx="143560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Référentiel product management V0 adapté</a:t>
            </a:r>
          </a:p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Dispositif et rituels de pilotage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38344" y="2688336"/>
            <a:ext cx="1618488" cy="786384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9784" y="2761488"/>
            <a:ext cx="143560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Premiers enseignements terrain</a:t>
            </a:r>
          </a:p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Board des dépendances, health checks d'équipe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48272" y="2688336"/>
            <a:ext cx="1618488" cy="786384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2761488"/>
            <a:ext cx="1435608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Tableau de bord de suivi de la transformation</a:t>
            </a:r>
          </a:p>
          <a:p>
            <a:pPr algn="l"/>
            <a:r>
              <a:rPr sz="600" b="0" i="0">
                <a:solidFill>
                  <a:srgbClr val="0E2356"/>
                </a:solidFill>
                <a:latin typeface="Outfit"/>
              </a:rPr>
              <a:t>■  </a:t>
            </a:r>
            <a:r>
              <a:rPr sz="850" b="1" i="0">
                <a:solidFill>
                  <a:srgbClr val="0E2356"/>
                </a:solidFill>
                <a:latin typeface="Outfit"/>
              </a:rPr>
              <a:t>Bilan, plan de pérennisation et de passation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Sommaire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Contexte et enjeux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Les choix possibles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Infra as a product, pourquoi ce choix 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Démarche globale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Démarche détaillée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Le dispositif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Le prix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0E2356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