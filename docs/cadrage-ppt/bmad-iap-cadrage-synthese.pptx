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v2.36 · 2026-09-18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Executive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quoi, comment,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qui se joue pour la DSI si rien ne change,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Douleur</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Ce que le moment ouvre, et ce qu'on livre pour le saisir.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Des leviers déjà instruits, la thèse infra-as-a-product, la méthode scorée et l'IA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Opportunités → Offre</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Démarches</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Les jalons, et le signal minimal pour savoir si ça marche.</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Indicateurs de suivi dès le T0, même instrument à la réévaluation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pourquoi cette transformation a du sens maintenant, et pourquoi ce terrain n'est pas un terrain comme un autre.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Offre).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Enjeux</a:t>
            </a:r>
          </a:p>
          <a:p>
            <a:r>
              <a:rPr sz="1050" i="1">
                <a:solidFill>
                  <a:srgbClr val="586586"/>
                </a:solidFill>
                <a:latin typeface="Outfit"/>
              </a:rPr>
              <a:t>Ce que la situation coûte à la DSI si rien ne change — pilotage, adoption, confiance business, conformité.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ENJEUX   ·   </a:t>
            </a:r>
            <a:r>
              <a:rPr b="1" sz="1200">
                <a:solidFill>
                  <a:srgbClr val="0E2356"/>
                </a:solidFill>
                <a:latin typeface="Outfit"/>
              </a:rPr>
              <a:t>Si rien ne change : RUN qui s'aggrave, adoption qui stagne, confiance qui s'érode</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Quatre parties prenantes interrogées séparément convergent sur un même constat, lu ici à l'échelle de la DSI plutôt que persona par persona.</a:t>
            </a:r>
          </a:p>
        </p:txBody>
      </p:sp>
      <p:sp>
        <p:nvSpPr>
          <p:cNvPr id="4" name="Rounded Rectangle 3"/>
          <p:cNvSpPr/>
          <p:nvPr/>
        </p:nvSpPr>
        <p:spPr>
          <a:xfrm>
            <a:off x="562356"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PILOTAGE</a:t>
            </a:r>
          </a:p>
          <a:p>
            <a:pPr algn="l">
              <a:lnSpc>
                <a:spcPct val="110000"/>
              </a:lnSpc>
              <a:spcBef>
                <a:spcPts val="300"/>
              </a:spcBef>
            </a:pPr>
            <a:r>
              <a:rPr sz="1050" b="1" i="0">
                <a:solidFill>
                  <a:srgbClr val="0E2356"/>
                </a:solidFill>
                <a:latin typeface="Outfit"/>
              </a:rPr>
              <a:t>Un signal de flux que personne ne partage encore</a:t>
            </a:r>
          </a:p>
          <a:p>
            <a:pPr algn="l">
              <a:lnSpc>
                <a:spcPct val="120000"/>
              </a:lnSpc>
              <a:spcBef>
                <a:spcPts val="400"/>
              </a:spcBef>
            </a:pPr>
            <a:r>
              <a:rPr sz="800" b="0" i="0">
                <a:solidFill>
                  <a:srgbClr val="586586"/>
                </a:solidFill>
                <a:latin typeface="Outfit"/>
              </a:rPr>
              <a:t>Le management pilote à vue faute d'un métrique commun — l'infra comme guichet ne produit qu'un reporting-miroir, jamais un signal de confiance.</a:t>
            </a:r>
          </a:p>
        </p:txBody>
      </p:sp>
      <p:sp>
        <p:nvSpPr>
          <p:cNvPr id="7" name="Rounded Rectangle 6"/>
          <p:cNvSpPr/>
          <p:nvPr/>
        </p:nvSpPr>
        <p:spPr>
          <a:xfrm>
            <a:off x="4555998"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ADOPTION</a:t>
            </a:r>
          </a:p>
          <a:p>
            <a:pPr algn="l">
              <a:lnSpc>
                <a:spcPct val="110000"/>
              </a:lnSpc>
              <a:spcBef>
                <a:spcPts val="300"/>
              </a:spcBef>
            </a:pPr>
            <a:r>
              <a:rPr sz="1050" b="1" i="0">
                <a:solidFill>
                  <a:srgbClr val="0E2356"/>
                </a:solidFill>
                <a:latin typeface="Outfit"/>
              </a:rPr>
              <a:t>Un self-service qui reste un guichet si personne ne le choisit</a:t>
            </a:r>
          </a:p>
          <a:p>
            <a:pPr algn="l">
              <a:lnSpc>
                <a:spcPct val="120000"/>
              </a:lnSpc>
              <a:spcBef>
                <a:spcPts val="400"/>
              </a:spcBef>
            </a:pPr>
            <a:r>
              <a:rPr sz="800" b="0" i="0">
                <a:solidFill>
                  <a:srgbClr val="586586"/>
                </a:solidFill>
                <a:latin typeface="Outfit"/>
              </a:rPr>
              <a:t>Tant que le contournement reste plus rapide que la plateforme, l'utilisateur applicatif la déserte — l'adoption ne se décrète pas, elle se conçoit.</a:t>
            </a:r>
          </a:p>
        </p:txBody>
      </p:sp>
      <p:sp>
        <p:nvSpPr>
          <p:cNvPr id="10" name="Rounded Rectangle 9"/>
          <p:cNvSpPr/>
          <p:nvPr/>
        </p:nvSpPr>
        <p:spPr>
          <a:xfrm>
            <a:off x="562356"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CONFIANCE BUSINESS</a:t>
            </a:r>
          </a:p>
          <a:p>
            <a:pPr algn="l">
              <a:lnSpc>
                <a:spcPct val="110000"/>
              </a:lnSpc>
              <a:spcBef>
                <a:spcPts val="300"/>
              </a:spcBef>
            </a:pPr>
            <a:r>
              <a:rPr sz="1050" b="1" i="0">
                <a:solidFill>
                  <a:srgbClr val="0E2356"/>
                </a:solidFill>
                <a:latin typeface="Outfit"/>
              </a:rPr>
              <a:t>Une promesse business que la structure actuelle ne tient pas</a:t>
            </a:r>
          </a:p>
          <a:p>
            <a:pPr algn="l">
              <a:lnSpc>
                <a:spcPct val="120000"/>
              </a:lnSpc>
              <a:spcBef>
                <a:spcPts val="400"/>
              </a:spcBef>
            </a:pPr>
            <a:r>
              <a:rPr sz="800" b="0" i="0">
                <a:solidFill>
                  <a:srgbClr val="586586"/>
                </a:solidFill>
                <a:latin typeface="Outfit"/>
              </a:rPr>
              <a:t>Le sponsor porte un problème business, pas un chantier cosmétique — sans capacité RUN récupérée ni KPI de mission, la promesse reste déclarative.</a:t>
            </a:r>
          </a:p>
        </p:txBody>
      </p:sp>
      <p:sp>
        <p:nvSpPr>
          <p:cNvPr id="13" name="Rounded Rectangle 12"/>
          <p:cNvSpPr/>
          <p:nvPr/>
        </p:nvSpPr>
        <p:spPr>
          <a:xfrm>
            <a:off x="4555998"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CONFORMITÉ</a:t>
            </a:r>
          </a:p>
          <a:p>
            <a:pPr algn="l">
              <a:lnSpc>
                <a:spcPct val="110000"/>
              </a:lnSpc>
              <a:spcBef>
                <a:spcPts val="300"/>
              </a:spcBef>
            </a:pPr>
            <a:r>
              <a:rPr sz="1050" b="1" i="0">
                <a:solidFill>
                  <a:srgbClr val="0E2356"/>
                </a:solidFill>
                <a:latin typeface="Outfit"/>
              </a:rPr>
              <a:t>Une vitesse de preuve bridée par un gate non instruit</a:t>
            </a:r>
          </a:p>
          <a:p>
            <a:pPr algn="l">
              <a:lnSpc>
                <a:spcPct val="120000"/>
              </a:lnSpc>
              <a:spcBef>
                <a:spcPts val="400"/>
              </a:spcBef>
            </a:pPr>
            <a:r>
              <a:rPr sz="800" b="0" i="0">
                <a:solidFill>
                  <a:srgbClr val="586586"/>
                </a:solidFill>
                <a:latin typeface="Outfit"/>
              </a:rPr>
              <a:t>La tension entre vitesse de démonstration et gate confidentialité (RSSI non interrogé à ce stade) reste un angle mort qui peut bloquer toute preuve par l'IA.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Démarches).</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Douleur</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Offre).</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Opportunités</a:t>
            </a:r>
          </a:p>
          <a:p>
            <a:r>
              <a:rPr sz="1050" i="1">
                <a:solidFill>
                  <a:srgbClr val="586586"/>
                </a:solidFill>
                <a:latin typeface="Outfit"/>
              </a:rPr>
              <a:t>Ce que la situation rend possible maintenant — les leviers déjà instruits par le cadrage, pas encore ce qu'on livre pour les saisir.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OPPORTUNITÉS   ·   </a:t>
            </a:r>
            <a:r>
              <a:rPr b="1" sz="1200">
                <a:solidFill>
                  <a:srgbClr val="0E2356"/>
                </a:solidFill>
                <a:latin typeface="Outfit"/>
              </a:rPr>
              <a:t>Ce que la situation ouvre maintenant — un espace de leviers cadrés, pas un jaillissement gadget</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déjà instruites par le cadrage rendent le moment favorable — le détail de ce qu'on livre pour les saisir suit au chapitre Offre.</a:t>
            </a:r>
          </a:p>
        </p:txBody>
      </p:sp>
      <p:sp>
        <p:nvSpPr>
          <p:cNvPr id="4" name="Rounded Rectangle 3"/>
          <p:cNvSpPr/>
          <p:nvPr/>
        </p:nvSpPr>
        <p:spPr>
          <a:xfrm>
            <a:off x="562356"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1</a:t>
            </a:r>
          </a:p>
        </p:txBody>
      </p:sp>
      <p:sp>
        <p:nvSpPr>
          <p:cNvPr id="6" name="TextBox 5"/>
          <p:cNvSpPr txBox="1"/>
          <p:nvPr/>
        </p:nvSpPr>
        <p:spPr>
          <a:xfrm>
            <a:off x="745236"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méthode déjà scorée</a:t>
            </a:r>
          </a:p>
        </p:txBody>
      </p:sp>
      <p:sp>
        <p:nvSpPr>
          <p:cNvPr id="7" name="TextBox 6"/>
          <p:cNvSpPr txBox="1"/>
          <p:nvPr/>
        </p:nvSpPr>
        <p:spPr>
          <a:xfrm>
            <a:off x="745236"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8 familles de gaspillage nommées et priorisables (impact × faisabilité − prudence IA) : la priorisation n'est plus à inventer.</a:t>
            </a:r>
          </a:p>
        </p:txBody>
      </p:sp>
      <p:sp>
        <p:nvSpPr>
          <p:cNvPr id="8" name="Rounded Rectangle 7"/>
          <p:cNvSpPr/>
          <p:nvPr/>
        </p:nvSpPr>
        <p:spPr>
          <a:xfrm>
            <a:off x="2559177"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2057"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2</a:t>
            </a:r>
          </a:p>
        </p:txBody>
      </p:sp>
      <p:sp>
        <p:nvSpPr>
          <p:cNvPr id="10" name="TextBox 9"/>
          <p:cNvSpPr txBox="1"/>
          <p:nvPr/>
        </p:nvSpPr>
        <p:spPr>
          <a:xfrm>
            <a:off x="2742057"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 régime RUN devenu traitable</a:t>
            </a:r>
          </a:p>
        </p:txBody>
      </p:sp>
      <p:sp>
        <p:nvSpPr>
          <p:cNvPr id="11" name="TextBox 10"/>
          <p:cNvSpPr txBox="1"/>
          <p:nvPr/>
        </p:nvSpPr>
        <p:spPr>
          <a:xfrm>
            <a:off x="2742057"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Le RUN comme régime permanent, une fois nommé, ouvre la voie à une infra as a product plutôt qu'à un guichet subi.</a:t>
            </a:r>
          </a:p>
        </p:txBody>
      </p:sp>
      <p:sp>
        <p:nvSpPr>
          <p:cNvPr id="12" name="Rounded Rectangle 11"/>
          <p:cNvSpPr/>
          <p:nvPr/>
        </p:nvSpPr>
        <p:spPr>
          <a:xfrm>
            <a:off x="4555998" y="2244725"/>
            <a:ext cx="1813941" cy="2048509"/>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2391029"/>
            <a:ext cx="1448181" cy="274320"/>
          </a:xfrm>
          <a:prstGeom prst="rect">
            <a:avLst/>
          </a:prstGeom>
          <a:noFill/>
        </p:spPr>
        <p:txBody>
          <a:bodyPr wrap="square" anchor="t" lIns="0" rIns="0" tIns="0" bIns="0">
            <a:noAutofit/>
          </a:bodyPr>
          <a:lstStyle/>
          <a:p>
            <a:pPr algn="l"/>
            <a:r>
              <a:rPr sz="800" b="1" i="0">
                <a:solidFill>
                  <a:srgbClr val="8FD6DB"/>
                </a:solidFill>
                <a:latin typeface="Outfit"/>
              </a:rPr>
              <a:t>3</a:t>
            </a:r>
          </a:p>
        </p:txBody>
      </p:sp>
      <p:sp>
        <p:nvSpPr>
          <p:cNvPr id="14" name="TextBox 13"/>
          <p:cNvSpPr txBox="1"/>
          <p:nvPr/>
        </p:nvSpPr>
        <p:spPr>
          <a:xfrm>
            <a:off x="4738878" y="2665349"/>
            <a:ext cx="1448181" cy="310896"/>
          </a:xfrm>
          <a:prstGeom prst="rect">
            <a:avLst/>
          </a:prstGeom>
          <a:noFill/>
        </p:spPr>
        <p:txBody>
          <a:bodyPr wrap="square" anchor="t" lIns="0" rIns="0" tIns="0" bIns="0">
            <a:noAutofit/>
          </a:bodyPr>
          <a:lstStyle/>
          <a:p>
            <a:pPr algn="l">
              <a:lnSpc>
                <a:spcPct val="110000"/>
              </a:lnSpc>
            </a:pPr>
            <a:r>
              <a:rPr sz="900" b="1" i="0">
                <a:solidFill>
                  <a:srgbClr val="FFFFFF"/>
                </a:solidFill>
                <a:latin typeface="Outfit"/>
              </a:rPr>
              <a:t>Une IA sous gate, jamais la réponse d'abord</a:t>
            </a:r>
          </a:p>
        </p:txBody>
      </p:sp>
      <p:sp>
        <p:nvSpPr>
          <p:cNvPr id="15" name="TextBox 14"/>
          <p:cNvSpPr txBox="1"/>
          <p:nvPr/>
        </p:nvSpPr>
        <p:spPr>
          <a:xfrm>
            <a:off x="4738878" y="3031109"/>
            <a:ext cx="1448181" cy="1371853"/>
          </a:xfrm>
          <a:prstGeom prst="rect">
            <a:avLst/>
          </a:prstGeom>
          <a:noFill/>
        </p:spPr>
        <p:txBody>
          <a:bodyPr wrap="square" anchor="t" lIns="0" rIns="0" tIns="0" bIns="0">
            <a:noAutofit/>
          </a:bodyPr>
          <a:lstStyle/>
          <a:p>
            <a:pPr algn="l">
              <a:lnSpc>
                <a:spcPct val="122000"/>
              </a:lnSpc>
            </a:pPr>
            <a:r>
              <a:rPr sz="850" b="0" i="0">
                <a:solidFill>
                  <a:srgbClr val="C7CBE0"/>
                </a:solidFill>
                <a:latin typeface="Outfit"/>
              </a:rPr>
              <a:t>Le gate confidentialité (iap-ai-data-confidentiality-gate) et le principe « process explicite avant l'agent » sécurisent l'usage — l'IA amplifie une réponse déjà là, elle ne la remplace pas.</a:t>
            </a:r>
          </a:p>
        </p:txBody>
      </p:sp>
      <p:sp>
        <p:nvSpPr>
          <p:cNvPr id="16" name="Rounded Rectangle 15"/>
          <p:cNvSpPr/>
          <p:nvPr/>
        </p:nvSpPr>
        <p:spPr>
          <a:xfrm>
            <a:off x="6552819"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5699"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4</a:t>
            </a:r>
          </a:p>
        </p:txBody>
      </p:sp>
      <p:sp>
        <p:nvSpPr>
          <p:cNvPr id="18" name="TextBox 17"/>
          <p:cNvSpPr txBox="1"/>
          <p:nvPr/>
        </p:nvSpPr>
        <p:spPr>
          <a:xfrm>
            <a:off x="6735699"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organisation cible déjà pensée</a:t>
            </a:r>
          </a:p>
        </p:txBody>
      </p:sp>
      <p:sp>
        <p:nvSpPr>
          <p:cNvPr id="19" name="TextBox 18"/>
          <p:cNvSpPr txBox="1"/>
          <p:nvPr/>
        </p:nvSpPr>
        <p:spPr>
          <a:xfrm>
            <a:off x="6735699"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Team topologies et partage gaspillage mutualisé/tranché-à-deux donnent un porteur à ce qui, aujourd'hui, n'en a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Offre</a:t>
            </a:r>
          </a:p>
          <a:p>
            <a:r>
              <a:rPr sz="1050" i="1">
                <a:solidFill>
                  <a:srgbClr val="586586"/>
                </a:solidFill>
                <a:latin typeface="Outfit"/>
              </a:rPr>
              <a:t>Traiter l'infra comme un produit : la thèse, la méthode scorée, l'organisation cible et l'IA au service de la réponse.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Contexte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1073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1073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les trois scores sont ordinaux (un rang, pas une mesure absolue, même statut que le score d'impact)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et au gate IA (tous deux dans ce chapitre) avant toute décision — des exemples illustratifs, pas une liste actée.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Démarches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Démarches</a:t>
            </a:r>
          </a:p>
          <a:p>
            <a:r>
              <a:rPr sz="1050" i="1">
                <a:solidFill>
                  <a:srgbClr val="586586"/>
                </a:solidFill>
                <a:latin typeface="Outfit"/>
              </a:rPr>
              <a:t>La trajectoire et ses livrables par phase, le fil humain, le schéma de fonctionnement, l'inventaire des agents et l'outillage IAP.</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 Les 4 livrables-clés ci-dessus sont 4 profils d'un même générateur modulaire (`iap-deck-builder`), pas 4 outils distincts — détail à la slide Livrables.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69342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 Le détail de chaque étape ci-dessous se retrouve dans la trajectoire en temps et boucle, et dans le schéma de fonctionnement qui suit — trois lectures du même parcours, pas trois parcours différents.</a:t>
            </a:r>
          </a:p>
        </p:txBody>
      </p:sp>
      <p:sp>
        <p:nvSpPr>
          <p:cNvPr id="4" name="Rounded Rectangle 3"/>
          <p:cNvSpPr/>
          <p:nvPr/>
        </p:nvSpPr>
        <p:spPr>
          <a:xfrm>
            <a:off x="562356" y="179984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82178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79984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82178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79984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90957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90957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208330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208330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36677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75996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75996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71424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313258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313258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312343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322402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61721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61721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89305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91500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419811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419811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419811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Démarches)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OFFRE</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Next steps</a:t>
            </a:r>
          </a:p>
          <a:p>
            <a:r>
              <a:rPr sz="1050" i="1">
                <a:solidFill>
                  <a:srgbClr val="586586"/>
                </a:solidFill>
                <a:latin typeface="Outfit"/>
              </a:rPr>
              <a:t>Ce que la mission exige du client, les jalons immédiats, et le signal minimal pour savoir si ça marche.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NEXT STEPS   ·   </a:t>
            </a:r>
            <a:r>
              <a:rPr b="1" sz="1250">
                <a:solidFill>
                  <a:srgbClr val="0E2356"/>
                </a:solidFill>
                <a:latin typeface="Outfit"/>
              </a:rPr>
              <a:t>Les jalons immédiats, et le signal minimal pour savoir si ça marche</a:t>
            </a:r>
          </a:p>
        </p:txBody>
      </p:sp>
      <p:sp>
        <p:nvSpPr>
          <p:cNvPr id="3" name="TextBox 2"/>
          <p:cNvSpPr txBox="1"/>
          <p:nvPr/>
        </p:nvSpPr>
        <p:spPr>
          <a:xfrm>
            <a:off x="562356" y="1051560"/>
            <a:ext cx="7804404" cy="329184"/>
          </a:xfrm>
          <a:prstGeom prst="rect">
            <a:avLst/>
          </a:prstGeom>
          <a:noFill/>
        </p:spPr>
        <p:txBody>
          <a:bodyPr wrap="square" anchor="t" lIns="0" rIns="0" tIns="0" bIns="0">
            <a:noAutofit/>
          </a:bodyPr>
          <a:lstStyle/>
          <a:p>
            <a:pPr algn="l"/>
            <a:r>
              <a:rPr sz="800" b="0" i="1">
                <a:solidFill>
                  <a:srgbClr val="586586"/>
                </a:solidFill>
                <a:latin typeface="Outfit"/>
              </a:rPr>
              <a:t>Le signal à suivre après l'assessment flash — un instrument, pas un rapport.</a:t>
            </a:r>
          </a:p>
        </p:txBody>
      </p:sp>
      <p:sp>
        <p:nvSpPr>
          <p:cNvPr id="4" name="Rounded Rectangle 3"/>
          <p:cNvSpPr/>
          <p:nvPr/>
        </p:nvSpPr>
        <p:spPr>
          <a:xfrm>
            <a:off x="562356" y="1508760"/>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508760"/>
            <a:ext cx="457200" cy="658368"/>
          </a:xfrm>
          <a:prstGeom prst="rect">
            <a:avLst/>
          </a:prstGeom>
          <a:noFill/>
        </p:spPr>
        <p:txBody>
          <a:bodyPr wrap="square" anchor="ctr" lIns="0" rIns="0" tIns="0" bIns="0">
            <a:noAutofit/>
          </a:bodyPr>
          <a:lstStyle/>
          <a:p>
            <a:pPr algn="ctr"/>
            <a:r>
              <a:rPr sz="1400" b="1" i="0">
                <a:solidFill>
                  <a:srgbClr val="0E2356"/>
                </a:solidFill>
                <a:latin typeface="Arial"/>
              </a:rPr>
              <a:t>①</a:t>
            </a:r>
          </a:p>
        </p:txBody>
      </p:sp>
      <p:sp>
        <p:nvSpPr>
          <p:cNvPr id="6" name="TextBox 5"/>
          <p:cNvSpPr txBox="1"/>
          <p:nvPr/>
        </p:nvSpPr>
        <p:spPr>
          <a:xfrm>
            <a:off x="1248156" y="1600200"/>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Assessment flash</a:t>
            </a:r>
          </a:p>
          <a:p>
            <a:pPr algn="l">
              <a:lnSpc>
                <a:spcPct val="120000"/>
              </a:lnSpc>
              <a:spcBef>
                <a:spcPts val="300"/>
              </a:spcBef>
            </a:pPr>
            <a:r>
              <a:rPr sz="850" b="0" i="0">
                <a:solidFill>
                  <a:srgbClr val="586586"/>
                </a:solidFill>
                <a:latin typeface="Outfit"/>
              </a:rPr>
              <a:t>Cadrage express : douleurs mesurées, familles de gaspillage scorées, gate IA positionné.</a:t>
            </a:r>
          </a:p>
        </p:txBody>
      </p:sp>
      <p:sp>
        <p:nvSpPr>
          <p:cNvPr id="7" name="Rounded Rectangle 6"/>
          <p:cNvSpPr/>
          <p:nvPr/>
        </p:nvSpPr>
        <p:spPr>
          <a:xfrm>
            <a:off x="562356" y="227685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7" y="2276856"/>
            <a:ext cx="457200" cy="658368"/>
          </a:xfrm>
          <a:prstGeom prst="rect">
            <a:avLst/>
          </a:prstGeom>
          <a:noFill/>
        </p:spPr>
        <p:txBody>
          <a:bodyPr wrap="square" anchor="ctr" lIns="0" rIns="0" tIns="0" bIns="0">
            <a:noAutofit/>
          </a:bodyPr>
          <a:lstStyle/>
          <a:p>
            <a:pPr algn="ctr"/>
            <a:r>
              <a:rPr sz="1400" b="1" i="0">
                <a:solidFill>
                  <a:srgbClr val="0E2356"/>
                </a:solidFill>
                <a:latin typeface="Arial"/>
              </a:rPr>
              <a:t>②</a:t>
            </a:r>
          </a:p>
        </p:txBody>
      </p:sp>
      <p:sp>
        <p:nvSpPr>
          <p:cNvPr id="9" name="TextBox 8"/>
          <p:cNvSpPr txBox="1"/>
          <p:nvPr/>
        </p:nvSpPr>
        <p:spPr>
          <a:xfrm>
            <a:off x="1248156" y="2368296"/>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Mise en place</a:t>
            </a:r>
          </a:p>
          <a:p>
            <a:pPr algn="l">
              <a:lnSpc>
                <a:spcPct val="120000"/>
              </a:lnSpc>
              <a:spcBef>
                <a:spcPts val="300"/>
              </a:spcBef>
            </a:pPr>
            <a:r>
              <a:rPr sz="850" b="0" i="0">
                <a:solidFill>
                  <a:srgbClr val="586586"/>
                </a:solidFill>
                <a:latin typeface="Outfit"/>
              </a:rPr>
              <a:t>Priorisation actée, porteur désigné par gaspillage, premiers agents candidats instruits sous gate.</a:t>
            </a:r>
          </a:p>
        </p:txBody>
      </p:sp>
      <p:sp>
        <p:nvSpPr>
          <p:cNvPr id="10" name="Rounded Rectangle 9"/>
          <p:cNvSpPr/>
          <p:nvPr/>
        </p:nvSpPr>
        <p:spPr>
          <a:xfrm>
            <a:off x="562356" y="3044952"/>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7" y="3044952"/>
            <a:ext cx="457200" cy="658368"/>
          </a:xfrm>
          <a:prstGeom prst="rect">
            <a:avLst/>
          </a:prstGeom>
          <a:noFill/>
        </p:spPr>
        <p:txBody>
          <a:bodyPr wrap="square" anchor="ctr" lIns="0" rIns="0" tIns="0" bIns="0">
            <a:noAutofit/>
          </a:bodyPr>
          <a:lstStyle/>
          <a:p>
            <a:pPr algn="ctr"/>
            <a:r>
              <a:rPr sz="1400" b="0" i="0">
                <a:solidFill>
                  <a:srgbClr val="0E2356"/>
                </a:solidFill>
                <a:latin typeface="Arial"/>
              </a:rPr>
              <a:t>⟲</a:t>
            </a:r>
          </a:p>
        </p:txBody>
      </p:sp>
      <p:sp>
        <p:nvSpPr>
          <p:cNvPr id="12" name="TextBox 11"/>
          <p:cNvSpPr txBox="1"/>
          <p:nvPr/>
        </p:nvSpPr>
        <p:spPr>
          <a:xfrm>
            <a:off x="1248156" y="3136392"/>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Réévaluation T+6-12 mois</a:t>
            </a:r>
          </a:p>
          <a:p>
            <a:pPr algn="l">
              <a:lnSpc>
                <a:spcPct val="120000"/>
              </a:lnSpc>
              <a:spcBef>
                <a:spcPts val="300"/>
              </a:spcBef>
            </a:pPr>
            <a:r>
              <a:rPr sz="850" b="0" i="0">
                <a:solidFill>
                  <a:srgbClr val="586586"/>
                </a:solidFill>
                <a:latin typeface="Outfit"/>
              </a:rPr>
              <a:t>Même instrument qu'au T0 : delta mesuré, pas une nouvelle opinion.</a:t>
            </a:r>
          </a:p>
        </p:txBody>
      </p:sp>
      <p:sp>
        <p:nvSpPr>
          <p:cNvPr id="13" name="TextBox 12"/>
          <p:cNvSpPr txBox="1"/>
          <p:nvPr/>
        </p:nvSpPr>
        <p:spPr>
          <a:xfrm>
            <a:off x="562356" y="3886200"/>
            <a:ext cx="7804404" cy="219456"/>
          </a:xfrm>
          <a:prstGeom prst="rect">
            <a:avLst/>
          </a:prstGeom>
          <a:noFill/>
        </p:spPr>
        <p:txBody>
          <a:bodyPr wrap="square" anchor="t" lIns="0" rIns="0" tIns="0" bIns="0">
            <a:noAutofit/>
          </a:bodyPr>
          <a:lstStyle/>
          <a:p>
            <a:pPr algn="l"/>
            <a:r>
              <a:rPr sz="800" b="1" i="0">
                <a:solidFill>
                  <a:srgbClr val="586586"/>
                </a:solidFill>
                <a:latin typeface="Outfit"/>
              </a:rPr>
              <a:t>INDICATEURS DE SUIVI MINIMAUX</a:t>
            </a:r>
          </a:p>
        </p:txBody>
      </p:sp>
      <p:sp>
        <p:nvSpPr>
          <p:cNvPr id="14" name="Rounded Rectangle 13"/>
          <p:cNvSpPr/>
          <p:nvPr/>
        </p:nvSpPr>
        <p:spPr>
          <a:xfrm>
            <a:off x="562356"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Gaspillage traité — capacité RUN récupérée</a:t>
            </a:r>
          </a:p>
        </p:txBody>
      </p:sp>
      <p:sp>
        <p:nvSpPr>
          <p:cNvPr id="17" name="Rounded Rectangle 16"/>
          <p:cNvSpPr/>
          <p:nvPr/>
        </p:nvSpPr>
        <p:spPr>
          <a:xfrm>
            <a:off x="2559177"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59177"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87193"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Adoption produit — usage du self-service</a:t>
            </a:r>
          </a:p>
        </p:txBody>
      </p:sp>
      <p:sp>
        <p:nvSpPr>
          <p:cNvPr id="20" name="Rounded Rectangle 19"/>
          <p:cNvSpPr/>
          <p:nvPr/>
        </p:nvSpPr>
        <p:spPr>
          <a:xfrm>
            <a:off x="4555998"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55998"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84014"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Fiabilité &amp; SLA — MTTR, respect des engagements</a:t>
            </a:r>
          </a:p>
        </p:txBody>
      </p:sp>
      <p:sp>
        <p:nvSpPr>
          <p:cNvPr id="23" name="Rounded Rectangle 22"/>
          <p:cNvSpPr/>
          <p:nvPr/>
        </p:nvSpPr>
        <p:spPr>
          <a:xfrm>
            <a:off x="6552819"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52819"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0835"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Maturité — delta par pilier, T0 → réévaluation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