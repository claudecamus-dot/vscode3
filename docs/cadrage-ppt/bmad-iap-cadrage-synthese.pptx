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 id="297" r:id="rId64"/>
    <p:sldId id="298" r:id="rId65"/>
    <p:sldId id="299" r:id="rId66"/>
    <p:sldId id="300" r:id="rId67"/>
    <p:sldId id="301" r:id="rId68"/>
    <p:sldId id="302" r:id="rId69"/>
    <p:sldId id="303" r:id="rId70"/>
    <p:sldId id="304" r:id="rId71"/>
    <p:sldId id="305" r:id="rId72"/>
    <p:sldId id="306" r:id="rId73"/>
    <p:sldId id="307" r:id="rId74"/>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Relationship Id="rId66" Type="http://schemas.openxmlformats.org/officeDocument/2006/relationships/slide" Target="slides/slide44.xml"/><Relationship Id="rId67" Type="http://schemas.openxmlformats.org/officeDocument/2006/relationships/slide" Target="slides/slide45.xml"/><Relationship Id="rId68" Type="http://schemas.openxmlformats.org/officeDocument/2006/relationships/slide" Target="slides/slide46.xml"/><Relationship Id="rId69" Type="http://schemas.openxmlformats.org/officeDocument/2006/relationships/slide" Target="slides/slide47.xml"/><Relationship Id="rId70" Type="http://schemas.openxmlformats.org/officeDocument/2006/relationships/slide" Target="slides/slide48.xml"/><Relationship Id="rId71" Type="http://schemas.openxmlformats.org/officeDocument/2006/relationships/slide" Target="slides/slide49.xml"/><Relationship Id="rId72" Type="http://schemas.openxmlformats.org/officeDocument/2006/relationships/slide" Target="slides/slide50.xml"/><Relationship Id="rId73" Type="http://schemas.openxmlformats.org/officeDocument/2006/relationships/slide" Target="slides/slide51.xml"/><Relationship Id="rId74"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v2.34 · 2026-09-11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 summary</a:t>
            </a:r>
          </a:p>
          <a:p>
            <a:r>
              <a:rPr sz="1050" i="1">
                <a:solidFill>
                  <a:srgbClr val="586586"/>
                </a:solidFill>
                <a:latin typeface="Outfit"/>
              </a:rPr>
              <a:t>La démarche infra en quatre temps — ce qu'on fait dans l'organisation et sur la plateforme, sans prérequis d'IA — et ce qui la rend nécessaire.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qui, quoi, comment, avec quoi, la preuve.</a:t>
            </a:r>
          </a:p>
        </p:txBody>
      </p:sp>
      <p:sp>
        <p:nvSpPr>
          <p:cNvPr id="4" name="Rounded Rectangle 3"/>
          <p:cNvSpPr/>
          <p:nvPr/>
        </p:nvSpPr>
        <p:spPr>
          <a:xfrm>
            <a:off x="489204" y="1746504"/>
            <a:ext cx="7950708" cy="320446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291185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603503"/>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Une démarche infra en quatre temps, sans prérequis d'IA.</a:t>
            </a:r>
          </a:p>
        </p:txBody>
      </p:sp>
      <p:sp>
        <p:nvSpPr>
          <p:cNvPr id="8" name="TextBox 7"/>
          <p:cNvSpPr txBox="1"/>
          <p:nvPr/>
        </p:nvSpPr>
        <p:spPr>
          <a:xfrm>
            <a:off x="708660" y="2935223"/>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Ce qu'on fait dans l'organisation et sur la plateforme à chaque temps ; l'agentic accélère le consultant, en option chez le client.</a:t>
            </a:r>
          </a:p>
        </p:txBody>
      </p:sp>
      <p:sp>
        <p:nvSpPr>
          <p:cNvPr id="9" name="TextBox 8"/>
          <p:cNvSpPr txBox="1"/>
          <p:nvPr/>
        </p:nvSpPr>
        <p:spPr>
          <a:xfrm>
            <a:off x="708660" y="445719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291185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603503"/>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2935223"/>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quatre personas interrogés séparément, des douleurs mesurables plutôt que des plaintes.</a:t>
            </a:r>
          </a:p>
        </p:txBody>
      </p:sp>
      <p:sp>
        <p:nvSpPr>
          <p:cNvPr id="15" name="TextBox 14"/>
          <p:cNvSpPr txBox="1"/>
          <p:nvPr/>
        </p:nvSpPr>
        <p:spPr>
          <a:xfrm>
            <a:off x="2306116" y="445719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Besoins &amp; douleurs</a:t>
            </a:r>
          </a:p>
        </p:txBody>
      </p:sp>
      <p:sp>
        <p:nvSpPr>
          <p:cNvPr id="16" name="TextBox 15"/>
          <p:cNvSpPr txBox="1"/>
          <p:nvPr/>
        </p:nvSpPr>
        <p:spPr>
          <a:xfrm>
            <a:off x="3556101"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291185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603503"/>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Traiter l'infra comme un produit — et assainir.</a:t>
            </a:r>
          </a:p>
        </p:txBody>
      </p:sp>
      <p:sp>
        <p:nvSpPr>
          <p:cNvPr id="20" name="TextBox 19"/>
          <p:cNvSpPr txBox="1"/>
          <p:nvPr/>
        </p:nvSpPr>
        <p:spPr>
          <a:xfrm>
            <a:off x="3903573" y="2935223"/>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Double mission, méthode scorée (impact × faisabilité − prudence IA), IA sous gate : jamais la réponse à un problème d'abord organisationnel.</a:t>
            </a:r>
          </a:p>
        </p:txBody>
      </p:sp>
      <p:sp>
        <p:nvSpPr>
          <p:cNvPr id="21" name="TextBox 20"/>
          <p:cNvSpPr txBox="1"/>
          <p:nvPr/>
        </p:nvSpPr>
        <p:spPr>
          <a:xfrm>
            <a:off x="3903573" y="4457192"/>
            <a:ext cx="1121968" cy="237744"/>
          </a:xfrm>
          <a:prstGeom prst="rect">
            <a:avLst/>
          </a:prstGeom>
          <a:noFill/>
        </p:spPr>
        <p:txBody>
          <a:bodyPr wrap="square" anchor="b" lIns="0" rIns="0" tIns="0" bIns="0">
            <a:noAutofit/>
          </a:bodyPr>
          <a:lstStyle/>
          <a:p>
            <a:pPr algn="l"/>
            <a:r>
              <a:rPr sz="750" b="1" i="0">
                <a:solidFill>
                  <a:srgbClr val="0E2356"/>
                </a:solidFill>
                <a:latin typeface="Outfit"/>
              </a:rPr>
              <a:t>Proposition → IA</a:t>
            </a:r>
          </a:p>
        </p:txBody>
      </p:sp>
      <p:sp>
        <p:nvSpPr>
          <p:cNvPr id="22" name="TextBox 21"/>
          <p:cNvSpPr txBox="1"/>
          <p:nvPr/>
        </p:nvSpPr>
        <p:spPr>
          <a:xfrm>
            <a:off x="5153558"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291185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603503"/>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2935223"/>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 l'outillage IAP au service de la démarche — jamais l'inverse.</a:t>
            </a:r>
          </a:p>
        </p:txBody>
      </p:sp>
      <p:sp>
        <p:nvSpPr>
          <p:cNvPr id="27" name="TextBox 26"/>
          <p:cNvSpPr txBox="1"/>
          <p:nvPr/>
        </p:nvSpPr>
        <p:spPr>
          <a:xfrm>
            <a:off x="5501030" y="445719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 → Outillage IAP</a:t>
            </a:r>
          </a:p>
        </p:txBody>
      </p:sp>
      <p:sp>
        <p:nvSpPr>
          <p:cNvPr id="28" name="TextBox 27"/>
          <p:cNvSpPr txBox="1"/>
          <p:nvPr/>
        </p:nvSpPr>
        <p:spPr>
          <a:xfrm>
            <a:off x="6751015"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291185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603503"/>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 delta instrumenté T0 → réévaluation.</a:t>
            </a:r>
          </a:p>
        </p:txBody>
      </p:sp>
      <p:sp>
        <p:nvSpPr>
          <p:cNvPr id="32" name="TextBox 31"/>
          <p:cNvSpPr txBox="1"/>
          <p:nvPr/>
        </p:nvSpPr>
        <p:spPr>
          <a:xfrm>
            <a:off x="7098487" y="2935223"/>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Trois familles de KPIs, même instrument aux deux instants — la preuve, pas une opinion.</a:t>
            </a:r>
          </a:p>
        </p:txBody>
      </p:sp>
      <p:sp>
        <p:nvSpPr>
          <p:cNvPr id="33" name="TextBox 32"/>
          <p:cNvSpPr txBox="1"/>
          <p:nvPr/>
        </p:nvSpPr>
        <p:spPr>
          <a:xfrm>
            <a:off x="7098487" y="4457192"/>
            <a:ext cx="1121968" cy="237744"/>
          </a:xfrm>
          <a:prstGeom prst="rect">
            <a:avLst/>
          </a:prstGeom>
          <a:noFill/>
        </p:spPr>
        <p:txBody>
          <a:bodyPr wrap="square" anchor="b" lIns="0" rIns="0" tIns="0" bIns="0">
            <a:noAutofit/>
          </a:bodyPr>
          <a:lstStyle/>
          <a:p>
            <a:pPr algn="l"/>
            <a:r>
              <a:rPr sz="750" b="1" i="0">
                <a:solidFill>
                  <a:srgbClr val="8FD6DB"/>
                </a:solidFill>
                <a:latin typeface="Outfit"/>
              </a:rPr>
              <a:t>KPI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 SUMMARY   ·   </a:t>
            </a:r>
            <a:r>
              <a:rPr b="1" sz="1200">
                <a:solidFill>
                  <a:srgbClr val="0E2356"/>
                </a:solidFill>
                <a:latin typeface="Outfit"/>
              </a:rPr>
              <a:t>Reprendre la main sur l'infra en quatre temps — organisation et plateforme, sans prérequis d'IA</a:t>
            </a:r>
          </a:p>
        </p:txBody>
      </p:sp>
      <p:sp>
        <p:nvSpPr>
          <p:cNvPr id="3" name="TextBox 2"/>
          <p:cNvSpPr txBox="1"/>
          <p:nvPr/>
        </p:nvSpPr>
        <p:spPr>
          <a:xfrm>
            <a:off x="347472" y="777240"/>
            <a:ext cx="8449055" cy="128016"/>
          </a:xfrm>
          <a:prstGeom prst="rect">
            <a:avLst/>
          </a:prstGeom>
          <a:noFill/>
        </p:spPr>
        <p:txBody>
          <a:bodyPr wrap="square" anchor="t" lIns="0" rIns="0" tIns="0" bIns="0">
            <a:noAutofit/>
          </a:bodyPr>
          <a:lstStyle/>
          <a:p>
            <a:pPr algn="l"/>
            <a:r>
              <a:rPr sz="650" b="1" i="0">
                <a:solidFill>
                  <a:srgbClr val="586586"/>
                </a:solidFill>
                <a:latin typeface="Outfit"/>
              </a:rPr>
              <a:t>CE QUE CE TERRAIN IMPOSE</a:t>
            </a:r>
          </a:p>
        </p:txBody>
      </p:sp>
      <p:sp>
        <p:nvSpPr>
          <p:cNvPr id="4" name="Rounded Rectangle 3"/>
          <p:cNvSpPr/>
          <p:nvPr/>
        </p:nvSpPr>
        <p:spPr>
          <a:xfrm>
            <a:off x="347472" y="905256"/>
            <a:ext cx="2731007" cy="382016"/>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905256"/>
            <a:ext cx="2474975" cy="382016"/>
          </a:xfrm>
          <a:prstGeom prst="rect">
            <a:avLst/>
          </a:prstGeom>
          <a:noFill/>
        </p:spPr>
        <p:txBody>
          <a:bodyPr wrap="square" anchor="ctr" lIns="0" rIns="0" tIns="0" bIns="0">
            <a:noAutofit/>
          </a:bodyPr>
          <a:lstStyle/>
          <a:p>
            <a:pPr algn="l">
              <a:lnSpc>
                <a:spcPct val="125000"/>
              </a:lnSpc>
            </a:pPr>
            <a:r>
              <a:rPr sz="800" b="0" i="0">
                <a:solidFill>
                  <a:srgbClr val="0E2356"/>
                </a:solidFill>
                <a:latin typeface="Outfit"/>
              </a:rPr>
              <a:t>Un RUN qui ne s'arrête jamais et puise dans les experts du BUILD.</a:t>
            </a:r>
          </a:p>
        </p:txBody>
      </p:sp>
      <p:sp>
        <p:nvSpPr>
          <p:cNvPr id="6" name="Rounded Rectangle 5"/>
          <p:cNvSpPr/>
          <p:nvPr/>
        </p:nvSpPr>
        <p:spPr>
          <a:xfrm>
            <a:off x="3206495" y="905256"/>
            <a:ext cx="2731007" cy="382016"/>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34512" y="905256"/>
            <a:ext cx="2474975" cy="382016"/>
          </a:xfrm>
          <a:prstGeom prst="rect">
            <a:avLst/>
          </a:prstGeom>
          <a:noFill/>
        </p:spPr>
        <p:txBody>
          <a:bodyPr wrap="square" anchor="ctr" lIns="0" rIns="0" tIns="0" bIns="0">
            <a:noAutofit/>
          </a:bodyPr>
          <a:lstStyle/>
          <a:p>
            <a:pPr algn="l">
              <a:lnSpc>
                <a:spcPct val="125000"/>
              </a:lnSpc>
            </a:pPr>
            <a:r>
              <a:rPr sz="800" b="0" i="0">
                <a:solidFill>
                  <a:srgbClr val="0E2356"/>
                </a:solidFill>
                <a:latin typeface="Outfit"/>
              </a:rPr>
              <a:t>Une infra transverse que personne ne porte en propre.</a:t>
            </a:r>
          </a:p>
        </p:txBody>
      </p:sp>
      <p:sp>
        <p:nvSpPr>
          <p:cNvPr id="8" name="Rounded Rectangle 7"/>
          <p:cNvSpPr/>
          <p:nvPr/>
        </p:nvSpPr>
        <p:spPr>
          <a:xfrm>
            <a:off x="6065520" y="905256"/>
            <a:ext cx="2731007" cy="382016"/>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93535" y="905256"/>
            <a:ext cx="2474975" cy="382016"/>
          </a:xfrm>
          <a:prstGeom prst="rect">
            <a:avLst/>
          </a:prstGeom>
          <a:noFill/>
        </p:spPr>
        <p:txBody>
          <a:bodyPr wrap="square" anchor="ctr" lIns="0" rIns="0" tIns="0" bIns="0">
            <a:noAutofit/>
          </a:bodyPr>
          <a:lstStyle/>
          <a:p>
            <a:pPr algn="l">
              <a:lnSpc>
                <a:spcPct val="125000"/>
              </a:lnSpc>
            </a:pPr>
            <a:r>
              <a:rPr sz="800" b="0" i="0">
                <a:solidFill>
                  <a:srgbClr val="0E2356"/>
                </a:solidFill>
                <a:latin typeface="Outfit"/>
              </a:rPr>
              <a:t>Un guichet sursollicité, sans self-service.</a:t>
            </a:r>
          </a:p>
        </p:txBody>
      </p:sp>
      <p:sp>
        <p:nvSpPr>
          <p:cNvPr id="10" name="Rounded Rectangle 9"/>
          <p:cNvSpPr/>
          <p:nvPr/>
        </p:nvSpPr>
        <p:spPr>
          <a:xfrm>
            <a:off x="347472" y="1406525"/>
            <a:ext cx="1616659" cy="2527808"/>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395971" y="1744853"/>
            <a:ext cx="1519659" cy="30581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119"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Assessment flash</a:t>
            </a:r>
          </a:p>
        </p:txBody>
      </p:sp>
      <p:sp>
        <p:nvSpPr>
          <p:cNvPr id="13" name="Rounded Rectangle 12"/>
          <p:cNvSpPr/>
          <p:nvPr/>
        </p:nvSpPr>
        <p:spPr>
          <a:xfrm>
            <a:off x="972921" y="1424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2921" y="1424813"/>
            <a:ext cx="365760" cy="365760"/>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15" name="Rounded Rectangle 14"/>
          <p:cNvSpPr/>
          <p:nvPr/>
        </p:nvSpPr>
        <p:spPr>
          <a:xfrm>
            <a:off x="716889" y="2105533"/>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6889"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1–2 sem.</a:t>
            </a:r>
          </a:p>
        </p:txBody>
      </p:sp>
      <p:sp>
        <p:nvSpPr>
          <p:cNvPr id="17" name="TextBox 16"/>
          <p:cNvSpPr txBox="1"/>
          <p:nvPr/>
        </p:nvSpPr>
        <p:spPr>
          <a:xfrm>
            <a:off x="393192"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18" name="TextBox 17"/>
          <p:cNvSpPr txBox="1"/>
          <p:nvPr/>
        </p:nvSpPr>
        <p:spPr>
          <a:xfrm>
            <a:off x="393192"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Diagnostiquer</a:t>
            </a:r>
            <a:r>
              <a:rPr sz="800" b="0" i="0">
                <a:solidFill>
                  <a:srgbClr val="0E2356"/>
                </a:solidFill>
                <a:latin typeface="Outfit"/>
              </a:rPr>
              <a:t> et restituer avec les parties prenantes.</a:t>
            </a:r>
          </a:p>
        </p:txBody>
      </p:sp>
      <p:sp>
        <p:nvSpPr>
          <p:cNvPr id="19" name="TextBox 18"/>
          <p:cNvSpPr txBox="1"/>
          <p:nvPr/>
        </p:nvSpPr>
        <p:spPr>
          <a:xfrm>
            <a:off x="393192"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20" name="TextBox 19"/>
          <p:cNvSpPr txBox="1"/>
          <p:nvPr/>
        </p:nvSpPr>
        <p:spPr>
          <a:xfrm>
            <a:off x="393192"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Cartographier</a:t>
            </a:r>
            <a:r>
              <a:rPr sz="800" b="0" i="0">
                <a:solidFill>
                  <a:srgbClr val="0E2356"/>
                </a:solidFill>
                <a:latin typeface="Outfit"/>
              </a:rPr>
              <a:t> la dette, les risques et les licences en tension.</a:t>
            </a:r>
          </a:p>
        </p:txBody>
      </p:sp>
      <p:sp>
        <p:nvSpPr>
          <p:cNvPr id="21" name="Rectangle 20"/>
          <p:cNvSpPr/>
          <p:nvPr/>
        </p:nvSpPr>
        <p:spPr>
          <a:xfrm>
            <a:off x="393192"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Deck exécutif de restitution.</a:t>
            </a:r>
          </a:p>
        </p:txBody>
      </p:sp>
      <p:sp>
        <p:nvSpPr>
          <p:cNvPr id="23" name="Rounded Rectangle 22"/>
          <p:cNvSpPr/>
          <p:nvPr/>
        </p:nvSpPr>
        <p:spPr>
          <a:xfrm>
            <a:off x="2055571" y="1406525"/>
            <a:ext cx="1616659" cy="2527808"/>
          </a:xfrm>
          <a:prstGeom prst="roundRect">
            <a:avLst>
              <a:gd name="adj" fmla="val 8000"/>
            </a:avLst>
          </a:prstGeom>
          <a:solidFill>
            <a:srgbClr val="FFFFFF"/>
          </a:solidFill>
          <a:ln w="13970">
            <a:solidFill>
              <a:srgbClr val="5865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hevron 23"/>
          <p:cNvSpPr/>
          <p:nvPr/>
        </p:nvSpPr>
        <p:spPr>
          <a:xfrm>
            <a:off x="2104070" y="1744853"/>
            <a:ext cx="1519659" cy="305816"/>
          </a:xfrm>
          <a:prstGeom prst="chevron">
            <a:avLst/>
          </a:prstGeom>
          <a:solidFill>
            <a:srgbClr val="FFFFFF"/>
          </a:solidFill>
          <a:ln w="1397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45218" y="1744853"/>
            <a:ext cx="1437363" cy="305816"/>
          </a:xfrm>
          <a:prstGeom prst="rect">
            <a:avLst/>
          </a:prstGeom>
          <a:noFill/>
        </p:spPr>
        <p:txBody>
          <a:bodyPr wrap="square" anchor="ctr" lIns="0" rIns="0" tIns="0" bIns="0">
            <a:noAutofit/>
          </a:bodyPr>
          <a:lstStyle/>
          <a:p>
            <a:pPr algn="ctr">
              <a:lnSpc>
                <a:spcPct val="105000"/>
              </a:lnSpc>
            </a:pPr>
            <a:r>
              <a:rPr sz="800" b="1" i="0">
                <a:solidFill>
                  <a:srgbClr val="586586"/>
                </a:solidFill>
                <a:latin typeface="Outfit"/>
              </a:rPr>
              <a:t>Constitution du TOM — optionnel</a:t>
            </a:r>
          </a:p>
        </p:txBody>
      </p:sp>
      <p:sp>
        <p:nvSpPr>
          <p:cNvPr id="26" name="Rounded Rectangle 25"/>
          <p:cNvSpPr/>
          <p:nvPr/>
        </p:nvSpPr>
        <p:spPr>
          <a:xfrm>
            <a:off x="2681020" y="1424813"/>
            <a:ext cx="365760" cy="365760"/>
          </a:xfrm>
          <a:prstGeom prst="roundRect">
            <a:avLst>
              <a:gd name="adj" fmla="val 50000"/>
            </a:avLst>
          </a:prstGeom>
          <a:solidFill>
            <a:srgbClr val="E7E9EE"/>
          </a:solidFill>
          <a:ln w="15240">
            <a:solidFill>
              <a:srgbClr val="5865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81020" y="1424813"/>
            <a:ext cx="365760" cy="365760"/>
          </a:xfrm>
          <a:prstGeom prst="rect">
            <a:avLst/>
          </a:prstGeom>
          <a:noFill/>
        </p:spPr>
        <p:txBody>
          <a:bodyPr wrap="square" anchor="ctr" lIns="0" rIns="0" tIns="0" bIns="0">
            <a:noAutofit/>
          </a:bodyPr>
          <a:lstStyle/>
          <a:p>
            <a:pPr algn="ctr"/>
            <a:r>
              <a:rPr sz="1200" b="0" i="0">
                <a:solidFill>
                  <a:srgbClr val="586586"/>
                </a:solidFill>
                <a:latin typeface="Outfit"/>
              </a:rPr>
              <a:t>+</a:t>
            </a:r>
          </a:p>
        </p:txBody>
      </p:sp>
      <p:sp>
        <p:nvSpPr>
          <p:cNvPr id="28" name="Rounded Rectangle 27"/>
          <p:cNvSpPr/>
          <p:nvPr/>
        </p:nvSpPr>
        <p:spPr>
          <a:xfrm>
            <a:off x="2424988" y="2105533"/>
            <a:ext cx="877824" cy="18288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24988"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3–4 sem.</a:t>
            </a:r>
          </a:p>
        </p:txBody>
      </p:sp>
      <p:sp>
        <p:nvSpPr>
          <p:cNvPr id="30" name="TextBox 29"/>
          <p:cNvSpPr txBox="1"/>
          <p:nvPr/>
        </p:nvSpPr>
        <p:spPr>
          <a:xfrm>
            <a:off x="2101291"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31" name="TextBox 30"/>
          <p:cNvSpPr txBox="1"/>
          <p:nvPr/>
        </p:nvSpPr>
        <p:spPr>
          <a:xfrm>
            <a:off x="2101291" y="2498725"/>
            <a:ext cx="1525219" cy="393192"/>
          </a:xfrm>
          <a:prstGeom prst="rect">
            <a:avLst/>
          </a:prstGeom>
          <a:noFill/>
        </p:spPr>
        <p:txBody>
          <a:bodyPr wrap="square" anchor="t" lIns="0" rIns="0" tIns="0" bIns="0">
            <a:spAutoFit/>
          </a:bodyPr>
          <a:lstStyle/>
          <a:p>
            <a:pPr algn="l">
              <a:lnSpc>
                <a:spcPct val="120000"/>
              </a:lnSpc>
            </a:pPr>
            <a:r>
              <a:rPr sz="800" b="1" i="0">
                <a:solidFill>
                  <a:srgbClr val="586586"/>
                </a:solidFill>
                <a:latin typeface="Outfit"/>
              </a:rPr>
              <a:t>Formaliser</a:t>
            </a:r>
            <a:r>
              <a:rPr sz="800" b="0" i="0">
                <a:solidFill>
                  <a:srgbClr val="586586"/>
                </a:solidFill>
                <a:latin typeface="Outfit"/>
              </a:rPr>
              <a:t> le Target Operating Model : rôles et gouvernance.</a:t>
            </a:r>
          </a:p>
        </p:txBody>
      </p:sp>
      <p:sp>
        <p:nvSpPr>
          <p:cNvPr id="32" name="TextBox 31"/>
          <p:cNvSpPr txBox="1"/>
          <p:nvPr/>
        </p:nvSpPr>
        <p:spPr>
          <a:xfrm>
            <a:off x="2101291"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33" name="TextBox 32"/>
          <p:cNvSpPr txBox="1"/>
          <p:nvPr/>
        </p:nvSpPr>
        <p:spPr>
          <a:xfrm>
            <a:off x="2101291" y="3083941"/>
            <a:ext cx="1525219" cy="393192"/>
          </a:xfrm>
          <a:prstGeom prst="rect">
            <a:avLst/>
          </a:prstGeom>
          <a:noFill/>
        </p:spPr>
        <p:txBody>
          <a:bodyPr wrap="square" anchor="t" lIns="0" rIns="0" tIns="0" bIns="0">
            <a:spAutoFit/>
          </a:bodyPr>
          <a:lstStyle/>
          <a:p>
            <a:pPr algn="l">
              <a:lnSpc>
                <a:spcPct val="120000"/>
              </a:lnSpc>
            </a:pPr>
            <a:r>
              <a:rPr sz="800" b="1" i="0">
                <a:solidFill>
                  <a:srgbClr val="586586"/>
                </a:solidFill>
                <a:latin typeface="Outfit"/>
              </a:rPr>
              <a:t>Poser</a:t>
            </a:r>
            <a:r>
              <a:rPr sz="800" b="0" i="0">
                <a:solidFill>
                  <a:srgbClr val="586586"/>
                </a:solidFill>
                <a:latin typeface="Outfit"/>
              </a:rPr>
              <a:t> le référentiel de standards et d'outillage à tenir.</a:t>
            </a:r>
          </a:p>
        </p:txBody>
      </p:sp>
      <p:sp>
        <p:nvSpPr>
          <p:cNvPr id="34" name="Rectangle 33"/>
          <p:cNvSpPr/>
          <p:nvPr/>
        </p:nvSpPr>
        <p:spPr>
          <a:xfrm>
            <a:off x="2101291"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101291"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586586"/>
                </a:solidFill>
                <a:latin typeface="Outfit"/>
              </a:rPr>
              <a:t>TOM et roadmap (hors ①②③⟲).</a:t>
            </a:r>
          </a:p>
        </p:txBody>
      </p:sp>
      <p:sp>
        <p:nvSpPr>
          <p:cNvPr id="36" name="Rounded Rectangle 35"/>
          <p:cNvSpPr/>
          <p:nvPr/>
        </p:nvSpPr>
        <p:spPr>
          <a:xfrm>
            <a:off x="3763670" y="1406525"/>
            <a:ext cx="1616659" cy="2527808"/>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hevron 36"/>
          <p:cNvSpPr/>
          <p:nvPr/>
        </p:nvSpPr>
        <p:spPr>
          <a:xfrm>
            <a:off x="3812170" y="1744853"/>
            <a:ext cx="1519659" cy="30581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53318"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Premier déploiement</a:t>
            </a:r>
          </a:p>
        </p:txBody>
      </p:sp>
      <p:sp>
        <p:nvSpPr>
          <p:cNvPr id="39" name="Rounded Rectangle 38"/>
          <p:cNvSpPr/>
          <p:nvPr/>
        </p:nvSpPr>
        <p:spPr>
          <a:xfrm>
            <a:off x="4389119" y="1424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389119" y="1424813"/>
            <a:ext cx="365760" cy="365760"/>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41" name="Rounded Rectangle 40"/>
          <p:cNvSpPr/>
          <p:nvPr/>
        </p:nvSpPr>
        <p:spPr>
          <a:xfrm>
            <a:off x="4133087" y="2105533"/>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33087"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4–5 sem.</a:t>
            </a:r>
          </a:p>
        </p:txBody>
      </p:sp>
      <p:sp>
        <p:nvSpPr>
          <p:cNvPr id="43" name="TextBox 42"/>
          <p:cNvSpPr txBox="1"/>
          <p:nvPr/>
        </p:nvSpPr>
        <p:spPr>
          <a:xfrm>
            <a:off x="3809390"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44" name="TextBox 43"/>
          <p:cNvSpPr txBox="1"/>
          <p:nvPr/>
        </p:nvSpPr>
        <p:spPr>
          <a:xfrm>
            <a:off x="3809390"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Embarquer</a:t>
            </a:r>
            <a:r>
              <a:rPr sz="800" b="0" i="0">
                <a:solidFill>
                  <a:srgbClr val="0E2356"/>
                </a:solidFill>
                <a:latin typeface="Outfit"/>
              </a:rPr>
              <a:t> des équipes pilotes volontaires et prouver la valeur.</a:t>
            </a:r>
          </a:p>
        </p:txBody>
      </p:sp>
      <p:sp>
        <p:nvSpPr>
          <p:cNvPr id="45" name="TextBox 44"/>
          <p:cNvSpPr txBox="1"/>
          <p:nvPr/>
        </p:nvSpPr>
        <p:spPr>
          <a:xfrm>
            <a:off x="3809390"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46" name="TextBox 45"/>
          <p:cNvSpPr txBox="1"/>
          <p:nvPr/>
        </p:nvSpPr>
        <p:spPr>
          <a:xfrm>
            <a:off x="3809390"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Décommissionner</a:t>
            </a:r>
            <a:r>
              <a:rPr sz="800" b="0" i="0">
                <a:solidFill>
                  <a:srgbClr val="0E2356"/>
                </a:solidFill>
                <a:latin typeface="Outfit"/>
              </a:rPr>
              <a:t> ce qui peut l'être, observer ce qui reste.</a:t>
            </a:r>
          </a:p>
        </p:txBody>
      </p:sp>
      <p:sp>
        <p:nvSpPr>
          <p:cNvPr id="47" name="Rectangle 46"/>
          <p:cNvSpPr/>
          <p:nvPr/>
        </p:nvSpPr>
        <p:spPr>
          <a:xfrm>
            <a:off x="3809390"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09390"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Évaluation du déploiement pilote.</a:t>
            </a:r>
          </a:p>
        </p:txBody>
      </p:sp>
      <p:sp>
        <p:nvSpPr>
          <p:cNvPr id="49" name="Rounded Rectangle 48"/>
          <p:cNvSpPr/>
          <p:nvPr/>
        </p:nvSpPr>
        <p:spPr>
          <a:xfrm>
            <a:off x="5471769" y="1406525"/>
            <a:ext cx="1616659" cy="2527808"/>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Chevron 49"/>
          <p:cNvSpPr/>
          <p:nvPr/>
        </p:nvSpPr>
        <p:spPr>
          <a:xfrm>
            <a:off x="5520269" y="1744853"/>
            <a:ext cx="1519659" cy="30581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561417"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Implémentation itérative</a:t>
            </a:r>
          </a:p>
        </p:txBody>
      </p:sp>
      <p:sp>
        <p:nvSpPr>
          <p:cNvPr id="52" name="Rounded Rectangle 51"/>
          <p:cNvSpPr/>
          <p:nvPr/>
        </p:nvSpPr>
        <p:spPr>
          <a:xfrm>
            <a:off x="6097219" y="1424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97219" y="1424813"/>
            <a:ext cx="365760" cy="365760"/>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54" name="Rounded Rectangle 53"/>
          <p:cNvSpPr/>
          <p:nvPr/>
        </p:nvSpPr>
        <p:spPr>
          <a:xfrm>
            <a:off x="5841187" y="2105533"/>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841187"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 T+6-12 mois</a:t>
            </a:r>
          </a:p>
        </p:txBody>
      </p:sp>
      <p:sp>
        <p:nvSpPr>
          <p:cNvPr id="56" name="TextBox 55"/>
          <p:cNvSpPr txBox="1"/>
          <p:nvPr/>
        </p:nvSpPr>
        <p:spPr>
          <a:xfrm>
            <a:off x="5517489"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57" name="TextBox 56"/>
          <p:cNvSpPr txBox="1"/>
          <p:nvPr/>
        </p:nvSpPr>
        <p:spPr>
          <a:xfrm>
            <a:off x="5517489"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Généraliser</a:t>
            </a:r>
            <a:r>
              <a:rPr sz="800" b="0" i="0">
                <a:solidFill>
                  <a:srgbClr val="0E2356"/>
                </a:solidFill>
                <a:latin typeface="Outfit"/>
              </a:rPr>
              <a:t> équipe par équipe, en passant de coach à délégué.</a:t>
            </a:r>
          </a:p>
        </p:txBody>
      </p:sp>
      <p:sp>
        <p:nvSpPr>
          <p:cNvPr id="58" name="TextBox 57"/>
          <p:cNvSpPr txBox="1"/>
          <p:nvPr/>
        </p:nvSpPr>
        <p:spPr>
          <a:xfrm>
            <a:off x="5517489"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59" name="TextBox 58"/>
          <p:cNvSpPr txBox="1"/>
          <p:nvPr/>
        </p:nvSpPr>
        <p:spPr>
          <a:xfrm>
            <a:off x="5517489"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Standardiser</a:t>
            </a:r>
            <a:r>
              <a:rPr sz="800" b="0" i="0">
                <a:solidFill>
                  <a:srgbClr val="0E2356"/>
                </a:solidFill>
                <a:latin typeface="Outfit"/>
              </a:rPr>
              <a:t> et outiller : CI/CD et infra as code par défaut.</a:t>
            </a:r>
          </a:p>
        </p:txBody>
      </p:sp>
      <p:sp>
        <p:nvSpPr>
          <p:cNvPr id="60" name="Rectangle 59"/>
          <p:cNvSpPr/>
          <p:nvPr/>
        </p:nvSpPr>
        <p:spPr>
          <a:xfrm>
            <a:off x="5517489"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517489"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Deck de comité de pilotage.</a:t>
            </a:r>
          </a:p>
        </p:txBody>
      </p:sp>
      <p:sp>
        <p:nvSpPr>
          <p:cNvPr id="62" name="Rounded Rectangle 61"/>
          <p:cNvSpPr/>
          <p:nvPr/>
        </p:nvSpPr>
        <p:spPr>
          <a:xfrm>
            <a:off x="7179868" y="1406525"/>
            <a:ext cx="1616659" cy="2527808"/>
          </a:xfrm>
          <a:prstGeom prst="roundRect">
            <a:avLst>
              <a:gd name="adj" fmla="val 8000"/>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evron 62"/>
          <p:cNvSpPr/>
          <p:nvPr/>
        </p:nvSpPr>
        <p:spPr>
          <a:xfrm>
            <a:off x="7228368" y="1744853"/>
            <a:ext cx="1519659" cy="305816"/>
          </a:xfrm>
          <a:prstGeom prst="chevron">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69516"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Boucle de réévaluation</a:t>
            </a:r>
          </a:p>
        </p:txBody>
      </p:sp>
      <p:sp>
        <p:nvSpPr>
          <p:cNvPr id="65" name="Rounded Rectangle 64"/>
          <p:cNvSpPr/>
          <p:nvPr/>
        </p:nvSpPr>
        <p:spPr>
          <a:xfrm>
            <a:off x="7805318" y="1424813"/>
            <a:ext cx="365760" cy="3657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805318" y="1424813"/>
            <a:ext cx="365760" cy="365760"/>
          </a:xfrm>
          <a:prstGeom prst="rect">
            <a:avLst/>
          </a:prstGeom>
          <a:noFill/>
        </p:spPr>
        <p:txBody>
          <a:bodyPr wrap="square" anchor="ctr" lIns="0" rIns="0" tIns="0" bIns="0">
            <a:noAutofit/>
          </a:bodyPr>
          <a:lstStyle/>
          <a:p>
            <a:pPr algn="ctr"/>
            <a:r>
              <a:rPr sz="1200" b="0" i="0">
                <a:solidFill>
                  <a:srgbClr val="0E2356"/>
                </a:solidFill>
                <a:latin typeface="Arial"/>
              </a:rPr>
              <a:t>⟲</a:t>
            </a:r>
          </a:p>
        </p:txBody>
      </p:sp>
      <p:sp>
        <p:nvSpPr>
          <p:cNvPr id="67" name="Rounded Rectangle 66"/>
          <p:cNvSpPr/>
          <p:nvPr/>
        </p:nvSpPr>
        <p:spPr>
          <a:xfrm>
            <a:off x="7549286" y="2105533"/>
            <a:ext cx="877824" cy="18288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549286" y="2105533"/>
            <a:ext cx="877824" cy="182880"/>
          </a:xfrm>
          <a:prstGeom prst="rect">
            <a:avLst/>
          </a:prstGeom>
          <a:noFill/>
        </p:spPr>
        <p:txBody>
          <a:bodyPr wrap="square" anchor="ctr" lIns="0" rIns="0" tIns="0" bIns="0">
            <a:noAutofit/>
          </a:bodyPr>
          <a:lstStyle/>
          <a:p>
            <a:pPr algn="ctr"/>
            <a:r>
              <a:rPr sz="750" b="1" i="0">
                <a:solidFill>
                  <a:srgbClr val="0E2356"/>
                </a:solidFill>
                <a:latin typeface="Outfit"/>
              </a:rPr>
              <a:t>T+6-12 mois</a:t>
            </a:r>
          </a:p>
        </p:txBody>
      </p:sp>
      <p:sp>
        <p:nvSpPr>
          <p:cNvPr id="69" name="TextBox 68"/>
          <p:cNvSpPr txBox="1"/>
          <p:nvPr/>
        </p:nvSpPr>
        <p:spPr>
          <a:xfrm>
            <a:off x="7225588"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70" name="TextBox 69"/>
          <p:cNvSpPr txBox="1"/>
          <p:nvPr/>
        </p:nvSpPr>
        <p:spPr>
          <a:xfrm>
            <a:off x="7225588"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Rejouer</a:t>
            </a:r>
            <a:r>
              <a:rPr sz="800" b="0" i="0">
                <a:solidFill>
                  <a:srgbClr val="0E2356"/>
                </a:solidFill>
                <a:latin typeface="Outfit"/>
              </a:rPr>
              <a:t> le diagnostic au même instrument qu'à T0.</a:t>
            </a:r>
          </a:p>
        </p:txBody>
      </p:sp>
      <p:sp>
        <p:nvSpPr>
          <p:cNvPr id="71" name="TextBox 70"/>
          <p:cNvSpPr txBox="1"/>
          <p:nvPr/>
        </p:nvSpPr>
        <p:spPr>
          <a:xfrm>
            <a:off x="7225588"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72" name="TextBox 71"/>
          <p:cNvSpPr txBox="1"/>
          <p:nvPr/>
        </p:nvSpPr>
        <p:spPr>
          <a:xfrm>
            <a:off x="7225588"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Mesurer</a:t>
            </a:r>
            <a:r>
              <a:rPr sz="800" b="0" i="0">
                <a:solidFill>
                  <a:srgbClr val="0E2356"/>
                </a:solidFill>
                <a:latin typeface="Outfit"/>
              </a:rPr>
              <a:t> la dette technique et les KPI d'infra.</a:t>
            </a:r>
          </a:p>
        </p:txBody>
      </p:sp>
      <p:sp>
        <p:nvSpPr>
          <p:cNvPr id="73" name="Rectangle 72"/>
          <p:cNvSpPr/>
          <p:nvPr/>
        </p:nvSpPr>
        <p:spPr>
          <a:xfrm>
            <a:off x="7225588"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25588"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Deck de bilan et de ré-évaluation.</a:t>
            </a:r>
          </a:p>
        </p:txBody>
      </p:sp>
      <p:sp>
        <p:nvSpPr>
          <p:cNvPr id="75" name="Rounded Rectangle 74"/>
          <p:cNvSpPr/>
          <p:nvPr/>
        </p:nvSpPr>
        <p:spPr>
          <a:xfrm>
            <a:off x="347472" y="4035298"/>
            <a:ext cx="4142231" cy="527177"/>
          </a:xfrm>
          <a:prstGeom prst="roundRect">
            <a:avLst>
              <a:gd name="adj" fmla="val 7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Gear 6 75"/>
          <p:cNvSpPr/>
          <p:nvPr/>
        </p:nvSpPr>
        <p:spPr>
          <a:xfrm>
            <a:off x="457200" y="4207446"/>
            <a:ext cx="182880" cy="182880"/>
          </a:xfrm>
          <a:prstGeom prst="gear6">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1520" y="4076446"/>
            <a:ext cx="3648455" cy="444881"/>
          </a:xfrm>
          <a:prstGeom prst="rect">
            <a:avLst/>
          </a:prstGeom>
          <a:noFill/>
        </p:spPr>
        <p:txBody>
          <a:bodyPr wrap="square" anchor="ctr" lIns="0" rIns="0" tIns="0" bIns="0">
            <a:noAutofit/>
          </a:bodyPr>
          <a:lstStyle/>
          <a:p>
            <a:pPr algn="l">
              <a:lnSpc>
                <a:spcPct val="110000"/>
              </a:lnSpc>
            </a:pPr>
            <a:r>
              <a:rPr sz="700" b="1" i="0">
                <a:solidFill>
                  <a:srgbClr val="586586"/>
                </a:solidFill>
                <a:latin typeface="Outfit"/>
              </a:rPr>
              <a:t>CÔTÉ CONSULTANT — LE MODULE BMAD IAP</a:t>
            </a:r>
          </a:p>
          <a:p>
            <a:pPr algn="l">
              <a:lnSpc>
                <a:spcPct val="125000"/>
              </a:lnSpc>
              <a:spcBef>
                <a:spcPts val="300"/>
              </a:spcBef>
            </a:pPr>
            <a:r>
              <a:rPr sz="700" b="0" i="0">
                <a:solidFill>
                  <a:srgbClr val="586586"/>
                </a:solidFill>
                <a:latin typeface="Outfit"/>
              </a:rPr>
              <a:t>Il outille chaque temps sur notre poste et sort les livrables plus vite — rien ne s'installe chez le client.</a:t>
            </a:r>
          </a:p>
        </p:txBody>
      </p:sp>
      <p:sp>
        <p:nvSpPr>
          <p:cNvPr id="78" name="Rounded Rectangle 77"/>
          <p:cNvSpPr/>
          <p:nvPr/>
        </p:nvSpPr>
        <p:spPr>
          <a:xfrm>
            <a:off x="4654295" y="4035298"/>
            <a:ext cx="4142231" cy="527177"/>
          </a:xfrm>
          <a:prstGeom prst="roundRect">
            <a:avLst>
              <a:gd name="adj" fmla="val 7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entagon 78"/>
          <p:cNvSpPr/>
          <p:nvPr/>
        </p:nvSpPr>
        <p:spPr>
          <a:xfrm>
            <a:off x="4764023" y="4207446"/>
            <a:ext cx="182880" cy="182880"/>
          </a:xfrm>
          <a:prstGeom prst="homePlate">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038343" y="4076446"/>
            <a:ext cx="3648455" cy="444881"/>
          </a:xfrm>
          <a:prstGeom prst="rect">
            <a:avLst/>
          </a:prstGeom>
          <a:noFill/>
        </p:spPr>
        <p:txBody>
          <a:bodyPr wrap="square" anchor="ctr" lIns="0" rIns="0" tIns="0" bIns="0">
            <a:noAutofit/>
          </a:bodyPr>
          <a:lstStyle/>
          <a:p>
            <a:pPr algn="l">
              <a:lnSpc>
                <a:spcPct val="110000"/>
              </a:lnSpc>
            </a:pPr>
            <a:r>
              <a:rPr sz="700" b="1" i="0">
                <a:solidFill>
                  <a:srgbClr val="586586"/>
                </a:solidFill>
                <a:latin typeface="Outfit"/>
              </a:rPr>
              <a:t>CHEZ LE CLIENT — UNE OPTION, PAS UN PRÉREQUIS</a:t>
            </a:r>
          </a:p>
          <a:p>
            <a:pPr algn="l">
              <a:lnSpc>
                <a:spcPct val="125000"/>
              </a:lnSpc>
              <a:spcBef>
                <a:spcPts val="300"/>
              </a:spcBef>
            </a:pPr>
            <a:r>
              <a:rPr sz="700" b="0" i="0">
                <a:solidFill>
                  <a:srgbClr val="586586"/>
                </a:solidFill>
                <a:latin typeface="Outfit"/>
              </a:rPr>
              <a:t>Déployer des agents (triage, FinOps, documentaire) reste une décision distincte, sous gate IA.</a:t>
            </a:r>
          </a:p>
        </p:txBody>
      </p:sp>
      <p:sp>
        <p:nvSpPr>
          <p:cNvPr id="81" name="Rounded Rectangle 80"/>
          <p:cNvSpPr/>
          <p:nvPr/>
        </p:nvSpPr>
        <p:spPr>
          <a:xfrm>
            <a:off x="347472" y="4626864"/>
            <a:ext cx="8065007" cy="45720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75488" y="464515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83" name="TextBox 82"/>
          <p:cNvSpPr txBox="1"/>
          <p:nvPr/>
        </p:nvSpPr>
        <p:spPr>
          <a:xfrm>
            <a:off x="530352" y="4626864"/>
            <a:ext cx="7699247" cy="457200"/>
          </a:xfrm>
          <a:prstGeom prst="rect">
            <a:avLst/>
          </a:prstGeom>
          <a:noFill/>
        </p:spPr>
        <p:txBody>
          <a:bodyPr wrap="square" anchor="ctr" lIns="0" rIns="0" tIns="0" bIns="0">
            <a:spAutoFit/>
          </a:bodyPr>
          <a:lstStyle/>
          <a:p>
            <a:pPr algn="ctr"/>
            <a:r>
              <a:rPr sz="1200" b="1" i="0">
                <a:solidFill>
                  <a:srgbClr val="FFFFFF"/>
                </a:solidFill>
                <a:latin typeface="Outfit"/>
              </a:rPr>
              <a:t>Aucun de ces temps ne requiert l'IA : l'agentic accélère, il ne remplace ni la démarche ni le consultant.</a:t>
            </a:r>
            <a:r>
              <a:rPr sz="1200" b="1" i="0">
                <a:solidFill>
                  <a:srgbClr val="00D2DD"/>
                </a:solidFill>
                <a:latin typeface="Outfit"/>
              </a:rPr>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et pourquoi cette transformation a du sens pour un client infra maintenant.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déjà posé au déclencheur ② : 80 % de platform teams en 2026, moins de 30 % de gains mesurables (Gartner).</a:t>
            </a:r>
          </a:p>
        </p:txBody>
      </p:sp>
      <p:sp>
        <p:nvSpPr>
          <p:cNvPr id="16" name="Round Diagonal Corner Rectangle 15"/>
          <p:cNvSpPr/>
          <p:nvPr/>
        </p:nvSpPr>
        <p:spPr>
          <a:xfrm>
            <a:off x="6552819"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est déjà prise — Thoughtworks (conseil), Itential (plateforme). Le différenciateur n'est pas le nom mais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Une mission flash d'entrée — intake, gate confidentialité, pilote court — puis la trajectoire ; jamais l'assainissement seul. Sous pression IA, un cas d'usage sur données publiques est packagé dès l'intake : « celui-ci, tout de suite, sous gate » (chapitre IA).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Spécificités de l'infra</a:t>
            </a:r>
          </a:p>
          <a:p>
            <a:r>
              <a:rPr sz="1050" i="1">
                <a:solidFill>
                  <a:srgbClr val="586586"/>
                </a:solidFill>
                <a:latin typeface="Outfit"/>
              </a:rPr>
              <a:t>Le RUN comme régime permanent, une infra transverse que personne ne porte en propre — et ce que ça change à la façon de la traiter.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conformité &amp; résilience</a:t>
            </a:r>
          </a:p>
        </p:txBody>
      </p:sp>
      <p:sp>
        <p:nvSpPr>
          <p:cNvPr id="12" name="TextBox 11"/>
          <p:cNvSpPr txBox="1"/>
          <p:nvPr/>
        </p:nvSpPr>
        <p:spPr>
          <a:xfrm>
            <a:off x="4647438"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Exigences transverses que personne ne budgète — l'offre s'y arrime, ne les remplace pas (cf. chapitre Démarche).</a:t>
            </a:r>
          </a:p>
        </p:txBody>
      </p:sp>
      <p:sp>
        <p:nvSpPr>
          <p:cNvPr id="13" name="Rounded Rectangle 12"/>
          <p:cNvSpPr/>
          <p:nvPr/>
        </p:nvSpPr>
        <p:spPr>
          <a:xfrm>
            <a:off x="6525387"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66496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66496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Personas</a:t>
            </a:r>
          </a:p>
          <a:p>
            <a:r>
              <a:rPr sz="1050" i="1">
                <a:solidFill>
                  <a:srgbClr val="586586"/>
                </a:solidFill>
                <a:latin typeface="Outfit"/>
              </a:rPr>
              <a:t>Quatre parties prenantes interrogées séparément — leurs voix, leurs postures, les tensions.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forest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Quatre parties prenantes interrogées séparément — leur voix, leur posture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Product Discovery fusionnée dans iap-product-definition en MVP1 — mais chaque partie prenante répond à la même trame, pour révéler convergences ET divergences plutôt qu'un diagnostic monolithique.</a:t>
            </a:r>
          </a:p>
        </p:txBody>
      </p:sp>
      <p:sp>
        <p:nvSpPr>
          <p:cNvPr id="4" name="Rounded Rectangle 3"/>
          <p:cNvSpPr/>
          <p:nvPr/>
        </p:nvSpPr>
        <p:spPr>
          <a:xfrm>
            <a:off x="562356"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600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Infra &amp; RUN</a:t>
            </a:r>
          </a:p>
          <a:p>
            <a:pPr algn="l">
              <a:lnSpc>
                <a:spcPct val="110000"/>
              </a:lnSpc>
              <a:spcBef>
                <a:spcPts val="100"/>
              </a:spcBef>
            </a:pPr>
            <a:r>
              <a:rPr sz="800" b="0" i="0">
                <a:solidFill>
                  <a:srgbClr val="586586"/>
                </a:solidFill>
                <a:latin typeface="Outfit"/>
              </a:rPr>
              <a:t>Tient l'exploitation, subit les astreintes.</a:t>
            </a:r>
          </a:p>
          <a:p>
            <a:pPr algn="l">
              <a:lnSpc>
                <a:spcPct val="110000"/>
              </a:lnSpc>
              <a:spcBef>
                <a:spcPts val="500"/>
              </a:spcBef>
            </a:pPr>
            <a:r>
              <a:rPr sz="800" b="0" i="1">
                <a:solidFill>
                  <a:srgbClr val="0E2356"/>
                </a:solidFill>
                <a:latin typeface="Outfit"/>
              </a:rPr>
              <a:t>« Opérable sans sacrifier le delivery ? »</a:t>
            </a:r>
          </a:p>
          <a:p>
            <a:pPr algn="l">
              <a:lnSpc>
                <a:spcPct val="110000"/>
              </a:lnSpc>
              <a:spcBef>
                <a:spcPts val="600"/>
              </a:spcBef>
            </a:pPr>
            <a:r>
              <a:rPr sz="800" b="0" i="0">
                <a:solidFill>
                  <a:srgbClr val="586586"/>
                </a:solidFill>
                <a:latin typeface="Outfit"/>
              </a:rPr>
              <a:t>Subit — Experts seniors mobilisés sur du répétitif.</a:t>
            </a:r>
          </a:p>
          <a:p>
            <a:pPr algn="l">
              <a:lnSpc>
                <a:spcPct val="110000"/>
              </a:lnSpc>
              <a:spcBef>
                <a:spcPts val="300"/>
              </a:spcBef>
            </a:pPr>
            <a:r>
              <a:rPr sz="800" b="0" i="0">
                <a:solidFill>
                  <a:srgbClr val="0E2356"/>
                </a:solidFill>
                <a:latin typeface="Outfit"/>
              </a:rPr>
              <a:t>Vise — Capacité récupérée, RUN maîtrisé.</a:t>
            </a:r>
          </a:p>
        </p:txBody>
      </p:sp>
      <p:sp>
        <p:nvSpPr>
          <p:cNvPr id="7" name="Rounded Rectangle 6"/>
          <p:cNvSpPr/>
          <p:nvPr/>
        </p:nvSpPr>
        <p:spPr>
          <a:xfrm>
            <a:off x="3092958"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92958"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VIGILANT</a:t>
            </a:r>
          </a:p>
        </p:txBody>
      </p:sp>
      <p:sp>
        <p:nvSpPr>
          <p:cNvPr id="9" name="Rounded Rectangle 8"/>
          <p:cNvSpPr/>
          <p:nvPr/>
        </p:nvSpPr>
        <p:spPr>
          <a:xfrm>
            <a:off x="4555998"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2886"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Utilisateur applicatif</a:t>
            </a:r>
          </a:p>
          <a:p>
            <a:pPr algn="l">
              <a:lnSpc>
                <a:spcPct val="110000"/>
              </a:lnSpc>
              <a:spcBef>
                <a:spcPts val="100"/>
              </a:spcBef>
            </a:pPr>
            <a:r>
              <a:rPr sz="800" b="0" i="0">
                <a:solidFill>
                  <a:srgbClr val="586586"/>
                </a:solidFill>
                <a:latin typeface="Outfit"/>
              </a:rPr>
              <a:t>Consomme la plateforme — ou la contourne.</a:t>
            </a:r>
          </a:p>
          <a:p>
            <a:pPr algn="l">
              <a:lnSpc>
                <a:spcPct val="110000"/>
              </a:lnSpc>
              <a:spcBef>
                <a:spcPts val="500"/>
              </a:spcBef>
            </a:pPr>
            <a:r>
              <a:rPr sz="800" b="0" i="1">
                <a:solidFill>
                  <a:srgbClr val="0E2356"/>
                </a:solidFill>
                <a:latin typeface="Outfit"/>
              </a:rPr>
              <a:t>« Pourquoi adopterais-je la plateforme ? »</a:t>
            </a:r>
          </a:p>
          <a:p>
            <a:pPr algn="l">
              <a:lnSpc>
                <a:spcPct val="110000"/>
              </a:lnSpc>
              <a:spcBef>
                <a:spcPts val="600"/>
              </a:spcBef>
            </a:pPr>
            <a:r>
              <a:rPr sz="800" b="0" i="0">
                <a:solidFill>
                  <a:srgbClr val="586586"/>
                </a:solidFill>
                <a:latin typeface="Outfit"/>
              </a:rPr>
              <a:t>Subit — Guichet unique, contournement plus rapide.</a:t>
            </a:r>
          </a:p>
          <a:p>
            <a:pPr algn="l">
              <a:lnSpc>
                <a:spcPct val="110000"/>
              </a:lnSpc>
              <a:spcBef>
                <a:spcPts val="300"/>
              </a:spcBef>
            </a:pPr>
            <a:r>
              <a:rPr sz="800" b="0" i="0">
                <a:solidFill>
                  <a:srgbClr val="0E2356"/>
                </a:solidFill>
                <a:latin typeface="Outfit"/>
              </a:rPr>
              <a:t>Vise — Un self-service adopté par choix.</a:t>
            </a:r>
          </a:p>
        </p:txBody>
      </p:sp>
      <p:sp>
        <p:nvSpPr>
          <p:cNvPr id="12" name="Rounded Rectangle 11"/>
          <p:cNvSpPr/>
          <p:nvPr/>
        </p:nvSpPr>
        <p:spPr>
          <a:xfrm>
            <a:off x="7086600"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0"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SCEPTIQUE</a:t>
            </a:r>
          </a:p>
        </p:txBody>
      </p:sp>
      <p:sp>
        <p:nvSpPr>
          <p:cNvPr id="14" name="Rounded Rectangle 13"/>
          <p:cNvSpPr/>
          <p:nvPr/>
        </p:nvSpPr>
        <p:spPr>
          <a:xfrm>
            <a:off x="562356"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Management</a:t>
            </a:r>
          </a:p>
          <a:p>
            <a:pPr algn="l">
              <a:lnSpc>
                <a:spcPct val="110000"/>
              </a:lnSpc>
              <a:spcBef>
                <a:spcPts val="100"/>
              </a:spcBef>
            </a:pPr>
            <a:r>
              <a:rPr sz="800" b="0" i="0">
                <a:solidFill>
                  <a:srgbClr val="586586"/>
                </a:solidFill>
                <a:latin typeface="Outfit"/>
              </a:rPr>
              <a:t>Expert devenu manager, pilote à vue.</a:t>
            </a:r>
          </a:p>
          <a:p>
            <a:pPr algn="l">
              <a:lnSpc>
                <a:spcPct val="110000"/>
              </a:lnSpc>
              <a:spcBef>
                <a:spcPts val="500"/>
              </a:spcBef>
            </a:pPr>
            <a:r>
              <a:rPr sz="800" b="0" i="1">
                <a:solidFill>
                  <a:srgbClr val="0E2356"/>
                </a:solidFill>
                <a:latin typeface="Outfit"/>
              </a:rPr>
              <a:t>« Comment piloter avec un signal fiable ? »</a:t>
            </a:r>
          </a:p>
          <a:p>
            <a:pPr algn="l">
              <a:lnSpc>
                <a:spcPct val="110000"/>
              </a:lnSpc>
              <a:spcBef>
                <a:spcPts val="600"/>
              </a:spcBef>
            </a:pPr>
            <a:r>
              <a:rPr sz="800" b="0" i="0">
                <a:solidFill>
                  <a:srgbClr val="586586"/>
                </a:solidFill>
                <a:latin typeface="Outfit"/>
              </a:rPr>
              <a:t>Subit — Reporting-miroir et micromanagement.</a:t>
            </a:r>
          </a:p>
          <a:p>
            <a:pPr algn="l">
              <a:lnSpc>
                <a:spcPct val="110000"/>
              </a:lnSpc>
              <a:spcBef>
                <a:spcPts val="300"/>
              </a:spcBef>
            </a:pPr>
            <a:r>
              <a:rPr sz="800" b="0" i="0">
                <a:solidFill>
                  <a:srgbClr val="0E2356"/>
                </a:solidFill>
                <a:latin typeface="Outfit"/>
              </a:rPr>
              <a:t>Vise — Un signal de flux de confiance.</a:t>
            </a:r>
          </a:p>
        </p:txBody>
      </p:sp>
      <p:sp>
        <p:nvSpPr>
          <p:cNvPr id="17" name="Rounded Rectangle 16"/>
          <p:cNvSpPr/>
          <p:nvPr/>
        </p:nvSpPr>
        <p:spPr>
          <a:xfrm>
            <a:off x="3092958"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2958"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a:t>
            </a:r>
          </a:p>
        </p:txBody>
      </p:sp>
      <p:sp>
        <p:nvSpPr>
          <p:cNvPr id="19" name="Rounded Rectangle 18"/>
          <p:cNvSpPr/>
          <p:nvPr/>
        </p:nvSpPr>
        <p:spPr>
          <a:xfrm>
            <a:off x="4555998"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2886"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Sponsor</a:t>
            </a:r>
          </a:p>
          <a:p>
            <a:pPr algn="l">
              <a:lnSpc>
                <a:spcPct val="110000"/>
              </a:lnSpc>
              <a:spcBef>
                <a:spcPts val="100"/>
              </a:spcBef>
            </a:pPr>
            <a:r>
              <a:rPr sz="800" b="0" i="0">
                <a:solidFill>
                  <a:srgbClr val="586586"/>
                </a:solidFill>
                <a:latin typeface="Outfit"/>
              </a:rPr>
              <a:t>Porte le budget et la promesse business.</a:t>
            </a:r>
          </a:p>
          <a:p>
            <a:pPr algn="l">
              <a:lnSpc>
                <a:spcPct val="110000"/>
              </a:lnSpc>
              <a:spcBef>
                <a:spcPts val="500"/>
              </a:spcBef>
            </a:pPr>
            <a:r>
              <a:rPr sz="800" b="0" i="1">
                <a:solidFill>
                  <a:srgbClr val="0E2356"/>
                </a:solidFill>
                <a:latin typeface="Outfit"/>
              </a:rPr>
              <a:t>« Quel problème business règle-t-on ? »</a:t>
            </a:r>
          </a:p>
          <a:p>
            <a:pPr algn="l">
              <a:lnSpc>
                <a:spcPct val="110000"/>
              </a:lnSpc>
              <a:spcBef>
                <a:spcPts val="600"/>
              </a:spcBef>
            </a:pPr>
            <a:r>
              <a:rPr sz="800" b="0" i="0">
                <a:solidFill>
                  <a:srgbClr val="586586"/>
                </a:solidFill>
                <a:latin typeface="Outfit"/>
              </a:rPr>
              <a:t>Subit — Craint une transformation cosmétique.</a:t>
            </a:r>
          </a:p>
          <a:p>
            <a:pPr algn="l">
              <a:lnSpc>
                <a:spcPct val="110000"/>
              </a:lnSpc>
              <a:spcBef>
                <a:spcPts val="300"/>
              </a:spcBef>
            </a:pPr>
            <a:r>
              <a:rPr sz="800" b="0" i="0">
                <a:solidFill>
                  <a:srgbClr val="0E2356"/>
                </a:solidFill>
                <a:latin typeface="Outfit"/>
              </a:rPr>
              <a:t>Vise — Problème business réglé, KPIs de mission.</a:t>
            </a:r>
          </a:p>
        </p:txBody>
      </p:sp>
      <p:sp>
        <p:nvSpPr>
          <p:cNvPr id="22" name="Rounded Rectangle 21"/>
          <p:cNvSpPr/>
          <p:nvPr/>
        </p:nvSpPr>
        <p:spPr>
          <a:xfrm>
            <a:off x="7086600"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 EXIGEANT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Interroger chaque persona séparément révèle des tensions qu'un diagnostic fusionné lisserait</a:t>
            </a:r>
          </a:p>
        </p:txBody>
      </p:sp>
      <p:sp>
        <p:nvSpPr>
          <p:cNvPr id="3" name="Rounded Rectangle 2"/>
          <p:cNvSpPr/>
          <p:nvPr/>
        </p:nvSpPr>
        <p:spPr>
          <a:xfrm>
            <a:off x="562356" y="1143000"/>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14300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45161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216152"/>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Management</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7" name="TextBox 6"/>
          <p:cNvSpPr txBox="1"/>
          <p:nvPr/>
        </p:nvSpPr>
        <p:spPr>
          <a:xfrm>
            <a:off x="3442716" y="1216152"/>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Le même métrique de flux, lu « signal de pilotage de confiance » d'un côté, « surveillance » de l'autre.</a:t>
            </a:r>
          </a:p>
        </p:txBody>
      </p:sp>
      <p:sp>
        <p:nvSpPr>
          <p:cNvPr id="8" name="Rounded Rectangle 7"/>
          <p:cNvSpPr/>
          <p:nvPr/>
        </p:nvSpPr>
        <p:spPr>
          <a:xfrm>
            <a:off x="562356" y="1869948"/>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2356" y="186994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2356" y="217855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 y="1943100"/>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2" name="TextBox 11"/>
          <p:cNvSpPr txBox="1"/>
          <p:nvPr/>
        </p:nvSpPr>
        <p:spPr>
          <a:xfrm>
            <a:off x="3442716" y="1943100"/>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Horizon : valeur business rapide et visible d'un côté, soulagement durable et structurel du RUN de l'autre.</a:t>
            </a:r>
          </a:p>
        </p:txBody>
      </p:sp>
      <p:sp>
        <p:nvSpPr>
          <p:cNvPr id="13" name="Rounded Rectangle 12"/>
          <p:cNvSpPr/>
          <p:nvPr/>
        </p:nvSpPr>
        <p:spPr>
          <a:xfrm>
            <a:off x="562356" y="2596896"/>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 y="259689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90550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5236" y="2670048"/>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Utilisateur applicatif</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7" name="TextBox 16"/>
          <p:cNvSpPr txBox="1"/>
          <p:nvPr/>
        </p:nvSpPr>
        <p:spPr>
          <a:xfrm>
            <a:off x="3442716" y="2670048"/>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Self-service adopté par choix face à l'opérabilité sans sacrifier le delivery : qui absorbe le coût du self-service ?</a:t>
            </a:r>
          </a:p>
        </p:txBody>
      </p:sp>
      <p:sp>
        <p:nvSpPr>
          <p:cNvPr id="18" name="Rounded Rectangle 17"/>
          <p:cNvSpPr/>
          <p:nvPr/>
        </p:nvSpPr>
        <p:spPr>
          <a:xfrm>
            <a:off x="562356" y="3323844"/>
            <a:ext cx="7804404" cy="617220"/>
          </a:xfrm>
          <a:prstGeom prst="roundRect">
            <a:avLst>
              <a:gd name="adj" fmla="val 8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2356" y="332384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2356" y="363245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 y="3396996"/>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RSSI</a:t>
            </a:r>
          </a:p>
          <a:p>
            <a:pPr algn="l">
              <a:spcBef>
                <a:spcPts val="300"/>
              </a:spcBef>
            </a:pPr>
            <a:r>
              <a:rPr sz="650" b="1" i="0">
                <a:solidFill>
                  <a:srgbClr val="0E2356"/>
                </a:solidFill>
                <a:latin typeface="Outfit"/>
              </a:rPr>
              <a:t>ANGLE MORT</a:t>
            </a:r>
          </a:p>
        </p:txBody>
      </p:sp>
      <p:sp>
        <p:nvSpPr>
          <p:cNvPr id="22" name="TextBox 21"/>
          <p:cNvSpPr txBox="1"/>
          <p:nvPr/>
        </p:nvSpPr>
        <p:spPr>
          <a:xfrm>
            <a:off x="3442716" y="3396996"/>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Vitesse de démonstration face au gate confidentialité, bloquant sur donnée client — tension anticipée, le RSSI n'a pas été interrogé (voir note ci-dessous).</a:t>
            </a:r>
          </a:p>
        </p:txBody>
      </p:sp>
      <p:sp>
        <p:nvSpPr>
          <p:cNvPr id="23" name="Rounded Rectangle 22"/>
          <p:cNvSpPr/>
          <p:nvPr/>
        </p:nvSpPr>
        <p:spPr>
          <a:xfrm>
            <a:off x="562356" y="4069080"/>
            <a:ext cx="7804404" cy="512064"/>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2356" y="4069080"/>
            <a:ext cx="64008"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4069080"/>
            <a:ext cx="7420356" cy="512064"/>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Ces tensions ne se tranchent pas — on les tient des deux bouts.</a:t>
            </a:r>
          </a:p>
          <a:p>
            <a:pPr algn="l">
              <a:lnSpc>
                <a:spcPct val="110000"/>
              </a:lnSpc>
              <a:spcBef>
                <a:spcPts val="200"/>
              </a:spcBef>
            </a:pPr>
            <a:r>
              <a:rPr sz="800" b="0" i="0">
                <a:solidFill>
                  <a:srgbClr val="0E2356"/>
                </a:solidFill>
                <a:latin typeface="Outfit"/>
              </a:rPr>
              <a:t>La méthode (ch. Proposition) : la métrique de flux = signal partagé, le gate confidentialité = non négociable.</a:t>
            </a:r>
          </a:p>
        </p:txBody>
      </p:sp>
      <p:sp>
        <p:nvSpPr>
          <p:cNvPr id="26" name="TextBox 25"/>
          <p:cNvSpPr txBox="1"/>
          <p:nvPr/>
        </p:nvSpPr>
        <p:spPr>
          <a:xfrm>
            <a:off x="562356" y="4672583"/>
            <a:ext cx="7804404" cy="310896"/>
          </a:xfrm>
          <a:prstGeom prst="rect">
            <a:avLst/>
          </a:prstGeom>
          <a:noFill/>
        </p:spPr>
        <p:txBody>
          <a:bodyPr wrap="square" anchor="t" lIns="0" rIns="0" tIns="0" bIns="0">
            <a:noAutofit/>
          </a:bodyPr>
          <a:lstStyle/>
          <a:p>
            <a:pPr algn="l">
              <a:lnSpc>
                <a:spcPct val="115000"/>
              </a:lnSpc>
            </a:pPr>
            <a:r>
              <a:rPr sz="750" b="0" i="1">
                <a:solidFill>
                  <a:srgbClr val="586586"/>
                </a:solidFill>
                <a:latin typeface="Outfit"/>
              </a:rPr>
              <a:t>Angles morts, non interrogés à ce stade : le client métier consommateur des services, le RSSI (porteur du gate), le junior / nouvel arrivant.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Besoins &amp; douleurs</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Proposition).</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Proposition</a:t>
            </a:r>
          </a:p>
          <a:p>
            <a:r>
              <a:rPr sz="1050" i="1">
                <a:solidFill>
                  <a:srgbClr val="586586"/>
                </a:solidFill>
                <a:latin typeface="Outfit"/>
              </a:rPr>
              <a:t>Traiter l'infra comme un produit : la thèse, la méthode scorée et l'organisation cible.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depuis le chapitre Spécificités de l'infra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IA</a:t>
            </a:r>
          </a:p>
          <a:p>
            <a:r>
              <a:rPr sz="1050" i="1">
                <a:solidFill>
                  <a:srgbClr val="586586"/>
                </a:solidFill>
                <a:latin typeface="Outfit"/>
              </a:rPr>
              <a:t>L'IA au service de la réponse : le gate confidentialité, la prudence, les agents candidats, l'export.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nightsky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1073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1073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les trois scores sont ordinaux (un rang, pas une mesure absolue, même statut que le score d'impact)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IA   ·   </a:t>
            </a:r>
            <a:r>
              <a:rPr b="1" sz="1350">
                <a:solidFill>
                  <a:srgbClr val="0E2356"/>
                </a:solidFill>
                <a:latin typeface="Outfit"/>
              </a:rPr>
              <a:t>Un agent de triage peut absorber le gaspillage RUN le plus répétitif</a:t>
            </a:r>
          </a:p>
        </p:txBody>
      </p:sp>
      <p:sp>
        <p:nvSpPr>
          <p:cNvPr id="3" name="Gear 6 2"/>
          <p:cNvSpPr/>
          <p:nvPr/>
        </p:nvSpPr>
        <p:spPr>
          <a:xfrm>
            <a:off x="562356" y="1051560"/>
            <a:ext cx="365760" cy="36576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triage de tickets</a:t>
            </a:r>
          </a:p>
          <a:p>
            <a:pPr algn="l">
              <a:spcBef>
                <a:spcPts val="200"/>
              </a:spcBef>
            </a:pPr>
            <a:r>
              <a:rPr sz="800" b="0" i="1">
                <a:solidFill>
                  <a:srgbClr val="586586"/>
                </a:solidFill>
                <a:latin typeface="Outfit"/>
              </a:rPr>
              <a:t>Gaspillage RUN</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mêmes types de tickets reviennent depuis des années et mobilisent des experts seniors sur un travail répétitif à faible valeur — le gaspillage RUN le plus classique.</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Lit chaque ticket entrant, le classe selon un runbook déjà documenté et le route vers la bonne équipe. Le processus doit être explicite avant l'agent (préalable non négociable) — jamais l'inverse.</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Capacité RUN récupérée : dans le cas nominal du cadrage, jusqu'à 15 tickets/mois traités sans intervention humaine, temps de triage divisé par deux.</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IA   ·   </a:t>
            </a:r>
            <a:r>
              <a:rPr b="1" sz="1250">
                <a:solidFill>
                  <a:srgbClr val="0E2356"/>
                </a:solidFill>
                <a:latin typeface="Outfit"/>
              </a:rPr>
              <a:t>Un agent de veille FinOps rend le décommissionnement continu, pas ponctuel</a:t>
            </a:r>
          </a:p>
        </p:txBody>
      </p:sp>
      <p:sp>
        <p:nvSpPr>
          <p:cNvPr id="3" name="Cloud 2"/>
          <p:cNvSpPr/>
          <p:nvPr/>
        </p:nvSpPr>
        <p:spPr>
          <a:xfrm>
            <a:off x="562356" y="1051560"/>
            <a:ext cx="365760" cy="36576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veille FinOps</a:t>
            </a:r>
          </a:p>
          <a:p>
            <a:pPr algn="l">
              <a:spcBef>
                <a:spcPts val="200"/>
              </a:spcBef>
            </a:pPr>
            <a:r>
              <a:rPr sz="800" b="0" i="1">
                <a:solidFill>
                  <a:srgbClr val="586586"/>
                </a:solidFill>
                <a:latin typeface="Outfit"/>
              </a:rPr>
              <a:t>Gaspillage Financier</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ressources cloud surdimensionnées ou orphelines ne sont détectées qu'à l'occasion d'audits ponctuels — le gaspillage s'accumule entre deux revues manuelles.</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Scanne en continu la CMDB et la facturation cloud, détecte les ressources inactives ou surdimensionnées, et propose une liste de décommissionnement à valider — ne décommissionne jamais seul.</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Coût récupéré et directement mesurable (ressources décommissionnées par mois) — un KPI de mission déjà cadré, pas à inventer.</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00">
                <a:solidFill>
                  <a:srgbClr val="0E2356"/>
                </a:solidFill>
                <a:latin typeface="Outfit"/>
              </a:rPr>
              <a:t>IA   ·   </a:t>
            </a:r>
            <a:r>
              <a:rPr b="1" sz="1300">
                <a:solidFill>
                  <a:srgbClr val="0E2356"/>
                </a:solidFill>
                <a:latin typeface="Outfit"/>
              </a:rPr>
              <a:t>Un agent documentaire réduit la charge cognitive sans remplacer l'expert</a:t>
            </a:r>
          </a:p>
        </p:txBody>
      </p:sp>
      <p:sp>
        <p:nvSpPr>
          <p:cNvPr id="3" name="Folded Corner 2"/>
          <p:cNvSpPr/>
          <p:nvPr/>
        </p:nvSpPr>
        <p:spPr>
          <a:xfrm>
            <a:off x="562356" y="1051560"/>
            <a:ext cx="365760" cy="36576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documentaire (RAG)</a:t>
            </a:r>
          </a:p>
          <a:p>
            <a:pPr algn="l">
              <a:spcBef>
                <a:spcPts val="200"/>
              </a:spcBef>
            </a:pPr>
            <a:r>
              <a:rPr sz="800" b="0" i="1">
                <a:solidFill>
                  <a:srgbClr val="586586"/>
                </a:solidFill>
                <a:latin typeface="Outfit"/>
              </a:rPr>
              <a:t>Gaspillage Cognitif</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756791"/>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756791"/>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067687"/>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Trop d'outils, procédures dispersées : la charge cognitive pour retrouver l'information ralentit les équipes et sollicite en permanence les mêmes experts.</a:t>
            </a:r>
          </a:p>
        </p:txBody>
      </p:sp>
      <p:sp>
        <p:nvSpPr>
          <p:cNvPr id="10" name="Rounded Rectangle 9"/>
          <p:cNvSpPr/>
          <p:nvPr/>
        </p:nvSpPr>
        <p:spPr>
          <a:xfrm>
            <a:off x="873252" y="2755773"/>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755773"/>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0666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Indexe la documentation existante (runbooks, wikis, tickets résolus) et répond aux questions fréquentes avec la source citée — jamais une réponse sans preuve.</a:t>
            </a:r>
          </a:p>
        </p:txBody>
      </p:sp>
      <p:sp>
        <p:nvSpPr>
          <p:cNvPr id="13" name="Rounded Rectangle 12"/>
          <p:cNvSpPr/>
          <p:nvPr/>
        </p:nvSpPr>
        <p:spPr>
          <a:xfrm>
            <a:off x="873252" y="3754755"/>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754755"/>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065651"/>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Charge cognitive réduite, onboarding plus rapide, moins d'interruptions des experts seniors pour des questions déjà documentées.</a:t>
            </a:r>
          </a:p>
        </p:txBody>
      </p:sp>
      <p:sp>
        <p:nvSpPr>
          <p:cNvPr id="16" name="Rectangle 15"/>
          <p:cNvSpPr/>
          <p:nvPr/>
        </p:nvSpPr>
        <p:spPr>
          <a:xfrm>
            <a:off x="739749" y="1472184"/>
            <a:ext cx="10972" cy="240144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1820799"/>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2819781"/>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3818763"/>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 y="4515993"/>
            <a:ext cx="7804404" cy="41148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(chapitre Proposition) et au gate IA (ouverture de ce chapitre) avant toute décision — des exemples illustratifs, pas une liste actée.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a:t>
            </a:r>
          </a:p>
          <a:p>
            <a:r>
              <a:rPr sz="1050" i="1">
                <a:solidFill>
                  <a:srgbClr val="586586"/>
                </a:solidFill>
                <a:latin typeface="Outfit"/>
              </a:rPr>
              <a:t>La trajectoire et ses livrables par phase, le fil humain, le schéma de fonctionnement et l'inventaire des agents.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 (1re version)</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iap-re-assessment reboucle vers la Collecte — alimente la bibliothèque de REX.</a:t>
            </a:r>
          </a:p>
        </p:txBody>
      </p:sp>
      <p:sp>
        <p:nvSpPr>
          <p:cNvPr id="34" name="Rounded Rectangle 33"/>
          <p:cNvSpPr/>
          <p:nvPr/>
        </p:nvSpPr>
        <p:spPr>
          <a:xfrm>
            <a:off x="6552819"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p:txBody>
      </p:sp>
      <p:sp>
        <p:nvSpPr>
          <p:cNvPr id="36" name="Rounded Rectangle 35"/>
          <p:cNvSpPr/>
          <p:nvPr/>
        </p:nvSpPr>
        <p:spPr>
          <a:xfrm>
            <a:off x="562356" y="368655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68655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Owner proposé (non tranché) : iap-operating-model-architect + iap-change-coach sur le volet humain. Les 4 livrables-clés ci-dessus sont 4 profils d'un même générateur modulaire (`iap-deck-builder`), pas 4 outils distincts — détail à la slide Livrables.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DÉMARCHE   ·   </a:t>
            </a:r>
            <a:r>
              <a:rPr b="1" sz="1350">
                <a:solidFill>
                  <a:srgbClr val="0E2356"/>
                </a:solidFill>
                <a:latin typeface="Outfit"/>
              </a:rPr>
              <a:t>La trajectoire accompagne aussi les personnes, de bout en bout</a:t>
            </a:r>
          </a:p>
        </p:txBody>
      </p:sp>
      <p:sp>
        <p:nvSpPr>
          <p:cNvPr id="3" name="Rounded Rectangle 2"/>
          <p:cNvSpPr/>
          <p:nvPr/>
        </p:nvSpPr>
        <p:spPr>
          <a:xfrm>
            <a:off x="562356" y="1069848"/>
            <a:ext cx="960120" cy="56692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66928"/>
          </a:xfrm>
          <a:prstGeom prst="rect">
            <a:avLst/>
          </a:prstGeom>
          <a:noFill/>
        </p:spPr>
        <p:txBody>
          <a:bodyPr wrap="square" anchor="ctr" lIns="0" rIns="0" tIns="0" bIns="0">
            <a:noAutofit/>
          </a:bodyPr>
          <a:lstStyle/>
          <a:p>
            <a:pPr algn="ctr"/>
            <a:r>
              <a:rPr sz="1800" b="1" i="0">
                <a:solidFill>
                  <a:srgbClr val="FFFFFF"/>
                </a:solidFill>
                <a:latin typeface="Outfit"/>
              </a:rPr>
              <a:t>70 %</a:t>
            </a:r>
          </a:p>
        </p:txBody>
      </p:sp>
      <p:sp>
        <p:nvSpPr>
          <p:cNvPr id="5" name="TextBox 4"/>
          <p:cNvSpPr txBox="1"/>
          <p:nvPr/>
        </p:nvSpPr>
        <p:spPr>
          <a:xfrm>
            <a:off x="1687068" y="1069848"/>
            <a:ext cx="6679692"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Le fil humain suit la même trame ①②③⟲ que la trajectoire — un fil dans les phases, pas un stream séparé, porté par iap-change-coach de bout en bout.</a:t>
            </a:r>
          </a:p>
        </p:txBody>
      </p:sp>
      <p:sp>
        <p:nvSpPr>
          <p:cNvPr id="6" name="Rounded Rectangle 5"/>
          <p:cNvSpPr/>
          <p:nvPr/>
        </p:nvSpPr>
        <p:spPr>
          <a:xfrm>
            <a:off x="562356" y="2103977"/>
            <a:ext cx="7804404" cy="2051113"/>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332166"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32166"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9" name="TextBox 8"/>
          <p:cNvSpPr txBox="1"/>
          <p:nvPr/>
        </p:nvSpPr>
        <p:spPr>
          <a:xfrm>
            <a:off x="708660"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Engager</a:t>
            </a:r>
          </a:p>
        </p:txBody>
      </p:sp>
      <p:sp>
        <p:nvSpPr>
          <p:cNvPr id="10" name="TextBox 9"/>
          <p:cNvSpPr txBox="1"/>
          <p:nvPr/>
        </p:nvSpPr>
        <p:spPr>
          <a:xfrm>
            <a:off x="708660"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1" name="TextBox 10"/>
          <p:cNvSpPr txBox="1"/>
          <p:nvPr/>
        </p:nvSpPr>
        <p:spPr>
          <a:xfrm>
            <a:off x="708660"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L'engagement personnel du sponsor est testé dès l'intake, avant signature ; les interviews écoutent les tensions ; la restitution revient aux interviewés, pas au seul sponsor.</a:t>
            </a:r>
          </a:p>
        </p:txBody>
      </p:sp>
      <p:sp>
        <p:nvSpPr>
          <p:cNvPr id="12" name="Rectangle 11"/>
          <p:cNvSpPr/>
          <p:nvPr/>
        </p:nvSpPr>
        <p:spPr>
          <a:xfrm>
            <a:off x="708660"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iap-intake</a:t>
            </a:r>
          </a:p>
        </p:txBody>
      </p:sp>
      <p:sp>
        <p:nvSpPr>
          <p:cNvPr id="14" name="Rectangle 13"/>
          <p:cNvSpPr/>
          <p:nvPr/>
        </p:nvSpPr>
        <p:spPr>
          <a:xfrm>
            <a:off x="2513457"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83267"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3267"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7" name="TextBox 16"/>
          <p:cNvSpPr txBox="1"/>
          <p:nvPr/>
        </p:nvSpPr>
        <p:spPr>
          <a:xfrm>
            <a:off x="2659761"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Expérimenter</a:t>
            </a:r>
          </a:p>
        </p:txBody>
      </p:sp>
      <p:sp>
        <p:nvSpPr>
          <p:cNvPr id="18" name="TextBox 17"/>
          <p:cNvSpPr txBox="1"/>
          <p:nvPr/>
        </p:nvSpPr>
        <p:spPr>
          <a:xfrm>
            <a:off x="2659761"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9" name="TextBox 18"/>
          <p:cNvSpPr txBox="1"/>
          <p:nvPr/>
        </p:nvSpPr>
        <p:spPr>
          <a:xfrm>
            <a:off x="2659761"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Équipes pilotes volontaires, jamais désignées d'office ; formation sur les cas réels de l'équipe — « pas de formation sans coaching ».</a:t>
            </a:r>
          </a:p>
        </p:txBody>
      </p:sp>
      <p:sp>
        <p:nvSpPr>
          <p:cNvPr id="20" name="Rectangle 19"/>
          <p:cNvSpPr/>
          <p:nvPr/>
        </p:nvSpPr>
        <p:spPr>
          <a:xfrm>
            <a:off x="2659761"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9761"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équipe pilote</a:t>
            </a:r>
          </a:p>
        </p:txBody>
      </p:sp>
      <p:sp>
        <p:nvSpPr>
          <p:cNvPr id="22" name="Rectangle 21"/>
          <p:cNvSpPr/>
          <p:nvPr/>
        </p:nvSpPr>
        <p:spPr>
          <a:xfrm>
            <a:off x="4464558"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34368"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34368"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5" name="TextBox 24"/>
          <p:cNvSpPr txBox="1"/>
          <p:nvPr/>
        </p:nvSpPr>
        <p:spPr>
          <a:xfrm>
            <a:off x="4610862"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Outiller &amp; relayer</a:t>
            </a:r>
          </a:p>
        </p:txBody>
      </p:sp>
      <p:sp>
        <p:nvSpPr>
          <p:cNvPr id="26" name="TextBox 25"/>
          <p:cNvSpPr txBox="1"/>
          <p:nvPr/>
        </p:nvSpPr>
        <p:spPr>
          <a:xfrm>
            <a:off x="4610862"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7" name="TextBox 26"/>
          <p:cNvSpPr txBox="1"/>
          <p:nvPr/>
        </p:nvSpPr>
        <p:spPr>
          <a:xfrm>
            <a:off x="4610862"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Les résistances sont un signal à écouter ; communauté de managers (N+1/N+2 embarqués) ; relais internes formés — le consultant se rend dispensable.</a:t>
            </a:r>
          </a:p>
        </p:txBody>
      </p:sp>
      <p:sp>
        <p:nvSpPr>
          <p:cNvPr id="28" name="Rectangle 27"/>
          <p:cNvSpPr/>
          <p:nvPr/>
        </p:nvSpPr>
        <p:spPr>
          <a:xfrm>
            <a:off x="4610862"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0862"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operating-model-architect</a:t>
            </a:r>
          </a:p>
        </p:txBody>
      </p:sp>
      <p:sp>
        <p:nvSpPr>
          <p:cNvPr id="30" name="Rectangle 29"/>
          <p:cNvSpPr/>
          <p:nvPr/>
        </p:nvSpPr>
        <p:spPr>
          <a:xfrm>
            <a:off x="6415659"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185469"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5469" y="1898237"/>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3" name="TextBox 32"/>
          <p:cNvSpPr txBox="1"/>
          <p:nvPr/>
        </p:nvSpPr>
        <p:spPr>
          <a:xfrm>
            <a:off x="6561963"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a:t>
            </a:r>
          </a:p>
        </p:txBody>
      </p:sp>
      <p:sp>
        <p:nvSpPr>
          <p:cNvPr id="34" name="TextBox 33"/>
          <p:cNvSpPr txBox="1"/>
          <p:nvPr/>
        </p:nvSpPr>
        <p:spPr>
          <a:xfrm>
            <a:off x="6561963"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5" name="TextBox 34"/>
          <p:cNvSpPr txBox="1"/>
          <p:nvPr/>
        </p:nvSpPr>
        <p:spPr>
          <a:xfrm>
            <a:off x="6561963"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Satisfaction et adhésion mesurées au même instrument à T0 et à la réévaluation — le delta humain se lit à côté du delta de maturité.</a:t>
            </a:r>
          </a:p>
        </p:txBody>
      </p:sp>
      <p:sp>
        <p:nvSpPr>
          <p:cNvPr id="36" name="Rectangle 35"/>
          <p:cNvSpPr/>
          <p:nvPr/>
        </p:nvSpPr>
        <p:spPr>
          <a:xfrm>
            <a:off x="6561963"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61963"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metrics-sre-finops-lead</a:t>
            </a:r>
          </a:p>
        </p:txBody>
      </p:sp>
      <p:sp>
        <p:nvSpPr>
          <p:cNvPr id="38" name="Rounded Rectangle 37"/>
          <p:cNvSpPr/>
          <p:nvPr/>
        </p:nvSpPr>
        <p:spPr>
          <a:xfrm>
            <a:off x="562356" y="4319682"/>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 y="4319682"/>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ça ne crée pas</a:t>
            </a:r>
          </a:p>
          <a:p>
            <a:pPr algn="l">
              <a:lnSpc>
                <a:spcPct val="125000"/>
              </a:lnSpc>
              <a:spcBef>
                <a:spcPts val="300"/>
              </a:spcBef>
            </a:pPr>
            <a:r>
              <a:rPr sz="700" b="0" i="0">
                <a:solidFill>
                  <a:srgbClr val="0E2356"/>
                </a:solidFill>
                <a:latin typeface="Outfit"/>
              </a:rPr>
              <a:t>Pas de nouvel agent (iap-change-coach porte le fil de bout en bout), pas de phase en plus — et jamais d'évaluation individuelle des personnes (déontologie du consultant, transposée telle quelle).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00">
                <a:solidFill>
                  <a:srgbClr val="0E2356"/>
                </a:solidFill>
                <a:latin typeface="Outfit"/>
              </a:rPr>
              <a:t>DÉMARCHE   ·   </a:t>
            </a:r>
            <a:r>
              <a:rPr b="1" sz="1400">
                <a:solidFill>
                  <a:srgbClr val="0E2356"/>
                </a:solidFill>
                <a:latin typeface="Outfit"/>
              </a:rPr>
              <a:t>La trajectoire porte aussi un fil technique, de bout en bout</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fil technique suit la même trame ①②③⟲ que la trajectoire et le fil humain — un fil dans les phases, pas un chantier d'architecture séparé à maintenir.</a:t>
            </a:r>
          </a:p>
        </p:txBody>
      </p:sp>
      <p:sp>
        <p:nvSpPr>
          <p:cNvPr id="4" name="Rounded Rectangle 3"/>
          <p:cNvSpPr/>
          <p:nvPr/>
        </p:nvSpPr>
        <p:spPr>
          <a:xfrm>
            <a:off x="562356" y="1820322"/>
            <a:ext cx="7804404" cy="228923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32166"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32166"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7" name="TextBox 6"/>
          <p:cNvSpPr txBox="1"/>
          <p:nvPr/>
        </p:nvSpPr>
        <p:spPr>
          <a:xfrm>
            <a:off x="708660"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Cartographier</a:t>
            </a:r>
          </a:p>
        </p:txBody>
      </p:sp>
      <p:sp>
        <p:nvSpPr>
          <p:cNvPr id="8" name="TextBox 7"/>
          <p:cNvSpPr txBox="1"/>
          <p:nvPr/>
        </p:nvSpPr>
        <p:spPr>
          <a:xfrm>
            <a:off x="708660"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9" name="TextBox 8"/>
          <p:cNvSpPr txBox="1"/>
          <p:nvPr/>
        </p:nvSpPr>
        <p:spPr>
          <a:xfrm>
            <a:off x="708660"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risques — plateformes vieillissantes, dépendances non maîtrisées, licences en tension — cartographiés avant toute décision d'engager : une base factuelle, pas une checklist de conformité.</a:t>
            </a:r>
          </a:p>
        </p:txBody>
      </p:sp>
      <p:sp>
        <p:nvSpPr>
          <p:cNvPr id="10" name="Rectangle 9"/>
          <p:cNvSpPr/>
          <p:nvPr/>
        </p:nvSpPr>
        <p:spPr>
          <a:xfrm>
            <a:off x="708660"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iap-diagnostic-systemique</a:t>
            </a:r>
          </a:p>
        </p:txBody>
      </p:sp>
      <p:sp>
        <p:nvSpPr>
          <p:cNvPr id="12" name="Rectangle 11"/>
          <p:cNvSpPr/>
          <p:nvPr/>
        </p:nvSpPr>
        <p:spPr>
          <a:xfrm>
            <a:off x="2513457"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283267"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3267"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5" name="TextBox 14"/>
          <p:cNvSpPr txBox="1"/>
          <p:nvPr/>
        </p:nvSpPr>
        <p:spPr>
          <a:xfrm>
            <a:off x="2659761"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Décommissionner &amp; observer</a:t>
            </a:r>
          </a:p>
        </p:txBody>
      </p:sp>
      <p:sp>
        <p:nvSpPr>
          <p:cNvPr id="16" name="TextBox 15"/>
          <p:cNvSpPr txBox="1"/>
          <p:nvPr/>
        </p:nvSpPr>
        <p:spPr>
          <a:xfrm>
            <a:off x="2659761"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7" name="TextBox 16"/>
          <p:cNvSpPr txBox="1"/>
          <p:nvPr/>
        </p:nvSpPr>
        <p:spPr>
          <a:xfrm>
            <a:off x="2659761"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Sur les équipes pilotes : ce qui peut être décommissionné l'est, l'observabilité de ce qui reste est posée — la base sur laquelle la généralisation s'appuie.</a:t>
            </a:r>
          </a:p>
        </p:txBody>
      </p:sp>
      <p:sp>
        <p:nvSpPr>
          <p:cNvPr id="18" name="Rectangle 17"/>
          <p:cNvSpPr/>
          <p:nvPr/>
        </p:nvSpPr>
        <p:spPr>
          <a:xfrm>
            <a:off x="2659761"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9761"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iap-run-tma-specialist</a:t>
            </a:r>
          </a:p>
        </p:txBody>
      </p:sp>
      <p:sp>
        <p:nvSpPr>
          <p:cNvPr id="20" name="Rectangle 19"/>
          <p:cNvSpPr/>
          <p:nvPr/>
        </p:nvSpPr>
        <p:spPr>
          <a:xfrm>
            <a:off x="4464558"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34368"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4368"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3" name="TextBox 22"/>
          <p:cNvSpPr txBox="1"/>
          <p:nvPr/>
        </p:nvSpPr>
        <p:spPr>
          <a:xfrm>
            <a:off x="4610862"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Standardiser &amp; outiller</a:t>
            </a:r>
          </a:p>
        </p:txBody>
      </p:sp>
      <p:sp>
        <p:nvSpPr>
          <p:cNvPr id="24" name="TextBox 23"/>
          <p:cNvSpPr txBox="1"/>
          <p:nvPr/>
        </p:nvSpPr>
        <p:spPr>
          <a:xfrm>
            <a:off x="4610862"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5" name="TextBox 24"/>
          <p:cNvSpPr txBox="1"/>
          <p:nvPr/>
        </p:nvSpPr>
        <p:spPr>
          <a:xfrm>
            <a:off x="4610862"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Généralisation équipe par équipe : CI/CD et infra as code deviennent le mode par défaut — la plateforme produit (cloud interne, orchestration, observabilité) prend forme.</a:t>
            </a:r>
          </a:p>
        </p:txBody>
      </p:sp>
      <p:sp>
        <p:nvSpPr>
          <p:cNvPr id="26" name="Rectangle 25"/>
          <p:cNvSpPr/>
          <p:nvPr/>
        </p:nvSpPr>
        <p:spPr>
          <a:xfrm>
            <a:off x="4610862"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0862"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iap-platform-product-pm</a:t>
            </a:r>
          </a:p>
        </p:txBody>
      </p:sp>
      <p:sp>
        <p:nvSpPr>
          <p:cNvPr id="28" name="Rectangle 27"/>
          <p:cNvSpPr/>
          <p:nvPr/>
        </p:nvSpPr>
        <p:spPr>
          <a:xfrm>
            <a:off x="6415659"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185469"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5469" y="1614582"/>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1" name="TextBox 30"/>
          <p:cNvSpPr txBox="1"/>
          <p:nvPr/>
        </p:nvSpPr>
        <p:spPr>
          <a:xfrm>
            <a:off x="6561963"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 &amp; réengager</a:t>
            </a:r>
          </a:p>
        </p:txBody>
      </p:sp>
      <p:sp>
        <p:nvSpPr>
          <p:cNvPr id="32" name="TextBox 31"/>
          <p:cNvSpPr txBox="1"/>
          <p:nvPr/>
        </p:nvSpPr>
        <p:spPr>
          <a:xfrm>
            <a:off x="6561963"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3" name="TextBox 32"/>
          <p:cNvSpPr txBox="1"/>
          <p:nvPr/>
        </p:nvSpPr>
        <p:spPr>
          <a:xfrm>
            <a:off x="6561963"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KPI infra rejoués au même instrument qu'à T0 — le delta technique se lit à côté du delta de maturité et du delta humain.</a:t>
            </a:r>
          </a:p>
        </p:txBody>
      </p:sp>
      <p:sp>
        <p:nvSpPr>
          <p:cNvPr id="34" name="Rectangle 33"/>
          <p:cNvSpPr/>
          <p:nvPr/>
        </p:nvSpPr>
        <p:spPr>
          <a:xfrm>
            <a:off x="6561963"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1963"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iap-metrics-sre-finops-lead · iap-run-tma-specialist</a:t>
            </a:r>
          </a:p>
        </p:txBody>
      </p:sp>
      <p:sp>
        <p:nvSpPr>
          <p:cNvPr id="36" name="Rounded Rectangle 35"/>
          <p:cNvSpPr/>
          <p:nvPr/>
        </p:nvSpPr>
        <p:spPr>
          <a:xfrm>
            <a:off x="562356" y="4274153"/>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74153"/>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ce fil n'est pas</a:t>
            </a:r>
          </a:p>
          <a:p>
            <a:pPr algn="l">
              <a:lnSpc>
                <a:spcPct val="125000"/>
              </a:lnSpc>
              <a:spcBef>
                <a:spcPts val="300"/>
              </a:spcBef>
            </a:pPr>
            <a:r>
              <a:rPr sz="700" b="0" i="0">
                <a:solidFill>
                  <a:srgbClr val="0E2356"/>
                </a:solidFill>
                <a:latin typeface="Outfit"/>
              </a:rPr>
              <a:t>Pas une architecture technique détaillée (objet d'une mission dédiée si le contexte l'exige) ; la gouvernance sécurité, conformité et résilience opérationnelle reste celle du client — ce fil s'y arrime, il ne la remplace pas.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DÉMARCHE   ·   </a:t>
            </a:r>
            <a:r>
              <a:rPr b="1" sz="1550">
                <a:solidFill>
                  <a:srgbClr val="0E2356"/>
                </a:solidFill>
                <a:latin typeface="Outfit"/>
              </a:rPr>
              <a:t>Sans ces quatre conditions, la mission ne s'engage pas</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Le test d'engagement porté par le fil humain n'a de valeur que s'il peut conclure « non » : voici ce qu'il vérifie avant signature — et ce que son échec déclenche.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c'est son engagement personnel qui se teste, pas son budget.</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NON-ENGAGEMENT</a:t>
            </a:r>
          </a:p>
        </p:txBody>
      </p:sp>
      <p:sp>
        <p:nvSpPr>
          <p:cNvPr id="28" name="TextBox 27"/>
          <p:cNvSpPr txBox="1"/>
          <p:nvPr/>
        </p:nvSpPr>
        <p:spPr>
          <a:xfrm>
            <a:off x="4265676" y="1901825"/>
            <a:ext cx="3954780" cy="560451"/>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Un sponsor qui achète un audit mais ne portera pas la cible est un critère de non-engagement, pas un aléa.</a:t>
            </a:r>
          </a:p>
          <a:p>
            <a:pPr algn="l">
              <a:lnSpc>
                <a:spcPct val="125000"/>
              </a:lnSpc>
              <a:spcBef>
                <a:spcPts val="300"/>
              </a:spcBef>
            </a:pPr>
            <a:r>
              <a:rPr sz="750" b="0" i="0">
                <a:solidFill>
                  <a:srgbClr val="C7CBE0"/>
                </a:solidFill>
                <a:latin typeface="Outfit"/>
              </a:rPr>
              <a:t>Le refus de mission reste un point ouvert du cadrage ; le test d'engagement, lui, est acté — il conditionne la signature.</a:t>
            </a:r>
          </a:p>
        </p:txBody>
      </p:sp>
      <p:sp>
        <p:nvSpPr>
          <p:cNvPr id="29" name="Rectangle 28"/>
          <p:cNvSpPr/>
          <p:nvPr/>
        </p:nvSpPr>
        <p:spPr>
          <a:xfrm>
            <a:off x="4265676" y="2548540"/>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634805"/>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09938"/>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773362"/>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2948495"/>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11919"/>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087052"/>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050476"/>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24786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34131"/>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472688"/>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40658"/>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69342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 Le détail de chaque étape ci-dessous se retrouve dans la trajectoire en temps et boucle, et dans le schéma de fonctionnement qui suit — trois lectures du même parcours, pas trois parcours différents.</a:t>
            </a:r>
          </a:p>
        </p:txBody>
      </p:sp>
      <p:sp>
        <p:nvSpPr>
          <p:cNvPr id="4" name="Rounded Rectangle 3"/>
          <p:cNvSpPr/>
          <p:nvPr/>
        </p:nvSpPr>
        <p:spPr>
          <a:xfrm>
            <a:off x="562356" y="179984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82178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79984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82178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79984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90957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90957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208330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208330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36677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8 familles</a:t>
            </a:r>
          </a:p>
        </p:txBody>
      </p:sp>
      <p:sp>
        <p:nvSpPr>
          <p:cNvPr id="26" name="TextBox 25"/>
          <p:cNvSpPr txBox="1"/>
          <p:nvPr/>
        </p:nvSpPr>
        <p:spPr>
          <a:xfrm>
            <a:off x="6769303"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75996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75996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71424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313258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313258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312343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322402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61721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61721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89305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91500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419811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419811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419811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iap-re-assessment, T+6-12 mois, alimente la bibliothèque de REX, reboucle vers la Collecte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Livrables PPT par étape — piste à valider</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iap-deck-builder est cadré comme un seul deck modulaire 16 sections, produit une fois à la Restitution — la trajectoire ci-avant implique plusieurs publics et moments de décision distincts. Piste : un profil de sections par étape, pas 4 générateurs séparés.</a:t>
            </a:r>
          </a:p>
        </p:txBody>
      </p:sp>
      <p:sp>
        <p:nvSpPr>
          <p:cNvPr id="4" name="Rounded Rectangle 3"/>
          <p:cNvSpPr/>
          <p:nvPr/>
        </p:nvSpPr>
        <p:spPr>
          <a:xfrm>
            <a:off x="562356"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08660"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①</a:t>
            </a:r>
          </a:p>
        </p:txBody>
      </p:sp>
      <p:sp>
        <p:nvSpPr>
          <p:cNvPr id="8" name="TextBox 7"/>
          <p:cNvSpPr txBox="1"/>
          <p:nvPr/>
        </p:nvSpPr>
        <p:spPr>
          <a:xfrm>
            <a:off x="1092708"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Assessment flash</a:t>
            </a:r>
          </a:p>
        </p:txBody>
      </p:sp>
      <p:sp>
        <p:nvSpPr>
          <p:cNvPr id="9" name="Rectangle 8"/>
          <p:cNvSpPr/>
          <p:nvPr/>
        </p:nvSpPr>
        <p:spPr>
          <a:xfrm>
            <a:off x="708660"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 comité de lancement</a:t>
            </a:r>
          </a:p>
        </p:txBody>
      </p:sp>
      <p:sp>
        <p:nvSpPr>
          <p:cNvPr id="11" name="TextBox 10"/>
          <p:cNvSpPr txBox="1"/>
          <p:nvPr/>
        </p:nvSpPr>
        <p:spPr>
          <a:xfrm>
            <a:off x="708660"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exécutif de restitution</a:t>
            </a:r>
          </a:p>
        </p:txBody>
      </p:sp>
      <p:sp>
        <p:nvSpPr>
          <p:cNvPr id="12" name="TextBox 11"/>
          <p:cNvSpPr txBox="1"/>
          <p:nvPr/>
        </p:nvSpPr>
        <p:spPr>
          <a:xfrm>
            <a:off x="708660"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(déjà cadré) synthèse globale, axes valeur/complexité, radar T0</a:t>
            </a:r>
          </a:p>
        </p:txBody>
      </p:sp>
      <p:sp>
        <p:nvSpPr>
          <p:cNvPr id="13" name="Rounded Rectangle 12"/>
          <p:cNvSpPr/>
          <p:nvPr/>
        </p:nvSpPr>
        <p:spPr>
          <a:xfrm>
            <a:off x="2559177"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559177"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705481"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5481"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②</a:t>
            </a:r>
          </a:p>
        </p:txBody>
      </p:sp>
      <p:sp>
        <p:nvSpPr>
          <p:cNvPr id="17" name="TextBox 16"/>
          <p:cNvSpPr txBox="1"/>
          <p:nvPr/>
        </p:nvSpPr>
        <p:spPr>
          <a:xfrm>
            <a:off x="3089529"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Premier déploiement</a:t>
            </a:r>
          </a:p>
        </p:txBody>
      </p:sp>
      <p:sp>
        <p:nvSpPr>
          <p:cNvPr id="18" name="Rectangle 17"/>
          <p:cNvSpPr/>
          <p:nvPr/>
        </p:nvSpPr>
        <p:spPr>
          <a:xfrm>
            <a:off x="2705481"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05481"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Équipes pilotes + management</a:t>
            </a:r>
          </a:p>
        </p:txBody>
      </p:sp>
      <p:sp>
        <p:nvSpPr>
          <p:cNvPr id="20" name="TextBox 19"/>
          <p:cNvSpPr txBox="1"/>
          <p:nvPr/>
        </p:nvSpPr>
        <p:spPr>
          <a:xfrm>
            <a:off x="2705481"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plan de déploiement</a:t>
            </a:r>
          </a:p>
        </p:txBody>
      </p:sp>
      <p:sp>
        <p:nvSpPr>
          <p:cNvPr id="21" name="TextBox 20"/>
          <p:cNvSpPr txBox="1"/>
          <p:nvPr/>
        </p:nvSpPr>
        <p:spPr>
          <a:xfrm>
            <a:off x="2705481"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Cible TOM détaillée, backlog Coach/Délégué, mandat agent IA</a:t>
            </a:r>
          </a:p>
        </p:txBody>
      </p:sp>
      <p:sp>
        <p:nvSpPr>
          <p:cNvPr id="22" name="Rounded Rectangle 21"/>
          <p:cNvSpPr/>
          <p:nvPr/>
        </p:nvSpPr>
        <p:spPr>
          <a:xfrm>
            <a:off x="4555998"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55998"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702302"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2302"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③</a:t>
            </a:r>
          </a:p>
        </p:txBody>
      </p:sp>
      <p:sp>
        <p:nvSpPr>
          <p:cNvPr id="26" name="TextBox 25"/>
          <p:cNvSpPr txBox="1"/>
          <p:nvPr/>
        </p:nvSpPr>
        <p:spPr>
          <a:xfrm>
            <a:off x="5086350"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Implémentation itérative</a:t>
            </a:r>
          </a:p>
        </p:txBody>
      </p:sp>
      <p:sp>
        <p:nvSpPr>
          <p:cNvPr id="27" name="Rectangle 26"/>
          <p:cNvSpPr/>
          <p:nvPr/>
        </p:nvSpPr>
        <p:spPr>
          <a:xfrm>
            <a:off x="4702302"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2302"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Instance de comitologie</a:t>
            </a:r>
          </a:p>
        </p:txBody>
      </p:sp>
      <p:sp>
        <p:nvSpPr>
          <p:cNvPr id="29" name="TextBox 28"/>
          <p:cNvSpPr txBox="1"/>
          <p:nvPr/>
        </p:nvSpPr>
        <p:spPr>
          <a:xfrm>
            <a:off x="4702302"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comité de pilotage</a:t>
            </a:r>
          </a:p>
        </p:txBody>
      </p:sp>
      <p:sp>
        <p:nvSpPr>
          <p:cNvPr id="30" name="TextBox 29"/>
          <p:cNvSpPr txBox="1"/>
          <p:nvPr/>
        </p:nvSpPr>
        <p:spPr>
          <a:xfrm>
            <a:off x="4702302"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périodique) Avancement backlog, delta KPIs, risques actifs</a:t>
            </a:r>
          </a:p>
        </p:txBody>
      </p:sp>
      <p:sp>
        <p:nvSpPr>
          <p:cNvPr id="31" name="Rounded Rectangle 30"/>
          <p:cNvSpPr/>
          <p:nvPr/>
        </p:nvSpPr>
        <p:spPr>
          <a:xfrm>
            <a:off x="6552819"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52819"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99123"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99123" y="2048256"/>
            <a:ext cx="310896" cy="310896"/>
          </a:xfrm>
          <a:prstGeom prst="rect">
            <a:avLst/>
          </a:prstGeom>
          <a:noFill/>
        </p:spPr>
        <p:txBody>
          <a:bodyPr wrap="square" anchor="ctr" lIns="0" rIns="0" tIns="0" bIns="0">
            <a:noAutofit/>
          </a:bodyPr>
          <a:lstStyle/>
          <a:p>
            <a:pPr algn="ctr"/>
            <a:r>
              <a:rPr sz="1100" b="0" i="0">
                <a:solidFill>
                  <a:srgbClr val="FFFFFF"/>
                </a:solidFill>
                <a:latin typeface="Arial"/>
              </a:rPr>
              <a:t>⟲</a:t>
            </a:r>
          </a:p>
        </p:txBody>
      </p:sp>
      <p:sp>
        <p:nvSpPr>
          <p:cNvPr id="35" name="TextBox 34"/>
          <p:cNvSpPr txBox="1"/>
          <p:nvPr/>
        </p:nvSpPr>
        <p:spPr>
          <a:xfrm>
            <a:off x="7083171"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Boucle de réévaluation</a:t>
            </a:r>
          </a:p>
        </p:txBody>
      </p:sp>
      <p:sp>
        <p:nvSpPr>
          <p:cNvPr id="36" name="Rectangle 35"/>
          <p:cNvSpPr/>
          <p:nvPr/>
        </p:nvSpPr>
        <p:spPr>
          <a:xfrm>
            <a:off x="6699123"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99123"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a:t>
            </a:r>
          </a:p>
        </p:txBody>
      </p:sp>
      <p:sp>
        <p:nvSpPr>
          <p:cNvPr id="38" name="TextBox 37"/>
          <p:cNvSpPr txBox="1"/>
          <p:nvPr/>
        </p:nvSpPr>
        <p:spPr>
          <a:xfrm>
            <a:off x="6699123"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bilan / ré-évaluation</a:t>
            </a:r>
          </a:p>
        </p:txBody>
      </p:sp>
      <p:sp>
        <p:nvSpPr>
          <p:cNvPr id="39" name="TextBox 38"/>
          <p:cNvSpPr txBox="1"/>
          <p:nvPr/>
        </p:nvSpPr>
        <p:spPr>
          <a:xfrm>
            <a:off x="6699123"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Delta maturité T0→T+6-12, REX consolidé</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Outillage IAP</a:t>
            </a:r>
          </a:p>
          <a:p>
            <a:r>
              <a:rPr sz="1050" i="1">
                <a:solidFill>
                  <a:srgbClr val="586586"/>
                </a:solidFill>
                <a:latin typeface="Outfit"/>
              </a:rPr>
              <a:t>Ce que le module met dans les mains du consultant : l'architecture en contexte client, trois niveaux d'ambition, le lien avec le SI.</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09</a:t>
            </a:r>
          </a:p>
        </p:txBody>
      </p:sp>
      <p:pic>
        <p:nvPicPr>
          <p:cNvPr id="4" name="Picture 3" descr="tropical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IA</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KPI</a:t>
            </a:r>
          </a:p>
          <a:p>
            <a:r>
              <a:rPr sz="1050" i="1">
                <a:solidFill>
                  <a:srgbClr val="586586"/>
                </a:solidFill>
                <a:latin typeface="Outfit"/>
              </a:rPr>
              <a:t>Trois familles de KPIs à ne jamais confondre, leur mise en place, la grille de maturité, et le cas chiffré.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10</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Trois familles de KPIs, à ne jamais confondre</a:t>
            </a:r>
          </a:p>
        </p:txBody>
      </p:sp>
      <p:sp>
        <p:nvSpPr>
          <p:cNvPr id="3" name="Rounded Rectangle 2"/>
          <p:cNvSpPr/>
          <p:nvPr/>
        </p:nvSpPr>
        <p:spPr>
          <a:xfrm>
            <a:off x="562356"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de mission</a:t>
            </a:r>
          </a:p>
          <a:p>
            <a:pPr algn="l">
              <a:spcBef>
                <a:spcPts val="200"/>
              </a:spcBef>
            </a:pPr>
            <a:r>
              <a:rPr sz="850" b="0" i="1">
                <a:solidFill>
                  <a:srgbClr val="586586"/>
                </a:solidFill>
                <a:latin typeface="Outfit"/>
              </a:rPr>
              <a:t>Côté client</a:t>
            </a:r>
          </a:p>
        </p:txBody>
      </p:sp>
      <p:sp>
        <p:nvSpPr>
          <p:cNvPr id="6" name="TextBox 5"/>
          <p:cNvSpPr txBox="1"/>
          <p:nvPr/>
        </p:nvSpPr>
        <p:spPr>
          <a:xfrm>
            <a:off x="726947"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Gaspillage traité (capacité RUN récupérée)</a:t>
            </a:r>
          </a:p>
          <a:p>
            <a:pPr algn="l">
              <a:lnSpc>
                <a:spcPct val="115000"/>
              </a:lnSpc>
              <a:spcAft>
                <a:spcPts val="400"/>
              </a:spcAft>
            </a:pPr>
            <a:r>
              <a:rPr sz="850" b="0" i="0">
                <a:solidFill>
                  <a:srgbClr val="0E2356"/>
                </a:solidFill>
                <a:latin typeface="Outfit"/>
              </a:rPr>
              <a:t>·  Adoption produit (self-service)</a:t>
            </a:r>
          </a:p>
          <a:p>
            <a:pPr algn="l">
              <a:lnSpc>
                <a:spcPct val="115000"/>
              </a:lnSpc>
              <a:spcAft>
                <a:spcPts val="400"/>
              </a:spcAft>
            </a:pPr>
            <a:r>
              <a:rPr sz="850" b="0" i="0">
                <a:solidFill>
                  <a:srgbClr val="0E2356"/>
                </a:solidFill>
                <a:latin typeface="Outfit"/>
              </a:rPr>
              <a:t>·  Fiabilité &amp; SLA (MTTR, respect des engagements de service, coût/capacité)</a:t>
            </a:r>
          </a:p>
          <a:p>
            <a:pPr algn="l">
              <a:lnSpc>
                <a:spcPct val="115000"/>
              </a:lnSpc>
              <a:spcAft>
                <a:spcPts val="400"/>
              </a:spcAft>
            </a:pPr>
            <a:r>
              <a:rPr sz="850" b="0" i="0">
                <a:solidFill>
                  <a:srgbClr val="0E2356"/>
                </a:solidFill>
                <a:latin typeface="Outfit"/>
              </a:rPr>
              <a:t>·  Gouvernance IA (supervision, incidents)</a:t>
            </a:r>
          </a:p>
          <a:p>
            <a:pPr algn="l">
              <a:lnSpc>
                <a:spcPct val="115000"/>
              </a:lnSpc>
              <a:spcAft>
                <a:spcPts val="400"/>
              </a:spcAft>
            </a:pPr>
            <a:r>
              <a:rPr sz="850" b="0" i="0">
                <a:solidFill>
                  <a:srgbClr val="0E2356"/>
                </a:solidFill>
                <a:latin typeface="Outfit"/>
              </a:rPr>
              <a:t>·  Maturité (delta par pilier, T0→réévaluation)</a:t>
            </a:r>
          </a:p>
        </p:txBody>
      </p:sp>
      <p:sp>
        <p:nvSpPr>
          <p:cNvPr id="7" name="Rounded Rectangle 6"/>
          <p:cNvSpPr/>
          <p:nvPr/>
        </p:nvSpPr>
        <p:spPr>
          <a:xfrm>
            <a:off x="3224783"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9376"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d'usage du module</a:t>
            </a:r>
          </a:p>
          <a:p>
            <a:pPr algn="l">
              <a:spcBef>
                <a:spcPts val="200"/>
              </a:spcBef>
            </a:pPr>
            <a:r>
              <a:rPr sz="850" b="0" i="1">
                <a:solidFill>
                  <a:srgbClr val="586586"/>
                </a:solidFill>
                <a:latin typeface="Outfit"/>
              </a:rPr>
              <a:t>Côté cabinet</a:t>
            </a:r>
          </a:p>
        </p:txBody>
      </p:sp>
      <p:sp>
        <p:nvSpPr>
          <p:cNvPr id="10" name="TextBox 9"/>
          <p:cNvSpPr txBox="1"/>
          <p:nvPr/>
        </p:nvSpPr>
        <p:spPr>
          <a:xfrm>
            <a:off x="3389376"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Accélération (temps pour un cadrage flash)</a:t>
            </a:r>
          </a:p>
          <a:p>
            <a:pPr algn="l">
              <a:lnSpc>
                <a:spcPct val="115000"/>
              </a:lnSpc>
              <a:spcAft>
                <a:spcPts val="400"/>
              </a:spcAft>
            </a:pPr>
            <a:r>
              <a:rPr sz="850" b="0" i="0">
                <a:solidFill>
                  <a:srgbClr val="0E2356"/>
                </a:solidFill>
                <a:latin typeface="Outfit"/>
              </a:rPr>
              <a:t>·  Réutilisation (templates vs ad hoc)</a:t>
            </a:r>
          </a:p>
          <a:p>
            <a:pPr algn="l">
              <a:lnSpc>
                <a:spcPct val="115000"/>
              </a:lnSpc>
              <a:spcAft>
                <a:spcPts val="400"/>
              </a:spcAft>
            </a:pPr>
            <a:r>
              <a:rPr sz="850" b="0" i="0">
                <a:solidFill>
                  <a:srgbClr val="0E2356"/>
                </a:solidFill>
                <a:latin typeface="Outfit"/>
              </a:rPr>
              <a:t>·  Cohérence (écarts détectés par risk-reviewer)</a:t>
            </a:r>
          </a:p>
          <a:p>
            <a:pPr algn="l">
              <a:lnSpc>
                <a:spcPct val="115000"/>
              </a:lnSpc>
              <a:spcAft>
                <a:spcPts val="400"/>
              </a:spcAft>
            </a:pPr>
            <a:r>
              <a:rPr sz="850" b="0" i="0">
                <a:solidFill>
                  <a:srgbClr val="0E2356"/>
                </a:solidFill>
                <a:latin typeface="Outfit"/>
              </a:rPr>
              <a:t>·  Capitalisation (REX ajoutés)</a:t>
            </a:r>
          </a:p>
          <a:p>
            <a:pPr algn="l">
              <a:lnSpc>
                <a:spcPct val="115000"/>
              </a:lnSpc>
              <a:spcAft>
                <a:spcPts val="400"/>
              </a:spcAft>
            </a:pPr>
            <a:r>
              <a:rPr sz="850" b="0" i="0">
                <a:solidFill>
                  <a:srgbClr val="0E2356"/>
                </a:solidFill>
                <a:latin typeface="Outfit"/>
              </a:rPr>
              <a:t>·  Adoption interne (consultants, missions)</a:t>
            </a:r>
          </a:p>
        </p:txBody>
      </p:sp>
      <p:sp>
        <p:nvSpPr>
          <p:cNvPr id="11" name="Rounded Rectangle 10"/>
          <p:cNvSpPr/>
          <p:nvPr/>
        </p:nvSpPr>
        <p:spPr>
          <a:xfrm>
            <a:off x="5887212" y="1741392"/>
            <a:ext cx="2479548" cy="2552255"/>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87212" y="1741392"/>
            <a:ext cx="64008" cy="2552255"/>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51804" y="1887696"/>
            <a:ext cx="2150364" cy="502920"/>
          </a:xfrm>
          <a:prstGeom prst="rect">
            <a:avLst/>
          </a:prstGeom>
          <a:noFill/>
        </p:spPr>
        <p:txBody>
          <a:bodyPr wrap="square" anchor="t" lIns="0" rIns="0" tIns="0" bIns="0">
            <a:noAutofit/>
          </a:bodyPr>
          <a:lstStyle/>
          <a:p>
            <a:pPr algn="l">
              <a:lnSpc>
                <a:spcPct val="105000"/>
              </a:lnSpc>
            </a:pPr>
            <a:r>
              <a:rPr sz="1050" b="1" i="0">
                <a:solidFill>
                  <a:srgbClr val="FFFFFF"/>
                </a:solidFill>
                <a:latin typeface="Outfit"/>
              </a:rPr>
              <a:t>Grille de maturité</a:t>
            </a:r>
          </a:p>
          <a:p>
            <a:pPr algn="l">
              <a:spcBef>
                <a:spcPts val="200"/>
              </a:spcBef>
            </a:pPr>
            <a:r>
              <a:rPr sz="850" b="0" i="1">
                <a:solidFill>
                  <a:srgbClr val="AEB6D4"/>
                </a:solidFill>
                <a:latin typeface="Outfit"/>
              </a:rPr>
              <a:t>Progression dans le temps</a:t>
            </a:r>
          </a:p>
        </p:txBody>
      </p:sp>
      <p:sp>
        <p:nvSpPr>
          <p:cNvPr id="14" name="TextBox 13"/>
          <p:cNvSpPr txBox="1"/>
          <p:nvPr/>
        </p:nvSpPr>
        <p:spPr>
          <a:xfrm>
            <a:off x="6051804"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E8EBF5"/>
                </a:solidFill>
                <a:latin typeface="Outfit"/>
              </a:rPr>
              <a:t>·  Delta par pilier (Excellence Tech., Agilité, IA/Agentic)</a:t>
            </a:r>
          </a:p>
          <a:p>
            <a:pPr algn="l">
              <a:lnSpc>
                <a:spcPct val="115000"/>
              </a:lnSpc>
              <a:spcAft>
                <a:spcPts val="400"/>
              </a:spcAft>
            </a:pPr>
            <a:r>
              <a:rPr sz="850" b="0" i="0">
                <a:solidFill>
                  <a:srgbClr val="E8EBF5"/>
                </a:solidFill>
                <a:latin typeface="Outfit"/>
              </a:rPr>
              <a:t>·  Re-assessment T+6–12 mois</a:t>
            </a:r>
          </a:p>
          <a:p>
            <a:pPr algn="l">
              <a:lnSpc>
                <a:spcPct val="115000"/>
              </a:lnSpc>
              <a:spcAft>
                <a:spcPts val="400"/>
              </a:spcAft>
            </a:pPr>
            <a:r>
              <a:rPr sz="850" b="0" i="0">
                <a:solidFill>
                  <a:srgbClr val="E8EBF5"/>
                </a:solidFill>
                <a:latin typeface="Outfit"/>
              </a:rPr>
              <a:t>·  Score de priorisation ≠ KPI de résultat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KPI   ·   </a:t>
            </a:r>
            <a:r>
              <a:rPr b="1" sz="1550">
                <a:solidFill>
                  <a:srgbClr val="0E2356"/>
                </a:solidFill>
                <a:latin typeface="Outfit"/>
              </a:rPr>
              <a:t>KPIs : pourquoi chaque famille, et quoi mesurer précisément</a:t>
            </a:r>
          </a:p>
        </p:txBody>
      </p:sp>
      <p:sp>
        <p:nvSpPr>
          <p:cNvPr id="3" name="Rounded Rectangle 2"/>
          <p:cNvSpPr/>
          <p:nvPr/>
        </p:nvSpPr>
        <p:spPr>
          <a:xfrm>
            <a:off x="1573530"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573530"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M</a:t>
            </a:r>
          </a:p>
        </p:txBody>
      </p:sp>
      <p:sp>
        <p:nvSpPr>
          <p:cNvPr id="5" name="TextBox 4"/>
          <p:cNvSpPr txBox="1"/>
          <p:nvPr/>
        </p:nvSpPr>
        <p:spPr>
          <a:xfrm>
            <a:off x="562356"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de mission</a:t>
            </a:r>
          </a:p>
        </p:txBody>
      </p:sp>
      <p:sp>
        <p:nvSpPr>
          <p:cNvPr id="6" name="Rounded Rectangle 5"/>
          <p:cNvSpPr/>
          <p:nvPr/>
        </p:nvSpPr>
        <p:spPr>
          <a:xfrm>
            <a:off x="562356"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8" name="TextBox 7"/>
          <p:cNvSpPr txBox="1"/>
          <p:nvPr/>
        </p:nvSpPr>
        <p:spPr>
          <a:xfrm>
            <a:off x="745236"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eux, un deck peut être livré dans les règles sans jamais savoir si le client va réellement mieux — la « transformation cosmétique » appliquée cette fois au résultat.</a:t>
            </a:r>
          </a:p>
        </p:txBody>
      </p:sp>
      <p:sp>
        <p:nvSpPr>
          <p:cNvPr id="9" name="Rectangle 8"/>
          <p:cNvSpPr/>
          <p:nvPr/>
        </p:nvSpPr>
        <p:spPr>
          <a:xfrm>
            <a:off x="745236"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11" name="TextBox 10"/>
          <p:cNvSpPr txBox="1"/>
          <p:nvPr/>
        </p:nvSpPr>
        <p:spPr>
          <a:xfrm>
            <a:off x="745236"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Capacité RUN récupérée en heures/mois ; delta de MTTR en minutes ; SLA/SLO tenus vs promis (iap-product-definition) ; taux de self-service sur la capacité livrée — pas un pourcentage vague.</a:t>
            </a:r>
          </a:p>
        </p:txBody>
      </p:sp>
      <p:sp>
        <p:nvSpPr>
          <p:cNvPr id="12" name="Rounded Rectangle 11"/>
          <p:cNvSpPr/>
          <p:nvPr/>
        </p:nvSpPr>
        <p:spPr>
          <a:xfrm>
            <a:off x="4235957"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35957"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U</a:t>
            </a:r>
          </a:p>
        </p:txBody>
      </p:sp>
      <p:sp>
        <p:nvSpPr>
          <p:cNvPr id="14" name="TextBox 13"/>
          <p:cNvSpPr txBox="1"/>
          <p:nvPr/>
        </p:nvSpPr>
        <p:spPr>
          <a:xfrm>
            <a:off x="3224783"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d'usage du module</a:t>
            </a:r>
          </a:p>
        </p:txBody>
      </p:sp>
      <p:sp>
        <p:nvSpPr>
          <p:cNvPr id="15" name="Rounded Rectangle 14"/>
          <p:cNvSpPr/>
          <p:nvPr/>
        </p:nvSpPr>
        <p:spPr>
          <a:xfrm>
            <a:off x="3224783"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07664"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17" name="TextBox 16"/>
          <p:cNvSpPr txBox="1"/>
          <p:nvPr/>
        </p:nvSpPr>
        <p:spPr>
          <a:xfrm>
            <a:off x="3407664"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Le module est réutilisé mission après mission — sans mesure d'usage, impossible de distinguer une méthode qui s'améliore d'une méthode qui stagne.</a:t>
            </a:r>
          </a:p>
        </p:txBody>
      </p:sp>
      <p:sp>
        <p:nvSpPr>
          <p:cNvPr id="18" name="Rectangle 17"/>
          <p:cNvSpPr/>
          <p:nvPr/>
        </p:nvSpPr>
        <p:spPr>
          <a:xfrm>
            <a:off x="3407664"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07664"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0" name="TextBox 19"/>
          <p:cNvSpPr txBox="1"/>
          <p:nvPr/>
        </p:nvSpPr>
        <p:spPr>
          <a:xfrm>
            <a:off x="3407664"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Temps en heures consultant pour un cadrage flash ; part des livrables issus d'un template sans réécriture substantielle — pas juste « utilisé un template ».</a:t>
            </a:r>
          </a:p>
        </p:txBody>
      </p:sp>
      <p:sp>
        <p:nvSpPr>
          <p:cNvPr id="21" name="Rounded Rectangle 20"/>
          <p:cNvSpPr/>
          <p:nvPr/>
        </p:nvSpPr>
        <p:spPr>
          <a:xfrm>
            <a:off x="6898386"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98386"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G</a:t>
            </a:r>
          </a:p>
        </p:txBody>
      </p:sp>
      <p:sp>
        <p:nvSpPr>
          <p:cNvPr id="23" name="TextBox 22"/>
          <p:cNvSpPr txBox="1"/>
          <p:nvPr/>
        </p:nvSpPr>
        <p:spPr>
          <a:xfrm>
            <a:off x="5887212"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Grille de maturité</a:t>
            </a:r>
          </a:p>
        </p:txBody>
      </p:sp>
      <p:sp>
        <p:nvSpPr>
          <p:cNvPr id="24" name="Rounded Rectangle 23"/>
          <p:cNvSpPr/>
          <p:nvPr/>
        </p:nvSpPr>
        <p:spPr>
          <a:xfrm>
            <a:off x="5887212"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70092"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26" name="TextBox 25"/>
          <p:cNvSpPr txBox="1"/>
          <p:nvPr/>
        </p:nvSpPr>
        <p:spPr>
          <a:xfrm>
            <a:off x="6070092"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mesure répétée dans le temps, la maturité reste une opinion de consultant, pas un delta objectivable — ce qui rend la boucle ⟲ vérifiable plutôt que déclarative.</a:t>
            </a:r>
          </a:p>
        </p:txBody>
      </p:sp>
      <p:sp>
        <p:nvSpPr>
          <p:cNvPr id="27" name="Rectangle 26"/>
          <p:cNvSpPr/>
          <p:nvPr/>
        </p:nvSpPr>
        <p:spPr>
          <a:xfrm>
            <a:off x="6070092"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70092"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9" name="TextBox 28"/>
          <p:cNvSpPr txBox="1"/>
          <p:nvPr/>
        </p:nvSpPr>
        <p:spPr>
          <a:xfrm>
            <a:off x="6070092"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Delta par pilier (pas un score agrégé qui masquerait un recul) ; même instrument (grille V3.2) à T0 et à chaque re-assessment.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KPIs : comment on les met en place, concrètement</a:t>
            </a:r>
          </a:p>
        </p:txBody>
      </p:sp>
      <p:sp>
        <p:nvSpPr>
          <p:cNvPr id="3" name="Rounded Rectangle 2"/>
          <p:cNvSpPr/>
          <p:nvPr/>
        </p:nvSpPr>
        <p:spPr>
          <a:xfrm>
            <a:off x="562356" y="1395984"/>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95984"/>
            <a:ext cx="310896" cy="310896"/>
          </a:xfrm>
          <a:prstGeom prst="rect">
            <a:avLst/>
          </a:prstGeom>
          <a:noFill/>
        </p:spPr>
        <p:txBody>
          <a:bodyPr wrap="square" anchor="ctr" lIns="0" rIns="0" tIns="0" bIns="0">
            <a:noAutofit/>
          </a:bodyPr>
          <a:lstStyle/>
          <a:p>
            <a:pPr algn="ctr"/>
            <a:r>
              <a:rPr sz="1100" b="1" i="0">
                <a:solidFill>
                  <a:srgbClr val="FFFFFF"/>
                </a:solidFill>
                <a:latin typeface="Outfit"/>
              </a:rPr>
              <a:t>M</a:t>
            </a:r>
          </a:p>
        </p:txBody>
      </p:sp>
      <p:sp>
        <p:nvSpPr>
          <p:cNvPr id="5" name="TextBox 4"/>
          <p:cNvSpPr txBox="1"/>
          <p:nvPr/>
        </p:nvSpPr>
        <p:spPr>
          <a:xfrm>
            <a:off x="1001268" y="1097280"/>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de mission</a:t>
            </a:r>
          </a:p>
        </p:txBody>
      </p:sp>
      <p:sp>
        <p:nvSpPr>
          <p:cNvPr id="6" name="Rounded Rectangle 5"/>
          <p:cNvSpPr/>
          <p:nvPr/>
        </p:nvSpPr>
        <p:spPr>
          <a:xfrm>
            <a:off x="2125980"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53996"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iap-metrics-sre-finops-lead</a:t>
            </a:r>
          </a:p>
        </p:txBody>
      </p:sp>
      <p:sp>
        <p:nvSpPr>
          <p:cNvPr id="8" name="Chevron 7"/>
          <p:cNvSpPr/>
          <p:nvPr/>
        </p:nvSpPr>
        <p:spPr>
          <a:xfrm>
            <a:off x="4081028"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85488"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3504"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ServiceNow/Jira/CMDB si accès (preuves externes), sinon déclaratif — tagué DÉDUIT</a:t>
            </a:r>
          </a:p>
        </p:txBody>
      </p:sp>
      <p:sp>
        <p:nvSpPr>
          <p:cNvPr id="11" name="Chevron 10"/>
          <p:cNvSpPr/>
          <p:nvPr/>
        </p:nvSpPr>
        <p:spPr>
          <a:xfrm>
            <a:off x="6240536"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4996"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3011"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Continu, lu à chaque étape ②③⟲</a:t>
            </a:r>
          </a:p>
        </p:txBody>
      </p:sp>
      <p:sp>
        <p:nvSpPr>
          <p:cNvPr id="14" name="Rounded Rectangle 13"/>
          <p:cNvSpPr/>
          <p:nvPr/>
        </p:nvSpPr>
        <p:spPr>
          <a:xfrm>
            <a:off x="562356" y="2450592"/>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450592"/>
            <a:ext cx="310896" cy="310896"/>
          </a:xfrm>
          <a:prstGeom prst="rect">
            <a:avLst/>
          </a:prstGeom>
          <a:noFill/>
        </p:spPr>
        <p:txBody>
          <a:bodyPr wrap="square" anchor="ctr" lIns="0" rIns="0" tIns="0" bIns="0">
            <a:noAutofit/>
          </a:bodyPr>
          <a:lstStyle/>
          <a:p>
            <a:pPr algn="ctr"/>
            <a:r>
              <a:rPr sz="1100" b="1" i="0">
                <a:solidFill>
                  <a:srgbClr val="FFFFFF"/>
                </a:solidFill>
                <a:latin typeface="Outfit"/>
              </a:rPr>
              <a:t>U</a:t>
            </a:r>
          </a:p>
        </p:txBody>
      </p:sp>
      <p:sp>
        <p:nvSpPr>
          <p:cNvPr id="16" name="TextBox 15"/>
          <p:cNvSpPr txBox="1"/>
          <p:nvPr/>
        </p:nvSpPr>
        <p:spPr>
          <a:xfrm>
            <a:off x="1001268" y="2151888"/>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d'usage du module</a:t>
            </a:r>
          </a:p>
        </p:txBody>
      </p:sp>
      <p:sp>
        <p:nvSpPr>
          <p:cNvPr id="17" name="Rounded Rectangle 16"/>
          <p:cNvSpPr/>
          <p:nvPr/>
        </p:nvSpPr>
        <p:spPr>
          <a:xfrm>
            <a:off x="2125980"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53996"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Le consultant, au fil des missions</a:t>
            </a:r>
          </a:p>
        </p:txBody>
      </p:sp>
      <p:sp>
        <p:nvSpPr>
          <p:cNvPr id="19" name="Chevron 18"/>
          <p:cNvSpPr/>
          <p:nvPr/>
        </p:nvSpPr>
        <p:spPr>
          <a:xfrm>
            <a:off x="4081028"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85488"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3504"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Journal de mission + bibliothèque de REX</a:t>
            </a:r>
          </a:p>
        </p:txBody>
      </p:sp>
      <p:sp>
        <p:nvSpPr>
          <p:cNvPr id="22" name="Chevron 21"/>
          <p:cNvSpPr/>
          <p:nvPr/>
        </p:nvSpPr>
        <p:spPr>
          <a:xfrm>
            <a:off x="6240536"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44996"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3011"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Par mission, consolidé à MVP5</a:t>
            </a:r>
          </a:p>
        </p:txBody>
      </p:sp>
      <p:sp>
        <p:nvSpPr>
          <p:cNvPr id="25" name="Rounded Rectangle 24"/>
          <p:cNvSpPr/>
          <p:nvPr/>
        </p:nvSpPr>
        <p:spPr>
          <a:xfrm>
            <a:off x="562356" y="3505200"/>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2356" y="3505200"/>
            <a:ext cx="310896" cy="310896"/>
          </a:xfrm>
          <a:prstGeom prst="rect">
            <a:avLst/>
          </a:prstGeom>
          <a:noFill/>
        </p:spPr>
        <p:txBody>
          <a:bodyPr wrap="square" anchor="ctr" lIns="0" rIns="0" tIns="0" bIns="0">
            <a:noAutofit/>
          </a:bodyPr>
          <a:lstStyle/>
          <a:p>
            <a:pPr algn="ctr"/>
            <a:r>
              <a:rPr sz="1100" b="1" i="0">
                <a:solidFill>
                  <a:srgbClr val="FFFFFF"/>
                </a:solidFill>
                <a:latin typeface="Outfit"/>
              </a:rPr>
              <a:t>G</a:t>
            </a:r>
          </a:p>
        </p:txBody>
      </p:sp>
      <p:sp>
        <p:nvSpPr>
          <p:cNvPr id="27" name="TextBox 26"/>
          <p:cNvSpPr txBox="1"/>
          <p:nvPr/>
        </p:nvSpPr>
        <p:spPr>
          <a:xfrm>
            <a:off x="1001268" y="3206496"/>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Grille de maturité</a:t>
            </a:r>
          </a:p>
        </p:txBody>
      </p:sp>
      <p:sp>
        <p:nvSpPr>
          <p:cNvPr id="28" name="Rounded Rectangle 27"/>
          <p:cNvSpPr/>
          <p:nvPr/>
        </p:nvSpPr>
        <p:spPr>
          <a:xfrm>
            <a:off x="2125980"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53996"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iap-strategy-lead</a:t>
            </a:r>
          </a:p>
        </p:txBody>
      </p:sp>
      <p:sp>
        <p:nvSpPr>
          <p:cNvPr id="30" name="Chevron 29"/>
          <p:cNvSpPr/>
          <p:nvPr/>
        </p:nvSpPr>
        <p:spPr>
          <a:xfrm>
            <a:off x="4081028"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285488"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13504"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Grille V3.2 repassée en atelier ou en interview</a:t>
            </a:r>
          </a:p>
        </p:txBody>
      </p:sp>
      <p:sp>
        <p:nvSpPr>
          <p:cNvPr id="33" name="Chevron 32"/>
          <p:cNvSpPr/>
          <p:nvPr/>
        </p:nvSpPr>
        <p:spPr>
          <a:xfrm>
            <a:off x="6240536"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44996"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73011"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T0 (① Assessment flash) puis chaque boucle ⟲</a:t>
            </a:r>
          </a:p>
        </p:txBody>
      </p:sp>
      <p:sp>
        <p:nvSpPr>
          <p:cNvPr id="36" name="Rounded Rectangle 35"/>
          <p:cNvSpPr/>
          <p:nvPr/>
        </p:nvSpPr>
        <p:spPr>
          <a:xfrm>
            <a:off x="562356" y="4261104"/>
            <a:ext cx="7804404" cy="722375"/>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61104"/>
            <a:ext cx="7438644" cy="722375"/>
          </a:xfrm>
          <a:prstGeom prst="rect">
            <a:avLst/>
          </a:prstGeom>
          <a:noFill/>
        </p:spPr>
        <p:txBody>
          <a:bodyPr wrap="square" anchor="ctr" lIns="0" rIns="0" tIns="0" bIns="0">
            <a:noAutofit/>
          </a:bodyPr>
          <a:lstStyle/>
          <a:p>
            <a:pPr algn="l"/>
            <a:r>
              <a:rPr sz="800" b="1" i="0">
                <a:solidFill>
                  <a:srgbClr val="0E2356"/>
                </a:solidFill>
                <a:latin typeface="Outfit"/>
              </a:rPr>
              <a:t>Pas d'instrumentation automatique en MVP1</a:t>
            </a:r>
          </a:p>
          <a:p>
            <a:pPr algn="l">
              <a:lnSpc>
                <a:spcPct val="120000"/>
              </a:lnSpc>
              <a:spcBef>
                <a:spcPts val="300"/>
              </a:spcBef>
            </a:pPr>
            <a:r>
              <a:rPr sz="800" b="0" i="0">
                <a:solidFill>
                  <a:srgbClr val="586586"/>
                </a:solidFill>
                <a:latin typeface="Outfit"/>
              </a:rPr>
              <a:t>Cohérent avec le Niveau A/B assumé (§Ambition de l'outil) : recueil et rapport à la main tant qu'aucun tableau de bord temps réel n'est promis avant le Niveau 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KPI   ·   </a:t>
            </a:r>
            <a:r>
              <a:rPr b="1" sz="1250">
                <a:solidFill>
                  <a:srgbClr val="0E2356"/>
                </a:solidFill>
                <a:latin typeface="Outfit"/>
              </a:rPr>
              <a:t>La grille de maturité : deux échelles distinctes, mesurées dans le temps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La 3e famille de KPIs. Deux lectures qui ne mesurent pas la même chose et se lisent séparément ; le KPI de progression, c'est le DELTA par pilier entre T0 et chaque réévaluation — pas le niveau absolu.</a:t>
            </a:r>
          </a:p>
        </p:txBody>
      </p:sp>
      <p:sp>
        <p:nvSpPr>
          <p:cNvPr id="4" name="TextBox 3"/>
          <p:cNvSpPr txBox="1"/>
          <p:nvPr/>
        </p:nvSpPr>
        <p:spPr>
          <a:xfrm>
            <a:off x="562356"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CAPACITÉ IA DU CLIENT (M0–M4)</a:t>
            </a:r>
          </a:p>
          <a:p>
            <a:pPr algn="l">
              <a:lnSpc>
                <a:spcPct val="105000"/>
              </a:lnSpc>
              <a:spcBef>
                <a:spcPts val="200"/>
              </a:spcBef>
            </a:pPr>
            <a:r>
              <a:rPr sz="750" b="0" i="0">
                <a:solidFill>
                  <a:srgbClr val="0E2356"/>
                </a:solidFill>
                <a:latin typeface="Outfit"/>
              </a:rPr>
              <a:t>→ gouverne le choix du modèle IA et le gate</a:t>
            </a:r>
          </a:p>
        </p:txBody>
      </p:sp>
      <p:sp>
        <p:nvSpPr>
          <p:cNvPr id="5" name="Rounded Rectangle 4"/>
          <p:cNvSpPr/>
          <p:nvPr/>
        </p:nvSpPr>
        <p:spPr>
          <a:xfrm>
            <a:off x="562356" y="1984248"/>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84248"/>
            <a:ext cx="566928" cy="530352"/>
          </a:xfrm>
          <a:prstGeom prst="rect">
            <a:avLst/>
          </a:prstGeom>
          <a:noFill/>
        </p:spPr>
        <p:txBody>
          <a:bodyPr wrap="square" anchor="ctr" lIns="0" rIns="0" tIns="0" bIns="0">
            <a:noAutofit/>
          </a:bodyPr>
          <a:lstStyle/>
          <a:p>
            <a:pPr algn="ctr"/>
            <a:r>
              <a:rPr sz="900" b="1" i="0">
                <a:solidFill>
                  <a:srgbClr val="FFFFFF"/>
                </a:solidFill>
                <a:latin typeface="Outfit"/>
              </a:rPr>
              <a:t>M0</a:t>
            </a:r>
          </a:p>
        </p:txBody>
      </p:sp>
      <p:sp>
        <p:nvSpPr>
          <p:cNvPr id="7" name="TextBox 6"/>
          <p:cNvSpPr txBox="1"/>
          <p:nvPr/>
        </p:nvSpPr>
        <p:spPr>
          <a:xfrm>
            <a:off x="1266443" y="1984248"/>
            <a:ext cx="2969514" cy="530352"/>
          </a:xfrm>
          <a:prstGeom prst="rect">
            <a:avLst/>
          </a:prstGeom>
          <a:noFill/>
        </p:spPr>
        <p:txBody>
          <a:bodyPr wrap="square" anchor="ctr" lIns="0" rIns="0" tIns="0" bIns="0">
            <a:noAutofit/>
          </a:bodyPr>
          <a:lstStyle/>
          <a:p>
            <a:pPr algn="l"/>
            <a:r>
              <a:rPr sz="900" b="1" i="0">
                <a:solidFill>
                  <a:srgbClr val="0E2356"/>
                </a:solidFill>
                <a:latin typeface="Outfit"/>
              </a:rPr>
              <a:t>Pas d'IA interne utilisable</a:t>
            </a:r>
          </a:p>
          <a:p>
            <a:pPr algn="l">
              <a:lnSpc>
                <a:spcPct val="110000"/>
              </a:lnSpc>
              <a:spcBef>
                <a:spcPts val="100"/>
              </a:spcBef>
            </a:pPr>
            <a:r>
              <a:rPr sz="800" b="0" i="0">
                <a:solidFill>
                  <a:srgbClr val="586586"/>
                </a:solidFill>
                <a:latin typeface="Outfit"/>
              </a:rPr>
              <a:t>Méthodo générique, données anonymisées</a:t>
            </a:r>
          </a:p>
        </p:txBody>
      </p:sp>
      <p:sp>
        <p:nvSpPr>
          <p:cNvPr id="8" name="Rounded Rectangle 7"/>
          <p:cNvSpPr/>
          <p:nvPr/>
        </p:nvSpPr>
        <p:spPr>
          <a:xfrm>
            <a:off x="562356" y="2569463"/>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569463"/>
            <a:ext cx="566928" cy="530352"/>
          </a:xfrm>
          <a:prstGeom prst="rect">
            <a:avLst/>
          </a:prstGeom>
          <a:noFill/>
        </p:spPr>
        <p:txBody>
          <a:bodyPr wrap="square" anchor="ctr" lIns="0" rIns="0" tIns="0" bIns="0">
            <a:noAutofit/>
          </a:bodyPr>
          <a:lstStyle/>
          <a:p>
            <a:pPr algn="ctr"/>
            <a:r>
              <a:rPr sz="900" b="1" i="0">
                <a:solidFill>
                  <a:srgbClr val="FFFFFF"/>
                </a:solidFill>
                <a:latin typeface="Outfit"/>
              </a:rPr>
              <a:t>M1</a:t>
            </a:r>
          </a:p>
        </p:txBody>
      </p:sp>
      <p:sp>
        <p:nvSpPr>
          <p:cNvPr id="10" name="TextBox 9"/>
          <p:cNvSpPr txBox="1"/>
          <p:nvPr/>
        </p:nvSpPr>
        <p:spPr>
          <a:xfrm>
            <a:off x="1266443" y="2569463"/>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interne basique</a:t>
            </a:r>
          </a:p>
          <a:p>
            <a:pPr algn="l">
              <a:lnSpc>
                <a:spcPct val="110000"/>
              </a:lnSpc>
              <a:spcBef>
                <a:spcPts val="100"/>
              </a:spcBef>
            </a:pPr>
            <a:r>
              <a:rPr sz="800" b="0" i="0">
                <a:solidFill>
                  <a:srgbClr val="586586"/>
                </a:solidFill>
                <a:latin typeface="Outfit"/>
              </a:rPr>
              <a:t>Synthèses internes, pas d'analyse critique auto</a:t>
            </a:r>
          </a:p>
        </p:txBody>
      </p:sp>
      <p:sp>
        <p:nvSpPr>
          <p:cNvPr id="11" name="Rounded Rectangle 10"/>
          <p:cNvSpPr/>
          <p:nvPr/>
        </p:nvSpPr>
        <p:spPr>
          <a:xfrm>
            <a:off x="562356" y="3154679"/>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356" y="3154679"/>
            <a:ext cx="566928" cy="530352"/>
          </a:xfrm>
          <a:prstGeom prst="rect">
            <a:avLst/>
          </a:prstGeom>
          <a:noFill/>
        </p:spPr>
        <p:txBody>
          <a:bodyPr wrap="square" anchor="ctr" lIns="0" rIns="0" tIns="0" bIns="0">
            <a:noAutofit/>
          </a:bodyPr>
          <a:lstStyle/>
          <a:p>
            <a:pPr algn="ctr"/>
            <a:r>
              <a:rPr sz="900" b="1" i="0">
                <a:solidFill>
                  <a:srgbClr val="FFFFFF"/>
                </a:solidFill>
                <a:latin typeface="Outfit"/>
              </a:rPr>
              <a:t>M2</a:t>
            </a:r>
          </a:p>
        </p:txBody>
      </p:sp>
      <p:sp>
        <p:nvSpPr>
          <p:cNvPr id="13" name="TextBox 12"/>
          <p:cNvSpPr txBox="1"/>
          <p:nvPr/>
        </p:nvSpPr>
        <p:spPr>
          <a:xfrm>
            <a:off x="1266443" y="3154679"/>
            <a:ext cx="2969514" cy="530352"/>
          </a:xfrm>
          <a:prstGeom prst="rect">
            <a:avLst/>
          </a:prstGeom>
          <a:noFill/>
        </p:spPr>
        <p:txBody>
          <a:bodyPr wrap="square" anchor="ctr" lIns="0" rIns="0" tIns="0" bIns="0">
            <a:noAutofit/>
          </a:bodyPr>
          <a:lstStyle/>
          <a:p>
            <a:pPr algn="l"/>
            <a:r>
              <a:rPr sz="900" b="1" i="0">
                <a:solidFill>
                  <a:srgbClr val="0E2356"/>
                </a:solidFill>
                <a:latin typeface="Outfit"/>
              </a:rPr>
              <a:t>IA privée avec RAG</a:t>
            </a:r>
          </a:p>
          <a:p>
            <a:pPr algn="l">
              <a:lnSpc>
                <a:spcPct val="110000"/>
              </a:lnSpc>
              <a:spcBef>
                <a:spcPts val="100"/>
              </a:spcBef>
            </a:pPr>
            <a:r>
              <a:rPr sz="800" b="0" i="0">
                <a:solidFill>
                  <a:srgbClr val="586586"/>
                </a:solidFill>
                <a:latin typeface="Outfit"/>
              </a:rPr>
              <a:t>Diagnostic documentaire, consolidation</a:t>
            </a:r>
          </a:p>
        </p:txBody>
      </p:sp>
      <p:sp>
        <p:nvSpPr>
          <p:cNvPr id="14" name="Rounded Rectangle 13"/>
          <p:cNvSpPr/>
          <p:nvPr/>
        </p:nvSpPr>
        <p:spPr>
          <a:xfrm>
            <a:off x="562356" y="3739896"/>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3739896"/>
            <a:ext cx="566928" cy="530352"/>
          </a:xfrm>
          <a:prstGeom prst="rect">
            <a:avLst/>
          </a:prstGeom>
          <a:noFill/>
        </p:spPr>
        <p:txBody>
          <a:bodyPr wrap="square" anchor="ctr" lIns="0" rIns="0" tIns="0" bIns="0">
            <a:noAutofit/>
          </a:bodyPr>
          <a:lstStyle/>
          <a:p>
            <a:pPr algn="ctr"/>
            <a:r>
              <a:rPr sz="900" b="1" i="0">
                <a:solidFill>
                  <a:srgbClr val="FFFFFF"/>
                </a:solidFill>
                <a:latin typeface="Outfit"/>
              </a:rPr>
              <a:t>M3</a:t>
            </a:r>
          </a:p>
        </p:txBody>
      </p:sp>
      <p:sp>
        <p:nvSpPr>
          <p:cNvPr id="16" name="TextBox 15"/>
          <p:cNvSpPr txBox="1"/>
          <p:nvPr/>
        </p:nvSpPr>
        <p:spPr>
          <a:xfrm>
            <a:off x="1266443" y="3739896"/>
            <a:ext cx="2969514" cy="530352"/>
          </a:xfrm>
          <a:prstGeom prst="rect">
            <a:avLst/>
          </a:prstGeom>
          <a:noFill/>
        </p:spPr>
        <p:txBody>
          <a:bodyPr wrap="square" anchor="ctr" lIns="0" rIns="0" tIns="0" bIns="0">
            <a:noAutofit/>
          </a:bodyPr>
          <a:lstStyle/>
          <a:p>
            <a:pPr algn="l"/>
            <a:r>
              <a:rPr sz="900" b="1" i="0">
                <a:solidFill>
                  <a:srgbClr val="0E2356"/>
                </a:solidFill>
                <a:latin typeface="Outfit"/>
              </a:rPr>
              <a:t>Plateforme IA gouvernée</a:t>
            </a:r>
          </a:p>
          <a:p>
            <a:pPr algn="l">
              <a:lnSpc>
                <a:spcPct val="110000"/>
              </a:lnSpc>
              <a:spcBef>
                <a:spcPts val="100"/>
              </a:spcBef>
            </a:pPr>
            <a:r>
              <a:rPr sz="800" b="0" i="0">
                <a:solidFill>
                  <a:srgbClr val="586586"/>
                </a:solidFill>
                <a:latin typeface="Outfit"/>
              </a:rPr>
              <a:t>Workflows agentic contrôlés</a:t>
            </a:r>
          </a:p>
        </p:txBody>
      </p:sp>
      <p:sp>
        <p:nvSpPr>
          <p:cNvPr id="17" name="Rounded Rectangle 16"/>
          <p:cNvSpPr/>
          <p:nvPr/>
        </p:nvSpPr>
        <p:spPr>
          <a:xfrm>
            <a:off x="562356" y="4325112"/>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4325112"/>
            <a:ext cx="566928" cy="530352"/>
          </a:xfrm>
          <a:prstGeom prst="rect">
            <a:avLst/>
          </a:prstGeom>
          <a:noFill/>
        </p:spPr>
        <p:txBody>
          <a:bodyPr wrap="square" anchor="ctr" lIns="0" rIns="0" tIns="0" bIns="0">
            <a:noAutofit/>
          </a:bodyPr>
          <a:lstStyle/>
          <a:p>
            <a:pPr algn="ctr"/>
            <a:r>
              <a:rPr sz="900" b="1" i="0">
                <a:solidFill>
                  <a:srgbClr val="FFFFFF"/>
                </a:solidFill>
                <a:latin typeface="Outfit"/>
              </a:rPr>
              <a:t>M4</a:t>
            </a:r>
          </a:p>
        </p:txBody>
      </p:sp>
      <p:sp>
        <p:nvSpPr>
          <p:cNvPr id="19" name="TextBox 18"/>
          <p:cNvSpPr txBox="1"/>
          <p:nvPr/>
        </p:nvSpPr>
        <p:spPr>
          <a:xfrm>
            <a:off x="1266443" y="4325112"/>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industrielle</a:t>
            </a:r>
          </a:p>
          <a:p>
            <a:pPr algn="l">
              <a:lnSpc>
                <a:spcPct val="110000"/>
              </a:lnSpc>
              <a:spcBef>
                <a:spcPts val="100"/>
              </a:spcBef>
            </a:pPr>
            <a:r>
              <a:rPr sz="800" b="0" i="0">
                <a:solidFill>
                  <a:srgbClr val="586586"/>
                </a:solidFill>
                <a:latin typeface="Outfit"/>
              </a:rPr>
              <a:t>Agents spécialisés à fort volume, contrôle humain</a:t>
            </a:r>
          </a:p>
        </p:txBody>
      </p:sp>
      <p:sp>
        <p:nvSpPr>
          <p:cNvPr id="20" name="TextBox 19"/>
          <p:cNvSpPr txBox="1"/>
          <p:nvPr/>
        </p:nvSpPr>
        <p:spPr>
          <a:xfrm>
            <a:off x="4555998"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MATURITÉ PRODUIT / PLATEFORME (grille V3.2)</a:t>
            </a:r>
          </a:p>
          <a:p>
            <a:pPr algn="l">
              <a:lnSpc>
                <a:spcPct val="105000"/>
              </a:lnSpc>
              <a:spcBef>
                <a:spcPts val="200"/>
              </a:spcBef>
            </a:pPr>
            <a:r>
              <a:rPr sz="750" b="0" i="0">
                <a:solidFill>
                  <a:srgbClr val="0E2356"/>
                </a:solidFill>
                <a:latin typeface="Outfit"/>
              </a:rPr>
              <a:t>→ gouverne la trajectoire de transformation</a:t>
            </a:r>
          </a:p>
        </p:txBody>
      </p:sp>
      <p:sp>
        <p:nvSpPr>
          <p:cNvPr id="21" name="Rounded Rectangle 20"/>
          <p:cNvSpPr/>
          <p:nvPr/>
        </p:nvSpPr>
        <p:spPr>
          <a:xfrm>
            <a:off x="4555998" y="2185416"/>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2030" y="1984248"/>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Équipe Produit</a:t>
            </a:r>
          </a:p>
          <a:p>
            <a:pPr algn="l">
              <a:spcBef>
                <a:spcPts val="100"/>
              </a:spcBef>
            </a:pPr>
            <a:r>
              <a:rPr sz="800" b="0" i="0">
                <a:solidFill>
                  <a:srgbClr val="586586"/>
                </a:solidFill>
                <a:latin typeface="Outfit"/>
              </a:rPr>
              <a:t>Adjacent</a:t>
            </a:r>
          </a:p>
        </p:txBody>
      </p:sp>
      <p:sp>
        <p:nvSpPr>
          <p:cNvPr id="23" name="Rounded Rectangle 22"/>
          <p:cNvSpPr/>
          <p:nvPr/>
        </p:nvSpPr>
        <p:spPr>
          <a:xfrm>
            <a:off x="4555998" y="2770632"/>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2030" y="2569463"/>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Excellence Technique</a:t>
            </a:r>
          </a:p>
          <a:p>
            <a:pPr algn="l">
              <a:spcBef>
                <a:spcPts val="100"/>
              </a:spcBef>
            </a:pPr>
            <a:r>
              <a:rPr sz="800" b="0" i="0">
                <a:solidFill>
                  <a:srgbClr val="0E2356"/>
                </a:solidFill>
                <a:latin typeface="Outfit"/>
              </a:rPr>
              <a:t>Cœur du périmètre</a:t>
            </a:r>
          </a:p>
        </p:txBody>
      </p:sp>
      <p:sp>
        <p:nvSpPr>
          <p:cNvPr id="25" name="Rounded Rectangle 24"/>
          <p:cNvSpPr/>
          <p:nvPr/>
        </p:nvSpPr>
        <p:spPr>
          <a:xfrm>
            <a:off x="4555998" y="3355848"/>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2030" y="3154679"/>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Culture de l'Entreprise Agile</a:t>
            </a:r>
          </a:p>
          <a:p>
            <a:pPr algn="l">
              <a:spcBef>
                <a:spcPts val="100"/>
              </a:spcBef>
            </a:pPr>
            <a:r>
              <a:rPr sz="800" b="0" i="0">
                <a:solidFill>
                  <a:srgbClr val="586586"/>
                </a:solidFill>
                <a:latin typeface="Outfit"/>
              </a:rPr>
              <a:t>Adjacent</a:t>
            </a:r>
          </a:p>
        </p:txBody>
      </p:sp>
      <p:sp>
        <p:nvSpPr>
          <p:cNvPr id="27" name="Rounded Rectangle 26"/>
          <p:cNvSpPr/>
          <p:nvPr/>
        </p:nvSpPr>
        <p:spPr>
          <a:xfrm>
            <a:off x="4555998" y="3941063"/>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2030" y="3739896"/>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Agilité à l'Échelle</a:t>
            </a:r>
          </a:p>
          <a:p>
            <a:pPr algn="l">
              <a:spcBef>
                <a:spcPts val="100"/>
              </a:spcBef>
            </a:pPr>
            <a:r>
              <a:rPr sz="800" b="0" i="0">
                <a:solidFill>
                  <a:srgbClr val="0E2356"/>
                </a:solidFill>
                <a:latin typeface="Outfit"/>
              </a:rPr>
              <a:t>Cœur du périmètre</a:t>
            </a:r>
          </a:p>
        </p:txBody>
      </p:sp>
      <p:sp>
        <p:nvSpPr>
          <p:cNvPr id="29" name="Rounded Rectangle 28"/>
          <p:cNvSpPr/>
          <p:nvPr/>
        </p:nvSpPr>
        <p:spPr>
          <a:xfrm>
            <a:off x="4555998" y="4526279"/>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2030" y="4325112"/>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IA, Agentic et Organisation Augmentée</a:t>
            </a:r>
          </a:p>
          <a:p>
            <a:pPr algn="l">
              <a:spcBef>
                <a:spcPts val="100"/>
              </a:spcBef>
            </a:pPr>
            <a:r>
              <a:rPr sz="800" b="0" i="0">
                <a:solidFill>
                  <a:srgbClr val="0E2356"/>
                </a:solidFill>
                <a:latin typeface="Outfit"/>
              </a:rPr>
              <a:t>Où se lit l'axe IA (M0–M4)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600">
                <a:solidFill>
                  <a:srgbClr val="0E2356"/>
                </a:solidFill>
                <a:latin typeface="Outfit"/>
              </a:rPr>
              <a:t>KPI   ·   </a:t>
            </a:r>
            <a:r>
              <a:rPr b="1" sz="1600">
                <a:solidFill>
                  <a:srgbClr val="0E2356"/>
                </a:solidFill>
                <a:latin typeface="Outfit"/>
              </a:rPr>
              <a:t>KPIs en pratique : le cas nominal RUN massif, avant/après</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800" b="0" i="1">
                <a:solidFill>
                  <a:srgbClr val="586586"/>
                </a:solidFill>
                <a:latin typeface="Outfit"/>
              </a:rPr>
              <a:t>Même fixture illustrative que l'agent de triage de tickets et le cas nominal de l'export markdown (chapitre IA) — pas un client réel.</a:t>
            </a:r>
          </a:p>
        </p:txBody>
      </p:sp>
      <p:sp>
        <p:nvSpPr>
          <p:cNvPr id="4" name="TextBox 3"/>
          <p:cNvSpPr txBox="1"/>
          <p:nvPr/>
        </p:nvSpPr>
        <p:spPr>
          <a:xfrm>
            <a:off x="562356" y="1417319"/>
            <a:ext cx="2606040" cy="219456"/>
          </a:xfrm>
          <a:prstGeom prst="rect">
            <a:avLst/>
          </a:prstGeom>
          <a:noFill/>
        </p:spPr>
        <p:txBody>
          <a:bodyPr wrap="square" anchor="t" lIns="0" rIns="0" tIns="0" bIns="0">
            <a:spAutoFit/>
          </a:bodyPr>
          <a:lstStyle/>
          <a:p>
            <a:r>
              <a:rPr sz="700" b="1">
                <a:solidFill>
                  <a:srgbClr val="586586"/>
                </a:solidFill>
                <a:latin typeface="Outfit"/>
              </a:rPr>
              <a:t>KPI</a:t>
            </a:r>
          </a:p>
        </p:txBody>
      </p:sp>
      <p:sp>
        <p:nvSpPr>
          <p:cNvPr id="5" name="TextBox 4"/>
          <p:cNvSpPr txBox="1"/>
          <p:nvPr/>
        </p:nvSpPr>
        <p:spPr>
          <a:xfrm>
            <a:off x="3278124" y="1417319"/>
            <a:ext cx="1600200" cy="219456"/>
          </a:xfrm>
          <a:prstGeom prst="rect">
            <a:avLst/>
          </a:prstGeom>
          <a:noFill/>
        </p:spPr>
        <p:txBody>
          <a:bodyPr wrap="square" anchor="t" lIns="0" rIns="0" tIns="0" bIns="0">
            <a:spAutoFit/>
          </a:bodyPr>
          <a:lstStyle/>
          <a:p>
            <a:r>
              <a:rPr sz="700" b="1">
                <a:solidFill>
                  <a:srgbClr val="586586"/>
                </a:solidFill>
                <a:latin typeface="Outfit"/>
              </a:rPr>
              <a:t>T0 · ① ASSESSMENT FLASH</a:t>
            </a:r>
          </a:p>
        </p:txBody>
      </p:sp>
      <p:sp>
        <p:nvSpPr>
          <p:cNvPr id="6" name="TextBox 5"/>
          <p:cNvSpPr txBox="1"/>
          <p:nvPr/>
        </p:nvSpPr>
        <p:spPr>
          <a:xfrm>
            <a:off x="4988052" y="1417319"/>
            <a:ext cx="1691640" cy="219456"/>
          </a:xfrm>
          <a:prstGeom prst="rect">
            <a:avLst/>
          </a:prstGeom>
          <a:noFill/>
        </p:spPr>
        <p:txBody>
          <a:bodyPr wrap="square" anchor="t" lIns="0" rIns="0" tIns="0" bIns="0">
            <a:spAutoFit/>
          </a:bodyPr>
          <a:lstStyle/>
          <a:p>
            <a:r>
              <a:rPr sz="700" b="1">
                <a:solidFill>
                  <a:srgbClr val="586586"/>
                </a:solidFill>
                <a:latin typeface="Outfit"/>
              </a:rPr>
              <a:t>T+6-12 MOIS · </a:t>
            </a:r>
            <a:r>
              <a:rPr sz="700" b="0">
                <a:solidFill>
                  <a:srgbClr val="586586"/>
                </a:solidFill>
                <a:latin typeface="Arial"/>
              </a:rPr>
              <a:t>⟲</a:t>
            </a:r>
            <a:r>
              <a:rPr sz="700" b="1">
                <a:solidFill>
                  <a:srgbClr val="586586"/>
                </a:solidFill>
                <a:latin typeface="Outfit"/>
              </a:rPr>
              <a:t> RÉÉVALUATION</a:t>
            </a:r>
          </a:p>
        </p:txBody>
      </p:sp>
      <p:sp>
        <p:nvSpPr>
          <p:cNvPr id="7" name="TextBox 6"/>
          <p:cNvSpPr txBox="1"/>
          <p:nvPr/>
        </p:nvSpPr>
        <p:spPr>
          <a:xfrm>
            <a:off x="6789420" y="1417319"/>
            <a:ext cx="1577340" cy="219456"/>
          </a:xfrm>
          <a:prstGeom prst="rect">
            <a:avLst/>
          </a:prstGeom>
          <a:noFill/>
        </p:spPr>
        <p:txBody>
          <a:bodyPr wrap="square" anchor="t" lIns="0" rIns="0" tIns="0" bIns="0">
            <a:spAutoFit/>
          </a:bodyPr>
          <a:lstStyle/>
          <a:p>
            <a:r>
              <a:rPr sz="700" b="1">
                <a:solidFill>
                  <a:srgbClr val="586586"/>
                </a:solidFill>
                <a:latin typeface="Outfit"/>
              </a:rPr>
              <a:t>TAG</a:t>
            </a:r>
          </a:p>
        </p:txBody>
      </p:sp>
      <p:sp>
        <p:nvSpPr>
          <p:cNvPr id="8" name="Rectangle 7"/>
          <p:cNvSpPr/>
          <p:nvPr/>
        </p:nvSpPr>
        <p:spPr>
          <a:xfrm>
            <a:off x="562356" y="227685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70992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Pilier Agentic Readiness</a:t>
            </a:r>
          </a:p>
        </p:txBody>
      </p:sp>
      <p:sp>
        <p:nvSpPr>
          <p:cNvPr id="10" name="TextBox 9"/>
          <p:cNvSpPr txBox="1"/>
          <p:nvPr/>
        </p:nvSpPr>
        <p:spPr>
          <a:xfrm>
            <a:off x="3278124" y="170992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 — process pas assez explicite</a:t>
            </a:r>
          </a:p>
        </p:txBody>
      </p:sp>
      <p:sp>
        <p:nvSpPr>
          <p:cNvPr id="11" name="TextBox 10"/>
          <p:cNvSpPr txBox="1"/>
          <p:nvPr/>
        </p:nvSpPr>
        <p:spPr>
          <a:xfrm>
            <a:off x="4988052" y="170992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 — process explicite, rôles définis</a:t>
            </a:r>
          </a:p>
        </p:txBody>
      </p:sp>
      <p:sp>
        <p:nvSpPr>
          <p:cNvPr id="12" name="Rounded Rectangle 11"/>
          <p:cNvSpPr/>
          <p:nvPr/>
        </p:nvSpPr>
        <p:spPr>
          <a:xfrm>
            <a:off x="6789420" y="1874519"/>
            <a:ext cx="1005840" cy="237744"/>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9420" y="1874519"/>
            <a:ext cx="1005840" cy="237744"/>
          </a:xfrm>
          <a:prstGeom prst="rect">
            <a:avLst/>
          </a:prstGeom>
          <a:noFill/>
        </p:spPr>
        <p:txBody>
          <a:bodyPr wrap="square" anchor="ctr" lIns="0" rIns="0" tIns="0" bIns="0">
            <a:noAutofit/>
          </a:bodyPr>
          <a:lstStyle/>
          <a:p>
            <a:pPr algn="ctr"/>
            <a:r>
              <a:rPr sz="700" b="1" i="0">
                <a:solidFill>
                  <a:srgbClr val="FFFFFF"/>
                </a:solidFill>
                <a:latin typeface="Outfit"/>
              </a:rPr>
              <a:t>CONFIRMÉ</a:t>
            </a:r>
          </a:p>
        </p:txBody>
      </p:sp>
      <p:sp>
        <p:nvSpPr>
          <p:cNvPr id="14" name="Rectangle 13"/>
          <p:cNvSpPr/>
          <p:nvPr/>
        </p:nvSpPr>
        <p:spPr>
          <a:xfrm>
            <a:off x="562356" y="291693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35000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Tickets récurrents évités / mois</a:t>
            </a:r>
          </a:p>
        </p:txBody>
      </p:sp>
      <p:sp>
        <p:nvSpPr>
          <p:cNvPr id="16" name="TextBox 15"/>
          <p:cNvSpPr txBox="1"/>
          <p:nvPr/>
        </p:nvSpPr>
        <p:spPr>
          <a:xfrm>
            <a:off x="3278124" y="235000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0</a:t>
            </a:r>
          </a:p>
        </p:txBody>
      </p:sp>
      <p:sp>
        <p:nvSpPr>
          <p:cNvPr id="17" name="TextBox 16"/>
          <p:cNvSpPr txBox="1"/>
          <p:nvPr/>
        </p:nvSpPr>
        <p:spPr>
          <a:xfrm>
            <a:off x="4988052" y="235000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 15</a:t>
            </a:r>
          </a:p>
        </p:txBody>
      </p:sp>
      <p:sp>
        <p:nvSpPr>
          <p:cNvPr id="18" name="Rounded Rectangle 17"/>
          <p:cNvSpPr/>
          <p:nvPr/>
        </p:nvSpPr>
        <p:spPr>
          <a:xfrm>
            <a:off x="6789420" y="2514600"/>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9420" y="2514600"/>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0" name="Rectangle 19"/>
          <p:cNvSpPr/>
          <p:nvPr/>
        </p:nvSpPr>
        <p:spPr>
          <a:xfrm>
            <a:off x="562356" y="3557015"/>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2990087"/>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Temps de triage moyen / ticket</a:t>
            </a:r>
          </a:p>
        </p:txBody>
      </p:sp>
      <p:sp>
        <p:nvSpPr>
          <p:cNvPr id="22" name="TextBox 21"/>
          <p:cNvSpPr txBox="1"/>
          <p:nvPr/>
        </p:nvSpPr>
        <p:spPr>
          <a:xfrm>
            <a:off x="3278124" y="2990087"/>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25 min</a:t>
            </a:r>
          </a:p>
        </p:txBody>
      </p:sp>
      <p:sp>
        <p:nvSpPr>
          <p:cNvPr id="23" name="TextBox 22"/>
          <p:cNvSpPr txBox="1"/>
          <p:nvPr/>
        </p:nvSpPr>
        <p:spPr>
          <a:xfrm>
            <a:off x="4988052" y="2990087"/>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12 min</a:t>
            </a:r>
          </a:p>
        </p:txBody>
      </p:sp>
      <p:sp>
        <p:nvSpPr>
          <p:cNvPr id="24" name="Rounded Rectangle 23"/>
          <p:cNvSpPr/>
          <p:nvPr/>
        </p:nvSpPr>
        <p:spPr>
          <a:xfrm>
            <a:off x="6789420" y="3154679"/>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89420" y="3154679"/>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6" name="Rectangle 25"/>
          <p:cNvSpPr/>
          <p:nvPr/>
        </p:nvSpPr>
        <p:spPr>
          <a:xfrm>
            <a:off x="562356" y="419709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2356" y="363016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Recommandation associée</a:t>
            </a:r>
          </a:p>
        </p:txBody>
      </p:sp>
      <p:sp>
        <p:nvSpPr>
          <p:cNvPr id="28" name="TextBox 27"/>
          <p:cNvSpPr txBox="1"/>
          <p:nvPr/>
        </p:nvSpPr>
        <p:spPr>
          <a:xfrm>
            <a:off x="3278124" y="363016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Documentation-first (runbook)</a:t>
            </a:r>
          </a:p>
        </p:txBody>
      </p:sp>
      <p:sp>
        <p:nvSpPr>
          <p:cNvPr id="29" name="TextBox 28"/>
          <p:cNvSpPr txBox="1"/>
          <p:nvPr/>
        </p:nvSpPr>
        <p:spPr>
          <a:xfrm>
            <a:off x="4988052" y="363016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Agentic-implementation (même fichier amendé)</a:t>
            </a:r>
          </a:p>
        </p:txBody>
      </p:sp>
      <p:sp>
        <p:nvSpPr>
          <p:cNvPr id="30" name="TextBox 29"/>
          <p:cNvSpPr txBox="1"/>
          <p:nvPr/>
        </p:nvSpPr>
        <p:spPr>
          <a:xfrm>
            <a:off x="6789420" y="3630168"/>
            <a:ext cx="1577340" cy="566928"/>
          </a:xfrm>
          <a:prstGeom prst="rect">
            <a:avLst/>
          </a:prstGeom>
          <a:noFill/>
        </p:spPr>
        <p:txBody>
          <a:bodyPr wrap="square" anchor="ctr" lIns="0" rIns="0" tIns="0" bIns="0">
            <a:noAutofit/>
          </a:bodyPr>
          <a:lstStyle/>
          <a:p>
            <a:pPr algn="ctr"/>
            <a:r>
              <a:rPr sz="800" b="0" i="0">
                <a:solidFill>
                  <a:srgbClr val="586586"/>
                </a:solidFill>
                <a:latin typeface="Outfit"/>
              </a:rPr>
              <a:t>—</a:t>
            </a:r>
          </a:p>
        </p:txBody>
      </p:sp>
      <p:sp>
        <p:nvSpPr>
          <p:cNvPr id="31" name="TextBox 30"/>
          <p:cNvSpPr txBox="1"/>
          <p:nvPr/>
        </p:nvSpPr>
        <p:spPr>
          <a:xfrm>
            <a:off x="562356" y="4334256"/>
            <a:ext cx="7804404" cy="54864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point à retenir n'est pas l'ampleur des chiffres (fixture, pas une preuve) mais la discipline de mesure : même instrument aux deux instants, tag de confiance explicite, et un KPI de maturité qui déclenche directement le changement de recommandation.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