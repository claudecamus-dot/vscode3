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11"/>
  </p:notesMasterIdLst>
  <p:sldIdLst>
    <p:sldId id="256" r:id="rId10"/>
    <p:sldId id="257" r:id="rId9"/>
    <p:sldId id="258" r:id="rId8"/>
    <p:sldId id="259" r:id="rId7"/>
    <p:sldId id="260" r:id="rId6"/>
    <p:sldId id="261" r:id="rId5"/>
    <p:sldId id="262" r:id="rId4"/>
    <p:sldId id="263" r:id="rId3"/>
    <p:sldId id="264" r:id="rId2"/>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 id="290" r:id="rId57"/>
    <p:sldId id="291" r:id="rId58"/>
    <p:sldId id="292" r:id="rId59"/>
    <p:sldId id="293" r:id="rId60"/>
    <p:sldId id="294" r:id="rId61"/>
    <p:sldId id="295" r:id="rId62"/>
    <p:sldId id="296" r:id="rId63"/>
  </p:sldIdLst>
  <p:sldSz cx="9144000" cy="5143500" type="screen16x9"/>
  <p:notesSz cx="6858000" cy="9144000"/>
  <p:embeddedFontLst>
    <p:embeddedFont>
      <p:font typeface="Century Gothic" panose="020B0502020202020204" pitchFamily="34" charset="0"/>
      <p:regular r:id="rId12"/>
      <p:bold r:id="rId13"/>
      <p:italic r:id="rId14"/>
      <p:boldItalic r:id="rId15"/>
    </p:embeddedFont>
    <p:embeddedFont>
      <p:font typeface="Helvetica Neue Light" panose="020B0604020202020204" charset="0"/>
      <p:regular r:id="rId16"/>
      <p:bold r:id="rId17"/>
      <p:italic r:id="rId18"/>
      <p:boldItalic r:id="rId19"/>
    </p:embeddedFont>
    <p:embeddedFont>
      <p:font typeface="Outfit" panose="020B0604020202020204" charset="0"/>
      <p:regular r:id="rId20"/>
      <p:bold r:id="rId21"/>
    </p:embeddedFont>
    <p:embeddedFont>
      <p:font typeface="Outfit Light" panose="020B0604020202020204" charset="0"/>
      <p:regular r:id="rId22"/>
      <p:bold r:id="rId23"/>
    </p:embeddedFont>
    <p:embeddedFont>
      <p:font typeface="Outfit Medium" panose="020B0604020202020204" charset="0"/>
      <p:regular r:id="rId24"/>
      <p:bold r:id="rId25"/>
    </p:embeddedFont>
    <p:embeddedFont>
      <p:font typeface="Outfit SemiBold"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15:clr>
            <a:srgbClr val="A4A3A4"/>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font" Target="fonts/font6.fntdata"/><Relationship Id="rId18" Type="http://schemas.openxmlformats.org/officeDocument/2006/relationships/font" Target="fonts/font7.fntdata"/><Relationship Id="rId19" Type="http://schemas.openxmlformats.org/officeDocument/2006/relationships/font" Target="fonts/font8.fntdata"/><Relationship Id="rId20" Type="http://schemas.openxmlformats.org/officeDocument/2006/relationships/font" Target="fonts/font9.fntdata"/><Relationship Id="rId21" Type="http://schemas.openxmlformats.org/officeDocument/2006/relationships/font" Target="fonts/font10.fntdata"/><Relationship Id="rId22" Type="http://schemas.openxmlformats.org/officeDocument/2006/relationships/font" Target="fonts/font11.fntdata"/><Relationship Id="rId23" Type="http://schemas.openxmlformats.org/officeDocument/2006/relationships/font" Target="fonts/font12.fntdata"/><Relationship Id="rId24" Type="http://schemas.openxmlformats.org/officeDocument/2006/relationships/font" Target="fonts/font13.fntdata"/><Relationship Id="rId25" Type="http://schemas.openxmlformats.org/officeDocument/2006/relationships/font" Target="fonts/font14.fntdata"/><Relationship Id="rId26" Type="http://schemas.openxmlformats.org/officeDocument/2006/relationships/font" Target="fonts/font15.fntdata"/><Relationship Id="rId27" Type="http://schemas.openxmlformats.org/officeDocument/2006/relationships/font" Target="fonts/font16.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 Id="rId58" Type="http://schemas.openxmlformats.org/officeDocument/2006/relationships/slide" Target="slides/slide36.xml"/><Relationship Id="rId59" Type="http://schemas.openxmlformats.org/officeDocument/2006/relationships/slide" Target="slides/slide37.xml"/><Relationship Id="rId60" Type="http://schemas.openxmlformats.org/officeDocument/2006/relationships/slide" Target="slides/slide38.xml"/><Relationship Id="rId61" Type="http://schemas.openxmlformats.org/officeDocument/2006/relationships/slide" Target="slides/slide39.xml"/><Relationship Id="rId62" Type="http://schemas.openxmlformats.org/officeDocument/2006/relationships/slide" Target="slides/slide40.xml"/><Relationship Id="rId63"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chemeClr val="accent6"/>
              </a:buClr>
              <a:buSzPts val="1400"/>
              <a:buFont typeface="Century Gothic"/>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0"/>
              </a:spcBef>
              <a:spcAft>
                <a:spcPts val="0"/>
              </a:spcAft>
              <a:buClr>
                <a:schemeClr val="accent6"/>
              </a:buClr>
              <a:buSzPts val="1200"/>
              <a:buFont typeface="Century Gothic"/>
              <a:buChar char="&gt;"/>
              <a:defRPr sz="1200" b="0" i="0" u="none" strike="noStrike" cap="none">
                <a:solidFill>
                  <a:schemeClr val="dk1"/>
                </a:solidFill>
                <a:latin typeface="Century Gothic"/>
                <a:ea typeface="Century Gothic"/>
                <a:cs typeface="Century Gothic"/>
                <a:sym typeface="Century Gothic"/>
              </a:defRPr>
            </a:lvl2pPr>
            <a:lvl3pPr marL="1371600" marR="0" lvl="2" indent="-292100" algn="l" rtl="0">
              <a:lnSpc>
                <a:spcPct val="100000"/>
              </a:lnSpc>
              <a:spcBef>
                <a:spcPts val="0"/>
              </a:spcBef>
              <a:spcAft>
                <a:spcPts val="0"/>
              </a:spcAft>
              <a:buClr>
                <a:schemeClr val="accent6"/>
              </a:buClr>
              <a:buSzPts val="1000"/>
              <a:buFont typeface="Century Gothic"/>
              <a:buChar char="+"/>
              <a:defRPr sz="1000" b="0" i="0" u="none" strike="noStrike" cap="none">
                <a:solidFill>
                  <a:schemeClr val="dk1"/>
                </a:solidFill>
                <a:latin typeface="Century Gothic"/>
                <a:ea typeface="Century Gothic"/>
                <a:cs typeface="Century Gothic"/>
                <a:sym typeface="Century Gothic"/>
              </a:defRPr>
            </a:lvl3pPr>
            <a:lvl4pPr marL="1828800" marR="0" lvl="3" indent="-285750" algn="l" rtl="0">
              <a:lnSpc>
                <a:spcPct val="100000"/>
              </a:lnSpc>
              <a:spcBef>
                <a:spcPts val="0"/>
              </a:spcBef>
              <a:spcAft>
                <a:spcPts val="0"/>
              </a:spcAft>
              <a:buClr>
                <a:schemeClr val="accent6"/>
              </a:buClr>
              <a:buSzPts val="900"/>
              <a:buFont typeface="Courier New"/>
              <a:buChar char="o"/>
              <a:defRPr sz="900" b="0" i="0" u="none" strike="noStrike" cap="none">
                <a:solidFill>
                  <a:schemeClr val="dk1"/>
                </a:solidFill>
                <a:latin typeface="Century Gothic"/>
                <a:ea typeface="Century Gothic"/>
                <a:cs typeface="Century Gothic"/>
                <a:sym typeface="Century Gothic"/>
              </a:defRPr>
            </a:lvl4pPr>
            <a:lvl5pPr marL="2286000" marR="0" lvl="4" indent="-279400" algn="l" rtl="0">
              <a:lnSpc>
                <a:spcPct val="100000"/>
              </a:lnSpc>
              <a:spcBef>
                <a:spcPts val="0"/>
              </a:spcBef>
              <a:spcAft>
                <a:spcPts val="0"/>
              </a:spcAft>
              <a:buClr>
                <a:schemeClr val="accent6"/>
              </a:buClr>
              <a:buSzPts val="800"/>
              <a:buFont typeface="Century Gothic"/>
              <a:buChar char="○"/>
              <a:defRPr sz="800" b="0" i="0" u="none" strike="noStrike" cap="none">
                <a:solidFill>
                  <a:schemeClr val="dk1"/>
                </a:solidFill>
                <a:latin typeface="Century Gothic"/>
                <a:ea typeface="Century Gothic"/>
                <a:cs typeface="Century Gothic"/>
                <a:sym typeface="Century Gothic"/>
              </a:defRPr>
            </a:lvl5pPr>
            <a:lvl6pPr marL="2743200" marR="0" lvl="5" indent="-273050" algn="l" rtl="0">
              <a:lnSpc>
                <a:spcPct val="100000"/>
              </a:lnSpc>
              <a:spcBef>
                <a:spcPts val="0"/>
              </a:spcBef>
              <a:spcAft>
                <a:spcPts val="0"/>
              </a:spcAft>
              <a:buClr>
                <a:schemeClr val="accent6"/>
              </a:buClr>
              <a:buSzPts val="700"/>
              <a:buFont typeface="Century Gothic"/>
              <a:buChar char="○"/>
              <a:defRPr sz="700" b="0" i="0" u="none" strike="noStrike" cap="none">
                <a:solidFill>
                  <a:schemeClr val="dk1"/>
                </a:solidFill>
                <a:latin typeface="Century Gothic"/>
                <a:ea typeface="Century Gothic"/>
                <a:cs typeface="Century Gothic"/>
                <a:sym typeface="Century Gothic"/>
              </a:defRPr>
            </a:lvl6pPr>
            <a:lvl7pPr marL="3200400" marR="0" lvl="6"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7pPr>
            <a:lvl8pPr marL="3657600" marR="0" lvl="7"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8pPr>
            <a:lvl9pPr marL="4114800" marR="0" lvl="8"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accent6"/>
                </a:solidFill>
                <a:latin typeface="Century Gothic"/>
                <a:ea typeface="Century Gothic"/>
                <a:cs typeface="Century Gothic"/>
                <a:sym typeface="Century Gothic"/>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06 - Slide vide">
  <p:cSld name="06 - Slide vide">
    <p:bg>
      <p:bgPr>
        <a:solidFill>
          <a:schemeClr val="lt1"/>
        </a:solidFill>
        <a:effectLst/>
      </p:bgPr>
    </p:bg>
    <p:spTree>
      <p:nvGrpSpPr>
        <p:cNvPr id="1" name="Shape 18"/>
        <p:cNvGrpSpPr/>
        <p:nvPr/>
      </p:nvGrpSpPr>
      <p:grpSpPr>
        <a:xfrm>
          <a:off x="0" y="0"/>
          <a:ext cx="0" cy="0"/>
          <a:chOff x="0" y="0"/>
          <a:chExt cx="0" cy="0"/>
        </a:xfrm>
      </p:grpSpPr>
      <p:grpSp>
        <p:nvGrpSpPr>
          <p:cNvPr id="19" name="Google Shape;19;p2"/>
          <p:cNvGrpSpPr/>
          <p:nvPr/>
        </p:nvGrpSpPr>
        <p:grpSpPr>
          <a:xfrm>
            <a:off x="276301" y="292130"/>
            <a:ext cx="170063" cy="166438"/>
            <a:chOff x="6838242" y="518225"/>
            <a:chExt cx="1247708" cy="1221114"/>
          </a:xfrm>
        </p:grpSpPr>
        <p:sp>
          <p:nvSpPr>
            <p:cNvPr id="20" name="Google Shape;20;p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 name="Google Shape;21;p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 name="Google Shape;22;p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3" name="Google Shape;23;p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 name="Google Shape;24;p2"/>
          <p:cNvCxnSpPr>
            <a:stCxn id="2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 name="Google Shape;26;p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7" name="Google Shape;27;p2"/>
          <p:cNvCxnSpPr>
            <a:endCxn id="2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 name="Google Shape;28;p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 name="Google Shape;25;p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9" name="Google Shape;29;p2"/>
          <p:cNvCxnSpPr>
            <a:stCxn id="28" idx="2"/>
            <a:endCxn id="2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30" name="Google Shape;30;p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1 - Titre, sous-titre et contenu">
  <p:cSld name="01 - Titre, sous-titre et contenu">
    <p:spTree>
      <p:nvGrpSpPr>
        <p:cNvPr id="1" name="Shape 31"/>
        <p:cNvGrpSpPr/>
        <p:nvPr/>
      </p:nvGrpSpPr>
      <p:grpSpPr>
        <a:xfrm>
          <a:off x="0" y="0"/>
          <a:ext cx="0" cy="0"/>
          <a:chOff x="0" y="0"/>
          <a:chExt cx="0" cy="0"/>
        </a:xfrm>
      </p:grpSpPr>
      <p:sp>
        <p:nvSpPr>
          <p:cNvPr id="32" name="Google Shape;32;p3"/>
          <p:cNvSpPr txBox="1">
            <a:spLocks noGrp="1"/>
          </p:cNvSpPr>
          <p:nvPr>
            <p:ph type="body" idx="1"/>
          </p:nvPr>
        </p:nvSpPr>
        <p:spPr>
          <a:xfrm>
            <a:off x="562825" y="1273150"/>
            <a:ext cx="7957800" cy="3596100"/>
          </a:xfrm>
          <a:prstGeom prst="rect">
            <a:avLst/>
          </a:prstGeom>
          <a:noFill/>
          <a:ln>
            <a:noFill/>
          </a:ln>
        </p:spPr>
        <p:txBody>
          <a:bodyPr spcFirstLastPara="1" wrap="square" lIns="0" tIns="0" rIns="0" bIns="0" anchor="ctr" anchorCtr="0">
            <a:norm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3" name="Google Shape;33;p3"/>
          <p:cNvSpPr txBox="1">
            <a:spLocks noGrp="1"/>
          </p:cNvSpPr>
          <p:nvPr>
            <p:ph type="subTitle" idx="2"/>
          </p:nvPr>
        </p:nvSpPr>
        <p:spPr>
          <a:xfrm>
            <a:off x="567950" y="773825"/>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9pPr>
          </a:lstStyle>
          <a:p>
            <a:endParaRPr/>
          </a:p>
        </p:txBody>
      </p:sp>
      <p:sp>
        <p:nvSpPr>
          <p:cNvPr id="34" name="Google Shape;34;p3"/>
          <p:cNvSpPr txBox="1">
            <a:spLocks noGrp="1"/>
          </p:cNvSpPr>
          <p:nvPr>
            <p:ph type="title"/>
          </p:nvPr>
        </p:nvSpPr>
        <p:spPr>
          <a:xfrm>
            <a:off x="562825" y="361400"/>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50 - Chapitre [1]">
  <p:cSld name="50 - Chapitre [1]">
    <p:bg>
      <p:bgPr>
        <a:solidFill>
          <a:schemeClr val="lt1"/>
        </a:solidFill>
        <a:effectLst/>
      </p:bgPr>
    </p:bg>
    <p:spTree>
      <p:nvGrpSpPr>
        <p:cNvPr id="1" name="Shape 35"/>
        <p:cNvGrpSpPr/>
        <p:nvPr/>
      </p:nvGrpSpPr>
      <p:grpSpPr>
        <a:xfrm>
          <a:off x="0" y="0"/>
          <a:ext cx="0" cy="0"/>
          <a:chOff x="0" y="0"/>
          <a:chExt cx="0" cy="0"/>
        </a:xfrm>
      </p:grpSpPr>
      <p:sp>
        <p:nvSpPr>
          <p:cNvPr id="36" name="Google Shape;36;p4"/>
          <p:cNvSpPr/>
          <p:nvPr/>
        </p:nvSpPr>
        <p:spPr>
          <a:xfrm>
            <a:off x="1396875" y="1659950"/>
            <a:ext cx="2560500" cy="25605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 name="Google Shape;37;p4"/>
          <p:cNvSpPr/>
          <p:nvPr/>
        </p:nvSpPr>
        <p:spPr>
          <a:xfrm>
            <a:off x="3457625" y="1226750"/>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sp>
        <p:nvSpPr>
          <p:cNvPr id="38" name="Google Shape;38;p4"/>
          <p:cNvSpPr txBox="1">
            <a:spLocks noGrp="1"/>
          </p:cNvSpPr>
          <p:nvPr>
            <p:ph type="title"/>
          </p:nvPr>
        </p:nvSpPr>
        <p:spPr>
          <a:xfrm>
            <a:off x="4295825" y="1918050"/>
            <a:ext cx="4164300" cy="1810200"/>
          </a:xfrm>
          <a:prstGeom prst="rect">
            <a:avLst/>
          </a:prstGeom>
          <a:noFill/>
          <a:ln>
            <a:noFill/>
          </a:ln>
        </p:spPr>
        <p:txBody>
          <a:bodyPr spcFirstLastPara="1" wrap="square" lIns="91425" tIns="91425" rIns="91425" bIns="91425" anchor="ctr" anchorCtr="0">
            <a:no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39" name="Google Shape;39;p4"/>
          <p:cNvGrpSpPr/>
          <p:nvPr/>
        </p:nvGrpSpPr>
        <p:grpSpPr>
          <a:xfrm>
            <a:off x="3171776" y="1360130"/>
            <a:ext cx="170063" cy="166438"/>
            <a:chOff x="6838242" y="518225"/>
            <a:chExt cx="1247708" cy="1221114"/>
          </a:xfrm>
        </p:grpSpPr>
        <p:sp>
          <p:nvSpPr>
            <p:cNvPr id="40" name="Google Shape;40;p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1" name="Google Shape;41;p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2" name="Google Shape;42;p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43" name="Google Shape;43;p4"/>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44" name="Google Shape;44;p4"/>
          <p:cNvCxnSpPr>
            <a:stCxn id="45"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46" name="Google Shape;46;p4"/>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7" name="Google Shape;47;p4"/>
          <p:cNvCxnSpPr>
            <a:endCxn id="46"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48" name="Google Shape;48;p4"/>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5" name="Google Shape;45;p4"/>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9" name="Google Shape;49;p4"/>
          <p:cNvCxnSpPr>
            <a:stCxn id="48" idx="2"/>
            <a:endCxn id="46"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50" name="Google Shape;50;p4"/>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51" name="Google Shape;51;p4"/>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52" name="Google Shape;52;p4"/>
          <p:cNvSpPr txBox="1"/>
          <p:nvPr/>
        </p:nvSpPr>
        <p:spPr>
          <a:xfrm>
            <a:off x="2277075" y="23278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53" name="Google Shape;53;p4"/>
          <p:cNvSpPr txBox="1">
            <a:spLocks noGrp="1"/>
          </p:cNvSpPr>
          <p:nvPr>
            <p:ph type="body" idx="1"/>
          </p:nvPr>
        </p:nvSpPr>
        <p:spPr>
          <a:xfrm>
            <a:off x="3457650" y="1226600"/>
            <a:ext cx="499500" cy="433200"/>
          </a:xfrm>
          <a:prstGeom prst="rect">
            <a:avLst/>
          </a:prstGeom>
          <a:noFill/>
          <a:ln>
            <a:noFill/>
          </a:ln>
        </p:spPr>
        <p:txBody>
          <a:bodyPr spcFirstLastPara="1" wrap="square" lIns="0" tIns="0" rIns="0" bIns="0" anchor="ctr" anchorCtr="0">
            <a:noAutofit/>
          </a:bodyPr>
          <a:lstStyle>
            <a:lvl1pPr marL="457200" marR="0" lvl="0"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ctr"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ctr"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54" name="Google Shape;54;p4"/>
          <p:cNvSpPr/>
          <p:nvPr/>
        </p:nvSpPr>
        <p:spPr>
          <a:xfrm rot="-5400000">
            <a:off x="3014525" y="1216850"/>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Tree>
  </p:cSld>
  <p:clrMapOvr>
    <a:masterClrMapping/>
  </p:clrMapOvr>
  <p:extLst>
    <p:ext uri="{DCECCB84-F9BA-43D5-87BE-67443E8EF086}">
      <p15:sldGuideLst xmlns:p15="http://schemas.microsoft.com/office/powerpoint/2012/main">
        <p15:guide id="1" pos="3799">
          <p15:clr>
            <a:srgbClr val="FA7B17"/>
          </p15:clr>
        </p15:guide>
        <p15:guide id="2" pos="5625">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2 - Titre et contenu">
  <p:cSld name="02 - Titre et contenu">
    <p:spTree>
      <p:nvGrpSpPr>
        <p:cNvPr id="1" name="Shape 55"/>
        <p:cNvGrpSpPr/>
        <p:nvPr/>
      </p:nvGrpSpPr>
      <p:grpSpPr>
        <a:xfrm>
          <a:off x="0" y="0"/>
          <a:ext cx="0" cy="0"/>
          <a:chOff x="0" y="0"/>
          <a:chExt cx="0" cy="0"/>
        </a:xfrm>
      </p:grpSpPr>
      <p:sp>
        <p:nvSpPr>
          <p:cNvPr id="56" name="Google Shape;56;p5"/>
          <p:cNvSpPr txBox="1">
            <a:spLocks noGrp="1"/>
          </p:cNvSpPr>
          <p:nvPr>
            <p:ph type="body" idx="1"/>
          </p:nvPr>
        </p:nvSpPr>
        <p:spPr>
          <a:xfrm>
            <a:off x="578425" y="817575"/>
            <a:ext cx="7929000" cy="4046700"/>
          </a:xfrm>
          <a:prstGeom prst="rect">
            <a:avLst/>
          </a:prstGeom>
          <a:noFill/>
          <a:ln>
            <a:noFill/>
          </a:ln>
        </p:spPr>
        <p:txBody>
          <a:bodyPr spcFirstLastPara="1" wrap="square" lIns="91425"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57" name="Google Shape;57;p5"/>
          <p:cNvSpPr txBox="1">
            <a:spLocks noGrp="1"/>
          </p:cNvSpPr>
          <p:nvPr>
            <p:ph type="title"/>
          </p:nvPr>
        </p:nvSpPr>
        <p:spPr>
          <a:xfrm>
            <a:off x="562500" y="361400"/>
            <a:ext cx="792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03 - Titre et sous-titre">
  <p:cSld name="03 - Titre et sous-titre">
    <p:spTree>
      <p:nvGrpSpPr>
        <p:cNvPr id="1" name="Shape 58"/>
        <p:cNvGrpSpPr/>
        <p:nvPr/>
      </p:nvGrpSpPr>
      <p:grpSpPr>
        <a:xfrm>
          <a:off x="0" y="0"/>
          <a:ext cx="0" cy="0"/>
          <a:chOff x="0" y="0"/>
          <a:chExt cx="0" cy="0"/>
        </a:xfrm>
      </p:grpSpPr>
      <p:sp>
        <p:nvSpPr>
          <p:cNvPr id="59" name="Google Shape;59;p6"/>
          <p:cNvSpPr txBox="1">
            <a:spLocks noGrp="1"/>
          </p:cNvSpPr>
          <p:nvPr>
            <p:ph type="subTitle" idx="1"/>
          </p:nvPr>
        </p:nvSpPr>
        <p:spPr>
          <a:xfrm>
            <a:off x="571500" y="7791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60" name="Google Shape;60;p6"/>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04 - Titre seul">
  <p:cSld name="04 - Titre seul">
    <p:spTree>
      <p:nvGrpSpPr>
        <p:cNvPr id="1" name="Shape 61"/>
        <p:cNvGrpSpPr/>
        <p:nvPr/>
      </p:nvGrpSpPr>
      <p:grpSpPr>
        <a:xfrm>
          <a:off x="0" y="0"/>
          <a:ext cx="0" cy="0"/>
          <a:chOff x="0" y="0"/>
          <a:chExt cx="0" cy="0"/>
        </a:xfrm>
      </p:grpSpPr>
      <p:sp>
        <p:nvSpPr>
          <p:cNvPr id="62" name="Google Shape;62;p7"/>
          <p:cNvSpPr txBox="1">
            <a:spLocks noGrp="1"/>
          </p:cNvSpPr>
          <p:nvPr>
            <p:ph type="title"/>
          </p:nvPr>
        </p:nvSpPr>
        <p:spPr>
          <a:xfrm>
            <a:off x="562500"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05 - Focus">
  <p:cSld name="05 - Focus">
    <p:bg>
      <p:bgPr>
        <a:solidFill>
          <a:schemeClr val="dk2"/>
        </a:solidFill>
        <a:effectLst/>
      </p:bgPr>
    </p:bg>
    <p:spTree>
      <p:nvGrpSpPr>
        <p:cNvPr id="1" name="Shape 63"/>
        <p:cNvGrpSpPr/>
        <p:nvPr/>
      </p:nvGrpSpPr>
      <p:grpSpPr>
        <a:xfrm>
          <a:off x="0" y="0"/>
          <a:ext cx="0" cy="0"/>
          <a:chOff x="0" y="0"/>
          <a:chExt cx="0" cy="0"/>
        </a:xfrm>
      </p:grpSpPr>
      <p:sp>
        <p:nvSpPr>
          <p:cNvPr id="64" name="Google Shape;64;p8"/>
          <p:cNvSpPr/>
          <p:nvPr/>
        </p:nvSpPr>
        <p:spPr>
          <a:xfrm>
            <a:off x="185625" y="210050"/>
            <a:ext cx="190500" cy="175800"/>
          </a:xfrm>
          <a:prstGeom prst="rect">
            <a:avLst/>
          </a:prstGeom>
          <a:solidFill>
            <a:schemeClr val="dk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5" name="Google Shape;65;p8"/>
          <p:cNvSpPr/>
          <p:nvPr/>
        </p:nvSpPr>
        <p:spPr>
          <a:xfrm>
            <a:off x="276300" y="292125"/>
            <a:ext cx="8591400" cy="4571700"/>
          </a:xfrm>
          <a:prstGeom prst="roundRect">
            <a:avLst>
              <a:gd name="adj" fmla="val 3551"/>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6" name="Google Shape;66;p8"/>
          <p:cNvSpPr/>
          <p:nvPr/>
        </p:nvSpPr>
        <p:spPr>
          <a:xfrm rot="-5400000">
            <a:off x="-1143306" y="34836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lt1"/>
                </a:solidFill>
                <a:latin typeface="Outfit Medium"/>
                <a:ea typeface="Outfit Medium"/>
                <a:cs typeface="Outfit Medium"/>
                <a:sym typeface="Outfit Medium"/>
              </a:rPr>
              <a:t>OCTO I PART OF ACCENTURE</a:t>
            </a:r>
            <a:r>
              <a:rPr lang="en-US" sz="500" b="0" i="0" u="none" strike="noStrike" cap="none">
                <a:solidFill>
                  <a:schemeClr val="lt1"/>
                </a:solidFill>
                <a:latin typeface="Outfit"/>
                <a:ea typeface="Outfit"/>
                <a:cs typeface="Outfit"/>
                <a:sym typeface="Outfit"/>
              </a:rPr>
              <a:t>© 202</a:t>
            </a:r>
            <a:r>
              <a:rPr lang="en-US" sz="500">
                <a:solidFill>
                  <a:schemeClr val="lt1"/>
                </a:solidFill>
                <a:latin typeface="Outfit"/>
                <a:ea typeface="Outfit"/>
                <a:cs typeface="Outfit"/>
                <a:sym typeface="Outfit"/>
              </a:rPr>
              <a:t>6</a:t>
            </a:r>
            <a:r>
              <a:rPr lang="en-US" sz="500" b="0" i="0" u="none" strike="noStrike" cap="none">
                <a:solidFill>
                  <a:schemeClr val="lt1"/>
                </a:solidFill>
                <a:latin typeface="Outfit"/>
                <a:ea typeface="Outfit"/>
                <a:cs typeface="Outfit"/>
                <a:sym typeface="Outfit"/>
              </a:rPr>
              <a:t> - All rights reserved</a:t>
            </a:r>
            <a:endParaRPr sz="500" b="0" i="0" u="none" strike="noStrike" cap="none">
              <a:solidFill>
                <a:schemeClr val="lt1"/>
              </a:solidFill>
              <a:latin typeface="Outfit Medium"/>
              <a:ea typeface="Outfit Medium"/>
              <a:cs typeface="Outfit Medium"/>
              <a:sym typeface="Outfit Medium"/>
            </a:endParaRPr>
          </a:p>
        </p:txBody>
      </p:sp>
      <p:sp>
        <p:nvSpPr>
          <p:cNvPr id="67" name="Google Shape;67;p8"/>
          <p:cNvSpPr txBox="1">
            <a:spLocks noGrp="1"/>
          </p:cNvSpPr>
          <p:nvPr>
            <p:ph type="subTitle" idx="1"/>
          </p:nvPr>
        </p:nvSpPr>
        <p:spPr>
          <a:xfrm>
            <a:off x="571500" y="778000"/>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68" name="Google Shape;68;p8"/>
          <p:cNvSpPr txBox="1">
            <a:spLocks noGrp="1"/>
          </p:cNvSpPr>
          <p:nvPr>
            <p:ph type="title"/>
          </p:nvPr>
        </p:nvSpPr>
        <p:spPr>
          <a:xfrm>
            <a:off x="563300" y="361275"/>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9pPr>
          </a:lstStyle>
          <a:p>
            <a:endParaRPr/>
          </a:p>
        </p:txBody>
      </p:sp>
      <p:sp>
        <p:nvSpPr>
          <p:cNvPr id="69" name="Google Shape;69;p8"/>
          <p:cNvSpPr txBox="1">
            <a:spLocks noGrp="1"/>
          </p:cNvSpPr>
          <p:nvPr>
            <p:ph type="body" idx="2"/>
          </p:nvPr>
        </p:nvSpPr>
        <p:spPr>
          <a:xfrm>
            <a:off x="571500" y="1273150"/>
            <a:ext cx="7884000" cy="3590700"/>
          </a:xfrm>
          <a:prstGeom prst="rect">
            <a:avLst/>
          </a:prstGeom>
          <a:noFill/>
          <a:ln>
            <a:noFill/>
          </a:ln>
        </p:spPr>
        <p:txBody>
          <a:bodyPr spcFirstLastPara="1" wrap="square" lIns="0" tIns="180000"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70" name="Google Shape;70;p8"/>
          <p:cNvGrpSpPr/>
          <p:nvPr/>
        </p:nvGrpSpPr>
        <p:grpSpPr>
          <a:xfrm>
            <a:off x="89501" y="125680"/>
            <a:ext cx="8793074" cy="4738970"/>
            <a:chOff x="89501" y="125680"/>
            <a:chExt cx="8793074" cy="4738970"/>
          </a:xfrm>
        </p:grpSpPr>
        <p:grpSp>
          <p:nvGrpSpPr>
            <p:cNvPr id="71" name="Google Shape;71;p8"/>
            <p:cNvGrpSpPr/>
            <p:nvPr/>
          </p:nvGrpSpPr>
          <p:grpSpPr>
            <a:xfrm>
              <a:off x="89501" y="125680"/>
              <a:ext cx="170063" cy="166438"/>
              <a:chOff x="6838242" y="518225"/>
              <a:chExt cx="1247708" cy="1221114"/>
            </a:xfrm>
          </p:grpSpPr>
          <p:sp>
            <p:nvSpPr>
              <p:cNvPr id="72" name="Google Shape;72;p8"/>
              <p:cNvSpPr/>
              <p:nvPr/>
            </p:nvSpPr>
            <p:spPr>
              <a:xfrm>
                <a:off x="7870550" y="5182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3" name="Google Shape;73;p8"/>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4" name="Google Shape;74;p8"/>
              <p:cNvSpPr/>
              <p:nvPr/>
            </p:nvSpPr>
            <p:spPr>
              <a:xfrm>
                <a:off x="7483200" y="9061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75" name="Google Shape;75;p8"/>
            <p:cNvSpPr/>
            <p:nvPr/>
          </p:nvSpPr>
          <p:spPr>
            <a:xfrm>
              <a:off x="8441325" y="4438950"/>
              <a:ext cx="425700" cy="4257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76" name="Google Shape;76;p8"/>
            <p:cNvGrpSpPr/>
            <p:nvPr/>
          </p:nvGrpSpPr>
          <p:grpSpPr>
            <a:xfrm>
              <a:off x="8383075" y="4575725"/>
              <a:ext cx="499500" cy="228600"/>
              <a:chOff x="8383075" y="4575725"/>
              <a:chExt cx="499500" cy="228600"/>
            </a:xfrm>
          </p:grpSpPr>
          <p:sp>
            <p:nvSpPr>
              <p:cNvPr id="77" name="Google Shape;77;p8"/>
              <p:cNvSpPr txBox="1"/>
              <p:nvPr/>
            </p:nvSpPr>
            <p:spPr>
              <a:xfrm>
                <a:off x="8383075" y="45757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78" name="Google Shape;78;p8"/>
              <p:cNvCxnSpPr>
                <a:stCxn id="79" idx="2"/>
              </p:cNvCxnSpPr>
              <p:nvPr/>
            </p:nvCxnSpPr>
            <p:spPr>
              <a:xfrm>
                <a:off x="8599834" y="4788444"/>
                <a:ext cx="191400" cy="0"/>
              </a:xfrm>
              <a:prstGeom prst="straightConnector1">
                <a:avLst/>
              </a:prstGeom>
              <a:noFill/>
              <a:ln w="9525" cap="flat" cmpd="sng">
                <a:solidFill>
                  <a:srgbClr val="0E2356"/>
                </a:solidFill>
                <a:prstDash val="solid"/>
                <a:round/>
                <a:headEnd type="none" w="sm" len="sm"/>
                <a:tailEnd type="none" w="sm" len="sm"/>
              </a:ln>
            </p:spPr>
          </p:cxnSp>
          <p:sp>
            <p:nvSpPr>
              <p:cNvPr id="80" name="Google Shape;80;p8"/>
              <p:cNvSpPr/>
              <p:nvPr/>
            </p:nvSpPr>
            <p:spPr>
              <a:xfrm>
                <a:off x="8586528" y="45915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1" name="Google Shape;81;p8"/>
              <p:cNvCxnSpPr>
                <a:endCxn id="80" idx="2"/>
              </p:cNvCxnSpPr>
              <p:nvPr/>
            </p:nvCxnSpPr>
            <p:spPr>
              <a:xfrm rot="10800000">
                <a:off x="8787104" y="4694497"/>
                <a:ext cx="0" cy="98400"/>
              </a:xfrm>
              <a:prstGeom prst="straightConnector1">
                <a:avLst/>
              </a:prstGeom>
              <a:noFill/>
              <a:ln w="9525" cap="flat" cmpd="sng">
                <a:solidFill>
                  <a:srgbClr val="0E2356"/>
                </a:solidFill>
                <a:prstDash val="solid"/>
                <a:round/>
                <a:headEnd type="none" w="sm" len="sm"/>
                <a:tailEnd type="none" w="sm" len="sm"/>
              </a:ln>
            </p:spPr>
          </p:cxnSp>
          <p:sp>
            <p:nvSpPr>
              <p:cNvPr id="82" name="Google Shape;82;p8"/>
              <p:cNvSpPr/>
              <p:nvPr/>
            </p:nvSpPr>
            <p:spPr>
              <a:xfrm rot="-5400000">
                <a:off x="8499018" y="45938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9" name="Google Shape;79;p8"/>
              <p:cNvSpPr/>
              <p:nvPr/>
            </p:nvSpPr>
            <p:spPr>
              <a:xfrm rot="-5400000" flipH="1">
                <a:off x="8499018" y="45899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3" name="Google Shape;83;p8"/>
              <p:cNvCxnSpPr>
                <a:stCxn id="82" idx="2"/>
                <a:endCxn id="80" idx="0"/>
              </p:cNvCxnSpPr>
              <p:nvPr/>
            </p:nvCxnSpPr>
            <p:spPr>
              <a:xfrm>
                <a:off x="8599704" y="4591602"/>
                <a:ext cx="88500" cy="0"/>
              </a:xfrm>
              <a:prstGeom prst="straightConnector1">
                <a:avLst/>
              </a:prstGeom>
              <a:noFill/>
              <a:ln w="9525" cap="flat" cmpd="sng">
                <a:solidFill>
                  <a:srgbClr val="0E2356"/>
                </a:solidFill>
                <a:prstDash val="solid"/>
                <a:round/>
                <a:headEnd type="none" w="sm" len="sm"/>
                <a:tailEnd type="none" w="sm" len="sm"/>
              </a:ln>
            </p:spPr>
          </p:cxn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07 - Slide vide fond foncé">
  <p:cSld name="07 - Slide vide fond foncé">
    <p:bg>
      <p:bgPr>
        <a:solidFill>
          <a:schemeClr val="lt1"/>
        </a:solidFill>
        <a:effectLst/>
      </p:bgPr>
    </p:bg>
    <p:spTree>
      <p:nvGrpSpPr>
        <p:cNvPr id="1" name="Shape 84"/>
        <p:cNvGrpSpPr/>
        <p:nvPr/>
      </p:nvGrpSpPr>
      <p:grpSpPr>
        <a:xfrm>
          <a:off x="0" y="0"/>
          <a:ext cx="0" cy="0"/>
          <a:chOff x="0" y="0"/>
          <a:chExt cx="0" cy="0"/>
        </a:xfrm>
      </p:grpSpPr>
      <p:grpSp>
        <p:nvGrpSpPr>
          <p:cNvPr id="85" name="Google Shape;85;p9"/>
          <p:cNvGrpSpPr/>
          <p:nvPr/>
        </p:nvGrpSpPr>
        <p:grpSpPr>
          <a:xfrm>
            <a:off x="276301" y="292130"/>
            <a:ext cx="170063" cy="166438"/>
            <a:chOff x="6838242" y="518225"/>
            <a:chExt cx="1247708" cy="1221114"/>
          </a:xfrm>
        </p:grpSpPr>
        <p:sp>
          <p:nvSpPr>
            <p:cNvPr id="86" name="Google Shape;86;p9"/>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7" name="Google Shape;87;p9"/>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8" name="Google Shape;88;p9"/>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89" name="Google Shape;89;p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90" name="Google Shape;90;p9"/>
          <p:cNvCxnSpPr>
            <a:stCxn id="91"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92" name="Google Shape;92;p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3" name="Google Shape;93;p9"/>
          <p:cNvCxnSpPr>
            <a:endCxn id="92"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94" name="Google Shape;94;p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1" name="Google Shape;91;p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5" name="Google Shape;95;p9"/>
          <p:cNvCxnSpPr>
            <a:stCxn id="94" idx="2"/>
            <a:endCxn id="92"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96" name="Google Shape;96;p9"/>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
        <p:nvSpPr>
          <p:cNvPr id="97" name="Google Shape;97;p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0 - Couverture [1]">
  <p:cSld name="40 - Couverture [1]">
    <p:bg>
      <p:bgPr>
        <a:solidFill>
          <a:schemeClr val="lt1"/>
        </a:solidFill>
        <a:effectLst/>
      </p:bgPr>
    </p:bg>
    <p:spTree>
      <p:nvGrpSpPr>
        <p:cNvPr id="1" name="Shape 98"/>
        <p:cNvGrpSpPr/>
        <p:nvPr/>
      </p:nvGrpSpPr>
      <p:grpSpPr>
        <a:xfrm>
          <a:off x="0" y="0"/>
          <a:ext cx="0" cy="0"/>
          <a:chOff x="0" y="0"/>
          <a:chExt cx="0" cy="0"/>
        </a:xfrm>
      </p:grpSpPr>
      <p:pic>
        <p:nvPicPr>
          <p:cNvPr id="99" name="Google Shape;99;p10"/>
          <p:cNvPicPr preferRelativeResize="0"/>
          <p:nvPr/>
        </p:nvPicPr>
        <p:blipFill rotWithShape="1">
          <a:blip r:embed="rId2">
            <a:alphaModFix/>
          </a:blip>
          <a:srcRect/>
          <a:stretch/>
        </p:blipFill>
        <p:spPr>
          <a:xfrm>
            <a:off x="0" y="0"/>
            <a:ext cx="9144000" cy="5143500"/>
          </a:xfrm>
          <a:prstGeom prst="roundRect">
            <a:avLst>
              <a:gd name="adj" fmla="val 0"/>
            </a:avLst>
          </a:prstGeom>
          <a:noFill/>
          <a:ln>
            <a:noFill/>
          </a:ln>
        </p:spPr>
      </p:pic>
      <p:sp>
        <p:nvSpPr>
          <p:cNvPr id="100" name="Google Shape;100;p10"/>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THERE IS A BETTER WAY</a:t>
            </a:r>
            <a:endParaRPr sz="600" b="0" i="0" u="none" strike="noStrike" cap="none">
              <a:solidFill>
                <a:srgbClr val="FFFFFF"/>
              </a:solidFill>
              <a:latin typeface="Outfit Medium"/>
              <a:ea typeface="Outfit Medium"/>
              <a:cs typeface="Outfit Medium"/>
              <a:sym typeface="Outfit Medium"/>
            </a:endParaRPr>
          </a:p>
        </p:txBody>
      </p:sp>
      <p:grpSp>
        <p:nvGrpSpPr>
          <p:cNvPr id="101" name="Google Shape;101;p10"/>
          <p:cNvGrpSpPr/>
          <p:nvPr/>
        </p:nvGrpSpPr>
        <p:grpSpPr>
          <a:xfrm>
            <a:off x="276293" y="292119"/>
            <a:ext cx="345989" cy="338615"/>
            <a:chOff x="6838242" y="518225"/>
            <a:chExt cx="1247708" cy="1221114"/>
          </a:xfrm>
        </p:grpSpPr>
        <p:sp>
          <p:nvSpPr>
            <p:cNvPr id="102" name="Google Shape;102;p1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3" name="Google Shape;103;p10"/>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4" name="Google Shape;104;p1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5" name="Google Shape;105;p10"/>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DIGITAL THINKERS &amp; DOERS</a:t>
            </a:r>
            <a:endParaRPr sz="600" b="0" i="0" u="none" strike="noStrike" cap="none">
              <a:solidFill>
                <a:srgbClr val="FFFFFF"/>
              </a:solidFill>
              <a:latin typeface="Outfit Medium"/>
              <a:ea typeface="Outfit Medium"/>
              <a:cs typeface="Outfit Medium"/>
              <a:sym typeface="Outfit Medium"/>
            </a:endParaRPr>
          </a:p>
        </p:txBody>
      </p:sp>
      <p:sp>
        <p:nvSpPr>
          <p:cNvPr id="106" name="Google Shape;106;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07" name="Google Shape;107;p10"/>
          <p:cNvGrpSpPr/>
          <p:nvPr/>
        </p:nvGrpSpPr>
        <p:grpSpPr>
          <a:xfrm>
            <a:off x="1097923" y="1336707"/>
            <a:ext cx="4598402" cy="1873532"/>
            <a:chOff x="2164723" y="1336707"/>
            <a:chExt cx="4598402" cy="1873532"/>
          </a:xfrm>
        </p:grpSpPr>
        <p:cxnSp>
          <p:nvCxnSpPr>
            <p:cNvPr id="108" name="Google Shape;108;p10"/>
            <p:cNvCxnSpPr/>
            <p:nvPr/>
          </p:nvCxnSpPr>
          <p:spPr>
            <a:xfrm>
              <a:off x="3064700" y="3175550"/>
              <a:ext cx="3698100" cy="0"/>
            </a:xfrm>
            <a:prstGeom prst="straightConnector1">
              <a:avLst/>
            </a:prstGeom>
            <a:noFill/>
            <a:ln w="19050" cap="flat" cmpd="sng">
              <a:solidFill>
                <a:srgbClr val="FFFFFF"/>
              </a:solidFill>
              <a:prstDash val="solid"/>
              <a:round/>
              <a:headEnd type="none" w="sm" len="sm"/>
              <a:tailEnd type="none" w="sm" len="sm"/>
            </a:ln>
          </p:spPr>
        </p:cxnSp>
        <p:sp>
          <p:nvSpPr>
            <p:cNvPr id="109" name="Google Shape;109;p10"/>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0" name="Google Shape;110;p10"/>
            <p:cNvCxnSpPr>
              <a:endCxn id="109" idx="2"/>
            </p:cNvCxnSpPr>
            <p:nvPr/>
          </p:nvCxnSpPr>
          <p:spPr>
            <a:xfrm rot="10800000">
              <a:off x="6761983" y="2313859"/>
              <a:ext cx="0" cy="861600"/>
            </a:xfrm>
            <a:prstGeom prst="straightConnector1">
              <a:avLst/>
            </a:prstGeom>
            <a:noFill/>
            <a:ln w="19050" cap="flat" cmpd="sng">
              <a:solidFill>
                <a:srgbClr val="FFFFFF"/>
              </a:solidFill>
              <a:prstDash val="solid"/>
              <a:round/>
              <a:headEnd type="none" w="sm" len="sm"/>
              <a:tailEnd type="none" w="sm" len="sm"/>
            </a:ln>
          </p:spPr>
        </p:cxnSp>
        <p:sp>
          <p:nvSpPr>
            <p:cNvPr id="111" name="Google Shape;111;p10"/>
            <p:cNvSpPr/>
            <p:nvPr/>
          </p:nvSpPr>
          <p:spPr>
            <a:xfrm rot="-5399439">
              <a:off x="2143273" y="1392988"/>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12" name="Google Shape;112;p10"/>
            <p:cNvSpPr/>
            <p:nvPr/>
          </p:nvSpPr>
          <p:spPr>
            <a:xfrm rot="-5400561" flipH="1">
              <a:off x="2143273" y="1358457"/>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3" name="Google Shape;113;p10"/>
            <p:cNvCxnSpPr>
              <a:stCxn id="111" idx="2"/>
              <a:endCxn id="109" idx="0"/>
            </p:cNvCxnSpPr>
            <p:nvPr/>
          </p:nvCxnSpPr>
          <p:spPr>
            <a:xfrm>
              <a:off x="3065855" y="1371394"/>
              <a:ext cx="2788800" cy="0"/>
            </a:xfrm>
            <a:prstGeom prst="straightConnector1">
              <a:avLst/>
            </a:prstGeom>
            <a:noFill/>
            <a:ln w="19050" cap="flat" cmpd="sng">
              <a:solidFill>
                <a:srgbClr val="FFFFFF"/>
              </a:solidFill>
              <a:prstDash val="solid"/>
              <a:round/>
              <a:headEnd type="none" w="sm" len="sm"/>
              <a:tailEnd type="none" w="sm" len="sm"/>
            </a:ln>
          </p:spPr>
        </p:cxnSp>
      </p:grpSp>
      <p:sp>
        <p:nvSpPr>
          <p:cNvPr id="114" name="Google Shape;114;p10"/>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OCTO TECHNOLOGY I PART OF ACCENTURE</a:t>
            </a:r>
            <a:endParaRPr sz="600" b="0" i="0" u="none" strike="noStrike" cap="none">
              <a:solidFill>
                <a:srgbClr val="FFFFFF"/>
              </a:solidFill>
              <a:latin typeface="Outfit Medium"/>
              <a:ea typeface="Outfit Medium"/>
              <a:cs typeface="Outfit Medium"/>
              <a:sym typeface="Outfit Medium"/>
            </a:endParaRPr>
          </a:p>
        </p:txBody>
      </p:sp>
      <p:pic>
        <p:nvPicPr>
          <p:cNvPr id="115" name="Google Shape;115;p10"/>
          <p:cNvPicPr preferRelativeResize="0"/>
          <p:nvPr/>
        </p:nvPicPr>
        <p:blipFill rotWithShape="1">
          <a:blip r:embed="rId3">
            <a:alphaModFix/>
          </a:blip>
          <a:srcRect t="338" b="338"/>
          <a:stretch/>
        </p:blipFill>
        <p:spPr>
          <a:xfrm>
            <a:off x="5866738" y="2120950"/>
            <a:ext cx="1724025" cy="1257300"/>
          </a:xfrm>
          <a:prstGeom prst="rect">
            <a:avLst/>
          </a:prstGeom>
          <a:noFill/>
          <a:ln>
            <a:noFill/>
          </a:ln>
        </p:spPr>
      </p:pic>
      <p:sp>
        <p:nvSpPr>
          <p:cNvPr id="116" name="Google Shape;116;p10"/>
          <p:cNvSpPr txBox="1">
            <a:spLocks noGrp="1"/>
          </p:cNvSpPr>
          <p:nvPr>
            <p:ph type="title"/>
          </p:nvPr>
        </p:nvSpPr>
        <p:spPr>
          <a:xfrm>
            <a:off x="1657350" y="1619250"/>
            <a:ext cx="3648000" cy="13050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17" name="Google Shape;117;p10"/>
          <p:cNvSpPr txBox="1">
            <a:spLocks noGrp="1"/>
          </p:cNvSpPr>
          <p:nvPr>
            <p:ph type="subTitle" idx="1"/>
          </p:nvPr>
        </p:nvSpPr>
        <p:spPr>
          <a:xfrm>
            <a:off x="1657350" y="2668200"/>
            <a:ext cx="3648000" cy="215400"/>
          </a:xfrm>
          <a:prstGeom prst="rect">
            <a:avLst/>
          </a:prstGeom>
          <a:noFill/>
          <a:ln>
            <a:noFill/>
          </a:ln>
        </p:spPr>
        <p:txBody>
          <a:bodyPr spcFirstLastPara="1" wrap="square" lIns="0" tIns="0" rIns="0" bIns="0" anchor="b" anchorCtr="0">
            <a:norm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18" name="Google Shape;118;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19" name="Google Shape;119;p10"/>
          <p:cNvGrpSpPr/>
          <p:nvPr/>
        </p:nvGrpSpPr>
        <p:grpSpPr>
          <a:xfrm rot="10800000">
            <a:off x="4572194" y="3152705"/>
            <a:ext cx="2605006" cy="616888"/>
            <a:chOff x="2164721" y="1365883"/>
            <a:chExt cx="4598421" cy="1890555"/>
          </a:xfrm>
        </p:grpSpPr>
        <p:cxnSp>
          <p:nvCxnSpPr>
            <p:cNvPr id="120" name="Google Shape;120;p10"/>
            <p:cNvCxnSpPr>
              <a:stCxn id="121" idx="2"/>
            </p:cNvCxnSpPr>
            <p:nvPr/>
          </p:nvCxnSpPr>
          <p:spPr>
            <a:xfrm>
              <a:off x="2699642" y="3175623"/>
              <a:ext cx="4063500" cy="0"/>
            </a:xfrm>
            <a:prstGeom prst="straightConnector1">
              <a:avLst/>
            </a:prstGeom>
            <a:noFill/>
            <a:ln w="19050" cap="flat" cmpd="sng">
              <a:solidFill>
                <a:srgbClr val="FFFFFF"/>
              </a:solidFill>
              <a:prstDash val="solid"/>
              <a:round/>
              <a:headEnd type="none" w="sm" len="sm"/>
              <a:tailEnd type="none" w="sm" len="sm"/>
            </a:ln>
          </p:spPr>
        </p:cxnSp>
        <p:sp>
          <p:nvSpPr>
            <p:cNvPr id="122" name="Google Shape;122;p10"/>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3" name="Google Shape;123;p10"/>
            <p:cNvCxnSpPr>
              <a:endCxn id="122" idx="2"/>
            </p:cNvCxnSpPr>
            <p:nvPr/>
          </p:nvCxnSpPr>
          <p:spPr>
            <a:xfrm rot="10800000">
              <a:off x="6762341" y="2147223"/>
              <a:ext cx="0" cy="1028700"/>
            </a:xfrm>
            <a:prstGeom prst="straightConnector1">
              <a:avLst/>
            </a:prstGeom>
            <a:noFill/>
            <a:ln w="19050" cap="flat" cmpd="sng">
              <a:solidFill>
                <a:srgbClr val="FFFFFF"/>
              </a:solidFill>
              <a:prstDash val="solid"/>
              <a:round/>
              <a:headEnd type="none" w="sm" len="sm"/>
              <a:tailEnd type="none" w="sm" len="sm"/>
            </a:ln>
          </p:spPr>
        </p:cxnSp>
        <p:sp>
          <p:nvSpPr>
            <p:cNvPr id="124" name="Google Shape;124;p10"/>
            <p:cNvSpPr/>
            <p:nvPr/>
          </p:nvSpPr>
          <p:spPr>
            <a:xfrm rot="-5399453">
              <a:off x="1791865" y="1744138"/>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1" name="Google Shape;121;p10"/>
            <p:cNvSpPr/>
            <p:nvPr/>
          </p:nvSpPr>
          <p:spPr>
            <a:xfrm rot="-5400570" flipH="1">
              <a:off x="1792271" y="1738633"/>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5" name="Google Shape;125;p10"/>
            <p:cNvCxnSpPr>
              <a:stCxn id="124" idx="2"/>
              <a:endCxn id="122" idx="0"/>
            </p:cNvCxnSpPr>
            <p:nvPr/>
          </p:nvCxnSpPr>
          <p:spPr>
            <a:xfrm>
              <a:off x="2736435" y="1371094"/>
              <a:ext cx="3585300" cy="300"/>
            </a:xfrm>
            <a:prstGeom prst="straightConnector1">
              <a:avLst/>
            </a:prstGeom>
            <a:noFill/>
            <a:ln w="19050" cap="flat" cmpd="sng">
              <a:solidFill>
                <a:srgbClr val="FFFFFF"/>
              </a:solidFill>
              <a:prstDash val="solid"/>
              <a:round/>
              <a:headEnd type="none" w="sm" len="sm"/>
              <a:tailEnd type="none" w="sm" len="sm"/>
            </a:ln>
          </p:spPr>
        </p:cxnSp>
      </p:grpSp>
      <p:cxnSp>
        <p:nvCxnSpPr>
          <p:cNvPr id="126" name="Google Shape;126;p10"/>
          <p:cNvCxnSpPr/>
          <p:nvPr/>
        </p:nvCxnSpPr>
        <p:spPr>
          <a:xfrm>
            <a:off x="5567313"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27" name="Google Shape;127;p10"/>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28" name="Google Shape;128;p10"/>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1 - Couverture [2]">
  <p:cSld name="41 - Couverture [2]">
    <p:bg>
      <p:bgPr>
        <a:solidFill>
          <a:schemeClr val="dk1"/>
        </a:solidFill>
        <a:effectLst/>
      </p:bgPr>
    </p:bg>
    <p:spTree>
      <p:nvGrpSpPr>
        <p:cNvPr id="1" name="Shape 129"/>
        <p:cNvGrpSpPr/>
        <p:nvPr/>
      </p:nvGrpSpPr>
      <p:grpSpPr>
        <a:xfrm>
          <a:off x="0" y="0"/>
          <a:ext cx="0" cy="0"/>
          <a:chOff x="0" y="0"/>
          <a:chExt cx="0" cy="0"/>
        </a:xfrm>
      </p:grpSpPr>
      <p:sp>
        <p:nvSpPr>
          <p:cNvPr id="130" name="Google Shape;130;p11"/>
          <p:cNvSpPr txBox="1">
            <a:spLocks noGrp="1"/>
          </p:cNvSpPr>
          <p:nvPr>
            <p:ph type="title"/>
          </p:nvPr>
        </p:nvSpPr>
        <p:spPr>
          <a:xfrm>
            <a:off x="2717000" y="1879350"/>
            <a:ext cx="3635400" cy="7743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2pPr>
            <a:lvl3pPr marR="0" lvl="2"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3pPr>
            <a:lvl4pPr marR="0" lvl="3"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4pPr>
            <a:lvl5pPr marR="0" lvl="4"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5pPr>
            <a:lvl6pPr marR="0" lvl="5"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6pPr>
            <a:lvl7pPr marR="0" lvl="6"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7pPr>
            <a:lvl8pPr marR="0" lvl="7"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8pPr>
            <a:lvl9pPr marR="0" lvl="8"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9pPr>
          </a:lstStyle>
          <a:p>
            <a:endParaRPr/>
          </a:p>
        </p:txBody>
      </p:sp>
      <p:sp>
        <p:nvSpPr>
          <p:cNvPr id="131" name="Google Shape;131;p11"/>
          <p:cNvSpPr txBox="1">
            <a:spLocks noGrp="1"/>
          </p:cNvSpPr>
          <p:nvPr>
            <p:ph type="subTitle" idx="1"/>
          </p:nvPr>
        </p:nvSpPr>
        <p:spPr>
          <a:xfrm>
            <a:off x="2717000" y="2590325"/>
            <a:ext cx="3635400" cy="3201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32" name="Google Shape;132;p11"/>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 name="Google Shape;133;p11"/>
          <p:cNvGrpSpPr/>
          <p:nvPr/>
        </p:nvGrpSpPr>
        <p:grpSpPr>
          <a:xfrm>
            <a:off x="2164723" y="1336860"/>
            <a:ext cx="4598402" cy="1873225"/>
            <a:chOff x="2164723" y="1336860"/>
            <a:chExt cx="4598402" cy="1873225"/>
          </a:xfrm>
        </p:grpSpPr>
        <p:cxnSp>
          <p:nvCxnSpPr>
            <p:cNvPr id="134" name="Google Shape;134;p11"/>
            <p:cNvCxnSpPr/>
            <p:nvPr/>
          </p:nvCxnSpPr>
          <p:spPr>
            <a:xfrm>
              <a:off x="3064700" y="3175550"/>
              <a:ext cx="3698100" cy="0"/>
            </a:xfrm>
            <a:prstGeom prst="straightConnector1">
              <a:avLst/>
            </a:prstGeom>
            <a:noFill/>
            <a:ln w="19050" cap="flat" cmpd="sng">
              <a:solidFill>
                <a:srgbClr val="FFFFFF"/>
              </a:solidFill>
              <a:prstDash val="solid"/>
              <a:round/>
              <a:headEnd type="none" w="med" len="med"/>
              <a:tailEnd type="none" w="med" len="med"/>
            </a:ln>
          </p:spPr>
        </p:cxnSp>
        <p:sp>
          <p:nvSpPr>
            <p:cNvPr id="135" name="Google Shape;135;p11"/>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1"/>
            <p:cNvCxnSpPr>
              <a:endCxn id="135" idx="2"/>
            </p:cNvCxnSpPr>
            <p:nvPr/>
          </p:nvCxnSpPr>
          <p:spPr>
            <a:xfrm rot="10800000">
              <a:off x="6761983" y="2313858"/>
              <a:ext cx="0" cy="861600"/>
            </a:xfrm>
            <a:prstGeom prst="straightConnector1">
              <a:avLst/>
            </a:prstGeom>
            <a:noFill/>
            <a:ln w="19050" cap="flat" cmpd="sng">
              <a:solidFill>
                <a:srgbClr val="FFFFFF"/>
              </a:solidFill>
              <a:prstDash val="solid"/>
              <a:round/>
              <a:headEnd type="none" w="med" len="med"/>
              <a:tailEnd type="none" w="med" len="med"/>
            </a:ln>
          </p:spPr>
        </p:cxnSp>
        <p:sp>
          <p:nvSpPr>
            <p:cNvPr id="137" name="Google Shape;137;p11"/>
            <p:cNvSpPr/>
            <p:nvPr/>
          </p:nvSpPr>
          <p:spPr>
            <a:xfrm rot="-5399439">
              <a:off x="2143273" y="1392985"/>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1"/>
            <p:cNvSpPr/>
            <p:nvPr/>
          </p:nvSpPr>
          <p:spPr>
            <a:xfrm rot="-5400561" flipH="1">
              <a:off x="2143273" y="1358460"/>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9" name="Google Shape;139;p11"/>
            <p:cNvCxnSpPr>
              <a:stCxn id="137" idx="2"/>
              <a:endCxn id="135" idx="0"/>
            </p:cNvCxnSpPr>
            <p:nvPr/>
          </p:nvCxnSpPr>
          <p:spPr>
            <a:xfrm>
              <a:off x="3065855" y="1371390"/>
              <a:ext cx="2788800" cy="0"/>
            </a:xfrm>
            <a:prstGeom prst="straightConnector1">
              <a:avLst/>
            </a:prstGeom>
            <a:noFill/>
            <a:ln w="19050" cap="flat" cmpd="sng">
              <a:solidFill>
                <a:srgbClr val="FFFFFF"/>
              </a:solidFill>
              <a:prstDash val="solid"/>
              <a:round/>
              <a:headEnd type="none" w="med" len="med"/>
              <a:tailEnd type="none" w="med" len="med"/>
            </a:ln>
          </p:spPr>
        </p:cxnSp>
      </p:grpSp>
      <p:sp>
        <p:nvSpPr>
          <p:cNvPr id="140" name="Google Shape;140;p11"/>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THERE IS A BETTER WAY</a:t>
            </a:r>
            <a:endParaRPr sz="600" i="0" u="none" strike="noStrike" cap="none">
              <a:solidFill>
                <a:srgbClr val="FFFFFF"/>
              </a:solidFill>
              <a:latin typeface="Outfit Medium"/>
              <a:ea typeface="Outfit Medium"/>
              <a:cs typeface="Outfit Medium"/>
              <a:sym typeface="Outfit Medium"/>
            </a:endParaRPr>
          </a:p>
        </p:txBody>
      </p:sp>
      <p:grpSp>
        <p:nvGrpSpPr>
          <p:cNvPr id="141" name="Google Shape;141;p11"/>
          <p:cNvGrpSpPr/>
          <p:nvPr/>
        </p:nvGrpSpPr>
        <p:grpSpPr>
          <a:xfrm>
            <a:off x="276291" y="292119"/>
            <a:ext cx="345989" cy="338615"/>
            <a:chOff x="6838242" y="518225"/>
            <a:chExt cx="1247708" cy="1221114"/>
          </a:xfrm>
        </p:grpSpPr>
        <p:sp>
          <p:nvSpPr>
            <p:cNvPr id="142" name="Google Shape;142;p1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1"/>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11"/>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DIGITAL THINKERS &amp; DOERS</a:t>
            </a:r>
            <a:endParaRPr sz="600" i="0" u="none" strike="noStrike" cap="none">
              <a:solidFill>
                <a:srgbClr val="FFFFFF"/>
              </a:solidFill>
              <a:latin typeface="Outfit Medium"/>
              <a:ea typeface="Outfit Medium"/>
              <a:cs typeface="Outfit Medium"/>
              <a:sym typeface="Outfit Medium"/>
            </a:endParaRPr>
          </a:p>
        </p:txBody>
      </p:sp>
      <p:sp>
        <p:nvSpPr>
          <p:cNvPr id="146" name="Google Shape;146;p11"/>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OCTO TECHNOLOGY  I  PART OF ACCENTURE</a:t>
            </a:r>
            <a:endParaRPr sz="600" i="0" u="none" strike="noStrike" cap="none">
              <a:solidFill>
                <a:srgbClr val="FFFFFF"/>
              </a:solidFill>
              <a:latin typeface="Outfit Medium"/>
              <a:ea typeface="Outfit Medium"/>
              <a:cs typeface="Outfit Medium"/>
              <a:sym typeface="Outfit Medium"/>
            </a:endParaRPr>
          </a:p>
        </p:txBody>
      </p:sp>
      <p:grpSp>
        <p:nvGrpSpPr>
          <p:cNvPr id="147" name="Google Shape;147;p11"/>
          <p:cNvGrpSpPr/>
          <p:nvPr/>
        </p:nvGrpSpPr>
        <p:grpSpPr>
          <a:xfrm rot="10800000">
            <a:off x="4572194" y="3152774"/>
            <a:ext cx="2605006" cy="616751"/>
            <a:chOff x="2164721" y="1366095"/>
            <a:chExt cx="4598421" cy="1890134"/>
          </a:xfrm>
        </p:grpSpPr>
        <p:cxnSp>
          <p:nvCxnSpPr>
            <p:cNvPr id="148" name="Google Shape;148;p11"/>
            <p:cNvCxnSpPr>
              <a:stCxn id="149" idx="2"/>
            </p:cNvCxnSpPr>
            <p:nvPr/>
          </p:nvCxnSpPr>
          <p:spPr>
            <a:xfrm>
              <a:off x="2699643" y="3175685"/>
              <a:ext cx="4063500" cy="0"/>
            </a:xfrm>
            <a:prstGeom prst="straightConnector1">
              <a:avLst/>
            </a:prstGeom>
            <a:noFill/>
            <a:ln w="19050" cap="flat" cmpd="sng">
              <a:solidFill>
                <a:srgbClr val="FFFFFF"/>
              </a:solidFill>
              <a:prstDash val="solid"/>
              <a:round/>
              <a:headEnd type="none" w="med" len="med"/>
              <a:tailEnd type="none" w="med" len="med"/>
            </a:ln>
          </p:spPr>
        </p:cxnSp>
        <p:sp>
          <p:nvSpPr>
            <p:cNvPr id="150" name="Google Shape;150;p11"/>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 name="Google Shape;151;p11"/>
            <p:cNvCxnSpPr>
              <a:endCxn id="150" idx="2"/>
            </p:cNvCxnSpPr>
            <p:nvPr/>
          </p:nvCxnSpPr>
          <p:spPr>
            <a:xfrm rot="10800000">
              <a:off x="6762342" y="2147223"/>
              <a:ext cx="0" cy="1028700"/>
            </a:xfrm>
            <a:prstGeom prst="straightConnector1">
              <a:avLst/>
            </a:prstGeom>
            <a:noFill/>
            <a:ln w="19050" cap="flat" cmpd="sng">
              <a:solidFill>
                <a:srgbClr val="FFFFFF"/>
              </a:solidFill>
              <a:prstDash val="solid"/>
              <a:round/>
              <a:headEnd type="none" w="med" len="med"/>
              <a:tailEnd type="none" w="med" len="med"/>
            </a:ln>
          </p:spPr>
        </p:cxnSp>
        <p:sp>
          <p:nvSpPr>
            <p:cNvPr id="152" name="Google Shape;152;p11"/>
            <p:cNvSpPr/>
            <p:nvPr/>
          </p:nvSpPr>
          <p:spPr>
            <a:xfrm rot="-5399453">
              <a:off x="1791865" y="1744079"/>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1"/>
            <p:cNvSpPr/>
            <p:nvPr/>
          </p:nvSpPr>
          <p:spPr>
            <a:xfrm rot="-5400570" flipH="1">
              <a:off x="1792271" y="1738695"/>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3" name="Google Shape;153;p11"/>
            <p:cNvCxnSpPr>
              <a:stCxn id="152" idx="2"/>
              <a:endCxn id="150" idx="0"/>
            </p:cNvCxnSpPr>
            <p:nvPr/>
          </p:nvCxnSpPr>
          <p:spPr>
            <a:xfrm>
              <a:off x="2736435" y="1371034"/>
              <a:ext cx="3585300" cy="300"/>
            </a:xfrm>
            <a:prstGeom prst="straightConnector1">
              <a:avLst/>
            </a:prstGeom>
            <a:noFill/>
            <a:ln w="19050" cap="flat" cmpd="sng">
              <a:solidFill>
                <a:srgbClr val="FFFFFF"/>
              </a:solidFill>
              <a:prstDash val="solid"/>
              <a:round/>
              <a:headEnd type="none" w="med" len="med"/>
              <a:tailEnd type="none" w="med" len="med"/>
            </a:ln>
          </p:spPr>
        </p:cxnSp>
      </p:grpSp>
      <p:cxnSp>
        <p:nvCxnSpPr>
          <p:cNvPr id="154" name="Google Shape;154;p11"/>
          <p:cNvCxnSpPr/>
          <p:nvPr/>
        </p:nvCxnSpPr>
        <p:spPr>
          <a:xfrm>
            <a:off x="5575700"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55" name="Google Shape;155;p11"/>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56" name="Google Shape;156;p11"/>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51 - Chapitre [2]">
  <p:cSld name="51 - Chapitre [2]">
    <p:bg>
      <p:bgPr>
        <a:solidFill>
          <a:schemeClr val="lt1"/>
        </a:solidFill>
        <a:effectLst/>
      </p:bgPr>
    </p:bg>
    <p:spTree>
      <p:nvGrpSpPr>
        <p:cNvPr id="1" name="Shape 157"/>
        <p:cNvGrpSpPr/>
        <p:nvPr/>
      </p:nvGrpSpPr>
      <p:grpSpPr>
        <a:xfrm>
          <a:off x="0" y="0"/>
          <a:ext cx="0" cy="0"/>
          <a:chOff x="0" y="0"/>
          <a:chExt cx="0" cy="0"/>
        </a:xfrm>
      </p:grpSpPr>
      <p:sp>
        <p:nvSpPr>
          <p:cNvPr id="158" name="Google Shape;158;p12"/>
          <p:cNvSpPr/>
          <p:nvPr/>
        </p:nvSpPr>
        <p:spPr>
          <a:xfrm rot="5400000" flipH="1">
            <a:off x="1344924" y="364825"/>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159" name="Google Shape;159;p12"/>
          <p:cNvSpPr/>
          <p:nvPr/>
        </p:nvSpPr>
        <p:spPr>
          <a:xfrm flipH="1">
            <a:off x="830825" y="817575"/>
            <a:ext cx="3663300" cy="3816300"/>
          </a:xfrm>
          <a:prstGeom prst="round2DiagRect">
            <a:avLst>
              <a:gd name="adj1" fmla="val 16667"/>
              <a:gd name="adj2" fmla="val 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12"/>
          <p:cNvSpPr txBox="1">
            <a:spLocks noGrp="1"/>
          </p:cNvSpPr>
          <p:nvPr>
            <p:ph type="body" idx="1"/>
          </p:nvPr>
        </p:nvSpPr>
        <p:spPr>
          <a:xfrm>
            <a:off x="841248" y="374650"/>
            <a:ext cx="499500" cy="433200"/>
          </a:xfrm>
          <a:prstGeom prst="rect">
            <a:avLst/>
          </a:prstGeom>
          <a:noFill/>
          <a:ln>
            <a:noFill/>
          </a:ln>
        </p:spPr>
        <p:txBody>
          <a:bodyPr spcFirstLastPara="1" wrap="square" lIns="0" tIns="0" rIns="0" bIns="0" anchor="ctr" anchorCtr="0">
            <a:noAutofit/>
          </a:bodyPr>
          <a:lstStyle>
            <a:lvl1pPr marL="457200" marR="0" lvl="0"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l"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l"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161" name="Google Shape;161;p12"/>
          <p:cNvSpPr txBox="1">
            <a:spLocks noGrp="1"/>
          </p:cNvSpPr>
          <p:nvPr>
            <p:ph type="title"/>
          </p:nvPr>
        </p:nvSpPr>
        <p:spPr>
          <a:xfrm>
            <a:off x="4699800" y="2685200"/>
            <a:ext cx="4164300" cy="1810200"/>
          </a:xfrm>
          <a:prstGeom prst="rect">
            <a:avLst/>
          </a:prstGeom>
          <a:noFill/>
          <a:ln>
            <a:noFill/>
          </a:ln>
        </p:spPr>
        <p:txBody>
          <a:bodyPr spcFirstLastPara="1" wrap="square" lIns="91425" tIns="91425" rIns="91425" bIns="91425" anchor="ctr" anchorCtr="0">
            <a:norm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2pPr>
            <a:lvl3pPr marR="0" lvl="2"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3pPr>
            <a:lvl4pPr marR="0" lvl="3"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4pPr>
            <a:lvl5pPr marR="0" lvl="4"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5pPr>
            <a:lvl6pPr marR="0" lvl="5"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6pPr>
            <a:lvl7pPr marR="0" lvl="6"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7pPr>
            <a:lvl8pPr marR="0" lvl="7"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8pPr>
            <a:lvl9pPr marR="0" lvl="8"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9pPr>
          </a:lstStyle>
          <a:p>
            <a:endParaRPr/>
          </a:p>
        </p:txBody>
      </p:sp>
      <p:sp>
        <p:nvSpPr>
          <p:cNvPr id="162" name="Google Shape;162;p12"/>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63" name="Google Shape;163;p12"/>
          <p:cNvCxnSpPr>
            <a:stCxn id="164"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65" name="Google Shape;165;p12"/>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6" name="Google Shape;166;p12"/>
          <p:cNvCxnSpPr>
            <a:endCxn id="165"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67" name="Google Shape;167;p12"/>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64" name="Google Shape;164;p12"/>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8" name="Google Shape;168;p12"/>
          <p:cNvCxnSpPr>
            <a:stCxn id="167" idx="2"/>
            <a:endCxn id="165"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69" name="Google Shape;169;p12"/>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0" name="Google Shape;170;p12"/>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171" name="Google Shape;171;p12"/>
          <p:cNvSpPr txBox="1"/>
          <p:nvPr/>
        </p:nvSpPr>
        <p:spPr>
          <a:xfrm>
            <a:off x="2262425" y="20484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172" name="Google Shape;172;p12"/>
          <p:cNvSpPr/>
          <p:nvPr/>
        </p:nvSpPr>
        <p:spPr>
          <a:xfrm flipH="1">
            <a:off x="841248" y="374725"/>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grpSp>
        <p:nvGrpSpPr>
          <p:cNvPr id="173" name="Google Shape;173;p12"/>
          <p:cNvGrpSpPr/>
          <p:nvPr/>
        </p:nvGrpSpPr>
        <p:grpSpPr>
          <a:xfrm>
            <a:off x="1450811" y="508105"/>
            <a:ext cx="170063" cy="166438"/>
            <a:chOff x="6838242" y="518225"/>
            <a:chExt cx="1247708" cy="1221114"/>
          </a:xfrm>
        </p:grpSpPr>
        <p:sp>
          <p:nvSpPr>
            <p:cNvPr id="174" name="Google Shape;174;p1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5" name="Google Shape;175;p1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6" name="Google Shape;176;p1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59 - There is a better way">
  <p:cSld name="59 - There is a better way">
    <p:bg>
      <p:bgPr>
        <a:solidFill>
          <a:schemeClr val="lt1"/>
        </a:solidFill>
        <a:effectLst/>
      </p:bgPr>
    </p:bg>
    <p:spTree>
      <p:nvGrpSpPr>
        <p:cNvPr id="1" name="Shape 177"/>
        <p:cNvGrpSpPr/>
        <p:nvPr/>
      </p:nvGrpSpPr>
      <p:grpSpPr>
        <a:xfrm>
          <a:off x="0" y="0"/>
          <a:ext cx="0" cy="0"/>
          <a:chOff x="0" y="0"/>
          <a:chExt cx="0" cy="0"/>
        </a:xfrm>
      </p:grpSpPr>
      <p:grpSp>
        <p:nvGrpSpPr>
          <p:cNvPr id="178" name="Google Shape;178;p13"/>
          <p:cNvGrpSpPr/>
          <p:nvPr/>
        </p:nvGrpSpPr>
        <p:grpSpPr>
          <a:xfrm>
            <a:off x="290068" y="235357"/>
            <a:ext cx="345989" cy="338615"/>
            <a:chOff x="6838242" y="518225"/>
            <a:chExt cx="1247708" cy="1221114"/>
          </a:xfrm>
        </p:grpSpPr>
        <p:sp>
          <p:nvSpPr>
            <p:cNvPr id="179" name="Google Shape;179;p1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0" name="Google Shape;180;p1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1" name="Google Shape;181;p1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pic>
        <p:nvPicPr>
          <p:cNvPr id="182" name="Google Shape;182;p13"/>
          <p:cNvPicPr preferRelativeResize="0"/>
          <p:nvPr/>
        </p:nvPicPr>
        <p:blipFill>
          <a:blip r:embed="rId2">
            <a:alphaModFix/>
          </a:blip>
          <a:stretch>
            <a:fillRect/>
          </a:stretch>
        </p:blipFill>
        <p:spPr>
          <a:xfrm>
            <a:off x="3736975" y="3307206"/>
            <a:ext cx="1670077" cy="829069"/>
          </a:xfrm>
          <a:prstGeom prst="rect">
            <a:avLst/>
          </a:prstGeom>
          <a:noFill/>
          <a:ln>
            <a:noFill/>
          </a:ln>
        </p:spPr>
      </p:pic>
      <p:pic>
        <p:nvPicPr>
          <p:cNvPr id="183" name="Google Shape;183;p13"/>
          <p:cNvPicPr preferRelativeResize="0"/>
          <p:nvPr/>
        </p:nvPicPr>
        <p:blipFill rotWithShape="1">
          <a:blip r:embed="rId3">
            <a:alphaModFix/>
          </a:blip>
          <a:srcRect l="17993" t="18848" r="18089" b="13862"/>
          <a:stretch/>
        </p:blipFill>
        <p:spPr>
          <a:xfrm>
            <a:off x="3589050" y="1007225"/>
            <a:ext cx="1965925" cy="2069625"/>
          </a:xfrm>
          <a:prstGeom prst="rect">
            <a:avLst/>
          </a:prstGeom>
          <a:noFill/>
          <a:ln>
            <a:noFill/>
          </a:ln>
        </p:spPr>
      </p:pic>
      <p:sp>
        <p:nvSpPr>
          <p:cNvPr id="184" name="Google Shape;184;p1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60 - Titre et visuel">
  <p:cSld name="60 - Titre et visuel">
    <p:bg>
      <p:bgPr>
        <a:solidFill>
          <a:schemeClr val="lt1"/>
        </a:solidFill>
        <a:effectLst/>
      </p:bgPr>
    </p:bg>
    <p:spTree>
      <p:nvGrpSpPr>
        <p:cNvPr id="1" name="Shape 185"/>
        <p:cNvGrpSpPr/>
        <p:nvPr/>
      </p:nvGrpSpPr>
      <p:grpSpPr>
        <a:xfrm>
          <a:off x="0" y="0"/>
          <a:ext cx="0" cy="0"/>
          <a:chOff x="0" y="0"/>
          <a:chExt cx="0" cy="0"/>
        </a:xfrm>
      </p:grpSpPr>
      <p:pic>
        <p:nvPicPr>
          <p:cNvPr id="186" name="Google Shape;186;p14"/>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187" name="Google Shape;187;p14"/>
          <p:cNvSpPr txBox="1">
            <a:spLocks noGrp="1"/>
          </p:cNvSpPr>
          <p:nvPr>
            <p:ph type="title"/>
          </p:nvPr>
        </p:nvSpPr>
        <p:spPr>
          <a:xfrm>
            <a:off x="562550" y="3823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88" name="Google Shape;188;p1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89" name="Google Shape;189;p14"/>
          <p:cNvCxnSpPr>
            <a:stCxn id="19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91" name="Google Shape;191;p1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2" name="Google Shape;192;p14"/>
          <p:cNvCxnSpPr>
            <a:endCxn id="19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93" name="Google Shape;193;p1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90" name="Google Shape;190;p1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4" name="Google Shape;194;p14"/>
          <p:cNvCxnSpPr>
            <a:stCxn id="193" idx="2"/>
            <a:endCxn id="19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95" name="Google Shape;195;p14"/>
          <p:cNvSpPr>
            <a:spLocks noGrp="1"/>
          </p:cNvSpPr>
          <p:nvPr>
            <p:ph type="pic" idx="2"/>
          </p:nvPr>
        </p:nvSpPr>
        <p:spPr>
          <a:xfrm>
            <a:off x="528800" y="732450"/>
            <a:ext cx="8019000" cy="4131600"/>
          </a:xfrm>
          <a:prstGeom prst="rect">
            <a:avLst/>
          </a:prstGeom>
          <a:noFill/>
          <a:ln w="9525" cap="flat" cmpd="sng">
            <a:solidFill>
              <a:srgbClr val="000000"/>
            </a:solidFill>
            <a:prstDash val="solid"/>
            <a:round/>
            <a:headEnd type="none" w="sm" len="sm"/>
            <a:tailEnd type="none" w="sm" len="sm"/>
          </a:ln>
        </p:spPr>
      </p:sp>
      <p:sp>
        <p:nvSpPr>
          <p:cNvPr id="196" name="Google Shape;196;p14"/>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61 - Titre, sous-titre et visuel">
  <p:cSld name="61 - Titre, sous-titre et visuel">
    <p:bg>
      <p:bgPr>
        <a:solidFill>
          <a:schemeClr val="lt1"/>
        </a:solidFill>
        <a:effectLst/>
      </p:bgPr>
    </p:bg>
    <p:spTree>
      <p:nvGrpSpPr>
        <p:cNvPr id="1" name="Shape 197"/>
        <p:cNvGrpSpPr/>
        <p:nvPr/>
      </p:nvGrpSpPr>
      <p:grpSpPr>
        <a:xfrm>
          <a:off x="0" y="0"/>
          <a:ext cx="0" cy="0"/>
          <a:chOff x="0" y="0"/>
          <a:chExt cx="0" cy="0"/>
        </a:xfrm>
      </p:grpSpPr>
      <p:sp>
        <p:nvSpPr>
          <p:cNvPr id="198" name="Google Shape;198;p15"/>
          <p:cNvSpPr/>
          <p:nvPr/>
        </p:nvSpPr>
        <p:spPr>
          <a:xfrm>
            <a:off x="213475" y="208900"/>
            <a:ext cx="8715600" cy="4728600"/>
          </a:xfrm>
          <a:prstGeom prst="roundRect">
            <a:avLst>
              <a:gd name="adj" fmla="val 1616"/>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pic>
        <p:nvPicPr>
          <p:cNvPr id="199" name="Google Shape;199;p15"/>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0" name="Google Shape;200;p15"/>
          <p:cNvSpPr txBox="1"/>
          <p:nvPr/>
        </p:nvSpPr>
        <p:spPr>
          <a:xfrm rot="-5400000">
            <a:off x="8770600" y="2458900"/>
            <a:ext cx="5487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fld id="{00000000-1234-1234-1234-123412341234}" type="slidenum">
              <a:rPr lang="en-US" sz="800" b="0" i="0" u="none" strike="noStrike" cap="none">
                <a:solidFill>
                  <a:schemeClr val="dk1"/>
                </a:solidFill>
                <a:latin typeface="Outfit Light"/>
                <a:ea typeface="Outfit Light"/>
                <a:cs typeface="Outfit Light"/>
                <a:sym typeface="Outfit Light"/>
              </a:rPr>
              <a:t>‹#›</a:t>
            </a:fld>
            <a:endParaRPr sz="800" b="0" i="0" u="none" strike="noStrike" cap="none">
              <a:solidFill>
                <a:schemeClr val="dk1"/>
              </a:solidFill>
              <a:latin typeface="Outfit Light"/>
              <a:ea typeface="Outfit Light"/>
              <a:cs typeface="Outfit Light"/>
              <a:sym typeface="Outfit Light"/>
            </a:endParaRPr>
          </a:p>
        </p:txBody>
      </p:sp>
      <p:sp>
        <p:nvSpPr>
          <p:cNvPr id="201" name="Google Shape;201;p15"/>
          <p:cNvSpPr txBox="1"/>
          <p:nvPr/>
        </p:nvSpPr>
        <p:spPr>
          <a:xfrm rot="-5400000">
            <a:off x="-514095" y="2533275"/>
            <a:ext cx="1236600" cy="215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650"/>
              <a:buFont typeface="Outfit"/>
              <a:buNone/>
            </a:pPr>
            <a:r>
              <a:rPr lang="en-US" sz="650" b="0" i="0" u="none" strike="noStrike" cap="none">
                <a:solidFill>
                  <a:schemeClr val="dk1"/>
                </a:solidFill>
                <a:latin typeface="Outfit"/>
                <a:ea typeface="Outfit"/>
                <a:cs typeface="Outfit"/>
                <a:sym typeface="Outfit"/>
              </a:rPr>
              <a:t>There is a better way</a:t>
            </a:r>
            <a:endParaRPr sz="650" b="0" i="0" u="none" strike="noStrike" cap="none">
              <a:solidFill>
                <a:schemeClr val="dk1"/>
              </a:solidFill>
              <a:latin typeface="Outfit"/>
              <a:ea typeface="Outfit"/>
              <a:cs typeface="Outfit"/>
              <a:sym typeface="Outfit"/>
            </a:endParaRPr>
          </a:p>
        </p:txBody>
      </p:sp>
      <p:sp>
        <p:nvSpPr>
          <p:cNvPr id="202" name="Google Shape;202;p15"/>
          <p:cNvSpPr/>
          <p:nvPr/>
        </p:nvSpPr>
        <p:spPr>
          <a:xfrm>
            <a:off x="6682750" y="4939025"/>
            <a:ext cx="2335200" cy="2046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600"/>
              <a:buFont typeface="Outfit"/>
              <a:buNone/>
            </a:pPr>
            <a:r>
              <a:rPr lang="en-US" sz="600" b="0" i="0" u="none" strike="noStrike" cap="none">
                <a:solidFill>
                  <a:schemeClr val="dk1"/>
                </a:solidFill>
                <a:latin typeface="Outfit"/>
                <a:ea typeface="Outfit"/>
                <a:cs typeface="Outfit"/>
                <a:sym typeface="Outfit"/>
              </a:rPr>
              <a:t>OCTO Part of Accenture © 2023- All rights reserved</a:t>
            </a:r>
            <a:endParaRPr sz="600" b="0" i="0" u="none" strike="noStrike" cap="none">
              <a:solidFill>
                <a:schemeClr val="dk1"/>
              </a:solidFill>
              <a:latin typeface="Outfit"/>
              <a:ea typeface="Outfit"/>
              <a:cs typeface="Outfit"/>
              <a:sym typeface="Outfit"/>
            </a:endParaRPr>
          </a:p>
        </p:txBody>
      </p:sp>
      <p:sp>
        <p:nvSpPr>
          <p:cNvPr id="203" name="Google Shape;203;p15"/>
          <p:cNvSpPr txBox="1">
            <a:spLocks noGrp="1"/>
          </p:cNvSpPr>
          <p:nvPr>
            <p:ph type="title"/>
          </p:nvPr>
        </p:nvSpPr>
        <p:spPr>
          <a:xfrm>
            <a:off x="574050" y="361400"/>
            <a:ext cx="80079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4" name="Google Shape;204;p15"/>
          <p:cNvSpPr txBox="1">
            <a:spLocks noGrp="1"/>
          </p:cNvSpPr>
          <p:nvPr>
            <p:ph type="subTitle" idx="1"/>
          </p:nvPr>
        </p:nvSpPr>
        <p:spPr>
          <a:xfrm>
            <a:off x="557250" y="830200"/>
            <a:ext cx="8041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5" name="Google Shape;205;p15"/>
          <p:cNvSpPr>
            <a:spLocks noGrp="1"/>
          </p:cNvSpPr>
          <p:nvPr>
            <p:ph type="pic" idx="2"/>
          </p:nvPr>
        </p:nvSpPr>
        <p:spPr>
          <a:xfrm>
            <a:off x="545225" y="1257950"/>
            <a:ext cx="8041500" cy="3606600"/>
          </a:xfrm>
          <a:prstGeom prst="rect">
            <a:avLst/>
          </a:prstGeom>
          <a:noFill/>
          <a:ln>
            <a:noFill/>
          </a:ln>
        </p:spPr>
      </p:sp>
      <p:sp>
        <p:nvSpPr>
          <p:cNvPr id="206" name="Google Shape;206;p15"/>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62 - Visuel seul">
  <p:cSld name="62 - Visuel seul">
    <p:bg>
      <p:bgPr>
        <a:solidFill>
          <a:schemeClr val="lt1"/>
        </a:solidFill>
        <a:effectLst/>
      </p:bgPr>
    </p:bg>
    <p:spTree>
      <p:nvGrpSpPr>
        <p:cNvPr id="1" name="Shape 207"/>
        <p:cNvGrpSpPr/>
        <p:nvPr/>
      </p:nvGrpSpPr>
      <p:grpSpPr>
        <a:xfrm>
          <a:off x="0" y="0"/>
          <a:ext cx="0" cy="0"/>
          <a:chOff x="0" y="0"/>
          <a:chExt cx="0" cy="0"/>
        </a:xfrm>
      </p:grpSpPr>
      <p:pic>
        <p:nvPicPr>
          <p:cNvPr id="208" name="Google Shape;208;p16"/>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9" name="Google Shape;209;p16"/>
          <p:cNvSpPr>
            <a:spLocks noGrp="1"/>
          </p:cNvSpPr>
          <p:nvPr>
            <p:ph type="pic" idx="2"/>
          </p:nvPr>
        </p:nvSpPr>
        <p:spPr>
          <a:xfrm>
            <a:off x="3275" y="-23000"/>
            <a:ext cx="9144000" cy="5143500"/>
          </a:xfrm>
          <a:prstGeom prst="rect">
            <a:avLst/>
          </a:prstGeom>
          <a:noFill/>
          <a:ln>
            <a:noFill/>
          </a:ln>
        </p:spPr>
      </p:sp>
      <p:sp>
        <p:nvSpPr>
          <p:cNvPr id="210" name="Google Shape;210;p16"/>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63 - Titre, contenu et visuel à droite - cadre blanc">
  <p:cSld name="63 - Titre, contenu et visuel à droite - cadre blanc">
    <p:spTree>
      <p:nvGrpSpPr>
        <p:cNvPr id="1" name="Shape 211"/>
        <p:cNvGrpSpPr/>
        <p:nvPr/>
      </p:nvGrpSpPr>
      <p:grpSpPr>
        <a:xfrm>
          <a:off x="0" y="0"/>
          <a:ext cx="0" cy="0"/>
          <a:chOff x="0" y="0"/>
          <a:chExt cx="0" cy="0"/>
        </a:xfrm>
      </p:grpSpPr>
      <p:grpSp>
        <p:nvGrpSpPr>
          <p:cNvPr id="212" name="Google Shape;212;p17"/>
          <p:cNvGrpSpPr/>
          <p:nvPr/>
        </p:nvGrpSpPr>
        <p:grpSpPr>
          <a:xfrm>
            <a:off x="6270019" y="304800"/>
            <a:ext cx="2593200" cy="3705000"/>
            <a:chOff x="6270019" y="304800"/>
            <a:chExt cx="2593200" cy="3705000"/>
          </a:xfrm>
        </p:grpSpPr>
        <p:sp>
          <p:nvSpPr>
            <p:cNvPr id="213" name="Google Shape;213;p17"/>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4" name="Google Shape;214;p17"/>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15" name="Google Shape;215;p17"/>
          <p:cNvGrpSpPr/>
          <p:nvPr/>
        </p:nvGrpSpPr>
        <p:grpSpPr>
          <a:xfrm>
            <a:off x="276303" y="295049"/>
            <a:ext cx="8682472" cy="4585476"/>
            <a:chOff x="276303" y="295049"/>
            <a:chExt cx="8682472" cy="4585476"/>
          </a:xfrm>
        </p:grpSpPr>
        <p:sp>
          <p:nvSpPr>
            <p:cNvPr id="216" name="Google Shape;216;p17"/>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7" name="Google Shape;217;p17"/>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18" name="Google Shape;218;p17"/>
            <p:cNvCxnSpPr>
              <a:stCxn id="21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20" name="Google Shape;220;p17"/>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1" name="Google Shape;221;p17"/>
            <p:cNvCxnSpPr>
              <a:endCxn id="22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22" name="Google Shape;222;p17"/>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9" name="Google Shape;219;p17"/>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3" name="Google Shape;223;p17"/>
            <p:cNvCxnSpPr>
              <a:stCxn id="222" idx="2"/>
              <a:endCxn id="22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224" name="Google Shape;224;p17"/>
          <p:cNvSpPr txBox="1">
            <a:spLocks noGrp="1"/>
          </p:cNvSpPr>
          <p:nvPr>
            <p:ph type="body" idx="1"/>
          </p:nvPr>
        </p:nvSpPr>
        <p:spPr>
          <a:xfrm>
            <a:off x="562825" y="817275"/>
            <a:ext cx="53055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25" name="Google Shape;225;p17"/>
          <p:cNvSpPr txBox="1">
            <a:spLocks noGrp="1"/>
          </p:cNvSpPr>
          <p:nvPr>
            <p:ph type="title"/>
          </p:nvPr>
        </p:nvSpPr>
        <p:spPr>
          <a:xfrm>
            <a:off x="562825" y="357529"/>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grpSp>
        <p:nvGrpSpPr>
          <p:cNvPr id="226" name="Google Shape;226;p17"/>
          <p:cNvGrpSpPr/>
          <p:nvPr/>
        </p:nvGrpSpPr>
        <p:grpSpPr>
          <a:xfrm>
            <a:off x="364209" y="292130"/>
            <a:ext cx="82155" cy="82230"/>
            <a:chOff x="7483200" y="518225"/>
            <a:chExt cx="602750" cy="603300"/>
          </a:xfrm>
        </p:grpSpPr>
        <p:sp>
          <p:nvSpPr>
            <p:cNvPr id="227" name="Google Shape;227;p17"/>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8" name="Google Shape;228;p17"/>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29" name="Google Shape;229;p17"/>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64 - Titre, sous-titre, contenu et visuel à droite - cadre blanc">
  <p:cSld name="64 - Titre, sous-titre, contenu et visuel à droite - cadre blanc">
    <p:spTree>
      <p:nvGrpSpPr>
        <p:cNvPr id="1" name="Shape 230"/>
        <p:cNvGrpSpPr/>
        <p:nvPr/>
      </p:nvGrpSpPr>
      <p:grpSpPr>
        <a:xfrm>
          <a:off x="0" y="0"/>
          <a:ext cx="0" cy="0"/>
          <a:chOff x="0" y="0"/>
          <a:chExt cx="0" cy="0"/>
        </a:xfrm>
      </p:grpSpPr>
      <p:grpSp>
        <p:nvGrpSpPr>
          <p:cNvPr id="231" name="Google Shape;231;p18"/>
          <p:cNvGrpSpPr/>
          <p:nvPr/>
        </p:nvGrpSpPr>
        <p:grpSpPr>
          <a:xfrm>
            <a:off x="6270019" y="304800"/>
            <a:ext cx="2593200" cy="3705000"/>
            <a:chOff x="6270019" y="304800"/>
            <a:chExt cx="2593200" cy="3705000"/>
          </a:xfrm>
        </p:grpSpPr>
        <p:sp>
          <p:nvSpPr>
            <p:cNvPr id="232" name="Google Shape;232;p18"/>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33" name="Google Shape;233;p18"/>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34" name="Google Shape;234;p18"/>
          <p:cNvGrpSpPr/>
          <p:nvPr/>
        </p:nvGrpSpPr>
        <p:grpSpPr>
          <a:xfrm>
            <a:off x="276303" y="295049"/>
            <a:ext cx="8682472" cy="4585476"/>
            <a:chOff x="276303" y="295049"/>
            <a:chExt cx="8682472" cy="4585476"/>
          </a:xfrm>
        </p:grpSpPr>
        <p:cxnSp>
          <p:nvCxnSpPr>
            <p:cNvPr id="235" name="Google Shape;235;p18"/>
            <p:cNvCxnSpPr>
              <a:stCxn id="236" idx="2"/>
              <a:endCxn id="237"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nvGrpSpPr>
            <p:cNvPr id="238" name="Google Shape;238;p18"/>
            <p:cNvGrpSpPr/>
            <p:nvPr/>
          </p:nvGrpSpPr>
          <p:grpSpPr>
            <a:xfrm>
              <a:off x="276303" y="295049"/>
              <a:ext cx="8682472" cy="4585476"/>
              <a:chOff x="276303" y="295049"/>
              <a:chExt cx="8682472" cy="4585476"/>
            </a:xfrm>
          </p:grpSpPr>
          <p:sp>
            <p:nvSpPr>
              <p:cNvPr id="239" name="Google Shape;239;p18"/>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0" name="Google Shape;240;p18"/>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1" name="Google Shape;241;p18"/>
              <p:cNvCxnSpPr>
                <a:stCxn id="24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37" name="Google Shape;237;p18"/>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43" name="Google Shape;243;p18"/>
              <p:cNvCxnSpPr>
                <a:endCxn id="237"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36" name="Google Shape;236;p18"/>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2" name="Google Shape;242;p18"/>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grpSp>
      <p:sp>
        <p:nvSpPr>
          <p:cNvPr id="244" name="Google Shape;244;p18"/>
          <p:cNvSpPr txBox="1">
            <a:spLocks noGrp="1"/>
          </p:cNvSpPr>
          <p:nvPr>
            <p:ph type="body" idx="1"/>
          </p:nvPr>
        </p:nvSpPr>
        <p:spPr>
          <a:xfrm>
            <a:off x="562800" y="1273200"/>
            <a:ext cx="5305500" cy="3591600"/>
          </a:xfrm>
          <a:prstGeom prst="rect">
            <a:avLst/>
          </a:prstGeom>
          <a:noFill/>
          <a:ln>
            <a:noFill/>
          </a:ln>
        </p:spPr>
        <p:txBody>
          <a:bodyPr spcFirstLastPara="1" wrap="square" lIns="0" tIns="180000" rIns="0"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45" name="Google Shape;245;p18"/>
          <p:cNvSpPr txBox="1">
            <a:spLocks noGrp="1"/>
          </p:cNvSpPr>
          <p:nvPr>
            <p:ph type="subTitle" idx="2"/>
          </p:nvPr>
        </p:nvSpPr>
        <p:spPr>
          <a:xfrm>
            <a:off x="571015" y="778000"/>
            <a:ext cx="53055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46" name="Google Shape;246;p18"/>
          <p:cNvSpPr txBox="1">
            <a:spLocks noGrp="1"/>
          </p:cNvSpPr>
          <p:nvPr>
            <p:ph type="title"/>
          </p:nvPr>
        </p:nvSpPr>
        <p:spPr>
          <a:xfrm>
            <a:off x="562825" y="361400"/>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47" name="Google Shape;247;p18"/>
          <p:cNvGrpSpPr/>
          <p:nvPr/>
        </p:nvGrpSpPr>
        <p:grpSpPr>
          <a:xfrm>
            <a:off x="276301" y="295049"/>
            <a:ext cx="163560" cy="163519"/>
            <a:chOff x="6838242" y="539639"/>
            <a:chExt cx="1200000" cy="1199700"/>
          </a:xfrm>
        </p:grpSpPr>
        <p:sp>
          <p:nvSpPr>
            <p:cNvPr id="248" name="Google Shape;248;p18"/>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9" name="Google Shape;249;p18"/>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50" name="Google Shape;250;p18"/>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1" name="Google Shape;251;p18"/>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65 - Titre, contenu, visuel à droite et bloc conclu - cadre blanc">
  <p:cSld name="65 - Titre, contenu, visuel à droite et bloc conclu - cadre blanc">
    <p:spTree>
      <p:nvGrpSpPr>
        <p:cNvPr id="1" name="Shape 252"/>
        <p:cNvGrpSpPr/>
        <p:nvPr/>
      </p:nvGrpSpPr>
      <p:grpSpPr>
        <a:xfrm>
          <a:off x="0" y="0"/>
          <a:ext cx="0" cy="0"/>
          <a:chOff x="0" y="0"/>
          <a:chExt cx="0" cy="0"/>
        </a:xfrm>
      </p:grpSpPr>
      <p:grpSp>
        <p:nvGrpSpPr>
          <p:cNvPr id="253" name="Google Shape;253;p19"/>
          <p:cNvGrpSpPr/>
          <p:nvPr/>
        </p:nvGrpSpPr>
        <p:grpSpPr>
          <a:xfrm rot="10800000">
            <a:off x="5754900" y="3471525"/>
            <a:ext cx="1392300" cy="1392300"/>
            <a:chOff x="7475475" y="301725"/>
            <a:chExt cx="1392300" cy="1392300"/>
          </a:xfrm>
        </p:grpSpPr>
        <p:sp>
          <p:nvSpPr>
            <p:cNvPr id="254" name="Google Shape;254;p19"/>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5" name="Google Shape;255;p19"/>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56" name="Google Shape;256;p19"/>
          <p:cNvSpPr/>
          <p:nvPr/>
        </p:nvSpPr>
        <p:spPr>
          <a:xfrm>
            <a:off x="6549661"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257" name="Google Shape;257;p19"/>
          <p:cNvGrpSpPr/>
          <p:nvPr/>
        </p:nvGrpSpPr>
        <p:grpSpPr>
          <a:xfrm>
            <a:off x="276303" y="295049"/>
            <a:ext cx="8682472" cy="4585476"/>
            <a:chOff x="276303" y="295049"/>
            <a:chExt cx="8682472" cy="4585476"/>
          </a:xfrm>
        </p:grpSpPr>
        <p:sp>
          <p:nvSpPr>
            <p:cNvPr id="258" name="Google Shape;258;p19"/>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59" name="Google Shape;259;p19"/>
            <p:cNvCxnSpPr>
              <a:stCxn id="26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1" name="Google Shape;261;p1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2" name="Google Shape;262;p19"/>
            <p:cNvCxnSpPr>
              <a:endCxn id="26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63" name="Google Shape;263;p1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60" name="Google Shape;260;p1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4" name="Google Shape;264;p19"/>
            <p:cNvCxnSpPr>
              <a:stCxn id="263" idx="2"/>
              <a:endCxn id="26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265" name="Google Shape;265;p1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grpSp>
      <p:sp>
        <p:nvSpPr>
          <p:cNvPr id="266" name="Google Shape;266;p19"/>
          <p:cNvSpPr txBox="1">
            <a:spLocks noGrp="1"/>
          </p:cNvSpPr>
          <p:nvPr>
            <p:ph type="body" idx="1"/>
          </p:nvPr>
        </p:nvSpPr>
        <p:spPr>
          <a:xfrm>
            <a:off x="562775" y="817275"/>
            <a:ext cx="47904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67" name="Google Shape;267;p19"/>
          <p:cNvSpPr txBox="1">
            <a:spLocks noGrp="1"/>
          </p:cNvSpPr>
          <p:nvPr>
            <p:ph type="title"/>
          </p:nvPr>
        </p:nvSpPr>
        <p:spPr>
          <a:xfrm>
            <a:off x="562825" y="361375"/>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68" name="Google Shape;268;p19"/>
          <p:cNvSpPr txBox="1">
            <a:spLocks noGrp="1"/>
          </p:cNvSpPr>
          <p:nvPr>
            <p:ph type="body" idx="2"/>
          </p:nvPr>
        </p:nvSpPr>
        <p:spPr>
          <a:xfrm>
            <a:off x="6920978"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69" name="Google Shape;269;p19"/>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19"/>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1" name="Google Shape;271;p19"/>
          <p:cNvSpPr/>
          <p:nvPr/>
        </p:nvSpPr>
        <p:spPr>
          <a:xfrm>
            <a:off x="364209" y="345001"/>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2" name="Google Shape;272;p1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66 - Titre, sous-titre, contenu, visuel à droite et bloc conclu - cadre blanc">
  <p:cSld name="66 - Titre, sous-titre, contenu, visuel à droite et bloc conclu - cadre blanc">
    <p:spTree>
      <p:nvGrpSpPr>
        <p:cNvPr id="1" name="Shape 273"/>
        <p:cNvGrpSpPr/>
        <p:nvPr/>
      </p:nvGrpSpPr>
      <p:grpSpPr>
        <a:xfrm>
          <a:off x="0" y="0"/>
          <a:ext cx="0" cy="0"/>
          <a:chOff x="0" y="0"/>
          <a:chExt cx="0" cy="0"/>
        </a:xfrm>
      </p:grpSpPr>
      <p:sp>
        <p:nvSpPr>
          <p:cNvPr id="274" name="Google Shape;274;p20"/>
          <p:cNvSpPr txBox="1">
            <a:spLocks noGrp="1"/>
          </p:cNvSpPr>
          <p:nvPr>
            <p:ph type="body" idx="1"/>
          </p:nvPr>
        </p:nvSpPr>
        <p:spPr>
          <a:xfrm>
            <a:off x="562825" y="1267800"/>
            <a:ext cx="4790400" cy="3596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75" name="Google Shape;275;p20"/>
          <p:cNvSpPr txBox="1">
            <a:spLocks noGrp="1"/>
          </p:cNvSpPr>
          <p:nvPr>
            <p:ph type="subTitle" idx="2"/>
          </p:nvPr>
        </p:nvSpPr>
        <p:spPr>
          <a:xfrm>
            <a:off x="571015" y="777619"/>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76" name="Google Shape;276;p20"/>
          <p:cNvSpPr txBox="1">
            <a:spLocks noGrp="1"/>
          </p:cNvSpPr>
          <p:nvPr>
            <p:ph type="title"/>
          </p:nvPr>
        </p:nvSpPr>
        <p:spPr>
          <a:xfrm>
            <a:off x="562825" y="367000"/>
            <a:ext cx="47904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77" name="Google Shape;277;p20"/>
          <p:cNvGrpSpPr/>
          <p:nvPr/>
        </p:nvGrpSpPr>
        <p:grpSpPr>
          <a:xfrm>
            <a:off x="276301" y="292130"/>
            <a:ext cx="8682474" cy="4588395"/>
            <a:chOff x="276301" y="292130"/>
            <a:chExt cx="8682474" cy="4588395"/>
          </a:xfrm>
        </p:grpSpPr>
        <p:grpSp>
          <p:nvGrpSpPr>
            <p:cNvPr id="278" name="Google Shape;278;p20"/>
            <p:cNvGrpSpPr/>
            <p:nvPr/>
          </p:nvGrpSpPr>
          <p:grpSpPr>
            <a:xfrm>
              <a:off x="276301" y="292130"/>
              <a:ext cx="170063" cy="166438"/>
              <a:chOff x="6838242" y="518225"/>
              <a:chExt cx="1247708" cy="1221114"/>
            </a:xfrm>
          </p:grpSpPr>
          <p:sp>
            <p:nvSpPr>
              <p:cNvPr id="279" name="Google Shape;279;p2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0" name="Google Shape;280;p20"/>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1" name="Google Shape;281;p2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82" name="Google Shape;282;p20"/>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83" name="Google Shape;283;p20"/>
            <p:cNvCxnSpPr>
              <a:stCxn id="28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85" name="Google Shape;285;p20"/>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6" name="Google Shape;286;p20"/>
            <p:cNvCxnSpPr>
              <a:endCxn id="28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7" name="Google Shape;287;p20"/>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4" name="Google Shape;284;p20"/>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8" name="Google Shape;288;p20"/>
            <p:cNvCxnSpPr>
              <a:stCxn id="287" idx="2"/>
              <a:endCxn id="28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grpSp>
        <p:nvGrpSpPr>
          <p:cNvPr id="289" name="Google Shape;289;p20"/>
          <p:cNvGrpSpPr/>
          <p:nvPr/>
        </p:nvGrpSpPr>
        <p:grpSpPr>
          <a:xfrm rot="10800000">
            <a:off x="5754902" y="3471525"/>
            <a:ext cx="1392300" cy="1392300"/>
            <a:chOff x="7475475" y="301725"/>
            <a:chExt cx="1392300" cy="1392300"/>
          </a:xfrm>
        </p:grpSpPr>
        <p:sp>
          <p:nvSpPr>
            <p:cNvPr id="290" name="Google Shape;290;p20"/>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1" name="Google Shape;291;p20"/>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92" name="Google Shape;292;p20"/>
          <p:cNvSpPr/>
          <p:nvPr/>
        </p:nvSpPr>
        <p:spPr>
          <a:xfrm>
            <a:off x="6543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3" name="Google Shape;293;p20"/>
          <p:cNvSpPr txBox="1">
            <a:spLocks noGrp="1"/>
          </p:cNvSpPr>
          <p:nvPr>
            <p:ph type="body" idx="3"/>
          </p:nvPr>
        </p:nvSpPr>
        <p:spPr>
          <a:xfrm>
            <a:off x="6920975"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94" name="Google Shape;294;p20"/>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95" name="Google Shape;295;p20"/>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67 - Titre, contenu et visuel à gauche - cadre blanc">
  <p:cSld name="67 - Titre, contenu et visuel à gauche - cadre blanc">
    <p:spTree>
      <p:nvGrpSpPr>
        <p:cNvPr id="1" name="Shape 296"/>
        <p:cNvGrpSpPr/>
        <p:nvPr/>
      </p:nvGrpSpPr>
      <p:grpSpPr>
        <a:xfrm>
          <a:off x="0" y="0"/>
          <a:ext cx="0" cy="0"/>
          <a:chOff x="0" y="0"/>
          <a:chExt cx="0" cy="0"/>
        </a:xfrm>
      </p:grpSpPr>
      <p:sp>
        <p:nvSpPr>
          <p:cNvPr id="297" name="Google Shape;297;p21"/>
          <p:cNvSpPr txBox="1">
            <a:spLocks noGrp="1"/>
          </p:cNvSpPr>
          <p:nvPr>
            <p:ph type="title"/>
          </p:nvPr>
        </p:nvSpPr>
        <p:spPr>
          <a:xfrm>
            <a:off x="3440825" y="359479"/>
            <a:ext cx="51366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
        <p:nvSpPr>
          <p:cNvPr id="298" name="Google Shape;298;p21"/>
          <p:cNvSpPr txBox="1">
            <a:spLocks noGrp="1"/>
          </p:cNvSpPr>
          <p:nvPr>
            <p:ph type="body" idx="1"/>
          </p:nvPr>
        </p:nvSpPr>
        <p:spPr>
          <a:xfrm>
            <a:off x="3440825" y="817275"/>
            <a:ext cx="5136600" cy="40476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299" name="Google Shape;299;p21"/>
          <p:cNvGrpSpPr/>
          <p:nvPr/>
        </p:nvGrpSpPr>
        <p:grpSpPr>
          <a:xfrm>
            <a:off x="571494" y="306825"/>
            <a:ext cx="2593200" cy="3705000"/>
            <a:chOff x="-2696606" y="304800"/>
            <a:chExt cx="2593200" cy="3705000"/>
          </a:xfrm>
        </p:grpSpPr>
        <p:sp>
          <p:nvSpPr>
            <p:cNvPr id="300" name="Google Shape;300;p21"/>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1" name="Google Shape;301;p21"/>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02" name="Google Shape;302;p21"/>
          <p:cNvGrpSpPr/>
          <p:nvPr/>
        </p:nvGrpSpPr>
        <p:grpSpPr>
          <a:xfrm>
            <a:off x="276301" y="292130"/>
            <a:ext cx="8682474" cy="4588395"/>
            <a:chOff x="276301" y="292130"/>
            <a:chExt cx="8682474" cy="4588395"/>
          </a:xfrm>
        </p:grpSpPr>
        <p:grpSp>
          <p:nvGrpSpPr>
            <p:cNvPr id="303" name="Google Shape;303;p21"/>
            <p:cNvGrpSpPr/>
            <p:nvPr/>
          </p:nvGrpSpPr>
          <p:grpSpPr>
            <a:xfrm>
              <a:off x="276301" y="292130"/>
              <a:ext cx="170063" cy="166438"/>
              <a:chOff x="6838242" y="518225"/>
              <a:chExt cx="1247708" cy="1221114"/>
            </a:xfrm>
          </p:grpSpPr>
          <p:sp>
            <p:nvSpPr>
              <p:cNvPr id="304" name="Google Shape;304;p2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5" name="Google Shape;305;p2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6" name="Google Shape;306;p2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07" name="Google Shape;307;p2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08" name="Google Shape;308;p21"/>
            <p:cNvCxnSpPr>
              <a:stCxn id="30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10" name="Google Shape;310;p2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1" name="Google Shape;311;p21"/>
            <p:cNvCxnSpPr>
              <a:endCxn id="31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12" name="Google Shape;312;p2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9" name="Google Shape;309;p2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3" name="Google Shape;313;p21"/>
            <p:cNvCxnSpPr>
              <a:stCxn id="312" idx="2"/>
              <a:endCxn id="31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14" name="Google Shape;314;p2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68 - Titre, sous-titre, contenu et visuel à gauche - cadre blanc">
  <p:cSld name="68 - Titre, sous-titre, contenu et visuel à gauche - cadre blanc">
    <p:spTree>
      <p:nvGrpSpPr>
        <p:cNvPr id="1" name="Shape 315"/>
        <p:cNvGrpSpPr/>
        <p:nvPr/>
      </p:nvGrpSpPr>
      <p:grpSpPr>
        <a:xfrm>
          <a:off x="0" y="0"/>
          <a:ext cx="0" cy="0"/>
          <a:chOff x="0" y="0"/>
          <a:chExt cx="0" cy="0"/>
        </a:xfrm>
      </p:grpSpPr>
      <p:sp>
        <p:nvSpPr>
          <p:cNvPr id="316" name="Google Shape;316;p22"/>
          <p:cNvSpPr/>
          <p:nvPr/>
        </p:nvSpPr>
        <p:spPr>
          <a:xfrm rot="5400000" flipH="1">
            <a:off x="4143250" y="131125"/>
            <a:ext cx="4709400" cy="4865400"/>
          </a:xfrm>
          <a:prstGeom prst="round2SameRect">
            <a:avLst>
              <a:gd name="adj1" fmla="val 1367"/>
              <a:gd name="adj2" fmla="val 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17" name="Google Shape;317;p22"/>
          <p:cNvSpPr txBox="1">
            <a:spLocks noGrp="1"/>
          </p:cNvSpPr>
          <p:nvPr>
            <p:ph type="subTitle" idx="1"/>
          </p:nvPr>
        </p:nvSpPr>
        <p:spPr>
          <a:xfrm>
            <a:off x="3442450" y="779144"/>
            <a:ext cx="5139300" cy="3042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18" name="Google Shape;318;p22"/>
          <p:cNvSpPr txBox="1">
            <a:spLocks noGrp="1"/>
          </p:cNvSpPr>
          <p:nvPr>
            <p:ph type="body" idx="2"/>
          </p:nvPr>
        </p:nvSpPr>
        <p:spPr>
          <a:xfrm>
            <a:off x="3438150" y="1271025"/>
            <a:ext cx="5139300" cy="3593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19" name="Google Shape;319;p22"/>
          <p:cNvSpPr txBox="1">
            <a:spLocks noGrp="1"/>
          </p:cNvSpPr>
          <p:nvPr>
            <p:ph type="title"/>
          </p:nvPr>
        </p:nvSpPr>
        <p:spPr>
          <a:xfrm>
            <a:off x="3438150" y="358969"/>
            <a:ext cx="51393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20" name="Google Shape;320;p22"/>
          <p:cNvGrpSpPr/>
          <p:nvPr/>
        </p:nvGrpSpPr>
        <p:grpSpPr>
          <a:xfrm>
            <a:off x="571494" y="306825"/>
            <a:ext cx="2593200" cy="3705000"/>
            <a:chOff x="-2696606" y="304800"/>
            <a:chExt cx="2593200" cy="3705000"/>
          </a:xfrm>
        </p:grpSpPr>
        <p:sp>
          <p:nvSpPr>
            <p:cNvPr id="321" name="Google Shape;321;p22"/>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2" name="Google Shape;322;p22"/>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23" name="Google Shape;323;p22"/>
          <p:cNvGrpSpPr/>
          <p:nvPr/>
        </p:nvGrpSpPr>
        <p:grpSpPr>
          <a:xfrm>
            <a:off x="276301" y="292130"/>
            <a:ext cx="8682474" cy="4588395"/>
            <a:chOff x="276301" y="292130"/>
            <a:chExt cx="8682474" cy="4588395"/>
          </a:xfrm>
        </p:grpSpPr>
        <p:grpSp>
          <p:nvGrpSpPr>
            <p:cNvPr id="324" name="Google Shape;324;p22"/>
            <p:cNvGrpSpPr/>
            <p:nvPr/>
          </p:nvGrpSpPr>
          <p:grpSpPr>
            <a:xfrm>
              <a:off x="276301" y="292130"/>
              <a:ext cx="170063" cy="166438"/>
              <a:chOff x="6838242" y="518225"/>
              <a:chExt cx="1247708" cy="1221114"/>
            </a:xfrm>
          </p:grpSpPr>
          <p:sp>
            <p:nvSpPr>
              <p:cNvPr id="325" name="Google Shape;325;p2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6" name="Google Shape;326;p2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7" name="Google Shape;327;p2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28" name="Google Shape;328;p2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29" name="Google Shape;329;p22"/>
            <p:cNvCxnSpPr>
              <a:stCxn id="33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31" name="Google Shape;331;p2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2" name="Google Shape;332;p22"/>
            <p:cNvCxnSpPr>
              <a:endCxn id="33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33" name="Google Shape;333;p2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30" name="Google Shape;330;p2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4" name="Google Shape;334;p22"/>
            <p:cNvCxnSpPr>
              <a:stCxn id="333" idx="2"/>
              <a:endCxn id="33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35" name="Google Shape;335;p2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69 - Titre, contenu, visuel à gauche et bloc conclu - cadre blanc">
  <p:cSld name="69 - Titre, contenu, visuel à gauche et bloc conclu - cadre blanc">
    <p:spTree>
      <p:nvGrpSpPr>
        <p:cNvPr id="1" name="Shape 336"/>
        <p:cNvGrpSpPr/>
        <p:nvPr/>
      </p:nvGrpSpPr>
      <p:grpSpPr>
        <a:xfrm>
          <a:off x="0" y="0"/>
          <a:ext cx="0" cy="0"/>
          <a:chOff x="0" y="0"/>
          <a:chExt cx="0" cy="0"/>
        </a:xfrm>
      </p:grpSpPr>
      <p:grpSp>
        <p:nvGrpSpPr>
          <p:cNvPr id="337" name="Google Shape;337;p23"/>
          <p:cNvGrpSpPr/>
          <p:nvPr/>
        </p:nvGrpSpPr>
        <p:grpSpPr>
          <a:xfrm>
            <a:off x="276301" y="292130"/>
            <a:ext cx="8682474" cy="4588395"/>
            <a:chOff x="276301" y="292130"/>
            <a:chExt cx="8682474" cy="4588395"/>
          </a:xfrm>
        </p:grpSpPr>
        <p:grpSp>
          <p:nvGrpSpPr>
            <p:cNvPr id="338" name="Google Shape;338;p23"/>
            <p:cNvGrpSpPr/>
            <p:nvPr/>
          </p:nvGrpSpPr>
          <p:grpSpPr>
            <a:xfrm>
              <a:off x="276301" y="292130"/>
              <a:ext cx="170063" cy="166438"/>
              <a:chOff x="6838242" y="518225"/>
              <a:chExt cx="1247708" cy="1221114"/>
            </a:xfrm>
          </p:grpSpPr>
          <p:sp>
            <p:nvSpPr>
              <p:cNvPr id="339" name="Google Shape;339;p2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0" name="Google Shape;340;p2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1" name="Google Shape;341;p2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42" name="Google Shape;342;p23"/>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43" name="Google Shape;343;p23"/>
            <p:cNvCxnSpPr>
              <a:stCxn id="34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45" name="Google Shape;345;p23"/>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6" name="Google Shape;346;p23"/>
            <p:cNvCxnSpPr>
              <a:endCxn id="34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47" name="Google Shape;347;p23"/>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4" name="Google Shape;344;p23"/>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8" name="Google Shape;348;p23"/>
            <p:cNvCxnSpPr>
              <a:stCxn id="347" idx="2"/>
              <a:endCxn id="34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49" name="Google Shape;349;p23"/>
          <p:cNvSpPr txBox="1">
            <a:spLocks noGrp="1"/>
          </p:cNvSpPr>
          <p:nvPr>
            <p:ph type="title"/>
          </p:nvPr>
        </p:nvSpPr>
        <p:spPr>
          <a:xfrm>
            <a:off x="3932050" y="354600"/>
            <a:ext cx="4588200" cy="328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50" name="Google Shape;350;p23"/>
          <p:cNvGrpSpPr/>
          <p:nvPr/>
        </p:nvGrpSpPr>
        <p:grpSpPr>
          <a:xfrm rot="10800000">
            <a:off x="420900" y="3471525"/>
            <a:ext cx="1392300" cy="1392300"/>
            <a:chOff x="7475475" y="301725"/>
            <a:chExt cx="1392300" cy="1392300"/>
          </a:xfrm>
        </p:grpSpPr>
        <p:sp>
          <p:nvSpPr>
            <p:cNvPr id="351" name="Google Shape;351;p23"/>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2" name="Google Shape;352;p23"/>
            <p:cNvSpPr txBox="1"/>
            <p:nvPr/>
          </p:nvSpPr>
          <p:spPr>
            <a:xfrm rot="10800000">
              <a:off x="7776275" y="553855"/>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53" name="Google Shape;353;p23"/>
          <p:cNvSpPr txBox="1">
            <a:spLocks noGrp="1"/>
          </p:cNvSpPr>
          <p:nvPr>
            <p:ph type="body" idx="1"/>
          </p:nvPr>
        </p:nvSpPr>
        <p:spPr>
          <a:xfrm>
            <a:off x="1511925" y="817275"/>
            <a:ext cx="1719000" cy="20856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4" name="Google Shape;354;p23"/>
          <p:cNvSpPr txBox="1">
            <a:spLocks noGrp="1"/>
          </p:cNvSpPr>
          <p:nvPr>
            <p:ph type="body" idx="2"/>
          </p:nvPr>
        </p:nvSpPr>
        <p:spPr>
          <a:xfrm>
            <a:off x="3932200" y="817275"/>
            <a:ext cx="4588200" cy="4046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5" name="Google Shape;355;p23"/>
          <p:cNvSpPr/>
          <p:nvPr/>
        </p:nvSpPr>
        <p:spPr>
          <a:xfrm>
            <a:off x="1209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6" name="Google Shape;356;p2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70 - Titre, sous-titre, contenu, visuel à gauche et bloc conclu - cadre blanc">
  <p:cSld name="70 - Titre, sous-titre, contenu, visuel à gauche et bloc conclu - cadre blanc">
    <p:spTree>
      <p:nvGrpSpPr>
        <p:cNvPr id="1" name="Shape 357"/>
        <p:cNvGrpSpPr/>
        <p:nvPr/>
      </p:nvGrpSpPr>
      <p:grpSpPr>
        <a:xfrm>
          <a:off x="0" y="0"/>
          <a:ext cx="0" cy="0"/>
          <a:chOff x="0" y="0"/>
          <a:chExt cx="0" cy="0"/>
        </a:xfrm>
      </p:grpSpPr>
      <p:grpSp>
        <p:nvGrpSpPr>
          <p:cNvPr id="358" name="Google Shape;358;p24"/>
          <p:cNvGrpSpPr/>
          <p:nvPr/>
        </p:nvGrpSpPr>
        <p:grpSpPr>
          <a:xfrm>
            <a:off x="276301" y="292130"/>
            <a:ext cx="8682474" cy="4588395"/>
            <a:chOff x="276301" y="292130"/>
            <a:chExt cx="8682474" cy="4588395"/>
          </a:xfrm>
        </p:grpSpPr>
        <p:grpSp>
          <p:nvGrpSpPr>
            <p:cNvPr id="359" name="Google Shape;359;p24"/>
            <p:cNvGrpSpPr/>
            <p:nvPr/>
          </p:nvGrpSpPr>
          <p:grpSpPr>
            <a:xfrm>
              <a:off x="276301" y="292130"/>
              <a:ext cx="170063" cy="166438"/>
              <a:chOff x="6838242" y="518225"/>
              <a:chExt cx="1247708" cy="1221114"/>
            </a:xfrm>
          </p:grpSpPr>
          <p:sp>
            <p:nvSpPr>
              <p:cNvPr id="360" name="Google Shape;360;p2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1" name="Google Shape;361;p2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2" name="Google Shape;362;p2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63" name="Google Shape;363;p2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64" name="Google Shape;364;p24"/>
            <p:cNvCxnSpPr>
              <a:stCxn id="36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66" name="Google Shape;366;p2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7" name="Google Shape;367;p24"/>
            <p:cNvCxnSpPr>
              <a:endCxn id="36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68" name="Google Shape;368;p2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5" name="Google Shape;365;p2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9" name="Google Shape;369;p24"/>
            <p:cNvCxnSpPr>
              <a:stCxn id="368" idx="2"/>
              <a:endCxn id="36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70" name="Google Shape;370;p24"/>
          <p:cNvSpPr txBox="1">
            <a:spLocks noGrp="1"/>
          </p:cNvSpPr>
          <p:nvPr>
            <p:ph type="body" idx="1"/>
          </p:nvPr>
        </p:nvSpPr>
        <p:spPr>
          <a:xfrm>
            <a:off x="3943350" y="1271025"/>
            <a:ext cx="4564200" cy="35928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1" name="Google Shape;371;p24"/>
          <p:cNvSpPr txBox="1">
            <a:spLocks noGrp="1"/>
          </p:cNvSpPr>
          <p:nvPr>
            <p:ph type="subTitle" idx="2"/>
          </p:nvPr>
        </p:nvSpPr>
        <p:spPr>
          <a:xfrm>
            <a:off x="3935150" y="770950"/>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72" name="Google Shape;372;p24"/>
          <p:cNvSpPr txBox="1">
            <a:spLocks noGrp="1"/>
          </p:cNvSpPr>
          <p:nvPr>
            <p:ph type="title"/>
          </p:nvPr>
        </p:nvSpPr>
        <p:spPr>
          <a:xfrm>
            <a:off x="3935150" y="348725"/>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73" name="Google Shape;373;p24"/>
          <p:cNvGrpSpPr/>
          <p:nvPr/>
        </p:nvGrpSpPr>
        <p:grpSpPr>
          <a:xfrm rot="10800000">
            <a:off x="420900" y="3471800"/>
            <a:ext cx="1392300" cy="1392300"/>
            <a:chOff x="7475475" y="301725"/>
            <a:chExt cx="1392300" cy="1392300"/>
          </a:xfrm>
        </p:grpSpPr>
        <p:sp>
          <p:nvSpPr>
            <p:cNvPr id="374" name="Google Shape;374;p24"/>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5" name="Google Shape;375;p24"/>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76" name="Google Shape;376;p24"/>
          <p:cNvSpPr/>
          <p:nvPr/>
        </p:nvSpPr>
        <p:spPr>
          <a:xfrm>
            <a:off x="1209075" y="30031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7" name="Google Shape;377;p24"/>
          <p:cNvSpPr txBox="1">
            <a:spLocks noGrp="1"/>
          </p:cNvSpPr>
          <p:nvPr>
            <p:ph type="body" idx="3"/>
          </p:nvPr>
        </p:nvSpPr>
        <p:spPr>
          <a:xfrm>
            <a:off x="1511925" y="812385"/>
            <a:ext cx="1719000" cy="2082300"/>
          </a:xfrm>
          <a:prstGeom prst="rect">
            <a:avLst/>
          </a:prstGeom>
          <a:noFill/>
          <a:ln>
            <a:noFill/>
          </a:ln>
        </p:spPr>
        <p:txBody>
          <a:bodyPr spcFirstLastPara="1" wrap="square" lIns="0" tIns="91425" rIns="91425" bIns="91425" anchor="ctr" anchorCtr="0">
            <a:noAutofit/>
          </a:bodyPr>
          <a:lstStyle>
            <a:lvl1pPr marL="457200" marR="0" lvl="0" indent="-228600" algn="l" rtl="0">
              <a:lnSpc>
                <a:spcPct val="115000"/>
              </a:lnSpc>
              <a:spcBef>
                <a:spcPts val="0"/>
              </a:spcBef>
              <a:spcAft>
                <a:spcPts val="0"/>
              </a:spcAft>
              <a:buClr>
                <a:schemeClr val="accent3"/>
              </a:buClr>
              <a:buSzPts val="1200"/>
              <a:buFont typeface="Outfit"/>
              <a:buNone/>
              <a:defRPr sz="1200" b="1"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accent3"/>
              </a:buClr>
              <a:buSzPts val="1200"/>
              <a:buFont typeface="Outfit"/>
              <a:buNone/>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8" name="Google Shape;378;p24"/>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0 - Table des matières [2]">
  <p:cSld name="90 - Table des matières [2]">
    <p:spTree>
      <p:nvGrpSpPr>
        <p:cNvPr id="1" name="Shape 379"/>
        <p:cNvGrpSpPr/>
        <p:nvPr/>
      </p:nvGrpSpPr>
      <p:grpSpPr>
        <a:xfrm>
          <a:off x="0" y="0"/>
          <a:ext cx="0" cy="0"/>
          <a:chOff x="0" y="0"/>
          <a:chExt cx="0" cy="0"/>
        </a:xfrm>
      </p:grpSpPr>
      <p:sp>
        <p:nvSpPr>
          <p:cNvPr id="380" name="Google Shape;380;p25"/>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1" name="Google Shape;381;p25"/>
          <p:cNvSpPr txBox="1">
            <a:spLocks noGrp="1"/>
          </p:cNvSpPr>
          <p:nvPr>
            <p:ph type="body" idx="1"/>
          </p:nvPr>
        </p:nvSpPr>
        <p:spPr>
          <a:xfrm>
            <a:off x="2236850" y="2248633"/>
            <a:ext cx="2335200" cy="788100"/>
          </a:xfrm>
          <a:prstGeom prst="rect">
            <a:avLst/>
          </a:prstGeom>
          <a:noFill/>
          <a:ln>
            <a:noFill/>
          </a:ln>
        </p:spPr>
        <p:txBody>
          <a:bodyPr spcFirstLastPara="1" wrap="square" lIns="0" tIns="0" rIns="0" bIns="0" anchor="ctr" anchorCtr="0">
            <a:norm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2" name="Google Shape;382;p25"/>
          <p:cNvSpPr txBox="1">
            <a:spLocks noGrp="1"/>
          </p:cNvSpPr>
          <p:nvPr>
            <p:ph type="body" idx="2"/>
          </p:nvPr>
        </p:nvSpPr>
        <p:spPr>
          <a:xfrm>
            <a:off x="6210950" y="2248625"/>
            <a:ext cx="2335200" cy="788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3" name="Google Shape;383;p25"/>
          <p:cNvSpPr/>
          <p:nvPr/>
        </p:nvSpPr>
        <p:spPr>
          <a:xfrm>
            <a:off x="1106400" y="22486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4" name="Google Shape;384;p25"/>
          <p:cNvSpPr txBox="1"/>
          <p:nvPr/>
        </p:nvSpPr>
        <p:spPr>
          <a:xfrm>
            <a:off x="1086263" y="2254176"/>
            <a:ext cx="808200" cy="8082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85" name="Google Shape;385;p25"/>
          <p:cNvSpPr/>
          <p:nvPr/>
        </p:nvSpPr>
        <p:spPr>
          <a:xfrm>
            <a:off x="5192425" y="2286425"/>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6" name="Google Shape;386;p25"/>
          <p:cNvSpPr txBox="1"/>
          <p:nvPr/>
        </p:nvSpPr>
        <p:spPr>
          <a:xfrm>
            <a:off x="5160164" y="2254177"/>
            <a:ext cx="852600" cy="852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91 - Table des matières [3]">
  <p:cSld name="91 - Table des matières [3]">
    <p:spTree>
      <p:nvGrpSpPr>
        <p:cNvPr id="1" name="Shape 387"/>
        <p:cNvGrpSpPr/>
        <p:nvPr/>
      </p:nvGrpSpPr>
      <p:grpSpPr>
        <a:xfrm>
          <a:off x="0" y="0"/>
          <a:ext cx="0" cy="0"/>
          <a:chOff x="0" y="0"/>
          <a:chExt cx="0" cy="0"/>
        </a:xfrm>
      </p:grpSpPr>
      <p:sp>
        <p:nvSpPr>
          <p:cNvPr id="388" name="Google Shape;388;p26"/>
          <p:cNvSpPr txBox="1">
            <a:spLocks noGrp="1"/>
          </p:cNvSpPr>
          <p:nvPr>
            <p:ph type="title"/>
          </p:nvPr>
        </p:nvSpPr>
        <p:spPr>
          <a:xfrm>
            <a:off x="829600" y="12635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9" name="Google Shape;389;p26"/>
          <p:cNvSpPr txBox="1">
            <a:spLocks noGrp="1"/>
          </p:cNvSpPr>
          <p:nvPr>
            <p:ph type="body" idx="1"/>
          </p:nvPr>
        </p:nvSpPr>
        <p:spPr>
          <a:xfrm>
            <a:off x="1172550" y="26890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0" name="Google Shape;390;p26"/>
          <p:cNvSpPr txBox="1">
            <a:spLocks noGrp="1"/>
          </p:cNvSpPr>
          <p:nvPr>
            <p:ph type="body" idx="2"/>
          </p:nvPr>
        </p:nvSpPr>
        <p:spPr>
          <a:xfrm>
            <a:off x="3666975" y="27118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1" name="Google Shape;391;p26"/>
          <p:cNvSpPr txBox="1">
            <a:spLocks noGrp="1"/>
          </p:cNvSpPr>
          <p:nvPr>
            <p:ph type="body" idx="3"/>
          </p:nvPr>
        </p:nvSpPr>
        <p:spPr>
          <a:xfrm>
            <a:off x="6260400" y="2711825"/>
            <a:ext cx="23172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2" name="Google Shape;392;p26"/>
          <p:cNvSpPr/>
          <p:nvPr/>
        </p:nvSpPr>
        <p:spPr>
          <a:xfrm rot="10800000">
            <a:off x="3666963"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3" name="Google Shape;393;p26"/>
          <p:cNvSpPr/>
          <p:nvPr/>
        </p:nvSpPr>
        <p:spPr>
          <a:xfrm rot="10800000">
            <a:off x="1172550"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4" name="Google Shape;394;p26"/>
          <p:cNvSpPr/>
          <p:nvPr/>
        </p:nvSpPr>
        <p:spPr>
          <a:xfrm rot="10800000">
            <a:off x="6260388"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5" name="Google Shape;395;p26"/>
          <p:cNvSpPr txBox="1"/>
          <p:nvPr/>
        </p:nvSpPr>
        <p:spPr>
          <a:xfrm>
            <a:off x="1164446" y="179938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96" name="Google Shape;396;p26"/>
          <p:cNvSpPr txBox="1"/>
          <p:nvPr/>
        </p:nvSpPr>
        <p:spPr>
          <a:xfrm>
            <a:off x="3650472" y="179937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
        <p:nvSpPr>
          <p:cNvPr id="397" name="Google Shape;397;p26"/>
          <p:cNvSpPr txBox="1"/>
          <p:nvPr/>
        </p:nvSpPr>
        <p:spPr>
          <a:xfrm>
            <a:off x="6243911" y="1799374"/>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03</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92 - Table des matières [4]">
  <p:cSld name="92 - Table des matières [4]">
    <p:spTree>
      <p:nvGrpSpPr>
        <p:cNvPr id="1" name="Shape 398"/>
        <p:cNvGrpSpPr/>
        <p:nvPr/>
      </p:nvGrpSpPr>
      <p:grpSpPr>
        <a:xfrm>
          <a:off x="0" y="0"/>
          <a:ext cx="0" cy="0"/>
          <a:chOff x="0" y="0"/>
          <a:chExt cx="0" cy="0"/>
        </a:xfrm>
      </p:grpSpPr>
      <p:sp>
        <p:nvSpPr>
          <p:cNvPr id="399" name="Google Shape;399;p27"/>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00" name="Google Shape;400;p27"/>
          <p:cNvSpPr txBox="1">
            <a:spLocks noGrp="1"/>
          </p:cNvSpPr>
          <p:nvPr>
            <p:ph type="body" idx="1"/>
          </p:nvPr>
        </p:nvSpPr>
        <p:spPr>
          <a:xfrm>
            <a:off x="1681525" y="1738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1" name="Google Shape;401;p27"/>
          <p:cNvSpPr txBox="1">
            <a:spLocks noGrp="1"/>
          </p:cNvSpPr>
          <p:nvPr>
            <p:ph type="body" idx="2"/>
          </p:nvPr>
        </p:nvSpPr>
        <p:spPr>
          <a:xfrm>
            <a:off x="1681500" y="30141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2" name="Google Shape;402;p27"/>
          <p:cNvSpPr txBox="1">
            <a:spLocks noGrp="1"/>
          </p:cNvSpPr>
          <p:nvPr>
            <p:ph type="body" idx="3"/>
          </p:nvPr>
        </p:nvSpPr>
        <p:spPr>
          <a:xfrm>
            <a:off x="5619625" y="17381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3" name="Google Shape;403;p27"/>
          <p:cNvSpPr txBox="1">
            <a:spLocks noGrp="1"/>
          </p:cNvSpPr>
          <p:nvPr>
            <p:ph type="body" idx="4"/>
          </p:nvPr>
        </p:nvSpPr>
        <p:spPr>
          <a:xfrm>
            <a:off x="5619750" y="30141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4" name="Google Shape;404;p27"/>
          <p:cNvSpPr/>
          <p:nvPr/>
        </p:nvSpPr>
        <p:spPr>
          <a:xfrm rot="5400000">
            <a:off x="4767525" y="2951177"/>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5" name="Google Shape;405;p27"/>
          <p:cNvSpPr/>
          <p:nvPr/>
        </p:nvSpPr>
        <p:spPr>
          <a:xfrm rot="5400000">
            <a:off x="4767525" y="172202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6" name="Google Shape;406;p27"/>
          <p:cNvSpPr/>
          <p:nvPr/>
        </p:nvSpPr>
        <p:spPr>
          <a:xfrm rot="5400000">
            <a:off x="867525" y="2980796"/>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7" name="Google Shape;407;p27"/>
          <p:cNvSpPr/>
          <p:nvPr/>
        </p:nvSpPr>
        <p:spPr>
          <a:xfrm rot="5400000">
            <a:off x="867525" y="1722025"/>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8" name="Google Shape;408;p27"/>
          <p:cNvSpPr txBox="1"/>
          <p:nvPr/>
        </p:nvSpPr>
        <p:spPr>
          <a:xfrm>
            <a:off x="967623" y="1866129"/>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1" i="0" u="none" strike="noStrike" cap="none">
              <a:solidFill>
                <a:srgbClr val="0E2356"/>
              </a:solidFill>
              <a:latin typeface="Outfit"/>
              <a:ea typeface="Outfit"/>
              <a:cs typeface="Outfit"/>
              <a:sym typeface="Outfit"/>
            </a:endParaRPr>
          </a:p>
        </p:txBody>
      </p:sp>
      <p:sp>
        <p:nvSpPr>
          <p:cNvPr id="409" name="Google Shape;409;p27"/>
          <p:cNvSpPr txBox="1"/>
          <p:nvPr/>
        </p:nvSpPr>
        <p:spPr>
          <a:xfrm>
            <a:off x="967623" y="3116186"/>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10" name="Google Shape;410;p27"/>
          <p:cNvSpPr txBox="1"/>
          <p:nvPr/>
        </p:nvSpPr>
        <p:spPr>
          <a:xfrm>
            <a:off x="4869747" y="1851848"/>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1" i="0" u="none" strike="noStrike" cap="none">
              <a:solidFill>
                <a:srgbClr val="0E2356"/>
              </a:solidFill>
              <a:latin typeface="Outfit"/>
              <a:ea typeface="Outfit"/>
              <a:cs typeface="Outfit"/>
              <a:sym typeface="Outfit"/>
            </a:endParaRPr>
          </a:p>
        </p:txBody>
      </p:sp>
      <p:sp>
        <p:nvSpPr>
          <p:cNvPr id="411" name="Google Shape;411;p27"/>
          <p:cNvSpPr txBox="1"/>
          <p:nvPr/>
        </p:nvSpPr>
        <p:spPr>
          <a:xfrm>
            <a:off x="4869747" y="3072492"/>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1"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93 - Table des matières [5]">
  <p:cSld name="93 - Table des matières [5]">
    <p:spTree>
      <p:nvGrpSpPr>
        <p:cNvPr id="1" name="Shape 412"/>
        <p:cNvGrpSpPr/>
        <p:nvPr/>
      </p:nvGrpSpPr>
      <p:grpSpPr>
        <a:xfrm>
          <a:off x="0" y="0"/>
          <a:ext cx="0" cy="0"/>
          <a:chOff x="0" y="0"/>
          <a:chExt cx="0" cy="0"/>
        </a:xfrm>
      </p:grpSpPr>
      <p:sp>
        <p:nvSpPr>
          <p:cNvPr id="413" name="Google Shape;413;p28"/>
          <p:cNvSpPr txBox="1">
            <a:spLocks noGrp="1"/>
          </p:cNvSpPr>
          <p:nvPr>
            <p:ph type="title"/>
          </p:nvPr>
        </p:nvSpPr>
        <p:spPr>
          <a:xfrm>
            <a:off x="829600" y="11393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14" name="Google Shape;414;p28"/>
          <p:cNvSpPr txBox="1">
            <a:spLocks noGrp="1"/>
          </p:cNvSpPr>
          <p:nvPr>
            <p:ph type="body" idx="1"/>
          </p:nvPr>
        </p:nvSpPr>
        <p:spPr>
          <a:xfrm>
            <a:off x="1681525" y="1651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5" name="Google Shape;415;p28"/>
          <p:cNvSpPr txBox="1">
            <a:spLocks noGrp="1"/>
          </p:cNvSpPr>
          <p:nvPr>
            <p:ph type="body" idx="2"/>
          </p:nvPr>
        </p:nvSpPr>
        <p:spPr>
          <a:xfrm>
            <a:off x="1681525" y="2447225"/>
            <a:ext cx="27903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6" name="Google Shape;416;p28"/>
          <p:cNvSpPr txBox="1">
            <a:spLocks noGrp="1"/>
          </p:cNvSpPr>
          <p:nvPr>
            <p:ph type="body" idx="3"/>
          </p:nvPr>
        </p:nvSpPr>
        <p:spPr>
          <a:xfrm>
            <a:off x="1681525" y="32436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7" name="Google Shape;417;p28"/>
          <p:cNvSpPr txBox="1">
            <a:spLocks noGrp="1"/>
          </p:cNvSpPr>
          <p:nvPr>
            <p:ph type="body" idx="4"/>
          </p:nvPr>
        </p:nvSpPr>
        <p:spPr>
          <a:xfrm>
            <a:off x="5619625" y="1650825"/>
            <a:ext cx="2958000" cy="656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8" name="Google Shape;418;p28"/>
          <p:cNvSpPr txBox="1">
            <a:spLocks noGrp="1"/>
          </p:cNvSpPr>
          <p:nvPr>
            <p:ph type="body" idx="5"/>
          </p:nvPr>
        </p:nvSpPr>
        <p:spPr>
          <a:xfrm>
            <a:off x="5619625" y="24475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9" name="Google Shape;419;p28"/>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0" name="Google Shape;420;p28"/>
          <p:cNvSpPr/>
          <p:nvPr/>
        </p:nvSpPr>
        <p:spPr>
          <a:xfrm rot="5400000">
            <a:off x="883425" y="2447222"/>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1" name="Google Shape;421;p28"/>
          <p:cNvSpPr/>
          <p:nvPr/>
        </p:nvSpPr>
        <p:spPr>
          <a:xfrm rot="5400000">
            <a:off x="883425" y="3243569"/>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2" name="Google Shape;422;p28"/>
          <p:cNvSpPr/>
          <p:nvPr/>
        </p:nvSpPr>
        <p:spPr>
          <a:xfrm rot="5400000">
            <a:off x="4767525" y="1651025"/>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3" name="Google Shape;423;p28"/>
          <p:cNvSpPr/>
          <p:nvPr/>
        </p:nvSpPr>
        <p:spPr>
          <a:xfrm rot="5400000">
            <a:off x="4767525" y="2447566"/>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4" name="Google Shape;424;p28"/>
          <p:cNvSpPr txBox="1"/>
          <p:nvPr/>
        </p:nvSpPr>
        <p:spPr>
          <a:xfrm>
            <a:off x="985647" y="178739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25" name="Google Shape;425;p28"/>
          <p:cNvSpPr txBox="1"/>
          <p:nvPr/>
        </p:nvSpPr>
        <p:spPr>
          <a:xfrm>
            <a:off x="985647" y="258794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26" name="Google Shape;426;p28"/>
          <p:cNvSpPr txBox="1"/>
          <p:nvPr/>
        </p:nvSpPr>
        <p:spPr>
          <a:xfrm>
            <a:off x="985647" y="3388496"/>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27" name="Google Shape;427;p28"/>
          <p:cNvSpPr txBox="1"/>
          <p:nvPr/>
        </p:nvSpPr>
        <p:spPr>
          <a:xfrm>
            <a:off x="4869767" y="178743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28" name="Google Shape;428;p28"/>
          <p:cNvSpPr txBox="1"/>
          <p:nvPr/>
        </p:nvSpPr>
        <p:spPr>
          <a:xfrm>
            <a:off x="4867105" y="2563728"/>
            <a:ext cx="439500" cy="429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94 - Table des matières [6]">
  <p:cSld name="94 - Table des matières [6]">
    <p:spTree>
      <p:nvGrpSpPr>
        <p:cNvPr id="1" name="Shape 429"/>
        <p:cNvGrpSpPr/>
        <p:nvPr/>
      </p:nvGrpSpPr>
      <p:grpSpPr>
        <a:xfrm>
          <a:off x="0" y="0"/>
          <a:ext cx="0" cy="0"/>
          <a:chOff x="0" y="0"/>
          <a:chExt cx="0" cy="0"/>
        </a:xfrm>
      </p:grpSpPr>
      <p:sp>
        <p:nvSpPr>
          <p:cNvPr id="430" name="Google Shape;430;p29"/>
          <p:cNvSpPr txBox="1">
            <a:spLocks noGrp="1"/>
          </p:cNvSpPr>
          <p:nvPr>
            <p:ph type="title"/>
          </p:nvPr>
        </p:nvSpPr>
        <p:spPr>
          <a:xfrm>
            <a:off x="829600" y="10321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31" name="Google Shape;431;p29"/>
          <p:cNvSpPr txBox="1">
            <a:spLocks noGrp="1"/>
          </p:cNvSpPr>
          <p:nvPr>
            <p:ph type="body" idx="1"/>
          </p:nvPr>
        </p:nvSpPr>
        <p:spPr>
          <a:xfrm>
            <a:off x="1747225" y="16507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2" name="Google Shape;432;p29"/>
          <p:cNvSpPr txBox="1">
            <a:spLocks noGrp="1"/>
          </p:cNvSpPr>
          <p:nvPr>
            <p:ph type="body" idx="2"/>
          </p:nvPr>
        </p:nvSpPr>
        <p:spPr>
          <a:xfrm>
            <a:off x="1747225" y="244722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3" name="Google Shape;433;p29"/>
          <p:cNvSpPr txBox="1">
            <a:spLocks noGrp="1"/>
          </p:cNvSpPr>
          <p:nvPr>
            <p:ph type="body" idx="3"/>
          </p:nvPr>
        </p:nvSpPr>
        <p:spPr>
          <a:xfrm>
            <a:off x="1747225" y="32436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4" name="Google Shape;434;p29"/>
          <p:cNvSpPr txBox="1">
            <a:spLocks noGrp="1"/>
          </p:cNvSpPr>
          <p:nvPr>
            <p:ph type="body" idx="4"/>
          </p:nvPr>
        </p:nvSpPr>
        <p:spPr>
          <a:xfrm>
            <a:off x="5685325" y="16508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5" name="Google Shape;435;p29"/>
          <p:cNvSpPr txBox="1">
            <a:spLocks noGrp="1"/>
          </p:cNvSpPr>
          <p:nvPr>
            <p:ph type="body" idx="5"/>
          </p:nvPr>
        </p:nvSpPr>
        <p:spPr>
          <a:xfrm>
            <a:off x="5685325" y="24472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6" name="Google Shape;436;p29"/>
          <p:cNvSpPr txBox="1">
            <a:spLocks noGrp="1"/>
          </p:cNvSpPr>
          <p:nvPr>
            <p:ph type="body" idx="6"/>
          </p:nvPr>
        </p:nvSpPr>
        <p:spPr>
          <a:xfrm>
            <a:off x="5685325" y="32437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7" name="Google Shape;437;p29"/>
          <p:cNvSpPr/>
          <p:nvPr/>
        </p:nvSpPr>
        <p:spPr>
          <a:xfrm rot="5400000">
            <a:off x="47675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8" name="Google Shape;438;p29"/>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9" name="Google Shape;439;p29"/>
          <p:cNvSpPr/>
          <p:nvPr/>
        </p:nvSpPr>
        <p:spPr>
          <a:xfrm rot="5400000">
            <a:off x="8834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0" name="Google Shape;440;p29"/>
          <p:cNvSpPr/>
          <p:nvPr/>
        </p:nvSpPr>
        <p:spPr>
          <a:xfrm rot="5400000">
            <a:off x="8834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1" name="Google Shape;441;p29"/>
          <p:cNvSpPr/>
          <p:nvPr/>
        </p:nvSpPr>
        <p:spPr>
          <a:xfrm rot="5400000">
            <a:off x="47675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2" name="Google Shape;442;p29"/>
          <p:cNvSpPr/>
          <p:nvPr/>
        </p:nvSpPr>
        <p:spPr>
          <a:xfrm rot="5400000">
            <a:off x="47675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3" name="Google Shape;443;p29"/>
          <p:cNvSpPr txBox="1"/>
          <p:nvPr/>
        </p:nvSpPr>
        <p:spPr>
          <a:xfrm>
            <a:off x="985647"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44" name="Google Shape;444;p29"/>
          <p:cNvSpPr txBox="1"/>
          <p:nvPr/>
        </p:nvSpPr>
        <p:spPr>
          <a:xfrm>
            <a:off x="985647" y="255458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45" name="Google Shape;445;p29"/>
          <p:cNvSpPr txBox="1"/>
          <p:nvPr/>
        </p:nvSpPr>
        <p:spPr>
          <a:xfrm>
            <a:off x="985647"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46" name="Google Shape;446;p29"/>
          <p:cNvSpPr txBox="1"/>
          <p:nvPr/>
        </p:nvSpPr>
        <p:spPr>
          <a:xfrm>
            <a:off x="4868853"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47" name="Google Shape;447;p29"/>
          <p:cNvSpPr txBox="1"/>
          <p:nvPr/>
        </p:nvSpPr>
        <p:spPr>
          <a:xfrm>
            <a:off x="4868853" y="2554580"/>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48" name="Google Shape;448;p29"/>
          <p:cNvSpPr txBox="1"/>
          <p:nvPr/>
        </p:nvSpPr>
        <p:spPr>
          <a:xfrm>
            <a:off x="4868853"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95 - Table des matières [7]">
  <p:cSld name="95 - Table des matières [7]">
    <p:spTree>
      <p:nvGrpSpPr>
        <p:cNvPr id="1" name="Shape 449"/>
        <p:cNvGrpSpPr/>
        <p:nvPr/>
      </p:nvGrpSpPr>
      <p:grpSpPr>
        <a:xfrm>
          <a:off x="0" y="0"/>
          <a:ext cx="0" cy="0"/>
          <a:chOff x="0" y="0"/>
          <a:chExt cx="0" cy="0"/>
        </a:xfrm>
      </p:grpSpPr>
      <p:sp>
        <p:nvSpPr>
          <p:cNvPr id="450" name="Google Shape;450;p30"/>
          <p:cNvSpPr txBox="1">
            <a:spLocks noGrp="1"/>
          </p:cNvSpPr>
          <p:nvPr>
            <p:ph type="title"/>
          </p:nvPr>
        </p:nvSpPr>
        <p:spPr>
          <a:xfrm>
            <a:off x="829600" y="891150"/>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51" name="Google Shape;451;p30"/>
          <p:cNvSpPr txBox="1">
            <a:spLocks noGrp="1"/>
          </p:cNvSpPr>
          <p:nvPr>
            <p:ph type="body" idx="1"/>
          </p:nvPr>
        </p:nvSpPr>
        <p:spPr>
          <a:xfrm>
            <a:off x="1678225" y="13977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2" name="Google Shape;452;p30"/>
          <p:cNvSpPr txBox="1">
            <a:spLocks noGrp="1"/>
          </p:cNvSpPr>
          <p:nvPr>
            <p:ph type="body" idx="2"/>
          </p:nvPr>
        </p:nvSpPr>
        <p:spPr>
          <a:xfrm>
            <a:off x="1678225" y="21186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3" name="Google Shape;453;p30"/>
          <p:cNvSpPr txBox="1">
            <a:spLocks noGrp="1"/>
          </p:cNvSpPr>
          <p:nvPr>
            <p:ph type="body" idx="3"/>
          </p:nvPr>
        </p:nvSpPr>
        <p:spPr>
          <a:xfrm>
            <a:off x="1678225" y="28520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4" name="Google Shape;454;p30"/>
          <p:cNvSpPr txBox="1">
            <a:spLocks noGrp="1"/>
          </p:cNvSpPr>
          <p:nvPr>
            <p:ph type="body" idx="4"/>
          </p:nvPr>
        </p:nvSpPr>
        <p:spPr>
          <a:xfrm>
            <a:off x="1678125" y="35768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5" name="Google Shape;455;p30"/>
          <p:cNvSpPr txBox="1">
            <a:spLocks noGrp="1"/>
          </p:cNvSpPr>
          <p:nvPr>
            <p:ph type="body" idx="5"/>
          </p:nvPr>
        </p:nvSpPr>
        <p:spPr>
          <a:xfrm>
            <a:off x="5619625" y="1385200"/>
            <a:ext cx="29208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6" name="Google Shape;456;p30"/>
          <p:cNvSpPr txBox="1">
            <a:spLocks noGrp="1"/>
          </p:cNvSpPr>
          <p:nvPr>
            <p:ph type="body" idx="6"/>
          </p:nvPr>
        </p:nvSpPr>
        <p:spPr>
          <a:xfrm>
            <a:off x="5619625" y="210155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7" name="Google Shape;457;p30"/>
          <p:cNvSpPr txBox="1">
            <a:spLocks noGrp="1"/>
          </p:cNvSpPr>
          <p:nvPr>
            <p:ph type="body" idx="7"/>
          </p:nvPr>
        </p:nvSpPr>
        <p:spPr>
          <a:xfrm>
            <a:off x="5619625" y="285210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8" name="Google Shape;458;p30"/>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59" name="Google Shape;459;p30"/>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0" name="Google Shape;460;p30"/>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1" name="Google Shape;461;p30"/>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2" name="Google Shape;462;p30"/>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3" name="Google Shape;463;p30"/>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4" name="Google Shape;464;p30"/>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5" name="Google Shape;465;p30"/>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66" name="Google Shape;466;p30"/>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67" name="Google Shape;467;p30"/>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68" name="Google Shape;468;p30"/>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69" name="Google Shape;469;p30"/>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70" name="Google Shape;470;p30"/>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71" name="Google Shape;471;p30"/>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96 - Table des matières [8]">
  <p:cSld name="96 - Table des matières [8]">
    <p:spTree>
      <p:nvGrpSpPr>
        <p:cNvPr id="1" name="Shape 472"/>
        <p:cNvGrpSpPr/>
        <p:nvPr/>
      </p:nvGrpSpPr>
      <p:grpSpPr>
        <a:xfrm>
          <a:off x="0" y="0"/>
          <a:ext cx="0" cy="0"/>
          <a:chOff x="0" y="0"/>
          <a:chExt cx="0" cy="0"/>
        </a:xfrm>
      </p:grpSpPr>
      <p:sp>
        <p:nvSpPr>
          <p:cNvPr id="473" name="Google Shape;473;p31"/>
          <p:cNvSpPr txBox="1">
            <a:spLocks noGrp="1"/>
          </p:cNvSpPr>
          <p:nvPr>
            <p:ph type="title"/>
          </p:nvPr>
        </p:nvSpPr>
        <p:spPr>
          <a:xfrm>
            <a:off x="829600" y="89702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74" name="Google Shape;474;p31"/>
          <p:cNvSpPr txBox="1">
            <a:spLocks noGrp="1"/>
          </p:cNvSpPr>
          <p:nvPr>
            <p:ph type="body" idx="1"/>
          </p:nvPr>
        </p:nvSpPr>
        <p:spPr>
          <a:xfrm>
            <a:off x="1681525" y="13977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5" name="Google Shape;475;p31"/>
          <p:cNvSpPr txBox="1">
            <a:spLocks noGrp="1"/>
          </p:cNvSpPr>
          <p:nvPr>
            <p:ph type="body" idx="2"/>
          </p:nvPr>
        </p:nvSpPr>
        <p:spPr>
          <a:xfrm>
            <a:off x="1681525" y="21207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6" name="Google Shape;476;p31"/>
          <p:cNvSpPr txBox="1">
            <a:spLocks noGrp="1"/>
          </p:cNvSpPr>
          <p:nvPr>
            <p:ph type="body" idx="3"/>
          </p:nvPr>
        </p:nvSpPr>
        <p:spPr>
          <a:xfrm>
            <a:off x="1681525" y="28520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7" name="Google Shape;477;p31"/>
          <p:cNvSpPr txBox="1">
            <a:spLocks noGrp="1"/>
          </p:cNvSpPr>
          <p:nvPr>
            <p:ph type="body" idx="4"/>
          </p:nvPr>
        </p:nvSpPr>
        <p:spPr>
          <a:xfrm>
            <a:off x="1681525" y="35855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8" name="Google Shape;478;p31"/>
          <p:cNvSpPr txBox="1">
            <a:spLocks noGrp="1"/>
          </p:cNvSpPr>
          <p:nvPr>
            <p:ph type="body" idx="5"/>
          </p:nvPr>
        </p:nvSpPr>
        <p:spPr>
          <a:xfrm>
            <a:off x="5619625" y="13978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9" name="Google Shape;479;p31"/>
          <p:cNvSpPr txBox="1">
            <a:spLocks noGrp="1"/>
          </p:cNvSpPr>
          <p:nvPr>
            <p:ph type="body" idx="6"/>
          </p:nvPr>
        </p:nvSpPr>
        <p:spPr>
          <a:xfrm>
            <a:off x="5619625" y="21207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0" name="Google Shape;480;p31"/>
          <p:cNvSpPr txBox="1">
            <a:spLocks noGrp="1"/>
          </p:cNvSpPr>
          <p:nvPr>
            <p:ph type="body" idx="7"/>
          </p:nvPr>
        </p:nvSpPr>
        <p:spPr>
          <a:xfrm>
            <a:off x="5619625" y="28434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1" name="Google Shape;481;p31"/>
          <p:cNvSpPr txBox="1">
            <a:spLocks noGrp="1"/>
          </p:cNvSpPr>
          <p:nvPr>
            <p:ph type="body" idx="8"/>
          </p:nvPr>
        </p:nvSpPr>
        <p:spPr>
          <a:xfrm>
            <a:off x="5619625" y="35663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2" name="Google Shape;482;p31"/>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3" name="Google Shape;483;p31"/>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4" name="Google Shape;484;p31"/>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5" name="Google Shape;485;p31"/>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6" name="Google Shape;486;p31"/>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7" name="Google Shape;487;p31"/>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8" name="Google Shape;488;p31"/>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9" name="Google Shape;489;p31"/>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90" name="Google Shape;490;p31"/>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91" name="Google Shape;491;p31"/>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92" name="Google Shape;492;p31"/>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93" name="Google Shape;493;p31"/>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94" name="Google Shape;494;p31"/>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95" name="Google Shape;495;p31"/>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496" name="Google Shape;496;p31"/>
          <p:cNvSpPr/>
          <p:nvPr/>
        </p:nvSpPr>
        <p:spPr>
          <a:xfrm rot="5400000">
            <a:off x="4788825" y="356642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97" name="Google Shape;497;p31"/>
          <p:cNvSpPr txBox="1"/>
          <p:nvPr/>
        </p:nvSpPr>
        <p:spPr>
          <a:xfrm>
            <a:off x="4814169" y="3638040"/>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97 - Table des matières [9]">
  <p:cSld name="97 - Table des matières [9]">
    <p:spTree>
      <p:nvGrpSpPr>
        <p:cNvPr id="1" name="Shape 498"/>
        <p:cNvGrpSpPr/>
        <p:nvPr/>
      </p:nvGrpSpPr>
      <p:grpSpPr>
        <a:xfrm>
          <a:off x="0" y="0"/>
          <a:ext cx="0" cy="0"/>
          <a:chOff x="0" y="0"/>
          <a:chExt cx="0" cy="0"/>
        </a:xfrm>
      </p:grpSpPr>
      <p:sp>
        <p:nvSpPr>
          <p:cNvPr id="499" name="Google Shape;499;p32"/>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00" name="Google Shape;500;p32"/>
          <p:cNvSpPr txBox="1">
            <a:spLocks noGrp="1"/>
          </p:cNvSpPr>
          <p:nvPr>
            <p:ph type="body" idx="1"/>
          </p:nvPr>
        </p:nvSpPr>
        <p:spPr>
          <a:xfrm>
            <a:off x="1681525" y="11224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1" name="Google Shape;501;p32"/>
          <p:cNvSpPr txBox="1">
            <a:spLocks noGrp="1"/>
          </p:cNvSpPr>
          <p:nvPr>
            <p:ph type="body" idx="2"/>
          </p:nvPr>
        </p:nvSpPr>
        <p:spPr>
          <a:xfrm>
            <a:off x="1681525" y="18195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2" name="Google Shape;502;p32"/>
          <p:cNvSpPr txBox="1">
            <a:spLocks noGrp="1"/>
          </p:cNvSpPr>
          <p:nvPr>
            <p:ph type="body" idx="3"/>
          </p:nvPr>
        </p:nvSpPr>
        <p:spPr>
          <a:xfrm>
            <a:off x="1681525" y="24900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3" name="Google Shape;503;p32"/>
          <p:cNvSpPr txBox="1">
            <a:spLocks noGrp="1"/>
          </p:cNvSpPr>
          <p:nvPr>
            <p:ph type="body" idx="4"/>
          </p:nvPr>
        </p:nvSpPr>
        <p:spPr>
          <a:xfrm>
            <a:off x="1681525" y="32864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4" name="Google Shape;504;p32"/>
          <p:cNvSpPr txBox="1">
            <a:spLocks noGrp="1"/>
          </p:cNvSpPr>
          <p:nvPr>
            <p:ph type="body" idx="5"/>
          </p:nvPr>
        </p:nvSpPr>
        <p:spPr>
          <a:xfrm>
            <a:off x="1681525" y="39788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5" name="Google Shape;505;p32"/>
          <p:cNvSpPr txBox="1">
            <a:spLocks noGrp="1"/>
          </p:cNvSpPr>
          <p:nvPr>
            <p:ph type="body" idx="6"/>
          </p:nvPr>
        </p:nvSpPr>
        <p:spPr>
          <a:xfrm>
            <a:off x="5619625" y="10771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6" name="Google Shape;506;p32"/>
          <p:cNvSpPr txBox="1">
            <a:spLocks noGrp="1"/>
          </p:cNvSpPr>
          <p:nvPr>
            <p:ph type="body" idx="7"/>
          </p:nvPr>
        </p:nvSpPr>
        <p:spPr>
          <a:xfrm>
            <a:off x="5619625" y="18106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7" name="Google Shape;507;p32"/>
          <p:cNvSpPr txBox="1">
            <a:spLocks noGrp="1"/>
          </p:cNvSpPr>
          <p:nvPr>
            <p:ph type="body" idx="8"/>
          </p:nvPr>
        </p:nvSpPr>
        <p:spPr>
          <a:xfrm>
            <a:off x="5619625" y="26070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8" name="Google Shape;508;p32"/>
          <p:cNvSpPr txBox="1">
            <a:spLocks noGrp="1"/>
          </p:cNvSpPr>
          <p:nvPr>
            <p:ph type="body" idx="9"/>
          </p:nvPr>
        </p:nvSpPr>
        <p:spPr>
          <a:xfrm>
            <a:off x="5619625" y="32145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9" name="Google Shape;509;p32"/>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0" name="Google Shape;510;p32"/>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1" name="Google Shape;511;p32"/>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2" name="Google Shape;512;p32"/>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3" name="Google Shape;513;p32"/>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4" name="Google Shape;514;p32"/>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5" name="Google Shape;515;p32"/>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6" name="Google Shape;516;p32"/>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17" name="Google Shape;517;p32"/>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18" name="Google Shape;518;p32"/>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19" name="Google Shape;519;p32"/>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20" name="Google Shape;520;p32"/>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21" name="Google Shape;521;p32"/>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22" name="Google Shape;522;p32"/>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23" name="Google Shape;523;p32"/>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4" name="Google Shape;524;p32"/>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25" name="Google Shape;525;p32"/>
          <p:cNvSpPr/>
          <p:nvPr/>
        </p:nvSpPr>
        <p:spPr>
          <a:xfrm rot="5400000">
            <a:off x="4788825" y="32573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6" name="Google Shape;526;p32"/>
          <p:cNvSpPr txBox="1"/>
          <p:nvPr/>
        </p:nvSpPr>
        <p:spPr>
          <a:xfrm>
            <a:off x="4814169" y="33289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98 - Table des matières [10]">
  <p:cSld name="98 - Table des matières [10]">
    <p:spTree>
      <p:nvGrpSpPr>
        <p:cNvPr id="1" name="Shape 527"/>
        <p:cNvGrpSpPr/>
        <p:nvPr/>
      </p:nvGrpSpPr>
      <p:grpSpPr>
        <a:xfrm>
          <a:off x="0" y="0"/>
          <a:ext cx="0" cy="0"/>
          <a:chOff x="0" y="0"/>
          <a:chExt cx="0" cy="0"/>
        </a:xfrm>
      </p:grpSpPr>
      <p:sp>
        <p:nvSpPr>
          <p:cNvPr id="528" name="Google Shape;528;p33"/>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29" name="Google Shape;529;p33"/>
          <p:cNvSpPr txBox="1">
            <a:spLocks noGrp="1"/>
          </p:cNvSpPr>
          <p:nvPr>
            <p:ph type="body" idx="1"/>
          </p:nvPr>
        </p:nvSpPr>
        <p:spPr>
          <a:xfrm>
            <a:off x="1678225" y="1122425"/>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0" name="Google Shape;530;p33"/>
          <p:cNvSpPr txBox="1">
            <a:spLocks noGrp="1"/>
          </p:cNvSpPr>
          <p:nvPr>
            <p:ph type="body" idx="2"/>
          </p:nvPr>
        </p:nvSpPr>
        <p:spPr>
          <a:xfrm>
            <a:off x="1678225" y="18195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1" name="Google Shape;531;p33"/>
          <p:cNvSpPr txBox="1">
            <a:spLocks noGrp="1"/>
          </p:cNvSpPr>
          <p:nvPr>
            <p:ph type="body" idx="3"/>
          </p:nvPr>
        </p:nvSpPr>
        <p:spPr>
          <a:xfrm>
            <a:off x="1678225" y="255302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2" name="Google Shape;532;p33"/>
          <p:cNvSpPr txBox="1">
            <a:spLocks noGrp="1"/>
          </p:cNvSpPr>
          <p:nvPr>
            <p:ph type="body" idx="4"/>
          </p:nvPr>
        </p:nvSpPr>
        <p:spPr>
          <a:xfrm>
            <a:off x="1678125" y="32864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3" name="Google Shape;533;p33"/>
          <p:cNvSpPr txBox="1">
            <a:spLocks noGrp="1"/>
          </p:cNvSpPr>
          <p:nvPr>
            <p:ph type="body" idx="5"/>
          </p:nvPr>
        </p:nvSpPr>
        <p:spPr>
          <a:xfrm>
            <a:off x="1681525" y="401517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4" name="Google Shape;534;p33"/>
          <p:cNvSpPr txBox="1">
            <a:spLocks noGrp="1"/>
          </p:cNvSpPr>
          <p:nvPr>
            <p:ph type="body" idx="6"/>
          </p:nvPr>
        </p:nvSpPr>
        <p:spPr>
          <a:xfrm>
            <a:off x="5619625" y="11401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5" name="Google Shape;535;p33"/>
          <p:cNvSpPr txBox="1">
            <a:spLocks noGrp="1"/>
          </p:cNvSpPr>
          <p:nvPr>
            <p:ph type="body" idx="7"/>
          </p:nvPr>
        </p:nvSpPr>
        <p:spPr>
          <a:xfrm>
            <a:off x="5619625" y="18736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6" name="Google Shape;536;p33"/>
          <p:cNvSpPr txBox="1">
            <a:spLocks noGrp="1"/>
          </p:cNvSpPr>
          <p:nvPr>
            <p:ph type="body" idx="8"/>
          </p:nvPr>
        </p:nvSpPr>
        <p:spPr>
          <a:xfrm>
            <a:off x="5619625" y="25440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7" name="Google Shape;537;p33"/>
          <p:cNvSpPr txBox="1">
            <a:spLocks noGrp="1"/>
          </p:cNvSpPr>
          <p:nvPr>
            <p:ph type="body" idx="9"/>
          </p:nvPr>
        </p:nvSpPr>
        <p:spPr>
          <a:xfrm>
            <a:off x="5619625" y="33405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8" name="Google Shape;538;p33"/>
          <p:cNvSpPr txBox="1">
            <a:spLocks noGrp="1"/>
          </p:cNvSpPr>
          <p:nvPr>
            <p:ph type="body" idx="13"/>
          </p:nvPr>
        </p:nvSpPr>
        <p:spPr>
          <a:xfrm>
            <a:off x="5619625" y="40329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9" name="Google Shape;539;p33"/>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0" name="Google Shape;540;p33"/>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1" name="Google Shape;541;p33"/>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2" name="Google Shape;542;p33"/>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3" name="Google Shape;543;p33"/>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4" name="Google Shape;544;p33"/>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5" name="Google Shape;545;p33"/>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6" name="Google Shape;546;p33"/>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47" name="Google Shape;547;p33"/>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48" name="Google Shape;548;p33"/>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49" name="Google Shape;549;p33"/>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50" name="Google Shape;550;p33"/>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51" name="Google Shape;551;p33"/>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52" name="Google Shape;552;p33"/>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53" name="Google Shape;553;p33"/>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4" name="Google Shape;554;p33"/>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55" name="Google Shape;555;p33"/>
          <p:cNvSpPr/>
          <p:nvPr/>
        </p:nvSpPr>
        <p:spPr>
          <a:xfrm rot="5400000">
            <a:off x="4788825" y="3261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6" name="Google Shape;556;p33"/>
          <p:cNvSpPr txBox="1"/>
          <p:nvPr/>
        </p:nvSpPr>
        <p:spPr>
          <a:xfrm>
            <a:off x="4814169" y="3333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
        <p:nvSpPr>
          <p:cNvPr id="557" name="Google Shape;557;p33"/>
          <p:cNvSpPr/>
          <p:nvPr/>
        </p:nvSpPr>
        <p:spPr>
          <a:xfrm rot="5400000">
            <a:off x="47888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8" name="Google Shape;558;p33"/>
          <p:cNvSpPr txBox="1"/>
          <p:nvPr/>
        </p:nvSpPr>
        <p:spPr>
          <a:xfrm>
            <a:off x="48141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10</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99 - Table des matières [all]">
  <p:cSld name="99 - Table des matières [all]">
    <p:spTree>
      <p:nvGrpSpPr>
        <p:cNvPr id="1" name="Shape 559"/>
        <p:cNvGrpSpPr/>
        <p:nvPr/>
      </p:nvGrpSpPr>
      <p:grpSpPr>
        <a:xfrm>
          <a:off x="0" y="0"/>
          <a:ext cx="0" cy="0"/>
          <a:chOff x="0" y="0"/>
          <a:chExt cx="0" cy="0"/>
        </a:xfrm>
      </p:grpSpPr>
      <p:sp>
        <p:nvSpPr>
          <p:cNvPr id="560" name="Google Shape;560;p34"/>
          <p:cNvSpPr txBox="1">
            <a:spLocks noGrp="1"/>
          </p:cNvSpPr>
          <p:nvPr>
            <p:ph type="title"/>
          </p:nvPr>
        </p:nvSpPr>
        <p:spPr>
          <a:xfrm>
            <a:off x="564931" y="360737"/>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9pPr>
          </a:lstStyle>
          <a:p>
            <a:endParaRPr/>
          </a:p>
        </p:txBody>
      </p:sp>
      <p:sp>
        <p:nvSpPr>
          <p:cNvPr id="561" name="Google Shape;561;p34"/>
          <p:cNvSpPr txBox="1">
            <a:spLocks noGrp="1"/>
          </p:cNvSpPr>
          <p:nvPr>
            <p:ph type="body" idx="1"/>
          </p:nvPr>
        </p:nvSpPr>
        <p:spPr>
          <a:xfrm>
            <a:off x="571500" y="803050"/>
            <a:ext cx="70530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62" name="Google Shape;562;p34"/>
          <p:cNvSpPr txBox="1">
            <a:spLocks noGrp="1"/>
          </p:cNvSpPr>
          <p:nvPr>
            <p:ph type="body" idx="2"/>
          </p:nvPr>
        </p:nvSpPr>
        <p:spPr>
          <a:xfrm>
            <a:off x="7624600" y="803050"/>
            <a:ext cx="10161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03 - Titre et sous-titre 2">
  <p:cSld name="03 - Titre et sous-titre_1_2">
    <p:spTree>
      <p:nvGrpSpPr>
        <p:cNvPr id="1" name="Shape 563"/>
        <p:cNvGrpSpPr/>
        <p:nvPr/>
      </p:nvGrpSpPr>
      <p:grpSpPr>
        <a:xfrm>
          <a:off x="0" y="0"/>
          <a:ext cx="0" cy="0"/>
          <a:chOff x="0" y="0"/>
          <a:chExt cx="0" cy="0"/>
        </a:xfrm>
      </p:grpSpPr>
      <p:sp>
        <p:nvSpPr>
          <p:cNvPr id="564" name="Google Shape;564;p35"/>
          <p:cNvSpPr txBox="1">
            <a:spLocks noGrp="1"/>
          </p:cNvSpPr>
          <p:nvPr>
            <p:ph type="subTitle" idx="1"/>
          </p:nvPr>
        </p:nvSpPr>
        <p:spPr>
          <a:xfrm>
            <a:off x="571500" y="779171"/>
            <a:ext cx="80415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565" name="Google Shape;565;p35"/>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grpSp>
        <p:nvGrpSpPr>
          <p:cNvPr id="6" name="Google Shape;6;p1"/>
          <p:cNvGrpSpPr/>
          <p:nvPr/>
        </p:nvGrpSpPr>
        <p:grpSpPr>
          <a:xfrm>
            <a:off x="276301" y="292130"/>
            <a:ext cx="170063" cy="166438"/>
            <a:chOff x="6838242" y="518225"/>
            <a:chExt cx="1247708" cy="1221114"/>
          </a:xfrm>
        </p:grpSpPr>
        <p:sp>
          <p:nvSpPr>
            <p:cNvPr id="7" name="Google Shape;7;p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 name="Google Shape;8;p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 name="Google Shape;9;p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 name="Google Shape;10;p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1" name="Google Shape;11;p1"/>
          <p:cNvCxnSpPr>
            <a:stCxn id="1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3" name="Google Shape;13;p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4" name="Google Shape;14;p1"/>
          <p:cNvCxnSpPr>
            <a:endCxn id="13"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5" name="Google Shape;15;p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 name="Google Shape;12;p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 name="Google Shape;16;p1"/>
          <p:cNvCxnSpPr>
            <a:stCxn id="15" idx="2"/>
            <a:endCxn id="13"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7" name="Google Shape;17;p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796">
          <p15:clr>
            <a:srgbClr val="EA4335"/>
          </p15:clr>
        </p15:guide>
        <p15:guide id="2" pos="2880">
          <p15:clr>
            <a:srgbClr val="EA4335"/>
          </p15:clr>
        </p15:guide>
        <p15:guide id="3" orient="horz" pos="3064">
          <p15:clr>
            <a:srgbClr val="EA4335"/>
          </p15:clr>
        </p15:guide>
        <p15:guide id="4" orient="horz" pos="236">
          <p15:clr>
            <a:srgbClr val="EA4335"/>
          </p15:clr>
        </p15:guide>
        <p15:guide id="5" pos="360">
          <p15:clr>
            <a:srgbClr val="EA4335"/>
          </p15:clr>
        </p15:guide>
        <p15:guide id="6" pos="5403">
          <p15:clr>
            <a:srgbClr val="EA4335"/>
          </p15:clr>
        </p15:guide>
        <p15:guide id="7" orient="horz" pos="515">
          <p15:clr>
            <a:srgbClr val="E46962"/>
          </p15:clr>
        </p15:guide>
        <p15:guide id="8" orient="horz" pos="802">
          <p15:clr>
            <a:srgbClr val="E46962"/>
          </p15:clr>
        </p15:guide>
        <p15:guide id="9" pos="3697">
          <p15:clr>
            <a:srgbClr val="E46962"/>
          </p15:clr>
        </p15:guide>
        <p15:guide id="10" pos="2168">
          <p15:clr>
            <a:srgbClr val="E46962"/>
          </p15:clr>
        </p15:guide>
        <p15:guide id="11" pos="3372">
          <p15:clr>
            <a:srgbClr val="E46962"/>
          </p15:clr>
        </p15:guide>
        <p15:guide id="12" pos="248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utfit"/>
              </a:rPr>
              <a:t>BMAD IAP</a:t>
            </a:r>
          </a:p>
        </p:txBody>
      </p:sp>
      <p:sp>
        <p:nvSpPr>
          <p:cNvPr id="3" name="Subtitle 2"/>
          <p:cNvSpPr>
            <a:spLocks noGrp="1"/>
          </p:cNvSpPr>
          <p:nvPr>
            <p:ph type="subTitle" idx="1"/>
          </p:nvPr>
        </p:nvSpPr>
        <p:spPr/>
        <p:txBody>
          <a:bodyPr/>
          <a:lstStyle/>
          <a:p>
            <a:r>
              <a:rPr>
                <a:latin typeface="Outfit"/>
              </a:rPr>
              <a:t>Infra as a Product Transformation Pack — synthèse de cadrage</a:t>
            </a:r>
          </a:p>
        </p:txBody>
      </p:sp>
      <p:sp>
        <p:nvSpPr>
          <p:cNvPr id="4" name="Title 3"/>
          <p:cNvSpPr>
            <a:spLocks noGrp="1"/>
          </p:cNvSpPr>
          <p:nvPr>
            <p:ph type="title" idx="2"/>
          </p:nvPr>
        </p:nvSpPr>
        <p:spPr/>
        <p:txBody>
          <a:bodyPr/>
          <a:lstStyle/>
          <a:p>
            <a:r>
              <a:rPr>
                <a:latin typeface="Outfit"/>
              </a:rPr>
              <a:t>OCTO Technology</a:t>
            </a:r>
          </a:p>
        </p:txBody>
      </p:sp>
      <p:sp>
        <p:nvSpPr>
          <p:cNvPr id="5" name="Title 4"/>
          <p:cNvSpPr>
            <a:spLocks noGrp="1"/>
          </p:cNvSpPr>
          <p:nvPr>
            <p:ph type="title" idx="3"/>
          </p:nvPr>
        </p:nvSpPr>
        <p:spPr/>
        <p:txBody>
          <a:bodyPr/>
          <a:lstStyle/>
          <a:p>
            <a:r>
              <a:rPr>
                <a:latin typeface="Outfit"/>
              </a:rPr>
              <a:t>v2.36 · 2026-09-18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Executive summary</a:t>
            </a:r>
          </a:p>
          <a:p>
            <a:r>
              <a:rPr sz="1050" i="1">
                <a:solidFill>
                  <a:srgbClr val="586586"/>
                </a:solidFill>
                <a:latin typeface="Outfit"/>
              </a:rPr>
              <a:t>La démarche infra en quatre temps — ce qu'on fait dans l'organisation et sur la plateforme, sans prérequis d'IA — et ce qui la rend nécessaire.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01</a:t>
            </a:r>
          </a:p>
        </p:txBody>
      </p:sp>
      <p:pic>
        <p:nvPicPr>
          <p:cNvPr id="4" name="Picture 3" descr="wheatfield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EXECUTIVE SUMMARY   ·   </a:t>
            </a:r>
            <a:r>
              <a:rPr b="1" sz="1200">
                <a:solidFill>
                  <a:srgbClr val="0E2356"/>
                </a:solidFill>
                <a:latin typeface="Outfit"/>
              </a:rPr>
              <a:t>Du pourquoi à la preuve : une transformation cadrée de bout en bout</a:t>
            </a:r>
          </a:p>
        </p:txBody>
      </p:sp>
      <p:sp>
        <p:nvSpPr>
          <p:cNvPr id="3" name="TextBox 2"/>
          <p:cNvSpPr txBox="1"/>
          <p:nvPr/>
        </p:nvSpPr>
        <p:spPr>
          <a:xfrm>
            <a:off x="562356" y="1051560"/>
            <a:ext cx="7804404" cy="566928"/>
          </a:xfrm>
          <a:prstGeom prst="rect">
            <a:avLst/>
          </a:prstGeom>
          <a:noFill/>
        </p:spPr>
        <p:txBody>
          <a:bodyPr wrap="square" anchor="t" lIns="0" rIns="0" tIns="0" bIns="0">
            <a:noAutofit/>
          </a:bodyPr>
          <a:lstStyle/>
          <a:p>
            <a:pPr algn="l">
              <a:lnSpc>
                <a:spcPct val="130000"/>
              </a:lnSpc>
            </a:pPr>
            <a:r>
              <a:rPr sz="1050" b="0" i="1">
                <a:solidFill>
                  <a:srgbClr val="0E2356"/>
                </a:solidFill>
                <a:latin typeface="Outfit"/>
              </a:rPr>
              <a:t>Transformer l'infrastructure en plateforme opérée comme un produit, ET traiter structurellement le gaspillage qui l'en empêche — le deck suit le fil : l'offre, pourquoi, quoi, comment, la preuve.</a:t>
            </a:r>
          </a:p>
        </p:txBody>
      </p:sp>
      <p:sp>
        <p:nvSpPr>
          <p:cNvPr id="4" name="Rounded Rectangle 3"/>
          <p:cNvSpPr/>
          <p:nvPr/>
        </p:nvSpPr>
        <p:spPr>
          <a:xfrm>
            <a:off x="489204" y="1746504"/>
            <a:ext cx="7950708" cy="3341624"/>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OFFRE</a:t>
            </a:r>
          </a:p>
        </p:txBody>
      </p:sp>
      <p:sp>
        <p:nvSpPr>
          <p:cNvPr id="7" name="TextBox 6"/>
          <p:cNvSpPr txBox="1"/>
          <p:nvPr/>
        </p:nvSpPr>
        <p:spPr>
          <a:xfrm>
            <a:off x="708660"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Une démarche infra en quatre temps, sans prérequis d'IA.</a:t>
            </a:r>
          </a:p>
        </p:txBody>
      </p:sp>
      <p:sp>
        <p:nvSpPr>
          <p:cNvPr id="8" name="TextBox 7"/>
          <p:cNvSpPr txBox="1"/>
          <p:nvPr/>
        </p:nvSpPr>
        <p:spPr>
          <a:xfrm>
            <a:off x="708660"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Ce qu'on fait dans l'organisation et sur la plateforme à chaque temps ; l'agentic accélère le consultant, en option chez le client.</a:t>
            </a:r>
          </a:p>
        </p:txBody>
      </p:sp>
      <p:sp>
        <p:nvSpPr>
          <p:cNvPr id="9" name="TextBox 8"/>
          <p:cNvSpPr txBox="1"/>
          <p:nvPr/>
        </p:nvSpPr>
        <p:spPr>
          <a:xfrm>
            <a:off x="708660"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Exec summary</a:t>
            </a:r>
          </a:p>
        </p:txBody>
      </p:sp>
      <p:sp>
        <p:nvSpPr>
          <p:cNvPr id="10" name="TextBox 9"/>
          <p:cNvSpPr txBox="1"/>
          <p:nvPr/>
        </p:nvSpPr>
        <p:spPr>
          <a:xfrm>
            <a:off x="1958644"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1" name="Rounded Rectangle 10"/>
          <p:cNvSpPr/>
          <p:nvPr/>
        </p:nvSpPr>
        <p:spPr>
          <a:xfrm>
            <a:off x="2159812"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6116"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13" name="TextBox 12"/>
          <p:cNvSpPr txBox="1"/>
          <p:nvPr/>
        </p:nvSpPr>
        <p:spPr>
          <a:xfrm>
            <a:off x="2306116"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L'infra subie coûte de plus en plus cher.</a:t>
            </a:r>
          </a:p>
        </p:txBody>
      </p:sp>
      <p:sp>
        <p:nvSpPr>
          <p:cNvPr id="14" name="TextBox 13"/>
          <p:cNvSpPr txBox="1"/>
          <p:nvPr/>
        </p:nvSpPr>
        <p:spPr>
          <a:xfrm>
            <a:off x="2306116"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Trois déclencheurs, un terrain pas comme un autre, ce qui se joue pour la DSI si rien ne change, des douleurs mesurables plutôt que des plaintes.</a:t>
            </a:r>
          </a:p>
        </p:txBody>
      </p:sp>
      <p:sp>
        <p:nvSpPr>
          <p:cNvPr id="15" name="TextBox 14"/>
          <p:cNvSpPr txBox="1"/>
          <p:nvPr/>
        </p:nvSpPr>
        <p:spPr>
          <a:xfrm>
            <a:off x="2306116"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Contexte → Douleur</a:t>
            </a:r>
          </a:p>
        </p:txBody>
      </p:sp>
      <p:sp>
        <p:nvSpPr>
          <p:cNvPr id="16" name="TextBox 15"/>
          <p:cNvSpPr txBox="1"/>
          <p:nvPr/>
        </p:nvSpPr>
        <p:spPr>
          <a:xfrm>
            <a:off x="3556101"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7" name="Rounded Rectangle 16"/>
          <p:cNvSpPr/>
          <p:nvPr/>
        </p:nvSpPr>
        <p:spPr>
          <a:xfrm>
            <a:off x="3757269"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3573"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QUOI</a:t>
            </a:r>
          </a:p>
        </p:txBody>
      </p:sp>
      <p:sp>
        <p:nvSpPr>
          <p:cNvPr id="19" name="TextBox 18"/>
          <p:cNvSpPr txBox="1"/>
          <p:nvPr/>
        </p:nvSpPr>
        <p:spPr>
          <a:xfrm>
            <a:off x="3903573"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Ce que le moment ouvre, et ce qu'on livre pour le saisir.</a:t>
            </a:r>
          </a:p>
        </p:txBody>
      </p:sp>
      <p:sp>
        <p:nvSpPr>
          <p:cNvPr id="20" name="TextBox 19"/>
          <p:cNvSpPr txBox="1"/>
          <p:nvPr/>
        </p:nvSpPr>
        <p:spPr>
          <a:xfrm>
            <a:off x="3903573"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Des leviers déjà instruits, la thèse infra-as-a-product, la méthode scorée et l'IA sous gate — jamais la réponse à un problème d'abord organisationnel.</a:t>
            </a:r>
          </a:p>
        </p:txBody>
      </p:sp>
      <p:sp>
        <p:nvSpPr>
          <p:cNvPr id="21" name="TextBox 20"/>
          <p:cNvSpPr txBox="1"/>
          <p:nvPr/>
        </p:nvSpPr>
        <p:spPr>
          <a:xfrm>
            <a:off x="3903573"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Opportunités → Offre</a:t>
            </a:r>
          </a:p>
        </p:txBody>
      </p:sp>
      <p:sp>
        <p:nvSpPr>
          <p:cNvPr id="22" name="TextBox 21"/>
          <p:cNvSpPr txBox="1"/>
          <p:nvPr/>
        </p:nvSpPr>
        <p:spPr>
          <a:xfrm>
            <a:off x="5153558"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3" name="Rounded Rectangle 22"/>
          <p:cNvSpPr/>
          <p:nvPr/>
        </p:nvSpPr>
        <p:spPr>
          <a:xfrm>
            <a:off x="5354726"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0103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COMMENT</a:t>
            </a:r>
          </a:p>
        </p:txBody>
      </p:sp>
      <p:sp>
        <p:nvSpPr>
          <p:cNvPr id="25" name="TextBox 24"/>
          <p:cNvSpPr txBox="1"/>
          <p:nvPr/>
        </p:nvSpPr>
        <p:spPr>
          <a:xfrm>
            <a:off x="5501030"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Trois temps et une boucle, personnes comprises.</a:t>
            </a:r>
          </a:p>
        </p:txBody>
      </p:sp>
      <p:sp>
        <p:nvSpPr>
          <p:cNvPr id="26" name="TextBox 25"/>
          <p:cNvSpPr txBox="1"/>
          <p:nvPr/>
        </p:nvSpPr>
        <p:spPr>
          <a:xfrm>
            <a:off x="5501030"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Démarche ①②③⟲ avec son fil humain de bout en bout, l'outillage IAP au service de la démarche — jamais l'inverse.</a:t>
            </a:r>
          </a:p>
        </p:txBody>
      </p:sp>
      <p:sp>
        <p:nvSpPr>
          <p:cNvPr id="27" name="TextBox 26"/>
          <p:cNvSpPr txBox="1"/>
          <p:nvPr/>
        </p:nvSpPr>
        <p:spPr>
          <a:xfrm>
            <a:off x="5501030"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Démarches</a:t>
            </a:r>
          </a:p>
        </p:txBody>
      </p:sp>
      <p:sp>
        <p:nvSpPr>
          <p:cNvPr id="28" name="TextBox 27"/>
          <p:cNvSpPr txBox="1"/>
          <p:nvPr/>
        </p:nvSpPr>
        <p:spPr>
          <a:xfrm>
            <a:off x="6751015"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9" name="Rounded Rectangle 28"/>
          <p:cNvSpPr/>
          <p:nvPr/>
        </p:nvSpPr>
        <p:spPr>
          <a:xfrm>
            <a:off x="6952183"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98487"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RÉSULTAT</a:t>
            </a:r>
          </a:p>
        </p:txBody>
      </p:sp>
      <p:sp>
        <p:nvSpPr>
          <p:cNvPr id="31" name="TextBox 30"/>
          <p:cNvSpPr txBox="1"/>
          <p:nvPr/>
        </p:nvSpPr>
        <p:spPr>
          <a:xfrm>
            <a:off x="7098487"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Les jalons, et le signal minimal pour savoir si ça marche.</a:t>
            </a:r>
          </a:p>
        </p:txBody>
      </p:sp>
      <p:sp>
        <p:nvSpPr>
          <p:cNvPr id="32" name="TextBox 31"/>
          <p:cNvSpPr txBox="1"/>
          <p:nvPr/>
        </p:nvSpPr>
        <p:spPr>
          <a:xfrm>
            <a:off x="7098487"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Indicateurs de suivi dès le T0, même instrument à la réévaluation — la preuve, pas une opinion.</a:t>
            </a:r>
          </a:p>
        </p:txBody>
      </p:sp>
      <p:sp>
        <p:nvSpPr>
          <p:cNvPr id="33" name="TextBox 32"/>
          <p:cNvSpPr txBox="1"/>
          <p:nvPr/>
        </p:nvSpPr>
        <p:spPr>
          <a:xfrm>
            <a:off x="7098487"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a:solidFill>
                  <a:srgbClr val="0E2356"/>
                </a:solidFill>
                <a:latin typeface="Outfit"/>
              </a:rPr>
              <a:t>Le risque n'est pas de manquer d'outils : c'est de traiter le mauvais problème</a:t>
            </a:r>
          </a:p>
        </p:txBody>
      </p:sp>
      <p:sp>
        <p:nvSpPr>
          <p:cNvPr id="4" name="Rectangle 3"/>
          <p:cNvSpPr/>
          <p:nvPr/>
        </p:nvSpPr>
        <p:spPr>
          <a:xfrm>
            <a:off x="708660" y="1793367"/>
            <a:ext cx="18288" cy="244373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9556" y="1280160"/>
            <a:ext cx="5042916" cy="102641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19556" y="1280160"/>
            <a:ext cx="64008" cy="102641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0724" y="1399031"/>
            <a:ext cx="4677156" cy="182880"/>
          </a:xfrm>
          <a:prstGeom prst="rect">
            <a:avLst/>
          </a:prstGeom>
          <a:noFill/>
        </p:spPr>
        <p:txBody>
          <a:bodyPr wrap="square" anchor="t" lIns="0" rIns="0" tIns="0" bIns="0">
            <a:noAutofit/>
          </a:bodyPr>
          <a:lstStyle/>
          <a:p>
            <a:pPr algn="l"/>
            <a:r>
              <a:rPr sz="800" b="1" i="0">
                <a:solidFill>
                  <a:srgbClr val="0E2356"/>
                </a:solidFill>
                <a:latin typeface="Outfit"/>
              </a:rPr>
              <a:t>LE CONSTAT</a:t>
            </a:r>
          </a:p>
        </p:txBody>
      </p:sp>
      <p:sp>
        <p:nvSpPr>
          <p:cNvPr id="8" name="TextBox 7"/>
          <p:cNvSpPr txBox="1"/>
          <p:nvPr/>
        </p:nvSpPr>
        <p:spPr>
          <a:xfrm>
            <a:off x="1220724" y="1581911"/>
            <a:ext cx="4677156" cy="356615"/>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Une infrastructure guichet ou centre de coûts subit la demande au lieu de la piloter.</a:t>
            </a:r>
          </a:p>
        </p:txBody>
      </p:sp>
      <p:sp>
        <p:nvSpPr>
          <p:cNvPr id="9" name="TextBox 8"/>
          <p:cNvSpPr txBox="1"/>
          <p:nvPr/>
        </p:nvSpPr>
        <p:spPr>
          <a:xfrm>
            <a:off x="1220724" y="2002535"/>
            <a:ext cx="4677156" cy="18516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Ni utilisateurs identifiés, ni feuille de route, ni levier d'adoption.</a:t>
            </a:r>
          </a:p>
        </p:txBody>
      </p:sp>
      <p:sp>
        <p:nvSpPr>
          <p:cNvPr id="10" name="Rounded Rectangle 9"/>
          <p:cNvSpPr/>
          <p:nvPr/>
        </p:nvSpPr>
        <p:spPr>
          <a:xfrm>
            <a:off x="562356" y="1637919"/>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1637919"/>
            <a:ext cx="310896" cy="310896"/>
          </a:xfrm>
          <a:prstGeom prst="rect">
            <a:avLst/>
          </a:prstGeom>
          <a:noFill/>
        </p:spPr>
        <p:txBody>
          <a:bodyPr wrap="square" anchor="ctr" lIns="0" rIns="0" tIns="0" bIns="0">
            <a:noAutofit/>
          </a:bodyPr>
          <a:lstStyle/>
          <a:p>
            <a:pPr algn="ctr"/>
            <a:r>
              <a:rPr sz="1100" b="1" i="0">
                <a:solidFill>
                  <a:srgbClr val="FFFFFF"/>
                </a:solidFill>
                <a:latin typeface="Outfit"/>
              </a:rPr>
              <a:t>1</a:t>
            </a:r>
          </a:p>
        </p:txBody>
      </p:sp>
      <p:sp>
        <p:nvSpPr>
          <p:cNvPr id="12" name="Rounded Rectangle 11"/>
          <p:cNvSpPr/>
          <p:nvPr/>
        </p:nvSpPr>
        <p:spPr>
          <a:xfrm>
            <a:off x="1019556" y="2507741"/>
            <a:ext cx="5042916" cy="1014983"/>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19556" y="2507741"/>
            <a:ext cx="64008" cy="1014983"/>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0724" y="2626613"/>
            <a:ext cx="4677156" cy="182880"/>
          </a:xfrm>
          <a:prstGeom prst="rect">
            <a:avLst/>
          </a:prstGeom>
          <a:noFill/>
        </p:spPr>
        <p:txBody>
          <a:bodyPr wrap="square" anchor="t" lIns="0" rIns="0" tIns="0" bIns="0">
            <a:noAutofit/>
          </a:bodyPr>
          <a:lstStyle/>
          <a:p>
            <a:pPr algn="l"/>
            <a:r>
              <a:rPr sz="800" b="1" i="0">
                <a:solidFill>
                  <a:srgbClr val="0E2356"/>
                </a:solidFill>
                <a:latin typeface="Outfit"/>
              </a:rPr>
              <a:t>CE QUE ÇA COÛTE</a:t>
            </a:r>
          </a:p>
        </p:txBody>
      </p:sp>
      <p:sp>
        <p:nvSpPr>
          <p:cNvPr id="15" name="TextBox 14"/>
          <p:cNvSpPr txBox="1"/>
          <p:nvPr/>
        </p:nvSpPr>
        <p:spPr>
          <a:xfrm>
            <a:off x="1220724" y="2809494"/>
            <a:ext cx="4677156" cy="196596"/>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La capacité disponible part en gaspillage.</a:t>
            </a:r>
          </a:p>
        </p:txBody>
      </p:sp>
      <p:sp>
        <p:nvSpPr>
          <p:cNvPr id="16" name="TextBox 15"/>
          <p:cNvSpPr txBox="1"/>
          <p:nvPr/>
        </p:nvSpPr>
        <p:spPr>
          <a:xfrm>
            <a:off x="1220724" y="3070097"/>
            <a:ext cx="4677156" cy="33375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RUN subi (l'exploitation quotidienne), ressources orphelines, seniors sur du répétitif — et le réflexe « plus d'outils » ou « mettons de l'IA » aggrave le mal.</a:t>
            </a:r>
          </a:p>
        </p:txBody>
      </p:sp>
      <p:sp>
        <p:nvSpPr>
          <p:cNvPr id="17" name="Rounded Rectangle 16"/>
          <p:cNvSpPr/>
          <p:nvPr/>
        </p:nvSpPr>
        <p:spPr>
          <a:xfrm>
            <a:off x="562356" y="2859785"/>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2859785"/>
            <a:ext cx="310896" cy="310896"/>
          </a:xfrm>
          <a:prstGeom prst="rect">
            <a:avLst/>
          </a:prstGeom>
          <a:noFill/>
        </p:spPr>
        <p:txBody>
          <a:bodyPr wrap="square" anchor="ctr" lIns="0" rIns="0" tIns="0" bIns="0">
            <a:noAutofit/>
          </a:bodyPr>
          <a:lstStyle/>
          <a:p>
            <a:pPr algn="ctr"/>
            <a:r>
              <a:rPr sz="1100" b="1" i="0">
                <a:solidFill>
                  <a:srgbClr val="FFFFFF"/>
                </a:solidFill>
                <a:latin typeface="Outfit"/>
              </a:rPr>
              <a:t>2</a:t>
            </a:r>
          </a:p>
        </p:txBody>
      </p:sp>
      <p:sp>
        <p:nvSpPr>
          <p:cNvPr id="19" name="Rounded Rectangle 18"/>
          <p:cNvSpPr/>
          <p:nvPr/>
        </p:nvSpPr>
        <p:spPr>
          <a:xfrm>
            <a:off x="1019556" y="3723894"/>
            <a:ext cx="5042916" cy="1026414"/>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9556" y="3723894"/>
            <a:ext cx="64008" cy="102641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0724" y="3842765"/>
            <a:ext cx="4677156" cy="182880"/>
          </a:xfrm>
          <a:prstGeom prst="rect">
            <a:avLst/>
          </a:prstGeom>
          <a:noFill/>
        </p:spPr>
        <p:txBody>
          <a:bodyPr wrap="square" anchor="t" lIns="0" rIns="0" tIns="0" bIns="0">
            <a:noAutofit/>
          </a:bodyPr>
          <a:lstStyle/>
          <a:p>
            <a:pPr algn="l"/>
            <a:r>
              <a:rPr sz="800" b="1" i="0">
                <a:solidFill>
                  <a:srgbClr val="8FD6DB"/>
                </a:solidFill>
                <a:latin typeface="Outfit"/>
              </a:rPr>
              <a:t>CE QU'UN BON DIAGNOSTIC EXIGE</a:t>
            </a:r>
          </a:p>
        </p:txBody>
      </p:sp>
      <p:sp>
        <p:nvSpPr>
          <p:cNvPr id="22" name="TextBox 21"/>
          <p:cNvSpPr txBox="1"/>
          <p:nvPr/>
        </p:nvSpPr>
        <p:spPr>
          <a:xfrm>
            <a:off x="1220724" y="4025646"/>
            <a:ext cx="4677156" cy="356615"/>
          </a:xfrm>
          <a:prstGeom prst="rect">
            <a:avLst/>
          </a:prstGeom>
          <a:noFill/>
        </p:spPr>
        <p:txBody>
          <a:bodyPr wrap="square" anchor="t" lIns="0" rIns="0" tIns="0" bIns="0">
            <a:noAutofit/>
          </a:bodyPr>
          <a:lstStyle/>
          <a:p>
            <a:pPr algn="l">
              <a:lnSpc>
                <a:spcPct val="120000"/>
              </a:lnSpc>
            </a:pPr>
            <a:r>
              <a:rPr sz="1050" b="1" i="0">
                <a:solidFill>
                  <a:srgbClr val="FFFFFF"/>
                </a:solidFill>
                <a:latin typeface="Outfit"/>
              </a:rPr>
              <a:t>Partir des utilisateurs réels et de leurs douleurs — pas d'une réponse toute faite.</a:t>
            </a:r>
          </a:p>
        </p:txBody>
      </p:sp>
      <p:sp>
        <p:nvSpPr>
          <p:cNvPr id="23" name="TextBox 22"/>
          <p:cNvSpPr txBox="1"/>
          <p:nvPr/>
        </p:nvSpPr>
        <p:spPr>
          <a:xfrm>
            <a:off x="1220724" y="4446270"/>
            <a:ext cx="4677156" cy="185166"/>
          </a:xfrm>
          <a:prstGeom prst="rect">
            <a:avLst/>
          </a:prstGeom>
          <a:noFill/>
        </p:spPr>
        <p:txBody>
          <a:bodyPr wrap="square" anchor="t" lIns="0" rIns="0" tIns="0" bIns="0">
            <a:noAutofit/>
          </a:bodyPr>
          <a:lstStyle/>
          <a:p>
            <a:pPr algn="l">
              <a:lnSpc>
                <a:spcPct val="130000"/>
              </a:lnSpc>
            </a:pPr>
            <a:r>
              <a:rPr sz="900" b="0" i="0">
                <a:solidFill>
                  <a:srgbClr val="C7CBE0"/>
                </a:solidFill>
                <a:latin typeface="Outfit"/>
              </a:rPr>
              <a:t>Le fil que déroulent tous les chapitres qui suivent.</a:t>
            </a:r>
          </a:p>
        </p:txBody>
      </p:sp>
      <p:sp>
        <p:nvSpPr>
          <p:cNvPr id="24" name="Rounded Rectangle 23"/>
          <p:cNvSpPr/>
          <p:nvPr/>
        </p:nvSpPr>
        <p:spPr>
          <a:xfrm>
            <a:off x="562356" y="4081653"/>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6" y="4081653"/>
            <a:ext cx="310896" cy="310896"/>
          </a:xfrm>
          <a:prstGeom prst="rect">
            <a:avLst/>
          </a:prstGeom>
          <a:noFill/>
        </p:spPr>
        <p:txBody>
          <a:bodyPr wrap="square" anchor="ctr" lIns="0" rIns="0" tIns="0" bIns="0">
            <a:noAutofit/>
          </a:bodyPr>
          <a:lstStyle/>
          <a:p>
            <a:pPr algn="ctr"/>
            <a:r>
              <a:rPr sz="1100" b="1" i="0">
                <a:solidFill>
                  <a:srgbClr val="FFFFFF"/>
                </a:solidFill>
                <a:latin typeface="Outfit"/>
              </a:rPr>
              <a:t>3</a:t>
            </a:r>
          </a:p>
        </p:txBody>
      </p:sp>
      <p:pic>
        <p:nvPicPr>
          <p:cNvPr id="26" name="Picture 25" descr="sunset_1_960x1372.jpg"/>
          <p:cNvPicPr>
            <a:picLocks noChangeAspect="1"/>
          </p:cNvPicPr>
          <p:nvPr/>
        </p:nvPicPr>
        <p:blipFill>
          <a:blip r:embed="rId2"/>
          <a:stretch>
            <a:fillRect/>
          </a:stretch>
        </p:blipFill>
        <p:spPr>
          <a:xfrm>
            <a:off x="6270019" y="304800"/>
            <a:ext cx="2593200" cy="3705000"/>
          </a:xfrm>
          <a:prstGeom prst="round2DiagRect">
            <a:avLst>
              <a:gd name="adj1" fmla="val 50000"/>
              <a:gd name="adj2" fmla="val 0"/>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Contexte</a:t>
            </a:r>
          </a:p>
          <a:p>
            <a:r>
              <a:rPr sz="1050" i="1">
                <a:solidFill>
                  <a:srgbClr val="586586"/>
                </a:solidFill>
                <a:latin typeface="Outfit"/>
              </a:rPr>
              <a:t>La double mission, pourquoi cette transformation a du sens maintenant, et pourquoi ce terrain n'est pas un terrain comme un autre.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02</a:t>
            </a:r>
          </a:p>
        </p:txBody>
      </p:sp>
      <p:pic>
        <p:nvPicPr>
          <p:cNvPr id="4" name="Picture 3" descr="mountain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CONTEXTE   ·   </a:t>
            </a:r>
            <a:r>
              <a:rPr b="1" sz="1700">
                <a:solidFill>
                  <a:srgbClr val="0E2356"/>
                </a:solidFill>
                <a:latin typeface="Outfit"/>
              </a:rPr>
              <a:t>Une double mission : transformer ET assainir</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Deux piliers ni séquentiels ni optionnels : une cible produit sans traitement du gaspillage manque de capacité pour s'y déployer ; l'inverse reste une réduction de coûts sans vision.</a:t>
            </a:r>
          </a:p>
        </p:txBody>
      </p:sp>
      <p:sp>
        <p:nvSpPr>
          <p:cNvPr id="4" name="Rounded Rectangle 3"/>
          <p:cNvSpPr/>
          <p:nvPr/>
        </p:nvSpPr>
        <p:spPr>
          <a:xfrm>
            <a:off x="562356"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TRANSFORMER</a:t>
            </a:r>
          </a:p>
        </p:txBody>
      </p:sp>
      <p:sp>
        <p:nvSpPr>
          <p:cNvPr id="7" name="TextBox 6"/>
          <p:cNvSpPr txBox="1"/>
          <p:nvPr/>
        </p:nvSpPr>
        <p:spPr>
          <a:xfrm>
            <a:off x="763524"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Cible produit/plateforme : utilisateurs identifiés, valeur, roadmap, engagements de qualité, gouvernance lisible.</a:t>
            </a:r>
          </a:p>
        </p:txBody>
      </p:sp>
      <p:sp>
        <p:nvSpPr>
          <p:cNvPr id="8" name="TextBox 7"/>
          <p:cNvSpPr txBox="1"/>
          <p:nvPr/>
        </p:nvSpPr>
        <p:spPr>
          <a:xfrm>
            <a:off x="763524"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vision à moyen terme — ce que le sponsor achète.</a:t>
            </a:r>
          </a:p>
        </p:txBody>
      </p:sp>
      <p:sp>
        <p:nvSpPr>
          <p:cNvPr id="9" name="Rounded Rectangle 8"/>
          <p:cNvSpPr/>
          <p:nvPr/>
        </p:nvSpPr>
        <p:spPr>
          <a:xfrm>
            <a:off x="4555998"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7166"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ASSAINIR</a:t>
            </a:r>
          </a:p>
        </p:txBody>
      </p:sp>
      <p:sp>
        <p:nvSpPr>
          <p:cNvPr id="12" name="TextBox 11"/>
          <p:cNvSpPr txBox="1"/>
          <p:nvPr/>
        </p:nvSpPr>
        <p:spPr>
          <a:xfrm>
            <a:off x="4757166"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Traitement mesurable des gaspillages : flux, RUN, humain, financier, cognitif, décisionnel, environnemental, IA.</a:t>
            </a:r>
          </a:p>
        </p:txBody>
      </p:sp>
      <p:sp>
        <p:nvSpPr>
          <p:cNvPr id="13" name="TextBox 12"/>
          <p:cNvSpPr txBox="1"/>
          <p:nvPr/>
        </p:nvSpPr>
        <p:spPr>
          <a:xfrm>
            <a:off x="4757166"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capacité récupérée finance la trajectoire produit — hypothèse à prouver, qui suppose une réallocation budgétaire côté client.</a:t>
            </a:r>
          </a:p>
        </p:txBody>
      </p:sp>
      <p:sp>
        <p:nvSpPr>
          <p:cNvPr id="14" name="TextBox 13"/>
          <p:cNvSpPr txBox="1"/>
          <p:nvPr/>
        </p:nvSpPr>
        <p:spPr>
          <a:xfrm>
            <a:off x="562356" y="3602736"/>
            <a:ext cx="7804404" cy="201168"/>
          </a:xfrm>
          <a:prstGeom prst="rect">
            <a:avLst/>
          </a:prstGeom>
          <a:noFill/>
        </p:spPr>
        <p:txBody>
          <a:bodyPr wrap="square" anchor="t" lIns="0" rIns="0" tIns="0" bIns="0">
            <a:noAutofit/>
          </a:bodyPr>
          <a:lstStyle/>
          <a:p>
            <a:pPr algn="l"/>
            <a:r>
              <a:rPr sz="750" b="1" i="0">
                <a:solidFill>
                  <a:srgbClr val="586586"/>
                </a:solidFill>
                <a:latin typeface="Outfit"/>
              </a:rPr>
              <a:t>L'ÉQUILIBRE QUE LA DOUBLE MISSION TIENT EN PERMANENCE</a:t>
            </a:r>
          </a:p>
        </p:txBody>
      </p:sp>
      <p:sp>
        <p:nvSpPr>
          <p:cNvPr id="15" name="Rounded Rectangle 14"/>
          <p:cNvSpPr/>
          <p:nvPr/>
        </p:nvSpPr>
        <p:spPr>
          <a:xfrm>
            <a:off x="562356"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Efficacité du delivery</a:t>
            </a:r>
          </a:p>
        </p:txBody>
      </p:sp>
      <p:sp>
        <p:nvSpPr>
          <p:cNvPr id="17" name="Rounded Rectangle 16"/>
          <p:cNvSpPr/>
          <p:nvPr/>
        </p:nvSpPr>
        <p:spPr>
          <a:xfrm>
            <a:off x="3224783"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16224"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Robustesse du RUN</a:t>
            </a:r>
          </a:p>
        </p:txBody>
      </p:sp>
      <p:sp>
        <p:nvSpPr>
          <p:cNvPr id="19" name="Rounded Rectangle 18"/>
          <p:cNvSpPr/>
          <p:nvPr/>
        </p:nvSpPr>
        <p:spPr>
          <a:xfrm>
            <a:off x="5887212"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78652"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Valeur perçue (utilisateurs internes)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Pourquoi cette transformation, pour un client infra — et maintenant</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rendent l'Infra-as-a-Product pertinente — et urgente — pour un client dont l'infrastructure est encore vécue comme un centre de coûts et un guichet.</a:t>
            </a:r>
          </a:p>
        </p:txBody>
      </p:sp>
      <p:sp>
        <p:nvSpPr>
          <p:cNvPr id="4" name="Rounded Rectangle 3"/>
          <p:cNvSpPr/>
          <p:nvPr/>
        </p:nvSpPr>
        <p:spPr>
          <a:xfrm>
            <a:off x="562356"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1</a:t>
            </a:r>
          </a:p>
        </p:txBody>
      </p:sp>
      <p:sp>
        <p:nvSpPr>
          <p:cNvPr id="6" name="Rounded Rectangle 5"/>
          <p:cNvSpPr/>
          <p:nvPr/>
        </p:nvSpPr>
        <p:spPr>
          <a:xfrm>
            <a:off x="762609"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L'infra subie n'est plus tenable</a:t>
            </a:r>
          </a:p>
          <a:p>
            <a:pPr algn="l">
              <a:lnSpc>
                <a:spcPct val="125000"/>
              </a:lnSpc>
              <a:spcBef>
                <a:spcPts val="800"/>
              </a:spcBef>
            </a:pPr>
            <a:r>
              <a:rPr sz="900" b="0" i="0">
                <a:solidFill>
                  <a:srgbClr val="0E2356"/>
                </a:solidFill>
                <a:latin typeface="Outfit"/>
              </a:rPr>
              <a:t>RUN subi, experts seniors drainés sur du répétitif, gaspillage cloud non maîtrisé, plateforme contournée : le coût du statu quo ne cesse de monter.</a:t>
            </a:r>
          </a:p>
        </p:txBody>
      </p:sp>
      <p:sp>
        <p:nvSpPr>
          <p:cNvPr id="8" name="Rounded Rectangle 7"/>
          <p:cNvSpPr/>
          <p:nvPr/>
        </p:nvSpPr>
        <p:spPr>
          <a:xfrm>
            <a:off x="3224783"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24783"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2</a:t>
            </a:r>
          </a:p>
        </p:txBody>
      </p:sp>
      <p:sp>
        <p:nvSpPr>
          <p:cNvPr id="10" name="Rounded Rectangle 9"/>
          <p:cNvSpPr/>
          <p:nvPr/>
        </p:nvSpPr>
        <p:spPr>
          <a:xfrm>
            <a:off x="3425037"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24783"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Le modèle produit/plateforme est prouvé</a:t>
            </a:r>
          </a:p>
          <a:p>
            <a:pPr algn="l">
              <a:lnSpc>
                <a:spcPct val="125000"/>
              </a:lnSpc>
              <a:spcBef>
                <a:spcPts val="800"/>
              </a:spcBef>
            </a:pPr>
            <a:r>
              <a:rPr sz="900" b="0" i="0">
                <a:solidFill>
                  <a:srgbClr val="0E2356"/>
                </a:solidFill>
                <a:latin typeface="Outfit"/>
              </a:rPr>
              <a:t>Devenu un standard — mais Gartner : 80 % de grandes organisations avec platform team en 2026, moins de 30 % de gains mesurables. C'est cet écart qu'Assainir adresse.</a:t>
            </a:r>
          </a:p>
        </p:txBody>
      </p:sp>
      <p:sp>
        <p:nvSpPr>
          <p:cNvPr id="12" name="Rounded Rectangle 11"/>
          <p:cNvSpPr/>
          <p:nvPr/>
        </p:nvSpPr>
        <p:spPr>
          <a:xfrm>
            <a:off x="5887212"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7212"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3</a:t>
            </a:r>
          </a:p>
        </p:txBody>
      </p:sp>
      <p:sp>
        <p:nvSpPr>
          <p:cNvPr id="14" name="Rounded Rectangle 13"/>
          <p:cNvSpPr/>
          <p:nvPr/>
        </p:nvSpPr>
        <p:spPr>
          <a:xfrm>
            <a:off x="6087465"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7212"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L'IA rebat les cartes — l'organisation d'abord</a:t>
            </a:r>
          </a:p>
          <a:p>
            <a:pPr algn="l">
              <a:lnSpc>
                <a:spcPct val="125000"/>
              </a:lnSpc>
              <a:spcBef>
                <a:spcPts val="800"/>
              </a:spcBef>
            </a:pPr>
            <a:r>
              <a:rPr sz="900" b="0" i="0">
                <a:solidFill>
                  <a:srgbClr val="0E2356"/>
                </a:solidFill>
                <a:latin typeface="Outfit"/>
              </a:rPr>
              <a:t>L'IA amplifie une organisation mûre, jamais l'inverse. S'y préparer maintenant (doctrine confidentialité-first) évite de la subir plus tard.</a:t>
            </a:r>
          </a:p>
        </p:txBody>
      </p:sp>
      <p:sp>
        <p:nvSpPr>
          <p:cNvPr id="16" name="Rounded Rectangle 15"/>
          <p:cNvSpPr/>
          <p:nvPr/>
        </p:nvSpPr>
        <p:spPr>
          <a:xfrm>
            <a:off x="562356" y="364718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647186"/>
            <a:ext cx="73152" cy="6583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 y="3647186"/>
            <a:ext cx="7383779" cy="658368"/>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Et surtout — nos deux missions répondent trait pour trait aux deux douleurs du client.</a:t>
            </a:r>
          </a:p>
          <a:p>
            <a:pPr algn="l">
              <a:lnSpc>
                <a:spcPct val="115000"/>
              </a:lnSpc>
              <a:spcBef>
                <a:spcPts val="200"/>
              </a:spcBef>
            </a:pPr>
            <a:r>
              <a:rPr sz="800" b="0" i="0">
                <a:solidFill>
                  <a:srgbClr val="586586"/>
                </a:solidFill>
                <a:latin typeface="Outfit"/>
              </a:rPr>
              <a:t>Subir le RUN → TRANSFORMER (cible produit/plateforme) ; le gaspillage → ASSAINIR (capacité récupérée à réinvestir dans la trajectoire — sous réserve d'une réallocation côté client).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Le sponsor est la DSI — l'offre se gagne contre quatre achats partiels</a:t>
            </a:r>
          </a:p>
        </p:txBody>
      </p:sp>
      <p:sp>
        <p:nvSpPr>
          <p:cNvPr id="3" name="TextBox 2"/>
          <p:cNvSpPr txBox="1"/>
          <p:nvPr/>
        </p:nvSpPr>
        <p:spPr>
          <a:xfrm>
            <a:off x="562356" y="1051560"/>
            <a:ext cx="7804404" cy="622046"/>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Sponsor qualifié : DSI (direction des systèmes d'information) ou direction infrastructure, sur une ligne budgétaire transformation — jamais le budget RUN (exploitation courante).</a:t>
            </a:r>
          </a:p>
          <a:p>
            <a:pPr algn="l">
              <a:lnSpc>
                <a:spcPct val="125000"/>
              </a:lnSpc>
              <a:spcBef>
                <a:spcPts val="300"/>
              </a:spcBef>
            </a:pPr>
            <a:r>
              <a:rPr sz="750" b="0" i="0">
                <a:solidFill>
                  <a:srgbClr val="586586"/>
                </a:solidFill>
                <a:latin typeface="Outfit"/>
              </a:rPr>
              <a:t>La modernisation infra recule face à la cyber dans les priorités budgétaires 2026 (baromètre Abraxio) : le langage de vente est « récupérer de la capacité humaine rare », pas « moderniser l'infra ».</a:t>
            </a:r>
          </a:p>
        </p:txBody>
      </p:sp>
      <p:sp>
        <p:nvSpPr>
          <p:cNvPr id="4" name="Round Diagonal Corner Rectangle 3"/>
          <p:cNvSpPr/>
          <p:nvPr/>
        </p:nvSpPr>
        <p:spPr>
          <a:xfrm>
            <a:off x="562356"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8076"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Ne rien faire</a:t>
            </a:r>
          </a:p>
          <a:p>
            <a:pPr algn="l">
              <a:lnSpc>
                <a:spcPct val="120000"/>
              </a:lnSpc>
              <a:spcBef>
                <a:spcPts val="400"/>
              </a:spcBef>
            </a:pPr>
            <a:r>
              <a:rPr sz="730" b="0" i="0">
                <a:solidFill>
                  <a:srgbClr val="0E2356"/>
                </a:solidFill>
                <a:latin typeface="Outfit"/>
              </a:rPr>
              <a:t>Zéro coût apparent.</a:t>
            </a:r>
          </a:p>
        </p:txBody>
      </p:sp>
      <p:sp>
        <p:nvSpPr>
          <p:cNvPr id="7" name="TextBox 6"/>
          <p:cNvSpPr txBox="1"/>
          <p:nvPr/>
        </p:nvSpPr>
        <p:spPr>
          <a:xfrm>
            <a:off x="681228"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Le coût du statu quo monte</a:t>
            </a:r>
          </a:p>
          <a:p>
            <a:pPr algn="l">
              <a:lnSpc>
                <a:spcPct val="120000"/>
              </a:lnSpc>
              <a:spcBef>
                <a:spcPts val="300"/>
              </a:spcBef>
            </a:pPr>
            <a:r>
              <a:rPr sz="730" b="0" i="0">
                <a:solidFill>
                  <a:srgbClr val="FFFFFF"/>
                </a:solidFill>
                <a:latin typeface="Outfit"/>
              </a:rPr>
              <a:t>C'est lui que l'Assessment flash chiffre (déclencheur ①).</a:t>
            </a:r>
          </a:p>
        </p:txBody>
      </p:sp>
      <p:sp>
        <p:nvSpPr>
          <p:cNvPr id="8" name="Round Diagonal Corner Rectangle 7"/>
          <p:cNvSpPr/>
          <p:nvPr/>
        </p:nvSpPr>
        <p:spPr>
          <a:xfrm>
            <a:off x="2559177"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04897"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78049"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FinOps outillé seul</a:t>
            </a:r>
          </a:p>
          <a:p>
            <a:pPr algn="l">
              <a:lnSpc>
                <a:spcPct val="120000"/>
              </a:lnSpc>
              <a:spcBef>
                <a:spcPts val="400"/>
              </a:spcBef>
            </a:pPr>
            <a:r>
              <a:rPr sz="730" b="0" i="0">
                <a:solidFill>
                  <a:srgbClr val="0E2356"/>
                </a:solidFill>
                <a:latin typeface="Outfit"/>
              </a:rPr>
              <a:t>Mesure le gaspillage : marché mature, gaspillage cloud estimé à 29 % (Flexera).</a:t>
            </a:r>
          </a:p>
        </p:txBody>
      </p:sp>
      <p:sp>
        <p:nvSpPr>
          <p:cNvPr id="11" name="TextBox 10"/>
          <p:cNvSpPr txBox="1"/>
          <p:nvPr/>
        </p:nvSpPr>
        <p:spPr>
          <a:xfrm>
            <a:off x="2678049"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Ni cible produit, ni réallocation</a:t>
            </a:r>
          </a:p>
          <a:p>
            <a:pPr algn="l">
              <a:lnSpc>
                <a:spcPct val="120000"/>
              </a:lnSpc>
              <a:spcBef>
                <a:spcPts val="300"/>
              </a:spcBef>
            </a:pPr>
            <a:r>
              <a:rPr sz="730" b="0" i="0">
                <a:solidFill>
                  <a:srgbClr val="FFFFFF"/>
                </a:solidFill>
                <a:latin typeface="Outfit"/>
              </a:rPr>
              <a:t>IAP se place en aval : le chiffre devient une capacité produit gouvernée, pas seulement une économie.</a:t>
            </a:r>
          </a:p>
        </p:txBody>
      </p:sp>
      <p:sp>
        <p:nvSpPr>
          <p:cNvPr id="12" name="Round Diagonal Corner Rectangle 11"/>
          <p:cNvSpPr/>
          <p:nvPr/>
        </p:nvSpPr>
        <p:spPr>
          <a:xfrm>
            <a:off x="4555998"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01718"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74870"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Platform engineering pur</a:t>
            </a:r>
          </a:p>
          <a:p>
            <a:pPr algn="l">
              <a:lnSpc>
                <a:spcPct val="120000"/>
              </a:lnSpc>
              <a:spcBef>
                <a:spcPts val="400"/>
              </a:spcBef>
            </a:pPr>
            <a:r>
              <a:rPr sz="730" b="0" i="0">
                <a:solidFill>
                  <a:srgbClr val="0E2356"/>
                </a:solidFill>
                <a:latin typeface="Outfit"/>
              </a:rPr>
              <a:t>La cible produit/plateforme, un modèle devenu standard.</a:t>
            </a:r>
          </a:p>
        </p:txBody>
      </p:sp>
      <p:sp>
        <p:nvSpPr>
          <p:cNvPr id="15" name="TextBox 14"/>
          <p:cNvSpPr txBox="1"/>
          <p:nvPr/>
        </p:nvSpPr>
        <p:spPr>
          <a:xfrm>
            <a:off x="4674870"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La cible sans le financement</a:t>
            </a:r>
          </a:p>
          <a:p>
            <a:pPr algn="l">
              <a:lnSpc>
                <a:spcPct val="120000"/>
              </a:lnSpc>
              <a:spcBef>
                <a:spcPts val="300"/>
              </a:spcBef>
            </a:pPr>
            <a:r>
              <a:rPr sz="730" b="0" i="0">
                <a:solidFill>
                  <a:srgbClr val="FFFFFF"/>
                </a:solidFill>
                <a:latin typeface="Outfit"/>
              </a:rPr>
              <a:t>Reproduit l'écart 80/30 déjà posé au déclencheur ② : 80 % de platform teams en 2026, moins de 30 % de gains mesurables (Gartner).</a:t>
            </a:r>
          </a:p>
        </p:txBody>
      </p:sp>
      <p:sp>
        <p:nvSpPr>
          <p:cNvPr id="16" name="Round Diagonal Corner Rectangle 15"/>
          <p:cNvSpPr/>
          <p:nvPr/>
        </p:nvSpPr>
        <p:spPr>
          <a:xfrm>
            <a:off x="6552819"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98539"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1691"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AIOps / agentic outillé</a:t>
            </a:r>
          </a:p>
          <a:p>
            <a:pPr algn="l">
              <a:lnSpc>
                <a:spcPct val="120000"/>
              </a:lnSpc>
              <a:spcBef>
                <a:spcPts val="400"/>
              </a:spcBef>
            </a:pPr>
            <a:r>
              <a:rPr sz="730" b="0" i="0">
                <a:solidFill>
                  <a:srgbClr val="0E2356"/>
                </a:solidFill>
                <a:latin typeface="Outfit"/>
              </a:rPr>
              <a:t>Time-to-value court (ServiceNow, Datadog).</a:t>
            </a:r>
          </a:p>
        </p:txBody>
      </p:sp>
      <p:sp>
        <p:nvSpPr>
          <p:cNvPr id="19" name="TextBox 18"/>
          <p:cNvSpPr txBox="1"/>
          <p:nvPr/>
        </p:nvSpPr>
        <p:spPr>
          <a:xfrm>
            <a:off x="6671691"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Automatise le RUN sans transformer</a:t>
            </a:r>
          </a:p>
          <a:p>
            <a:pPr algn="l">
              <a:lnSpc>
                <a:spcPct val="120000"/>
              </a:lnSpc>
              <a:spcBef>
                <a:spcPts val="300"/>
              </a:spcBef>
            </a:pPr>
            <a:r>
              <a:rPr sz="730" b="0" i="0">
                <a:solidFill>
                  <a:srgbClr val="FFFFFF"/>
                </a:solidFill>
                <a:latin typeface="Outfit"/>
              </a:rPr>
              <a:t>Plus de 40 % des projets agentic seront abandonnés d'ici 2027 (Gartner, juin 2025).</a:t>
            </a:r>
          </a:p>
        </p:txBody>
      </p:sp>
      <p:sp>
        <p:nvSpPr>
          <p:cNvPr id="20" name="Rounded Rectangle 19"/>
          <p:cNvSpPr/>
          <p:nvPr/>
        </p:nvSpPr>
        <p:spPr>
          <a:xfrm>
            <a:off x="562356" y="4033266"/>
            <a:ext cx="3810762" cy="95021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142994"/>
            <a:ext cx="3554730" cy="730757"/>
          </a:xfrm>
          <a:prstGeom prst="rect">
            <a:avLst/>
          </a:prstGeom>
          <a:noFill/>
        </p:spPr>
        <p:txBody>
          <a:bodyPr wrap="square" anchor="t" lIns="0" rIns="0" tIns="0" bIns="0">
            <a:noAutofit/>
          </a:bodyPr>
          <a:lstStyle/>
          <a:p>
            <a:pPr algn="l"/>
            <a:r>
              <a:rPr sz="700" b="1" i="0">
                <a:solidFill>
                  <a:srgbClr val="586586"/>
                </a:solidFill>
                <a:latin typeface="Outfit"/>
              </a:rPr>
              <a:t>CE QUE LES QUATRE ALTERNATIVES N'ONT PAS</a:t>
            </a:r>
          </a:p>
          <a:p>
            <a:pPr algn="l">
              <a:lnSpc>
                <a:spcPct val="125000"/>
              </a:lnSpc>
              <a:spcBef>
                <a:spcPts val="300"/>
              </a:spcBef>
            </a:pPr>
            <a:r>
              <a:rPr sz="700" b="0" i="0">
                <a:solidFill>
                  <a:srgbClr val="0E2356"/>
                </a:solidFill>
                <a:latin typeface="Outfit"/>
              </a:rPr>
              <a:t>L'étiquette « Infrastructure as a Product » existe ailleurs — Thoughtworks (conseil), Itential (plateforme) ; nous la gardons. Le différenciateur est le couplage produit + gaspillage + doctrine IA, angle mort commun des quatre.</a:t>
            </a:r>
          </a:p>
        </p:txBody>
      </p:sp>
      <p:sp>
        <p:nvSpPr>
          <p:cNvPr id="22" name="Rounded Rectangle 21"/>
          <p:cNvSpPr/>
          <p:nvPr/>
        </p:nvSpPr>
        <p:spPr>
          <a:xfrm>
            <a:off x="4555998" y="4033266"/>
            <a:ext cx="3810762" cy="950213"/>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4014" y="4142994"/>
            <a:ext cx="3554730" cy="730757"/>
          </a:xfrm>
          <a:prstGeom prst="rect">
            <a:avLst/>
          </a:prstGeom>
          <a:noFill/>
        </p:spPr>
        <p:txBody>
          <a:bodyPr wrap="square" anchor="t" lIns="0" rIns="0" tIns="0" bIns="0">
            <a:noAutofit/>
          </a:bodyPr>
          <a:lstStyle/>
          <a:p>
            <a:pPr algn="l"/>
            <a:r>
              <a:rPr sz="700" b="1" i="0">
                <a:solidFill>
                  <a:srgbClr val="8891B3"/>
                </a:solidFill>
                <a:latin typeface="Outfit"/>
              </a:rPr>
              <a:t>LA RÉPONSE AU « JE NE VEUX QUE LA BAISSE DE COÛTS »</a:t>
            </a:r>
          </a:p>
          <a:p>
            <a:pPr algn="l">
              <a:lnSpc>
                <a:spcPct val="125000"/>
              </a:lnSpc>
              <a:spcBef>
                <a:spcPts val="300"/>
              </a:spcBef>
            </a:pPr>
            <a:r>
              <a:rPr sz="700" b="0" i="0">
                <a:solidFill>
                  <a:srgbClr val="FFFFFF"/>
                </a:solidFill>
                <a:latin typeface="Outfit"/>
              </a:rPr>
              <a:t>Un Assessment flash d'entrée, avant toute action d'accompagnement — puis la trajectoire ; jamais l'assainissement seul. Sous pression IA, un cas d'usage sur données publiques est packagé dès l'intake : « celui-ci, tout de suite, sous gate » (chapitre Offre).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D'un guichet sursollicité à une infra as a product — l'IA rend ce virage nécessaire.</a:t>
            </a:r>
          </a:p>
        </p:txBody>
      </p:sp>
      <p:sp>
        <p:nvSpPr>
          <p:cNvPr id="3" name="Rounded Rectangle 2"/>
          <p:cNvSpPr/>
          <p:nvPr/>
        </p:nvSpPr>
        <p:spPr>
          <a:xfrm>
            <a:off x="562356" y="1069848"/>
            <a:ext cx="3627882" cy="1184529"/>
          </a:xfrm>
          <a:prstGeom prst="roundRect">
            <a:avLst>
              <a:gd name="adj" fmla="val 13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7804" y="1225295"/>
            <a:ext cx="3316986" cy="362711"/>
          </a:xfrm>
          <a:prstGeom prst="rect">
            <a:avLst/>
          </a:prstGeom>
          <a:noFill/>
        </p:spPr>
        <p:txBody>
          <a:bodyPr wrap="square" anchor="t" lIns="0" rIns="0" tIns="0" bIns="0">
            <a:noAutofit/>
          </a:bodyPr>
          <a:lstStyle/>
          <a:p>
            <a:pPr algn="ctr">
              <a:lnSpc>
                <a:spcPct val="115000"/>
              </a:lnSpc>
            </a:pPr>
            <a:r>
              <a:rPr sz="1100" b="1" i="0">
                <a:solidFill>
                  <a:srgbClr val="0E2356"/>
                </a:solidFill>
                <a:latin typeface="Outfit"/>
              </a:rPr>
              <a:t>Sortir de la sursollicitation et du guichet</a:t>
            </a:r>
          </a:p>
        </p:txBody>
      </p:sp>
      <p:sp>
        <p:nvSpPr>
          <p:cNvPr id="5" name="TextBox 4"/>
          <p:cNvSpPr txBox="1"/>
          <p:nvPr/>
        </p:nvSpPr>
        <p:spPr>
          <a:xfrm>
            <a:off x="717804" y="1642871"/>
            <a:ext cx="3316986" cy="456057"/>
          </a:xfrm>
          <a:prstGeom prst="rect">
            <a:avLst/>
          </a:prstGeom>
          <a:noFill/>
        </p:spPr>
        <p:txBody>
          <a:bodyPr wrap="square" anchor="t" lIns="0" rIns="0" tIns="0" bIns="0">
            <a:spAutoFit/>
          </a:bodyPr>
          <a:lstStyle/>
          <a:p>
            <a:pPr algn="ctr">
              <a:lnSpc>
                <a:spcPct val="125000"/>
              </a:lnSpc>
            </a:pPr>
            <a:r>
              <a:rPr sz="900" b="0" i="1">
                <a:solidFill>
                  <a:srgbClr val="586586"/>
                </a:solidFill>
                <a:latin typeface="Outfit"/>
              </a:rPr>
              <a:t>Des équipiers qui font trop de choses, sont engorgés — </a:t>
            </a:r>
            <a:r>
              <a:rPr sz="900" b="1" i="0">
                <a:solidFill>
                  <a:srgbClr val="0E2356"/>
                </a:solidFill>
                <a:latin typeface="Outfit"/>
              </a:rPr>
              <a:t>décommissionnement jamais fait, trop de RUN au quotidien.</a:t>
            </a:r>
          </a:p>
        </p:txBody>
      </p:sp>
      <p:sp>
        <p:nvSpPr>
          <p:cNvPr id="6" name="Chevron 5"/>
          <p:cNvSpPr/>
          <p:nvPr/>
        </p:nvSpPr>
        <p:spPr>
          <a:xfrm>
            <a:off x="4267047" y="1365980"/>
            <a:ext cx="395020" cy="592264"/>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38878" y="1069848"/>
            <a:ext cx="3627882" cy="1184529"/>
          </a:xfrm>
          <a:prstGeom prst="roundRect">
            <a:avLst>
              <a:gd name="adj" fmla="val 13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4326" y="1069848"/>
            <a:ext cx="3316986" cy="1184529"/>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Assainir et travailler le gaspillage</a:t>
            </a:r>
          </a:p>
        </p:txBody>
      </p:sp>
      <p:sp>
        <p:nvSpPr>
          <p:cNvPr id="9" name="Rounded Rectangle 8"/>
          <p:cNvSpPr/>
          <p:nvPr/>
        </p:nvSpPr>
        <p:spPr>
          <a:xfrm>
            <a:off x="562356" y="2327529"/>
            <a:ext cx="3627882" cy="646176"/>
          </a:xfrm>
          <a:prstGeom prst="roundRect">
            <a:avLst>
              <a:gd name="adj" fmla="val 50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Mieux servir les utilisateurs, avec une approche as a service</a:t>
            </a:r>
          </a:p>
        </p:txBody>
      </p:sp>
      <p:sp>
        <p:nvSpPr>
          <p:cNvPr id="11" name="Chevron 10"/>
          <p:cNvSpPr/>
          <p:nvPr/>
        </p:nvSpPr>
        <p:spPr>
          <a:xfrm>
            <a:off x="4267047" y="2489073"/>
            <a:ext cx="395020" cy="32308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38878" y="2327529"/>
            <a:ext cx="3627882" cy="646176"/>
          </a:xfrm>
          <a:prstGeom prst="roundRect">
            <a:avLst>
              <a:gd name="adj" fmla="val 50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94326"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Une infra plus recentrée sur ces utilisateurs</a:t>
            </a:r>
          </a:p>
        </p:txBody>
      </p:sp>
      <p:sp>
        <p:nvSpPr>
          <p:cNvPr id="14" name="TextBox 13"/>
          <p:cNvSpPr txBox="1"/>
          <p:nvPr/>
        </p:nvSpPr>
        <p:spPr>
          <a:xfrm>
            <a:off x="562356" y="3065145"/>
            <a:ext cx="7804404" cy="118872"/>
          </a:xfrm>
          <a:prstGeom prst="rect">
            <a:avLst/>
          </a:prstGeom>
          <a:noFill/>
        </p:spPr>
        <p:txBody>
          <a:bodyPr wrap="square" anchor="t" lIns="0" rIns="0" tIns="0" bIns="0">
            <a:noAutofit/>
          </a:bodyPr>
          <a:lstStyle/>
          <a:p>
            <a:pPr algn="l"/>
            <a:r>
              <a:rPr sz="800" b="1" i="0">
                <a:solidFill>
                  <a:srgbClr val="0E2356"/>
                </a:solidFill>
                <a:latin typeface="Outfit"/>
              </a:rPr>
              <a:t>AVEC L'ARRIVÉE DE L'IA</a:t>
            </a:r>
          </a:p>
        </p:txBody>
      </p:sp>
      <p:sp>
        <p:nvSpPr>
          <p:cNvPr id="15" name="Rounded Rectangle 14"/>
          <p:cNvSpPr/>
          <p:nvPr/>
        </p:nvSpPr>
        <p:spPr>
          <a:xfrm>
            <a:off x="772668" y="3449193"/>
            <a:ext cx="7594092" cy="906017"/>
          </a:xfrm>
          <a:prstGeom prst="roundRect">
            <a:avLst>
              <a:gd name="adj" fmla="val 9000"/>
            </a:avLst>
          </a:prstGeom>
          <a:solidFill>
            <a:srgbClr val="FFFFFF"/>
          </a:solidFill>
          <a:ln w="1778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3836" y="3705224"/>
            <a:ext cx="7191755" cy="172212"/>
          </a:xfrm>
          <a:prstGeom prst="rect">
            <a:avLst/>
          </a:prstGeom>
          <a:noFill/>
        </p:spPr>
        <p:txBody>
          <a:bodyPr wrap="square" anchor="t" lIns="0" rIns="0" tIns="0" bIns="0">
            <a:noAutofit/>
          </a:bodyPr>
          <a:lstStyle/>
          <a:p>
            <a:pPr algn="l"/>
            <a:r>
              <a:rPr sz="950" b="1" i="0">
                <a:solidFill>
                  <a:srgbClr val="3E4F78"/>
                </a:solidFill>
                <a:latin typeface="Outfit"/>
              </a:rPr>
              <a:t>UNE SURSOLLICITATION EXACERBÉE</a:t>
            </a:r>
          </a:p>
        </p:txBody>
      </p:sp>
      <p:sp>
        <p:nvSpPr>
          <p:cNvPr id="17" name="TextBox 16"/>
          <p:cNvSpPr txBox="1"/>
          <p:nvPr/>
        </p:nvSpPr>
        <p:spPr>
          <a:xfrm>
            <a:off x="973836" y="3923156"/>
            <a:ext cx="7191755" cy="313182"/>
          </a:xfrm>
          <a:prstGeom prst="rect">
            <a:avLst/>
          </a:prstGeom>
          <a:noFill/>
        </p:spPr>
        <p:txBody>
          <a:bodyPr wrap="square" anchor="t" lIns="0" rIns="0" tIns="0" bIns="0">
            <a:spAutoFit/>
          </a:bodyPr>
          <a:lstStyle/>
          <a:p>
            <a:pPr algn="l">
              <a:lnSpc>
                <a:spcPct val="125000"/>
              </a:lnSpc>
            </a:pPr>
            <a:r>
              <a:rPr sz="900" b="0" i="0">
                <a:solidFill>
                  <a:srgbClr val="0E2356"/>
                </a:solidFill>
                <a:latin typeface="Outfit"/>
              </a:rPr>
              <a:t>Trop de demandes, des équipes engorgées — la même pression que le guichet d'hier, </a:t>
            </a:r>
            <a:r>
              <a:rPr sz="900" b="1" i="0">
                <a:solidFill>
                  <a:srgbClr val="3E4F78"/>
                </a:solidFill>
                <a:latin typeface="Outfit"/>
              </a:rPr>
              <a:t>amplifiée par l'IA plutôt que résolue par elle.</a:t>
            </a:r>
          </a:p>
        </p:txBody>
      </p:sp>
      <p:sp>
        <p:nvSpPr>
          <p:cNvPr id="18" name="Rounded Rectangle 17"/>
          <p:cNvSpPr/>
          <p:nvPr/>
        </p:nvSpPr>
        <p:spPr>
          <a:xfrm>
            <a:off x="562356" y="3238881"/>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2356" y="3238881"/>
            <a:ext cx="420624" cy="420624"/>
          </a:xfrm>
          <a:prstGeom prst="rect">
            <a:avLst/>
          </a:prstGeom>
          <a:noFill/>
        </p:spPr>
        <p:txBody>
          <a:bodyPr wrap="square" anchor="ctr" lIns="0" rIns="0" tIns="0" bIns="0">
            <a:noAutofit/>
          </a:bodyPr>
          <a:lstStyle/>
          <a:p>
            <a:pPr algn="ctr"/>
            <a:r>
              <a:rPr sz="1100" b="1" i="0">
                <a:solidFill>
                  <a:srgbClr val="FFFFFF"/>
                </a:solidFill>
                <a:latin typeface="Outfit"/>
              </a:rPr>
              <a:t>IA</a:t>
            </a:r>
          </a:p>
        </p:txBody>
      </p:sp>
      <p:sp>
        <p:nvSpPr>
          <p:cNvPr id="20" name="Rounded Rectangle 19"/>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2" name="TextBox 21"/>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L'objectif : infra as a product.</a:t>
            </a:r>
            <a:r>
              <a:rPr sz="1200" b="1" i="0">
                <a:solidFill>
                  <a:srgbClr val="00D2DD"/>
                </a:solidFill>
                <a:latin typeface="Outfit"/>
              </a:rPr>
              <a:t>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Enjeux</a:t>
            </a:r>
          </a:p>
          <a:p>
            <a:r>
              <a:rPr sz="1050" i="1">
                <a:solidFill>
                  <a:srgbClr val="586586"/>
                </a:solidFill>
                <a:latin typeface="Outfit"/>
              </a:rPr>
              <a:t>Ce que la situation coûte à la DSI si rien ne change — pilotage, adoption, confiance business, conformité.</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03</a:t>
            </a:r>
          </a:p>
        </p:txBody>
      </p:sp>
      <p:pic>
        <p:nvPicPr>
          <p:cNvPr id="4" name="Picture 3" descr="riverdelta_5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ENJEUX   ·   </a:t>
            </a:r>
            <a:r>
              <a:rPr b="1" sz="1200">
                <a:solidFill>
                  <a:srgbClr val="0E2356"/>
                </a:solidFill>
                <a:latin typeface="Outfit"/>
              </a:rPr>
              <a:t>Si rien ne change : RUN qui s'aggrave, adoption qui stagne, confiance qui s'érode</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Quatre parties prenantes interrogées séparément convergent sur un même constat, lu ici à l'échelle de la DSI plutôt que persona par persona.</a:t>
            </a:r>
          </a:p>
        </p:txBody>
      </p:sp>
      <p:sp>
        <p:nvSpPr>
          <p:cNvPr id="4" name="Rounded Rectangle 3"/>
          <p:cNvSpPr/>
          <p:nvPr/>
        </p:nvSpPr>
        <p:spPr>
          <a:xfrm>
            <a:off x="562356" y="2052066"/>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2052066"/>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2161794"/>
            <a:ext cx="3499866" cy="924305"/>
          </a:xfrm>
          <a:prstGeom prst="rect">
            <a:avLst/>
          </a:prstGeom>
          <a:noFill/>
        </p:spPr>
        <p:txBody>
          <a:bodyPr wrap="square" anchor="t" lIns="0" rIns="0" tIns="0" bIns="0">
            <a:noAutofit/>
          </a:bodyPr>
          <a:lstStyle/>
          <a:p>
            <a:pPr algn="l"/>
            <a:r>
              <a:rPr sz="700" b="1" i="0">
                <a:solidFill>
                  <a:srgbClr val="586586"/>
                </a:solidFill>
                <a:latin typeface="Outfit"/>
              </a:rPr>
              <a:t>PILOTAGE</a:t>
            </a:r>
          </a:p>
          <a:p>
            <a:pPr algn="l">
              <a:lnSpc>
                <a:spcPct val="110000"/>
              </a:lnSpc>
              <a:spcBef>
                <a:spcPts val="300"/>
              </a:spcBef>
            </a:pPr>
            <a:r>
              <a:rPr sz="1050" b="1" i="0">
                <a:solidFill>
                  <a:srgbClr val="0E2356"/>
                </a:solidFill>
                <a:latin typeface="Outfit"/>
              </a:rPr>
              <a:t>Un signal de flux que personne ne partage encore</a:t>
            </a:r>
          </a:p>
          <a:p>
            <a:pPr algn="l">
              <a:lnSpc>
                <a:spcPct val="120000"/>
              </a:lnSpc>
              <a:spcBef>
                <a:spcPts val="400"/>
              </a:spcBef>
            </a:pPr>
            <a:r>
              <a:rPr sz="800" b="0" i="0">
                <a:solidFill>
                  <a:srgbClr val="586586"/>
                </a:solidFill>
                <a:latin typeface="Outfit"/>
              </a:rPr>
              <a:t>Le management pilote à vue faute d'un métrique commun — l'infra comme guichet ne produit qu'un reporting-miroir, jamais un signal de confiance.</a:t>
            </a:r>
          </a:p>
        </p:txBody>
      </p:sp>
      <p:sp>
        <p:nvSpPr>
          <p:cNvPr id="7" name="Rounded Rectangle 6"/>
          <p:cNvSpPr/>
          <p:nvPr/>
        </p:nvSpPr>
        <p:spPr>
          <a:xfrm>
            <a:off x="4555998" y="2052066"/>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2052066"/>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2161794"/>
            <a:ext cx="3499866" cy="924305"/>
          </a:xfrm>
          <a:prstGeom prst="rect">
            <a:avLst/>
          </a:prstGeom>
          <a:noFill/>
        </p:spPr>
        <p:txBody>
          <a:bodyPr wrap="square" anchor="t" lIns="0" rIns="0" tIns="0" bIns="0">
            <a:noAutofit/>
          </a:bodyPr>
          <a:lstStyle/>
          <a:p>
            <a:pPr algn="l"/>
            <a:r>
              <a:rPr sz="700" b="1" i="0">
                <a:solidFill>
                  <a:srgbClr val="586586"/>
                </a:solidFill>
                <a:latin typeface="Outfit"/>
              </a:rPr>
              <a:t>ADOPTION</a:t>
            </a:r>
          </a:p>
          <a:p>
            <a:pPr algn="l">
              <a:lnSpc>
                <a:spcPct val="110000"/>
              </a:lnSpc>
              <a:spcBef>
                <a:spcPts val="300"/>
              </a:spcBef>
            </a:pPr>
            <a:r>
              <a:rPr sz="1050" b="1" i="0">
                <a:solidFill>
                  <a:srgbClr val="0E2356"/>
                </a:solidFill>
                <a:latin typeface="Outfit"/>
              </a:rPr>
              <a:t>Un self-service qui reste un guichet si personne ne le choisit</a:t>
            </a:r>
          </a:p>
          <a:p>
            <a:pPr algn="l">
              <a:lnSpc>
                <a:spcPct val="120000"/>
              </a:lnSpc>
              <a:spcBef>
                <a:spcPts val="400"/>
              </a:spcBef>
            </a:pPr>
            <a:r>
              <a:rPr sz="800" b="0" i="0">
                <a:solidFill>
                  <a:srgbClr val="586586"/>
                </a:solidFill>
                <a:latin typeface="Outfit"/>
              </a:rPr>
              <a:t>Tant que le contournement reste plus rapide que la plateforme, l'utilisateur applicatif la déserte — l'adoption ne se décrète pas, elle se conçoit.</a:t>
            </a:r>
          </a:p>
        </p:txBody>
      </p:sp>
      <p:sp>
        <p:nvSpPr>
          <p:cNvPr id="10" name="Rounded Rectangle 9"/>
          <p:cNvSpPr/>
          <p:nvPr/>
        </p:nvSpPr>
        <p:spPr>
          <a:xfrm>
            <a:off x="562356" y="3342132"/>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3342132"/>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3451860"/>
            <a:ext cx="3499866" cy="924305"/>
          </a:xfrm>
          <a:prstGeom prst="rect">
            <a:avLst/>
          </a:prstGeom>
          <a:noFill/>
        </p:spPr>
        <p:txBody>
          <a:bodyPr wrap="square" anchor="t" lIns="0" rIns="0" tIns="0" bIns="0">
            <a:noAutofit/>
          </a:bodyPr>
          <a:lstStyle/>
          <a:p>
            <a:pPr algn="l"/>
            <a:r>
              <a:rPr sz="700" b="1" i="0">
                <a:solidFill>
                  <a:srgbClr val="586586"/>
                </a:solidFill>
                <a:latin typeface="Outfit"/>
              </a:rPr>
              <a:t>CONFIANCE BUSINESS</a:t>
            </a:r>
          </a:p>
          <a:p>
            <a:pPr algn="l">
              <a:lnSpc>
                <a:spcPct val="110000"/>
              </a:lnSpc>
              <a:spcBef>
                <a:spcPts val="300"/>
              </a:spcBef>
            </a:pPr>
            <a:r>
              <a:rPr sz="1050" b="1" i="0">
                <a:solidFill>
                  <a:srgbClr val="0E2356"/>
                </a:solidFill>
                <a:latin typeface="Outfit"/>
              </a:rPr>
              <a:t>Une promesse business que la structure actuelle ne tient pas</a:t>
            </a:r>
          </a:p>
          <a:p>
            <a:pPr algn="l">
              <a:lnSpc>
                <a:spcPct val="120000"/>
              </a:lnSpc>
              <a:spcBef>
                <a:spcPts val="400"/>
              </a:spcBef>
            </a:pPr>
            <a:r>
              <a:rPr sz="800" b="0" i="0">
                <a:solidFill>
                  <a:srgbClr val="586586"/>
                </a:solidFill>
                <a:latin typeface="Outfit"/>
              </a:rPr>
              <a:t>Le sponsor porte un problème business, pas un chantier cosmétique — sans capacité RUN récupérée ni KPI de mission, la promesse reste déclarative.</a:t>
            </a:r>
          </a:p>
        </p:txBody>
      </p:sp>
      <p:sp>
        <p:nvSpPr>
          <p:cNvPr id="13" name="Rounded Rectangle 12"/>
          <p:cNvSpPr/>
          <p:nvPr/>
        </p:nvSpPr>
        <p:spPr>
          <a:xfrm>
            <a:off x="4555998" y="3342132"/>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3342132"/>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3451860"/>
            <a:ext cx="3499866" cy="924305"/>
          </a:xfrm>
          <a:prstGeom prst="rect">
            <a:avLst/>
          </a:prstGeom>
          <a:noFill/>
        </p:spPr>
        <p:txBody>
          <a:bodyPr wrap="square" anchor="t" lIns="0" rIns="0" tIns="0" bIns="0">
            <a:noAutofit/>
          </a:bodyPr>
          <a:lstStyle/>
          <a:p>
            <a:pPr algn="l"/>
            <a:r>
              <a:rPr sz="700" b="1" i="0">
                <a:solidFill>
                  <a:srgbClr val="586586"/>
                </a:solidFill>
                <a:latin typeface="Outfit"/>
              </a:rPr>
              <a:t>CONFORMITÉ</a:t>
            </a:r>
          </a:p>
          <a:p>
            <a:pPr algn="l">
              <a:lnSpc>
                <a:spcPct val="110000"/>
              </a:lnSpc>
              <a:spcBef>
                <a:spcPts val="300"/>
              </a:spcBef>
            </a:pPr>
            <a:r>
              <a:rPr sz="1050" b="1" i="0">
                <a:solidFill>
                  <a:srgbClr val="0E2356"/>
                </a:solidFill>
                <a:latin typeface="Outfit"/>
              </a:rPr>
              <a:t>Une vitesse de preuve bridée par un gate non instruit</a:t>
            </a:r>
          </a:p>
          <a:p>
            <a:pPr algn="l">
              <a:lnSpc>
                <a:spcPct val="120000"/>
              </a:lnSpc>
              <a:spcBef>
                <a:spcPts val="400"/>
              </a:spcBef>
            </a:pPr>
            <a:r>
              <a:rPr sz="800" b="0" i="0">
                <a:solidFill>
                  <a:srgbClr val="586586"/>
                </a:solidFill>
                <a:latin typeface="Outfit"/>
              </a:rPr>
              <a:t>La tension entre vitesse de démonstration et gate confidentialité (RSSI non interrogé à ce stade) reste un angle mort qui peut bloquer toute preuve par l'IA.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Le RUN n'est pas une phase du projet : c'est un régime permanent, et c'est ce qui le rend impossible à traiter comme du BUILD</a:t>
            </a:r>
          </a:p>
        </p:txBody>
      </p:sp>
      <p:sp>
        <p:nvSpPr>
          <p:cNvPr id="3" name="Rounded Rectangle 2"/>
          <p:cNvSpPr/>
          <p:nvPr/>
        </p:nvSpPr>
        <p:spPr>
          <a:xfrm>
            <a:off x="1254442"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5" name="Rectangle 4"/>
          <p:cNvSpPr/>
          <p:nvPr/>
        </p:nvSpPr>
        <p:spPr>
          <a:xfrm>
            <a:off x="1472984"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ne s'arrête jamais</a:t>
            </a:r>
          </a:p>
        </p:txBody>
      </p:sp>
      <p:sp>
        <p:nvSpPr>
          <p:cNvPr id="7" name="TextBox 6"/>
          <p:cNvSpPr txBox="1"/>
          <p:nvPr/>
        </p:nvSpPr>
        <p:spPr>
          <a:xfrm>
            <a:off x="617220"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Un projet se termine, le RUN non. L'astreinte, la veille et le maintien en condition sont un coût fixe qu'aucune fin de phase ne libère.</a:t>
            </a:r>
          </a:p>
        </p:txBody>
      </p:sp>
      <p:sp>
        <p:nvSpPr>
          <p:cNvPr id="8" name="TextBox 7"/>
          <p:cNvSpPr txBox="1"/>
          <p:nvPr/>
        </p:nvSpPr>
        <p:spPr>
          <a:xfrm>
            <a:off x="617220"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9" name="TextBox 8"/>
          <p:cNvSpPr txBox="1"/>
          <p:nvPr/>
        </p:nvSpPr>
        <p:spPr>
          <a:xfrm>
            <a:off x="617220"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Aucune date de fin ne le fait retomber</a:t>
            </a:r>
          </a:p>
        </p:txBody>
      </p:sp>
      <p:sp>
        <p:nvSpPr>
          <p:cNvPr id="10" name="Rounded Rectangle 9"/>
          <p:cNvSpPr/>
          <p:nvPr/>
        </p:nvSpPr>
        <p:spPr>
          <a:xfrm>
            <a:off x="3242119"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0033"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2" name="Rectangle 11"/>
          <p:cNvSpPr/>
          <p:nvPr/>
        </p:nvSpPr>
        <p:spPr>
          <a:xfrm>
            <a:off x="3460661"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0033"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charge arrive de l'extérieur</a:t>
            </a:r>
          </a:p>
        </p:txBody>
      </p:sp>
      <p:sp>
        <p:nvSpPr>
          <p:cNvPr id="14" name="TextBox 13"/>
          <p:cNvSpPr txBox="1"/>
          <p:nvPr/>
        </p:nvSpPr>
        <p:spPr>
          <a:xfrm>
            <a:off x="2604897"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Elle n'est pas planifiée : elle est déclenchée par les incidents, les demandes et les obsolescences. On subit le rythme au lieu de le choisir.</a:t>
            </a:r>
          </a:p>
        </p:txBody>
      </p:sp>
      <p:sp>
        <p:nvSpPr>
          <p:cNvPr id="15" name="TextBox 14"/>
          <p:cNvSpPr txBox="1"/>
          <p:nvPr/>
        </p:nvSpPr>
        <p:spPr>
          <a:xfrm>
            <a:off x="2604897"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16" name="TextBox 15"/>
          <p:cNvSpPr txBox="1"/>
          <p:nvPr/>
        </p:nvSpPr>
        <p:spPr>
          <a:xfrm>
            <a:off x="2604897"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carnet se remplit sans arbitrage</a:t>
            </a:r>
          </a:p>
        </p:txBody>
      </p:sp>
      <p:sp>
        <p:nvSpPr>
          <p:cNvPr id="17" name="Rounded Rectangle 16"/>
          <p:cNvSpPr/>
          <p:nvPr/>
        </p:nvSpPr>
        <p:spPr>
          <a:xfrm>
            <a:off x="5229796" y="1325880"/>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7710" y="1325880"/>
            <a:ext cx="1841373" cy="457200"/>
          </a:xfrm>
          <a:prstGeom prst="rect">
            <a:avLst/>
          </a:prstGeom>
          <a:noFill/>
        </p:spPr>
        <p:txBody>
          <a:bodyPr wrap="square" anchor="ctr" lIns="0" rIns="0" tIns="0" bIns="0">
            <a:noAutofit/>
          </a:bodyPr>
          <a:lstStyle/>
          <a:p>
            <a:pPr algn="ctr"/>
            <a:r>
              <a:rPr sz="1300" b="1" i="0">
                <a:solidFill>
                  <a:srgbClr val="0E2356"/>
                </a:solidFill>
                <a:latin typeface="Outfit"/>
              </a:rPr>
              <a:t>3</a:t>
            </a:r>
          </a:p>
        </p:txBody>
      </p:sp>
      <p:sp>
        <p:nvSpPr>
          <p:cNvPr id="19" name="Rectangle 18"/>
          <p:cNvSpPr/>
          <p:nvPr/>
        </p:nvSpPr>
        <p:spPr>
          <a:xfrm>
            <a:off x="5448338" y="1783080"/>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7710"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puise dans les MÊMES experts que le BUILD</a:t>
            </a:r>
          </a:p>
        </p:txBody>
      </p:sp>
      <p:sp>
        <p:nvSpPr>
          <p:cNvPr id="21" name="TextBox 20"/>
          <p:cNvSpPr txBox="1"/>
          <p:nvPr/>
        </p:nvSpPr>
        <p:spPr>
          <a:xfrm>
            <a:off x="4592574"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seniors capables de tenir la production sont ceux qui construisent. À chaque conflit, l'incident du jour gagne contre le chantier de fond.</a:t>
            </a:r>
          </a:p>
        </p:txBody>
      </p:sp>
      <p:sp>
        <p:nvSpPr>
          <p:cNvPr id="22" name="TextBox 21"/>
          <p:cNvSpPr txBox="1"/>
          <p:nvPr/>
        </p:nvSpPr>
        <p:spPr>
          <a:xfrm>
            <a:off x="4592574"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23" name="TextBox 22"/>
          <p:cNvSpPr txBox="1"/>
          <p:nvPr/>
        </p:nvSpPr>
        <p:spPr>
          <a:xfrm>
            <a:off x="4592574"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BUILD paie, toujours dans le même sens</a:t>
            </a:r>
          </a:p>
        </p:txBody>
      </p:sp>
      <p:sp>
        <p:nvSpPr>
          <p:cNvPr id="24" name="Rounded Rectangle 23"/>
          <p:cNvSpPr/>
          <p:nvPr/>
        </p:nvSpPr>
        <p:spPr>
          <a:xfrm>
            <a:off x="7217473"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25387"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26" name="Rectangle 25"/>
          <p:cNvSpPr/>
          <p:nvPr/>
        </p:nvSpPr>
        <p:spPr>
          <a:xfrm>
            <a:off x="7436015"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5387"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dette ne se voit pas le jour où on la crée</a:t>
            </a:r>
          </a:p>
        </p:txBody>
      </p:sp>
      <p:sp>
        <p:nvSpPr>
          <p:cNvPr id="28" name="TextBox 27"/>
          <p:cNvSpPr txBox="1"/>
          <p:nvPr/>
        </p:nvSpPr>
        <p:spPr>
          <a:xfrm>
            <a:off x="6580251"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Ne pas décommissionner, ne pas documenter, ne pas automatiser ne casse rien aujourd'hui. Le coût se paie plus tard, et ailleurs.</a:t>
            </a:r>
          </a:p>
        </p:txBody>
      </p:sp>
      <p:sp>
        <p:nvSpPr>
          <p:cNvPr id="29" name="TextBox 28"/>
          <p:cNvSpPr txBox="1"/>
          <p:nvPr/>
        </p:nvSpPr>
        <p:spPr>
          <a:xfrm>
            <a:off x="6580251"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30" name="TextBox 29"/>
          <p:cNvSpPr txBox="1"/>
          <p:nvPr/>
        </p:nvSpPr>
        <p:spPr>
          <a:xfrm>
            <a:off x="6580251"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Rien ne tombe le jour de l'arbitrage</a:t>
            </a:r>
          </a:p>
        </p:txBody>
      </p:sp>
      <p:sp>
        <p:nvSpPr>
          <p:cNvPr id="31" name="Rounded Rectangle 30"/>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33" name="TextBox 32"/>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Traiter le RUN comme un projet, c'est le perdre à chaque arbitrage.</a:t>
            </a:r>
            <a:r>
              <a:rPr sz="1200" b="1" i="0">
                <a:solidFill>
                  <a:srgbClr val="00D2DD"/>
                </a:solidFill>
                <a:latin typeface="Outfit"/>
              </a:rPr>
              <a: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L'infra sert toutes les équipes et n'appartient à aucune — c'est ce qui rend son gaspillage orphelin</a:t>
            </a:r>
          </a:p>
        </p:txBody>
      </p:sp>
      <p:sp>
        <p:nvSpPr>
          <p:cNvPr id="3" name="TextBox 2"/>
          <p:cNvSpPr txBox="1"/>
          <p:nvPr/>
        </p:nvSpPr>
        <p:spPr>
          <a:xfrm>
            <a:off x="562356" y="1033271"/>
            <a:ext cx="7804404" cy="164592"/>
          </a:xfrm>
          <a:prstGeom prst="rect">
            <a:avLst/>
          </a:prstGeom>
          <a:noFill/>
        </p:spPr>
        <p:txBody>
          <a:bodyPr wrap="square" anchor="t" lIns="0" rIns="0" tIns="0" bIns="0">
            <a:noAutofit/>
          </a:bodyPr>
          <a:lstStyle/>
          <a:p>
            <a:pPr algn="l"/>
            <a:r>
              <a:rPr sz="800" b="1" i="0">
                <a:solidFill>
                  <a:srgbClr val="586586"/>
                </a:solidFill>
                <a:latin typeface="Outfit"/>
              </a:rPr>
              <a:t>CE QUE L'INFRA SERT</a:t>
            </a:r>
          </a:p>
        </p:txBody>
      </p:sp>
      <p:sp>
        <p:nvSpPr>
          <p:cNvPr id="4" name="Rounded Rectangle 3"/>
          <p:cNvSpPr/>
          <p:nvPr/>
        </p:nvSpPr>
        <p:spPr>
          <a:xfrm>
            <a:off x="562356"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2084"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produit</a:t>
            </a:r>
          </a:p>
        </p:txBody>
      </p:sp>
      <p:sp>
        <p:nvSpPr>
          <p:cNvPr id="6" name="TextBox 5"/>
          <p:cNvSpPr txBox="1"/>
          <p:nvPr/>
        </p:nvSpPr>
        <p:spPr>
          <a:xfrm>
            <a:off x="672084"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Livrent de la valeur métier — l'infra est un moyen, jamais leur sujet.</a:t>
            </a:r>
          </a:p>
        </p:txBody>
      </p:sp>
      <p:sp>
        <p:nvSpPr>
          <p:cNvPr id="7" name="Rounded Rectangle 6"/>
          <p:cNvSpPr/>
          <p:nvPr/>
        </p:nvSpPr>
        <p:spPr>
          <a:xfrm>
            <a:off x="2550033"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9761"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applicatives</a:t>
            </a:r>
          </a:p>
        </p:txBody>
      </p:sp>
      <p:sp>
        <p:nvSpPr>
          <p:cNvPr id="9" name="TextBox 8"/>
          <p:cNvSpPr txBox="1"/>
          <p:nvPr/>
        </p:nvSpPr>
        <p:spPr>
          <a:xfrm>
            <a:off x="2659761"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Consomment la plateforme, ou la contournent si elle freine.</a:t>
            </a:r>
          </a:p>
        </p:txBody>
      </p:sp>
      <p:sp>
        <p:nvSpPr>
          <p:cNvPr id="10" name="Rounded Rectangle 9"/>
          <p:cNvSpPr/>
          <p:nvPr/>
        </p:nvSpPr>
        <p:spPr>
          <a:xfrm>
            <a:off x="4537710"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7438"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Sécurité, conformité &amp; résilience</a:t>
            </a:r>
          </a:p>
        </p:txBody>
      </p:sp>
      <p:sp>
        <p:nvSpPr>
          <p:cNvPr id="12" name="TextBox 11"/>
          <p:cNvSpPr txBox="1"/>
          <p:nvPr/>
        </p:nvSpPr>
        <p:spPr>
          <a:xfrm>
            <a:off x="4647438"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Exigences transverses que personne ne budgète — l'offre s'y arrime, ne les remplace pas (cf. chapitre Démarches).</a:t>
            </a:r>
          </a:p>
        </p:txBody>
      </p:sp>
      <p:sp>
        <p:nvSpPr>
          <p:cNvPr id="13" name="Rounded Rectangle 12"/>
          <p:cNvSpPr/>
          <p:nvPr/>
        </p:nvSpPr>
        <p:spPr>
          <a:xfrm>
            <a:off x="6525387"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35115"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Direction</a:t>
            </a:r>
          </a:p>
        </p:txBody>
      </p:sp>
      <p:sp>
        <p:nvSpPr>
          <p:cNvPr id="15" name="TextBox 14"/>
          <p:cNvSpPr txBox="1"/>
          <p:nvPr/>
        </p:nvSpPr>
        <p:spPr>
          <a:xfrm>
            <a:off x="6635115"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Voit une ligne de coût, pas les arbitrages qui la produisent.</a:t>
            </a:r>
          </a:p>
        </p:txBody>
      </p:sp>
      <p:sp>
        <p:nvSpPr>
          <p:cNvPr id="16" name="Rounded Rectangle 15"/>
          <p:cNvSpPr/>
          <p:nvPr/>
        </p:nvSpPr>
        <p:spPr>
          <a:xfrm>
            <a:off x="562356" y="2664968"/>
            <a:ext cx="7804404" cy="384048"/>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2664968"/>
            <a:ext cx="7804404" cy="384048"/>
          </a:xfrm>
          <a:prstGeom prst="rect">
            <a:avLst/>
          </a:prstGeom>
          <a:noFill/>
        </p:spPr>
        <p:txBody>
          <a:bodyPr wrap="square" anchor="ctr" lIns="0" rIns="0" tIns="0" bIns="0">
            <a:noAutofit/>
          </a:bodyPr>
          <a:lstStyle/>
          <a:p>
            <a:pPr algn="ctr"/>
            <a:r>
              <a:rPr sz="1000" b="1" i="0">
                <a:solidFill>
                  <a:srgbClr val="FFFFFF"/>
                </a:solidFill>
                <a:latin typeface="Outfit"/>
              </a:rPr>
              <a:t>UNE SEULE INFRA, SOUS TOUTES CES ÉQUIPES</a:t>
            </a:r>
          </a:p>
        </p:txBody>
      </p:sp>
      <p:sp>
        <p:nvSpPr>
          <p:cNvPr id="18" name="Rounded Rectangle 17"/>
          <p:cNvSpPr/>
          <p:nvPr/>
        </p:nvSpPr>
        <p:spPr>
          <a:xfrm>
            <a:off x="562356"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3796"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NE PORTE LE COÛT</a:t>
            </a:r>
          </a:p>
        </p:txBody>
      </p:sp>
      <p:sp>
        <p:nvSpPr>
          <p:cNvPr id="21" name="TextBox 20"/>
          <p:cNvSpPr txBox="1"/>
          <p:nvPr/>
        </p:nvSpPr>
        <p:spPr>
          <a:xfrm>
            <a:off x="800100"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gaspillage d'infra est mutualisé : il ne pèse sur le budget d'aucune équipe en particulier, donc aucune n'a de raison propre de le réduire.</a:t>
            </a:r>
          </a:p>
        </p:txBody>
      </p:sp>
      <p:sp>
        <p:nvSpPr>
          <p:cNvPr id="22" name="Rounded Rectangle 21"/>
          <p:cNvSpPr/>
          <p:nvPr/>
        </p:nvSpPr>
        <p:spPr>
          <a:xfrm>
            <a:off x="4546854"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638294"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84598"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N'ARBITRE SEUL</a:t>
            </a:r>
          </a:p>
        </p:txBody>
      </p:sp>
      <p:sp>
        <p:nvSpPr>
          <p:cNvPr id="25" name="TextBox 24"/>
          <p:cNvSpPr txBox="1"/>
          <p:nvPr/>
        </p:nvSpPr>
        <p:spPr>
          <a:xfrm>
            <a:off x="4784598"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Décommissionner, standardiser ou fermer un service touche tous les consommateurs à la fois — la décision ne peut pas être prise dans un seul couloir.</a:t>
            </a:r>
          </a:p>
        </p:txBody>
      </p:sp>
      <p:sp>
        <p:nvSpPr>
          <p:cNvPr id="26" name="Rounded Rectangle 25"/>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8" name="TextBox 27"/>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Un gaspillage que personne ne porte, personne ne le réduit.</a:t>
            </a:r>
            <a:r>
              <a:rPr sz="1200" b="1" i="0">
                <a:solidFill>
                  <a:srgbClr val="00D2DD"/>
                </a:solidFill>
                <a:latin typeface="Outfit"/>
              </a:rPr>
              <a:t>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Ce que change l'infra as a product, concrètement — un exemple avant/après.</a:t>
            </a:r>
          </a:p>
        </p:txBody>
      </p:sp>
      <p:sp>
        <p:nvSpPr>
          <p:cNvPr id="3" name="Rounded Rectangle 2"/>
          <p:cNvSpPr/>
          <p:nvPr/>
        </p:nvSpPr>
        <p:spPr>
          <a:xfrm>
            <a:off x="562356" y="822045"/>
            <a:ext cx="3490722" cy="3017520"/>
          </a:xfrm>
          <a:prstGeom prst="roundRect">
            <a:avLst>
              <a:gd name="adj" fmla="val 9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7" y="968349"/>
            <a:ext cx="960120" cy="27432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968349"/>
            <a:ext cx="960120" cy="274320"/>
          </a:xfrm>
          <a:prstGeom prst="rect">
            <a:avLst/>
          </a:prstGeom>
          <a:noFill/>
        </p:spPr>
        <p:txBody>
          <a:bodyPr wrap="square" anchor="ctr" lIns="0" rIns="0" tIns="0" bIns="0">
            <a:noAutofit/>
          </a:bodyPr>
          <a:lstStyle/>
          <a:p>
            <a:pPr algn="ctr"/>
            <a:r>
              <a:rPr sz="1100" b="1" i="0">
                <a:solidFill>
                  <a:srgbClr val="FFFFFF"/>
                </a:solidFill>
                <a:latin typeface="Outfit"/>
              </a:rPr>
              <a:t>AVANT</a:t>
            </a:r>
          </a:p>
        </p:txBody>
      </p:sp>
      <p:sp>
        <p:nvSpPr>
          <p:cNvPr id="6" name="TextBox 5"/>
          <p:cNvSpPr txBox="1"/>
          <p:nvPr/>
        </p:nvSpPr>
        <p:spPr>
          <a:xfrm>
            <a:off x="781812" y="1425549"/>
            <a:ext cx="3051810" cy="2194560"/>
          </a:xfrm>
          <a:prstGeom prst="rect">
            <a:avLst/>
          </a:prstGeom>
          <a:noFill/>
        </p:spPr>
        <p:txBody>
          <a:bodyPr wrap="square" anchor="ctr" lIns="0" rIns="0" tIns="0" bIns="0">
            <a:spAutoFit/>
          </a:bodyPr>
          <a:lstStyle/>
          <a:p>
            <a:pPr algn="l">
              <a:lnSpc>
                <a:spcPct val="120000"/>
              </a:lnSpc>
              <a:spcBef>
                <a:spcPts val="0"/>
              </a:spcBef>
            </a:pPr>
            <a:r>
              <a:rPr sz="900" b="0" i="0">
                <a:solidFill>
                  <a:srgbClr val="586586"/>
                </a:solidFill>
                <a:latin typeface="Outfit"/>
              </a:rPr>
              <a:t>—  </a:t>
            </a:r>
            <a:r>
              <a:rPr sz="900" b="1" i="0">
                <a:solidFill>
                  <a:srgbClr val="0E2356"/>
                </a:solidFill>
                <a:latin typeface="Outfit"/>
              </a:rPr>
              <a:t>Guichet de tickets</a:t>
            </a:r>
            <a:r>
              <a:rPr sz="900" b="0" i="0">
                <a:solidFill>
                  <a:srgbClr val="586586"/>
                </a:solidFill>
                <a:latin typeface="Outfit"/>
              </a:rPr>
              <a:t> — personne n'est propriétaire du service.</a:t>
            </a:r>
          </a:p>
          <a:p>
            <a:pPr algn="l">
              <a:lnSpc>
                <a:spcPct val="120000"/>
              </a:lnSpc>
              <a:spcBef>
                <a:spcPts val="700"/>
              </a:spcBef>
            </a:pPr>
            <a:r>
              <a:rPr sz="900" b="0" i="0">
                <a:solidFill>
                  <a:srgbClr val="586586"/>
                </a:solidFill>
                <a:latin typeface="Outfit"/>
              </a:rPr>
              <a:t>—  </a:t>
            </a:r>
            <a:r>
              <a:rPr sz="900" b="1" i="0">
                <a:solidFill>
                  <a:srgbClr val="0E2356"/>
                </a:solidFill>
                <a:latin typeface="Outfit"/>
              </a:rPr>
              <a:t>Le triage du RUN trop long</a:t>
            </a:r>
            <a:r>
              <a:rPr sz="900" b="0" i="0">
                <a:solidFill>
                  <a:srgbClr val="586586"/>
                </a:solidFill>
                <a:latin typeface="Outfit"/>
              </a:rPr>
              <a:t>, traité au fil de l'eau.</a:t>
            </a:r>
          </a:p>
          <a:p>
            <a:pPr algn="l">
              <a:lnSpc>
                <a:spcPct val="120000"/>
              </a:lnSpc>
              <a:spcBef>
                <a:spcPts val="700"/>
              </a:spcBef>
            </a:pPr>
            <a:r>
              <a:rPr sz="900" b="0" i="0">
                <a:solidFill>
                  <a:srgbClr val="586586"/>
                </a:solidFill>
                <a:latin typeface="Outfit"/>
              </a:rPr>
              <a:t>—  </a:t>
            </a:r>
            <a:r>
              <a:rPr sz="900" b="1" i="0">
                <a:solidFill>
                  <a:srgbClr val="0E2356"/>
                </a:solidFill>
                <a:latin typeface="Outfit"/>
              </a:rPr>
              <a:t>Backlog invisible</a:t>
            </a:r>
            <a:r>
              <a:rPr sz="900" b="0" i="0">
                <a:solidFill>
                  <a:srgbClr val="586586"/>
                </a:solidFill>
                <a:latin typeface="Outfit"/>
              </a:rPr>
              <a:t>, aucun indicateur de pilotage.</a:t>
            </a:r>
          </a:p>
          <a:p>
            <a:pPr algn="l">
              <a:lnSpc>
                <a:spcPct val="120000"/>
              </a:lnSpc>
              <a:spcBef>
                <a:spcPts val="700"/>
              </a:spcBef>
            </a:pPr>
            <a:r>
              <a:rPr sz="900" b="0" i="0">
                <a:solidFill>
                  <a:srgbClr val="586586"/>
                </a:solidFill>
                <a:latin typeface="Outfit"/>
              </a:rPr>
              <a:t>—  </a:t>
            </a:r>
            <a:r>
              <a:rPr sz="900" b="1" i="0">
                <a:solidFill>
                  <a:srgbClr val="0E2356"/>
                </a:solidFill>
                <a:latin typeface="Outfit"/>
              </a:rPr>
              <a:t>Plein de projets lancés, peu d'indicateurs</a:t>
            </a:r>
            <a:r>
              <a:rPr sz="900" b="0" i="0">
                <a:solidFill>
                  <a:srgbClr val="586586"/>
                </a:solidFill>
                <a:latin typeface="Outfit"/>
              </a:rPr>
              <a:t>, du contrôle et du reporting à tous les niveaux.</a:t>
            </a:r>
          </a:p>
          <a:p>
            <a:pPr algn="l">
              <a:lnSpc>
                <a:spcPct val="120000"/>
              </a:lnSpc>
              <a:spcBef>
                <a:spcPts val="700"/>
              </a:spcBef>
            </a:pPr>
            <a:r>
              <a:rPr sz="900" b="0" i="0">
                <a:solidFill>
                  <a:srgbClr val="586586"/>
                </a:solidFill>
                <a:latin typeface="Outfit"/>
              </a:rPr>
              <a:t>—  </a:t>
            </a:r>
            <a:r>
              <a:rPr sz="900" b="1" i="0">
                <a:solidFill>
                  <a:srgbClr val="0E2356"/>
                </a:solidFill>
                <a:latin typeface="Outfit"/>
              </a:rPr>
              <a:t>Un pilotage dans la douleur</a:t>
            </a:r>
            <a:r>
              <a:rPr sz="900" b="0" i="0">
                <a:solidFill>
                  <a:srgbClr val="586586"/>
                </a:solidFill>
                <a:latin typeface="Outfit"/>
              </a:rPr>
              <a:t>, on prend tout et l'on ne sait plus comment bien prioriser les bons sujets à réaliser avec trop peu de capacité à faire.</a:t>
            </a:r>
          </a:p>
        </p:txBody>
      </p:sp>
      <p:sp>
        <p:nvSpPr>
          <p:cNvPr id="7" name="Right Arrow 6"/>
          <p:cNvSpPr/>
          <p:nvPr/>
        </p:nvSpPr>
        <p:spPr>
          <a:xfrm>
            <a:off x="4181094" y="1727301"/>
            <a:ext cx="566928" cy="1207008"/>
          </a:xfrm>
          <a:prstGeom prst="rightArrow">
            <a:avLst/>
          </a:prstGeom>
          <a:solidFill>
            <a:srgbClr val="FFFFFF"/>
          </a:solidFill>
          <a:ln w="28575">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876038" y="822045"/>
            <a:ext cx="3490722" cy="3017520"/>
          </a:xfrm>
          <a:prstGeom prst="roundRect">
            <a:avLst>
              <a:gd name="adj" fmla="val 9000"/>
            </a:avLst>
          </a:prstGeom>
          <a:solidFill>
            <a:srgbClr val="FFFFFF"/>
          </a:solidFill>
          <a:ln w="2032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40630" y="968349"/>
            <a:ext cx="2331720" cy="2743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40630" y="968349"/>
            <a:ext cx="2331720" cy="274320"/>
          </a:xfrm>
          <a:prstGeom prst="rect">
            <a:avLst/>
          </a:prstGeom>
          <a:noFill/>
        </p:spPr>
        <p:txBody>
          <a:bodyPr wrap="square" anchor="ctr" lIns="0" rIns="0" tIns="0" bIns="0">
            <a:noAutofit/>
          </a:bodyPr>
          <a:lstStyle/>
          <a:p>
            <a:pPr algn="ctr"/>
            <a:r>
              <a:rPr sz="1000" b="1" i="0">
                <a:solidFill>
                  <a:srgbClr val="0E2356"/>
                </a:solidFill>
                <a:latin typeface="Outfit"/>
              </a:rPr>
              <a:t>APRÈS — démarche + agentique</a:t>
            </a:r>
          </a:p>
        </p:txBody>
      </p:sp>
      <p:sp>
        <p:nvSpPr>
          <p:cNvPr id="11" name="TextBox 10"/>
          <p:cNvSpPr txBox="1"/>
          <p:nvPr/>
        </p:nvSpPr>
        <p:spPr>
          <a:xfrm>
            <a:off x="5095494" y="1425549"/>
            <a:ext cx="3051810" cy="2194560"/>
          </a:xfrm>
          <a:prstGeom prst="rect">
            <a:avLst/>
          </a:prstGeom>
          <a:noFill/>
        </p:spPr>
        <p:txBody>
          <a:bodyPr wrap="square" anchor="ctr" lIns="0" rIns="0" tIns="0" bIns="0">
            <a:spAutoFit/>
          </a:bodyPr>
          <a:lstStyle/>
          <a:p>
            <a:pPr algn="l">
              <a:lnSpc>
                <a:spcPct val="120000"/>
              </a:lnSpc>
              <a:spcBef>
                <a:spcPts val="0"/>
              </a:spcBef>
            </a:pPr>
            <a:r>
              <a:rPr sz="900" b="1" i="0">
                <a:solidFill>
                  <a:srgbClr val="00D2DD"/>
                </a:solidFill>
                <a:latin typeface="Outfit"/>
              </a:rPr>
              <a:t>✓  </a:t>
            </a:r>
            <a:r>
              <a:rPr sz="900" b="1" i="0">
                <a:solidFill>
                  <a:srgbClr val="0E2356"/>
                </a:solidFill>
                <a:latin typeface="Outfit"/>
              </a:rPr>
              <a:t>Un propriétaire produit et un pilotage serein</a:t>
            </a:r>
            <a:r>
              <a:rPr sz="900" b="0" i="0">
                <a:solidFill>
                  <a:srgbClr val="0E2356"/>
                </a:solidFill>
                <a:latin typeface="Outfit"/>
              </a:rPr>
              <a:t>, une roadmap, des indicateurs de pilotage.</a:t>
            </a:r>
          </a:p>
          <a:p>
            <a:pPr algn="l">
              <a:lnSpc>
                <a:spcPct val="120000"/>
              </a:lnSpc>
              <a:spcBef>
                <a:spcPts val="600"/>
              </a:spcBef>
            </a:pPr>
            <a:r>
              <a:rPr sz="900" b="1" i="0">
                <a:solidFill>
                  <a:srgbClr val="00D2DD"/>
                </a:solidFill>
                <a:latin typeface="Outfit"/>
              </a:rPr>
              <a:t>✓  </a:t>
            </a:r>
            <a:r>
              <a:rPr sz="900" b="1" i="0">
                <a:solidFill>
                  <a:srgbClr val="0E2356"/>
                </a:solidFill>
                <a:latin typeface="Outfit"/>
              </a:rPr>
              <a:t>Temps de triage du RUN fortement réduit</a:t>
            </a:r>
            <a:r>
              <a:rPr sz="900" b="0" i="0">
                <a:solidFill>
                  <a:srgbClr val="0E2356"/>
                </a:solidFill>
                <a:latin typeface="Outfit"/>
              </a:rPr>
              <a:t> — capacité RUN récupérée.</a:t>
            </a:r>
          </a:p>
          <a:p>
            <a:pPr algn="l">
              <a:lnSpc>
                <a:spcPct val="120000"/>
              </a:lnSpc>
              <a:spcBef>
                <a:spcPts val="600"/>
              </a:spcBef>
            </a:pPr>
            <a:r>
              <a:rPr sz="900" b="1" i="0">
                <a:solidFill>
                  <a:srgbClr val="00D2DD"/>
                </a:solidFill>
                <a:latin typeface="Outfit"/>
              </a:rPr>
              <a:t>✓  </a:t>
            </a:r>
            <a:r>
              <a:rPr sz="900" b="1" i="0">
                <a:solidFill>
                  <a:srgbClr val="0E2356"/>
                </a:solidFill>
                <a:latin typeface="Outfit"/>
              </a:rPr>
              <a:t>Backlog visible</a:t>
            </a:r>
            <a:r>
              <a:rPr sz="900" b="0" i="0">
                <a:solidFill>
                  <a:srgbClr val="0E2356"/>
                </a:solidFill>
                <a:latin typeface="Outfit"/>
              </a:rPr>
              <a:t>, priorisé, mesuré dans le temps.</a:t>
            </a:r>
          </a:p>
          <a:p>
            <a:pPr algn="l">
              <a:lnSpc>
                <a:spcPct val="120000"/>
              </a:lnSpc>
              <a:spcBef>
                <a:spcPts val="600"/>
              </a:spcBef>
            </a:pPr>
            <a:r>
              <a:rPr sz="900" b="1" i="0">
                <a:solidFill>
                  <a:srgbClr val="00D2DD"/>
                </a:solidFill>
                <a:latin typeface="Outfit"/>
              </a:rPr>
              <a:t>✓  </a:t>
            </a:r>
            <a:r>
              <a:rPr sz="900" b="1" i="0">
                <a:solidFill>
                  <a:srgbClr val="0E2356"/>
                </a:solidFill>
                <a:latin typeface="Outfit"/>
              </a:rPr>
              <a:t>Process explicite, rôles définis</a:t>
            </a:r>
            <a:r>
              <a:rPr sz="900" b="0" i="0">
                <a:solidFill>
                  <a:srgbClr val="0E2356"/>
                </a:solidFill>
                <a:latin typeface="Outfit"/>
              </a:rPr>
              <a:t> — piste retenue : agentique-implementation.</a:t>
            </a:r>
          </a:p>
          <a:p>
            <a:pPr algn="l">
              <a:lnSpc>
                <a:spcPct val="120000"/>
              </a:lnSpc>
              <a:spcBef>
                <a:spcPts val="600"/>
              </a:spcBef>
            </a:pPr>
            <a:r>
              <a:rPr sz="900" b="1" i="0">
                <a:solidFill>
                  <a:srgbClr val="00D2DD"/>
                </a:solidFill>
                <a:latin typeface="Outfit"/>
              </a:rPr>
              <a:t>✓  </a:t>
            </a:r>
            <a:r>
              <a:rPr sz="900" b="1" i="0">
                <a:solidFill>
                  <a:srgbClr val="0E2356"/>
                </a:solidFill>
                <a:latin typeface="Outfit"/>
              </a:rPr>
              <a:t>Des évolutions tech</a:t>
            </a:r>
            <a:r>
              <a:rPr sz="900" b="0" i="0">
                <a:solidFill>
                  <a:srgbClr val="0E2356"/>
                </a:solidFill>
                <a:latin typeface="Outfit"/>
              </a:rPr>
              <a:t> qui sont possibles et atteignables.</a:t>
            </a:r>
          </a:p>
        </p:txBody>
      </p:sp>
      <p:sp>
        <p:nvSpPr>
          <p:cNvPr id="12" name="Rounded Rectangle 11"/>
          <p:cNvSpPr/>
          <p:nvPr/>
        </p:nvSpPr>
        <p:spPr>
          <a:xfrm>
            <a:off x="562356" y="4123944"/>
            <a:ext cx="7804404" cy="85953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 y="4142231"/>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14" name="TextBox 13"/>
          <p:cNvSpPr txBox="1"/>
          <p:nvPr/>
        </p:nvSpPr>
        <p:spPr>
          <a:xfrm>
            <a:off x="745236" y="4123944"/>
            <a:ext cx="7438644" cy="859536"/>
          </a:xfrm>
          <a:prstGeom prst="rect">
            <a:avLst/>
          </a:prstGeom>
          <a:noFill/>
        </p:spPr>
        <p:txBody>
          <a:bodyPr wrap="square" anchor="ctr" lIns="0" rIns="0" tIns="0" bIns="0">
            <a:spAutoFit/>
          </a:bodyPr>
          <a:lstStyle/>
          <a:p>
            <a:pPr algn="ctr"/>
            <a:r>
              <a:rPr sz="1200" b="1" i="0">
                <a:solidFill>
                  <a:srgbClr val="FFFFFF"/>
                </a:solidFill>
                <a:latin typeface="Outfit"/>
              </a:rPr>
              <a:t>Infra as a product, concrètement : le retour à une maîtrise de faire les bonnes choses au bon moment, un backlog piloté, des résultats concrets — dans notre approche l'agentique accélère la démarche, il ne la remplace pas.</a:t>
            </a:r>
            <a:r>
              <a:rPr sz="1200" b="1" i="0">
                <a:solidFill>
                  <a:srgbClr val="00D2DD"/>
                </a:solidFill>
                <a:latin typeface="Outfit"/>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Douleur</a:t>
            </a:r>
          </a:p>
          <a:p>
            <a:r>
              <a:rPr sz="1050" i="1">
                <a:solidFill>
                  <a:srgbClr val="586586"/>
                </a:solidFill>
                <a:latin typeface="Outfit"/>
              </a:rPr>
              <a:t>Les douleurs approfondies et mesurables, et les 8 familles de gaspillage qui les rangent.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04</a:t>
            </a:r>
          </a:p>
        </p:txBody>
      </p:sp>
      <p:pic>
        <p:nvPicPr>
          <p:cNvPr id="4" name="Picture 3" descr="ocea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douleurs des clients infra : mesurables, pas des plaintes</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Chaque douleur appartient à un persona et se range dans une famille de gaspillage — c'est ce qui la rend traitable plutôt que subie.</a:t>
            </a:r>
          </a:p>
        </p:txBody>
      </p:sp>
      <p:sp>
        <p:nvSpPr>
          <p:cNvPr id="4" name="Rounded Rectangle 3"/>
          <p:cNvSpPr/>
          <p:nvPr/>
        </p:nvSpPr>
        <p:spPr>
          <a:xfrm>
            <a:off x="1254442" y="1453895"/>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6" name="Rectangle 5"/>
          <p:cNvSpPr/>
          <p:nvPr/>
        </p:nvSpPr>
        <p:spPr>
          <a:xfrm>
            <a:off x="1472984" y="1911095"/>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Infra &amp; RUN</a:t>
            </a:r>
          </a:p>
        </p:txBody>
      </p:sp>
      <p:sp>
        <p:nvSpPr>
          <p:cNvPr id="8" name="TextBox 7"/>
          <p:cNvSpPr txBox="1"/>
          <p:nvPr/>
        </p:nvSpPr>
        <p:spPr>
          <a:xfrm>
            <a:off x="617220"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RUN subi : les mêmes incidents reviennent et mobilisent les experts seniors, le BUILD est sacrifié à l'astreinte.</a:t>
            </a:r>
          </a:p>
        </p:txBody>
      </p:sp>
      <p:sp>
        <p:nvSpPr>
          <p:cNvPr id="9" name="TextBox 8"/>
          <p:cNvSpPr txBox="1"/>
          <p:nvPr/>
        </p:nvSpPr>
        <p:spPr>
          <a:xfrm>
            <a:off x="617220"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0" name="TextBox 9"/>
          <p:cNvSpPr txBox="1"/>
          <p:nvPr/>
        </p:nvSpPr>
        <p:spPr>
          <a:xfrm>
            <a:off x="617220"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Tickets récurrents/mois, part du temps en RUN non maîtrisé.</a:t>
            </a:r>
          </a:p>
        </p:txBody>
      </p:sp>
      <p:sp>
        <p:nvSpPr>
          <p:cNvPr id="11" name="Rounded Rectangle 10"/>
          <p:cNvSpPr/>
          <p:nvPr/>
        </p:nvSpPr>
        <p:spPr>
          <a:xfrm>
            <a:off x="617220"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RUN · Humain</a:t>
            </a:r>
          </a:p>
        </p:txBody>
      </p:sp>
      <p:sp>
        <p:nvSpPr>
          <p:cNvPr id="13" name="Rounded Rectangle 12"/>
          <p:cNvSpPr/>
          <p:nvPr/>
        </p:nvSpPr>
        <p:spPr>
          <a:xfrm>
            <a:off x="3242119"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0033"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5" name="Rectangle 14"/>
          <p:cNvSpPr/>
          <p:nvPr/>
        </p:nvSpPr>
        <p:spPr>
          <a:xfrm>
            <a:off x="3460661"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0033"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Utilisateur applicatif</a:t>
            </a:r>
          </a:p>
        </p:txBody>
      </p:sp>
      <p:sp>
        <p:nvSpPr>
          <p:cNvPr id="17" name="TextBox 16"/>
          <p:cNvSpPr txBox="1"/>
          <p:nvPr/>
        </p:nvSpPr>
        <p:spPr>
          <a:xfrm>
            <a:off x="2604897"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Aucun self-service ni parcours conçu : tout passe par un guichet, le contournement (shadow IT) va plus vite que la demande officielle.</a:t>
            </a:r>
          </a:p>
        </p:txBody>
      </p:sp>
      <p:sp>
        <p:nvSpPr>
          <p:cNvPr id="18" name="TextBox 17"/>
          <p:cNvSpPr txBox="1"/>
          <p:nvPr/>
        </p:nvSpPr>
        <p:spPr>
          <a:xfrm>
            <a:off x="2604897"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9" name="TextBox 18"/>
          <p:cNvSpPr txBox="1"/>
          <p:nvPr/>
        </p:nvSpPr>
        <p:spPr>
          <a:xfrm>
            <a:off x="2604897"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Taux de contournement, délai de mise à disposition.</a:t>
            </a:r>
          </a:p>
        </p:txBody>
      </p:sp>
      <p:sp>
        <p:nvSpPr>
          <p:cNvPr id="20" name="Rounded Rectangle 19"/>
          <p:cNvSpPr/>
          <p:nvPr/>
        </p:nvSpPr>
        <p:spPr>
          <a:xfrm>
            <a:off x="2604897"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04897"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Flux · Cognitif</a:t>
            </a:r>
          </a:p>
        </p:txBody>
      </p:sp>
      <p:sp>
        <p:nvSpPr>
          <p:cNvPr id="22" name="Rounded Rectangle 21"/>
          <p:cNvSpPr/>
          <p:nvPr/>
        </p:nvSpPr>
        <p:spPr>
          <a:xfrm>
            <a:off x="5229796"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7710"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24" name="Rectangle 23"/>
          <p:cNvSpPr/>
          <p:nvPr/>
        </p:nvSpPr>
        <p:spPr>
          <a:xfrm>
            <a:off x="5448338"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7710"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Management</a:t>
            </a:r>
          </a:p>
        </p:txBody>
      </p:sp>
      <p:sp>
        <p:nvSpPr>
          <p:cNvPr id="26" name="TextBox 25"/>
          <p:cNvSpPr txBox="1"/>
          <p:nvPr/>
        </p:nvSpPr>
        <p:spPr>
          <a:xfrm>
            <a:off x="4592574"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 Expert devenu manager malgré lui » : reporting miroir et micromanagement compensatoire, faute de signal fiable sur le flux.</a:t>
            </a:r>
          </a:p>
        </p:txBody>
      </p:sp>
      <p:sp>
        <p:nvSpPr>
          <p:cNvPr id="27" name="TextBox 26"/>
          <p:cNvSpPr txBox="1"/>
          <p:nvPr/>
        </p:nvSpPr>
        <p:spPr>
          <a:xfrm>
            <a:off x="4592574"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28" name="TextBox 27"/>
          <p:cNvSpPr txBox="1"/>
          <p:nvPr/>
        </p:nvSpPr>
        <p:spPr>
          <a:xfrm>
            <a:off x="4592574"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Ratio temps reporting / temps résolution d'obstacles.</a:t>
            </a:r>
          </a:p>
        </p:txBody>
      </p:sp>
      <p:sp>
        <p:nvSpPr>
          <p:cNvPr id="29" name="Rounded Rectangle 28"/>
          <p:cNvSpPr/>
          <p:nvPr/>
        </p:nvSpPr>
        <p:spPr>
          <a:xfrm>
            <a:off x="4592574"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2574"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Humain</a:t>
            </a:r>
          </a:p>
        </p:txBody>
      </p:sp>
      <p:sp>
        <p:nvSpPr>
          <p:cNvPr id="31" name="Rounded Rectangle 30"/>
          <p:cNvSpPr/>
          <p:nvPr/>
        </p:nvSpPr>
        <p:spPr>
          <a:xfrm>
            <a:off x="7217473"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5387"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33" name="Rectangle 32"/>
          <p:cNvSpPr/>
          <p:nvPr/>
        </p:nvSpPr>
        <p:spPr>
          <a:xfrm>
            <a:off x="7436015"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5387"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Sponsor</a:t>
            </a:r>
          </a:p>
        </p:txBody>
      </p:sp>
      <p:sp>
        <p:nvSpPr>
          <p:cNvPr id="35" name="TextBox 34"/>
          <p:cNvSpPr txBox="1"/>
          <p:nvPr/>
        </p:nvSpPr>
        <p:spPr>
          <a:xfrm>
            <a:off x="6580251"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Pression à « mettre de l'IA » sans cas d'usage, peur d'une transformation cosmétique : beaucoup d'activité, peu de valeur démontrée.</a:t>
            </a:r>
          </a:p>
        </p:txBody>
      </p:sp>
      <p:sp>
        <p:nvSpPr>
          <p:cNvPr id="36" name="TextBox 35"/>
          <p:cNvSpPr txBox="1"/>
          <p:nvPr/>
        </p:nvSpPr>
        <p:spPr>
          <a:xfrm>
            <a:off x="6580251"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37" name="TextBox 36"/>
          <p:cNvSpPr txBox="1"/>
          <p:nvPr/>
        </p:nvSpPr>
        <p:spPr>
          <a:xfrm>
            <a:off x="6580251"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Valeur / capacité récupérée démontrée vs promise.</a:t>
            </a:r>
          </a:p>
        </p:txBody>
      </p:sp>
      <p:sp>
        <p:nvSpPr>
          <p:cNvPr id="38" name="Rounded Rectangle 37"/>
          <p:cNvSpPr/>
          <p:nvPr/>
        </p:nvSpPr>
        <p:spPr>
          <a:xfrm>
            <a:off x="6580251"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0251"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IA (gadget)</a:t>
            </a:r>
          </a:p>
        </p:txBody>
      </p:sp>
      <p:sp>
        <p:nvSpPr>
          <p:cNvPr id="40" name="Rounded Rectangle 39"/>
          <p:cNvSpPr/>
          <p:nvPr/>
        </p:nvSpPr>
        <p:spPr>
          <a:xfrm>
            <a:off x="562356" y="4612004"/>
            <a:ext cx="7804404" cy="371475"/>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62356" y="4612004"/>
            <a:ext cx="64008" cy="37147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0100" y="4612004"/>
            <a:ext cx="7347204" cy="371475"/>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Ces 4 douleurs se rangent en 8 familles de gaspillage → slide suivante.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8 familles de gaspillage — le langage commun qui rend les douleurs traitables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Nommer la famille, c'est déjà pouvoir la détecter, la quantifier et la prioriser (méthode de traitement → chapitre Offre).</a:t>
            </a:r>
          </a:p>
        </p:txBody>
      </p:sp>
      <p:sp>
        <p:nvSpPr>
          <p:cNvPr id="4" name="Rounded Rectangle 3"/>
          <p:cNvSpPr/>
          <p:nvPr/>
        </p:nvSpPr>
        <p:spPr>
          <a:xfrm>
            <a:off x="562356"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1. Flux</a:t>
            </a:r>
          </a:p>
          <a:p>
            <a:pPr algn="l">
              <a:lnSpc>
                <a:spcPct val="110000"/>
              </a:lnSpc>
              <a:spcBef>
                <a:spcPts val="200"/>
              </a:spcBef>
            </a:pPr>
            <a:r>
              <a:rPr sz="800" b="0" i="0">
                <a:solidFill>
                  <a:srgbClr val="586586"/>
                </a:solidFill>
                <a:latin typeface="Outfit"/>
              </a:rPr>
              <a:t>Attentes, validations multiples</a:t>
            </a:r>
          </a:p>
        </p:txBody>
      </p:sp>
      <p:sp>
        <p:nvSpPr>
          <p:cNvPr id="7" name="Rounded Rectangle 6"/>
          <p:cNvSpPr/>
          <p:nvPr/>
        </p:nvSpPr>
        <p:spPr>
          <a:xfrm>
            <a:off x="4555998"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2. Humain</a:t>
            </a:r>
          </a:p>
          <a:p>
            <a:pPr algn="l">
              <a:lnSpc>
                <a:spcPct val="110000"/>
              </a:lnSpc>
              <a:spcBef>
                <a:spcPts val="200"/>
              </a:spcBef>
            </a:pPr>
            <a:r>
              <a:rPr sz="800" b="0" i="0">
                <a:solidFill>
                  <a:srgbClr val="586586"/>
                </a:solidFill>
                <a:latin typeface="Outfit"/>
              </a:rPr>
              <a:t>Experts seniors sur tâches répétitives</a:t>
            </a:r>
          </a:p>
        </p:txBody>
      </p:sp>
      <p:sp>
        <p:nvSpPr>
          <p:cNvPr id="10" name="Rounded Rectangle 9"/>
          <p:cNvSpPr/>
          <p:nvPr/>
        </p:nvSpPr>
        <p:spPr>
          <a:xfrm>
            <a:off x="562356"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3. RUN</a:t>
            </a:r>
          </a:p>
          <a:p>
            <a:pPr algn="l">
              <a:lnSpc>
                <a:spcPct val="110000"/>
              </a:lnSpc>
              <a:spcBef>
                <a:spcPts val="200"/>
              </a:spcBef>
            </a:pPr>
            <a:r>
              <a:rPr sz="800" b="0" i="0">
                <a:solidFill>
                  <a:srgbClr val="586586"/>
                </a:solidFill>
                <a:latin typeface="Outfit"/>
              </a:rPr>
              <a:t>Incidents récurrents, demandes répétées</a:t>
            </a:r>
          </a:p>
        </p:txBody>
      </p:sp>
      <p:sp>
        <p:nvSpPr>
          <p:cNvPr id="13" name="Rounded Rectangle 12"/>
          <p:cNvSpPr/>
          <p:nvPr/>
        </p:nvSpPr>
        <p:spPr>
          <a:xfrm>
            <a:off x="4555998"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4. Financier</a:t>
            </a:r>
          </a:p>
          <a:p>
            <a:pPr algn="l">
              <a:lnSpc>
                <a:spcPct val="110000"/>
              </a:lnSpc>
              <a:spcBef>
                <a:spcPts val="200"/>
              </a:spcBef>
            </a:pPr>
            <a:r>
              <a:rPr sz="800" b="0" i="0">
                <a:solidFill>
                  <a:srgbClr val="586586"/>
                </a:solidFill>
                <a:latin typeface="Outfit"/>
              </a:rPr>
              <a:t>Surdimensionnement, ressources non décommissionnées</a:t>
            </a:r>
          </a:p>
        </p:txBody>
      </p:sp>
      <p:sp>
        <p:nvSpPr>
          <p:cNvPr id="16" name="Rounded Rectangle 15"/>
          <p:cNvSpPr/>
          <p:nvPr/>
        </p:nvSpPr>
        <p:spPr>
          <a:xfrm>
            <a:off x="562356"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5. Cognitif</a:t>
            </a:r>
          </a:p>
          <a:p>
            <a:pPr algn="l">
              <a:lnSpc>
                <a:spcPct val="110000"/>
              </a:lnSpc>
              <a:spcBef>
                <a:spcPts val="200"/>
              </a:spcBef>
            </a:pPr>
            <a:r>
              <a:rPr sz="800" b="0" i="0">
                <a:solidFill>
                  <a:srgbClr val="586586"/>
                </a:solidFill>
                <a:latin typeface="Outfit"/>
              </a:rPr>
              <a:t>Trop d'outils, procédures complexes</a:t>
            </a:r>
          </a:p>
        </p:txBody>
      </p:sp>
      <p:sp>
        <p:nvSpPr>
          <p:cNvPr id="19" name="Rounded Rectangle 18"/>
          <p:cNvSpPr/>
          <p:nvPr/>
        </p:nvSpPr>
        <p:spPr>
          <a:xfrm>
            <a:off x="4555998"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38878"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6. Décisionnel</a:t>
            </a:r>
          </a:p>
          <a:p>
            <a:pPr algn="l">
              <a:lnSpc>
                <a:spcPct val="110000"/>
              </a:lnSpc>
              <a:spcBef>
                <a:spcPts val="200"/>
              </a:spcBef>
            </a:pPr>
            <a:r>
              <a:rPr sz="800" b="0" i="0">
                <a:solidFill>
                  <a:srgbClr val="586586"/>
                </a:solidFill>
                <a:latin typeface="Outfit"/>
              </a:rPr>
              <a:t>Arbitrages subjectifs, priorisation opaque</a:t>
            </a:r>
          </a:p>
        </p:txBody>
      </p:sp>
      <p:sp>
        <p:nvSpPr>
          <p:cNvPr id="22" name="Rounded Rectangle 21"/>
          <p:cNvSpPr/>
          <p:nvPr/>
        </p:nvSpPr>
        <p:spPr>
          <a:xfrm>
            <a:off x="562356" y="4222242"/>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2356"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 y="4277105"/>
            <a:ext cx="3499866" cy="651510"/>
          </a:xfrm>
          <a:prstGeom prst="rect">
            <a:avLst/>
          </a:prstGeom>
          <a:noFill/>
        </p:spPr>
        <p:txBody>
          <a:bodyPr wrap="square" anchor="ctr" lIns="0" rIns="0" tIns="0" bIns="0">
            <a:noAutofit/>
          </a:bodyPr>
          <a:lstStyle/>
          <a:p>
            <a:pPr algn="l"/>
            <a:r>
              <a:rPr sz="1050" b="1" i="0">
                <a:solidFill>
                  <a:srgbClr val="0E2356"/>
                </a:solidFill>
                <a:latin typeface="Outfit"/>
              </a:rPr>
              <a:t>7. Environnemental</a:t>
            </a:r>
          </a:p>
          <a:p>
            <a:pPr algn="l">
              <a:lnSpc>
                <a:spcPct val="110000"/>
              </a:lnSpc>
              <a:spcBef>
                <a:spcPts val="200"/>
              </a:spcBef>
            </a:pPr>
            <a:r>
              <a:rPr sz="800" b="0" i="0">
                <a:solidFill>
                  <a:srgbClr val="586586"/>
                </a:solidFill>
                <a:latin typeface="Outfit"/>
              </a:rPr>
              <a:t>Ressources inutilisées, environnements non éteints</a:t>
            </a:r>
          </a:p>
        </p:txBody>
      </p:sp>
      <p:sp>
        <p:nvSpPr>
          <p:cNvPr id="25" name="Rounded Rectangle 24"/>
          <p:cNvSpPr/>
          <p:nvPr/>
        </p:nvSpPr>
        <p:spPr>
          <a:xfrm>
            <a:off x="4555998" y="4222242"/>
            <a:ext cx="3810762" cy="76123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555998"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38878" y="4277105"/>
            <a:ext cx="3499866" cy="651510"/>
          </a:xfrm>
          <a:prstGeom prst="rect">
            <a:avLst/>
          </a:prstGeom>
          <a:noFill/>
        </p:spPr>
        <p:txBody>
          <a:bodyPr wrap="square" anchor="ctr" lIns="0" rIns="0" tIns="0" bIns="0">
            <a:noAutofit/>
          </a:bodyPr>
          <a:lstStyle/>
          <a:p>
            <a:pPr algn="l"/>
            <a:r>
              <a:rPr sz="1050" b="1" i="0">
                <a:solidFill>
                  <a:srgbClr val="FFFFFF"/>
                </a:solidFill>
                <a:latin typeface="Outfit"/>
              </a:rPr>
              <a:t>8. IA</a:t>
            </a:r>
          </a:p>
          <a:p>
            <a:pPr algn="l">
              <a:lnSpc>
                <a:spcPct val="110000"/>
              </a:lnSpc>
              <a:spcBef>
                <a:spcPts val="200"/>
              </a:spcBef>
            </a:pPr>
            <a:r>
              <a:rPr sz="800" b="0" i="0">
                <a:solidFill>
                  <a:srgbClr val="C7CBE0"/>
                </a:solidFill>
                <a:latin typeface="Outfit"/>
              </a:rPr>
              <a:t>Cas d'usage gadget, automatisation sans garde-fous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Opportunités</a:t>
            </a:r>
          </a:p>
          <a:p>
            <a:r>
              <a:rPr sz="1050" i="1">
                <a:solidFill>
                  <a:srgbClr val="586586"/>
                </a:solidFill>
                <a:latin typeface="Outfit"/>
              </a:rPr>
              <a:t>Ce que la situation rend possible maintenant — les leviers déjà instruits par le cadrage, pas encore ce qu'on livre pour les saisir.</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05</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OPPORTUNITÉS   ·   </a:t>
            </a:r>
            <a:r>
              <a:rPr b="1" sz="1200">
                <a:solidFill>
                  <a:srgbClr val="0E2356"/>
                </a:solidFill>
                <a:latin typeface="Outfit"/>
              </a:rPr>
              <a:t>Ce que la situation ouvre maintenant — un espace de leviers cadrés, pas un jaillissement gadget</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déjà instruites par le cadrage rendent le moment favorable — le détail de ce qu'on livre pour les saisir suit au chapitre Offre.</a:t>
            </a:r>
          </a:p>
        </p:txBody>
      </p:sp>
      <p:sp>
        <p:nvSpPr>
          <p:cNvPr id="4" name="Rounded Rectangle 3"/>
          <p:cNvSpPr/>
          <p:nvPr/>
        </p:nvSpPr>
        <p:spPr>
          <a:xfrm>
            <a:off x="562356" y="2244725"/>
            <a:ext cx="1813941" cy="2048509"/>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2391029"/>
            <a:ext cx="1448181" cy="274320"/>
          </a:xfrm>
          <a:prstGeom prst="rect">
            <a:avLst/>
          </a:prstGeom>
          <a:noFill/>
        </p:spPr>
        <p:txBody>
          <a:bodyPr wrap="square" anchor="t" lIns="0" rIns="0" tIns="0" bIns="0">
            <a:noAutofit/>
          </a:bodyPr>
          <a:lstStyle/>
          <a:p>
            <a:pPr algn="l"/>
            <a:r>
              <a:rPr sz="800" b="1" i="0">
                <a:solidFill>
                  <a:srgbClr val="0E2356"/>
                </a:solidFill>
                <a:latin typeface="Outfit"/>
              </a:rPr>
              <a:t>1</a:t>
            </a:r>
          </a:p>
        </p:txBody>
      </p:sp>
      <p:sp>
        <p:nvSpPr>
          <p:cNvPr id="6" name="TextBox 5"/>
          <p:cNvSpPr txBox="1"/>
          <p:nvPr/>
        </p:nvSpPr>
        <p:spPr>
          <a:xfrm>
            <a:off x="745236" y="2665349"/>
            <a:ext cx="1448181" cy="310896"/>
          </a:xfrm>
          <a:prstGeom prst="rect">
            <a:avLst/>
          </a:prstGeom>
          <a:noFill/>
        </p:spPr>
        <p:txBody>
          <a:bodyPr wrap="square" anchor="t" lIns="0" rIns="0" tIns="0" bIns="0">
            <a:noAutofit/>
          </a:bodyPr>
          <a:lstStyle/>
          <a:p>
            <a:pPr algn="l">
              <a:lnSpc>
                <a:spcPct val="110000"/>
              </a:lnSpc>
            </a:pPr>
            <a:r>
              <a:rPr sz="900" b="1" i="0">
                <a:solidFill>
                  <a:srgbClr val="0E2356"/>
                </a:solidFill>
                <a:latin typeface="Outfit"/>
              </a:rPr>
              <a:t>Une méthode déjà scorée</a:t>
            </a:r>
          </a:p>
        </p:txBody>
      </p:sp>
      <p:sp>
        <p:nvSpPr>
          <p:cNvPr id="7" name="TextBox 6"/>
          <p:cNvSpPr txBox="1"/>
          <p:nvPr/>
        </p:nvSpPr>
        <p:spPr>
          <a:xfrm>
            <a:off x="745236" y="3031109"/>
            <a:ext cx="1448181" cy="1371853"/>
          </a:xfrm>
          <a:prstGeom prst="rect">
            <a:avLst/>
          </a:prstGeom>
          <a:noFill/>
        </p:spPr>
        <p:txBody>
          <a:bodyPr wrap="square" anchor="t" lIns="0" rIns="0" tIns="0" bIns="0">
            <a:noAutofit/>
          </a:bodyPr>
          <a:lstStyle/>
          <a:p>
            <a:pPr algn="l">
              <a:lnSpc>
                <a:spcPct val="122000"/>
              </a:lnSpc>
            </a:pPr>
            <a:r>
              <a:rPr sz="850" b="0" i="0">
                <a:solidFill>
                  <a:srgbClr val="586586"/>
                </a:solidFill>
                <a:latin typeface="Outfit"/>
              </a:rPr>
              <a:t>8 familles de gaspillage nommées et priorisables (impact × faisabilité − prudence IA) : la priorisation n'est plus à inventer.</a:t>
            </a:r>
          </a:p>
        </p:txBody>
      </p:sp>
      <p:sp>
        <p:nvSpPr>
          <p:cNvPr id="8" name="Rounded Rectangle 7"/>
          <p:cNvSpPr/>
          <p:nvPr/>
        </p:nvSpPr>
        <p:spPr>
          <a:xfrm>
            <a:off x="2559177" y="2244725"/>
            <a:ext cx="1813941" cy="2048509"/>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2057" y="2391029"/>
            <a:ext cx="1448181" cy="274320"/>
          </a:xfrm>
          <a:prstGeom prst="rect">
            <a:avLst/>
          </a:prstGeom>
          <a:noFill/>
        </p:spPr>
        <p:txBody>
          <a:bodyPr wrap="square" anchor="t" lIns="0" rIns="0" tIns="0" bIns="0">
            <a:noAutofit/>
          </a:bodyPr>
          <a:lstStyle/>
          <a:p>
            <a:pPr algn="l"/>
            <a:r>
              <a:rPr sz="800" b="1" i="0">
                <a:solidFill>
                  <a:srgbClr val="0E2356"/>
                </a:solidFill>
                <a:latin typeface="Outfit"/>
              </a:rPr>
              <a:t>2</a:t>
            </a:r>
          </a:p>
        </p:txBody>
      </p:sp>
      <p:sp>
        <p:nvSpPr>
          <p:cNvPr id="10" name="TextBox 9"/>
          <p:cNvSpPr txBox="1"/>
          <p:nvPr/>
        </p:nvSpPr>
        <p:spPr>
          <a:xfrm>
            <a:off x="2742057" y="2665349"/>
            <a:ext cx="1448181" cy="310896"/>
          </a:xfrm>
          <a:prstGeom prst="rect">
            <a:avLst/>
          </a:prstGeom>
          <a:noFill/>
        </p:spPr>
        <p:txBody>
          <a:bodyPr wrap="square" anchor="t" lIns="0" rIns="0" tIns="0" bIns="0">
            <a:noAutofit/>
          </a:bodyPr>
          <a:lstStyle/>
          <a:p>
            <a:pPr algn="l">
              <a:lnSpc>
                <a:spcPct val="110000"/>
              </a:lnSpc>
            </a:pPr>
            <a:r>
              <a:rPr sz="900" b="1" i="0">
                <a:solidFill>
                  <a:srgbClr val="0E2356"/>
                </a:solidFill>
                <a:latin typeface="Outfit"/>
              </a:rPr>
              <a:t>Un régime RUN devenu traitable</a:t>
            </a:r>
          </a:p>
        </p:txBody>
      </p:sp>
      <p:sp>
        <p:nvSpPr>
          <p:cNvPr id="11" name="TextBox 10"/>
          <p:cNvSpPr txBox="1"/>
          <p:nvPr/>
        </p:nvSpPr>
        <p:spPr>
          <a:xfrm>
            <a:off x="2742057" y="3031109"/>
            <a:ext cx="1448181" cy="1371853"/>
          </a:xfrm>
          <a:prstGeom prst="rect">
            <a:avLst/>
          </a:prstGeom>
          <a:noFill/>
        </p:spPr>
        <p:txBody>
          <a:bodyPr wrap="square" anchor="t" lIns="0" rIns="0" tIns="0" bIns="0">
            <a:noAutofit/>
          </a:bodyPr>
          <a:lstStyle/>
          <a:p>
            <a:pPr algn="l">
              <a:lnSpc>
                <a:spcPct val="122000"/>
              </a:lnSpc>
            </a:pPr>
            <a:r>
              <a:rPr sz="850" b="0" i="0">
                <a:solidFill>
                  <a:srgbClr val="586586"/>
                </a:solidFill>
                <a:latin typeface="Outfit"/>
              </a:rPr>
              <a:t>Le RUN comme régime permanent, une fois nommé, ouvre la voie à une infra as a product plutôt qu'à un guichet subi.</a:t>
            </a:r>
          </a:p>
        </p:txBody>
      </p:sp>
      <p:sp>
        <p:nvSpPr>
          <p:cNvPr id="12" name="Rounded Rectangle 11"/>
          <p:cNvSpPr/>
          <p:nvPr/>
        </p:nvSpPr>
        <p:spPr>
          <a:xfrm>
            <a:off x="4555998" y="2244725"/>
            <a:ext cx="1813941" cy="2048509"/>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2391029"/>
            <a:ext cx="1448181" cy="274320"/>
          </a:xfrm>
          <a:prstGeom prst="rect">
            <a:avLst/>
          </a:prstGeom>
          <a:noFill/>
        </p:spPr>
        <p:txBody>
          <a:bodyPr wrap="square" anchor="t" lIns="0" rIns="0" tIns="0" bIns="0">
            <a:noAutofit/>
          </a:bodyPr>
          <a:lstStyle/>
          <a:p>
            <a:pPr algn="l"/>
            <a:r>
              <a:rPr sz="800" b="1" i="0">
                <a:solidFill>
                  <a:srgbClr val="8FD6DB"/>
                </a:solidFill>
                <a:latin typeface="Outfit"/>
              </a:rPr>
              <a:t>3</a:t>
            </a:r>
          </a:p>
        </p:txBody>
      </p:sp>
      <p:sp>
        <p:nvSpPr>
          <p:cNvPr id="14" name="TextBox 13"/>
          <p:cNvSpPr txBox="1"/>
          <p:nvPr/>
        </p:nvSpPr>
        <p:spPr>
          <a:xfrm>
            <a:off x="4738878" y="2665349"/>
            <a:ext cx="1448181" cy="310896"/>
          </a:xfrm>
          <a:prstGeom prst="rect">
            <a:avLst/>
          </a:prstGeom>
          <a:noFill/>
        </p:spPr>
        <p:txBody>
          <a:bodyPr wrap="square" anchor="t" lIns="0" rIns="0" tIns="0" bIns="0">
            <a:noAutofit/>
          </a:bodyPr>
          <a:lstStyle/>
          <a:p>
            <a:pPr algn="l">
              <a:lnSpc>
                <a:spcPct val="110000"/>
              </a:lnSpc>
            </a:pPr>
            <a:r>
              <a:rPr sz="900" b="1" i="0">
                <a:solidFill>
                  <a:srgbClr val="FFFFFF"/>
                </a:solidFill>
                <a:latin typeface="Outfit"/>
              </a:rPr>
              <a:t>Une IA sous gate, jamais la réponse d'abord</a:t>
            </a:r>
          </a:p>
        </p:txBody>
      </p:sp>
      <p:sp>
        <p:nvSpPr>
          <p:cNvPr id="15" name="TextBox 14"/>
          <p:cNvSpPr txBox="1"/>
          <p:nvPr/>
        </p:nvSpPr>
        <p:spPr>
          <a:xfrm>
            <a:off x="4738878" y="3031109"/>
            <a:ext cx="1448181" cy="1371853"/>
          </a:xfrm>
          <a:prstGeom prst="rect">
            <a:avLst/>
          </a:prstGeom>
          <a:noFill/>
        </p:spPr>
        <p:txBody>
          <a:bodyPr wrap="square" anchor="t" lIns="0" rIns="0" tIns="0" bIns="0">
            <a:noAutofit/>
          </a:bodyPr>
          <a:lstStyle/>
          <a:p>
            <a:pPr algn="l">
              <a:lnSpc>
                <a:spcPct val="122000"/>
              </a:lnSpc>
            </a:pPr>
            <a:r>
              <a:rPr sz="850" b="0" i="0">
                <a:solidFill>
                  <a:srgbClr val="C7CBE0"/>
                </a:solidFill>
                <a:latin typeface="Outfit"/>
              </a:rPr>
              <a:t>Le gate confidentialité (iap-ai-data-confidentiality-gate) et le principe « process explicite avant l'agent » sécurisent l'usage — l'IA amplifie une réponse déjà là, elle ne la remplace pas.</a:t>
            </a:r>
          </a:p>
        </p:txBody>
      </p:sp>
      <p:sp>
        <p:nvSpPr>
          <p:cNvPr id="16" name="Rounded Rectangle 15"/>
          <p:cNvSpPr/>
          <p:nvPr/>
        </p:nvSpPr>
        <p:spPr>
          <a:xfrm>
            <a:off x="6552819" y="2244725"/>
            <a:ext cx="1813941" cy="2048509"/>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35699" y="2391029"/>
            <a:ext cx="1448181" cy="274320"/>
          </a:xfrm>
          <a:prstGeom prst="rect">
            <a:avLst/>
          </a:prstGeom>
          <a:noFill/>
        </p:spPr>
        <p:txBody>
          <a:bodyPr wrap="square" anchor="t" lIns="0" rIns="0" tIns="0" bIns="0">
            <a:noAutofit/>
          </a:bodyPr>
          <a:lstStyle/>
          <a:p>
            <a:pPr algn="l"/>
            <a:r>
              <a:rPr sz="800" b="1" i="0">
                <a:solidFill>
                  <a:srgbClr val="0E2356"/>
                </a:solidFill>
                <a:latin typeface="Outfit"/>
              </a:rPr>
              <a:t>4</a:t>
            </a:r>
          </a:p>
        </p:txBody>
      </p:sp>
      <p:sp>
        <p:nvSpPr>
          <p:cNvPr id="18" name="TextBox 17"/>
          <p:cNvSpPr txBox="1"/>
          <p:nvPr/>
        </p:nvSpPr>
        <p:spPr>
          <a:xfrm>
            <a:off x="6735699" y="2665349"/>
            <a:ext cx="1448181" cy="310896"/>
          </a:xfrm>
          <a:prstGeom prst="rect">
            <a:avLst/>
          </a:prstGeom>
          <a:noFill/>
        </p:spPr>
        <p:txBody>
          <a:bodyPr wrap="square" anchor="t" lIns="0" rIns="0" tIns="0" bIns="0">
            <a:noAutofit/>
          </a:bodyPr>
          <a:lstStyle/>
          <a:p>
            <a:pPr algn="l">
              <a:lnSpc>
                <a:spcPct val="110000"/>
              </a:lnSpc>
            </a:pPr>
            <a:r>
              <a:rPr sz="900" b="1" i="0">
                <a:solidFill>
                  <a:srgbClr val="0E2356"/>
                </a:solidFill>
                <a:latin typeface="Outfit"/>
              </a:rPr>
              <a:t>Une organisation cible déjà pensée</a:t>
            </a:r>
          </a:p>
        </p:txBody>
      </p:sp>
      <p:sp>
        <p:nvSpPr>
          <p:cNvPr id="19" name="TextBox 18"/>
          <p:cNvSpPr txBox="1"/>
          <p:nvPr/>
        </p:nvSpPr>
        <p:spPr>
          <a:xfrm>
            <a:off x="6735699" y="3031109"/>
            <a:ext cx="1448181" cy="1371853"/>
          </a:xfrm>
          <a:prstGeom prst="rect">
            <a:avLst/>
          </a:prstGeom>
          <a:noFill/>
        </p:spPr>
        <p:txBody>
          <a:bodyPr wrap="square" anchor="t" lIns="0" rIns="0" tIns="0" bIns="0">
            <a:noAutofit/>
          </a:bodyPr>
          <a:lstStyle/>
          <a:p>
            <a:pPr algn="l">
              <a:lnSpc>
                <a:spcPct val="122000"/>
              </a:lnSpc>
            </a:pPr>
            <a:r>
              <a:rPr sz="850" b="0" i="0">
                <a:solidFill>
                  <a:srgbClr val="586586"/>
                </a:solidFill>
                <a:latin typeface="Outfit"/>
              </a:rPr>
              <a:t>Team topologies et partage gaspillage mutualisé/tranché-à-deux donnent un porteur à ce qui, aujourd'hui, n'en a pas.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Offre</a:t>
            </a:r>
          </a:p>
          <a:p>
            <a:r>
              <a:rPr sz="1050" i="1">
                <a:solidFill>
                  <a:srgbClr val="586586"/>
                </a:solidFill>
                <a:latin typeface="Outfit"/>
              </a:rPr>
              <a:t>Traiter l'infra comme un produit : la thèse, la méthode scorée, l'organisation cible et l'IA au service de la réponse.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06</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Pourquoi « Infrastructure as a Product » — le socle de la proposition</a:t>
            </a:r>
          </a:p>
        </p:txBody>
      </p:sp>
      <p:sp>
        <p:nvSpPr>
          <p:cNvPr id="3" name="Rounded Rectangle 2"/>
          <p:cNvSpPr/>
          <p:nvPr/>
        </p:nvSpPr>
        <p:spPr>
          <a:xfrm>
            <a:off x="562356" y="1051560"/>
            <a:ext cx="7804404" cy="86868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051560"/>
            <a:ext cx="73152" cy="8686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6676" y="1051560"/>
            <a:ext cx="7347204" cy="868680"/>
          </a:xfrm>
          <a:prstGeom prst="rect">
            <a:avLst/>
          </a:prstGeom>
          <a:noFill/>
        </p:spPr>
        <p:txBody>
          <a:bodyPr wrap="square" anchor="ctr" lIns="0" rIns="0" tIns="0" bIns="0">
            <a:noAutofit/>
          </a:bodyPr>
          <a:lstStyle/>
          <a:p>
            <a:pPr algn="l">
              <a:lnSpc>
                <a:spcPct val="105000"/>
              </a:lnSpc>
            </a:pPr>
            <a:r>
              <a:rPr sz="1400" b="1" i="0">
                <a:solidFill>
                  <a:srgbClr val="0E2356"/>
                </a:solidFill>
                <a:latin typeface="Outfit"/>
              </a:rPr>
              <a:t>Traiter l'infrastructure comme un produit, pas comme un guichet de tickets.</a:t>
            </a:r>
          </a:p>
          <a:p>
            <a:pPr algn="l">
              <a:lnSpc>
                <a:spcPct val="115000"/>
              </a:lnSpc>
              <a:spcBef>
                <a:spcPts val="400"/>
              </a:spcBef>
            </a:pPr>
            <a:r>
              <a:rPr sz="900" b="0" i="0">
                <a:solidFill>
                  <a:srgbClr val="586586"/>
                </a:solidFill>
                <a:latin typeface="Outfit"/>
              </a:rPr>
              <a:t>Un produit a des utilisateurs, un cycle de vie et une valeur mesurée — trois bascules qui répondent directement aux personas et à leurs douleurs.</a:t>
            </a:r>
          </a:p>
        </p:txBody>
      </p:sp>
      <p:sp>
        <p:nvSpPr>
          <p:cNvPr id="6" name="Rounded Rectangle 5"/>
          <p:cNvSpPr/>
          <p:nvPr/>
        </p:nvSpPr>
        <p:spPr>
          <a:xfrm>
            <a:off x="562356" y="2468879"/>
            <a:ext cx="7804404" cy="2514600"/>
          </a:xfrm>
          <a:prstGeom prst="roundRect">
            <a:avLst>
              <a:gd name="adj" fmla="val 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16786"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1</a:t>
            </a:r>
          </a:p>
        </p:txBody>
      </p:sp>
      <p:sp>
        <p:nvSpPr>
          <p:cNvPr id="9" name="Rectangle 8"/>
          <p:cNvSpPr/>
          <p:nvPr/>
        </p:nvSpPr>
        <p:spPr>
          <a:xfrm>
            <a:off x="1853031"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Des utilisateurs, pas des tickets</a:t>
            </a:r>
          </a:p>
        </p:txBody>
      </p:sp>
      <p:sp>
        <p:nvSpPr>
          <p:cNvPr id="11" name="TextBox 10"/>
          <p:cNvSpPr txBox="1"/>
          <p:nvPr/>
        </p:nvSpPr>
        <p:spPr>
          <a:xfrm>
            <a:off x="781812"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conçoit l'adoption — self-service, onboarding, parcours — au lieu de subir un guichet que le contournement rend inutile.</a:t>
            </a:r>
          </a:p>
        </p:txBody>
      </p:sp>
      <p:sp>
        <p:nvSpPr>
          <p:cNvPr id="12" name="TextBox 11"/>
          <p:cNvSpPr txBox="1"/>
          <p:nvPr/>
        </p:nvSpPr>
        <p:spPr>
          <a:xfrm>
            <a:off x="781812"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13" name="Rounded Rectangle 12"/>
          <p:cNvSpPr/>
          <p:nvPr/>
        </p:nvSpPr>
        <p:spPr>
          <a:xfrm>
            <a:off x="781812"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l'Utilisateur applicatif</a:t>
            </a:r>
          </a:p>
        </p:txBody>
      </p:sp>
      <p:sp>
        <p:nvSpPr>
          <p:cNvPr id="15" name="Rounded Rectangle 14"/>
          <p:cNvSpPr/>
          <p:nvPr/>
        </p:nvSpPr>
        <p:spPr>
          <a:xfrm>
            <a:off x="4318254"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2</a:t>
            </a:r>
          </a:p>
        </p:txBody>
      </p:sp>
      <p:sp>
        <p:nvSpPr>
          <p:cNvPr id="17" name="Rectangle 16"/>
          <p:cNvSpPr/>
          <p:nvPr/>
        </p:nvSpPr>
        <p:spPr>
          <a:xfrm>
            <a:off x="4454499"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63824"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cycle de vie, une équipe qui en répond</a:t>
            </a:r>
          </a:p>
        </p:txBody>
      </p:sp>
      <p:sp>
        <p:nvSpPr>
          <p:cNvPr id="20" name="TextBox 19"/>
          <p:cNvSpPr txBox="1"/>
          <p:nvPr/>
        </p:nvSpPr>
        <p:spPr>
          <a:xfrm>
            <a:off x="3383280"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 produit a un propriétaire, une roadmap et une dette gérée : on sort du RUN subi et on récupère de la capacité.</a:t>
            </a:r>
          </a:p>
        </p:txBody>
      </p:sp>
      <p:sp>
        <p:nvSpPr>
          <p:cNvPr id="21" name="TextBox 20"/>
          <p:cNvSpPr txBox="1"/>
          <p:nvPr/>
        </p:nvSpPr>
        <p:spPr>
          <a:xfrm>
            <a:off x="3383280"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22" name="Rounded Rectangle 21"/>
          <p:cNvSpPr/>
          <p:nvPr/>
        </p:nvSpPr>
        <p:spPr>
          <a:xfrm>
            <a:off x="3383280"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83280"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Infra &amp; RUN</a:t>
            </a:r>
          </a:p>
        </p:txBody>
      </p:sp>
      <p:sp>
        <p:nvSpPr>
          <p:cNvPr id="24" name="Rounded Rectangle 23"/>
          <p:cNvSpPr/>
          <p:nvPr/>
        </p:nvSpPr>
        <p:spPr>
          <a:xfrm>
            <a:off x="6919722"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5292"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3</a:t>
            </a:r>
          </a:p>
        </p:txBody>
      </p:sp>
      <p:sp>
        <p:nvSpPr>
          <p:cNvPr id="26" name="Rectangle 25"/>
          <p:cNvSpPr/>
          <p:nvPr/>
        </p:nvSpPr>
        <p:spPr>
          <a:xfrm>
            <a:off x="7055967"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65292"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4748"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pilotage par la valeur</a:t>
            </a:r>
          </a:p>
        </p:txBody>
      </p:sp>
      <p:sp>
        <p:nvSpPr>
          <p:cNvPr id="29" name="TextBox 28"/>
          <p:cNvSpPr txBox="1"/>
          <p:nvPr/>
        </p:nvSpPr>
        <p:spPr>
          <a:xfrm>
            <a:off x="5984748"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mesure l'usage et la valeur produite, pas l'activité : un signal de flux fiable, des KPIs de mission — pas du reporting-miroir.</a:t>
            </a:r>
          </a:p>
        </p:txBody>
      </p:sp>
      <p:sp>
        <p:nvSpPr>
          <p:cNvPr id="30" name="TextBox 29"/>
          <p:cNvSpPr txBox="1"/>
          <p:nvPr/>
        </p:nvSpPr>
        <p:spPr>
          <a:xfrm>
            <a:off x="5984748"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31" name="Rounded Rectangle 30"/>
          <p:cNvSpPr/>
          <p:nvPr/>
        </p:nvSpPr>
        <p:spPr>
          <a:xfrm>
            <a:off x="5984748"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84748"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Management &amp; Sponsor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PROPOSITION   ·   </a:t>
            </a:r>
            <a:r>
              <a:rPr b="1" sz="1250">
                <a:solidFill>
                  <a:srgbClr val="0E2356"/>
                </a:solidFill>
                <a:latin typeface="Outfit"/>
              </a:rPr>
              <a:t>Du gaspillage au backlog priorisé : chaîne de traitement + score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Chaque famille de gaspillage (chapitre précédent) passe par la même chaîne de traitement, puis reçoit un score explicite qui la classe dans un backlog priorisé — jamais un tri à l'intuition.</a:t>
            </a:r>
          </a:p>
        </p:txBody>
      </p:sp>
      <p:sp>
        <p:nvSpPr>
          <p:cNvPr id="4" name="TextBox 3"/>
          <p:cNvSpPr txBox="1"/>
          <p:nvPr/>
        </p:nvSpPr>
        <p:spPr>
          <a:xfrm>
            <a:off x="562356" y="1645919"/>
            <a:ext cx="7804404" cy="219456"/>
          </a:xfrm>
          <a:prstGeom prst="rect">
            <a:avLst/>
          </a:prstGeom>
          <a:noFill/>
        </p:spPr>
        <p:txBody>
          <a:bodyPr wrap="square" anchor="t" lIns="0" rIns="0" tIns="0" bIns="0">
            <a:noAutofit/>
          </a:bodyPr>
          <a:lstStyle/>
          <a:p>
            <a:pPr algn="l"/>
            <a:r>
              <a:rPr sz="800" b="1" i="0">
                <a:solidFill>
                  <a:srgbClr val="586586"/>
                </a:solidFill>
                <a:latin typeface="Outfit"/>
              </a:rPr>
              <a:t>CHAÎNE DE TRAITEMENT — de la détection à la prévention</a:t>
            </a:r>
          </a:p>
        </p:txBody>
      </p:sp>
      <p:sp>
        <p:nvSpPr>
          <p:cNvPr id="5" name="Rectangle 4"/>
          <p:cNvSpPr/>
          <p:nvPr/>
        </p:nvSpPr>
        <p:spPr>
          <a:xfrm>
            <a:off x="1271847" y="2093976"/>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12554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2554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1</a:t>
            </a:r>
          </a:p>
        </p:txBody>
      </p:sp>
      <p:sp>
        <p:nvSpPr>
          <p:cNvPr id="8" name="TextBox 7"/>
          <p:cNvSpPr txBox="1"/>
          <p:nvPr/>
        </p:nvSpPr>
        <p:spPr>
          <a:xfrm>
            <a:off x="56235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Détecter</a:t>
            </a:r>
          </a:p>
        </p:txBody>
      </p:sp>
      <p:sp>
        <p:nvSpPr>
          <p:cNvPr id="9" name="Rounded Rectangle 8"/>
          <p:cNvSpPr/>
          <p:nvPr/>
        </p:nvSpPr>
        <p:spPr>
          <a:xfrm>
            <a:off x="2544525"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4525"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1" name="TextBox 10"/>
          <p:cNvSpPr txBox="1"/>
          <p:nvPr/>
        </p:nvSpPr>
        <p:spPr>
          <a:xfrm>
            <a:off x="1981338"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Qualifier</a:t>
            </a:r>
          </a:p>
        </p:txBody>
      </p:sp>
      <p:sp>
        <p:nvSpPr>
          <p:cNvPr id="12" name="Rounded Rectangle 11"/>
          <p:cNvSpPr/>
          <p:nvPr/>
        </p:nvSpPr>
        <p:spPr>
          <a:xfrm>
            <a:off x="3963508"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63508"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4" name="TextBox 13"/>
          <p:cNvSpPr txBox="1"/>
          <p:nvPr/>
        </p:nvSpPr>
        <p:spPr>
          <a:xfrm>
            <a:off x="3400321"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Quantifier</a:t>
            </a:r>
          </a:p>
        </p:txBody>
      </p:sp>
      <p:sp>
        <p:nvSpPr>
          <p:cNvPr id="15" name="Rounded Rectangle 14"/>
          <p:cNvSpPr/>
          <p:nvPr/>
        </p:nvSpPr>
        <p:spPr>
          <a:xfrm>
            <a:off x="5382490"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82490"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17" name="TextBox 16"/>
          <p:cNvSpPr txBox="1"/>
          <p:nvPr/>
        </p:nvSpPr>
        <p:spPr>
          <a:xfrm>
            <a:off x="4819303"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Cause racine</a:t>
            </a:r>
          </a:p>
        </p:txBody>
      </p:sp>
      <p:sp>
        <p:nvSpPr>
          <p:cNvPr id="18" name="Rounded Rectangle 17"/>
          <p:cNvSpPr/>
          <p:nvPr/>
        </p:nvSpPr>
        <p:spPr>
          <a:xfrm>
            <a:off x="680147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147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5</a:t>
            </a:r>
          </a:p>
        </p:txBody>
      </p:sp>
      <p:sp>
        <p:nvSpPr>
          <p:cNvPr id="20" name="TextBox 19"/>
          <p:cNvSpPr txBox="1"/>
          <p:nvPr/>
        </p:nvSpPr>
        <p:spPr>
          <a:xfrm>
            <a:off x="623828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Pattern</a:t>
            </a:r>
          </a:p>
        </p:txBody>
      </p:sp>
      <p:sp>
        <p:nvSpPr>
          <p:cNvPr id="21" name="Rectangle 20"/>
          <p:cNvSpPr/>
          <p:nvPr/>
        </p:nvSpPr>
        <p:spPr>
          <a:xfrm>
            <a:off x="1981338" y="2752344"/>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835034" y="261518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35034" y="2615183"/>
            <a:ext cx="292608" cy="292608"/>
          </a:xfrm>
          <a:prstGeom prst="rect">
            <a:avLst/>
          </a:prstGeom>
          <a:noFill/>
        </p:spPr>
        <p:txBody>
          <a:bodyPr wrap="square" anchor="ctr" lIns="0" rIns="0" tIns="0" bIns="0">
            <a:noAutofit/>
          </a:bodyPr>
          <a:lstStyle/>
          <a:p>
            <a:pPr algn="ctr"/>
            <a:r>
              <a:rPr sz="800" b="1" i="0">
                <a:solidFill>
                  <a:srgbClr val="FFFFFF"/>
                </a:solidFill>
                <a:latin typeface="Outfit"/>
              </a:rPr>
              <a:t>6</a:t>
            </a:r>
          </a:p>
        </p:txBody>
      </p:sp>
      <p:sp>
        <p:nvSpPr>
          <p:cNvPr id="24" name="TextBox 23"/>
          <p:cNvSpPr txBox="1"/>
          <p:nvPr/>
        </p:nvSpPr>
        <p:spPr>
          <a:xfrm>
            <a:off x="127184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Prioriser</a:t>
            </a:r>
          </a:p>
        </p:txBody>
      </p:sp>
      <p:sp>
        <p:nvSpPr>
          <p:cNvPr id="25" name="Rounded Rectangle 24"/>
          <p:cNvSpPr/>
          <p:nvPr/>
        </p:nvSpPr>
        <p:spPr>
          <a:xfrm>
            <a:off x="3254017"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54017"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7</a:t>
            </a:r>
          </a:p>
        </p:txBody>
      </p:sp>
      <p:sp>
        <p:nvSpPr>
          <p:cNvPr id="27" name="TextBox 26"/>
          <p:cNvSpPr txBox="1"/>
          <p:nvPr/>
        </p:nvSpPr>
        <p:spPr>
          <a:xfrm>
            <a:off x="2690829"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Expérimenter</a:t>
            </a:r>
          </a:p>
        </p:txBody>
      </p:sp>
      <p:sp>
        <p:nvSpPr>
          <p:cNvPr id="28" name="Rounded Rectangle 27"/>
          <p:cNvSpPr/>
          <p:nvPr/>
        </p:nvSpPr>
        <p:spPr>
          <a:xfrm>
            <a:off x="4672999"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2999"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8</a:t>
            </a:r>
          </a:p>
        </p:txBody>
      </p:sp>
      <p:sp>
        <p:nvSpPr>
          <p:cNvPr id="30" name="TextBox 29"/>
          <p:cNvSpPr txBox="1"/>
          <p:nvPr/>
        </p:nvSpPr>
        <p:spPr>
          <a:xfrm>
            <a:off x="4109812"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Mesurer</a:t>
            </a:r>
          </a:p>
        </p:txBody>
      </p:sp>
      <p:sp>
        <p:nvSpPr>
          <p:cNvPr id="31" name="Rounded Rectangle 30"/>
          <p:cNvSpPr/>
          <p:nvPr/>
        </p:nvSpPr>
        <p:spPr>
          <a:xfrm>
            <a:off x="6091982"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91982"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9</a:t>
            </a:r>
          </a:p>
        </p:txBody>
      </p:sp>
      <p:sp>
        <p:nvSpPr>
          <p:cNvPr id="33" name="TextBox 32"/>
          <p:cNvSpPr txBox="1"/>
          <p:nvPr/>
        </p:nvSpPr>
        <p:spPr>
          <a:xfrm>
            <a:off x="5528794"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Industrialiser</a:t>
            </a:r>
          </a:p>
        </p:txBody>
      </p:sp>
      <p:sp>
        <p:nvSpPr>
          <p:cNvPr id="34" name="Rounded Rectangle 33"/>
          <p:cNvSpPr/>
          <p:nvPr/>
        </p:nvSpPr>
        <p:spPr>
          <a:xfrm>
            <a:off x="7510964"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10964"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10</a:t>
            </a:r>
          </a:p>
        </p:txBody>
      </p:sp>
      <p:sp>
        <p:nvSpPr>
          <p:cNvPr id="36" name="TextBox 35"/>
          <p:cNvSpPr txBox="1"/>
          <p:nvPr/>
        </p:nvSpPr>
        <p:spPr>
          <a:xfrm>
            <a:off x="694777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Prévenir</a:t>
            </a:r>
          </a:p>
        </p:txBody>
      </p:sp>
      <p:sp>
        <p:nvSpPr>
          <p:cNvPr id="37" name="Rounded Rectangle 36"/>
          <p:cNvSpPr/>
          <p:nvPr/>
        </p:nvSpPr>
        <p:spPr>
          <a:xfrm>
            <a:off x="562356" y="3456432"/>
            <a:ext cx="7804404" cy="14173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3524" y="3456432"/>
            <a:ext cx="3627882" cy="1417320"/>
          </a:xfrm>
          <a:prstGeom prst="rect">
            <a:avLst/>
          </a:prstGeom>
          <a:noFill/>
        </p:spPr>
        <p:txBody>
          <a:bodyPr wrap="square" anchor="ctr" lIns="0" rIns="0" tIns="0" bIns="0">
            <a:noAutofit/>
          </a:bodyPr>
          <a:lstStyle/>
          <a:p>
            <a:pPr algn="l">
              <a:lnSpc>
                <a:spcPct val="115000"/>
              </a:lnSpc>
            </a:pPr>
            <a:r>
              <a:rPr sz="1050" b="1" i="0">
                <a:solidFill>
                  <a:srgbClr val="FFFFFF"/>
                </a:solidFill>
                <a:latin typeface="Outfit"/>
              </a:rPr>
              <a:t>Priorité = (impact × faisabilité) − prudence IA</a:t>
            </a:r>
          </a:p>
          <a:p>
            <a:pPr algn="l">
              <a:lnSpc>
                <a:spcPct val="120000"/>
              </a:lnSpc>
              <a:spcBef>
                <a:spcPts val="400"/>
              </a:spcBef>
            </a:pPr>
            <a:r>
              <a:rPr sz="800" b="0" i="0">
                <a:solidFill>
                  <a:srgbClr val="C7CBE0"/>
                </a:solidFill>
                <a:latin typeface="Outfit"/>
              </a:rPr>
              <a:t>Support de discussion ORDINAL, pas une métrique calculée : à lire en paliers (fort / moyen / faible), jamais comme un nombre exact. Il rend la discussion explicite et classe les candidats — il ne remplace pas l'arbitrage humain.</a:t>
            </a:r>
          </a:p>
        </p:txBody>
      </p:sp>
      <p:sp>
        <p:nvSpPr>
          <p:cNvPr id="39" name="TextBox 38"/>
          <p:cNvSpPr txBox="1"/>
          <p:nvPr/>
        </p:nvSpPr>
        <p:spPr>
          <a:xfrm>
            <a:off x="4464558" y="3566160"/>
            <a:ext cx="3765041" cy="164592"/>
          </a:xfrm>
          <a:prstGeom prst="rect">
            <a:avLst/>
          </a:prstGeom>
          <a:noFill/>
        </p:spPr>
        <p:txBody>
          <a:bodyPr wrap="square" anchor="t" lIns="0" rIns="0" tIns="0" bIns="0">
            <a:noAutofit/>
          </a:bodyPr>
          <a:lstStyle/>
          <a:p>
            <a:pPr algn="l"/>
            <a:r>
              <a:rPr sz="700" b="1" i="0">
                <a:solidFill>
                  <a:srgbClr val="8891B3"/>
                </a:solidFill>
                <a:latin typeface="Outfit"/>
              </a:rPr>
              <a:t>SCORE ILLUSTRATIF · ORDINAL</a:t>
            </a:r>
          </a:p>
        </p:txBody>
      </p:sp>
      <p:sp>
        <p:nvSpPr>
          <p:cNvPr id="40" name="TextBox 39"/>
          <p:cNvSpPr txBox="1"/>
          <p:nvPr/>
        </p:nvSpPr>
        <p:spPr>
          <a:xfrm>
            <a:off x="4464558" y="3803904"/>
            <a:ext cx="1097280" cy="326136"/>
          </a:xfrm>
          <a:prstGeom prst="rect">
            <a:avLst/>
          </a:prstGeom>
          <a:noFill/>
        </p:spPr>
        <p:txBody>
          <a:bodyPr wrap="square" anchor="ctr" lIns="0" rIns="0" tIns="0" bIns="0">
            <a:noAutofit/>
          </a:bodyPr>
          <a:lstStyle/>
          <a:p>
            <a:pPr algn="l"/>
            <a:r>
              <a:rPr sz="700" b="0" i="0">
                <a:solidFill>
                  <a:srgbClr val="C7CBE0"/>
                </a:solidFill>
                <a:latin typeface="Outfit"/>
              </a:rPr>
              <a:t>Impact</a:t>
            </a:r>
          </a:p>
        </p:txBody>
      </p:sp>
      <p:sp>
        <p:nvSpPr>
          <p:cNvPr id="41" name="Rounded Rectangle 40"/>
          <p:cNvSpPr/>
          <p:nvPr/>
        </p:nvSpPr>
        <p:spPr>
          <a:xfrm>
            <a:off x="560755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79043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97331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619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339078" y="3902964"/>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64558" y="4130040"/>
            <a:ext cx="1097280" cy="326136"/>
          </a:xfrm>
          <a:prstGeom prst="rect">
            <a:avLst/>
          </a:prstGeom>
          <a:noFill/>
        </p:spPr>
        <p:txBody>
          <a:bodyPr wrap="square" anchor="ctr" lIns="0" rIns="0" tIns="0" bIns="0">
            <a:noAutofit/>
          </a:bodyPr>
          <a:lstStyle/>
          <a:p>
            <a:pPr algn="l"/>
            <a:r>
              <a:rPr sz="700" b="0" i="0">
                <a:solidFill>
                  <a:srgbClr val="C7CBE0"/>
                </a:solidFill>
                <a:latin typeface="Outfit"/>
              </a:rPr>
              <a:t>Faisabilité</a:t>
            </a:r>
          </a:p>
        </p:txBody>
      </p:sp>
      <p:sp>
        <p:nvSpPr>
          <p:cNvPr id="47" name="Rounded Rectangle 46"/>
          <p:cNvSpPr/>
          <p:nvPr/>
        </p:nvSpPr>
        <p:spPr>
          <a:xfrm>
            <a:off x="560755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79043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97331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15619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33907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64558" y="4456176"/>
            <a:ext cx="1097280" cy="326136"/>
          </a:xfrm>
          <a:prstGeom prst="rect">
            <a:avLst/>
          </a:prstGeom>
          <a:noFill/>
        </p:spPr>
        <p:txBody>
          <a:bodyPr wrap="square" anchor="ctr" lIns="0" rIns="0" tIns="0" bIns="0">
            <a:noAutofit/>
          </a:bodyPr>
          <a:lstStyle/>
          <a:p>
            <a:pPr algn="l"/>
            <a:r>
              <a:rPr sz="700" b="0" i="0">
                <a:solidFill>
                  <a:srgbClr val="C7CBE0"/>
                </a:solidFill>
                <a:latin typeface="Outfit"/>
              </a:rPr>
              <a:t>Prudence IA</a:t>
            </a:r>
          </a:p>
        </p:txBody>
      </p:sp>
      <p:sp>
        <p:nvSpPr>
          <p:cNvPr id="53" name="Rounded Rectangle 52"/>
          <p:cNvSpPr/>
          <p:nvPr/>
        </p:nvSpPr>
        <p:spPr>
          <a:xfrm>
            <a:off x="5607558" y="4555236"/>
            <a:ext cx="128016" cy="128016"/>
          </a:xfrm>
          <a:prstGeom prst="roundRect">
            <a:avLst>
              <a:gd name="adj" fmla="val 50000"/>
            </a:avLst>
          </a:prstGeom>
          <a:solidFill>
            <a:srgbClr val="9FA7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579043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97331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15619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33907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Un gaspillage partagé se traite à deux — sinon il retourne à personne</a:t>
            </a:r>
          </a:p>
        </p:txBody>
      </p:sp>
      <p:sp>
        <p:nvSpPr>
          <p:cNvPr id="3" name="TextBox 2"/>
          <p:cNvSpPr txBox="1"/>
          <p:nvPr/>
        </p:nvSpPr>
        <p:spPr>
          <a:xfrm>
            <a:off x="562356" y="1033271"/>
            <a:ext cx="7804404" cy="36995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Cette chaîne se joue AVEC le client, moment par moment. Sans décision partagée, une économie qui ne pèse sur aucun budget d'équipe ne trouve pas de porteur.</a:t>
            </a:r>
          </a:p>
        </p:txBody>
      </p:sp>
      <p:sp>
        <p:nvSpPr>
          <p:cNvPr id="4" name="Rounded Rectangle 3"/>
          <p:cNvSpPr/>
          <p:nvPr/>
        </p:nvSpPr>
        <p:spPr>
          <a:xfrm>
            <a:off x="562356"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1.  Objectiver ensemble</a:t>
            </a:r>
          </a:p>
        </p:txBody>
      </p:sp>
      <p:sp>
        <p:nvSpPr>
          <p:cNvPr id="6" name="TextBox 5"/>
          <p:cNvSpPr txBox="1"/>
          <p:nvPr/>
        </p:nvSpPr>
        <p:spPr>
          <a:xfrm>
            <a:off x="562356"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Détecter → Quantifier</a:t>
            </a:r>
          </a:p>
        </p:txBody>
      </p:sp>
      <p:sp>
        <p:nvSpPr>
          <p:cNvPr id="7" name="Rounded Rectangle 6"/>
          <p:cNvSpPr/>
          <p:nvPr/>
        </p:nvSpPr>
        <p:spPr>
          <a:xfrm>
            <a:off x="562356"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9" name="TextBox 8"/>
          <p:cNvSpPr txBox="1"/>
          <p:nvPr/>
        </p:nvSpPr>
        <p:spPr>
          <a:xfrm>
            <a:off x="681228"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Ouvre ses données — CMDB, facturation, tickets — et nomme ce qui le gêne vraiment, au-delà de ce qui se mesure facilement.</a:t>
            </a:r>
          </a:p>
        </p:txBody>
      </p:sp>
      <p:sp>
        <p:nvSpPr>
          <p:cNvPr id="10" name="TextBox 9"/>
          <p:cNvSpPr txBox="1"/>
          <p:nvPr/>
        </p:nvSpPr>
        <p:spPr>
          <a:xfrm>
            <a:off x="681228"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11" name="TextBox 10"/>
          <p:cNvSpPr txBox="1"/>
          <p:nvPr/>
        </p:nvSpPr>
        <p:spPr>
          <a:xfrm>
            <a:off x="681228"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Apporte la grille des 8 familles et la méthode de quantification, sans présumer du résultat.</a:t>
            </a:r>
          </a:p>
        </p:txBody>
      </p:sp>
      <p:sp>
        <p:nvSpPr>
          <p:cNvPr id="12" name="Rounded Rectangle 11"/>
          <p:cNvSpPr/>
          <p:nvPr/>
        </p:nvSpPr>
        <p:spPr>
          <a:xfrm>
            <a:off x="626364"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90372"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15" name="TextBox 14"/>
          <p:cNvSpPr txBox="1"/>
          <p:nvPr/>
        </p:nvSpPr>
        <p:spPr>
          <a:xfrm>
            <a:off x="818388"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périmètre mesuré, et ce qu'on accepte d'appeler gaspillage.</a:t>
            </a:r>
          </a:p>
        </p:txBody>
      </p:sp>
      <p:sp>
        <p:nvSpPr>
          <p:cNvPr id="16" name="Rounded Rectangle 15"/>
          <p:cNvSpPr/>
          <p:nvPr/>
        </p:nvSpPr>
        <p:spPr>
          <a:xfrm>
            <a:off x="3218688"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18688"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2.  Décider ensemble</a:t>
            </a:r>
          </a:p>
        </p:txBody>
      </p:sp>
      <p:sp>
        <p:nvSpPr>
          <p:cNvPr id="18" name="TextBox 17"/>
          <p:cNvSpPr txBox="1"/>
          <p:nvPr/>
        </p:nvSpPr>
        <p:spPr>
          <a:xfrm>
            <a:off x="3218688"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Cause racine → Prioriser</a:t>
            </a:r>
          </a:p>
        </p:txBody>
      </p:sp>
      <p:sp>
        <p:nvSpPr>
          <p:cNvPr id="19" name="Rounded Rectangle 18"/>
          <p:cNvSpPr/>
          <p:nvPr/>
        </p:nvSpPr>
        <p:spPr>
          <a:xfrm>
            <a:off x="3218688"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7560"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21" name="TextBox 20"/>
          <p:cNvSpPr txBox="1"/>
          <p:nvPr/>
        </p:nvSpPr>
        <p:spPr>
          <a:xfrm>
            <a:off x="3337560"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Arbitre entre ses équipes ce qu'aucune ne peut trancher seule : fermer un service, standardiser, décommissionner.</a:t>
            </a:r>
          </a:p>
        </p:txBody>
      </p:sp>
      <p:sp>
        <p:nvSpPr>
          <p:cNvPr id="22" name="TextBox 21"/>
          <p:cNvSpPr txBox="1"/>
          <p:nvPr/>
        </p:nvSpPr>
        <p:spPr>
          <a:xfrm>
            <a:off x="3337560"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23" name="TextBox 22"/>
          <p:cNvSpPr txBox="1"/>
          <p:nvPr/>
        </p:nvSpPr>
        <p:spPr>
          <a:xfrm>
            <a:off x="3337560"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Instruit les causes racines et propose le score — une proposition argumentée, jamais un verdict.</a:t>
            </a:r>
          </a:p>
        </p:txBody>
      </p:sp>
      <p:sp>
        <p:nvSpPr>
          <p:cNvPr id="24" name="Rounded Rectangle 23"/>
          <p:cNvSpPr/>
          <p:nvPr/>
        </p:nvSpPr>
        <p:spPr>
          <a:xfrm>
            <a:off x="3282696"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346704"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20"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27" name="TextBox 26"/>
          <p:cNvSpPr txBox="1"/>
          <p:nvPr/>
        </p:nvSpPr>
        <p:spPr>
          <a:xfrm>
            <a:off x="3474720"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backlog priorisé et, pour chaque ligne, le porteur nommé.</a:t>
            </a:r>
          </a:p>
        </p:txBody>
      </p:sp>
      <p:sp>
        <p:nvSpPr>
          <p:cNvPr id="28" name="Rounded Rectangle 27"/>
          <p:cNvSpPr/>
          <p:nvPr/>
        </p:nvSpPr>
        <p:spPr>
          <a:xfrm>
            <a:off x="5875020"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75020"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3.  Tenir dans la durée</a:t>
            </a:r>
          </a:p>
        </p:txBody>
      </p:sp>
      <p:sp>
        <p:nvSpPr>
          <p:cNvPr id="30" name="TextBox 29"/>
          <p:cNvSpPr txBox="1"/>
          <p:nvPr/>
        </p:nvSpPr>
        <p:spPr>
          <a:xfrm>
            <a:off x="5875020"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Expérimenter → Prévenir</a:t>
            </a:r>
          </a:p>
        </p:txBody>
      </p:sp>
      <p:sp>
        <p:nvSpPr>
          <p:cNvPr id="31" name="Rounded Rectangle 30"/>
          <p:cNvSpPr/>
          <p:nvPr/>
        </p:nvSpPr>
        <p:spPr>
          <a:xfrm>
            <a:off x="5875020"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93892"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33" name="TextBox 32"/>
          <p:cNvSpPr txBox="1"/>
          <p:nvPr/>
        </p:nvSpPr>
        <p:spPr>
          <a:xfrm>
            <a:off x="5993892"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Porte les expérimentations dans ses équipes et libère le temps qu'elles demandent.</a:t>
            </a:r>
          </a:p>
        </p:txBody>
      </p:sp>
      <p:sp>
        <p:nvSpPr>
          <p:cNvPr id="34" name="TextBox 33"/>
          <p:cNvSpPr txBox="1"/>
          <p:nvPr/>
        </p:nvSpPr>
        <p:spPr>
          <a:xfrm>
            <a:off x="5993892"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35" name="TextBox 34"/>
          <p:cNvSpPr txBox="1"/>
          <p:nvPr/>
        </p:nvSpPr>
        <p:spPr>
          <a:xfrm>
            <a:off x="5993892"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Outille, mesure le delta réel et industrialise ce qui a marché.</a:t>
            </a:r>
          </a:p>
        </p:txBody>
      </p:sp>
      <p:sp>
        <p:nvSpPr>
          <p:cNvPr id="36" name="Rounded Rectangle 35"/>
          <p:cNvSpPr/>
          <p:nvPr/>
        </p:nvSpPr>
        <p:spPr>
          <a:xfrm>
            <a:off x="5939028"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003036"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31052"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39" name="TextBox 38"/>
          <p:cNvSpPr txBox="1"/>
          <p:nvPr/>
        </p:nvSpPr>
        <p:spPr>
          <a:xfrm>
            <a:off x="6131052"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seuil au-delà duquel on généralise — ou on arrête.</a:t>
            </a:r>
          </a:p>
        </p:txBody>
      </p:sp>
      <p:sp>
        <p:nvSpPr>
          <p:cNvPr id="40" name="Rounded Rectangle 39"/>
          <p:cNvSpPr/>
          <p:nvPr/>
        </p:nvSpPr>
        <p:spPr>
          <a:xfrm>
            <a:off x="562356" y="4306824"/>
            <a:ext cx="7804404" cy="67665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 y="432511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42" name="TextBox 41"/>
          <p:cNvSpPr txBox="1"/>
          <p:nvPr/>
        </p:nvSpPr>
        <p:spPr>
          <a:xfrm>
            <a:off x="745236" y="4306824"/>
            <a:ext cx="7438644" cy="676656"/>
          </a:xfrm>
          <a:prstGeom prst="rect">
            <a:avLst/>
          </a:prstGeom>
          <a:noFill/>
        </p:spPr>
        <p:txBody>
          <a:bodyPr wrap="square" anchor="ctr" lIns="0" rIns="0" tIns="0" bIns="0">
            <a:spAutoFit/>
          </a:bodyPr>
          <a:lstStyle/>
          <a:p>
            <a:pPr algn="ctr"/>
            <a:r>
              <a:rPr sz="1200" b="1" i="0">
                <a:solidFill>
                  <a:srgbClr val="FFFFFF"/>
                </a:solidFill>
                <a:latin typeface="Outfit"/>
              </a:rPr>
              <a:t>Ce qui change depuis le chapitre Contexte : le gaspillage cesse d'être orphelin — il a un porteur nommé et un objectif partagé.</a:t>
            </a:r>
            <a:r>
              <a:rPr sz="1200" b="1" i="0">
                <a:solidFill>
                  <a:srgbClr val="00D2DD"/>
                </a:solidFill>
                <a:latin typeface="Outfit"/>
              </a:rPr>
              <a:t>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50">
                <a:solidFill>
                  <a:srgbClr val="0E2356"/>
                </a:solidFill>
                <a:latin typeface="Outfit"/>
              </a:rPr>
              <a:t>PROPOSITION   ·   </a:t>
            </a:r>
            <a:r>
              <a:rPr b="1" sz="1450">
                <a:solidFill>
                  <a:srgbClr val="0E2356"/>
                </a:solidFill>
                <a:latin typeface="Outfit"/>
              </a:rPr>
              <a:t>La cible IAP est une Platform Team — agents IA compris</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Team Topologies décrit 4 archétypes reliés entre eux, pas des silos : les 3 autres s'articulent tous autour de la Platform Team.</a:t>
            </a:r>
          </a:p>
        </p:txBody>
      </p:sp>
      <p:sp>
        <p:nvSpPr>
          <p:cNvPr id="4" name="Rounded Rectangle 3"/>
          <p:cNvSpPr/>
          <p:nvPr/>
        </p:nvSpPr>
        <p:spPr>
          <a:xfrm>
            <a:off x="562356"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Stream-aligned</a:t>
            </a:r>
          </a:p>
          <a:p>
            <a:pPr algn="l">
              <a:lnSpc>
                <a:spcPct val="110000"/>
              </a:lnSpc>
              <a:spcBef>
                <a:spcPts val="300"/>
              </a:spcBef>
            </a:pPr>
            <a:r>
              <a:rPr sz="750" b="0" i="0">
                <a:solidFill>
                  <a:srgbClr val="0E2356"/>
                </a:solidFill>
                <a:latin typeface="Outfit"/>
              </a:rPr>
              <a:t>Flux de valeur métier continu</a:t>
            </a:r>
          </a:p>
          <a:p>
            <a:pPr algn="l">
              <a:lnSpc>
                <a:spcPct val="110000"/>
              </a:lnSpc>
              <a:spcBef>
                <a:spcPts val="300"/>
              </a:spcBef>
            </a:pPr>
            <a:r>
              <a:rPr sz="700" b="0" i="1">
                <a:solidFill>
                  <a:srgbClr val="586586"/>
                </a:solidFill>
                <a:latin typeface="Outfit"/>
              </a:rPr>
              <a:t>Équipes applicatives clientes de la plateforme infra</a:t>
            </a:r>
          </a:p>
        </p:txBody>
      </p:sp>
      <p:sp>
        <p:nvSpPr>
          <p:cNvPr id="7" name="Rounded Rectangle 6"/>
          <p:cNvSpPr/>
          <p:nvPr/>
        </p:nvSpPr>
        <p:spPr>
          <a:xfrm>
            <a:off x="3224783"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52800"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Enabling</a:t>
            </a:r>
          </a:p>
          <a:p>
            <a:pPr algn="l">
              <a:lnSpc>
                <a:spcPct val="110000"/>
              </a:lnSpc>
              <a:spcBef>
                <a:spcPts val="300"/>
              </a:spcBef>
            </a:pPr>
            <a:r>
              <a:rPr sz="750" b="0" i="0">
                <a:solidFill>
                  <a:srgbClr val="0E2356"/>
                </a:solidFill>
                <a:latin typeface="Outfit"/>
              </a:rPr>
              <a:t>Montée en compétence temporaire</a:t>
            </a:r>
          </a:p>
          <a:p>
            <a:pPr algn="l">
              <a:lnSpc>
                <a:spcPct val="110000"/>
              </a:lnSpc>
              <a:spcBef>
                <a:spcPts val="300"/>
              </a:spcBef>
            </a:pPr>
            <a:r>
              <a:rPr sz="700" b="0" i="1">
                <a:solidFill>
                  <a:srgbClr val="586586"/>
                </a:solidFill>
                <a:latin typeface="Outfit"/>
              </a:rPr>
              <a:t>Posture du coach BMAD IAP — jamais permanente</a:t>
            </a:r>
          </a:p>
        </p:txBody>
      </p:sp>
      <p:sp>
        <p:nvSpPr>
          <p:cNvPr id="10" name="Rounded Rectangle 9"/>
          <p:cNvSpPr/>
          <p:nvPr/>
        </p:nvSpPr>
        <p:spPr>
          <a:xfrm>
            <a:off x="5887212"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87212"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15228"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Complicated-subsystem</a:t>
            </a:r>
          </a:p>
          <a:p>
            <a:pPr algn="l">
              <a:lnSpc>
                <a:spcPct val="110000"/>
              </a:lnSpc>
              <a:spcBef>
                <a:spcPts val="300"/>
              </a:spcBef>
            </a:pPr>
            <a:r>
              <a:rPr sz="750" b="0" i="0">
                <a:solidFill>
                  <a:srgbClr val="0E2356"/>
                </a:solidFill>
                <a:latin typeface="Outfit"/>
              </a:rPr>
              <a:t>Expertise pointue, compétences rares</a:t>
            </a:r>
          </a:p>
          <a:p>
            <a:pPr algn="l">
              <a:lnSpc>
                <a:spcPct val="110000"/>
              </a:lnSpc>
              <a:spcBef>
                <a:spcPts val="300"/>
              </a:spcBef>
            </a:pPr>
            <a:r>
              <a:rPr sz="700" b="0" i="1">
                <a:solidFill>
                  <a:srgbClr val="586586"/>
                </a:solidFill>
                <a:latin typeface="Outfit"/>
              </a:rPr>
              <a:t>Un vrai sous-système complexe, pas un produit plateforme classique</a:t>
            </a:r>
          </a:p>
        </p:txBody>
      </p:sp>
      <p:sp>
        <p:nvSpPr>
          <p:cNvPr id="13" name="Rectangle 12"/>
          <p:cNvSpPr/>
          <p:nvPr/>
        </p:nvSpPr>
        <p:spPr>
          <a:xfrm>
            <a:off x="1802130" y="2340864"/>
            <a:ext cx="5324856"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92071"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770126"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4499"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32553"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16927"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94982"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51756" y="2350008"/>
            <a:ext cx="25603" cy="29260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81678" y="2496311"/>
            <a:ext cx="365760" cy="146304"/>
          </a:xfrm>
          <a:prstGeom prst="rect">
            <a:avLst/>
          </a:prstGeom>
          <a:noFill/>
        </p:spPr>
        <p:txBody>
          <a:bodyPr wrap="square" anchor="ctr" lIns="0" rIns="0" tIns="0" bIns="0">
            <a:noAutofit/>
          </a:bodyPr>
          <a:lstStyle/>
          <a:p>
            <a:pPr algn="ctr"/>
            <a:r>
              <a:rPr sz="900" b="1" i="0">
                <a:solidFill>
                  <a:srgbClr val="0E2356"/>
                </a:solidFill>
                <a:latin typeface="Outfit"/>
              </a:rPr>
              <a:t>▾</a:t>
            </a:r>
          </a:p>
        </p:txBody>
      </p:sp>
      <p:sp>
        <p:nvSpPr>
          <p:cNvPr id="22" name="Rounded Rectangle 21"/>
          <p:cNvSpPr/>
          <p:nvPr/>
        </p:nvSpPr>
        <p:spPr>
          <a:xfrm>
            <a:off x="2818638" y="2642615"/>
            <a:ext cx="3291840" cy="914400"/>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92958" y="2642615"/>
            <a:ext cx="2743200" cy="914400"/>
          </a:xfrm>
          <a:prstGeom prst="rect">
            <a:avLst/>
          </a:prstGeom>
          <a:noFill/>
        </p:spPr>
        <p:txBody>
          <a:bodyPr wrap="square" anchor="ctr" lIns="0" rIns="0" tIns="0" bIns="0">
            <a:noAutofit/>
          </a:bodyPr>
          <a:lstStyle/>
          <a:p>
            <a:pPr algn="l">
              <a:lnSpc>
                <a:spcPct val="105000"/>
              </a:lnSpc>
            </a:pPr>
            <a:r>
              <a:rPr sz="1100" b="1" i="0">
                <a:solidFill>
                  <a:srgbClr val="FFFFFF"/>
                </a:solidFill>
                <a:latin typeface="Outfit"/>
              </a:rPr>
              <a:t>PLATFORM</a:t>
            </a:r>
          </a:p>
          <a:p>
            <a:pPr algn="l">
              <a:lnSpc>
                <a:spcPct val="115000"/>
              </a:lnSpc>
              <a:spcBef>
                <a:spcPts val="400"/>
              </a:spcBef>
            </a:pPr>
            <a:r>
              <a:rPr sz="850" b="0" i="0">
                <a:solidFill>
                  <a:srgbClr val="FFFFFF"/>
                </a:solidFill>
                <a:latin typeface="Outfit"/>
              </a:rPr>
              <a:t>Capacités en self-service (X-as-a-Service)</a:t>
            </a:r>
          </a:p>
          <a:p>
            <a:pPr algn="l">
              <a:lnSpc>
                <a:spcPct val="115000"/>
              </a:lnSpc>
              <a:spcBef>
                <a:spcPts val="400"/>
              </a:spcBef>
            </a:pPr>
            <a:r>
              <a:rPr sz="800" b="1" i="0">
                <a:solidFill>
                  <a:srgbClr val="FFFFFF"/>
                </a:solidFill>
                <a:latin typeface="Outfit"/>
              </a:rPr>
              <a:t>La cible même de la transformation IAP</a:t>
            </a:r>
          </a:p>
        </p:txBody>
      </p:sp>
      <p:sp>
        <p:nvSpPr>
          <p:cNvPr id="24" name="Rounded Rectangle 23"/>
          <p:cNvSpPr/>
          <p:nvPr/>
        </p:nvSpPr>
        <p:spPr>
          <a:xfrm>
            <a:off x="562356" y="3703320"/>
            <a:ext cx="7804404" cy="128016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 y="3703320"/>
            <a:ext cx="7402068" cy="1280160"/>
          </a:xfrm>
          <a:prstGeom prst="rect">
            <a:avLst/>
          </a:prstGeom>
          <a:noFill/>
        </p:spPr>
        <p:txBody>
          <a:bodyPr wrap="square" anchor="ctr" lIns="0" rIns="0" tIns="0" bIns="0">
            <a:noAutofit/>
          </a:bodyPr>
          <a:lstStyle/>
          <a:p>
            <a:pPr algn="l"/>
            <a:r>
              <a:rPr sz="900" b="1" i="0">
                <a:solidFill>
                  <a:srgbClr val="0E2356"/>
                </a:solidFill>
                <a:latin typeface="Outfit"/>
              </a:rPr>
              <a:t>Extension — les agents IA comme coéquipiers, et leur mise en œuvre (v1.7)</a:t>
            </a:r>
          </a:p>
          <a:p>
            <a:pPr algn="l">
              <a:lnSpc>
                <a:spcPct val="125000"/>
              </a:lnSpc>
              <a:spcBef>
                <a:spcPts val="300"/>
              </a:spcBef>
            </a:pPr>
            <a:r>
              <a:rPr sz="800" b="0" i="0">
                <a:solidFill>
                  <a:srgbClr val="0E2356"/>
                </a:solidFill>
                <a:latin typeface="Outfit"/>
              </a:rPr>
              <a:t>Un agent peut être membre d'une Stream-aligned team ou capacité exposée par la Platform Team. Aux 3 modes d'interaction Team Topologies — Collaboration, X-as-a-Service, Facilitating — s'ajoute un 4e candidat : Supervision. L'adoption suit la trajectoire Coach → Délégué (assisté → supervisé → délégué) : mandat écrit (ce que l'agent décide seul / ce qui escalade / qui répond de ses erreurs) avant tout palier au-delà de l'assisté — jamais un usage qui dérive à l'implicite.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Les données du client gouvernent le choix du modèle IA</a:t>
            </a:r>
          </a:p>
        </p:txBody>
      </p:sp>
      <p:sp>
        <p:nvSpPr>
          <p:cNvPr id="3" name="TextBox 2"/>
          <p:cNvSpPr txBox="1"/>
          <p:nvPr/>
        </p:nvSpPr>
        <p:spPr>
          <a:xfrm>
            <a:off x="562356" y="1051560"/>
            <a:ext cx="7804404" cy="320040"/>
          </a:xfrm>
          <a:prstGeom prst="rect">
            <a:avLst/>
          </a:prstGeom>
          <a:noFill/>
        </p:spPr>
        <p:txBody>
          <a:bodyPr wrap="square" anchor="t" lIns="0" rIns="0" tIns="0" bIns="0">
            <a:noAutofit/>
          </a:bodyPr>
          <a:lstStyle/>
          <a:p>
            <a:pPr algn="l">
              <a:lnSpc>
                <a:spcPct val="120000"/>
              </a:lnSpc>
            </a:pPr>
            <a:r>
              <a:rPr sz="900" b="0" i="0">
                <a:solidFill>
                  <a:srgbClr val="586586"/>
                </a:solidFill>
                <a:latin typeface="Outfit"/>
              </a:rPr>
              <a:t>Checkpoint toujours humain avant tout usage IA sur données client — iap-ai-data-confidentiality-gate, quel que soit le mode d'exécution retenu.</a:t>
            </a:r>
          </a:p>
        </p:txBody>
      </p:sp>
      <p:sp>
        <p:nvSpPr>
          <p:cNvPr id="4" name="Rounded Rectangle 3"/>
          <p:cNvSpPr/>
          <p:nvPr/>
        </p:nvSpPr>
        <p:spPr>
          <a:xfrm>
            <a:off x="562356" y="1463039"/>
            <a:ext cx="1234440" cy="56692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63039"/>
            <a:ext cx="1234440" cy="566928"/>
          </a:xfrm>
          <a:prstGeom prst="rect">
            <a:avLst/>
          </a:prstGeom>
          <a:noFill/>
        </p:spPr>
        <p:txBody>
          <a:bodyPr wrap="square" anchor="ctr" lIns="0" rIns="0" tIns="0" bIns="0">
            <a:noAutofit/>
          </a:bodyPr>
          <a:lstStyle/>
          <a:p>
            <a:pPr algn="ctr"/>
            <a:r>
              <a:rPr sz="900" b="1" i="0">
                <a:solidFill>
                  <a:srgbClr val="FFFFFF"/>
                </a:solidFill>
                <a:latin typeface="Outfit"/>
              </a:rPr>
              <a:t>D0 · Public</a:t>
            </a:r>
          </a:p>
        </p:txBody>
      </p:sp>
      <p:sp>
        <p:nvSpPr>
          <p:cNvPr id="6" name="TextBox 5"/>
          <p:cNvSpPr txBox="1"/>
          <p:nvPr/>
        </p:nvSpPr>
        <p:spPr>
          <a:xfrm>
            <a:off x="1979676" y="1463039"/>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Articles publics, docs méthodo</a:t>
            </a:r>
          </a:p>
        </p:txBody>
      </p:sp>
      <p:sp>
        <p:nvSpPr>
          <p:cNvPr id="7" name="TextBox 6"/>
          <p:cNvSpPr txBox="1"/>
          <p:nvPr/>
        </p:nvSpPr>
        <p:spPr>
          <a:xfrm>
            <a:off x="6003036" y="1463039"/>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externe possible</a:t>
            </a:r>
          </a:p>
        </p:txBody>
      </p:sp>
      <p:sp>
        <p:nvSpPr>
          <p:cNvPr id="8" name="Rounded Rectangle 7"/>
          <p:cNvSpPr/>
          <p:nvPr/>
        </p:nvSpPr>
        <p:spPr>
          <a:xfrm>
            <a:off x="562356" y="2121408"/>
            <a:ext cx="1234440" cy="566928"/>
          </a:xfrm>
          <a:prstGeom prst="roundRect">
            <a:avLst>
              <a:gd name="adj" fmla="val 50000"/>
            </a:avLst>
          </a:prstGeom>
          <a:solidFill>
            <a:srgbClr val="4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21408"/>
            <a:ext cx="1234440" cy="566928"/>
          </a:xfrm>
          <a:prstGeom prst="rect">
            <a:avLst/>
          </a:prstGeom>
          <a:noFill/>
        </p:spPr>
        <p:txBody>
          <a:bodyPr wrap="square" anchor="ctr" lIns="0" rIns="0" tIns="0" bIns="0">
            <a:noAutofit/>
          </a:bodyPr>
          <a:lstStyle/>
          <a:p>
            <a:pPr algn="ctr"/>
            <a:r>
              <a:rPr sz="900" b="1" i="0">
                <a:solidFill>
                  <a:srgbClr val="FFFFFF"/>
                </a:solidFill>
                <a:latin typeface="Outfit"/>
              </a:rPr>
              <a:t>D1 · Interne</a:t>
            </a:r>
          </a:p>
        </p:txBody>
      </p:sp>
      <p:sp>
        <p:nvSpPr>
          <p:cNvPr id="10" name="TextBox 9"/>
          <p:cNvSpPr txBox="1"/>
          <p:nvPr/>
        </p:nvSpPr>
        <p:spPr>
          <a:xfrm>
            <a:off x="1979676" y="2121408"/>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Organisation macro, catalogue anonymisé</a:t>
            </a:r>
          </a:p>
        </p:txBody>
      </p:sp>
      <p:sp>
        <p:nvSpPr>
          <p:cNvPr id="11" name="TextBox 10"/>
          <p:cNvSpPr txBox="1"/>
          <p:nvPr/>
        </p:nvSpPr>
        <p:spPr>
          <a:xfrm>
            <a:off x="6003036" y="2121408"/>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recommandée</a:t>
            </a:r>
          </a:p>
        </p:txBody>
      </p:sp>
      <p:sp>
        <p:nvSpPr>
          <p:cNvPr id="12" name="Rounded Rectangle 11"/>
          <p:cNvSpPr/>
          <p:nvPr/>
        </p:nvSpPr>
        <p:spPr>
          <a:xfrm>
            <a:off x="562356" y="2779776"/>
            <a:ext cx="1234440" cy="566928"/>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779776"/>
            <a:ext cx="1234440" cy="566928"/>
          </a:xfrm>
          <a:prstGeom prst="rect">
            <a:avLst/>
          </a:prstGeom>
          <a:noFill/>
        </p:spPr>
        <p:txBody>
          <a:bodyPr wrap="square" anchor="ctr" lIns="0" rIns="0" tIns="0" bIns="0">
            <a:noAutofit/>
          </a:bodyPr>
          <a:lstStyle/>
          <a:p>
            <a:pPr algn="ctr"/>
            <a:r>
              <a:rPr sz="900" b="1" i="0">
                <a:solidFill>
                  <a:srgbClr val="FFFFFF"/>
                </a:solidFill>
                <a:latin typeface="Outfit"/>
              </a:rPr>
              <a:t>D2 · Confidentiel</a:t>
            </a:r>
          </a:p>
        </p:txBody>
      </p:sp>
      <p:sp>
        <p:nvSpPr>
          <p:cNvPr id="14" name="TextBox 13"/>
          <p:cNvSpPr txBox="1"/>
          <p:nvPr/>
        </p:nvSpPr>
        <p:spPr>
          <a:xfrm>
            <a:off x="1979676" y="2779776"/>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Notes d'interview, reporting, portefeuille</a:t>
            </a:r>
          </a:p>
        </p:txBody>
      </p:sp>
      <p:sp>
        <p:nvSpPr>
          <p:cNvPr id="15" name="TextBox 14"/>
          <p:cNvSpPr txBox="1"/>
          <p:nvPr/>
        </p:nvSpPr>
        <p:spPr>
          <a:xfrm>
            <a:off x="6003036" y="2779776"/>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ou LLM privé</a:t>
            </a:r>
          </a:p>
        </p:txBody>
      </p:sp>
      <p:sp>
        <p:nvSpPr>
          <p:cNvPr id="16" name="Rounded Rectangle 15"/>
          <p:cNvSpPr/>
          <p:nvPr/>
        </p:nvSpPr>
        <p:spPr>
          <a:xfrm>
            <a:off x="562356" y="3438144"/>
            <a:ext cx="1234440" cy="566928"/>
          </a:xfrm>
          <a:prstGeom prst="roundRect">
            <a:avLst>
              <a:gd name="adj" fmla="val 50000"/>
            </a:avLst>
          </a:prstGeom>
          <a:solidFill>
            <a:srgbClr val="263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3438144"/>
            <a:ext cx="1234440" cy="566928"/>
          </a:xfrm>
          <a:prstGeom prst="rect">
            <a:avLst/>
          </a:prstGeom>
          <a:noFill/>
        </p:spPr>
        <p:txBody>
          <a:bodyPr wrap="square" anchor="ctr" lIns="0" rIns="0" tIns="0" bIns="0">
            <a:noAutofit/>
          </a:bodyPr>
          <a:lstStyle/>
          <a:p>
            <a:pPr algn="ctr"/>
            <a:r>
              <a:rPr sz="900" b="1" i="0">
                <a:solidFill>
                  <a:srgbClr val="FFFFFF"/>
                </a:solidFill>
                <a:latin typeface="Outfit"/>
              </a:rPr>
              <a:t>D3 · Restreint</a:t>
            </a:r>
          </a:p>
        </p:txBody>
      </p:sp>
      <p:sp>
        <p:nvSpPr>
          <p:cNvPr id="18" name="TextBox 17"/>
          <p:cNvSpPr txBox="1"/>
          <p:nvPr/>
        </p:nvSpPr>
        <p:spPr>
          <a:xfrm>
            <a:off x="1979676" y="3438144"/>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Tickets détaillés, logs, CMDB, IAM</a:t>
            </a:r>
          </a:p>
        </p:txBody>
      </p:sp>
      <p:sp>
        <p:nvSpPr>
          <p:cNvPr id="19" name="TextBox 18"/>
          <p:cNvSpPr txBox="1"/>
          <p:nvPr/>
        </p:nvSpPr>
        <p:spPr>
          <a:xfrm>
            <a:off x="6003036" y="3438144"/>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LLM local, contrôles forts</a:t>
            </a:r>
          </a:p>
        </p:txBody>
      </p:sp>
      <p:sp>
        <p:nvSpPr>
          <p:cNvPr id="20" name="Rounded Rectangle 19"/>
          <p:cNvSpPr/>
          <p:nvPr/>
        </p:nvSpPr>
        <p:spPr>
          <a:xfrm>
            <a:off x="562356" y="4096511"/>
            <a:ext cx="1234440" cy="5669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4096511"/>
            <a:ext cx="1234440" cy="566928"/>
          </a:xfrm>
          <a:prstGeom prst="rect">
            <a:avLst/>
          </a:prstGeom>
          <a:noFill/>
        </p:spPr>
        <p:txBody>
          <a:bodyPr wrap="square" anchor="ctr" lIns="0" rIns="0" tIns="0" bIns="0">
            <a:noAutofit/>
          </a:bodyPr>
          <a:lstStyle/>
          <a:p>
            <a:pPr algn="ctr"/>
            <a:r>
              <a:rPr sz="900" b="1" i="0">
                <a:solidFill>
                  <a:srgbClr val="FFFFFF"/>
                </a:solidFill>
                <a:latin typeface="Outfit"/>
              </a:rPr>
              <a:t>D4 · Critique</a:t>
            </a:r>
          </a:p>
        </p:txBody>
      </p:sp>
      <p:sp>
        <p:nvSpPr>
          <p:cNvPr id="22" name="TextBox 21"/>
          <p:cNvSpPr txBox="1"/>
          <p:nvPr/>
        </p:nvSpPr>
        <p:spPr>
          <a:xfrm>
            <a:off x="1979676" y="4096511"/>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Secrets de production, données réglementées</a:t>
            </a:r>
          </a:p>
        </p:txBody>
      </p:sp>
      <p:sp>
        <p:nvSpPr>
          <p:cNvPr id="23" name="TextBox 22"/>
          <p:cNvSpPr txBox="1"/>
          <p:nvPr/>
        </p:nvSpPr>
        <p:spPr>
          <a:xfrm>
            <a:off x="6003036" y="4096511"/>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Local/on-prem, sans IA générative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La prudence IA est un frein chiffré, pas un veto</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Prudence IA = confidentialité + besoin de supervision + criticité de la décision</a:t>
            </a:r>
          </a:p>
        </p:txBody>
      </p:sp>
      <p:sp>
        <p:nvSpPr>
          <p:cNvPr id="4" name="Rounded Rectangle 3"/>
          <p:cNvSpPr/>
          <p:nvPr/>
        </p:nvSpPr>
        <p:spPr>
          <a:xfrm>
            <a:off x="562356" y="1746504"/>
            <a:ext cx="7804404" cy="1330960"/>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671066"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71066"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7" name="TextBox 6"/>
          <p:cNvSpPr txBox="1"/>
          <p:nvPr/>
        </p:nvSpPr>
        <p:spPr>
          <a:xfrm>
            <a:off x="708660"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CONFIDENTIALITÉ</a:t>
            </a:r>
          </a:p>
        </p:txBody>
      </p:sp>
      <p:sp>
        <p:nvSpPr>
          <p:cNvPr id="8" name="TextBox 7"/>
          <p:cNvSpPr txBox="1"/>
          <p:nvPr/>
        </p:nvSpPr>
        <p:spPr>
          <a:xfrm>
            <a:off x="708660"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Reprend directement la classification du gate IA (D0-D4, slide précédente) — plus la donnée est sensible, plus le score monte.</a:t>
            </a:r>
          </a:p>
        </p:txBody>
      </p:sp>
      <p:sp>
        <p:nvSpPr>
          <p:cNvPr id="9" name="Rectangle 8"/>
          <p:cNvSpPr/>
          <p:nvPr/>
        </p:nvSpPr>
        <p:spPr>
          <a:xfrm>
            <a:off x="3163824"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9232"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1" name="Rounded Rectangle 10"/>
          <p:cNvSpPr/>
          <p:nvPr/>
        </p:nvSpPr>
        <p:spPr>
          <a:xfrm>
            <a:off x="4272534"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2534"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3" name="TextBox 12"/>
          <p:cNvSpPr txBox="1"/>
          <p:nvPr/>
        </p:nvSpPr>
        <p:spPr>
          <a:xfrm>
            <a:off x="3310128"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BESOIN DE SUPERVISION</a:t>
            </a:r>
          </a:p>
        </p:txBody>
      </p:sp>
      <p:sp>
        <p:nvSpPr>
          <p:cNvPr id="14" name="TextBox 13"/>
          <p:cNvSpPr txBox="1"/>
          <p:nvPr/>
        </p:nvSpPr>
        <p:spPr>
          <a:xfrm>
            <a:off x="3310128"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palier d'adoption visé (assisté / supervisé / délégué) — un agent encore au stade assisté pèse plus lourd qu'un agent déjà éprouvé.</a:t>
            </a:r>
          </a:p>
        </p:txBody>
      </p:sp>
      <p:sp>
        <p:nvSpPr>
          <p:cNvPr id="15" name="Rectangle 14"/>
          <p:cNvSpPr/>
          <p:nvPr/>
        </p:nvSpPr>
        <p:spPr>
          <a:xfrm>
            <a:off x="5765292"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00700"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7" name="Rounded Rectangle 16"/>
          <p:cNvSpPr/>
          <p:nvPr/>
        </p:nvSpPr>
        <p:spPr>
          <a:xfrm>
            <a:off x="6874002"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74002"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19" name="TextBox 18"/>
          <p:cNvSpPr txBox="1"/>
          <p:nvPr/>
        </p:nvSpPr>
        <p:spPr>
          <a:xfrm>
            <a:off x="5911596"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CRITICITÉ DE LA DÉCISION</a:t>
            </a:r>
          </a:p>
        </p:txBody>
      </p:sp>
      <p:sp>
        <p:nvSpPr>
          <p:cNvPr id="20" name="TextBox 19"/>
          <p:cNvSpPr txBox="1"/>
          <p:nvPr/>
        </p:nvSpPr>
        <p:spPr>
          <a:xfrm>
            <a:off x="5911596"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L'impact d'une erreur si l'agent se trompe seul — une recommandation réversible pèse moins qu'une décision irréversible.</a:t>
            </a:r>
          </a:p>
        </p:txBody>
      </p:sp>
      <p:sp>
        <p:nvSpPr>
          <p:cNvPr id="21" name="Rounded Rectangle 20"/>
          <p:cNvSpPr/>
          <p:nvPr/>
        </p:nvSpPr>
        <p:spPr>
          <a:xfrm>
            <a:off x="3230118" y="3205480"/>
            <a:ext cx="2468880"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30118" y="3205480"/>
            <a:ext cx="2468880" cy="292608"/>
          </a:xfrm>
          <a:prstGeom prst="rect">
            <a:avLst/>
          </a:prstGeom>
          <a:noFill/>
        </p:spPr>
        <p:txBody>
          <a:bodyPr wrap="square" anchor="ctr" lIns="0" rIns="0" tIns="0" bIns="0">
            <a:noAutofit/>
          </a:bodyPr>
          <a:lstStyle/>
          <a:p>
            <a:pPr algn="ctr"/>
            <a:r>
              <a:rPr sz="850" b="1" i="0">
                <a:solidFill>
                  <a:srgbClr val="FFFFFF"/>
                </a:solidFill>
                <a:latin typeface="Outfit"/>
              </a:rPr>
              <a:t>=  SCORE DE PRUDENCE IA</a:t>
            </a:r>
          </a:p>
        </p:txBody>
      </p:sp>
      <p:sp>
        <p:nvSpPr>
          <p:cNvPr id="23" name="Rounded Rectangle 22"/>
          <p:cNvSpPr/>
          <p:nvPr/>
        </p:nvSpPr>
        <p:spPr>
          <a:xfrm>
            <a:off x="562356" y="3626104"/>
            <a:ext cx="7804404" cy="107391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4" y="3626104"/>
            <a:ext cx="7402068" cy="1073912"/>
          </a:xfrm>
          <a:prstGeom prst="rect">
            <a:avLst/>
          </a:prstGeom>
          <a:noFill/>
        </p:spPr>
        <p:txBody>
          <a:bodyPr wrap="square" anchor="ctr" lIns="0" rIns="0" tIns="0" bIns="0">
            <a:noAutofit/>
          </a:bodyPr>
          <a:lstStyle/>
          <a:p>
            <a:pPr algn="l"/>
            <a:r>
              <a:rPr sz="900" b="1" i="0">
                <a:solidFill>
                  <a:srgbClr val="FFFFFF"/>
                </a:solidFill>
                <a:latin typeface="Outfit"/>
              </a:rPr>
              <a:t>Un frein, pas un veto automatique</a:t>
            </a:r>
          </a:p>
          <a:p>
            <a:pPr algn="l">
              <a:lnSpc>
                <a:spcPct val="125000"/>
              </a:lnSpc>
              <a:spcBef>
                <a:spcPts val="300"/>
              </a:spcBef>
            </a:pPr>
            <a:r>
              <a:rPr sz="800" b="0" i="0">
                <a:solidFill>
                  <a:srgbClr val="C7CBE0"/>
                </a:solidFill>
                <a:latin typeface="Outfit"/>
              </a:rPr>
              <a:t>Le score est SOUSTRAIT de impact × faisabilité — les trois scores sont ordinaux (un rang, pas une mesure absolue, même statut que le score d'impact) : un candidat facile et à fort impact peut quand même être écarté si sa prudence IA est trop haute. Le score ne remplace pas l'arbitrage humain : il le rend explicite. Avancer malgré un score élevé reste possible, mais se documente comme une décision à part entière (même discipline que la dérogation du gate DevOps).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Trois candidats d'agent, un par famille de gaspillage</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Démarches</a:t>
            </a:r>
          </a:p>
        </p:txBody>
      </p:sp>
      <p:sp>
        <p:nvSpPr>
          <p:cNvPr id="5" name="TextBox 4"/>
          <p:cNvSpPr txBox="1"/>
          <p:nvPr/>
        </p:nvSpPr>
        <p:spPr>
          <a:xfrm>
            <a:off x="562356" y="1051560"/>
            <a:ext cx="5518404" cy="310896"/>
          </a:xfrm>
          <a:prstGeom prst="rect">
            <a:avLst/>
          </a:prstGeom>
          <a:noFill/>
        </p:spPr>
        <p:txBody>
          <a:bodyPr wrap="square" anchor="t" lIns="0" rIns="0" tIns="0" bIns="0">
            <a:noAutofit/>
          </a:bodyPr>
          <a:lstStyle/>
          <a:p>
            <a:pPr algn="l">
              <a:lnSpc>
                <a:spcPct val="120000"/>
              </a:lnSpc>
            </a:pPr>
            <a:r>
              <a:rPr sz="900" b="0" i="1">
                <a:solidFill>
                  <a:srgbClr val="586586"/>
                </a:solidFill>
                <a:latin typeface="Outfit"/>
              </a:rPr>
              <a:t>Le gaspillage d'abord, l'IA ensuite : chaque candidat répond à une famille déjà cadrée au chapitre Douleur — aucun n'est inventé pour l'occasion.</a:t>
            </a:r>
          </a:p>
        </p:txBody>
      </p:sp>
      <p:sp>
        <p:nvSpPr>
          <p:cNvPr id="6" name="Gear 6 5"/>
          <p:cNvSpPr/>
          <p:nvPr/>
        </p:nvSpPr>
        <p:spPr>
          <a:xfrm>
            <a:off x="562356" y="1472184"/>
            <a:ext cx="274320" cy="27432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640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de triage de tickets</a:t>
            </a:r>
          </a:p>
          <a:p>
            <a:pPr algn="l">
              <a:spcBef>
                <a:spcPts val="100"/>
              </a:spcBef>
            </a:pPr>
            <a:r>
              <a:rPr sz="750" b="0" i="1">
                <a:solidFill>
                  <a:srgbClr val="586586"/>
                </a:solidFill>
                <a:latin typeface="Outfit"/>
              </a:rPr>
              <a:t>Gaspillage RUN</a:t>
            </a:r>
          </a:p>
        </p:txBody>
      </p:sp>
      <p:sp>
        <p:nvSpPr>
          <p:cNvPr id="8" name="Rectangle 7"/>
          <p:cNvSpPr/>
          <p:nvPr/>
        </p:nvSpPr>
        <p:spPr>
          <a:xfrm>
            <a:off x="56235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1947672"/>
            <a:ext cx="2455164" cy="146304"/>
          </a:xfrm>
          <a:prstGeom prst="rect">
            <a:avLst/>
          </a:prstGeom>
          <a:noFill/>
        </p:spPr>
        <p:txBody>
          <a:bodyPr wrap="square" anchor="t" lIns="0" rIns="0" tIns="0" bIns="0">
            <a:noAutofit/>
          </a:bodyPr>
          <a:lstStyle/>
          <a:p>
            <a:pPr algn="l"/>
            <a:r>
              <a:rPr sz="700" b="1" i="0">
                <a:solidFill>
                  <a:srgbClr val="0E2356"/>
                </a:solidFill>
                <a:latin typeface="Outfit"/>
              </a:rPr>
              <a:t>POURQUOI</a:t>
            </a:r>
          </a:p>
        </p:txBody>
      </p:sp>
      <p:sp>
        <p:nvSpPr>
          <p:cNvPr id="10" name="TextBox 9"/>
          <p:cNvSpPr txBox="1"/>
          <p:nvPr/>
        </p:nvSpPr>
        <p:spPr>
          <a:xfrm>
            <a:off x="562356" y="2093976"/>
            <a:ext cx="2455164" cy="417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Les mêmes tickets reviennent depuis des années et mobilisent des seniors sur du répétitif à faible valeur.</a:t>
            </a:r>
          </a:p>
        </p:txBody>
      </p:sp>
      <p:sp>
        <p:nvSpPr>
          <p:cNvPr id="11" name="TextBox 10"/>
          <p:cNvSpPr txBox="1"/>
          <p:nvPr/>
        </p:nvSpPr>
        <p:spPr>
          <a:xfrm>
            <a:off x="562356" y="2621280"/>
            <a:ext cx="2455164" cy="146304"/>
          </a:xfrm>
          <a:prstGeom prst="rect">
            <a:avLst/>
          </a:prstGeom>
          <a:noFill/>
        </p:spPr>
        <p:txBody>
          <a:bodyPr wrap="square" anchor="t" lIns="0" rIns="0" tIns="0" bIns="0">
            <a:noAutofit/>
          </a:bodyPr>
          <a:lstStyle/>
          <a:p>
            <a:pPr algn="l"/>
            <a:r>
              <a:rPr sz="700" b="1" i="0">
                <a:solidFill>
                  <a:srgbClr val="0E2356"/>
                </a:solidFill>
                <a:latin typeface="Outfit"/>
              </a:rPr>
              <a:t>CE QUE FAIT L'AGENT</a:t>
            </a:r>
          </a:p>
        </p:txBody>
      </p:sp>
      <p:sp>
        <p:nvSpPr>
          <p:cNvPr id="12" name="TextBox 11"/>
          <p:cNvSpPr txBox="1"/>
          <p:nvPr/>
        </p:nvSpPr>
        <p:spPr>
          <a:xfrm>
            <a:off x="562356" y="2767584"/>
            <a:ext cx="2455164" cy="671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Lit chaque ticket, le classe selon un runbook déjà documenté, le route vers la bonne équipe. Le processus doit être explicite AVANT l'agent — jamais l'inverse.</a:t>
            </a:r>
          </a:p>
        </p:txBody>
      </p:sp>
      <p:sp>
        <p:nvSpPr>
          <p:cNvPr id="13" name="TextBox 12"/>
          <p:cNvSpPr txBox="1"/>
          <p:nvPr/>
        </p:nvSpPr>
        <p:spPr>
          <a:xfrm>
            <a:off x="562356" y="3548888"/>
            <a:ext cx="2455164" cy="146304"/>
          </a:xfrm>
          <a:prstGeom prst="rect">
            <a:avLst/>
          </a:prstGeom>
          <a:noFill/>
        </p:spPr>
        <p:txBody>
          <a:bodyPr wrap="square" anchor="t" lIns="0" rIns="0" tIns="0" bIns="0">
            <a:noAutofit/>
          </a:bodyPr>
          <a:lstStyle/>
          <a:p>
            <a:pPr algn="l"/>
            <a:r>
              <a:rPr sz="700" b="1" i="0">
                <a:solidFill>
                  <a:srgbClr val="0E2356"/>
                </a:solidFill>
                <a:latin typeface="Outfit"/>
              </a:rPr>
              <a:t>GAIN</a:t>
            </a:r>
          </a:p>
        </p:txBody>
      </p:sp>
      <p:sp>
        <p:nvSpPr>
          <p:cNvPr id="14" name="TextBox 13"/>
          <p:cNvSpPr txBox="1"/>
          <p:nvPr/>
        </p:nvSpPr>
        <p:spPr>
          <a:xfrm>
            <a:off x="562356" y="3695192"/>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Jusqu'à 15 tickets/mois sans intervention humaine, temps de triage divisé par deux (cas nominal du cadrage).</a:t>
            </a:r>
          </a:p>
        </p:txBody>
      </p:sp>
      <p:sp>
        <p:nvSpPr>
          <p:cNvPr id="15" name="Cloud 14"/>
          <p:cNvSpPr/>
          <p:nvPr/>
        </p:nvSpPr>
        <p:spPr>
          <a:xfrm>
            <a:off x="3236976" y="1472184"/>
            <a:ext cx="274320" cy="274320"/>
          </a:xfrm>
          <a:prstGeom prst="cloud">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de veille FinOps</a:t>
            </a:r>
          </a:p>
          <a:p>
            <a:pPr algn="l">
              <a:spcBef>
                <a:spcPts val="100"/>
              </a:spcBef>
            </a:pPr>
            <a:r>
              <a:rPr sz="750" b="0" i="1">
                <a:solidFill>
                  <a:srgbClr val="586586"/>
                </a:solidFill>
                <a:latin typeface="Outfit"/>
              </a:rPr>
              <a:t>Gaspillage Financier</a:t>
            </a:r>
          </a:p>
        </p:txBody>
      </p:sp>
      <p:sp>
        <p:nvSpPr>
          <p:cNvPr id="17" name="Rectangle 16"/>
          <p:cNvSpPr/>
          <p:nvPr/>
        </p:nvSpPr>
        <p:spPr>
          <a:xfrm>
            <a:off x="323697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36976" y="1947672"/>
            <a:ext cx="2455164" cy="146304"/>
          </a:xfrm>
          <a:prstGeom prst="rect">
            <a:avLst/>
          </a:prstGeom>
          <a:noFill/>
        </p:spPr>
        <p:txBody>
          <a:bodyPr wrap="square" anchor="t" lIns="0" rIns="0" tIns="0" bIns="0">
            <a:noAutofit/>
          </a:bodyPr>
          <a:lstStyle/>
          <a:p>
            <a:pPr algn="l"/>
            <a:r>
              <a:rPr sz="700" b="1" i="0">
                <a:solidFill>
                  <a:srgbClr val="0E2356"/>
                </a:solidFill>
                <a:latin typeface="Outfit"/>
              </a:rPr>
              <a:t>POURQUOI</a:t>
            </a:r>
          </a:p>
        </p:txBody>
      </p:sp>
      <p:sp>
        <p:nvSpPr>
          <p:cNvPr id="19" name="TextBox 18"/>
          <p:cNvSpPr txBox="1"/>
          <p:nvPr/>
        </p:nvSpPr>
        <p:spPr>
          <a:xfrm>
            <a:off x="3236976" y="2093976"/>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Les ressources cloud surdimensionnées ou orphelines n'apparaissent qu'aux audits ponctuels — le gaspillage s'accumule entre deux revues.</a:t>
            </a:r>
          </a:p>
        </p:txBody>
      </p:sp>
      <p:sp>
        <p:nvSpPr>
          <p:cNvPr id="20" name="TextBox 19"/>
          <p:cNvSpPr txBox="1"/>
          <p:nvPr/>
        </p:nvSpPr>
        <p:spPr>
          <a:xfrm>
            <a:off x="3236976" y="2748280"/>
            <a:ext cx="2455164" cy="146304"/>
          </a:xfrm>
          <a:prstGeom prst="rect">
            <a:avLst/>
          </a:prstGeom>
          <a:noFill/>
        </p:spPr>
        <p:txBody>
          <a:bodyPr wrap="square" anchor="t" lIns="0" rIns="0" tIns="0" bIns="0">
            <a:noAutofit/>
          </a:bodyPr>
          <a:lstStyle/>
          <a:p>
            <a:pPr algn="l"/>
            <a:r>
              <a:rPr sz="700" b="1" i="0">
                <a:solidFill>
                  <a:srgbClr val="0E2356"/>
                </a:solidFill>
                <a:latin typeface="Outfit"/>
              </a:rPr>
              <a:t>CE QUE FAIT L'AGENT</a:t>
            </a:r>
          </a:p>
        </p:txBody>
      </p:sp>
      <p:sp>
        <p:nvSpPr>
          <p:cNvPr id="21" name="TextBox 20"/>
          <p:cNvSpPr txBox="1"/>
          <p:nvPr/>
        </p:nvSpPr>
        <p:spPr>
          <a:xfrm>
            <a:off x="3236976" y="2894584"/>
            <a:ext cx="2455164" cy="671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Scanne en continu la CMDB et la facturation, repère l'inactif et le surdimensionné, propose une liste à valider — ne décommissionne jamais seul.</a:t>
            </a:r>
          </a:p>
        </p:txBody>
      </p:sp>
      <p:sp>
        <p:nvSpPr>
          <p:cNvPr id="22" name="TextBox 21"/>
          <p:cNvSpPr txBox="1"/>
          <p:nvPr/>
        </p:nvSpPr>
        <p:spPr>
          <a:xfrm>
            <a:off x="3236976" y="3675887"/>
            <a:ext cx="2455164" cy="146304"/>
          </a:xfrm>
          <a:prstGeom prst="rect">
            <a:avLst/>
          </a:prstGeom>
          <a:noFill/>
        </p:spPr>
        <p:txBody>
          <a:bodyPr wrap="square" anchor="t" lIns="0" rIns="0" tIns="0" bIns="0">
            <a:noAutofit/>
          </a:bodyPr>
          <a:lstStyle/>
          <a:p>
            <a:pPr algn="l"/>
            <a:r>
              <a:rPr sz="700" b="1" i="0">
                <a:solidFill>
                  <a:srgbClr val="0E2356"/>
                </a:solidFill>
                <a:latin typeface="Outfit"/>
              </a:rPr>
              <a:t>GAIN</a:t>
            </a:r>
          </a:p>
        </p:txBody>
      </p:sp>
      <p:sp>
        <p:nvSpPr>
          <p:cNvPr id="23" name="TextBox 22"/>
          <p:cNvSpPr txBox="1"/>
          <p:nvPr/>
        </p:nvSpPr>
        <p:spPr>
          <a:xfrm>
            <a:off x="3236976" y="3822191"/>
            <a:ext cx="2455164" cy="290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Coût récupéré directement mesurable — un KPI de mission déjà cadré.</a:t>
            </a:r>
          </a:p>
        </p:txBody>
      </p:sp>
      <p:sp>
        <p:nvSpPr>
          <p:cNvPr id="24" name="Folded Corner 23"/>
          <p:cNvSpPr/>
          <p:nvPr/>
        </p:nvSpPr>
        <p:spPr>
          <a:xfrm>
            <a:off x="5911596" y="1472184"/>
            <a:ext cx="274320" cy="274320"/>
          </a:xfrm>
          <a:prstGeom prst="foldedCorner">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9564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documentaire (RAG)</a:t>
            </a:r>
          </a:p>
          <a:p>
            <a:pPr algn="l">
              <a:spcBef>
                <a:spcPts val="100"/>
              </a:spcBef>
            </a:pPr>
            <a:r>
              <a:rPr sz="750" b="0" i="1">
                <a:solidFill>
                  <a:srgbClr val="586586"/>
                </a:solidFill>
                <a:latin typeface="Outfit"/>
              </a:rPr>
              <a:t>Gaspillage Cognitif</a:t>
            </a:r>
          </a:p>
        </p:txBody>
      </p:sp>
      <p:sp>
        <p:nvSpPr>
          <p:cNvPr id="26" name="Rectangle 25"/>
          <p:cNvSpPr/>
          <p:nvPr/>
        </p:nvSpPr>
        <p:spPr>
          <a:xfrm>
            <a:off x="591159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11596" y="1947672"/>
            <a:ext cx="2455164" cy="146304"/>
          </a:xfrm>
          <a:prstGeom prst="rect">
            <a:avLst/>
          </a:prstGeom>
          <a:noFill/>
        </p:spPr>
        <p:txBody>
          <a:bodyPr wrap="square" anchor="t" lIns="0" rIns="0" tIns="0" bIns="0">
            <a:noAutofit/>
          </a:bodyPr>
          <a:lstStyle/>
          <a:p>
            <a:pPr algn="l"/>
            <a:r>
              <a:rPr sz="700" b="1" i="0">
                <a:solidFill>
                  <a:srgbClr val="0E2356"/>
                </a:solidFill>
                <a:latin typeface="Outfit"/>
              </a:rPr>
              <a:t>POURQUOI</a:t>
            </a:r>
          </a:p>
        </p:txBody>
      </p:sp>
      <p:sp>
        <p:nvSpPr>
          <p:cNvPr id="28" name="TextBox 27"/>
          <p:cNvSpPr txBox="1"/>
          <p:nvPr/>
        </p:nvSpPr>
        <p:spPr>
          <a:xfrm>
            <a:off x="5911596" y="2093976"/>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Trop d'outils, procédures dispersées : retrouver l'information ralentit les équipes et sollicite toujours les mêmes experts.</a:t>
            </a:r>
          </a:p>
        </p:txBody>
      </p:sp>
      <p:sp>
        <p:nvSpPr>
          <p:cNvPr id="29" name="TextBox 28"/>
          <p:cNvSpPr txBox="1"/>
          <p:nvPr/>
        </p:nvSpPr>
        <p:spPr>
          <a:xfrm>
            <a:off x="5911596" y="2748280"/>
            <a:ext cx="2455164" cy="146304"/>
          </a:xfrm>
          <a:prstGeom prst="rect">
            <a:avLst/>
          </a:prstGeom>
          <a:noFill/>
        </p:spPr>
        <p:txBody>
          <a:bodyPr wrap="square" anchor="t" lIns="0" rIns="0" tIns="0" bIns="0">
            <a:noAutofit/>
          </a:bodyPr>
          <a:lstStyle/>
          <a:p>
            <a:pPr algn="l"/>
            <a:r>
              <a:rPr sz="700" b="1" i="0">
                <a:solidFill>
                  <a:srgbClr val="0E2356"/>
                </a:solidFill>
                <a:latin typeface="Outfit"/>
              </a:rPr>
              <a:t>CE QUE FAIT L'AGENT</a:t>
            </a:r>
          </a:p>
        </p:txBody>
      </p:sp>
      <p:sp>
        <p:nvSpPr>
          <p:cNvPr id="30" name="TextBox 29"/>
          <p:cNvSpPr txBox="1"/>
          <p:nvPr/>
        </p:nvSpPr>
        <p:spPr>
          <a:xfrm>
            <a:off x="5911596" y="2894584"/>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Indexe runbooks, wikis et tickets résolus, répond aux questions fréquentes avec la source citée — jamais de réponse sans preuve.</a:t>
            </a:r>
          </a:p>
        </p:txBody>
      </p:sp>
      <p:sp>
        <p:nvSpPr>
          <p:cNvPr id="31" name="TextBox 30"/>
          <p:cNvSpPr txBox="1"/>
          <p:nvPr/>
        </p:nvSpPr>
        <p:spPr>
          <a:xfrm>
            <a:off x="5911596" y="3548888"/>
            <a:ext cx="2455164" cy="146304"/>
          </a:xfrm>
          <a:prstGeom prst="rect">
            <a:avLst/>
          </a:prstGeom>
          <a:noFill/>
        </p:spPr>
        <p:txBody>
          <a:bodyPr wrap="square" anchor="t" lIns="0" rIns="0" tIns="0" bIns="0">
            <a:noAutofit/>
          </a:bodyPr>
          <a:lstStyle/>
          <a:p>
            <a:pPr algn="l"/>
            <a:r>
              <a:rPr sz="700" b="1" i="0">
                <a:solidFill>
                  <a:srgbClr val="0E2356"/>
                </a:solidFill>
                <a:latin typeface="Outfit"/>
              </a:rPr>
              <a:t>GAIN</a:t>
            </a:r>
          </a:p>
        </p:txBody>
      </p:sp>
      <p:sp>
        <p:nvSpPr>
          <p:cNvPr id="32" name="TextBox 31"/>
          <p:cNvSpPr txBox="1"/>
          <p:nvPr/>
        </p:nvSpPr>
        <p:spPr>
          <a:xfrm>
            <a:off x="5911596" y="3695192"/>
            <a:ext cx="2455164" cy="417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Charge cognitive réduite, onboarding plus rapide, moins d'interruptions des experts seniors.</a:t>
            </a:r>
          </a:p>
        </p:txBody>
      </p:sp>
      <p:sp>
        <p:nvSpPr>
          <p:cNvPr id="33" name="TextBox 32"/>
          <p:cNvSpPr txBox="1"/>
          <p:nvPr/>
        </p:nvSpPr>
        <p:spPr>
          <a:xfrm>
            <a:off x="562356" y="4672584"/>
            <a:ext cx="7804404" cy="31089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Ces 3 candidats restent soumis au scoring et au gate confidentialité (tous deux dans ce chapitre) avant toute décision — des exemples illustratifs, pas une liste actée.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IA   ·   </a:t>
            </a:r>
            <a:r>
              <a:rPr b="1" sz="1200">
                <a:solidFill>
                  <a:srgbClr val="0E2356"/>
                </a:solidFill>
                <a:latin typeface="Outfit"/>
              </a:rPr>
              <a:t>Export markdown — agentic ou documentation, selon le contexte client (piste à valider)</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Démarches</a:t>
            </a:r>
          </a:p>
        </p:txBody>
      </p:sp>
      <p:sp>
        <p:nvSpPr>
          <p:cNvPr id="5" name="TextBox 4"/>
          <p:cNvSpPr txBox="1"/>
          <p:nvPr/>
        </p:nvSpPr>
        <p:spPr>
          <a:xfrm>
            <a:off x="562356" y="1051560"/>
            <a:ext cx="5518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Pas un 5e deck PPT : un livrable markdown pour l'équipe qui exécute (versionnable, committable) — les 4 decks du chapitre Démarches restent pour sponsor et comité de pilotage.</a:t>
            </a:r>
          </a:p>
        </p:txBody>
      </p:sp>
      <p:sp>
        <p:nvSpPr>
          <p:cNvPr id="6" name="Rounded Rectangle 5"/>
          <p:cNvSpPr/>
          <p:nvPr/>
        </p:nvSpPr>
        <p:spPr>
          <a:xfrm>
            <a:off x="562356"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DOCUMENTATION-FIRST</a:t>
            </a:r>
          </a:p>
        </p:txBody>
      </p:sp>
      <p:sp>
        <p:nvSpPr>
          <p:cNvPr id="9" name="TextBox 8"/>
          <p:cNvSpPr txBox="1"/>
          <p:nvPr/>
        </p:nvSpPr>
        <p:spPr>
          <a:xfrm>
            <a:off x="745236"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[0]-[1], données D3-D4 sans LLM local, ou score de gaspillage faible.</a:t>
            </a:r>
          </a:p>
        </p:txBody>
      </p:sp>
      <p:sp>
        <p:nvSpPr>
          <p:cNvPr id="10" name="TextBox 9"/>
          <p:cNvSpPr txBox="1"/>
          <p:nvPr/>
        </p:nvSpPr>
        <p:spPr>
          <a:xfrm>
            <a:off x="745236"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Runbook du processus — iap-adoption-plan</a:t>
            </a:r>
          </a:p>
        </p:txBody>
      </p:sp>
      <p:sp>
        <p:nvSpPr>
          <p:cNvPr id="11" name="Rounded Rectangle 10"/>
          <p:cNvSpPr/>
          <p:nvPr/>
        </p:nvSpPr>
        <p:spPr>
          <a:xfrm>
            <a:off x="4555998"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5998"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AGENTIC-IMPLEMENTATION</a:t>
            </a:r>
          </a:p>
        </p:txBody>
      </p:sp>
      <p:sp>
        <p:nvSpPr>
          <p:cNvPr id="14" name="TextBox 13"/>
          <p:cNvSpPr txBox="1"/>
          <p:nvPr/>
        </p:nvSpPr>
        <p:spPr>
          <a:xfrm>
            <a:off x="4738878"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[2]-[3], données D0-D2 (ou D3-D4 avec LLM local), score positif.</a:t>
            </a:r>
          </a:p>
        </p:txBody>
      </p:sp>
      <p:sp>
        <p:nvSpPr>
          <p:cNvPr id="15" name="TextBox 14"/>
          <p:cNvSpPr txBox="1"/>
          <p:nvPr/>
        </p:nvSpPr>
        <p:spPr>
          <a:xfrm>
            <a:off x="4738878"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Plan d'implémentation agentic — iap-agentic-opportunities</a:t>
            </a:r>
          </a:p>
        </p:txBody>
      </p:sp>
      <p:sp>
        <p:nvSpPr>
          <p:cNvPr id="16" name="Rounded Rectangle 15"/>
          <p:cNvSpPr/>
          <p:nvPr/>
        </p:nvSpPr>
        <p:spPr>
          <a:xfrm>
            <a:off x="562356"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PILIER AGENTIC READINESS</a:t>
            </a:r>
          </a:p>
          <a:p>
            <a:pPr algn="l">
              <a:lnSpc>
                <a:spcPct val="115000"/>
              </a:lnSpc>
              <a:spcBef>
                <a:spcPts val="200"/>
              </a:spcBef>
            </a:pPr>
            <a:r>
              <a:rPr sz="700" b="0" i="0">
                <a:solidFill>
                  <a:srgbClr val="586586"/>
                </a:solidFill>
                <a:latin typeface="Outfit"/>
              </a:rPr>
              <a:t>[0-1] → documentation · [2-3] → agentic</a:t>
            </a:r>
          </a:p>
        </p:txBody>
      </p:sp>
      <p:sp>
        <p:nvSpPr>
          <p:cNvPr id="18" name="Rounded Rectangle 17"/>
          <p:cNvSpPr/>
          <p:nvPr/>
        </p:nvSpPr>
        <p:spPr>
          <a:xfrm>
            <a:off x="3224783"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34512"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DONNÉES (GATE IA)</a:t>
            </a:r>
          </a:p>
          <a:p>
            <a:pPr algn="l">
              <a:lnSpc>
                <a:spcPct val="115000"/>
              </a:lnSpc>
              <a:spcBef>
                <a:spcPts val="200"/>
              </a:spcBef>
            </a:pPr>
            <a:r>
              <a:rPr sz="700" b="0" i="0">
                <a:solidFill>
                  <a:srgbClr val="586586"/>
                </a:solidFill>
                <a:latin typeface="Outfit"/>
              </a:rPr>
              <a:t>D3-D4 sans LLM local → doc · D0-D2 → agentic</a:t>
            </a:r>
          </a:p>
        </p:txBody>
      </p:sp>
      <p:sp>
        <p:nvSpPr>
          <p:cNvPr id="20" name="Rounded Rectangle 19"/>
          <p:cNvSpPr/>
          <p:nvPr/>
        </p:nvSpPr>
        <p:spPr>
          <a:xfrm>
            <a:off x="5887212"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96940"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SCORE DE GASPILLAGE</a:t>
            </a:r>
          </a:p>
          <a:p>
            <a:pPr algn="l">
              <a:lnSpc>
                <a:spcPct val="115000"/>
              </a:lnSpc>
              <a:spcBef>
                <a:spcPts val="200"/>
              </a:spcBef>
            </a:pPr>
            <a:r>
              <a:rPr sz="700" b="0" i="0">
                <a:solidFill>
                  <a:srgbClr val="586586"/>
                </a:solidFill>
                <a:latin typeface="Outfit"/>
              </a:rPr>
              <a:t>faible/négatif → doc · positif → agentic</a:t>
            </a:r>
          </a:p>
        </p:txBody>
      </p:sp>
      <p:sp>
        <p:nvSpPr>
          <p:cNvPr id="22" name="Rounded Rectangle 21"/>
          <p:cNvSpPr/>
          <p:nvPr/>
        </p:nvSpPr>
        <p:spPr>
          <a:xfrm>
            <a:off x="562356" y="3749040"/>
            <a:ext cx="7804404" cy="9601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 y="3749040"/>
            <a:ext cx="7402068" cy="960120"/>
          </a:xfrm>
          <a:prstGeom prst="rect">
            <a:avLst/>
          </a:prstGeom>
          <a:noFill/>
        </p:spPr>
        <p:txBody>
          <a:bodyPr wrap="square" anchor="ctr" lIns="0" rIns="0" tIns="0" bIns="0">
            <a:noAutofit/>
          </a:bodyPr>
          <a:lstStyle/>
          <a:p>
            <a:pPr algn="l"/>
            <a:r>
              <a:rPr sz="900" b="1" i="0">
                <a:solidFill>
                  <a:srgbClr val="FFFFFF"/>
                </a:solidFill>
                <a:latin typeface="Outfit"/>
              </a:rPr>
              <a:t>Pas un aller simple</a:t>
            </a:r>
          </a:p>
          <a:p>
            <a:pPr algn="l">
              <a:lnSpc>
                <a:spcPct val="125000"/>
              </a:lnSpc>
              <a:spcBef>
                <a:spcPts val="400"/>
              </a:spcBef>
            </a:pPr>
            <a:r>
              <a:rPr sz="800" b="0" i="0">
                <a:solidFill>
                  <a:srgbClr val="C7CBE0"/>
                </a:solidFill>
                <a:latin typeface="Outfit"/>
              </a:rPr>
              <a:t>À chaque boucle de réévaluation, le même fichier est amendé — jamais dupliqué — sur le modèle du registre de risques IA : un client documentation-first peut basculer en agentic si son Agentic Readiness progresse, et inversement en cas de perte de compétence avérée.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Démarches</a:t>
            </a:r>
          </a:p>
          <a:p>
            <a:r>
              <a:rPr sz="1050" i="1">
                <a:solidFill>
                  <a:srgbClr val="586586"/>
                </a:solidFill>
                <a:latin typeface="Outfit"/>
              </a:rPr>
              <a:t>La trajectoire et ses livrables par phase, le fil humain, le schéma de fonctionnement, l'inventaire des agents et l'outillage IAP.</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07</a:t>
            </a:r>
          </a:p>
        </p:txBody>
      </p:sp>
      <p:pic>
        <p:nvPicPr>
          <p:cNvPr id="4" name="Picture 3" descr="canyo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Trois temps et une boucle — chaque phase produit son livrable de décision</a:t>
            </a:r>
          </a:p>
        </p:txBody>
      </p:sp>
      <p:sp>
        <p:nvSpPr>
          <p:cNvPr id="3" name="Rectangle 2"/>
          <p:cNvSpPr/>
          <p:nvPr/>
        </p:nvSpPr>
        <p:spPr>
          <a:xfrm>
            <a:off x="813816" y="1383487"/>
            <a:ext cx="7301484" cy="21945"/>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17866"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17866"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①</a:t>
            </a:r>
          </a:p>
        </p:txBody>
      </p:sp>
      <p:sp>
        <p:nvSpPr>
          <p:cNvPr id="6" name="TextBox 5"/>
          <p:cNvSpPr txBox="1"/>
          <p:nvPr/>
        </p:nvSpPr>
        <p:spPr>
          <a:xfrm>
            <a:off x="562356"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Assessment flash</a:t>
            </a:r>
          </a:p>
        </p:txBody>
      </p:sp>
      <p:sp>
        <p:nvSpPr>
          <p:cNvPr id="7" name="Rounded Rectangle 6"/>
          <p:cNvSpPr/>
          <p:nvPr/>
        </p:nvSpPr>
        <p:spPr>
          <a:xfrm>
            <a:off x="966406"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6406"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1–2 sem.</a:t>
            </a:r>
          </a:p>
        </p:txBody>
      </p:sp>
      <p:sp>
        <p:nvSpPr>
          <p:cNvPr id="9" name="TextBox 8"/>
          <p:cNvSpPr txBox="1"/>
          <p:nvPr/>
        </p:nvSpPr>
        <p:spPr>
          <a:xfrm>
            <a:off x="608076"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 Schéma de fonctionnement déjà cadré (Collecte → Diagnostic → Conception → Restitution).</a:t>
            </a:r>
          </a:p>
        </p:txBody>
      </p:sp>
      <p:sp>
        <p:nvSpPr>
          <p:cNvPr id="10" name="Rounded Rectangle 9"/>
          <p:cNvSpPr/>
          <p:nvPr/>
        </p:nvSpPr>
        <p:spPr>
          <a:xfrm>
            <a:off x="562356"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exécutif de restitution</a:t>
            </a:r>
          </a:p>
          <a:p>
            <a:pPr algn="ctr">
              <a:lnSpc>
                <a:spcPct val="110000"/>
              </a:lnSpc>
              <a:spcBef>
                <a:spcPts val="300"/>
              </a:spcBef>
            </a:pPr>
            <a:r>
              <a:rPr sz="650" b="0" i="1">
                <a:solidFill>
                  <a:srgbClr val="586586"/>
                </a:solidFill>
                <a:latin typeface="Outfit"/>
              </a:rPr>
              <a:t>Sponsor · comité de lancement</a:t>
            </a:r>
          </a:p>
        </p:txBody>
      </p:sp>
      <p:sp>
        <p:nvSpPr>
          <p:cNvPr id="12" name="Rounded Rectangle 11"/>
          <p:cNvSpPr/>
          <p:nvPr/>
        </p:nvSpPr>
        <p:spPr>
          <a:xfrm>
            <a:off x="3214687"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14687"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②</a:t>
            </a:r>
          </a:p>
        </p:txBody>
      </p:sp>
      <p:sp>
        <p:nvSpPr>
          <p:cNvPr id="14" name="TextBox 13"/>
          <p:cNvSpPr txBox="1"/>
          <p:nvPr/>
        </p:nvSpPr>
        <p:spPr>
          <a:xfrm>
            <a:off x="2559177"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Premier déploiement</a:t>
            </a:r>
          </a:p>
        </p:txBody>
      </p:sp>
      <p:sp>
        <p:nvSpPr>
          <p:cNvPr id="15" name="Rounded Rectangle 14"/>
          <p:cNvSpPr/>
          <p:nvPr/>
        </p:nvSpPr>
        <p:spPr>
          <a:xfrm>
            <a:off x="2963227"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3227"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4–5 sem.</a:t>
            </a:r>
          </a:p>
        </p:txBody>
      </p:sp>
      <p:sp>
        <p:nvSpPr>
          <p:cNvPr id="17" name="TextBox 16"/>
          <p:cNvSpPr txBox="1"/>
          <p:nvPr/>
        </p:nvSpPr>
        <p:spPr>
          <a:xfrm>
            <a:off x="2604897"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1-2 équipes pilotes, mode Coach dominant. Piste agent IA (si retenue) : qualifier, cadrer, mandater.</a:t>
            </a:r>
          </a:p>
        </p:txBody>
      </p:sp>
      <p:sp>
        <p:nvSpPr>
          <p:cNvPr id="18" name="Rounded Rectangle 17"/>
          <p:cNvSpPr/>
          <p:nvPr/>
        </p:nvSpPr>
        <p:spPr>
          <a:xfrm>
            <a:off x="2559177"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0617"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plan de déploiement · export markdown</a:t>
            </a:r>
          </a:p>
          <a:p>
            <a:pPr algn="ctr">
              <a:lnSpc>
                <a:spcPct val="110000"/>
              </a:lnSpc>
              <a:spcBef>
                <a:spcPts val="300"/>
              </a:spcBef>
            </a:pPr>
            <a:r>
              <a:rPr sz="650" b="0" i="1">
                <a:solidFill>
                  <a:srgbClr val="586586"/>
                </a:solidFill>
                <a:latin typeface="Outfit"/>
              </a:rPr>
              <a:t>Équipes pilotes · management</a:t>
            </a:r>
          </a:p>
        </p:txBody>
      </p:sp>
      <p:sp>
        <p:nvSpPr>
          <p:cNvPr id="20" name="Rounded Rectangle 19"/>
          <p:cNvSpPr/>
          <p:nvPr/>
        </p:nvSpPr>
        <p:spPr>
          <a:xfrm>
            <a:off x="5211508"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1508"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③</a:t>
            </a:r>
          </a:p>
        </p:txBody>
      </p:sp>
      <p:sp>
        <p:nvSpPr>
          <p:cNvPr id="22" name="TextBox 21"/>
          <p:cNvSpPr txBox="1"/>
          <p:nvPr/>
        </p:nvSpPr>
        <p:spPr>
          <a:xfrm>
            <a:off x="4555998"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Implémentation itérative</a:t>
            </a:r>
          </a:p>
        </p:txBody>
      </p:sp>
      <p:sp>
        <p:nvSpPr>
          <p:cNvPr id="23" name="Rounded Rectangle 22"/>
          <p:cNvSpPr/>
          <p:nvPr/>
        </p:nvSpPr>
        <p:spPr>
          <a:xfrm>
            <a:off x="4960048"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0048"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 T+6-12 mois</a:t>
            </a:r>
          </a:p>
        </p:txBody>
      </p:sp>
      <p:sp>
        <p:nvSpPr>
          <p:cNvPr id="25" name="TextBox 24"/>
          <p:cNvSpPr txBox="1"/>
          <p:nvPr/>
        </p:nvSpPr>
        <p:spPr>
          <a:xfrm>
            <a:off x="4601718"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Généralisation équipe par équipe, bascule Coach → Délégué. Piste agent IA : supervisé puis délégué.</a:t>
            </a:r>
          </a:p>
        </p:txBody>
      </p:sp>
      <p:sp>
        <p:nvSpPr>
          <p:cNvPr id="26" name="Rounded Rectangle 25"/>
          <p:cNvSpPr/>
          <p:nvPr/>
        </p:nvSpPr>
        <p:spPr>
          <a:xfrm>
            <a:off x="4555998"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7438"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comité de pilotage (périodique)</a:t>
            </a:r>
          </a:p>
          <a:p>
            <a:pPr algn="ctr">
              <a:lnSpc>
                <a:spcPct val="110000"/>
              </a:lnSpc>
              <a:spcBef>
                <a:spcPts val="300"/>
              </a:spcBef>
            </a:pPr>
            <a:r>
              <a:rPr sz="650" b="0" i="1">
                <a:solidFill>
                  <a:srgbClr val="586586"/>
                </a:solidFill>
                <a:latin typeface="Outfit"/>
              </a:rPr>
              <a:t>Instance de comitologie</a:t>
            </a:r>
          </a:p>
        </p:txBody>
      </p:sp>
      <p:sp>
        <p:nvSpPr>
          <p:cNvPr id="28" name="Rounded Rectangle 27"/>
          <p:cNvSpPr/>
          <p:nvPr/>
        </p:nvSpPr>
        <p:spPr>
          <a:xfrm>
            <a:off x="7208329"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08329" y="1143000"/>
            <a:ext cx="502920" cy="502920"/>
          </a:xfrm>
          <a:prstGeom prst="rect">
            <a:avLst/>
          </a:prstGeom>
          <a:noFill/>
        </p:spPr>
        <p:txBody>
          <a:bodyPr wrap="square" anchor="ctr" lIns="0" rIns="0" tIns="0" bIns="0">
            <a:noAutofit/>
          </a:bodyPr>
          <a:lstStyle/>
          <a:p>
            <a:pPr algn="ctr"/>
            <a:r>
              <a:rPr sz="1600" b="0" i="0">
                <a:solidFill>
                  <a:srgbClr val="FFFFFF"/>
                </a:solidFill>
                <a:latin typeface="Arial"/>
              </a:rPr>
              <a:t>⟲</a:t>
            </a:r>
          </a:p>
        </p:txBody>
      </p:sp>
      <p:sp>
        <p:nvSpPr>
          <p:cNvPr id="30" name="TextBox 29"/>
          <p:cNvSpPr txBox="1"/>
          <p:nvPr/>
        </p:nvSpPr>
        <p:spPr>
          <a:xfrm>
            <a:off x="6552819"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Boucle de réévaluation</a:t>
            </a:r>
          </a:p>
        </p:txBody>
      </p:sp>
      <p:sp>
        <p:nvSpPr>
          <p:cNvPr id="31" name="Rounded Rectangle 30"/>
          <p:cNvSpPr/>
          <p:nvPr/>
        </p:nvSpPr>
        <p:spPr>
          <a:xfrm>
            <a:off x="6956869"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56869"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T+6-12 mois</a:t>
            </a:r>
          </a:p>
        </p:txBody>
      </p:sp>
      <p:sp>
        <p:nvSpPr>
          <p:cNvPr id="33" name="TextBox 32"/>
          <p:cNvSpPr txBox="1"/>
          <p:nvPr/>
        </p:nvSpPr>
        <p:spPr>
          <a:xfrm>
            <a:off x="6598539"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La réévaluation reboucle vers la Collecte — alimente la bibliothèque de REX.</a:t>
            </a:r>
          </a:p>
        </p:txBody>
      </p:sp>
      <p:sp>
        <p:nvSpPr>
          <p:cNvPr id="34" name="Rounded Rectangle 33"/>
          <p:cNvSpPr/>
          <p:nvPr/>
        </p:nvSpPr>
        <p:spPr>
          <a:xfrm>
            <a:off x="6552819"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44259"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bilan / ré-évaluation · markdown amendé</a:t>
            </a:r>
          </a:p>
          <a:p>
            <a:pPr algn="ctr">
              <a:lnSpc>
                <a:spcPct val="110000"/>
              </a:lnSpc>
              <a:spcBef>
                <a:spcPts val="300"/>
              </a:spcBef>
            </a:pPr>
            <a:r>
              <a:rPr sz="650" b="0" i="1">
                <a:solidFill>
                  <a:srgbClr val="586586"/>
                </a:solidFill>
                <a:latin typeface="Outfit"/>
              </a:rPr>
              <a:t>Sponsor</a:t>
            </a:r>
          </a:p>
        </p:txBody>
      </p:sp>
      <p:sp>
        <p:nvSpPr>
          <p:cNvPr id="36" name="Rounded Rectangle 35"/>
          <p:cNvSpPr/>
          <p:nvPr/>
        </p:nvSpPr>
        <p:spPr>
          <a:xfrm>
            <a:off x="562356" y="3823715"/>
            <a:ext cx="7804404" cy="96012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3823715"/>
            <a:ext cx="7438644" cy="960120"/>
          </a:xfrm>
          <a:prstGeom prst="rect">
            <a:avLst/>
          </a:prstGeom>
          <a:noFill/>
        </p:spPr>
        <p:txBody>
          <a:bodyPr wrap="square" anchor="ctr" lIns="0" rIns="0" tIns="0" bIns="0">
            <a:noAutofit/>
          </a:bodyPr>
          <a:lstStyle/>
          <a:p>
            <a:pPr algn="l"/>
            <a:r>
              <a:rPr sz="800" b="1" i="0">
                <a:solidFill>
                  <a:srgbClr val="0E2356"/>
                </a:solidFill>
                <a:latin typeface="Outfit"/>
              </a:rPr>
              <a:t>Bifurcation avec/sans agents IA déployés</a:t>
            </a:r>
          </a:p>
          <a:p>
            <a:pPr algn="l">
              <a:lnSpc>
                <a:spcPct val="125000"/>
              </a:lnSpc>
              <a:spcBef>
                <a:spcPts val="300"/>
              </a:spcBef>
            </a:pPr>
            <a:r>
              <a:rPr sz="700" b="0" i="0">
                <a:solidFill>
                  <a:srgbClr val="0E2356"/>
                </a:solidFill>
                <a:latin typeface="Outfit"/>
              </a:rPr>
              <a:t>Le tronc commun ①→②→③→⟲ ne change pas de structure — la piste agent IA (si retenue) se greffe sur ②/③ via la démarche d'accompagnement en 5 phases déjà cadrée, plutôt que d'être un chemin séparé à maintenir. Les 4 livrables-clés ci-dessus sont 4 profils d'un même générateur modulaire, pas 4 outils distincts.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Deux fils courent dans les mêmes phases : les personnes et la technique</a:t>
            </a:r>
          </a:p>
        </p:txBody>
      </p:sp>
      <p:sp>
        <p:nvSpPr>
          <p:cNvPr id="3" name="Rounded Rectangle 2"/>
          <p:cNvSpPr/>
          <p:nvPr/>
        </p:nvSpPr>
        <p:spPr>
          <a:xfrm>
            <a:off x="562356" y="1069848"/>
            <a:ext cx="960120" cy="512064"/>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60120" cy="512064"/>
          </a:xfrm>
          <a:prstGeom prst="rect">
            <a:avLst/>
          </a:prstGeom>
          <a:noFill/>
        </p:spPr>
        <p:txBody>
          <a:bodyPr wrap="square" anchor="ctr" lIns="0" rIns="0" tIns="0" bIns="0">
            <a:noAutofit/>
          </a:bodyPr>
          <a:lstStyle/>
          <a:p>
            <a:pPr algn="ctr"/>
            <a:r>
              <a:rPr sz="1700" b="1" i="0">
                <a:solidFill>
                  <a:srgbClr val="FFFFFF"/>
                </a:solidFill>
                <a:latin typeface="Outfit"/>
              </a:rPr>
              <a:t>70 %</a:t>
            </a:r>
          </a:p>
        </p:txBody>
      </p:sp>
      <p:sp>
        <p:nvSpPr>
          <p:cNvPr id="5" name="TextBox 4"/>
          <p:cNvSpPr txBox="1"/>
          <p:nvPr/>
        </p:nvSpPr>
        <p:spPr>
          <a:xfrm>
            <a:off x="1687068" y="1069848"/>
            <a:ext cx="6679692" cy="512064"/>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des transformations sont inachevées ou échouent parce que les facteurs humains et culturels sont mal pris en compte (Kotter, Harvard Business Review).</a:t>
            </a:r>
          </a:p>
          <a:p>
            <a:pPr algn="l">
              <a:lnSpc>
                <a:spcPct val="115000"/>
              </a:lnSpc>
              <a:spcBef>
                <a:spcPts val="300"/>
              </a:spcBef>
            </a:pPr>
            <a:r>
              <a:rPr sz="750" b="0" i="1">
                <a:solidFill>
                  <a:srgbClr val="586586"/>
                </a:solidFill>
                <a:latin typeface="Outfit"/>
              </a:rPr>
              <a:t>Aucun des deux n'est un stream séparé : ce sont deux fils DANS les phases ①②③⟲ de la trajectoire, menés en parallèle.</a:t>
            </a:r>
          </a:p>
        </p:txBody>
      </p:sp>
      <p:sp>
        <p:nvSpPr>
          <p:cNvPr id="6" name="Rounded Rectangle 5"/>
          <p:cNvSpPr/>
          <p:nvPr/>
        </p:nvSpPr>
        <p:spPr>
          <a:xfrm>
            <a:off x="562356" y="2148840"/>
            <a:ext cx="7804404" cy="2190242"/>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001964"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01964"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①</a:t>
            </a:r>
          </a:p>
        </p:txBody>
      </p:sp>
      <p:sp>
        <p:nvSpPr>
          <p:cNvPr id="9" name="TextBox 8"/>
          <p:cNvSpPr txBox="1"/>
          <p:nvPr/>
        </p:nvSpPr>
        <p:spPr>
          <a:xfrm>
            <a:off x="1440180"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10" name="Rectangle 9"/>
          <p:cNvSpPr/>
          <p:nvPr/>
        </p:nvSpPr>
        <p:spPr>
          <a:xfrm>
            <a:off x="3075813" y="2258568"/>
            <a:ext cx="10972" cy="197078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765613"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5613"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②</a:t>
            </a:r>
          </a:p>
        </p:txBody>
      </p:sp>
      <p:sp>
        <p:nvSpPr>
          <p:cNvPr id="13" name="TextBox 12"/>
          <p:cNvSpPr txBox="1"/>
          <p:nvPr/>
        </p:nvSpPr>
        <p:spPr>
          <a:xfrm>
            <a:off x="3203829"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4" name="Rectangle 13"/>
          <p:cNvSpPr/>
          <p:nvPr/>
        </p:nvSpPr>
        <p:spPr>
          <a:xfrm>
            <a:off x="4839462" y="2258568"/>
            <a:ext cx="10972" cy="197078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9262"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29262"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③</a:t>
            </a:r>
          </a:p>
        </p:txBody>
      </p:sp>
      <p:sp>
        <p:nvSpPr>
          <p:cNvPr id="17" name="TextBox 16"/>
          <p:cNvSpPr txBox="1"/>
          <p:nvPr/>
        </p:nvSpPr>
        <p:spPr>
          <a:xfrm>
            <a:off x="4967478"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18" name="Rectangle 17"/>
          <p:cNvSpPr/>
          <p:nvPr/>
        </p:nvSpPr>
        <p:spPr>
          <a:xfrm>
            <a:off x="6603111" y="2258568"/>
            <a:ext cx="10972" cy="197078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292911"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92911" y="1956816"/>
            <a:ext cx="384048" cy="384048"/>
          </a:xfrm>
          <a:prstGeom prst="rect">
            <a:avLst/>
          </a:prstGeom>
          <a:noFill/>
        </p:spPr>
        <p:txBody>
          <a:bodyPr wrap="square" anchor="ctr" lIns="0" rIns="0" tIns="0" bIns="0">
            <a:noAutofit/>
          </a:bodyPr>
          <a:lstStyle/>
          <a:p>
            <a:pPr algn="ctr"/>
            <a:r>
              <a:rPr sz="1200" b="0" i="0">
                <a:solidFill>
                  <a:srgbClr val="FFFFFF"/>
                </a:solidFill>
                <a:latin typeface="Arial"/>
              </a:rPr>
              <a:t>⟲</a:t>
            </a:r>
          </a:p>
        </p:txBody>
      </p:sp>
      <p:sp>
        <p:nvSpPr>
          <p:cNvPr id="21" name="TextBox 20"/>
          <p:cNvSpPr txBox="1"/>
          <p:nvPr/>
        </p:nvSpPr>
        <p:spPr>
          <a:xfrm>
            <a:off x="6731126"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22" name="Rounded Rectangle 21"/>
          <p:cNvSpPr/>
          <p:nvPr/>
        </p:nvSpPr>
        <p:spPr>
          <a:xfrm>
            <a:off x="617220" y="2578608"/>
            <a:ext cx="7694676" cy="903097"/>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3796" y="2578608"/>
            <a:ext cx="621792" cy="903097"/>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LES PERSONNES</a:t>
            </a:r>
          </a:p>
        </p:txBody>
      </p:sp>
      <p:sp>
        <p:nvSpPr>
          <p:cNvPr id="24" name="TextBox 23"/>
          <p:cNvSpPr txBox="1"/>
          <p:nvPr/>
        </p:nvSpPr>
        <p:spPr>
          <a:xfrm>
            <a:off x="1440180"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Engager</a:t>
            </a:r>
          </a:p>
        </p:txBody>
      </p:sp>
      <p:sp>
        <p:nvSpPr>
          <p:cNvPr id="25" name="TextBox 24"/>
          <p:cNvSpPr txBox="1"/>
          <p:nvPr/>
        </p:nvSpPr>
        <p:spPr>
          <a:xfrm>
            <a:off x="1440180"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L'engagement du sponsor se construit dès l'intake ; la restitution revient aux interviewés, pas au seul sponsor.</a:t>
            </a:r>
          </a:p>
        </p:txBody>
      </p:sp>
      <p:sp>
        <p:nvSpPr>
          <p:cNvPr id="26" name="TextBox 25"/>
          <p:cNvSpPr txBox="1"/>
          <p:nvPr/>
        </p:nvSpPr>
        <p:spPr>
          <a:xfrm>
            <a:off x="3203829"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Expérimenter</a:t>
            </a:r>
          </a:p>
        </p:txBody>
      </p:sp>
      <p:sp>
        <p:nvSpPr>
          <p:cNvPr id="27" name="TextBox 26"/>
          <p:cNvSpPr txBox="1"/>
          <p:nvPr/>
        </p:nvSpPr>
        <p:spPr>
          <a:xfrm>
            <a:off x="3203829"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Équipes pilotes volontaires, jamais désignées ; formation sur les cas réels — « pas de formation sans coaching ».</a:t>
            </a:r>
          </a:p>
        </p:txBody>
      </p:sp>
      <p:sp>
        <p:nvSpPr>
          <p:cNvPr id="28" name="TextBox 27"/>
          <p:cNvSpPr txBox="1"/>
          <p:nvPr/>
        </p:nvSpPr>
        <p:spPr>
          <a:xfrm>
            <a:off x="4967478"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Outiller &amp; relayer</a:t>
            </a:r>
          </a:p>
        </p:txBody>
      </p:sp>
      <p:sp>
        <p:nvSpPr>
          <p:cNvPr id="29" name="TextBox 28"/>
          <p:cNvSpPr txBox="1"/>
          <p:nvPr/>
        </p:nvSpPr>
        <p:spPr>
          <a:xfrm>
            <a:off x="4967478"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Les résistances sont un signal ; relais internes formés — le consultant se rend dispensable.</a:t>
            </a:r>
          </a:p>
        </p:txBody>
      </p:sp>
      <p:sp>
        <p:nvSpPr>
          <p:cNvPr id="30" name="TextBox 29"/>
          <p:cNvSpPr txBox="1"/>
          <p:nvPr/>
        </p:nvSpPr>
        <p:spPr>
          <a:xfrm>
            <a:off x="6731126"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Mesurer</a:t>
            </a:r>
          </a:p>
        </p:txBody>
      </p:sp>
      <p:sp>
        <p:nvSpPr>
          <p:cNvPr id="31" name="TextBox 30"/>
          <p:cNvSpPr txBox="1"/>
          <p:nvPr/>
        </p:nvSpPr>
        <p:spPr>
          <a:xfrm>
            <a:off x="6731126"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Satisfaction et adhésion au même instrument qu'à T0 — le delta humain à côté du delta de maturité.</a:t>
            </a:r>
          </a:p>
        </p:txBody>
      </p:sp>
      <p:sp>
        <p:nvSpPr>
          <p:cNvPr id="32" name="TextBox 31"/>
          <p:cNvSpPr txBox="1"/>
          <p:nvPr/>
        </p:nvSpPr>
        <p:spPr>
          <a:xfrm>
            <a:off x="653796" y="3481705"/>
            <a:ext cx="621792" cy="903097"/>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LA TECHNIQUE</a:t>
            </a:r>
          </a:p>
        </p:txBody>
      </p:sp>
      <p:sp>
        <p:nvSpPr>
          <p:cNvPr id="33" name="TextBox 32"/>
          <p:cNvSpPr txBox="1"/>
          <p:nvPr/>
        </p:nvSpPr>
        <p:spPr>
          <a:xfrm>
            <a:off x="1440180"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Cartographier</a:t>
            </a:r>
          </a:p>
        </p:txBody>
      </p:sp>
      <p:sp>
        <p:nvSpPr>
          <p:cNvPr id="34" name="TextBox 33"/>
          <p:cNvSpPr txBox="1"/>
          <p:nvPr/>
        </p:nvSpPr>
        <p:spPr>
          <a:xfrm>
            <a:off x="1440180"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Dette, plateformes vieillissantes, dépendances non maîtrisées : une base factuelle, pas une checklist.</a:t>
            </a:r>
          </a:p>
        </p:txBody>
      </p:sp>
      <p:sp>
        <p:nvSpPr>
          <p:cNvPr id="35" name="TextBox 34"/>
          <p:cNvSpPr txBox="1"/>
          <p:nvPr/>
        </p:nvSpPr>
        <p:spPr>
          <a:xfrm>
            <a:off x="3203829"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Décommissionner &amp; observer</a:t>
            </a:r>
          </a:p>
        </p:txBody>
      </p:sp>
      <p:sp>
        <p:nvSpPr>
          <p:cNvPr id="36" name="TextBox 35"/>
          <p:cNvSpPr txBox="1"/>
          <p:nvPr/>
        </p:nvSpPr>
        <p:spPr>
          <a:xfrm>
            <a:off x="3203829"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Sur les pilotes : ce qui peut être décommissionné l'est, l'observabilité du reste est posée.</a:t>
            </a:r>
          </a:p>
        </p:txBody>
      </p:sp>
      <p:sp>
        <p:nvSpPr>
          <p:cNvPr id="37" name="TextBox 36"/>
          <p:cNvSpPr txBox="1"/>
          <p:nvPr/>
        </p:nvSpPr>
        <p:spPr>
          <a:xfrm>
            <a:off x="4967478"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Standardiser &amp; outiller</a:t>
            </a:r>
          </a:p>
        </p:txBody>
      </p:sp>
      <p:sp>
        <p:nvSpPr>
          <p:cNvPr id="38" name="TextBox 37"/>
          <p:cNvSpPr txBox="1"/>
          <p:nvPr/>
        </p:nvSpPr>
        <p:spPr>
          <a:xfrm>
            <a:off x="4967478"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CI/CD et infra as code deviennent le mode par défaut — la plateforme produit prend forme.</a:t>
            </a:r>
          </a:p>
        </p:txBody>
      </p:sp>
      <p:sp>
        <p:nvSpPr>
          <p:cNvPr id="39" name="TextBox 38"/>
          <p:cNvSpPr txBox="1"/>
          <p:nvPr/>
        </p:nvSpPr>
        <p:spPr>
          <a:xfrm>
            <a:off x="6731126"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Mesurer &amp; réengager</a:t>
            </a:r>
          </a:p>
        </p:txBody>
      </p:sp>
      <p:sp>
        <p:nvSpPr>
          <p:cNvPr id="40" name="TextBox 39"/>
          <p:cNvSpPr txBox="1"/>
          <p:nvPr/>
        </p:nvSpPr>
        <p:spPr>
          <a:xfrm>
            <a:off x="6731126"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Dette et KPI infra rejoués au même instrument qu'à T0 — le delta technique à côté des deux autres.</a:t>
            </a:r>
          </a:p>
        </p:txBody>
      </p:sp>
      <p:sp>
        <p:nvSpPr>
          <p:cNvPr id="41" name="Rounded Rectangle 40"/>
          <p:cNvSpPr/>
          <p:nvPr/>
        </p:nvSpPr>
        <p:spPr>
          <a:xfrm>
            <a:off x="562356" y="4485386"/>
            <a:ext cx="7804404" cy="49809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5236" y="4485386"/>
            <a:ext cx="7438644" cy="498093"/>
          </a:xfrm>
          <a:prstGeom prst="rect">
            <a:avLst/>
          </a:prstGeom>
          <a:noFill/>
        </p:spPr>
        <p:txBody>
          <a:bodyPr wrap="square" anchor="ctr" lIns="0" rIns="0" tIns="0" bIns="0">
            <a:noAutofit/>
          </a:bodyPr>
          <a:lstStyle/>
          <a:p>
            <a:pPr algn="l"/>
            <a:r>
              <a:rPr sz="800" b="1" i="0">
                <a:solidFill>
                  <a:srgbClr val="0E2356"/>
                </a:solidFill>
                <a:latin typeface="Outfit"/>
              </a:rPr>
              <a:t>Ce que ces deux fils ne créent pas</a:t>
            </a:r>
          </a:p>
          <a:p>
            <a:pPr algn="l">
              <a:lnSpc>
                <a:spcPct val="125000"/>
              </a:lnSpc>
              <a:spcBef>
                <a:spcPts val="300"/>
              </a:spcBef>
            </a:pPr>
            <a:r>
              <a:rPr sz="700" b="0" i="0">
                <a:solidFill>
                  <a:srgbClr val="0E2356"/>
                </a:solidFill>
                <a:latin typeface="Outfit"/>
              </a:rPr>
              <a:t>Pas de phase en plus, pas de chantier d'architecture à part, et jamais d'évaluation individuelle des personnes (déontologie du consultant). La gouvernance sécurité, conformité et résilience opérationnelle reste celle du client — ces fils s'y arriment, ils ne la remplacent pas.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IAP outille une partie du fil humain — le reste est de la présence de consultant</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Les mêmes quatre temps que la trajectoire : en haut, ce que le consultant fait avec le module ; en bas, ce qu'il fait sans lui.</a:t>
            </a:r>
          </a:p>
        </p:txBody>
      </p:sp>
      <p:sp>
        <p:nvSpPr>
          <p:cNvPr id="4" name="Rounded Rectangle 3"/>
          <p:cNvSpPr/>
          <p:nvPr/>
        </p:nvSpPr>
        <p:spPr>
          <a:xfrm>
            <a:off x="2327719"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27719"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①</a:t>
            </a:r>
          </a:p>
        </p:txBody>
      </p:sp>
      <p:sp>
        <p:nvSpPr>
          <p:cNvPr id="6" name="TextBox 5"/>
          <p:cNvSpPr txBox="1"/>
          <p:nvPr/>
        </p:nvSpPr>
        <p:spPr>
          <a:xfrm>
            <a:off x="1632204"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Assessment flash</a:t>
            </a:r>
          </a:p>
        </p:txBody>
      </p:sp>
      <p:sp>
        <p:nvSpPr>
          <p:cNvPr id="7" name="Rounded Rectangle 6"/>
          <p:cNvSpPr/>
          <p:nvPr/>
        </p:nvSpPr>
        <p:spPr>
          <a:xfrm>
            <a:off x="4029646"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9646"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②</a:t>
            </a:r>
          </a:p>
        </p:txBody>
      </p:sp>
      <p:sp>
        <p:nvSpPr>
          <p:cNvPr id="9" name="TextBox 8"/>
          <p:cNvSpPr txBox="1"/>
          <p:nvPr/>
        </p:nvSpPr>
        <p:spPr>
          <a:xfrm>
            <a:off x="3334131"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Premier déploiement</a:t>
            </a:r>
          </a:p>
        </p:txBody>
      </p:sp>
      <p:sp>
        <p:nvSpPr>
          <p:cNvPr id="10" name="Rounded Rectangle 9"/>
          <p:cNvSpPr/>
          <p:nvPr/>
        </p:nvSpPr>
        <p:spPr>
          <a:xfrm>
            <a:off x="5731573"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31573"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③</a:t>
            </a:r>
          </a:p>
        </p:txBody>
      </p:sp>
      <p:sp>
        <p:nvSpPr>
          <p:cNvPr id="12" name="TextBox 11"/>
          <p:cNvSpPr txBox="1"/>
          <p:nvPr/>
        </p:nvSpPr>
        <p:spPr>
          <a:xfrm>
            <a:off x="5036058"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Implémentation itérative</a:t>
            </a:r>
          </a:p>
        </p:txBody>
      </p:sp>
      <p:sp>
        <p:nvSpPr>
          <p:cNvPr id="13" name="Rounded Rectangle 12"/>
          <p:cNvSpPr/>
          <p:nvPr/>
        </p:nvSpPr>
        <p:spPr>
          <a:xfrm>
            <a:off x="7433500"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3500" y="1362456"/>
            <a:ext cx="237744" cy="237744"/>
          </a:xfrm>
          <a:prstGeom prst="rect">
            <a:avLst/>
          </a:prstGeom>
          <a:noFill/>
        </p:spPr>
        <p:txBody>
          <a:bodyPr wrap="square" anchor="ctr" lIns="0" rIns="0" tIns="0" bIns="0">
            <a:noAutofit/>
          </a:bodyPr>
          <a:lstStyle/>
          <a:p>
            <a:pPr algn="ctr"/>
            <a:r>
              <a:rPr sz="900" b="0" i="0">
                <a:solidFill>
                  <a:srgbClr val="FFFFFF"/>
                </a:solidFill>
                <a:latin typeface="Arial"/>
              </a:rPr>
              <a:t>⟲</a:t>
            </a:r>
          </a:p>
        </p:txBody>
      </p:sp>
      <p:sp>
        <p:nvSpPr>
          <p:cNvPr id="15" name="TextBox 14"/>
          <p:cNvSpPr txBox="1"/>
          <p:nvPr/>
        </p:nvSpPr>
        <p:spPr>
          <a:xfrm>
            <a:off x="6737985"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Boucle de réévaluation</a:t>
            </a:r>
          </a:p>
        </p:txBody>
      </p:sp>
      <p:sp>
        <p:nvSpPr>
          <p:cNvPr id="16" name="Rounded Rectangle 15"/>
          <p:cNvSpPr/>
          <p:nvPr/>
        </p:nvSpPr>
        <p:spPr>
          <a:xfrm>
            <a:off x="562356" y="1819656"/>
            <a:ext cx="7804404" cy="1459992"/>
          </a:xfrm>
          <a:prstGeom prst="roundRect">
            <a:avLst>
              <a:gd name="adj" fmla="val 6000"/>
            </a:avLst>
          </a:prstGeom>
          <a:solidFill>
            <a:srgbClr val="E1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1819656"/>
            <a:ext cx="850392" cy="145999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AVEC IAP</a:t>
            </a:r>
          </a:p>
          <a:p>
            <a:pPr algn="l">
              <a:lnSpc>
                <a:spcPct val="110000"/>
              </a:lnSpc>
              <a:spcBef>
                <a:spcPts val="200"/>
              </a:spcBef>
            </a:pPr>
            <a:r>
              <a:rPr sz="650" b="0" i="1">
                <a:solidFill>
                  <a:srgbClr val="586586"/>
                </a:solidFill>
                <a:latin typeface="Outfit"/>
              </a:rPr>
              <a:t>outillé par le module</a:t>
            </a:r>
          </a:p>
        </p:txBody>
      </p:sp>
      <p:sp>
        <p:nvSpPr>
          <p:cNvPr id="18" name="Rectangle 17"/>
          <p:cNvSpPr/>
          <p:nvPr/>
        </p:nvSpPr>
        <p:spPr>
          <a:xfrm>
            <a:off x="1540764"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5356"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Trames d'interview par persona, versées à la Collecte</a:t>
            </a:r>
          </a:p>
          <a:p>
            <a:pPr algn="l">
              <a:lnSpc>
                <a:spcPct val="120000"/>
              </a:lnSpc>
              <a:spcBef>
                <a:spcPts val="400"/>
              </a:spcBef>
            </a:pPr>
            <a:r>
              <a:rPr sz="700" b="0" i="0">
                <a:solidFill>
                  <a:srgbClr val="0E2356"/>
                </a:solidFill>
                <a:latin typeface="Outfit"/>
              </a:rPr>
              <a:t>La restitution s'appuie sur le deck exécutif généré</a:t>
            </a:r>
          </a:p>
          <a:p>
            <a:pPr algn="l">
              <a:lnSpc>
                <a:spcPct val="120000"/>
              </a:lnSpc>
              <a:spcBef>
                <a:spcPts val="400"/>
              </a:spcBef>
            </a:pPr>
            <a:r>
              <a:rPr sz="700" b="0" i="0">
                <a:solidFill>
                  <a:srgbClr val="0E2356"/>
                </a:solidFill>
                <a:latin typeface="Outfit"/>
              </a:rPr>
              <a:t>Sondage humain de référence (T0)</a:t>
            </a:r>
          </a:p>
        </p:txBody>
      </p:sp>
      <p:sp>
        <p:nvSpPr>
          <p:cNvPr id="20" name="Rectangle 19"/>
          <p:cNvSpPr/>
          <p:nvPr/>
        </p:nvSpPr>
        <p:spPr>
          <a:xfrm>
            <a:off x="3297555"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07283"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Deck de plan de déploiement · export markdown (1re version)</a:t>
            </a:r>
          </a:p>
        </p:txBody>
      </p:sp>
      <p:sp>
        <p:nvSpPr>
          <p:cNvPr id="22" name="Rectangle 21"/>
          <p:cNvSpPr/>
          <p:nvPr/>
        </p:nvSpPr>
        <p:spPr>
          <a:xfrm>
            <a:off x="4999482"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09210"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Comité de pilotage : deck périodique, santé humaine incluse</a:t>
            </a:r>
          </a:p>
        </p:txBody>
      </p:sp>
      <p:sp>
        <p:nvSpPr>
          <p:cNvPr id="24" name="Rectangle 23"/>
          <p:cNvSpPr/>
          <p:nvPr/>
        </p:nvSpPr>
        <p:spPr>
          <a:xfrm>
            <a:off x="6701409"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1137"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KPI humain rejoué au même instrument : delta T0 → réévaluation</a:t>
            </a:r>
          </a:p>
          <a:p>
            <a:pPr algn="l">
              <a:lnSpc>
                <a:spcPct val="120000"/>
              </a:lnSpc>
              <a:spcBef>
                <a:spcPts val="400"/>
              </a:spcBef>
            </a:pPr>
            <a:r>
              <a:rPr sz="700" b="0" i="0">
                <a:solidFill>
                  <a:srgbClr val="0E2356"/>
                </a:solidFill>
                <a:latin typeface="Outfit"/>
              </a:rPr>
              <a:t>Export markdown amendé · deck de bilan</a:t>
            </a:r>
          </a:p>
        </p:txBody>
      </p:sp>
      <p:sp>
        <p:nvSpPr>
          <p:cNvPr id="26" name="Rounded Rectangle 25"/>
          <p:cNvSpPr/>
          <p:nvPr/>
        </p:nvSpPr>
        <p:spPr>
          <a:xfrm>
            <a:off x="562356" y="3371088"/>
            <a:ext cx="7804404" cy="119176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 y="3371088"/>
            <a:ext cx="850392" cy="119176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SANS IAP</a:t>
            </a:r>
          </a:p>
          <a:p>
            <a:pPr algn="l">
              <a:lnSpc>
                <a:spcPct val="110000"/>
              </a:lnSpc>
              <a:spcBef>
                <a:spcPts val="200"/>
              </a:spcBef>
            </a:pPr>
            <a:r>
              <a:rPr sz="650" b="0" i="1">
                <a:solidFill>
                  <a:srgbClr val="586586"/>
                </a:solidFill>
                <a:latin typeface="Outfit"/>
              </a:rPr>
              <a:t>présence du consultant</a:t>
            </a:r>
          </a:p>
        </p:txBody>
      </p:sp>
      <p:sp>
        <p:nvSpPr>
          <p:cNvPr id="28" name="Rectangle 27"/>
          <p:cNvSpPr/>
          <p:nvPr/>
        </p:nvSpPr>
        <p:spPr>
          <a:xfrm>
            <a:off x="1540764"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05356"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Le sponsor présente lui-même l'ambition (micro-lancement)</a:t>
            </a:r>
          </a:p>
          <a:p>
            <a:pPr algn="l">
              <a:lnSpc>
                <a:spcPct val="120000"/>
              </a:lnSpc>
              <a:spcBef>
                <a:spcPts val="400"/>
              </a:spcBef>
            </a:pPr>
            <a:r>
              <a:rPr sz="700" b="0" i="0">
                <a:solidFill>
                  <a:srgbClr val="0E2356"/>
                </a:solidFill>
                <a:latin typeface="Outfit"/>
              </a:rPr>
              <a:t>Restitution-embarquement : feedback des interviewés</a:t>
            </a:r>
          </a:p>
        </p:txBody>
      </p:sp>
      <p:sp>
        <p:nvSpPr>
          <p:cNvPr id="30" name="Rectangle 29"/>
          <p:cNvSpPr/>
          <p:nvPr/>
        </p:nvSpPr>
        <p:spPr>
          <a:xfrm>
            <a:off x="3297555"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7283"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Équipes pilotes volontaires, ateliers co-construits</a:t>
            </a:r>
          </a:p>
          <a:p>
            <a:pPr algn="l">
              <a:lnSpc>
                <a:spcPct val="120000"/>
              </a:lnSpc>
              <a:spcBef>
                <a:spcPts val="400"/>
              </a:spcBef>
            </a:pPr>
            <a:r>
              <a:rPr sz="700" b="0" i="0">
                <a:solidFill>
                  <a:srgbClr val="0E2356"/>
                </a:solidFill>
                <a:latin typeface="Outfit"/>
              </a:rPr>
              <a:t>Formation sur les cas réels — pas de formation sans coaching</a:t>
            </a:r>
          </a:p>
        </p:txBody>
      </p:sp>
      <p:sp>
        <p:nvSpPr>
          <p:cNvPr id="32" name="Rectangle 31"/>
          <p:cNvSpPr/>
          <p:nvPr/>
        </p:nvSpPr>
        <p:spPr>
          <a:xfrm>
            <a:off x="4999482"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09210"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Communauté de managers, N+1/N+2 embarqués</a:t>
            </a:r>
          </a:p>
          <a:p>
            <a:pPr algn="l">
              <a:lnSpc>
                <a:spcPct val="120000"/>
              </a:lnSpc>
              <a:spcBef>
                <a:spcPts val="400"/>
              </a:spcBef>
            </a:pPr>
            <a:r>
              <a:rPr sz="700" b="0" i="0">
                <a:solidFill>
                  <a:srgbClr val="0E2356"/>
                </a:solidFill>
                <a:latin typeface="Outfit"/>
              </a:rPr>
              <a:t>Coaching individuel sous déontologie · relais internes formés</a:t>
            </a:r>
          </a:p>
        </p:txBody>
      </p:sp>
      <p:sp>
        <p:nvSpPr>
          <p:cNvPr id="34" name="Rectangle 33"/>
          <p:cNvSpPr/>
          <p:nvPr/>
        </p:nvSpPr>
        <p:spPr>
          <a:xfrm>
            <a:off x="6701409"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1137"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Présence dégressive : le consultant se rend dispensable</a:t>
            </a:r>
          </a:p>
          <a:p>
            <a:pPr algn="l">
              <a:lnSpc>
                <a:spcPct val="120000"/>
              </a:lnSpc>
              <a:spcBef>
                <a:spcPts val="400"/>
              </a:spcBef>
            </a:pPr>
            <a:r>
              <a:rPr sz="700" b="0" i="0">
                <a:solidFill>
                  <a:srgbClr val="0E2356"/>
                </a:solidFill>
                <a:latin typeface="Outfit"/>
              </a:rPr>
              <a:t>Lecture du delta humain avec les équipes</a:t>
            </a:r>
          </a:p>
        </p:txBody>
      </p:sp>
      <p:sp>
        <p:nvSpPr>
          <p:cNvPr id="36" name="TextBox 35"/>
          <p:cNvSpPr txBox="1"/>
          <p:nvPr/>
        </p:nvSpPr>
        <p:spPr>
          <a:xfrm>
            <a:off x="562356" y="4672584"/>
            <a:ext cx="7804404" cy="310896"/>
          </a:xfrm>
          <a:prstGeom prst="rect">
            <a:avLst/>
          </a:prstGeom>
          <a:noFill/>
        </p:spPr>
        <p:txBody>
          <a:bodyPr wrap="square" anchor="b" lIns="0" rIns="0" tIns="0" bIns="0">
            <a:noAutofit/>
          </a:bodyPr>
          <a:lstStyle/>
          <a:p>
            <a:pPr algn="l">
              <a:lnSpc>
                <a:spcPct val="120000"/>
              </a:lnSpc>
            </a:pPr>
            <a:r>
              <a:rPr sz="800" b="0" i="1">
                <a:solidFill>
                  <a:srgbClr val="586586"/>
                </a:solidFill>
                <a:latin typeface="Outfit"/>
              </a:rPr>
              <a:t>La rangée du bas ne s'outille pas : c'est la présence du consultant — dégressive, jusqu'aux relais internes qui portent le modèle après la mission (offre SCALE, transposée).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Accompagnement Infra as a Product : transformer une fonction infra en produit interne</a:t>
            </a:r>
          </a:p>
        </p:txBody>
      </p:sp>
      <p:sp>
        <p:nvSpPr>
          <p:cNvPr id="3" name="TextBox 2"/>
          <p:cNvSpPr txBox="1"/>
          <p:nvPr/>
        </p:nvSpPr>
        <p:spPr>
          <a:xfrm>
            <a:off x="562356" y="1051560"/>
            <a:ext cx="7804404" cy="693420"/>
          </a:xfrm>
          <a:prstGeom prst="rect">
            <a:avLst/>
          </a:prstGeom>
          <a:noFill/>
        </p:spPr>
        <p:txBody>
          <a:bodyPr wrap="square" anchor="t" lIns="0" rIns="0" tIns="0" bIns="0">
            <a:noAutofit/>
          </a:bodyPr>
          <a:lstStyle/>
          <a:p>
            <a:pPr algn="l">
              <a:lnSpc>
                <a:spcPct val="120000"/>
              </a:lnSpc>
            </a:pPr>
            <a:r>
              <a:rPr sz="850" b="0" i="1">
                <a:solidFill>
                  <a:srgbClr val="0E2356"/>
                </a:solidFill>
                <a:latin typeface="Outfit"/>
              </a:rPr>
              <a:t>L'offre proposée est une méthodologie d'accompagnement pour transformer « une fonction infra ou une plateforme interne » en un véritable produit interne : un service pensé pour ses utilisateurs, avec un parcours, une proposition de valeur et des indicateurs de pilotage, plutôt qu'un centre de coûts ou un guichet de tickets. Le détail de chaque étape ci-dessous se retrouve dans la trajectoire en temps et boucle, et dans le schéma de fonctionnement qui suit — trois lectures du même parcours, pas trois parcours différents.</a:t>
            </a:r>
          </a:p>
        </p:txBody>
      </p:sp>
      <p:sp>
        <p:nvSpPr>
          <p:cNvPr id="4" name="Rounded Rectangle 3"/>
          <p:cNvSpPr/>
          <p:nvPr/>
        </p:nvSpPr>
        <p:spPr>
          <a:xfrm>
            <a:off x="562356" y="1799844"/>
            <a:ext cx="233172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8932" y="1821789"/>
            <a:ext cx="225856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Reconstitution d'incident avant Cadrage, si crise déclencheuse.</a:t>
            </a:r>
          </a:p>
        </p:txBody>
      </p:sp>
      <p:sp>
        <p:nvSpPr>
          <p:cNvPr id="6" name="Rounded Rectangle 5"/>
          <p:cNvSpPr/>
          <p:nvPr/>
        </p:nvSpPr>
        <p:spPr>
          <a:xfrm>
            <a:off x="5760720" y="1799844"/>
            <a:ext cx="260604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97296" y="1821789"/>
            <a:ext cx="253288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Tri contraintes / habitudes entre Diagnostic et Segmentation, si sites hétérogènes.</a:t>
            </a:r>
          </a:p>
        </p:txBody>
      </p:sp>
      <p:sp>
        <p:nvSpPr>
          <p:cNvPr id="8" name="TextBox 7"/>
          <p:cNvSpPr txBox="1"/>
          <p:nvPr/>
        </p:nvSpPr>
        <p:spPr>
          <a:xfrm>
            <a:off x="2820009" y="1799844"/>
            <a:ext cx="1691640" cy="128016"/>
          </a:xfrm>
          <a:prstGeom prst="rect">
            <a:avLst/>
          </a:prstGeom>
          <a:noFill/>
        </p:spPr>
        <p:txBody>
          <a:bodyPr wrap="square" anchor="ctr" lIns="0" rIns="0" tIns="0" bIns="0">
            <a:noAutofit/>
          </a:bodyPr>
          <a:lstStyle/>
          <a:p>
            <a:pPr algn="ctr"/>
            <a:r>
              <a:rPr sz="600" b="0" i="1">
                <a:solidFill>
                  <a:srgbClr val="586586"/>
                </a:solidFill>
                <a:latin typeface="Outfit"/>
              </a:rPr>
              <a:t>signal de contexte détecté ?</a:t>
            </a:r>
          </a:p>
        </p:txBody>
      </p:sp>
      <p:sp>
        <p:nvSpPr>
          <p:cNvPr id="9" name="Rounded Rectangle 8"/>
          <p:cNvSpPr/>
          <p:nvPr/>
        </p:nvSpPr>
        <p:spPr>
          <a:xfrm>
            <a:off x="3048609" y="1909572"/>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4329" y="1909572"/>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léger</a:t>
            </a:r>
          </a:p>
        </p:txBody>
      </p:sp>
      <p:sp>
        <p:nvSpPr>
          <p:cNvPr id="11" name="Rounded Rectangle 10"/>
          <p:cNvSpPr/>
          <p:nvPr/>
        </p:nvSpPr>
        <p:spPr>
          <a:xfrm>
            <a:off x="3048609" y="2083308"/>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94329" y="2083308"/>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politique</a:t>
            </a:r>
          </a:p>
        </p:txBody>
      </p:sp>
      <p:sp>
        <p:nvSpPr>
          <p:cNvPr id="13" name="TextBox 12"/>
          <p:cNvSpPr txBox="1"/>
          <p:nvPr/>
        </p:nvSpPr>
        <p:spPr>
          <a:xfrm>
            <a:off x="774542" y="227533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4" name="TextBox 13"/>
          <p:cNvSpPr txBox="1"/>
          <p:nvPr/>
        </p:nvSpPr>
        <p:spPr>
          <a:xfrm>
            <a:off x="6274201" y="227533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5" name="Oval 14"/>
          <p:cNvSpPr/>
          <p:nvPr/>
        </p:nvSpPr>
        <p:spPr>
          <a:xfrm>
            <a:off x="562356" y="236677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Premier contact</a:t>
            </a:r>
          </a:p>
        </p:txBody>
      </p:sp>
      <p:sp>
        <p:nvSpPr>
          <p:cNvPr id="17" name="TextBox 16"/>
          <p:cNvSpPr txBox="1"/>
          <p:nvPr/>
        </p:nvSpPr>
        <p:spPr>
          <a:xfrm>
            <a:off x="1976932"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8" name="Rounded Rectangle 17"/>
          <p:cNvSpPr/>
          <p:nvPr/>
        </p:nvSpPr>
        <p:spPr>
          <a:xfrm>
            <a:off x="2159812"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6388"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Cadrage</a:t>
            </a:r>
          </a:p>
          <a:p>
            <a:pPr algn="ctr">
              <a:lnSpc>
                <a:spcPct val="100000"/>
              </a:lnSpc>
              <a:spcBef>
                <a:spcPts val="100"/>
              </a:spcBef>
            </a:pPr>
            <a:r>
              <a:rPr sz="580" b="0" i="1">
                <a:solidFill>
                  <a:srgbClr val="586586"/>
                </a:solidFill>
                <a:latin typeface="Outfit"/>
              </a:rPr>
              <a:t>note de cadrage</a:t>
            </a:r>
          </a:p>
        </p:txBody>
      </p:sp>
      <p:sp>
        <p:nvSpPr>
          <p:cNvPr id="20" name="TextBox 19"/>
          <p:cNvSpPr txBox="1"/>
          <p:nvPr/>
        </p:nvSpPr>
        <p:spPr>
          <a:xfrm>
            <a:off x="3574389"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ounded Rectangle 20"/>
          <p:cNvSpPr/>
          <p:nvPr/>
        </p:nvSpPr>
        <p:spPr>
          <a:xfrm>
            <a:off x="3757269"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3845"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Diagnostic</a:t>
            </a:r>
          </a:p>
          <a:p>
            <a:pPr algn="ctr">
              <a:lnSpc>
                <a:spcPct val="100000"/>
              </a:lnSpc>
              <a:spcBef>
                <a:spcPts val="100"/>
              </a:spcBef>
            </a:pPr>
            <a:r>
              <a:rPr sz="580" b="0" i="1">
                <a:solidFill>
                  <a:srgbClr val="586586"/>
                </a:solidFill>
                <a:latin typeface="Outfit"/>
              </a:rPr>
              <a:t>base factuelle partagée</a:t>
            </a:r>
          </a:p>
        </p:txBody>
      </p:sp>
      <p:sp>
        <p:nvSpPr>
          <p:cNvPr id="23" name="TextBox 22"/>
          <p:cNvSpPr txBox="1"/>
          <p:nvPr/>
        </p:nvSpPr>
        <p:spPr>
          <a:xfrm>
            <a:off x="5171846"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4" name="Rounded Rectangle 23"/>
          <p:cNvSpPr/>
          <p:nvPr/>
        </p:nvSpPr>
        <p:spPr>
          <a:xfrm>
            <a:off x="5354726"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1302"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Discovery gaspillages</a:t>
            </a:r>
          </a:p>
          <a:p>
            <a:pPr algn="ctr">
              <a:lnSpc>
                <a:spcPct val="100000"/>
              </a:lnSpc>
              <a:spcBef>
                <a:spcPts val="100"/>
              </a:spcBef>
            </a:pPr>
            <a:r>
              <a:rPr sz="580" b="0" i="1">
                <a:solidFill>
                  <a:srgbClr val="586586"/>
                </a:solidFill>
                <a:latin typeface="Outfit"/>
              </a:rPr>
              <a:t>8 familles</a:t>
            </a:r>
          </a:p>
        </p:txBody>
      </p:sp>
      <p:sp>
        <p:nvSpPr>
          <p:cNvPr id="26" name="TextBox 25"/>
          <p:cNvSpPr txBox="1"/>
          <p:nvPr/>
        </p:nvSpPr>
        <p:spPr>
          <a:xfrm>
            <a:off x="6769303"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7" name="Rounded Rectangle 26"/>
          <p:cNvSpPr/>
          <p:nvPr/>
        </p:nvSpPr>
        <p:spPr>
          <a:xfrm>
            <a:off x="6952183"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88759"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Segmentation / Product Discovery</a:t>
            </a:r>
          </a:p>
        </p:txBody>
      </p:sp>
      <p:sp>
        <p:nvSpPr>
          <p:cNvPr id="29" name="Rounded Rectangle 28"/>
          <p:cNvSpPr/>
          <p:nvPr/>
        </p:nvSpPr>
        <p:spPr>
          <a:xfrm>
            <a:off x="5354726" y="2759964"/>
            <a:ext cx="1414576" cy="317754"/>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00446" y="2759964"/>
            <a:ext cx="1323136" cy="317754"/>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Contradictions structurelles (si contexte politique)</a:t>
            </a:r>
          </a:p>
        </p:txBody>
      </p:sp>
      <p:sp>
        <p:nvSpPr>
          <p:cNvPr id="31" name="Rectangle 30"/>
          <p:cNvSpPr/>
          <p:nvPr/>
        </p:nvSpPr>
        <p:spPr>
          <a:xfrm>
            <a:off x="7650327" y="2714244"/>
            <a:ext cx="18288" cy="41833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60500" y="3132582"/>
            <a:ext cx="6408115"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260500" y="3132582"/>
            <a:ext cx="18288" cy="9144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9060" y="3123438"/>
            <a:ext cx="201168" cy="109728"/>
          </a:xfrm>
          <a:prstGeom prst="rect">
            <a:avLst/>
          </a:prstGeom>
          <a:noFill/>
        </p:spPr>
        <p:txBody>
          <a:bodyPr wrap="square" anchor="ctr" lIns="0" rIns="0" tIns="0" bIns="0">
            <a:noAutofit/>
          </a:bodyPr>
          <a:lstStyle/>
          <a:p>
            <a:pPr algn="ctr"/>
            <a:r>
              <a:rPr sz="600" b="1" i="0">
                <a:solidFill>
                  <a:srgbClr val="586586"/>
                </a:solidFill>
                <a:latin typeface="Outfit"/>
              </a:rPr>
              <a:t>▾</a:t>
            </a:r>
          </a:p>
        </p:txBody>
      </p:sp>
      <p:sp>
        <p:nvSpPr>
          <p:cNvPr id="35" name="Rounded Rectangle 34"/>
          <p:cNvSpPr/>
          <p:nvPr/>
        </p:nvSpPr>
        <p:spPr>
          <a:xfrm>
            <a:off x="562356"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2"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Product Definition</a:t>
            </a:r>
          </a:p>
          <a:p>
            <a:pPr algn="ctr">
              <a:lnSpc>
                <a:spcPct val="100000"/>
              </a:lnSpc>
              <a:spcBef>
                <a:spcPts val="100"/>
              </a:spcBef>
            </a:pPr>
            <a:r>
              <a:rPr sz="580" b="0" i="1">
                <a:solidFill>
                  <a:srgbClr val="586586"/>
                </a:solidFill>
                <a:latin typeface="Outfit"/>
              </a:rPr>
              <a:t>fiche produit cible</a:t>
            </a:r>
          </a:p>
        </p:txBody>
      </p:sp>
      <p:sp>
        <p:nvSpPr>
          <p:cNvPr id="37" name="TextBox 36"/>
          <p:cNvSpPr txBox="1"/>
          <p:nvPr/>
        </p:nvSpPr>
        <p:spPr>
          <a:xfrm>
            <a:off x="1976932"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38" name="Rounded Rectangle 37"/>
          <p:cNvSpPr/>
          <p:nvPr/>
        </p:nvSpPr>
        <p:spPr>
          <a:xfrm>
            <a:off x="2159812"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96388"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Operating Model</a:t>
            </a:r>
          </a:p>
          <a:p>
            <a:pPr algn="ctr">
              <a:lnSpc>
                <a:spcPct val="100000"/>
              </a:lnSpc>
              <a:spcBef>
                <a:spcPts val="100"/>
              </a:spcBef>
            </a:pPr>
            <a:r>
              <a:rPr sz="580" b="0" i="1">
                <a:solidFill>
                  <a:srgbClr val="586586"/>
                </a:solidFill>
                <a:latin typeface="Outfit"/>
              </a:rPr>
              <a:t>responsabilités + mesure</a:t>
            </a:r>
          </a:p>
        </p:txBody>
      </p:sp>
      <p:sp>
        <p:nvSpPr>
          <p:cNvPr id="40" name="TextBox 39"/>
          <p:cNvSpPr txBox="1"/>
          <p:nvPr/>
        </p:nvSpPr>
        <p:spPr>
          <a:xfrm>
            <a:off x="3574389"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1" name="Rounded Rectangle 40"/>
          <p:cNvSpPr/>
          <p:nvPr/>
        </p:nvSpPr>
        <p:spPr>
          <a:xfrm>
            <a:off x="3757269"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93845"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Adoption / Pilote</a:t>
            </a:r>
          </a:p>
          <a:p>
            <a:pPr algn="ctr">
              <a:lnSpc>
                <a:spcPct val="100000"/>
              </a:lnSpc>
              <a:spcBef>
                <a:spcPts val="100"/>
              </a:spcBef>
            </a:pPr>
            <a:r>
              <a:rPr sz="580" b="0" i="1">
                <a:solidFill>
                  <a:srgbClr val="586586"/>
                </a:solidFill>
                <a:latin typeface="Outfit"/>
              </a:rPr>
              <a:t>bilan avant / après</a:t>
            </a:r>
          </a:p>
        </p:txBody>
      </p:sp>
      <p:sp>
        <p:nvSpPr>
          <p:cNvPr id="43" name="TextBox 42"/>
          <p:cNvSpPr txBox="1"/>
          <p:nvPr/>
        </p:nvSpPr>
        <p:spPr>
          <a:xfrm>
            <a:off x="5171846"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4" name="Oval 43"/>
          <p:cNvSpPr/>
          <p:nvPr/>
        </p:nvSpPr>
        <p:spPr>
          <a:xfrm>
            <a:off x="5354726" y="322402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1302"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Mission close</a:t>
            </a:r>
          </a:p>
        </p:txBody>
      </p:sp>
      <p:sp>
        <p:nvSpPr>
          <p:cNvPr id="46" name="TextBox 45"/>
          <p:cNvSpPr txBox="1"/>
          <p:nvPr/>
        </p:nvSpPr>
        <p:spPr>
          <a:xfrm>
            <a:off x="6769303"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7" name="Rounded Rectangle 46"/>
          <p:cNvSpPr/>
          <p:nvPr/>
        </p:nvSpPr>
        <p:spPr>
          <a:xfrm>
            <a:off x="6952183"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88759"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Retour d'expérience</a:t>
            </a:r>
          </a:p>
          <a:p>
            <a:pPr algn="ctr">
              <a:lnSpc>
                <a:spcPct val="100000"/>
              </a:lnSpc>
              <a:spcBef>
                <a:spcPts val="100"/>
              </a:spcBef>
            </a:pPr>
            <a:r>
              <a:rPr sz="580" b="0" i="1">
                <a:solidFill>
                  <a:srgbClr val="586586"/>
                </a:solidFill>
                <a:latin typeface="Outfit"/>
              </a:rPr>
              <a:t>vers la bibliothèque partagée</a:t>
            </a:r>
          </a:p>
        </p:txBody>
      </p:sp>
      <p:sp>
        <p:nvSpPr>
          <p:cNvPr id="49" name="Rounded Rectangle 48"/>
          <p:cNvSpPr/>
          <p:nvPr/>
        </p:nvSpPr>
        <p:spPr>
          <a:xfrm>
            <a:off x="3757269" y="3617214"/>
            <a:ext cx="1414576" cy="230123"/>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02989" y="3617214"/>
            <a:ext cx="1323136" cy="230123"/>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Dispositif de revue (si contexte politique)</a:t>
            </a:r>
          </a:p>
        </p:txBody>
      </p:sp>
      <p:sp>
        <p:nvSpPr>
          <p:cNvPr id="51" name="Rounded Rectangle 50"/>
          <p:cNvSpPr/>
          <p:nvPr/>
        </p:nvSpPr>
        <p:spPr>
          <a:xfrm>
            <a:off x="562356" y="3893057"/>
            <a:ext cx="7804404" cy="26847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8932" y="3915003"/>
            <a:ext cx="7731252" cy="22458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CHECKLIST GOUVERNANCE IA — TRANSVERSE</a:t>
            </a:r>
          </a:p>
          <a:p>
            <a:pPr algn="l">
              <a:lnSpc>
                <a:spcPct val="115000"/>
              </a:lnSpc>
              <a:spcBef>
                <a:spcPts val="200"/>
              </a:spcBef>
            </a:pPr>
            <a:r>
              <a:rPr sz="600" b="0" i="1">
                <a:solidFill>
                  <a:srgbClr val="586586"/>
                </a:solidFill>
                <a:latin typeface="Outfit"/>
              </a:rPr>
              <a:t>Indépendante des mouvements, mobilisable dès qu'un usage IA est identifié — à tout moment de la mission.</a:t>
            </a:r>
          </a:p>
        </p:txBody>
      </p:sp>
      <p:sp>
        <p:nvSpPr>
          <p:cNvPr id="53" name="Rounded Rectangle 52"/>
          <p:cNvSpPr/>
          <p:nvPr/>
        </p:nvSpPr>
        <p:spPr>
          <a:xfrm>
            <a:off x="562356" y="4198111"/>
            <a:ext cx="128016" cy="128016"/>
          </a:xfrm>
          <a:prstGeom prst="roundRect">
            <a:avLst>
              <a:gd name="adj" fmla="val 3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5236"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mouvement du socle (toujours présent)</a:t>
            </a:r>
          </a:p>
        </p:txBody>
      </p:sp>
      <p:sp>
        <p:nvSpPr>
          <p:cNvPr id="55" name="Rounded Rectangle 54"/>
          <p:cNvSpPr/>
          <p:nvPr/>
        </p:nvSpPr>
        <p:spPr>
          <a:xfrm>
            <a:off x="3186684" y="4198111"/>
            <a:ext cx="128016" cy="128016"/>
          </a:xfrm>
          <a:prstGeom prst="roundRect">
            <a:avLst>
              <a:gd name="adj" fmla="val 3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9564"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variante ou section conditionnée au contexte</a:t>
            </a:r>
          </a:p>
        </p:txBody>
      </p:sp>
      <p:sp>
        <p:nvSpPr>
          <p:cNvPr id="57" name="Rounded Rectangle 56"/>
          <p:cNvSpPr/>
          <p:nvPr/>
        </p:nvSpPr>
        <p:spPr>
          <a:xfrm>
            <a:off x="5811012" y="4198111"/>
            <a:ext cx="128016" cy="128016"/>
          </a:xfrm>
          <a:prstGeom prst="roundRect">
            <a:avLst>
              <a:gd name="adj" fmla="val 3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3892"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mécanisme additif (extension, checklist transverse)</a:t>
            </a:r>
          </a:p>
        </p:txBody>
      </p:sp>
      <p:sp>
        <p:nvSpPr>
          <p:cNvPr id="59" name="Rounded Rectangle 58"/>
          <p:cNvSpPr/>
          <p:nvPr/>
        </p:nvSpPr>
        <p:spPr>
          <a:xfrm>
            <a:off x="562356" y="4277614"/>
            <a:ext cx="7804404" cy="70586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62356" y="4277614"/>
            <a:ext cx="64008" cy="70586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1812" y="4323334"/>
            <a:ext cx="7402068" cy="614426"/>
          </a:xfrm>
          <a:prstGeom prst="rect">
            <a:avLst/>
          </a:prstGeom>
          <a:noFill/>
        </p:spPr>
        <p:txBody>
          <a:bodyPr wrap="square" anchor="t" lIns="0" rIns="0" tIns="0" bIns="0">
            <a:noAutofit/>
          </a:bodyPr>
          <a:lstStyle/>
          <a:p>
            <a:pPr algn="l"/>
            <a:r>
              <a:rPr sz="700" b="1" i="0">
                <a:solidFill>
                  <a:srgbClr val="8FD6DB"/>
                </a:solidFill>
                <a:latin typeface="Outfit"/>
              </a:rPr>
              <a:t>LA THÈSE</a:t>
            </a:r>
          </a:p>
          <a:p>
            <a:pPr algn="l">
              <a:lnSpc>
                <a:spcPct val="120000"/>
              </a:lnSpc>
              <a:spcBef>
                <a:spcPts val="300"/>
              </a:spcBef>
            </a:pPr>
            <a:r>
              <a:rPr sz="850" b="1" i="0">
                <a:solidFill>
                  <a:srgbClr val="FFFFFF"/>
                </a:solidFill>
                <a:latin typeface="Outfit"/>
              </a:rPr>
              <a:t>« Réussir une transformation Infra as a Product, ce n'est pas "mettre des PO dans l'infra". C'est concevoir, opérer et faire adopter une plateforme interne comme un produit, en équilibrant delivery, robustesse du RUN et valeur perçue par les utilisateurs internes.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La Gate IA s'applique à chaque étape, de la collecte à la boucle de réévaluation</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0000"/>
              </a:lnSpc>
            </a:pPr>
            <a:r>
              <a:rPr sz="800" b="0" i="1">
                <a:solidFill>
                  <a:srgbClr val="586586"/>
                </a:solidFill>
                <a:latin typeface="Outfit"/>
              </a:rPr>
              <a:t>Deux sources de collecte convergent vers un diagnostic structuré ; une boucle de réévaluation referme le cycle.</a:t>
            </a:r>
          </a:p>
        </p:txBody>
      </p:sp>
      <p:sp>
        <p:nvSpPr>
          <p:cNvPr id="4" name="Rounded Rectangle 3"/>
          <p:cNvSpPr/>
          <p:nvPr/>
        </p:nvSpPr>
        <p:spPr>
          <a:xfrm>
            <a:off x="562356" y="1325880"/>
            <a:ext cx="7804404" cy="329184"/>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325880"/>
            <a:ext cx="7438644" cy="329184"/>
          </a:xfrm>
          <a:prstGeom prst="rect">
            <a:avLst/>
          </a:prstGeom>
          <a:noFill/>
        </p:spPr>
        <p:txBody>
          <a:bodyPr wrap="square" anchor="ctr" lIns="0" rIns="0" tIns="0" bIns="0">
            <a:noAutofit/>
          </a:bodyPr>
          <a:lstStyle/>
          <a:p>
            <a:pPr algn="l">
              <a:lnSpc>
                <a:spcPct val="110000"/>
              </a:lnSpc>
            </a:pPr>
            <a:r>
              <a:rPr sz="800" b="1" i="0">
                <a:solidFill>
                  <a:srgbClr val="FFFFFF"/>
                </a:solidFill>
                <a:latin typeface="Outfit"/>
              </a:rPr>
              <a:t>GATE IA &amp; CONFIDENTIALITÉ — checkpoint humain, transversal à chaque étape qui invoque un LLM</a:t>
            </a:r>
          </a:p>
        </p:txBody>
      </p:sp>
      <p:sp>
        <p:nvSpPr>
          <p:cNvPr id="6" name="Rectangle 5"/>
          <p:cNvSpPr/>
          <p:nvPr/>
        </p:nvSpPr>
        <p:spPr>
          <a:xfrm>
            <a:off x="562356"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COLLECTE</a:t>
            </a:r>
          </a:p>
        </p:txBody>
      </p:sp>
      <p:sp>
        <p:nvSpPr>
          <p:cNvPr id="8" name="Rounded Rectangle 7"/>
          <p:cNvSpPr/>
          <p:nvPr/>
        </p:nvSpPr>
        <p:spPr>
          <a:xfrm>
            <a:off x="562356"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Interviews par persona (trame / thème / question)</a:t>
            </a:r>
          </a:p>
          <a:p>
            <a:pPr algn="l">
              <a:lnSpc>
                <a:spcPct val="120000"/>
              </a:lnSpc>
              <a:spcAft>
                <a:spcPts val="400"/>
              </a:spcAft>
            </a:pPr>
            <a:r>
              <a:rPr sz="700" b="0" i="0">
                <a:solidFill>
                  <a:srgbClr val="0E2356"/>
                </a:solidFill>
                <a:latin typeface="Outfit"/>
              </a:rPr>
              <a:t>·  Import outils : ServiceNow/Jira/CMDB si accès</a:t>
            </a:r>
          </a:p>
        </p:txBody>
      </p:sp>
      <p:sp>
        <p:nvSpPr>
          <p:cNvPr id="10" name="TextBox 9"/>
          <p:cNvSpPr txBox="1"/>
          <p:nvPr/>
        </p:nvSpPr>
        <p:spPr>
          <a:xfrm>
            <a:off x="2376297"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1" name="Rectangle 10"/>
          <p:cNvSpPr/>
          <p:nvPr/>
        </p:nvSpPr>
        <p:spPr>
          <a:xfrm>
            <a:off x="2559177"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59177"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DIAGNOSTIC</a:t>
            </a:r>
          </a:p>
        </p:txBody>
      </p:sp>
      <p:sp>
        <p:nvSpPr>
          <p:cNvPr id="13" name="Rounded Rectangle 12"/>
          <p:cNvSpPr/>
          <p:nvPr/>
        </p:nvSpPr>
        <p:spPr>
          <a:xfrm>
            <a:off x="2559177"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0617"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Synthèse par thème puis synthèse globale</a:t>
            </a:r>
          </a:p>
          <a:p>
            <a:pPr algn="l">
              <a:lnSpc>
                <a:spcPct val="120000"/>
              </a:lnSpc>
              <a:spcAft>
                <a:spcPts val="400"/>
              </a:spcAft>
            </a:pPr>
            <a:r>
              <a:rPr sz="700" b="0" i="0">
                <a:solidFill>
                  <a:srgbClr val="0E2356"/>
                </a:solidFill>
                <a:latin typeface="Outfit"/>
              </a:rPr>
              <a:t>·  Registre de gaspillage (tags CONFIRMÉ/DÉDUIT/INCERTAIN)</a:t>
            </a:r>
          </a:p>
        </p:txBody>
      </p:sp>
      <p:sp>
        <p:nvSpPr>
          <p:cNvPr id="15" name="TextBox 14"/>
          <p:cNvSpPr txBox="1"/>
          <p:nvPr/>
        </p:nvSpPr>
        <p:spPr>
          <a:xfrm>
            <a:off x="4373118"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6" name="Rectangle 15"/>
          <p:cNvSpPr/>
          <p:nvPr/>
        </p:nvSpPr>
        <p:spPr>
          <a:xfrm>
            <a:off x="4555998"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5998"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CONCEPTION</a:t>
            </a:r>
          </a:p>
        </p:txBody>
      </p:sp>
      <p:sp>
        <p:nvSpPr>
          <p:cNvPr id="18" name="Rounded Rectangle 17"/>
          <p:cNvSpPr/>
          <p:nvPr/>
        </p:nvSpPr>
        <p:spPr>
          <a:xfrm>
            <a:off x="4555998"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7438"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Définition produit (+ cible MVP)</a:t>
            </a:r>
          </a:p>
          <a:p>
            <a:pPr algn="l">
              <a:lnSpc>
                <a:spcPct val="120000"/>
              </a:lnSpc>
              <a:spcAft>
                <a:spcPts val="400"/>
              </a:spcAft>
            </a:pPr>
            <a:r>
              <a:rPr sz="700" b="0" i="0">
                <a:solidFill>
                  <a:srgbClr val="0E2356"/>
                </a:solidFill>
                <a:latin typeface="Outfit"/>
              </a:rPr>
              <a:t>·  Operating model + traitement du gaspillage (décisions actées)</a:t>
            </a:r>
          </a:p>
        </p:txBody>
      </p:sp>
      <p:sp>
        <p:nvSpPr>
          <p:cNvPr id="20" name="TextBox 19"/>
          <p:cNvSpPr txBox="1"/>
          <p:nvPr/>
        </p:nvSpPr>
        <p:spPr>
          <a:xfrm>
            <a:off x="6369939"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ectangle 20"/>
          <p:cNvSpPr/>
          <p:nvPr/>
        </p:nvSpPr>
        <p:spPr>
          <a:xfrm>
            <a:off x="6552819"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2819"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RESTITUTION</a:t>
            </a:r>
          </a:p>
        </p:txBody>
      </p:sp>
      <p:sp>
        <p:nvSpPr>
          <p:cNvPr id="23" name="Rounded Rectangle 22"/>
          <p:cNvSpPr/>
          <p:nvPr/>
        </p:nvSpPr>
        <p:spPr>
          <a:xfrm>
            <a:off x="6552819"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4259"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Deck exécutif : axes valeur/complexité</a:t>
            </a:r>
          </a:p>
          <a:p>
            <a:pPr algn="l">
              <a:lnSpc>
                <a:spcPct val="120000"/>
              </a:lnSpc>
              <a:spcAft>
                <a:spcPts val="400"/>
              </a:spcAft>
            </a:pPr>
            <a:r>
              <a:rPr sz="700" b="0" i="0">
                <a:solidFill>
                  <a:srgbClr val="0E2356"/>
                </a:solidFill>
                <a:latin typeface="Outfit"/>
              </a:rPr>
              <a:t>·  + radar de maturité</a:t>
            </a:r>
          </a:p>
        </p:txBody>
      </p:sp>
      <p:sp>
        <p:nvSpPr>
          <p:cNvPr id="25" name="Rounded Rectangle 24"/>
          <p:cNvSpPr/>
          <p:nvPr/>
        </p:nvSpPr>
        <p:spPr>
          <a:xfrm>
            <a:off x="562356" y="3639312"/>
            <a:ext cx="7804404" cy="365760"/>
          </a:xfrm>
          <a:prstGeom prst="roundRect">
            <a:avLst>
              <a:gd name="adj" fmla="val 10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 y="3639312"/>
            <a:ext cx="7438644" cy="365760"/>
          </a:xfrm>
          <a:prstGeom prst="rect">
            <a:avLst/>
          </a:prstGeom>
          <a:noFill/>
        </p:spPr>
        <p:txBody>
          <a:bodyPr wrap="square" anchor="ctr" lIns="0" rIns="0" tIns="0" bIns="0">
            <a:noAutofit/>
          </a:bodyPr>
          <a:lstStyle/>
          <a:p>
            <a:pPr algn="l">
              <a:lnSpc>
                <a:spcPct val="110000"/>
              </a:lnSpc>
            </a:pPr>
            <a:r>
              <a:rPr sz="750" b="0" i="1">
                <a:solidFill>
                  <a:srgbClr val="586586"/>
                </a:solidFill>
                <a:latin typeface="Outfit"/>
              </a:rPr>
              <a:t>iap-risk-reviewer — lecture seule, challenge Product definition / Operating model → Deck exécutif</a:t>
            </a:r>
          </a:p>
        </p:txBody>
      </p:sp>
      <p:sp>
        <p:nvSpPr>
          <p:cNvPr id="27" name="Rounded Rectangle 26"/>
          <p:cNvSpPr/>
          <p:nvPr/>
        </p:nvSpPr>
        <p:spPr>
          <a:xfrm>
            <a:off x="562356" y="4133088"/>
            <a:ext cx="7804404" cy="50292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6" y="4133088"/>
            <a:ext cx="7438644" cy="502920"/>
          </a:xfrm>
          <a:prstGeom prst="rect">
            <a:avLst/>
          </a:prstGeom>
          <a:noFill/>
        </p:spPr>
        <p:txBody>
          <a:bodyPr wrap="square" anchor="ctr" lIns="0" rIns="0" tIns="0" bIns="0">
            <a:noAutofit/>
          </a:bodyPr>
          <a:lstStyle/>
          <a:p>
            <a:pPr algn="l">
              <a:lnSpc>
                <a:spcPct val="115000"/>
              </a:lnSpc>
            </a:pPr>
            <a:r>
              <a:rPr sz="800" b="0" i="0">
                <a:solidFill>
                  <a:srgbClr val="FFFFFF"/>
                </a:solidFill>
                <a:latin typeface="Outfit"/>
              </a:rPr>
              <a:t>⟲ Boucle de réévaluation — iap-strategy-lead, T+6-12 mois, alimente la bibliothèque de REX, reboucle vers la Collecte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Onze workflows outillés, un seul bloquant : le gate confidentialité les traverse tous</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Un mandat unique par workflow, regroupés par étape. Le gate confidentialité est le seul à pouvoir arrêter la chaîne — transversal, il précède tout usage d'un modèle IA sur donnée client.</a:t>
            </a:r>
          </a:p>
        </p:txBody>
      </p:sp>
      <p:sp>
        <p:nvSpPr>
          <p:cNvPr id="4" name="Rounded Rectangle 3"/>
          <p:cNvSpPr/>
          <p:nvPr/>
        </p:nvSpPr>
        <p:spPr>
          <a:xfrm>
            <a:off x="562356"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INTAKE</a:t>
            </a:r>
          </a:p>
          <a:p>
            <a:pPr algn="l">
              <a:spcBef>
                <a:spcPts val="100"/>
              </a:spcBef>
            </a:pPr>
            <a:r>
              <a:rPr sz="650" b="0" i="0">
                <a:solidFill>
                  <a:srgbClr val="586586"/>
                </a:solidFill>
                <a:latin typeface="Outfit"/>
              </a:rPr>
              <a:t>1 workflow</a:t>
            </a:r>
          </a:p>
        </p:txBody>
      </p:sp>
      <p:sp>
        <p:nvSpPr>
          <p:cNvPr id="7" name="TextBox 6"/>
          <p:cNvSpPr txBox="1"/>
          <p:nvPr/>
        </p:nvSpPr>
        <p:spPr>
          <a:xfrm>
            <a:off x="690372" y="2075688"/>
            <a:ext cx="1557909" cy="71589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iap-intake</a:t>
            </a:r>
          </a:p>
          <a:p>
            <a:pPr algn="l">
              <a:lnSpc>
                <a:spcPct val="110000"/>
              </a:lnSpc>
              <a:spcBef>
                <a:spcPts val="200"/>
              </a:spcBef>
            </a:pPr>
            <a:r>
              <a:rPr sz="650" b="0" i="0">
                <a:solidFill>
                  <a:srgbClr val="586586"/>
                </a:solidFill>
                <a:latin typeface="Outfit"/>
              </a:rPr>
              <a:t>Qualifie le contexte client, le positionne sur les deux échelles de maturité, puis choisit le chemin de mission : diagnostic, pilote, adoption ou gate d'abord.</a:t>
            </a:r>
          </a:p>
        </p:txBody>
      </p:sp>
      <p:sp>
        <p:nvSpPr>
          <p:cNvPr id="8" name="Rounded Rectangle 7"/>
          <p:cNvSpPr/>
          <p:nvPr/>
        </p:nvSpPr>
        <p:spPr>
          <a:xfrm>
            <a:off x="2559177"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559177"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87193"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DIAGNOSTIC</a:t>
            </a:r>
          </a:p>
          <a:p>
            <a:pPr algn="l">
              <a:spcBef>
                <a:spcPts val="100"/>
              </a:spcBef>
            </a:pPr>
            <a:r>
              <a:rPr sz="650" b="0" i="0">
                <a:solidFill>
                  <a:srgbClr val="586586"/>
                </a:solidFill>
                <a:latin typeface="Outfit"/>
              </a:rPr>
              <a:t>2 workflows</a:t>
            </a:r>
          </a:p>
        </p:txBody>
      </p:sp>
      <p:sp>
        <p:nvSpPr>
          <p:cNvPr id="11" name="TextBox 10"/>
          <p:cNvSpPr txBox="1"/>
          <p:nvPr/>
        </p:nvSpPr>
        <p:spPr>
          <a:xfrm>
            <a:off x="2687193" y="2365883"/>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iap-diagnostic-systemique</a:t>
            </a:r>
          </a:p>
          <a:p>
            <a:pPr algn="l">
              <a:lnSpc>
                <a:spcPct val="110000"/>
              </a:lnSpc>
              <a:spcBef>
                <a:spcPts val="200"/>
              </a:spcBef>
            </a:pPr>
            <a:r>
              <a:rPr sz="650" b="0" i="0">
                <a:solidFill>
                  <a:srgbClr val="586586"/>
                </a:solidFill>
                <a:latin typeface="Outfit"/>
              </a:rPr>
              <a:t>Structure, flux, RUN, posture management</a:t>
            </a:r>
          </a:p>
        </p:txBody>
      </p:sp>
      <p:sp>
        <p:nvSpPr>
          <p:cNvPr id="12" name="TextBox 11"/>
          <p:cNvSpPr txBox="1"/>
          <p:nvPr/>
        </p:nvSpPr>
        <p:spPr>
          <a:xfrm>
            <a:off x="2687193" y="3159252"/>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iap-discovery-gaspillage</a:t>
            </a:r>
          </a:p>
          <a:p>
            <a:pPr algn="l">
              <a:lnSpc>
                <a:spcPct val="110000"/>
              </a:lnSpc>
              <a:spcBef>
                <a:spcPts val="200"/>
              </a:spcBef>
            </a:pPr>
            <a:r>
              <a:rPr sz="650" b="0" i="0">
                <a:solidFill>
                  <a:srgbClr val="586586"/>
                </a:solidFill>
                <a:latin typeface="Outfit"/>
              </a:rPr>
              <a:t>Preuves, causes racines, options de traitement</a:t>
            </a:r>
          </a:p>
        </p:txBody>
      </p:sp>
      <p:sp>
        <p:nvSpPr>
          <p:cNvPr id="13" name="Rounded Rectangle 12"/>
          <p:cNvSpPr/>
          <p:nvPr/>
        </p:nvSpPr>
        <p:spPr>
          <a:xfrm>
            <a:off x="4555998"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84014"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CONCEPTION</a:t>
            </a:r>
          </a:p>
          <a:p>
            <a:pPr algn="l">
              <a:spcBef>
                <a:spcPts val="100"/>
              </a:spcBef>
            </a:pPr>
            <a:r>
              <a:rPr sz="650" b="0" i="0">
                <a:solidFill>
                  <a:srgbClr val="586586"/>
                </a:solidFill>
                <a:latin typeface="Outfit"/>
              </a:rPr>
              <a:t>4 workflows</a:t>
            </a:r>
          </a:p>
        </p:txBody>
      </p:sp>
      <p:sp>
        <p:nvSpPr>
          <p:cNvPr id="16" name="TextBox 15"/>
          <p:cNvSpPr txBox="1"/>
          <p:nvPr/>
        </p:nvSpPr>
        <p:spPr>
          <a:xfrm>
            <a:off x="4684014"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iap-waste-treatment</a:t>
            </a:r>
          </a:p>
          <a:p>
            <a:pPr algn="l">
              <a:lnSpc>
                <a:spcPct val="110000"/>
              </a:lnSpc>
              <a:spcBef>
                <a:spcPts val="200"/>
              </a:spcBef>
            </a:pPr>
            <a:r>
              <a:rPr sz="650" b="0" i="0">
                <a:solidFill>
                  <a:srgbClr val="586586"/>
                </a:solidFill>
                <a:latin typeface="Outfit"/>
              </a:rPr>
              <a:t>Backlog priorisé et scoré des gaspillages</a:t>
            </a:r>
          </a:p>
        </p:txBody>
      </p:sp>
      <p:sp>
        <p:nvSpPr>
          <p:cNvPr id="17" name="TextBox 16"/>
          <p:cNvSpPr txBox="1"/>
          <p:nvPr/>
        </p:nvSpPr>
        <p:spPr>
          <a:xfrm>
            <a:off x="4684014" y="253360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iap-product-definition</a:t>
            </a:r>
          </a:p>
          <a:p>
            <a:pPr algn="l">
              <a:lnSpc>
                <a:spcPct val="110000"/>
              </a:lnSpc>
              <a:spcBef>
                <a:spcPts val="200"/>
              </a:spcBef>
            </a:pPr>
            <a:r>
              <a:rPr sz="650" b="0" i="0">
                <a:solidFill>
                  <a:srgbClr val="586586"/>
                </a:solidFill>
                <a:latin typeface="Outfit"/>
              </a:rPr>
              <a:t>Personas, capacités, valeur, roadmap</a:t>
            </a:r>
          </a:p>
        </p:txBody>
      </p:sp>
      <p:sp>
        <p:nvSpPr>
          <p:cNvPr id="18" name="TextBox 17"/>
          <p:cNvSpPr txBox="1"/>
          <p:nvPr/>
        </p:nvSpPr>
        <p:spPr>
          <a:xfrm>
            <a:off x="4684014" y="299152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iap-operating-model</a:t>
            </a:r>
          </a:p>
          <a:p>
            <a:pPr algn="l">
              <a:lnSpc>
                <a:spcPct val="110000"/>
              </a:lnSpc>
              <a:spcBef>
                <a:spcPts val="200"/>
              </a:spcBef>
            </a:pPr>
            <a:r>
              <a:rPr sz="650" b="0" i="0">
                <a:solidFill>
                  <a:srgbClr val="586586"/>
                </a:solidFill>
                <a:latin typeface="Outfit"/>
              </a:rPr>
              <a:t>Rôles, gouvernance, financement (décisions actées)</a:t>
            </a:r>
          </a:p>
        </p:txBody>
      </p:sp>
      <p:sp>
        <p:nvSpPr>
          <p:cNvPr id="19" name="TextBox 18"/>
          <p:cNvSpPr txBox="1"/>
          <p:nvPr/>
        </p:nvSpPr>
        <p:spPr>
          <a:xfrm>
            <a:off x="4684014"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iap-agentic-opportunities</a:t>
            </a:r>
          </a:p>
          <a:p>
            <a:pPr algn="l">
              <a:lnSpc>
                <a:spcPct val="110000"/>
              </a:lnSpc>
              <a:spcBef>
                <a:spcPts val="200"/>
              </a:spcBef>
            </a:pPr>
            <a:r>
              <a:rPr sz="650" b="0" i="0">
                <a:solidFill>
                  <a:srgbClr val="586586"/>
                </a:solidFill>
                <a:latin typeface="Outfit"/>
              </a:rPr>
              <a:t>Le gaspillage d'abord, l'IA ensuite</a:t>
            </a:r>
          </a:p>
        </p:txBody>
      </p:sp>
      <p:sp>
        <p:nvSpPr>
          <p:cNvPr id="20" name="Rounded Rectangle 19"/>
          <p:cNvSpPr/>
          <p:nvPr/>
        </p:nvSpPr>
        <p:spPr>
          <a:xfrm>
            <a:off x="6552819"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52819"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80835"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ADOPTION &amp; RESTITUTION</a:t>
            </a:r>
          </a:p>
          <a:p>
            <a:pPr algn="l">
              <a:spcBef>
                <a:spcPts val="100"/>
              </a:spcBef>
            </a:pPr>
            <a:r>
              <a:rPr sz="650" b="0" i="0">
                <a:solidFill>
                  <a:srgbClr val="586586"/>
                </a:solidFill>
                <a:latin typeface="Outfit"/>
              </a:rPr>
              <a:t>3 workflows</a:t>
            </a:r>
          </a:p>
        </p:txBody>
      </p:sp>
      <p:sp>
        <p:nvSpPr>
          <p:cNvPr id="23" name="TextBox 22"/>
          <p:cNvSpPr txBox="1"/>
          <p:nvPr/>
        </p:nvSpPr>
        <p:spPr>
          <a:xfrm>
            <a:off x="6680835"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iap-adoption-plan</a:t>
            </a:r>
          </a:p>
          <a:p>
            <a:pPr algn="l">
              <a:lnSpc>
                <a:spcPct val="110000"/>
              </a:lnSpc>
              <a:spcBef>
                <a:spcPts val="200"/>
              </a:spcBef>
            </a:pPr>
            <a:r>
              <a:rPr sz="650" b="0" i="0">
                <a:solidFill>
                  <a:srgbClr val="586586"/>
                </a:solidFill>
                <a:latin typeface="Outfit"/>
              </a:rPr>
              <a:t>Onboarding, documentation, communautés</a:t>
            </a:r>
          </a:p>
        </p:txBody>
      </p:sp>
      <p:sp>
        <p:nvSpPr>
          <p:cNvPr id="24" name="TextBox 23"/>
          <p:cNvSpPr txBox="1"/>
          <p:nvPr/>
        </p:nvSpPr>
        <p:spPr>
          <a:xfrm>
            <a:off x="6680835" y="276256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iap-scenario-playbook</a:t>
            </a:r>
          </a:p>
          <a:p>
            <a:pPr algn="l">
              <a:lnSpc>
                <a:spcPct val="110000"/>
              </a:lnSpc>
              <a:spcBef>
                <a:spcPts val="200"/>
              </a:spcBef>
            </a:pPr>
            <a:r>
              <a:rPr sz="650" b="0" i="0">
                <a:solidFill>
                  <a:srgbClr val="586586"/>
                </a:solidFill>
                <a:latin typeface="Outfit"/>
              </a:rPr>
              <a:t>Adapte la démarche au scénario client</a:t>
            </a:r>
          </a:p>
        </p:txBody>
      </p:sp>
      <p:sp>
        <p:nvSpPr>
          <p:cNvPr id="25" name="TextBox 24"/>
          <p:cNvSpPr txBox="1"/>
          <p:nvPr/>
        </p:nvSpPr>
        <p:spPr>
          <a:xfrm>
            <a:off x="6680835"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iap-deck-builder</a:t>
            </a:r>
          </a:p>
          <a:p>
            <a:pPr algn="l">
              <a:lnSpc>
                <a:spcPct val="110000"/>
              </a:lnSpc>
              <a:spcBef>
                <a:spcPts val="200"/>
              </a:spcBef>
            </a:pPr>
            <a:r>
              <a:rPr sz="650" b="0" i="0">
                <a:solidFill>
                  <a:srgbClr val="586586"/>
                </a:solidFill>
                <a:latin typeface="Outfit"/>
              </a:rPr>
              <a:t>Deck modulaire, restitution exécutive</a:t>
            </a:r>
          </a:p>
        </p:txBody>
      </p:sp>
      <p:sp>
        <p:nvSpPr>
          <p:cNvPr id="26" name="Rounded Rectangle 25"/>
          <p:cNvSpPr/>
          <p:nvPr/>
        </p:nvSpPr>
        <p:spPr>
          <a:xfrm>
            <a:off x="562356" y="3995928"/>
            <a:ext cx="7804404" cy="54864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8660" y="4142232"/>
            <a:ext cx="1051560" cy="2560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8660" y="4142232"/>
            <a:ext cx="1051560" cy="256032"/>
          </a:xfrm>
          <a:prstGeom prst="rect">
            <a:avLst/>
          </a:prstGeom>
          <a:noFill/>
        </p:spPr>
        <p:txBody>
          <a:bodyPr wrap="square" anchor="ctr" lIns="0" rIns="0" tIns="0" bIns="0">
            <a:noAutofit/>
          </a:bodyPr>
          <a:lstStyle/>
          <a:p>
            <a:pPr algn="ctr"/>
            <a:r>
              <a:rPr sz="700" b="1" i="0">
                <a:solidFill>
                  <a:srgbClr val="0E2356"/>
                </a:solidFill>
                <a:latin typeface="Outfit"/>
              </a:rPr>
              <a:t>BLOQUANT</a:t>
            </a:r>
          </a:p>
        </p:txBody>
      </p:sp>
      <p:sp>
        <p:nvSpPr>
          <p:cNvPr id="29" name="TextBox 28"/>
          <p:cNvSpPr txBox="1"/>
          <p:nvPr/>
        </p:nvSpPr>
        <p:spPr>
          <a:xfrm>
            <a:off x="1943100" y="4087368"/>
            <a:ext cx="6249924" cy="365759"/>
          </a:xfrm>
          <a:prstGeom prst="rect">
            <a:avLst/>
          </a:prstGeom>
          <a:noFill/>
        </p:spPr>
        <p:txBody>
          <a:bodyPr wrap="square" anchor="ctr" lIns="0" rIns="0" tIns="0" bIns="0">
            <a:noAutofit/>
          </a:bodyPr>
          <a:lstStyle/>
          <a:p>
            <a:pPr algn="l"/>
            <a:r>
              <a:rPr sz="800" b="1" i="0">
                <a:solidFill>
                  <a:srgbClr val="FFFFFF"/>
                </a:solidFill>
                <a:latin typeface="Outfit"/>
              </a:rPr>
              <a:t>iap-ai-data-confidentiality-gate</a:t>
            </a:r>
          </a:p>
          <a:p>
            <a:pPr algn="l">
              <a:lnSpc>
                <a:spcPct val="115000"/>
              </a:lnSpc>
              <a:spcBef>
                <a:spcPts val="200"/>
              </a:spcBef>
            </a:pPr>
            <a:r>
              <a:rPr sz="750" b="0" i="0">
                <a:solidFill>
                  <a:srgbClr val="C7CBE0"/>
                </a:solidFill>
                <a:latin typeface="Outfit"/>
              </a:rPr>
              <a:t>Classe les données (D0-D4), décide le mode d'exécution IA et pose les garde-fous — transversal, avant tout usage d'un modèle IA sur donnée client.</a:t>
            </a:r>
          </a:p>
        </p:txBody>
      </p:sp>
      <p:sp>
        <p:nvSpPr>
          <p:cNvPr id="30" name="TextBox 29"/>
          <p:cNvSpPr txBox="1"/>
          <p:nvPr/>
        </p:nvSpPr>
        <p:spPr>
          <a:xfrm>
            <a:off x="562356" y="4654296"/>
            <a:ext cx="7804404" cy="329183"/>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Onze mandats distincts, un seul peut arrêter la chaîne — tous les autres proposent et produisent, la décision finale reste humaine.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IAP tourne sur le poste du consultant — seuls les agents retenus passent chez le client</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Rien ne s'installe côté client par défaut : les interviews et les exports entrent, les livrables sortent — le déploiement d'agents est une décision de ②/③, pas un prérequis.</a:t>
            </a:r>
          </a:p>
        </p:txBody>
      </p:sp>
      <p:sp>
        <p:nvSpPr>
          <p:cNvPr id="4" name="Rounded Rectangle 3"/>
          <p:cNvSpPr/>
          <p:nvPr/>
        </p:nvSpPr>
        <p:spPr>
          <a:xfrm>
            <a:off x="562356" y="1417319"/>
            <a:ext cx="3017520" cy="2651760"/>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8660" y="1527048"/>
            <a:ext cx="2724912" cy="384048"/>
          </a:xfrm>
          <a:prstGeom prst="rect">
            <a:avLst/>
          </a:prstGeom>
          <a:noFill/>
        </p:spPr>
        <p:txBody>
          <a:bodyPr wrap="square" anchor="t" lIns="0" rIns="0" tIns="0" bIns="0">
            <a:noAutofit/>
          </a:bodyPr>
          <a:lstStyle/>
          <a:p>
            <a:pPr algn="l"/>
            <a:r>
              <a:rPr sz="800" b="1" i="0">
                <a:solidFill>
                  <a:srgbClr val="0E2356"/>
                </a:solidFill>
                <a:latin typeface="Outfit"/>
              </a:rPr>
              <a:t>POSTE DU CONSULTANT</a:t>
            </a:r>
          </a:p>
          <a:p>
            <a:pPr algn="l">
              <a:spcBef>
                <a:spcPts val="200"/>
              </a:spcBef>
            </a:pPr>
            <a:r>
              <a:rPr sz="700" b="0" i="0">
                <a:solidFill>
                  <a:srgbClr val="586586"/>
                </a:solidFill>
                <a:latin typeface="Outfit"/>
              </a:rPr>
              <a:t>Le module IAP · 11 workflows outillés</a:t>
            </a:r>
          </a:p>
        </p:txBody>
      </p:sp>
      <p:sp>
        <p:nvSpPr>
          <p:cNvPr id="6" name="Rounded Rectangle 5"/>
          <p:cNvSpPr/>
          <p:nvPr/>
        </p:nvSpPr>
        <p:spPr>
          <a:xfrm>
            <a:off x="708660"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COLLECTE</a:t>
            </a:r>
          </a:p>
        </p:txBody>
      </p:sp>
      <p:sp>
        <p:nvSpPr>
          <p:cNvPr id="8" name="Rounded Rectangle 7"/>
          <p:cNvSpPr/>
          <p:nvPr/>
        </p:nvSpPr>
        <p:spPr>
          <a:xfrm>
            <a:off x="2116836"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16836"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DIAGNOSTIC</a:t>
            </a:r>
          </a:p>
        </p:txBody>
      </p:sp>
      <p:sp>
        <p:nvSpPr>
          <p:cNvPr id="10" name="Rounded Rectangle 9"/>
          <p:cNvSpPr/>
          <p:nvPr/>
        </p:nvSpPr>
        <p:spPr>
          <a:xfrm>
            <a:off x="708660"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CONCEPTION</a:t>
            </a:r>
          </a:p>
        </p:txBody>
      </p:sp>
      <p:sp>
        <p:nvSpPr>
          <p:cNvPr id="12" name="Rounded Rectangle 11"/>
          <p:cNvSpPr/>
          <p:nvPr/>
        </p:nvSpPr>
        <p:spPr>
          <a:xfrm>
            <a:off x="2116836"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16836"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RESTITUTION</a:t>
            </a:r>
          </a:p>
        </p:txBody>
      </p:sp>
      <p:sp>
        <p:nvSpPr>
          <p:cNvPr id="14" name="TextBox 13"/>
          <p:cNvSpPr txBox="1"/>
          <p:nvPr/>
        </p:nvSpPr>
        <p:spPr>
          <a:xfrm>
            <a:off x="708660" y="2679192"/>
            <a:ext cx="2724912" cy="365760"/>
          </a:xfrm>
          <a:prstGeom prst="rect">
            <a:avLst/>
          </a:prstGeom>
          <a:noFill/>
        </p:spPr>
        <p:txBody>
          <a:bodyPr wrap="square" anchor="t" lIns="0" rIns="0" tIns="0" bIns="0">
            <a:noAutofit/>
          </a:bodyPr>
          <a:lstStyle/>
          <a:p>
            <a:pPr algn="l">
              <a:lnSpc>
                <a:spcPct val="120000"/>
              </a:lnSpc>
            </a:pPr>
            <a:r>
              <a:rPr sz="650" b="0" i="1">
                <a:solidFill>
                  <a:srgbClr val="586586"/>
                </a:solidFill>
                <a:latin typeface="Outfit"/>
              </a:rPr>
              <a:t>Mêmes étapes que le schéma de fonctionnement (chapitre Démarches) — fonctionne aussi sans IA externe si le gate l'impose (mode M0).</a:t>
            </a:r>
          </a:p>
        </p:txBody>
      </p:sp>
      <p:sp>
        <p:nvSpPr>
          <p:cNvPr id="15" name="Rounded Rectangle 14"/>
          <p:cNvSpPr/>
          <p:nvPr/>
        </p:nvSpPr>
        <p:spPr>
          <a:xfrm>
            <a:off x="672084" y="3392423"/>
            <a:ext cx="2798064" cy="56692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 y="3392423"/>
            <a:ext cx="2578608" cy="566928"/>
          </a:xfrm>
          <a:prstGeom prst="rect">
            <a:avLst/>
          </a:prstGeom>
          <a:noFill/>
        </p:spPr>
        <p:txBody>
          <a:bodyPr wrap="square" anchor="ctr" lIns="0" rIns="0" tIns="0" bIns="0">
            <a:noAutofit/>
          </a:bodyPr>
          <a:lstStyle/>
          <a:p>
            <a:pPr algn="l"/>
            <a:r>
              <a:rPr sz="700" b="1" i="0">
                <a:solidFill>
                  <a:srgbClr val="FFFFFF"/>
                </a:solidFill>
                <a:latin typeface="Outfit"/>
              </a:rPr>
              <a:t>GATE CONFIDENTIALITÉ — BLOQUANT</a:t>
            </a:r>
          </a:p>
          <a:p>
            <a:pPr algn="l">
              <a:lnSpc>
                <a:spcPct val="115000"/>
              </a:lnSpc>
              <a:spcBef>
                <a:spcPts val="200"/>
              </a:spcBef>
            </a:pPr>
            <a:r>
              <a:rPr sz="650" b="0" i="0">
                <a:solidFill>
                  <a:srgbClr val="C7CBE0"/>
                </a:solidFill>
                <a:latin typeface="Outfit"/>
              </a:rPr>
              <a:t>Classe la donnée (D0-D4) avant tout usage IA sur donnée client</a:t>
            </a:r>
          </a:p>
        </p:txBody>
      </p:sp>
      <p:sp>
        <p:nvSpPr>
          <p:cNvPr id="17" name="TextBox 16"/>
          <p:cNvSpPr txBox="1"/>
          <p:nvPr/>
        </p:nvSpPr>
        <p:spPr>
          <a:xfrm>
            <a:off x="3689604" y="1417319"/>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18" name="TextBox 17"/>
          <p:cNvSpPr txBox="1"/>
          <p:nvPr/>
        </p:nvSpPr>
        <p:spPr>
          <a:xfrm>
            <a:off x="3634740" y="1691639"/>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COLLECTE ENTRANTE</a:t>
            </a:r>
          </a:p>
          <a:p>
            <a:pPr algn="ctr">
              <a:lnSpc>
                <a:spcPct val="110000"/>
              </a:lnSpc>
              <a:spcBef>
                <a:spcPts val="100"/>
              </a:spcBef>
            </a:pPr>
            <a:r>
              <a:rPr sz="600" b="0" i="0">
                <a:solidFill>
                  <a:srgbClr val="586586"/>
                </a:solidFill>
                <a:latin typeface="Outfit"/>
              </a:rPr>
              <a:t>interviews · exports d'outils</a:t>
            </a:r>
          </a:p>
        </p:txBody>
      </p:sp>
      <p:sp>
        <p:nvSpPr>
          <p:cNvPr id="19" name="TextBox 18"/>
          <p:cNvSpPr txBox="1"/>
          <p:nvPr/>
        </p:nvSpPr>
        <p:spPr>
          <a:xfrm>
            <a:off x="3689604" y="2414015"/>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0" name="TextBox 19"/>
          <p:cNvSpPr txBox="1"/>
          <p:nvPr/>
        </p:nvSpPr>
        <p:spPr>
          <a:xfrm>
            <a:off x="3634740" y="2688335"/>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LIVRABLES SORTANTS</a:t>
            </a:r>
          </a:p>
          <a:p>
            <a:pPr algn="ctr">
              <a:lnSpc>
                <a:spcPct val="110000"/>
              </a:lnSpc>
              <a:spcBef>
                <a:spcPts val="100"/>
              </a:spcBef>
            </a:pPr>
            <a:r>
              <a:rPr sz="600" b="0" i="0">
                <a:solidFill>
                  <a:srgbClr val="586586"/>
                </a:solidFill>
                <a:latin typeface="Outfit"/>
              </a:rPr>
              <a:t>deck exécutif · export markdown</a:t>
            </a:r>
          </a:p>
        </p:txBody>
      </p:sp>
      <p:sp>
        <p:nvSpPr>
          <p:cNvPr id="21" name="TextBox 20"/>
          <p:cNvSpPr txBox="1"/>
          <p:nvPr/>
        </p:nvSpPr>
        <p:spPr>
          <a:xfrm>
            <a:off x="3689604" y="3410711"/>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2" name="TextBox 21"/>
          <p:cNvSpPr txBox="1"/>
          <p:nvPr/>
        </p:nvSpPr>
        <p:spPr>
          <a:xfrm>
            <a:off x="3634740" y="3685031"/>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AGENTS RETENUS (②/③)</a:t>
            </a:r>
          </a:p>
          <a:p>
            <a:pPr algn="ctr">
              <a:lnSpc>
                <a:spcPct val="110000"/>
              </a:lnSpc>
              <a:spcBef>
                <a:spcPts val="100"/>
              </a:spcBef>
            </a:pPr>
            <a:r>
              <a:rPr sz="600" b="0" i="0">
                <a:solidFill>
                  <a:srgbClr val="586586"/>
                </a:solidFill>
                <a:latin typeface="Outfit"/>
              </a:rPr>
              <a:t>supervisés puis délégués</a:t>
            </a:r>
          </a:p>
        </p:txBody>
      </p:sp>
      <p:sp>
        <p:nvSpPr>
          <p:cNvPr id="23" name="Rounded Rectangle 22"/>
          <p:cNvSpPr/>
          <p:nvPr/>
        </p:nvSpPr>
        <p:spPr>
          <a:xfrm>
            <a:off x="4988052" y="1417319"/>
            <a:ext cx="3378708" cy="2651760"/>
          </a:xfrm>
          <a:prstGeom prst="roundRect">
            <a:avLst>
              <a:gd name="adj" fmla="val 6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4356" y="1527048"/>
            <a:ext cx="3086100" cy="219456"/>
          </a:xfrm>
          <a:prstGeom prst="rect">
            <a:avLst/>
          </a:prstGeom>
          <a:noFill/>
        </p:spPr>
        <p:txBody>
          <a:bodyPr wrap="square" anchor="t" lIns="0" rIns="0" tIns="0" bIns="0">
            <a:noAutofit/>
          </a:bodyPr>
          <a:lstStyle/>
          <a:p>
            <a:pPr algn="l"/>
            <a:r>
              <a:rPr sz="800" b="1" i="0">
                <a:solidFill>
                  <a:srgbClr val="0E2356"/>
                </a:solidFill>
                <a:latin typeface="Outfit"/>
              </a:rPr>
              <a:t>CONTEXTE CLIENT</a:t>
            </a:r>
          </a:p>
        </p:txBody>
      </p:sp>
      <p:sp>
        <p:nvSpPr>
          <p:cNvPr id="25" name="Rounded Rectangle 24"/>
          <p:cNvSpPr/>
          <p:nvPr/>
        </p:nvSpPr>
        <p:spPr>
          <a:xfrm>
            <a:off x="5134356" y="1801367"/>
            <a:ext cx="3086100"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44084" y="1801367"/>
            <a:ext cx="2866644" cy="502920"/>
          </a:xfrm>
          <a:prstGeom prst="rect">
            <a:avLst/>
          </a:prstGeom>
          <a:noFill/>
        </p:spPr>
        <p:txBody>
          <a:bodyPr wrap="square" anchor="ctr" lIns="0" rIns="0" tIns="0" bIns="0">
            <a:noAutofit/>
          </a:bodyPr>
          <a:lstStyle/>
          <a:p>
            <a:pPr algn="l"/>
            <a:r>
              <a:rPr sz="700" b="1" i="0">
                <a:solidFill>
                  <a:srgbClr val="0E2356"/>
                </a:solidFill>
                <a:latin typeface="Outfit"/>
              </a:rPr>
              <a:t>SPONSOR &amp; ÉQUIPES INTERVIEWÉES</a:t>
            </a:r>
          </a:p>
          <a:p>
            <a:pPr algn="l">
              <a:lnSpc>
                <a:spcPct val="115000"/>
              </a:lnSpc>
              <a:spcBef>
                <a:spcPts val="100"/>
              </a:spcBef>
            </a:pPr>
            <a:r>
              <a:rPr sz="650" b="0" i="0">
                <a:solidFill>
                  <a:srgbClr val="586586"/>
                </a:solidFill>
                <a:latin typeface="Outfit"/>
              </a:rPr>
              <a:t>les voix du diagnostic — interviews par persona</a:t>
            </a:r>
          </a:p>
        </p:txBody>
      </p:sp>
      <p:sp>
        <p:nvSpPr>
          <p:cNvPr id="27" name="Rounded Rectangle 26"/>
          <p:cNvSpPr/>
          <p:nvPr/>
        </p:nvSpPr>
        <p:spPr>
          <a:xfrm>
            <a:off x="5134356" y="2395727"/>
            <a:ext cx="3086100"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44084" y="2395727"/>
            <a:ext cx="2866644" cy="658368"/>
          </a:xfrm>
          <a:prstGeom prst="rect">
            <a:avLst/>
          </a:prstGeom>
          <a:noFill/>
        </p:spPr>
        <p:txBody>
          <a:bodyPr wrap="square" anchor="ctr" lIns="0" rIns="0" tIns="0" bIns="0">
            <a:noAutofit/>
          </a:bodyPr>
          <a:lstStyle/>
          <a:p>
            <a:pPr algn="l"/>
            <a:r>
              <a:rPr sz="700" b="1" i="0">
                <a:solidFill>
                  <a:srgbClr val="0E2356"/>
                </a:solidFill>
                <a:latin typeface="Outfit"/>
              </a:rPr>
              <a:t>SI CLIENT</a:t>
            </a:r>
          </a:p>
          <a:p>
            <a:pPr algn="l">
              <a:lnSpc>
                <a:spcPct val="115000"/>
              </a:lnSpc>
              <a:spcBef>
                <a:spcPts val="100"/>
              </a:spcBef>
            </a:pPr>
            <a:r>
              <a:rPr sz="650" b="0" i="0">
                <a:solidFill>
                  <a:srgbClr val="586586"/>
                </a:solidFill>
                <a:latin typeface="Outfit"/>
              </a:rPr>
              <a:t>ServiceNow · Jira · Confluence · Datadog · CMDB · FinOps — accès selon l'ambition A/B/C (slides suivantes)</a:t>
            </a:r>
          </a:p>
        </p:txBody>
      </p:sp>
      <p:sp>
        <p:nvSpPr>
          <p:cNvPr id="29" name="Rounded Rectangle 28"/>
          <p:cNvSpPr/>
          <p:nvPr/>
        </p:nvSpPr>
        <p:spPr>
          <a:xfrm>
            <a:off x="5134356" y="3163824"/>
            <a:ext cx="3086100" cy="777239"/>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44084" y="3163824"/>
            <a:ext cx="2866644" cy="777239"/>
          </a:xfrm>
          <a:prstGeom prst="rect">
            <a:avLst/>
          </a:prstGeom>
          <a:noFill/>
        </p:spPr>
        <p:txBody>
          <a:bodyPr wrap="square" anchor="ctr" lIns="0" rIns="0" tIns="0" bIns="0">
            <a:noAutofit/>
          </a:bodyPr>
          <a:lstStyle/>
          <a:p>
            <a:pPr algn="l"/>
            <a:r>
              <a:rPr sz="700" b="1" i="0">
                <a:solidFill>
                  <a:srgbClr val="FFFFFF"/>
                </a:solidFill>
                <a:latin typeface="Outfit"/>
              </a:rPr>
              <a:t>DÉPLOIEMENT AGENTIC CHEZ LE CLIENT</a:t>
            </a:r>
          </a:p>
          <a:p>
            <a:pPr algn="l">
              <a:lnSpc>
                <a:spcPct val="120000"/>
              </a:lnSpc>
              <a:spcBef>
                <a:spcPts val="200"/>
              </a:spcBef>
            </a:pPr>
            <a:r>
              <a:rPr sz="650" b="0" i="0">
                <a:solidFill>
                  <a:srgbClr val="CFD3DD"/>
                </a:solidFill>
                <a:latin typeface="Outfit"/>
              </a:rPr>
              <a:t>Les agents candidats retenus se déploient ici en ②/③ — supervisés puis délégués</a:t>
            </a:r>
          </a:p>
        </p:txBody>
      </p:sp>
      <p:sp>
        <p:nvSpPr>
          <p:cNvPr id="31" name="Rounded Rectangle 30"/>
          <p:cNvSpPr/>
          <p:nvPr/>
        </p:nvSpPr>
        <p:spPr>
          <a:xfrm>
            <a:off x="562356" y="4215383"/>
            <a:ext cx="7804404" cy="603504"/>
          </a:xfrm>
          <a:prstGeom prst="roundRect">
            <a:avLst>
              <a:gd name="adj" fmla="val 1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 y="4215383"/>
            <a:ext cx="7438644" cy="603504"/>
          </a:xfrm>
          <a:prstGeom prst="rect">
            <a:avLst/>
          </a:prstGeom>
          <a:noFill/>
        </p:spPr>
        <p:txBody>
          <a:bodyPr wrap="square" anchor="ctr" lIns="0" rIns="0" tIns="0" bIns="0">
            <a:noAutofit/>
          </a:bodyPr>
          <a:lstStyle/>
          <a:p>
            <a:pPr algn="l"/>
            <a:r>
              <a:rPr sz="700" b="1" i="0">
                <a:solidFill>
                  <a:srgbClr val="0E2356"/>
                </a:solidFill>
                <a:latin typeface="Outfit"/>
              </a:rPr>
              <a:t>QUATRE PROPOSITIONS DE DÉPLOIEMENT AGENTIC — DÉTAILLÉES AU CHAPITRE OFFRE</a:t>
            </a:r>
          </a:p>
          <a:p>
            <a:pPr algn="l">
              <a:lnSpc>
                <a:spcPct val="120000"/>
              </a:lnSpc>
              <a:spcBef>
                <a:spcPts val="200"/>
              </a:spcBef>
            </a:pPr>
            <a:r>
              <a:rPr sz="700" b="0" i="0">
                <a:solidFill>
                  <a:srgbClr val="0E2356"/>
                </a:solidFill>
                <a:latin typeface="Outfit"/>
              </a:rPr>
              <a:t>Agent de triage RUN · veille FinOps · agent documentaire (RAG) · export markdown (qui porte la décision agentic/documentation) — chacune porte le badge « déploiement agentic chez le client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OUTILLAGE IAP   ·   </a:t>
            </a:r>
            <a:r>
              <a:rPr b="1" sz="1550">
                <a:solidFill>
                  <a:srgbClr val="0E2356"/>
                </a:solidFill>
                <a:latin typeface="Outfit"/>
              </a:rPr>
              <a:t>Trois niveaux d'ambition, pas un spectre linéaire</a:t>
            </a:r>
          </a:p>
        </p:txBody>
      </p:sp>
      <p:sp>
        <p:nvSpPr>
          <p:cNvPr id="3" name="Rounded Rectangle 2"/>
          <p:cNvSpPr/>
          <p:nvPr/>
        </p:nvSpPr>
        <p:spPr>
          <a:xfrm>
            <a:off x="562356" y="1463039"/>
            <a:ext cx="2479548" cy="1686560"/>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63039"/>
            <a:ext cx="64008" cy="16865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600199"/>
            <a:ext cx="2113788" cy="320040"/>
          </a:xfrm>
          <a:prstGeom prst="rect">
            <a:avLst/>
          </a:prstGeom>
          <a:noFill/>
        </p:spPr>
        <p:txBody>
          <a:bodyPr wrap="square" anchor="t" lIns="0" rIns="0" tIns="0" bIns="0">
            <a:noAutofit/>
          </a:bodyPr>
          <a:lstStyle/>
          <a:p>
            <a:pPr algn="l"/>
            <a:r>
              <a:rPr sz="1050" b="1" i="0">
                <a:solidFill>
                  <a:srgbClr val="FFFFFF"/>
                </a:solidFill>
                <a:latin typeface="Outfit"/>
              </a:rPr>
              <a:t>A · Aide au coach</a:t>
            </a:r>
          </a:p>
        </p:txBody>
      </p:sp>
      <p:sp>
        <p:nvSpPr>
          <p:cNvPr id="6" name="TextBox 5"/>
          <p:cNvSpPr txBox="1"/>
          <p:nvPr/>
        </p:nvSpPr>
        <p:spPr>
          <a:xfrm>
            <a:off x="745236" y="1965960"/>
            <a:ext cx="2113788" cy="689864"/>
          </a:xfrm>
          <a:prstGeom prst="rect">
            <a:avLst/>
          </a:prstGeom>
          <a:noFill/>
        </p:spPr>
        <p:txBody>
          <a:bodyPr wrap="square" anchor="t" lIns="0" rIns="0" tIns="0" bIns="0">
            <a:noAutofit/>
          </a:bodyPr>
          <a:lstStyle/>
          <a:p>
            <a:pPr algn="l">
              <a:lnSpc>
                <a:spcPct val="125000"/>
              </a:lnSpc>
            </a:pPr>
            <a:r>
              <a:rPr sz="800" b="0" i="0">
                <a:solidFill>
                  <a:srgbClr val="E8EBF5"/>
                </a:solidFill>
                <a:latin typeface="Outfit"/>
              </a:rPr>
              <a:t>Génère un livrable à la demande — aucune initiative propre. Le consultant pilote à 100 %.</a:t>
            </a:r>
          </a:p>
        </p:txBody>
      </p:sp>
      <p:sp>
        <p:nvSpPr>
          <p:cNvPr id="7" name="TextBox 6"/>
          <p:cNvSpPr txBox="1"/>
          <p:nvPr/>
        </p:nvSpPr>
        <p:spPr>
          <a:xfrm>
            <a:off x="745236" y="2765552"/>
            <a:ext cx="2113788" cy="274320"/>
          </a:xfrm>
          <a:prstGeom prst="rect">
            <a:avLst/>
          </a:prstGeom>
          <a:noFill/>
        </p:spPr>
        <p:txBody>
          <a:bodyPr wrap="square" anchor="t" lIns="0" rIns="0" tIns="0" bIns="0">
            <a:noAutofit/>
          </a:bodyPr>
          <a:lstStyle/>
          <a:p>
            <a:pPr algn="l"/>
            <a:r>
              <a:rPr sz="800" b="1" i="0">
                <a:solidFill>
                  <a:srgbClr val="FFFFFF"/>
                </a:solidFill>
                <a:latin typeface="Outfit"/>
              </a:rPr>
              <a:t>État actuel du cadrage (MVP0–MVP5)</a:t>
            </a:r>
          </a:p>
        </p:txBody>
      </p:sp>
      <p:sp>
        <p:nvSpPr>
          <p:cNvPr id="8" name="Rounded Rectangle 7"/>
          <p:cNvSpPr/>
          <p:nvPr/>
        </p:nvSpPr>
        <p:spPr>
          <a:xfrm>
            <a:off x="3224783"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24783"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07664"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B · Assistant interactif</a:t>
            </a:r>
          </a:p>
        </p:txBody>
      </p:sp>
      <p:sp>
        <p:nvSpPr>
          <p:cNvPr id="11" name="TextBox 10"/>
          <p:cNvSpPr txBox="1"/>
          <p:nvPr/>
        </p:nvSpPr>
        <p:spPr>
          <a:xfrm>
            <a:off x="3407664"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Guide pas à pas, pose des questions de clarification, signale les incohérences.</a:t>
            </a:r>
          </a:p>
        </p:txBody>
      </p:sp>
      <p:sp>
        <p:nvSpPr>
          <p:cNvPr id="12" name="TextBox 11"/>
          <p:cNvSpPr txBox="1"/>
          <p:nvPr/>
        </p:nvSpPr>
        <p:spPr>
          <a:xfrm>
            <a:off x="3407664"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Palier intermédiaire, entre MVP5 et MVP6</a:t>
            </a:r>
          </a:p>
        </p:txBody>
      </p:sp>
      <p:sp>
        <p:nvSpPr>
          <p:cNvPr id="13" name="Rounded Rectangle 12"/>
          <p:cNvSpPr/>
          <p:nvPr/>
        </p:nvSpPr>
        <p:spPr>
          <a:xfrm>
            <a:off x="5887212"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7212"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0092"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C · Companion connecté</a:t>
            </a:r>
          </a:p>
        </p:txBody>
      </p:sp>
      <p:sp>
        <p:nvSpPr>
          <p:cNvPr id="16" name="TextBox 15"/>
          <p:cNvSpPr txBox="1"/>
          <p:nvPr/>
        </p:nvSpPr>
        <p:spPr>
          <a:xfrm>
            <a:off x="6070092"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Connecté en direct à ServiceNow/Jira/Confluence/Datadog/CMDB/FinOps : quasi autonome sur la collecte et la préparation — jamais sur l'arbitrage.</a:t>
            </a:r>
          </a:p>
        </p:txBody>
      </p:sp>
      <p:sp>
        <p:nvSpPr>
          <p:cNvPr id="17" name="TextBox 16"/>
          <p:cNvSpPr txBox="1"/>
          <p:nvPr/>
        </p:nvSpPr>
        <p:spPr>
          <a:xfrm>
            <a:off x="6070092"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 MVP6, non engagé</a:t>
            </a:r>
          </a:p>
        </p:txBody>
      </p:sp>
      <p:sp>
        <p:nvSpPr>
          <p:cNvPr id="18" name="TextBox 17"/>
          <p:cNvSpPr txBox="1"/>
          <p:nvPr/>
        </p:nvSpPr>
        <p:spPr>
          <a:xfrm>
            <a:off x="562356" y="3314192"/>
            <a:ext cx="7804404" cy="1669287"/>
          </a:xfrm>
          <a:prstGeom prst="rect">
            <a:avLst/>
          </a:prstGeom>
          <a:noFill/>
        </p:spPr>
        <p:txBody>
          <a:bodyPr wrap="square" anchor="t" lIns="0" rIns="0" tIns="0" bIns="0">
            <a:noAutofit/>
          </a:bodyPr>
          <a:lstStyle/>
          <a:p>
            <a:pPr algn="l">
              <a:lnSpc>
                <a:spcPct val="130000"/>
              </a:lnSpc>
            </a:pPr>
            <a:r>
              <a:rPr sz="800" b="0" i="1">
                <a:solidFill>
                  <a:srgbClr val="586586"/>
                </a:solidFill>
                <a:latin typeface="Outfit"/>
              </a:rPr>
              <a:t>Monter de A à C n'est pas qu'une question de fonctionnalités : le niveau C suppose un accès direct aux données de production du client — risque sécurité/confidentialité d'un tout autre ordre. Un cabinet peut durablement rester au niveau A ou B par choix de gouvernance, pas seulement par contrainte technique transitoire. MVP0–6 = jalons de la roadmap de mise en œuvre ; MVP6, le « companion connecté », n'est pas engagé.</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Le lien avec le SI du client change avec le niveau d'ambition, pas la méthode</a:t>
            </a:r>
          </a:p>
        </p:txBody>
      </p:sp>
      <p:sp>
        <p:nvSpPr>
          <p:cNvPr id="3" name="Rounded Rectangle 2"/>
          <p:cNvSpPr/>
          <p:nvPr/>
        </p:nvSpPr>
        <p:spPr>
          <a:xfrm>
            <a:off x="562356" y="1425448"/>
            <a:ext cx="7804404" cy="847344"/>
          </a:xfrm>
          <a:prstGeom prst="roundRect">
            <a:avLst>
              <a:gd name="adj" fmla="val 8000"/>
            </a:avLst>
          </a:prstGeom>
          <a:solidFill>
            <a:srgbClr val="DB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25448"/>
            <a:ext cx="54864" cy="84734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63524" y="165709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657096"/>
            <a:ext cx="384048" cy="384048"/>
          </a:xfrm>
          <a:prstGeom prst="rect">
            <a:avLst/>
          </a:prstGeom>
          <a:noFill/>
        </p:spPr>
        <p:txBody>
          <a:bodyPr wrap="square" anchor="ctr" lIns="0" rIns="0" tIns="0" bIns="0">
            <a:noAutofit/>
          </a:bodyPr>
          <a:lstStyle/>
          <a:p>
            <a:pPr algn="ctr"/>
            <a:r>
              <a:rPr sz="1400" b="1" i="0">
                <a:solidFill>
                  <a:srgbClr val="FFFFFF"/>
                </a:solidFill>
                <a:latin typeface="Outfit"/>
              </a:rPr>
              <a:t>A</a:t>
            </a:r>
          </a:p>
        </p:txBody>
      </p:sp>
      <p:sp>
        <p:nvSpPr>
          <p:cNvPr id="7" name="TextBox 6"/>
          <p:cNvSpPr txBox="1"/>
          <p:nvPr/>
        </p:nvSpPr>
        <p:spPr>
          <a:xfrm>
            <a:off x="1275588" y="1425448"/>
            <a:ext cx="1069848" cy="847344"/>
          </a:xfrm>
          <a:prstGeom prst="rect">
            <a:avLst/>
          </a:prstGeom>
          <a:noFill/>
        </p:spPr>
        <p:txBody>
          <a:bodyPr wrap="square" anchor="ctr" lIns="0" rIns="0" tIns="0" bIns="0">
            <a:noAutofit/>
          </a:bodyPr>
          <a:lstStyle/>
          <a:p>
            <a:pPr algn="l"/>
            <a:r>
              <a:rPr sz="650" b="1" i="0">
                <a:solidFill>
                  <a:srgbClr val="586586"/>
                </a:solidFill>
                <a:latin typeface="Outfit"/>
              </a:rPr>
              <a:t>NIVEAU A</a:t>
            </a:r>
          </a:p>
          <a:p>
            <a:pPr algn="l">
              <a:lnSpc>
                <a:spcPct val="110000"/>
              </a:lnSpc>
              <a:spcBef>
                <a:spcPts val="200"/>
              </a:spcBef>
            </a:pPr>
            <a:r>
              <a:rPr sz="900" b="1" i="0">
                <a:solidFill>
                  <a:srgbClr val="0E2356"/>
                </a:solidFill>
                <a:latin typeface="Outfit"/>
              </a:rPr>
              <a:t>Aide au coach</a:t>
            </a:r>
          </a:p>
        </p:txBody>
      </p:sp>
      <p:sp>
        <p:nvSpPr>
          <p:cNvPr id="8" name="Rectangle 7"/>
          <p:cNvSpPr/>
          <p:nvPr/>
        </p:nvSpPr>
        <p:spPr>
          <a:xfrm>
            <a:off x="2345436"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0028"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ponctuels (ServiceNow/Jira), interviews</a:t>
            </a:r>
          </a:p>
        </p:txBody>
      </p:sp>
      <p:sp>
        <p:nvSpPr>
          <p:cNvPr id="10" name="Rectangle 9"/>
          <p:cNvSpPr/>
          <p:nvPr/>
        </p:nvSpPr>
        <p:spPr>
          <a:xfrm>
            <a:off x="4437888"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1040"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Aucune — tout est apporté par le consultant</a:t>
            </a:r>
          </a:p>
        </p:txBody>
      </p:sp>
      <p:sp>
        <p:nvSpPr>
          <p:cNvPr id="12" name="Rectangle 11"/>
          <p:cNvSpPr/>
          <p:nvPr/>
        </p:nvSpPr>
        <p:spPr>
          <a:xfrm>
            <a:off x="6438900"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2052"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Markdown + deck, à la demande</a:t>
            </a:r>
          </a:p>
        </p:txBody>
      </p:sp>
      <p:sp>
        <p:nvSpPr>
          <p:cNvPr id="14" name="Rounded Rectangle 13"/>
          <p:cNvSpPr/>
          <p:nvPr/>
        </p:nvSpPr>
        <p:spPr>
          <a:xfrm>
            <a:off x="562356" y="2419096"/>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419096"/>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 y="2587244"/>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 y="2587244"/>
            <a:ext cx="384048" cy="384048"/>
          </a:xfrm>
          <a:prstGeom prst="rect">
            <a:avLst/>
          </a:prstGeom>
          <a:noFill/>
        </p:spPr>
        <p:txBody>
          <a:bodyPr wrap="square" anchor="ctr" lIns="0" rIns="0" tIns="0" bIns="0">
            <a:noAutofit/>
          </a:bodyPr>
          <a:lstStyle/>
          <a:p>
            <a:pPr algn="ctr"/>
            <a:r>
              <a:rPr sz="1400" b="1" i="0">
                <a:solidFill>
                  <a:srgbClr val="FFFFFF"/>
                </a:solidFill>
                <a:latin typeface="Outfit"/>
              </a:rPr>
              <a:t>B</a:t>
            </a:r>
          </a:p>
        </p:txBody>
      </p:sp>
      <p:sp>
        <p:nvSpPr>
          <p:cNvPr id="18" name="TextBox 17"/>
          <p:cNvSpPr txBox="1"/>
          <p:nvPr/>
        </p:nvSpPr>
        <p:spPr>
          <a:xfrm>
            <a:off x="1275588" y="2419096"/>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B</a:t>
            </a:r>
          </a:p>
          <a:p>
            <a:pPr algn="l">
              <a:lnSpc>
                <a:spcPct val="110000"/>
              </a:lnSpc>
              <a:spcBef>
                <a:spcPts val="200"/>
              </a:spcBef>
            </a:pPr>
            <a:r>
              <a:rPr sz="900" b="1" i="0">
                <a:solidFill>
                  <a:srgbClr val="0E2356"/>
                </a:solidFill>
                <a:latin typeface="Outfit"/>
              </a:rPr>
              <a:t>Assistant interactif</a:t>
            </a:r>
          </a:p>
        </p:txBody>
      </p:sp>
      <p:sp>
        <p:nvSpPr>
          <p:cNvPr id="19" name="Rectangle 18"/>
          <p:cNvSpPr/>
          <p:nvPr/>
        </p:nvSpPr>
        <p:spPr>
          <a:xfrm>
            <a:off x="2345436"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0028"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 App companion (capture terrain)</a:t>
            </a:r>
          </a:p>
        </p:txBody>
      </p:sp>
      <p:sp>
        <p:nvSpPr>
          <p:cNvPr id="21" name="Rectangle 20"/>
          <p:cNvSpPr/>
          <p:nvPr/>
        </p:nvSpPr>
        <p:spPr>
          <a:xfrm>
            <a:off x="4437888"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11040"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Site web centralisé, orchestration assistée</a:t>
            </a:r>
          </a:p>
        </p:txBody>
      </p:sp>
      <p:sp>
        <p:nvSpPr>
          <p:cNvPr id="23" name="Rectangle 22"/>
          <p:cNvSpPr/>
          <p:nvPr/>
        </p:nvSpPr>
        <p:spPr>
          <a:xfrm>
            <a:off x="6438900"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2052"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 tableau de bord multi-engagements</a:t>
            </a:r>
          </a:p>
        </p:txBody>
      </p:sp>
      <p:sp>
        <p:nvSpPr>
          <p:cNvPr id="25" name="Rounded Rectangle 24"/>
          <p:cNvSpPr/>
          <p:nvPr/>
        </p:nvSpPr>
        <p:spPr>
          <a:xfrm>
            <a:off x="562356" y="3285744"/>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2356" y="3285744"/>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63524" y="3453892"/>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524" y="3453892"/>
            <a:ext cx="384048" cy="384048"/>
          </a:xfrm>
          <a:prstGeom prst="rect">
            <a:avLst/>
          </a:prstGeom>
          <a:noFill/>
        </p:spPr>
        <p:txBody>
          <a:bodyPr wrap="square" anchor="ctr" lIns="0" rIns="0" tIns="0" bIns="0">
            <a:noAutofit/>
          </a:bodyPr>
          <a:lstStyle/>
          <a:p>
            <a:pPr algn="ctr"/>
            <a:r>
              <a:rPr sz="1400" b="1" i="0">
                <a:solidFill>
                  <a:srgbClr val="FFFFFF"/>
                </a:solidFill>
                <a:latin typeface="Outfit"/>
              </a:rPr>
              <a:t>C</a:t>
            </a:r>
          </a:p>
        </p:txBody>
      </p:sp>
      <p:sp>
        <p:nvSpPr>
          <p:cNvPr id="29" name="TextBox 28"/>
          <p:cNvSpPr txBox="1"/>
          <p:nvPr/>
        </p:nvSpPr>
        <p:spPr>
          <a:xfrm>
            <a:off x="1275588" y="3285744"/>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C</a:t>
            </a:r>
          </a:p>
          <a:p>
            <a:pPr algn="l">
              <a:lnSpc>
                <a:spcPct val="110000"/>
              </a:lnSpc>
              <a:spcBef>
                <a:spcPts val="200"/>
              </a:spcBef>
            </a:pPr>
            <a:r>
              <a:rPr sz="900" b="1" i="0">
                <a:solidFill>
                  <a:srgbClr val="0E2356"/>
                </a:solidFill>
                <a:latin typeface="Outfit"/>
              </a:rPr>
              <a:t>Companion connecté (non engagé)</a:t>
            </a:r>
          </a:p>
        </p:txBody>
      </p:sp>
      <p:sp>
        <p:nvSpPr>
          <p:cNvPr id="30" name="Rectangle 29"/>
          <p:cNvSpPr/>
          <p:nvPr/>
        </p:nvSpPr>
        <p:spPr>
          <a:xfrm>
            <a:off x="2345436"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0028"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ServiceNow/Jira/Confluence/Datadog/CMDB/FinOps</a:t>
            </a:r>
          </a:p>
        </p:txBody>
      </p:sp>
      <p:sp>
        <p:nvSpPr>
          <p:cNvPr id="32" name="Rectangle 31"/>
          <p:cNvSpPr/>
          <p:nvPr/>
        </p:nvSpPr>
        <p:spPr>
          <a:xfrm>
            <a:off x="4437888"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11040"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Connecteurs API directs, en continu</a:t>
            </a:r>
          </a:p>
        </p:txBody>
      </p:sp>
      <p:sp>
        <p:nvSpPr>
          <p:cNvPr id="34" name="Rectangle 33"/>
          <p:cNvSpPr/>
          <p:nvPr/>
        </p:nvSpPr>
        <p:spPr>
          <a:xfrm>
            <a:off x="6438900"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12052"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Livrables mis à jour en continu</a:t>
            </a:r>
          </a:p>
        </p:txBody>
      </p:sp>
      <p:sp>
        <p:nvSpPr>
          <p:cNvPr id="36" name="TextBox 35"/>
          <p:cNvSpPr txBox="1"/>
          <p:nvPr/>
        </p:nvSpPr>
        <p:spPr>
          <a:xfrm>
            <a:off x="562356" y="4152392"/>
            <a:ext cx="7804404" cy="45720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niveau C suppose un accès direct aux données de production du client — un cabinet peut durablement rester au niveau A ou B par choix de gouvernance (slide précédente).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Next steps</a:t>
            </a:r>
          </a:p>
          <a:p>
            <a:r>
              <a:rPr sz="1050" i="1">
                <a:solidFill>
                  <a:srgbClr val="586586"/>
                </a:solidFill>
                <a:latin typeface="Outfit"/>
              </a:rPr>
              <a:t>Ce que la mission exige du client, les jalons immédiats, et le signal minimal pour savoir si ça marche.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08</a:t>
            </a:r>
          </a:p>
        </p:txBody>
      </p:sp>
      <p:pic>
        <p:nvPicPr>
          <p:cNvPr id="4" name="Picture 3" descr="meadow_1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DÉMARCHE   ·   </a:t>
            </a:r>
            <a:r>
              <a:rPr b="1" sz="1700">
                <a:solidFill>
                  <a:srgbClr val="0E2356"/>
                </a:solidFill>
                <a:latin typeface="Outfit"/>
              </a:rPr>
              <a:t>Quatre conditions de réussite de la démarche</a:t>
            </a:r>
          </a:p>
        </p:txBody>
      </p:sp>
      <p:sp>
        <p:nvSpPr>
          <p:cNvPr id="3" name="TextBox 2"/>
          <p:cNvSpPr txBox="1"/>
          <p:nvPr/>
        </p:nvSpPr>
        <p:spPr>
          <a:xfrm>
            <a:off x="562356" y="1051560"/>
            <a:ext cx="7804404" cy="356489"/>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Nos convictions fixent les conditions dans lesquelles la démarche réussit — et ce qu'elle refuse de faire, même quand on le lui demande.</a:t>
            </a:r>
          </a:p>
        </p:txBody>
      </p:sp>
      <p:sp>
        <p:nvSpPr>
          <p:cNvPr id="4" name="Rectangle 3"/>
          <p:cNvSpPr/>
          <p:nvPr/>
        </p:nvSpPr>
        <p:spPr>
          <a:xfrm>
            <a:off x="672084" y="1808734"/>
            <a:ext cx="18288" cy="2102357"/>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0100" y="1499489"/>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00100" y="1499489"/>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689862"/>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1689862"/>
            <a:ext cx="237744" cy="237744"/>
          </a:xfrm>
          <a:prstGeom prst="rect">
            <a:avLst/>
          </a:prstGeom>
          <a:noFill/>
        </p:spPr>
        <p:txBody>
          <a:bodyPr wrap="square" anchor="ctr" lIns="0" rIns="0" tIns="0" bIns="0">
            <a:noAutofit/>
          </a:bodyPr>
          <a:lstStyle/>
          <a:p>
            <a:pPr algn="ctr"/>
            <a:r>
              <a:rPr sz="800" b="1" i="0">
                <a:solidFill>
                  <a:srgbClr val="FFFFFF"/>
                </a:solidFill>
                <a:latin typeface="Outfit"/>
              </a:rPr>
              <a:t>1</a:t>
            </a:r>
          </a:p>
        </p:txBody>
      </p:sp>
      <p:sp>
        <p:nvSpPr>
          <p:cNvPr id="9" name="TextBox 8"/>
          <p:cNvSpPr txBox="1"/>
          <p:nvPr/>
        </p:nvSpPr>
        <p:spPr>
          <a:xfrm>
            <a:off x="1001268" y="1499489"/>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sponsor qui porte la cible</a:t>
            </a:r>
          </a:p>
          <a:p>
            <a:pPr algn="l">
              <a:lnSpc>
                <a:spcPct val="125000"/>
              </a:lnSpc>
              <a:spcBef>
                <a:spcPts val="300"/>
              </a:spcBef>
            </a:pPr>
            <a:r>
              <a:rPr sz="700" b="0" i="0">
                <a:solidFill>
                  <a:srgbClr val="0E2356"/>
                </a:solidFill>
                <a:latin typeface="Outfit"/>
              </a:rPr>
              <a:t>La transformation ne va pas plus loin que ce que le sponsor peut porter : son engagement se construit dès l'intake, il ne se suppose pas.</a:t>
            </a:r>
          </a:p>
        </p:txBody>
      </p:sp>
      <p:sp>
        <p:nvSpPr>
          <p:cNvPr id="10" name="Rounded Rectangle 9"/>
          <p:cNvSpPr/>
          <p:nvPr/>
        </p:nvSpPr>
        <p:spPr>
          <a:xfrm>
            <a:off x="800100" y="2200275"/>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0100" y="2200275"/>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2356" y="2390648"/>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390648"/>
            <a:ext cx="237744" cy="237744"/>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4" name="TextBox 13"/>
          <p:cNvSpPr txBox="1"/>
          <p:nvPr/>
        </p:nvSpPr>
        <p:spPr>
          <a:xfrm>
            <a:off x="1001268" y="2200275"/>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Des équipes réellement disponibles</a:t>
            </a:r>
          </a:p>
          <a:p>
            <a:pPr algn="l">
              <a:lnSpc>
                <a:spcPct val="125000"/>
              </a:lnSpc>
              <a:spcBef>
                <a:spcPts val="300"/>
              </a:spcBef>
            </a:pPr>
            <a:r>
              <a:rPr sz="700" b="0" i="0">
                <a:solidFill>
                  <a:srgbClr val="0E2356"/>
                </a:solidFill>
                <a:latin typeface="Outfit"/>
              </a:rPr>
              <a:t>Interviews et ateliers supposent du temps réservé — la disponibilité réelle se vérifie à l'intake, jamais en cours de mission.</a:t>
            </a:r>
          </a:p>
        </p:txBody>
      </p:sp>
      <p:sp>
        <p:nvSpPr>
          <p:cNvPr id="15" name="Rounded Rectangle 14"/>
          <p:cNvSpPr/>
          <p:nvPr/>
        </p:nvSpPr>
        <p:spPr>
          <a:xfrm>
            <a:off x="800100" y="2901061"/>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0100" y="2901061"/>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091434"/>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3091434"/>
            <a:ext cx="237744" cy="237744"/>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9" name="TextBox 18"/>
          <p:cNvSpPr txBox="1"/>
          <p:nvPr/>
        </p:nvSpPr>
        <p:spPr>
          <a:xfrm>
            <a:off x="1001268" y="2901061"/>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Une RH embarquée sur rôles et évaluation</a:t>
            </a:r>
          </a:p>
          <a:p>
            <a:pPr algn="l">
              <a:lnSpc>
                <a:spcPct val="125000"/>
              </a:lnSpc>
              <a:spcBef>
                <a:spcPts val="300"/>
              </a:spcBef>
            </a:pPr>
            <a:r>
              <a:rPr sz="700" b="0" i="0">
                <a:solidFill>
                  <a:srgbClr val="0E2356"/>
                </a:solidFill>
                <a:latin typeface="Outfit"/>
              </a:rPr>
              <a:t>« Frein ou principal accélérateur » : coacher une posture que les grilles d'évaluation punissent revient à ramer contre le système.</a:t>
            </a:r>
          </a:p>
        </p:txBody>
      </p:sp>
      <p:sp>
        <p:nvSpPr>
          <p:cNvPr id="20" name="Rounded Rectangle 19"/>
          <p:cNvSpPr/>
          <p:nvPr/>
        </p:nvSpPr>
        <p:spPr>
          <a:xfrm>
            <a:off x="800100" y="3601847"/>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0100" y="3601847"/>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2356" y="3792220"/>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2356" y="3792220"/>
            <a:ext cx="237744" cy="237744"/>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24" name="TextBox 23"/>
          <p:cNvSpPr txBox="1"/>
          <p:nvPr/>
        </p:nvSpPr>
        <p:spPr>
          <a:xfrm>
            <a:off x="1001268" y="3601847"/>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processus documenté avant tout agent</a:t>
            </a:r>
          </a:p>
          <a:p>
            <a:pPr algn="l">
              <a:lnSpc>
                <a:spcPct val="125000"/>
              </a:lnSpc>
              <a:spcBef>
                <a:spcPts val="300"/>
              </a:spcBef>
            </a:pPr>
            <a:r>
              <a:rPr sz="700" b="0" i="0">
                <a:solidFill>
                  <a:srgbClr val="0E2356"/>
                </a:solidFill>
                <a:latin typeface="Outfit"/>
              </a:rPr>
              <a:t>Sinon on fige une pratique mal définie dans du code — préalable non négociable de la doctrine d'automatisation.</a:t>
            </a:r>
          </a:p>
        </p:txBody>
      </p:sp>
      <p:sp>
        <p:nvSpPr>
          <p:cNvPr id="25" name="Rounded Rectangle 24"/>
          <p:cNvSpPr/>
          <p:nvPr/>
        </p:nvSpPr>
        <p:spPr>
          <a:xfrm>
            <a:off x="4119372" y="1499489"/>
            <a:ext cx="4247388" cy="2720847"/>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265676" y="1645793"/>
            <a:ext cx="1298448" cy="2011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65676" y="1645793"/>
            <a:ext cx="1298448" cy="201168"/>
          </a:xfrm>
          <a:prstGeom prst="rect">
            <a:avLst/>
          </a:prstGeom>
          <a:noFill/>
        </p:spPr>
        <p:txBody>
          <a:bodyPr wrap="square" anchor="ctr" lIns="0" rIns="0" tIns="0" bIns="0">
            <a:noAutofit/>
          </a:bodyPr>
          <a:lstStyle/>
          <a:p>
            <a:pPr algn="ctr"/>
            <a:r>
              <a:rPr sz="700" b="1" i="0">
                <a:solidFill>
                  <a:srgbClr val="0E2356"/>
                </a:solidFill>
                <a:latin typeface="Outfit"/>
              </a:rPr>
              <a:t>NOS REFUS</a:t>
            </a:r>
          </a:p>
        </p:txBody>
      </p:sp>
      <p:sp>
        <p:nvSpPr>
          <p:cNvPr id="28" name="TextBox 27"/>
          <p:cNvSpPr txBox="1"/>
          <p:nvPr/>
        </p:nvSpPr>
        <p:spPr>
          <a:xfrm>
            <a:off x="4265676" y="1901825"/>
            <a:ext cx="3954780" cy="679513"/>
          </a:xfrm>
          <a:prstGeom prst="rect">
            <a:avLst/>
          </a:prstGeom>
          <a:noFill/>
        </p:spPr>
        <p:txBody>
          <a:bodyPr wrap="square" anchor="t" lIns="0" rIns="0" tIns="0" bIns="0">
            <a:noAutofit/>
          </a:bodyPr>
          <a:lstStyle/>
          <a:p>
            <a:pPr algn="l">
              <a:lnSpc>
                <a:spcPct val="115000"/>
              </a:lnSpc>
            </a:pPr>
            <a:r>
              <a:rPr sz="900" b="1" i="0">
                <a:solidFill>
                  <a:srgbClr val="FFFFFF"/>
                </a:solidFill>
                <a:latin typeface="Outfit"/>
              </a:rPr>
              <a:t>Nos convictions disent aussi ce que la démarche ne fera pas.</a:t>
            </a:r>
          </a:p>
          <a:p>
            <a:pPr algn="l">
              <a:lnSpc>
                <a:spcPct val="125000"/>
              </a:lnSpc>
              <a:spcBef>
                <a:spcPts val="300"/>
              </a:spcBef>
            </a:pPr>
            <a:r>
              <a:rPr sz="750" b="0" i="0">
                <a:solidFill>
                  <a:srgbClr val="C7CBE0"/>
                </a:solidFill>
                <a:latin typeface="Outfit"/>
              </a:rPr>
              <a:t>Ce ne sont pas des conditions posées au client : ce sont les lignes que la démarche tient, et qu'elle explique dès l'Assessment flash.</a:t>
            </a:r>
          </a:p>
        </p:txBody>
      </p:sp>
      <p:sp>
        <p:nvSpPr>
          <p:cNvPr id="29" name="Rectangle 28"/>
          <p:cNvSpPr/>
          <p:nvPr/>
        </p:nvSpPr>
        <p:spPr>
          <a:xfrm>
            <a:off x="4265676" y="2645346"/>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65676" y="2709354"/>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REFUSE DE FAIRE — LES ANTI-PATTERNS DU CADRAGE</a:t>
            </a:r>
          </a:p>
        </p:txBody>
      </p:sp>
      <p:sp>
        <p:nvSpPr>
          <p:cNvPr id="31" name="Rounded Rectangle 30"/>
          <p:cNvSpPr/>
          <p:nvPr/>
        </p:nvSpPr>
        <p:spPr>
          <a:xfrm>
            <a:off x="4283964" y="2884487"/>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93692" y="2847911"/>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Automatiser un processus mal conçu</a:t>
            </a:r>
          </a:p>
        </p:txBody>
      </p:sp>
      <p:sp>
        <p:nvSpPr>
          <p:cNvPr id="33" name="Rounded Rectangle 32"/>
          <p:cNvSpPr/>
          <p:nvPr/>
        </p:nvSpPr>
        <p:spPr>
          <a:xfrm>
            <a:off x="4283964" y="3023044"/>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93692" y="2986468"/>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Livrer une plateforme techniquement bonne mais peu adoptée</a:t>
            </a:r>
          </a:p>
        </p:txBody>
      </p:sp>
      <p:sp>
        <p:nvSpPr>
          <p:cNvPr id="35" name="Rounded Rectangle 34"/>
          <p:cNvSpPr/>
          <p:nvPr/>
        </p:nvSpPr>
        <p:spPr>
          <a:xfrm>
            <a:off x="4283964" y="3161601"/>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3692" y="3125025"/>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Séparer transformation organisationnelle et technique</a:t>
            </a:r>
          </a:p>
        </p:txBody>
      </p:sp>
      <p:sp>
        <p:nvSpPr>
          <p:cNvPr id="37" name="Rectangle 36"/>
          <p:cNvSpPr/>
          <p:nvPr/>
        </p:nvSpPr>
        <p:spPr>
          <a:xfrm>
            <a:off x="4265676" y="3300158"/>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65676" y="3364166"/>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NE RÉSOUT PAS — MAIS QU'ON CONSIGNE ET QU'ON POSE</a:t>
            </a:r>
          </a:p>
        </p:txBody>
      </p:sp>
      <p:sp>
        <p:nvSpPr>
          <p:cNvPr id="39" name="TextBox 38"/>
          <p:cNvSpPr txBox="1"/>
          <p:nvPr/>
        </p:nvSpPr>
        <p:spPr>
          <a:xfrm>
            <a:off x="4265676" y="3502723"/>
            <a:ext cx="3954780" cy="222250"/>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deskilling-risk — perte de la capacité tacite</a:t>
            </a:r>
          </a:p>
          <a:p>
            <a:pPr algn="l">
              <a:lnSpc>
                <a:spcPct val="125000"/>
              </a:lnSpc>
            </a:pPr>
            <a:r>
              <a:rPr sz="700" b="0" i="0">
                <a:solidFill>
                  <a:srgbClr val="C7CBE0"/>
                </a:solidFill>
                <a:latin typeface="Outfit"/>
              </a:rPr>
              <a:t>L'équipe saurait-elle reprendre la main une semaine sans l'agent ?</a:t>
            </a:r>
          </a:p>
        </p:txBody>
      </p:sp>
      <p:sp>
        <p:nvSpPr>
          <p:cNvPr id="40" name="TextBox 39"/>
          <p:cNvSpPr txBox="1"/>
          <p:nvPr/>
        </p:nvSpPr>
        <p:spPr>
          <a:xfrm>
            <a:off x="4265676" y="3770693"/>
            <a:ext cx="3954780" cy="333375"/>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management-posture-risk — incitations RH contraires</a:t>
            </a:r>
          </a:p>
          <a:p>
            <a:pPr algn="l">
              <a:lnSpc>
                <a:spcPct val="125000"/>
              </a:lnSpc>
            </a:pPr>
            <a:r>
              <a:rPr sz="700" b="0" i="0">
                <a:solidFill>
                  <a:srgbClr val="C7CBE0"/>
                </a:solidFill>
                <a:latin typeface="Outfit"/>
              </a:rPr>
              <a:t>Qu'est-ce qui, dans vos grilles d'évaluation, récompense encore le comportement qu'on vient de décourager ?</a:t>
            </a:r>
          </a:p>
        </p:txBody>
      </p:sp>
      <p:sp>
        <p:nvSpPr>
          <p:cNvPr id="41" name="Rounded Rectangle 40"/>
          <p:cNvSpPr/>
          <p:nvPr/>
        </p:nvSpPr>
        <p:spPr>
          <a:xfrm>
            <a:off x="562356" y="4366641"/>
            <a:ext cx="7804404" cy="616839"/>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 y="4476369"/>
            <a:ext cx="7548372" cy="397383"/>
          </a:xfrm>
          <a:prstGeom prst="rect">
            <a:avLst/>
          </a:prstGeom>
          <a:noFill/>
        </p:spPr>
        <p:txBody>
          <a:bodyPr wrap="square" anchor="t" lIns="0" rIns="0" tIns="0" bIns="0">
            <a:noAutofit/>
          </a:bodyPr>
          <a:lstStyle/>
          <a:p>
            <a:pPr algn="l"/>
            <a:r>
              <a:rPr sz="700" b="1" i="0">
                <a:solidFill>
                  <a:srgbClr val="586586"/>
                </a:solidFill>
                <a:latin typeface="Outfit"/>
              </a:rPr>
              <a:t>LE CRITÈRE DE SORTIE EST LE MIROIR DES CONDITIONS D'ENTRÉE</a:t>
            </a:r>
          </a:p>
          <a:p>
            <a:pPr algn="l">
              <a:lnSpc>
                <a:spcPct val="125000"/>
              </a:lnSpc>
              <a:spcBef>
                <a:spcPts val="300"/>
              </a:spcBef>
            </a:pPr>
            <a:r>
              <a:rPr sz="700" b="0" i="0">
                <a:solidFill>
                  <a:srgbClr val="0E2356"/>
                </a:solidFill>
                <a:latin typeface="Outfit"/>
              </a:rPr>
              <a:t>L'équipe et ses relais tiennent-ils le modèle une période sans le consultant ? Le consultant se rend dispensable : il n'évalue jamais les personnes, ne fait pas le reporting à leur place et ne s'installe pas en intermédiaire permanent entre l'équipe et le sponsor.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NEXT STEPS   ·   </a:t>
            </a:r>
            <a:r>
              <a:rPr b="1" sz="1250">
                <a:solidFill>
                  <a:srgbClr val="0E2356"/>
                </a:solidFill>
                <a:latin typeface="Outfit"/>
              </a:rPr>
              <a:t>Les jalons immédiats, et le signal minimal pour savoir si ça marche</a:t>
            </a:r>
          </a:p>
        </p:txBody>
      </p:sp>
      <p:sp>
        <p:nvSpPr>
          <p:cNvPr id="3" name="TextBox 2"/>
          <p:cNvSpPr txBox="1"/>
          <p:nvPr/>
        </p:nvSpPr>
        <p:spPr>
          <a:xfrm>
            <a:off x="562356" y="1051560"/>
            <a:ext cx="7804404" cy="329184"/>
          </a:xfrm>
          <a:prstGeom prst="rect">
            <a:avLst/>
          </a:prstGeom>
          <a:noFill/>
        </p:spPr>
        <p:txBody>
          <a:bodyPr wrap="square" anchor="t" lIns="0" rIns="0" tIns="0" bIns="0">
            <a:noAutofit/>
          </a:bodyPr>
          <a:lstStyle/>
          <a:p>
            <a:pPr algn="l"/>
            <a:r>
              <a:rPr sz="800" b="0" i="1">
                <a:solidFill>
                  <a:srgbClr val="586586"/>
                </a:solidFill>
                <a:latin typeface="Outfit"/>
              </a:rPr>
              <a:t>Le signal à suivre après l'assessment flash — un instrument, pas un rapport.</a:t>
            </a:r>
          </a:p>
        </p:txBody>
      </p:sp>
      <p:sp>
        <p:nvSpPr>
          <p:cNvPr id="4" name="Rounded Rectangle 3"/>
          <p:cNvSpPr/>
          <p:nvPr/>
        </p:nvSpPr>
        <p:spPr>
          <a:xfrm>
            <a:off x="562356" y="1508760"/>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1508760"/>
            <a:ext cx="457200" cy="658368"/>
          </a:xfrm>
          <a:prstGeom prst="rect">
            <a:avLst/>
          </a:prstGeom>
          <a:noFill/>
        </p:spPr>
        <p:txBody>
          <a:bodyPr wrap="square" anchor="ctr" lIns="0" rIns="0" tIns="0" bIns="0">
            <a:noAutofit/>
          </a:bodyPr>
          <a:lstStyle/>
          <a:p>
            <a:pPr algn="ctr"/>
            <a:r>
              <a:rPr sz="1400" b="1" i="0">
                <a:solidFill>
                  <a:srgbClr val="0E2356"/>
                </a:solidFill>
                <a:latin typeface="Arial"/>
              </a:rPr>
              <a:t>①</a:t>
            </a:r>
          </a:p>
        </p:txBody>
      </p:sp>
      <p:sp>
        <p:nvSpPr>
          <p:cNvPr id="6" name="TextBox 5"/>
          <p:cNvSpPr txBox="1"/>
          <p:nvPr/>
        </p:nvSpPr>
        <p:spPr>
          <a:xfrm>
            <a:off x="1248156" y="1600200"/>
            <a:ext cx="6890004" cy="475488"/>
          </a:xfrm>
          <a:prstGeom prst="rect">
            <a:avLst/>
          </a:prstGeom>
          <a:noFill/>
        </p:spPr>
        <p:txBody>
          <a:bodyPr wrap="square" anchor="ctr" lIns="0" rIns="0" tIns="0" bIns="0">
            <a:noAutofit/>
          </a:bodyPr>
          <a:lstStyle/>
          <a:p>
            <a:pPr algn="l">
              <a:lnSpc>
                <a:spcPct val="110000"/>
              </a:lnSpc>
            </a:pPr>
            <a:r>
              <a:rPr sz="950" b="1" i="0">
                <a:solidFill>
                  <a:srgbClr val="0E2356"/>
                </a:solidFill>
                <a:latin typeface="Outfit"/>
              </a:rPr>
              <a:t>Assessment flash</a:t>
            </a:r>
          </a:p>
          <a:p>
            <a:pPr algn="l">
              <a:lnSpc>
                <a:spcPct val="120000"/>
              </a:lnSpc>
              <a:spcBef>
                <a:spcPts val="300"/>
              </a:spcBef>
            </a:pPr>
            <a:r>
              <a:rPr sz="850" b="0" i="0">
                <a:solidFill>
                  <a:srgbClr val="586586"/>
                </a:solidFill>
                <a:latin typeface="Outfit"/>
              </a:rPr>
              <a:t>Cadrage express : douleurs mesurées, familles de gaspillage scorées, gate IA positionné.</a:t>
            </a:r>
          </a:p>
        </p:txBody>
      </p:sp>
      <p:sp>
        <p:nvSpPr>
          <p:cNvPr id="7" name="Rounded Rectangle 6"/>
          <p:cNvSpPr/>
          <p:nvPr/>
        </p:nvSpPr>
        <p:spPr>
          <a:xfrm>
            <a:off x="562356" y="227685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6947" y="2276856"/>
            <a:ext cx="457200" cy="658368"/>
          </a:xfrm>
          <a:prstGeom prst="rect">
            <a:avLst/>
          </a:prstGeom>
          <a:noFill/>
        </p:spPr>
        <p:txBody>
          <a:bodyPr wrap="square" anchor="ctr" lIns="0" rIns="0" tIns="0" bIns="0">
            <a:noAutofit/>
          </a:bodyPr>
          <a:lstStyle/>
          <a:p>
            <a:pPr algn="ctr"/>
            <a:r>
              <a:rPr sz="1400" b="1" i="0">
                <a:solidFill>
                  <a:srgbClr val="0E2356"/>
                </a:solidFill>
                <a:latin typeface="Arial"/>
              </a:rPr>
              <a:t>②</a:t>
            </a:r>
          </a:p>
        </p:txBody>
      </p:sp>
      <p:sp>
        <p:nvSpPr>
          <p:cNvPr id="9" name="TextBox 8"/>
          <p:cNvSpPr txBox="1"/>
          <p:nvPr/>
        </p:nvSpPr>
        <p:spPr>
          <a:xfrm>
            <a:off x="1248156" y="2368296"/>
            <a:ext cx="6890004" cy="475488"/>
          </a:xfrm>
          <a:prstGeom prst="rect">
            <a:avLst/>
          </a:prstGeom>
          <a:noFill/>
        </p:spPr>
        <p:txBody>
          <a:bodyPr wrap="square" anchor="ctr" lIns="0" rIns="0" tIns="0" bIns="0">
            <a:noAutofit/>
          </a:bodyPr>
          <a:lstStyle/>
          <a:p>
            <a:pPr algn="l">
              <a:lnSpc>
                <a:spcPct val="110000"/>
              </a:lnSpc>
            </a:pPr>
            <a:r>
              <a:rPr sz="950" b="1" i="0">
                <a:solidFill>
                  <a:srgbClr val="0E2356"/>
                </a:solidFill>
                <a:latin typeface="Outfit"/>
              </a:rPr>
              <a:t>Mise en place</a:t>
            </a:r>
          </a:p>
          <a:p>
            <a:pPr algn="l">
              <a:lnSpc>
                <a:spcPct val="120000"/>
              </a:lnSpc>
              <a:spcBef>
                <a:spcPts val="300"/>
              </a:spcBef>
            </a:pPr>
            <a:r>
              <a:rPr sz="850" b="0" i="0">
                <a:solidFill>
                  <a:srgbClr val="586586"/>
                </a:solidFill>
                <a:latin typeface="Outfit"/>
              </a:rPr>
              <a:t>Priorisation actée, porteur désigné par gaspillage, premiers agents candidats instruits sous gate.</a:t>
            </a:r>
          </a:p>
        </p:txBody>
      </p:sp>
      <p:sp>
        <p:nvSpPr>
          <p:cNvPr id="10" name="Rounded Rectangle 9"/>
          <p:cNvSpPr/>
          <p:nvPr/>
        </p:nvSpPr>
        <p:spPr>
          <a:xfrm>
            <a:off x="562356" y="3044952"/>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7" y="3044952"/>
            <a:ext cx="457200" cy="658368"/>
          </a:xfrm>
          <a:prstGeom prst="rect">
            <a:avLst/>
          </a:prstGeom>
          <a:noFill/>
        </p:spPr>
        <p:txBody>
          <a:bodyPr wrap="square" anchor="ctr" lIns="0" rIns="0" tIns="0" bIns="0">
            <a:noAutofit/>
          </a:bodyPr>
          <a:lstStyle/>
          <a:p>
            <a:pPr algn="ctr"/>
            <a:r>
              <a:rPr sz="1400" b="0" i="0">
                <a:solidFill>
                  <a:srgbClr val="0E2356"/>
                </a:solidFill>
                <a:latin typeface="Arial"/>
              </a:rPr>
              <a:t>⟲</a:t>
            </a:r>
          </a:p>
        </p:txBody>
      </p:sp>
      <p:sp>
        <p:nvSpPr>
          <p:cNvPr id="12" name="TextBox 11"/>
          <p:cNvSpPr txBox="1"/>
          <p:nvPr/>
        </p:nvSpPr>
        <p:spPr>
          <a:xfrm>
            <a:off x="1248156" y="3136392"/>
            <a:ext cx="6890004" cy="475488"/>
          </a:xfrm>
          <a:prstGeom prst="rect">
            <a:avLst/>
          </a:prstGeom>
          <a:noFill/>
        </p:spPr>
        <p:txBody>
          <a:bodyPr wrap="square" anchor="ctr" lIns="0" rIns="0" tIns="0" bIns="0">
            <a:noAutofit/>
          </a:bodyPr>
          <a:lstStyle/>
          <a:p>
            <a:pPr algn="l">
              <a:lnSpc>
                <a:spcPct val="110000"/>
              </a:lnSpc>
            </a:pPr>
            <a:r>
              <a:rPr sz="950" b="1" i="0">
                <a:solidFill>
                  <a:srgbClr val="0E2356"/>
                </a:solidFill>
                <a:latin typeface="Outfit"/>
              </a:rPr>
              <a:t>Réévaluation T+6-12 mois</a:t>
            </a:r>
          </a:p>
          <a:p>
            <a:pPr algn="l">
              <a:lnSpc>
                <a:spcPct val="120000"/>
              </a:lnSpc>
              <a:spcBef>
                <a:spcPts val="300"/>
              </a:spcBef>
            </a:pPr>
            <a:r>
              <a:rPr sz="850" b="0" i="0">
                <a:solidFill>
                  <a:srgbClr val="586586"/>
                </a:solidFill>
                <a:latin typeface="Outfit"/>
              </a:rPr>
              <a:t>Même instrument qu'au T0 : delta mesuré, pas une nouvelle opinion.</a:t>
            </a:r>
          </a:p>
        </p:txBody>
      </p:sp>
      <p:sp>
        <p:nvSpPr>
          <p:cNvPr id="13" name="TextBox 12"/>
          <p:cNvSpPr txBox="1"/>
          <p:nvPr/>
        </p:nvSpPr>
        <p:spPr>
          <a:xfrm>
            <a:off x="562356" y="3886200"/>
            <a:ext cx="7804404" cy="219456"/>
          </a:xfrm>
          <a:prstGeom prst="rect">
            <a:avLst/>
          </a:prstGeom>
          <a:noFill/>
        </p:spPr>
        <p:txBody>
          <a:bodyPr wrap="square" anchor="t" lIns="0" rIns="0" tIns="0" bIns="0">
            <a:noAutofit/>
          </a:bodyPr>
          <a:lstStyle/>
          <a:p>
            <a:pPr algn="l"/>
            <a:r>
              <a:rPr sz="800" b="1" i="0">
                <a:solidFill>
                  <a:srgbClr val="586586"/>
                </a:solidFill>
                <a:latin typeface="Outfit"/>
              </a:rPr>
              <a:t>INDICATEURS DE SUIVI MINIMAUX</a:t>
            </a:r>
          </a:p>
        </p:txBody>
      </p:sp>
      <p:sp>
        <p:nvSpPr>
          <p:cNvPr id="14" name="Rounded Rectangle 13"/>
          <p:cNvSpPr/>
          <p:nvPr/>
        </p:nvSpPr>
        <p:spPr>
          <a:xfrm>
            <a:off x="562356"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0372"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Gaspillage traité — capacité RUN récupérée</a:t>
            </a:r>
          </a:p>
        </p:txBody>
      </p:sp>
      <p:sp>
        <p:nvSpPr>
          <p:cNvPr id="17" name="Rounded Rectangle 16"/>
          <p:cNvSpPr/>
          <p:nvPr/>
        </p:nvSpPr>
        <p:spPr>
          <a:xfrm>
            <a:off x="2559177"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559177"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87193"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Adoption produit — usage du self-service</a:t>
            </a:r>
          </a:p>
        </p:txBody>
      </p:sp>
      <p:sp>
        <p:nvSpPr>
          <p:cNvPr id="20" name="Rounded Rectangle 19"/>
          <p:cNvSpPr/>
          <p:nvPr/>
        </p:nvSpPr>
        <p:spPr>
          <a:xfrm>
            <a:off x="4555998"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555998"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84014"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Fiabilité &amp; SLA — MTTR, respect des engagements</a:t>
            </a:r>
          </a:p>
        </p:txBody>
      </p:sp>
      <p:sp>
        <p:nvSpPr>
          <p:cNvPr id="23" name="Rounded Rectangle 22"/>
          <p:cNvSpPr/>
          <p:nvPr/>
        </p:nvSpPr>
        <p:spPr>
          <a:xfrm>
            <a:off x="6552819"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52819"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0835"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Maturité — delta par pilier, T0 → réévaluation</a:t>
            </a:r>
          </a:p>
        </p:txBody>
      </p:sp>
    </p:spTree>
  </p:cSld>
  <p:clrMapOvr>
    <a:masterClrMapping/>
  </p:clrMapOvr>
</p:sld>
</file>

<file path=ppt/theme/theme1.xml><?xml version="1.0" encoding="utf-8"?>
<a:theme xmlns:a="http://schemas.openxmlformats.org/drawingml/2006/main" name="2026 - OCTO">
  <a:themeElements>
    <a:clrScheme name="Custom">
      <a:dk1>
        <a:srgbClr val="0E2356"/>
      </a:dk1>
      <a:lt1>
        <a:srgbClr val="FFFFFF"/>
      </a:lt1>
      <a:dk2>
        <a:srgbClr val="3E4F78"/>
      </a:dk2>
      <a:lt2>
        <a:srgbClr val="586586"/>
      </a:lt2>
      <a:accent1>
        <a:srgbClr val="6E7B9A"/>
      </a:accent1>
      <a:accent2>
        <a:srgbClr val="9FA7BB"/>
      </a:accent2>
      <a:accent3>
        <a:srgbClr val="00D2DD"/>
      </a:accent3>
      <a:accent4>
        <a:srgbClr val="B7BDCC"/>
      </a:accent4>
      <a:accent5>
        <a:srgbClr val="CFD3DD"/>
      </a:accent5>
      <a:accent6>
        <a:srgbClr val="E7E9EE"/>
      </a:accent6>
      <a:hlink>
        <a:srgbClr val="33B5CB"/>
      </a:hlink>
      <a:folHlink>
        <a:srgbClr val="33B5C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Custom">
      <a:dk1>
        <a:srgbClr val="0E2356"/>
      </a:dk1>
      <a:lt1>
        <a:srgbClr val="FFFFFF"/>
      </a:lt1>
      <a:dk2>
        <a:srgbClr val="566589"/>
      </a:dk2>
      <a:lt2>
        <a:srgbClr val="8691AA"/>
      </a:lt2>
      <a:accent1>
        <a:srgbClr val="B7BDCC"/>
      </a:accent1>
      <a:accent2>
        <a:srgbClr val="ECEDF3"/>
      </a:accent2>
      <a:accent3>
        <a:srgbClr val="DDF4F8"/>
      </a:accent3>
      <a:accent4>
        <a:srgbClr val="B6E8F0"/>
      </a:accent4>
      <a:accent5>
        <a:srgbClr val="80D7E5"/>
      </a:accent5>
      <a:accent6>
        <a:srgbClr val="00AFCB"/>
      </a:accent6>
      <a:hlink>
        <a:srgbClr val="26BBD3"/>
      </a:hlink>
      <a:folHlink>
        <a:srgbClr val="26BB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429</Words>
  <Application>Microsoft Office PowerPoint</Application>
  <PresentationFormat>On-screen Show (16:9)</PresentationFormat>
  <Paragraphs>76</Paragraphs>
  <Slides>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Outfit Light</vt:lpstr>
      <vt:lpstr>Century Gothic</vt:lpstr>
      <vt:lpstr>Helvetica Neue Light</vt:lpstr>
      <vt:lpstr>Outfit</vt:lpstr>
      <vt:lpstr>Outfit Medium</vt:lpstr>
      <vt:lpstr>Outfit SemiBold</vt:lpstr>
      <vt:lpstr>2026 - OCTO</vt:lpstr>
      <vt:lpstr>OCTO Technology</vt:lpstr>
      <vt:lpstr>Sommaire</vt:lpstr>
      <vt:lpstr>Contexte</vt:lpstr>
      <vt:lpstr>xxx</vt:lpstr>
      <vt:lpstr>Notre approche</vt:lpstr>
      <vt:lpstr>Notre approche </vt:lpstr>
      <vt:lpstr>Une approche contextualisée pour un premier déploiement aligné </vt:lpstr>
      <vt:lpstr>Planning des interventions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Camus, Claude</cp:lastModifiedBy>
  <cp:revision>1</cp:revision>
  <dcterms:modified xsi:type="dcterms:W3CDTF">2026-06-19T16:03:54Z</dcterms:modified>
</cp:coreProperties>
</file>