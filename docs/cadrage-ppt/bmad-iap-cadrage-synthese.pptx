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 id="309" r:id="rId76"/>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 Id="rId76"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v2.33 · 2026-09-10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Les trois faces de l'offre — leurs douleurs, notre outillage de consultant, l'agentic déployé chez eux en option — et la démarche qui les absorbe.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Trois faces à ne pas confondre, une démarche avec ou sans 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Leurs douleurs, notre outillage de consultant, l'agentic chez eux en option — déclinés sur les trois mêmes temps, outillés ou non.</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Comment aller vers l'infra as a product — le volet organisationnel d'une mission tech.</a:t>
            </a:r>
          </a:p>
        </p:txBody>
      </p:sp>
      <p:sp>
        <p:nvSpPr>
          <p:cNvPr id="3" name="Rounded Rectangle 2"/>
          <p:cNvSpPr/>
          <p:nvPr/>
        </p:nvSpPr>
        <p:spPr>
          <a:xfrm>
            <a:off x="347472" y="758952"/>
            <a:ext cx="1616659" cy="2828035"/>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055571" y="758952"/>
            <a:ext cx="1616659" cy="2828035"/>
          </a:xfrm>
          <a:prstGeom prst="roundRect">
            <a:avLst>
              <a:gd name="adj" fmla="val 8000"/>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763670"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71769" y="758952"/>
            <a:ext cx="1616659" cy="2828035"/>
          </a:xfrm>
          <a:prstGeom prst="roundRect">
            <a:avLst>
              <a:gd name="adj" fmla="val 8000"/>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79868" y="758952"/>
            <a:ext cx="1616659" cy="2828035"/>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395971" y="1097280"/>
            <a:ext cx="1519659" cy="29184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119"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Assessment flash</a:t>
            </a:r>
          </a:p>
        </p:txBody>
      </p:sp>
      <p:sp>
        <p:nvSpPr>
          <p:cNvPr id="10" name="Rounded Rectangle 9"/>
          <p:cNvSpPr/>
          <p:nvPr/>
        </p:nvSpPr>
        <p:spPr>
          <a:xfrm>
            <a:off x="972921" y="777240"/>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2921"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2" name="Rounded Rectangle 11"/>
          <p:cNvSpPr/>
          <p:nvPr/>
        </p:nvSpPr>
        <p:spPr>
          <a:xfrm>
            <a:off x="716889" y="1443990"/>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6889"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4" name="TextBox 13"/>
          <p:cNvSpPr txBox="1"/>
          <p:nvPr/>
        </p:nvSpPr>
        <p:spPr>
          <a:xfrm>
            <a:off x="374904"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Schéma déjà cadré : </a:t>
            </a:r>
            <a:r>
              <a:rPr sz="800" b="1" i="0">
                <a:solidFill>
                  <a:srgbClr val="0E2356"/>
                </a:solidFill>
                <a:latin typeface="Outfit"/>
              </a:rPr>
              <a:t>Collecte → Diagnostic → Conception → Restitution.</a:t>
            </a:r>
            <a:r>
              <a:rPr sz="800" b="0" i="0">
                <a:solidFill>
                  <a:srgbClr val="586586"/>
                </a:solidFill>
                <a:latin typeface="Outfit"/>
              </a:rPr>
              <a:t/>
            </a:r>
          </a:p>
        </p:txBody>
      </p:sp>
      <p:sp>
        <p:nvSpPr>
          <p:cNvPr id="15" name="TextBox 14"/>
          <p:cNvSpPr txBox="1"/>
          <p:nvPr/>
        </p:nvSpPr>
        <p:spPr>
          <a:xfrm>
            <a:off x="374904"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et risques cartographiés</a:t>
            </a:r>
          </a:p>
        </p:txBody>
      </p:sp>
      <p:sp>
        <p:nvSpPr>
          <p:cNvPr id="16" name="Rectangle 15"/>
          <p:cNvSpPr/>
          <p:nvPr/>
        </p:nvSpPr>
        <p:spPr>
          <a:xfrm>
            <a:off x="493776"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Partager un diagnostic et argumenter la décision d'engager ou non.</a:t>
            </a:r>
          </a:p>
        </p:txBody>
      </p:sp>
      <p:sp>
        <p:nvSpPr>
          <p:cNvPr id="18" name="TextBox 17"/>
          <p:cNvSpPr txBox="1"/>
          <p:nvPr/>
        </p:nvSpPr>
        <p:spPr>
          <a:xfrm>
            <a:off x="365760"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exécutif de restitution.</a:t>
            </a:r>
          </a:p>
        </p:txBody>
      </p:sp>
      <p:sp>
        <p:nvSpPr>
          <p:cNvPr id="19" name="Chevron 18"/>
          <p:cNvSpPr/>
          <p:nvPr/>
        </p:nvSpPr>
        <p:spPr>
          <a:xfrm>
            <a:off x="2104070" y="1097280"/>
            <a:ext cx="1519659" cy="291846"/>
          </a:xfrm>
          <a:prstGeom prst="chevron">
            <a:avLst/>
          </a:prstGeom>
          <a:solidFill>
            <a:srgbClr val="FFFFFF"/>
          </a:solidFill>
          <a:ln w="13970">
            <a:solidFill>
              <a:srgbClr val="9FA7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45218" y="1097280"/>
            <a:ext cx="1437363" cy="291846"/>
          </a:xfrm>
          <a:prstGeom prst="rect">
            <a:avLst/>
          </a:prstGeom>
          <a:noFill/>
        </p:spPr>
        <p:txBody>
          <a:bodyPr wrap="square" anchor="ctr" lIns="0" rIns="0" tIns="0" bIns="0">
            <a:noAutofit/>
          </a:bodyPr>
          <a:lstStyle/>
          <a:p>
            <a:pPr algn="ctr">
              <a:lnSpc>
                <a:spcPct val="105000"/>
              </a:lnSpc>
            </a:pPr>
            <a:r>
              <a:rPr sz="750" b="1" i="0">
                <a:solidFill>
                  <a:srgbClr val="586586"/>
                </a:solidFill>
                <a:latin typeface="Outfit"/>
              </a:rPr>
              <a:t>OPTIONNEL — Constitution du TOM</a:t>
            </a:r>
          </a:p>
        </p:txBody>
      </p:sp>
      <p:sp>
        <p:nvSpPr>
          <p:cNvPr id="21" name="Rounded Rectangle 20"/>
          <p:cNvSpPr/>
          <p:nvPr/>
        </p:nvSpPr>
        <p:spPr>
          <a:xfrm>
            <a:off x="2681020" y="777240"/>
            <a:ext cx="365760" cy="365760"/>
          </a:xfrm>
          <a:prstGeom prst="roundRect">
            <a:avLst>
              <a:gd name="adj" fmla="val 50000"/>
            </a:avLst>
          </a:prstGeom>
          <a:solidFill>
            <a:srgbClr val="E7E9EE"/>
          </a:solidFill>
          <a:ln w="15240">
            <a:solidFill>
              <a:srgbClr val="9FA7B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81020" y="777240"/>
            <a:ext cx="365760" cy="365760"/>
          </a:xfrm>
          <a:prstGeom prst="rect">
            <a:avLst/>
          </a:prstGeom>
          <a:noFill/>
        </p:spPr>
        <p:txBody>
          <a:bodyPr wrap="square" anchor="ctr" lIns="0" rIns="0" tIns="0" bIns="0">
            <a:noAutofit/>
          </a:bodyPr>
          <a:lstStyle/>
          <a:p>
            <a:pPr algn="ctr"/>
            <a:r>
              <a:rPr sz="1200" b="0" i="0">
                <a:solidFill>
                  <a:srgbClr val="9FA7BB"/>
                </a:solidFill>
                <a:latin typeface="Outfit"/>
              </a:rPr>
              <a:t>+</a:t>
            </a:r>
          </a:p>
        </p:txBody>
      </p:sp>
      <p:sp>
        <p:nvSpPr>
          <p:cNvPr id="23" name="Rounded Rectangle 22"/>
          <p:cNvSpPr/>
          <p:nvPr/>
        </p:nvSpPr>
        <p:spPr>
          <a:xfrm>
            <a:off x="2424988" y="1443990"/>
            <a:ext cx="877824" cy="182880"/>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4988"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3–4 sem.</a:t>
            </a:r>
          </a:p>
        </p:txBody>
      </p:sp>
      <p:sp>
        <p:nvSpPr>
          <p:cNvPr id="25" name="TextBox 24"/>
          <p:cNvSpPr txBox="1"/>
          <p:nvPr/>
        </p:nvSpPr>
        <p:spPr>
          <a:xfrm>
            <a:off x="2083003"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Formalise le </a:t>
            </a:r>
            <a:r>
              <a:rPr sz="800" b="1" i="0">
                <a:solidFill>
                  <a:srgbClr val="0E2356"/>
                </a:solidFill>
                <a:latin typeface="Outfit"/>
              </a:rPr>
              <a:t>Target Operating Model</a:t>
            </a:r>
            <a:r>
              <a:rPr sz="800" b="0" i="0">
                <a:solidFill>
                  <a:srgbClr val="586586"/>
                </a:solidFill>
                <a:latin typeface="Outfit"/>
              </a:rPr>
              <a:t> : rôles, gouvernance, adapté à l'organisation et aux contraintes du client INFRA.</a:t>
            </a:r>
          </a:p>
        </p:txBody>
      </p:sp>
      <p:sp>
        <p:nvSpPr>
          <p:cNvPr id="26" name="TextBox 25"/>
          <p:cNvSpPr txBox="1"/>
          <p:nvPr/>
        </p:nvSpPr>
        <p:spPr>
          <a:xfrm>
            <a:off x="2083003"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référentiel standards/outillage</a:t>
            </a:r>
          </a:p>
        </p:txBody>
      </p:sp>
      <p:sp>
        <p:nvSpPr>
          <p:cNvPr id="27" name="Rectangle 26"/>
          <p:cNvSpPr/>
          <p:nvPr/>
        </p:nvSpPr>
        <p:spPr>
          <a:xfrm>
            <a:off x="2201875"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73859"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Adapter le cadre de référence à l'organisation et aux contraintes du client.</a:t>
            </a:r>
          </a:p>
        </p:txBody>
      </p:sp>
      <p:sp>
        <p:nvSpPr>
          <p:cNvPr id="29" name="TextBox 28"/>
          <p:cNvSpPr txBox="1"/>
          <p:nvPr/>
        </p:nvSpPr>
        <p:spPr>
          <a:xfrm>
            <a:off x="2073859" y="3318764"/>
            <a:ext cx="1580083" cy="240791"/>
          </a:xfrm>
          <a:prstGeom prst="rect">
            <a:avLst/>
          </a:prstGeom>
          <a:noFill/>
        </p:spPr>
        <p:txBody>
          <a:bodyPr wrap="square" anchor="t" lIns="0" rIns="0" tIns="0" bIns="0">
            <a:noAutofit/>
          </a:bodyPr>
          <a:lstStyle/>
          <a:p>
            <a:pPr algn="ctr">
              <a:lnSpc>
                <a:spcPct val="120000"/>
              </a:lnSpc>
            </a:pPr>
            <a:r>
              <a:rPr sz="700" b="1" i="1">
                <a:solidFill>
                  <a:srgbClr val="586586"/>
                </a:solidFill>
                <a:latin typeface="Outfit"/>
              </a:rPr>
              <a:t>Livrer le TOM et la roadmap de déploiement.</a:t>
            </a:r>
          </a:p>
        </p:txBody>
      </p:sp>
      <p:sp>
        <p:nvSpPr>
          <p:cNvPr id="30" name="Chevron 29"/>
          <p:cNvSpPr/>
          <p:nvPr/>
        </p:nvSpPr>
        <p:spPr>
          <a:xfrm>
            <a:off x="3812170"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53318"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Premier déploiement</a:t>
            </a:r>
          </a:p>
        </p:txBody>
      </p:sp>
      <p:sp>
        <p:nvSpPr>
          <p:cNvPr id="32" name="Rounded Rectangle 31"/>
          <p:cNvSpPr/>
          <p:nvPr/>
        </p:nvSpPr>
        <p:spPr>
          <a:xfrm>
            <a:off x="43891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34" name="Rounded Rectangle 33"/>
          <p:cNvSpPr/>
          <p:nvPr/>
        </p:nvSpPr>
        <p:spPr>
          <a:xfrm>
            <a:off x="41330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30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36" name="TextBox 35"/>
          <p:cNvSpPr txBox="1"/>
          <p:nvPr/>
        </p:nvSpPr>
        <p:spPr>
          <a:xfrm>
            <a:off x="3791102"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Des </a:t>
            </a:r>
            <a:r>
              <a:rPr sz="800" b="1" i="0">
                <a:solidFill>
                  <a:srgbClr val="0E2356"/>
                </a:solidFill>
                <a:latin typeface="Outfit"/>
              </a:rPr>
              <a:t>équipes pilotes volontaires</a:t>
            </a:r>
            <a:r>
              <a:rPr sz="800" b="0" i="0">
                <a:solidFill>
                  <a:srgbClr val="586586"/>
                </a:solidFill>
                <a:latin typeface="Outfit"/>
              </a:rPr>
              <a:t> ; agent IA si retenu : qualifier, cadrer, mandater.</a:t>
            </a:r>
          </a:p>
        </p:txBody>
      </p:sp>
      <p:sp>
        <p:nvSpPr>
          <p:cNvPr id="37" name="TextBox 36"/>
          <p:cNvSpPr txBox="1"/>
          <p:nvPr/>
        </p:nvSpPr>
        <p:spPr>
          <a:xfrm>
            <a:off x="3791102"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décommissionnement, observabilité</a:t>
            </a:r>
          </a:p>
        </p:txBody>
      </p:sp>
      <p:sp>
        <p:nvSpPr>
          <p:cNvPr id="38" name="Rectangle 37"/>
          <p:cNvSpPr/>
          <p:nvPr/>
        </p:nvSpPr>
        <p:spPr>
          <a:xfrm>
            <a:off x="3909974"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81958"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Prouver la valeur sur le pilote et identifier les ajustements avant généralisation.</a:t>
            </a:r>
          </a:p>
        </p:txBody>
      </p:sp>
      <p:sp>
        <p:nvSpPr>
          <p:cNvPr id="40" name="TextBox 39"/>
          <p:cNvSpPr txBox="1"/>
          <p:nvPr/>
        </p:nvSpPr>
        <p:spPr>
          <a:xfrm>
            <a:off x="3781958"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l'évaluation du déploiement pilote (deck).</a:t>
            </a:r>
          </a:p>
        </p:txBody>
      </p:sp>
      <p:sp>
        <p:nvSpPr>
          <p:cNvPr id="41" name="Chevron 40"/>
          <p:cNvSpPr/>
          <p:nvPr/>
        </p:nvSpPr>
        <p:spPr>
          <a:xfrm>
            <a:off x="5520269" y="1097280"/>
            <a:ext cx="1519659" cy="291846"/>
          </a:xfrm>
          <a:prstGeom prst="chevron">
            <a:avLst/>
          </a:prstGeom>
          <a:solidFill>
            <a:srgbClr val="FFFFFF"/>
          </a:solidFill>
          <a:ln w="1397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61417"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Implémentation itérative</a:t>
            </a:r>
          </a:p>
        </p:txBody>
      </p:sp>
      <p:sp>
        <p:nvSpPr>
          <p:cNvPr id="43" name="Rounded Rectangle 42"/>
          <p:cNvSpPr/>
          <p:nvPr/>
        </p:nvSpPr>
        <p:spPr>
          <a:xfrm>
            <a:off x="6097219" y="777240"/>
            <a:ext cx="365760" cy="36576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97219" y="777240"/>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45" name="Rounded Rectangle 44"/>
          <p:cNvSpPr/>
          <p:nvPr/>
        </p:nvSpPr>
        <p:spPr>
          <a:xfrm>
            <a:off x="5841187" y="1443990"/>
            <a:ext cx="877824" cy="18288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41187" y="1443990"/>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47" name="TextBox 46"/>
          <p:cNvSpPr txBox="1"/>
          <p:nvPr/>
        </p:nvSpPr>
        <p:spPr>
          <a:xfrm>
            <a:off x="5499201"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Généralisation équipe par équipe, bascule </a:t>
            </a:r>
            <a:r>
              <a:rPr sz="800" b="1" i="0">
                <a:solidFill>
                  <a:srgbClr val="0E2356"/>
                </a:solidFill>
                <a:latin typeface="Outfit"/>
              </a:rPr>
              <a:t>Coach → Délégué</a:t>
            </a:r>
            <a:r>
              <a:rPr sz="800" b="0" i="0">
                <a:solidFill>
                  <a:srgbClr val="586586"/>
                </a:solidFill>
                <a:latin typeface="Outfit"/>
              </a:rPr>
              <a:t> ; agent IA supervisé puis délégué.</a:t>
            </a:r>
          </a:p>
        </p:txBody>
      </p:sp>
      <p:sp>
        <p:nvSpPr>
          <p:cNvPr id="48" name="TextBox 47"/>
          <p:cNvSpPr txBox="1"/>
          <p:nvPr/>
        </p:nvSpPr>
        <p:spPr>
          <a:xfrm>
            <a:off x="5499201"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CI/CD, infra as code</a:t>
            </a:r>
          </a:p>
        </p:txBody>
      </p:sp>
      <p:sp>
        <p:nvSpPr>
          <p:cNvPr id="49" name="Rectangle 48"/>
          <p:cNvSpPr/>
          <p:nvPr/>
        </p:nvSpPr>
        <p:spPr>
          <a:xfrm>
            <a:off x="5618073"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90057"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Généraliser l'adoption et déléguer l'agent IA si la piste est retenue.</a:t>
            </a:r>
          </a:p>
        </p:txBody>
      </p:sp>
      <p:sp>
        <p:nvSpPr>
          <p:cNvPr id="51" name="TextBox 50"/>
          <p:cNvSpPr txBox="1"/>
          <p:nvPr/>
        </p:nvSpPr>
        <p:spPr>
          <a:xfrm>
            <a:off x="5490057" y="3318764"/>
            <a:ext cx="1580083" cy="240791"/>
          </a:xfrm>
          <a:prstGeom prst="rect">
            <a:avLst/>
          </a:prstGeom>
          <a:noFill/>
        </p:spPr>
        <p:txBody>
          <a:bodyPr wrap="square" anchor="t" lIns="0" rIns="0" tIns="0" bIns="0">
            <a:noAutofit/>
          </a:bodyPr>
          <a:lstStyle/>
          <a:p>
            <a:pPr algn="ctr">
              <a:lnSpc>
                <a:spcPct val="120000"/>
              </a:lnSpc>
            </a:pPr>
            <a:r>
              <a:rPr sz="700" b="1" i="1">
                <a:solidFill>
                  <a:srgbClr val="3E4F78"/>
                </a:solidFill>
                <a:latin typeface="Outfit"/>
              </a:rPr>
              <a:t>Livrer un deck de comité de pilotage (périodique).</a:t>
            </a:r>
          </a:p>
        </p:txBody>
      </p:sp>
      <p:sp>
        <p:nvSpPr>
          <p:cNvPr id="52" name="Chevron 51"/>
          <p:cNvSpPr/>
          <p:nvPr/>
        </p:nvSpPr>
        <p:spPr>
          <a:xfrm>
            <a:off x="7228368" y="1097280"/>
            <a:ext cx="1519659" cy="29184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516" y="1097280"/>
            <a:ext cx="1437363" cy="291846"/>
          </a:xfrm>
          <a:prstGeom prst="rect">
            <a:avLst/>
          </a:prstGeom>
          <a:noFill/>
        </p:spPr>
        <p:txBody>
          <a:bodyPr wrap="square" anchor="ctr" lIns="0" rIns="0" tIns="0" bIns="0">
            <a:noAutofit/>
          </a:bodyPr>
          <a:lstStyle/>
          <a:p>
            <a:pPr algn="ctr">
              <a:lnSpc>
                <a:spcPct val="105000"/>
              </a:lnSpc>
            </a:pPr>
            <a:r>
              <a:rPr sz="750" b="1" i="0">
                <a:solidFill>
                  <a:srgbClr val="0E2356"/>
                </a:solidFill>
                <a:latin typeface="Outfit"/>
              </a:rPr>
              <a:t>Boucle de réévaluation</a:t>
            </a:r>
          </a:p>
        </p:txBody>
      </p:sp>
      <p:sp>
        <p:nvSpPr>
          <p:cNvPr id="54" name="Rounded Rectangle 53"/>
          <p:cNvSpPr/>
          <p:nvPr/>
        </p:nvSpPr>
        <p:spPr>
          <a:xfrm>
            <a:off x="7805318" y="777240"/>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05318" y="777240"/>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56" name="Rounded Rectangle 55"/>
          <p:cNvSpPr/>
          <p:nvPr/>
        </p:nvSpPr>
        <p:spPr>
          <a:xfrm>
            <a:off x="7549286" y="1443990"/>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49286" y="1443990"/>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58" name="TextBox 57"/>
          <p:cNvSpPr txBox="1"/>
          <p:nvPr/>
        </p:nvSpPr>
        <p:spPr>
          <a:xfrm>
            <a:off x="7207300" y="1700022"/>
            <a:ext cx="1561795" cy="758952"/>
          </a:xfrm>
          <a:prstGeom prst="rect">
            <a:avLst/>
          </a:prstGeom>
          <a:noFill/>
        </p:spPr>
        <p:txBody>
          <a:bodyPr wrap="square" anchor="t" lIns="0" rIns="0" tIns="0" bIns="0">
            <a:spAutoFit/>
          </a:bodyPr>
          <a:lstStyle/>
          <a:p>
            <a:pPr algn="ctr">
              <a:lnSpc>
                <a:spcPct val="120000"/>
              </a:lnSpc>
            </a:pPr>
            <a:r>
              <a:rPr sz="800" b="0" i="0">
                <a:solidFill>
                  <a:srgbClr val="586586"/>
                </a:solidFill>
                <a:latin typeface="Outfit"/>
              </a:rPr>
              <a:t>iap-re-assessment reboucle vers la Collecte — alimente la </a:t>
            </a:r>
            <a:r>
              <a:rPr sz="800" b="1" i="0">
                <a:solidFill>
                  <a:srgbClr val="0E2356"/>
                </a:solidFill>
                <a:latin typeface="Outfit"/>
              </a:rPr>
              <a:t>bibliothèque de REX</a:t>
            </a:r>
            <a:r>
              <a:rPr sz="800" b="0" i="0">
                <a:solidFill>
                  <a:srgbClr val="586586"/>
                </a:solidFill>
                <a:latin typeface="Outfit"/>
              </a:rPr>
              <a:t>.</a:t>
            </a:r>
          </a:p>
        </p:txBody>
      </p:sp>
      <p:sp>
        <p:nvSpPr>
          <p:cNvPr id="59" name="TextBox 58"/>
          <p:cNvSpPr txBox="1"/>
          <p:nvPr/>
        </p:nvSpPr>
        <p:spPr>
          <a:xfrm>
            <a:off x="7207300" y="2504694"/>
            <a:ext cx="1561795" cy="222757"/>
          </a:xfrm>
          <a:prstGeom prst="rect">
            <a:avLst/>
          </a:prstGeom>
          <a:noFill/>
        </p:spPr>
        <p:txBody>
          <a:bodyPr wrap="square" anchor="t" lIns="0" rIns="0" tIns="0" bIns="0">
            <a:spAutoFit/>
          </a:bodyPr>
          <a:lstStyle/>
          <a:p>
            <a:pPr algn="ctr">
              <a:lnSpc>
                <a:spcPct val="115000"/>
              </a:lnSpc>
            </a:pPr>
            <a:r>
              <a:rPr sz="700" b="1" i="0">
                <a:solidFill>
                  <a:srgbClr val="586586"/>
                </a:solidFill>
                <a:latin typeface="Outfit"/>
              </a:rPr>
              <a:t>TECH : </a:t>
            </a:r>
            <a:r>
              <a:rPr sz="700" b="0" i="1">
                <a:solidFill>
                  <a:srgbClr val="586586"/>
                </a:solidFill>
                <a:latin typeface="Outfit"/>
              </a:rPr>
              <a:t>dette technique et KPI infra</a:t>
            </a:r>
          </a:p>
        </p:txBody>
      </p:sp>
      <p:sp>
        <p:nvSpPr>
          <p:cNvPr id="60" name="Rectangle 59"/>
          <p:cNvSpPr/>
          <p:nvPr/>
        </p:nvSpPr>
        <p:spPr>
          <a:xfrm>
            <a:off x="7326172" y="2782316"/>
            <a:ext cx="1324051"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98156" y="2828036"/>
            <a:ext cx="1580083" cy="454152"/>
          </a:xfrm>
          <a:prstGeom prst="rect">
            <a:avLst/>
          </a:prstGeom>
          <a:noFill/>
        </p:spPr>
        <p:txBody>
          <a:bodyPr wrap="square" anchor="t" lIns="0" rIns="0" tIns="0" bIns="0">
            <a:noAutofit/>
          </a:bodyPr>
          <a:lstStyle/>
          <a:p>
            <a:pPr algn="ctr">
              <a:lnSpc>
                <a:spcPct val="120000"/>
              </a:lnSpc>
            </a:pPr>
            <a:r>
              <a:rPr sz="700" b="1" i="0">
                <a:solidFill>
                  <a:srgbClr val="0E2356"/>
                </a:solidFill>
                <a:latin typeface="Outfit"/>
              </a:rPr>
              <a:t>Mesurer le delta T0 → réévaluation et capitaliser le REX pour la mission suivante.</a:t>
            </a:r>
          </a:p>
        </p:txBody>
      </p:sp>
      <p:sp>
        <p:nvSpPr>
          <p:cNvPr id="62" name="TextBox 61"/>
          <p:cNvSpPr txBox="1"/>
          <p:nvPr/>
        </p:nvSpPr>
        <p:spPr>
          <a:xfrm>
            <a:off x="7198156" y="3318764"/>
            <a:ext cx="1580083" cy="240791"/>
          </a:xfrm>
          <a:prstGeom prst="rect">
            <a:avLst/>
          </a:prstGeom>
          <a:noFill/>
        </p:spPr>
        <p:txBody>
          <a:bodyPr wrap="square" anchor="t" lIns="0" rIns="0" tIns="0" bIns="0">
            <a:noAutofit/>
          </a:bodyPr>
          <a:lstStyle/>
          <a:p>
            <a:pPr algn="ctr">
              <a:lnSpc>
                <a:spcPct val="120000"/>
              </a:lnSpc>
            </a:pPr>
            <a:r>
              <a:rPr sz="700" b="1" i="1">
                <a:solidFill>
                  <a:srgbClr val="0E2356"/>
                </a:solidFill>
                <a:latin typeface="Outfit"/>
              </a:rPr>
              <a:t>Livrer un deck de bilan / ré-évaluation.</a:t>
            </a:r>
          </a:p>
        </p:txBody>
      </p:sp>
      <p:sp>
        <p:nvSpPr>
          <p:cNvPr id="63" name="Rounded Rectangle 62"/>
          <p:cNvSpPr/>
          <p:nvPr/>
        </p:nvSpPr>
        <p:spPr>
          <a:xfrm>
            <a:off x="347472" y="3614419"/>
            <a:ext cx="3950207" cy="659892"/>
          </a:xfrm>
          <a:prstGeom prst="roundRect">
            <a:avLst>
              <a:gd name="adj" fmla="val 7000"/>
            </a:avLst>
          </a:prstGeom>
          <a:solidFill>
            <a:srgbClr val="FFFFFF"/>
          </a:solidFill>
          <a:ln w="14604">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57200" y="3663797"/>
            <a:ext cx="41148" cy="561136"/>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71500" y="3655567"/>
            <a:ext cx="3634739" cy="577596"/>
          </a:xfrm>
          <a:prstGeom prst="rect">
            <a:avLst/>
          </a:prstGeom>
          <a:noFill/>
        </p:spPr>
        <p:txBody>
          <a:bodyPr wrap="square" anchor="ctr" lIns="0" rIns="0" tIns="0" bIns="0">
            <a:noAutofit/>
          </a:bodyPr>
          <a:lstStyle/>
          <a:p>
            <a:pPr algn="l">
              <a:lnSpc>
                <a:spcPct val="110000"/>
              </a:lnSpc>
            </a:pPr>
            <a:r>
              <a:rPr sz="750" b="1" i="0">
                <a:solidFill>
                  <a:srgbClr val="586586"/>
                </a:solidFill>
                <a:latin typeface="Outfit"/>
              </a:rPr>
              <a:t>AGENTIQUE — POUR LA PRODUCTIVITÉ DU CONSULTANT</a:t>
            </a:r>
          </a:p>
          <a:p>
            <a:pPr algn="l">
              <a:lnSpc>
                <a:spcPct val="120000"/>
              </a:lnSpc>
              <a:spcBef>
                <a:spcPts val="300"/>
              </a:spcBef>
            </a:pPr>
            <a:r>
              <a:rPr sz="750" b="0" i="0">
                <a:solidFill>
                  <a:srgbClr val="0E2356"/>
                </a:solidFill>
                <a:latin typeface="Outfit"/>
              </a:rPr>
              <a:t>Un fait acquis : des agents outillent déjà chaque étape de la démarche, sans remplacer le consultant.</a:t>
            </a:r>
          </a:p>
        </p:txBody>
      </p:sp>
      <p:sp>
        <p:nvSpPr>
          <p:cNvPr id="66" name="Rounded Rectangle 65"/>
          <p:cNvSpPr/>
          <p:nvPr/>
        </p:nvSpPr>
        <p:spPr>
          <a:xfrm>
            <a:off x="4462271" y="3614419"/>
            <a:ext cx="4334255" cy="659892"/>
          </a:xfrm>
          <a:prstGeom prst="roundRect">
            <a:avLst>
              <a:gd name="adj" fmla="val 7000"/>
            </a:avLst>
          </a:prstGeom>
          <a:solidFill>
            <a:srgbClr val="FFFFFF"/>
          </a:solidFill>
          <a:ln w="14604">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71999" y="3663797"/>
            <a:ext cx="41148" cy="56113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686299" y="3655567"/>
            <a:ext cx="4018787" cy="577596"/>
          </a:xfrm>
          <a:prstGeom prst="rect">
            <a:avLst/>
          </a:prstGeom>
          <a:noFill/>
        </p:spPr>
        <p:txBody>
          <a:bodyPr wrap="square" anchor="ctr" lIns="0" rIns="0" tIns="0" bIns="0">
            <a:noAutofit/>
          </a:bodyPr>
          <a:lstStyle/>
          <a:p>
            <a:pPr algn="l">
              <a:lnSpc>
                <a:spcPct val="110000"/>
              </a:lnSpc>
            </a:pPr>
            <a:r>
              <a:rPr sz="750" b="1" i="0">
                <a:solidFill>
                  <a:srgbClr val="0E2356"/>
                </a:solidFill>
                <a:latin typeface="Outfit"/>
              </a:rPr>
              <a:t>AGENTIQUE — UN DÉPLOIEMENT CHEZ LE CLIENT POUR ACCOMPAGNER LA TRANSFO</a:t>
            </a:r>
          </a:p>
          <a:p>
            <a:pPr algn="l">
              <a:lnSpc>
                <a:spcPct val="120000"/>
              </a:lnSpc>
              <a:spcBef>
                <a:spcPts val="300"/>
              </a:spcBef>
            </a:pPr>
            <a:r>
              <a:rPr sz="750" b="0" i="0">
                <a:solidFill>
                  <a:srgbClr val="0E2356"/>
                </a:solidFill>
                <a:latin typeface="Outfit"/>
              </a:rPr>
              <a:t>Une piste à l'étude : accompagner la transformation du volet orga et tech en aidant le client à déployer ses propres agents.</a:t>
            </a:r>
          </a:p>
        </p:txBody>
      </p:sp>
      <p:sp>
        <p:nvSpPr>
          <p:cNvPr id="69" name="Rounded Rectangle 68"/>
          <p:cNvSpPr/>
          <p:nvPr/>
        </p:nvSpPr>
        <p:spPr>
          <a:xfrm>
            <a:off x="347472" y="4306316"/>
            <a:ext cx="8065007" cy="2743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75488" y="4324603"/>
            <a:ext cx="365760" cy="237744"/>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71" name="TextBox 70"/>
          <p:cNvSpPr txBox="1"/>
          <p:nvPr/>
        </p:nvSpPr>
        <p:spPr>
          <a:xfrm>
            <a:off x="530352" y="4306316"/>
            <a:ext cx="7699247" cy="274320"/>
          </a:xfrm>
          <a:prstGeom prst="rect">
            <a:avLst/>
          </a:prstGeom>
          <a:noFill/>
        </p:spPr>
        <p:txBody>
          <a:bodyPr wrap="square" anchor="ctr" lIns="0" rIns="0" tIns="0" bIns="0">
            <a:spAutoFit/>
          </a:bodyPr>
          <a:lstStyle/>
          <a:p>
            <a:pPr algn="ctr"/>
            <a:r>
              <a:rPr sz="1200" b="1" i="0">
                <a:solidFill>
                  <a:srgbClr val="FFFFFF"/>
                </a:solidFill>
                <a:latin typeface="Outfit"/>
              </a:rPr>
              <a:t>Le volet organisationnel fait réussir le volet tech — pas l'inverse.</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Trois faces à ne pas confondre : leurs douleurs, notre outillage, l'agentic chez eux</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L'offre part des douleurs de ces organisations ; un module agentic accélère le consultant qui les traite ; déployer de l'agentic chez le client reste une option, sous gate IA.</a:t>
            </a:r>
          </a:p>
        </p:txBody>
      </p:sp>
      <p:sp>
        <p:nvSpPr>
          <p:cNvPr id="4" name="Rounded Rectangle 3"/>
          <p:cNvSpPr/>
          <p:nvPr/>
        </p:nvSpPr>
        <p:spPr>
          <a:xfrm>
            <a:off x="562356"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9516" y="1650619"/>
            <a:ext cx="274320" cy="274320"/>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 y="1650619"/>
            <a:ext cx="274320" cy="274320"/>
          </a:xfrm>
          <a:prstGeom prst="rect">
            <a:avLst/>
          </a:prstGeom>
          <a:noFill/>
        </p:spPr>
        <p:txBody>
          <a:bodyPr wrap="square" anchor="ctr" lIns="0" rIns="0" tIns="0" bIns="0">
            <a:noAutofit/>
          </a:bodyPr>
          <a:lstStyle/>
          <a:p>
            <a:pPr algn="ctr"/>
            <a:r>
              <a:rPr sz="1100" b="1" i="0">
                <a:solidFill>
                  <a:srgbClr val="FFFFFF"/>
                </a:solidFill>
                <a:latin typeface="Outfit"/>
              </a:rPr>
              <a:t>!</a:t>
            </a:r>
          </a:p>
        </p:txBody>
      </p:sp>
      <p:sp>
        <p:nvSpPr>
          <p:cNvPr id="8" name="TextBox 7"/>
          <p:cNvSpPr txBox="1"/>
          <p:nvPr/>
        </p:nvSpPr>
        <p:spPr>
          <a:xfrm>
            <a:off x="1065276"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CE QU'ILS VIVENT</a:t>
            </a:r>
          </a:p>
        </p:txBody>
      </p:sp>
      <p:sp>
        <p:nvSpPr>
          <p:cNvPr id="9" name="TextBox 8"/>
          <p:cNvSpPr txBox="1"/>
          <p:nvPr/>
        </p:nvSpPr>
        <p:spPr>
          <a:xfrm>
            <a:off x="699516"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Douleurs &amp; besoins de ces organisations</a:t>
            </a:r>
          </a:p>
        </p:txBody>
      </p:sp>
      <p:sp>
        <p:nvSpPr>
          <p:cNvPr id="10" name="TextBox 9"/>
          <p:cNvSpPr txBox="1"/>
          <p:nvPr/>
        </p:nvSpPr>
        <p:spPr>
          <a:xfrm>
            <a:off x="699516"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Quatre personas interrogés séparément, huit familles de gaspillage.</a:t>
            </a:r>
          </a:p>
        </p:txBody>
      </p:sp>
      <p:sp>
        <p:nvSpPr>
          <p:cNvPr id="11" name="Rectangle 10"/>
          <p:cNvSpPr/>
          <p:nvPr/>
        </p:nvSpPr>
        <p:spPr>
          <a:xfrm>
            <a:off x="699516"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8660"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 y="2959735"/>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Infra &amp; RUN — incidents subis en boucle, BUILD sacrifié à l'astreinte</a:t>
            </a:r>
          </a:p>
        </p:txBody>
      </p:sp>
      <p:sp>
        <p:nvSpPr>
          <p:cNvPr id="14" name="Rounded Rectangle 13"/>
          <p:cNvSpPr/>
          <p:nvPr/>
        </p:nvSpPr>
        <p:spPr>
          <a:xfrm>
            <a:off x="708660" y="3258650"/>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 y="3217502"/>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Utilisateur applicatif — sans self-service : guichet, contournements</a:t>
            </a:r>
          </a:p>
        </p:txBody>
      </p:sp>
      <p:sp>
        <p:nvSpPr>
          <p:cNvPr id="16" name="Rounded Rectangle 15"/>
          <p:cNvSpPr/>
          <p:nvPr/>
        </p:nvSpPr>
        <p:spPr>
          <a:xfrm>
            <a:off x="708660" y="3516418"/>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 y="3475270"/>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Management — expert devenu manager malgré lui, reporting miroir</a:t>
            </a:r>
          </a:p>
        </p:txBody>
      </p:sp>
      <p:sp>
        <p:nvSpPr>
          <p:cNvPr id="18" name="Rounded Rectangle 17"/>
          <p:cNvSpPr/>
          <p:nvPr/>
        </p:nvSpPr>
        <p:spPr>
          <a:xfrm>
            <a:off x="708660" y="37741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 y="3733038"/>
            <a:ext cx="2077211" cy="189738"/>
          </a:xfrm>
          <a:prstGeom prst="rect">
            <a:avLst/>
          </a:prstGeom>
          <a:noFill/>
        </p:spPr>
        <p:txBody>
          <a:bodyPr wrap="square" anchor="t" lIns="0" rIns="0" tIns="0" bIns="0">
            <a:noAutofit/>
          </a:bodyPr>
          <a:lstStyle/>
          <a:p>
            <a:pPr algn="l">
              <a:lnSpc>
                <a:spcPct val="100000"/>
              </a:lnSpc>
            </a:pPr>
            <a:r>
              <a:rPr sz="675" b="0" i="0">
                <a:solidFill>
                  <a:srgbClr val="0E2356"/>
                </a:solidFill>
                <a:latin typeface="Outfit"/>
              </a:rPr>
              <a:t>Sponsor — pression à « mettre de l'IA » sans cas d'usage démontré</a:t>
            </a:r>
          </a:p>
        </p:txBody>
      </p:sp>
      <p:sp>
        <p:nvSpPr>
          <p:cNvPr id="20" name="Rounded Rectangle 19"/>
          <p:cNvSpPr/>
          <p:nvPr/>
        </p:nvSpPr>
        <p:spPr>
          <a:xfrm>
            <a:off x="699516"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Détaillé aux chapitres Personas et Besoins &amp; douleurs</a:t>
            </a:r>
          </a:p>
        </p:txBody>
      </p:sp>
      <p:sp>
        <p:nvSpPr>
          <p:cNvPr id="22" name="Rounded Rectangle 21"/>
          <p:cNvSpPr/>
          <p:nvPr/>
        </p:nvSpPr>
        <p:spPr>
          <a:xfrm>
            <a:off x="3224783"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24783"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ear 6 23"/>
          <p:cNvSpPr/>
          <p:nvPr/>
        </p:nvSpPr>
        <p:spPr>
          <a:xfrm>
            <a:off x="3361943" y="1650619"/>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27703"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NOTRE OUTILLAGE · CÔTÉ CONSULTANT</a:t>
            </a:r>
          </a:p>
        </p:txBody>
      </p:sp>
      <p:sp>
        <p:nvSpPr>
          <p:cNvPr id="26" name="TextBox 25"/>
          <p:cNvSpPr txBox="1"/>
          <p:nvPr/>
        </p:nvSpPr>
        <p:spPr>
          <a:xfrm>
            <a:off x="3361943"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Notre démarche, outillée par un module agentic</a:t>
            </a:r>
          </a:p>
        </p:txBody>
      </p:sp>
      <p:sp>
        <p:nvSpPr>
          <p:cNvPr id="27" name="TextBox 26"/>
          <p:cNvSpPr txBox="1"/>
          <p:nvPr/>
        </p:nvSpPr>
        <p:spPr>
          <a:xfrm>
            <a:off x="3361943"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Le module BMAD IAP tourne sur le poste du consultant.</a:t>
            </a:r>
          </a:p>
        </p:txBody>
      </p:sp>
      <p:sp>
        <p:nvSpPr>
          <p:cNvPr id="28" name="Rectangle 27"/>
          <p:cNvSpPr/>
          <p:nvPr/>
        </p:nvSpPr>
        <p:spPr>
          <a:xfrm>
            <a:off x="3361943"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371087"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89960" y="2959735"/>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11 agents spécialisés : stratégie, produit, RUN, gaspillages, métriques, IA, changement</a:t>
            </a:r>
          </a:p>
        </p:txBody>
      </p:sp>
      <p:sp>
        <p:nvSpPr>
          <p:cNvPr id="31" name="Rounded Rectangle 30"/>
          <p:cNvSpPr/>
          <p:nvPr/>
        </p:nvSpPr>
        <p:spPr>
          <a:xfrm>
            <a:off x="3371087" y="3349434"/>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89960" y="3308286"/>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Workflows, templates et checklists outillent la démarche — ils ne la remplacent pas</a:t>
            </a:r>
          </a:p>
        </p:txBody>
      </p:sp>
      <p:sp>
        <p:nvSpPr>
          <p:cNvPr id="33" name="Rounded Rectangle 32"/>
          <p:cNvSpPr/>
          <p:nvPr/>
        </p:nvSpPr>
        <p:spPr>
          <a:xfrm>
            <a:off x="3371087" y="369798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89960" y="3656838"/>
            <a:ext cx="2077211" cy="265938"/>
          </a:xfrm>
          <a:prstGeom prst="rect">
            <a:avLst/>
          </a:prstGeom>
          <a:noFill/>
        </p:spPr>
        <p:txBody>
          <a:bodyPr wrap="square" anchor="t" lIns="0" rIns="0" tIns="0" bIns="0">
            <a:noAutofit/>
          </a:bodyPr>
          <a:lstStyle/>
          <a:p>
            <a:pPr algn="l">
              <a:lnSpc>
                <a:spcPct val="100000"/>
              </a:lnSpc>
            </a:pPr>
            <a:r>
              <a:rPr sz="650" b="0" i="0">
                <a:solidFill>
                  <a:srgbClr val="0E2356"/>
                </a:solidFill>
                <a:latin typeface="Outfit"/>
              </a:rPr>
              <a:t>Rien ne s'installe chez le client par défaut : les livrables sortent, c'est tout</a:t>
            </a:r>
          </a:p>
        </p:txBody>
      </p:sp>
      <p:sp>
        <p:nvSpPr>
          <p:cNvPr id="35" name="Rounded Rectangle 34"/>
          <p:cNvSpPr/>
          <p:nvPr/>
        </p:nvSpPr>
        <p:spPr>
          <a:xfrm>
            <a:off x="3361943"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1943"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L'outil du consultant — chapitres Démarche et Outillage IAP</a:t>
            </a:r>
          </a:p>
        </p:txBody>
      </p:sp>
      <p:sp>
        <p:nvSpPr>
          <p:cNvPr id="37" name="Rounded Rectangle 36"/>
          <p:cNvSpPr/>
          <p:nvPr/>
        </p:nvSpPr>
        <p:spPr>
          <a:xfrm>
            <a:off x="5887212" y="1504315"/>
            <a:ext cx="2479548" cy="2967101"/>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887212" y="1504315"/>
            <a:ext cx="2479548" cy="685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entagon 38"/>
          <p:cNvSpPr/>
          <p:nvPr/>
        </p:nvSpPr>
        <p:spPr>
          <a:xfrm>
            <a:off x="6024372" y="1650619"/>
            <a:ext cx="274320" cy="274320"/>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90132" y="1650619"/>
            <a:ext cx="1839468" cy="274320"/>
          </a:xfrm>
          <a:prstGeom prst="rect">
            <a:avLst/>
          </a:prstGeom>
          <a:noFill/>
        </p:spPr>
        <p:txBody>
          <a:bodyPr wrap="square" anchor="ctr" lIns="0" rIns="0" tIns="0" bIns="0">
            <a:noAutofit/>
          </a:bodyPr>
          <a:lstStyle/>
          <a:p>
            <a:pPr algn="l">
              <a:lnSpc>
                <a:spcPct val="110000"/>
              </a:lnSpc>
            </a:pPr>
            <a:r>
              <a:rPr sz="650" b="1" i="0">
                <a:solidFill>
                  <a:srgbClr val="0E2356"/>
                </a:solidFill>
                <a:latin typeface="Outfit"/>
              </a:rPr>
              <a:t>EN OPTION · CÔTÉ CLIENT</a:t>
            </a:r>
          </a:p>
        </p:txBody>
      </p:sp>
      <p:sp>
        <p:nvSpPr>
          <p:cNvPr id="41" name="TextBox 40"/>
          <p:cNvSpPr txBox="1"/>
          <p:nvPr/>
        </p:nvSpPr>
        <p:spPr>
          <a:xfrm>
            <a:off x="6024372" y="2016379"/>
            <a:ext cx="2205228" cy="326135"/>
          </a:xfrm>
          <a:prstGeom prst="rect">
            <a:avLst/>
          </a:prstGeom>
          <a:noFill/>
        </p:spPr>
        <p:txBody>
          <a:bodyPr wrap="square" anchor="t" lIns="0" rIns="0" tIns="0" bIns="0">
            <a:noAutofit/>
          </a:bodyPr>
          <a:lstStyle/>
          <a:p>
            <a:pPr algn="l">
              <a:lnSpc>
                <a:spcPct val="120000"/>
              </a:lnSpc>
            </a:pPr>
            <a:r>
              <a:rPr sz="950" b="1" i="0">
                <a:solidFill>
                  <a:srgbClr val="0E2356"/>
                </a:solidFill>
                <a:latin typeface="Outfit"/>
              </a:rPr>
              <a:t>Déployer de l'agentic chez le client</a:t>
            </a:r>
          </a:p>
        </p:txBody>
      </p:sp>
      <p:sp>
        <p:nvSpPr>
          <p:cNvPr id="42" name="TextBox 41"/>
          <p:cNvSpPr txBox="1"/>
          <p:nvPr/>
        </p:nvSpPr>
        <p:spPr>
          <a:xfrm>
            <a:off x="6024372" y="2379091"/>
            <a:ext cx="2205228" cy="379476"/>
          </a:xfrm>
          <a:prstGeom prst="rect">
            <a:avLst/>
          </a:prstGeom>
          <a:noFill/>
        </p:spPr>
        <p:txBody>
          <a:bodyPr wrap="square" anchor="t" lIns="0" rIns="0" tIns="0" bIns="0">
            <a:noAutofit/>
          </a:bodyPr>
          <a:lstStyle/>
          <a:p>
            <a:pPr algn="l">
              <a:lnSpc>
                <a:spcPct val="120000"/>
              </a:lnSpc>
            </a:pPr>
            <a:r>
              <a:rPr sz="750" b="0" i="1">
                <a:solidFill>
                  <a:srgbClr val="586586"/>
                </a:solidFill>
                <a:latin typeface="Outfit"/>
              </a:rPr>
              <a:t>Ouverte seulement si le contexte du client s'y prête.</a:t>
            </a:r>
          </a:p>
        </p:txBody>
      </p:sp>
      <p:sp>
        <p:nvSpPr>
          <p:cNvPr id="43" name="Rectangle 42"/>
          <p:cNvSpPr/>
          <p:nvPr/>
        </p:nvSpPr>
        <p:spPr>
          <a:xfrm>
            <a:off x="6024372" y="2850007"/>
            <a:ext cx="220522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33516" y="3000883"/>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52388" y="2959735"/>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Gate IA d'abord : la donnée est classée (D0–D4) avant tout usage d'IA</a:t>
            </a:r>
          </a:p>
        </p:txBody>
      </p:sp>
      <p:sp>
        <p:nvSpPr>
          <p:cNvPr id="46" name="Rounded Rectangle 45"/>
          <p:cNvSpPr/>
          <p:nvPr/>
        </p:nvSpPr>
        <p:spPr>
          <a:xfrm>
            <a:off x="6033516" y="3313239"/>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52388" y="3272091"/>
            <a:ext cx="2077211" cy="33832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Agentic Readiness [0]–[1] oriente vers documentation-first ; [2]–[3] ouvre agentic-implementation</a:t>
            </a:r>
          </a:p>
        </p:txBody>
      </p:sp>
      <p:sp>
        <p:nvSpPr>
          <p:cNvPr id="48" name="Rounded Rectangle 47"/>
          <p:cNvSpPr/>
          <p:nvPr/>
        </p:nvSpPr>
        <p:spPr>
          <a:xfrm>
            <a:off x="6033516" y="3732276"/>
            <a:ext cx="54864" cy="548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52388" y="3691128"/>
            <a:ext cx="2077211" cy="231648"/>
          </a:xfrm>
          <a:prstGeom prst="rect">
            <a:avLst/>
          </a:prstGeom>
          <a:noFill/>
        </p:spPr>
        <p:txBody>
          <a:bodyPr wrap="square" anchor="t" lIns="0" rIns="0" tIns="0" bIns="0">
            <a:noAutofit/>
          </a:bodyPr>
          <a:lstStyle/>
          <a:p>
            <a:pPr algn="l">
              <a:lnSpc>
                <a:spcPct val="120000"/>
              </a:lnSpc>
            </a:pPr>
            <a:r>
              <a:rPr sz="700" b="0" i="0">
                <a:solidFill>
                  <a:srgbClr val="0E2356"/>
                </a:solidFill>
                <a:latin typeface="Outfit"/>
              </a:rPr>
              <a:t>Le processus doit être explicite avant l'agent, jamais l'inverse</a:t>
            </a:r>
          </a:p>
        </p:txBody>
      </p:sp>
      <p:sp>
        <p:nvSpPr>
          <p:cNvPr id="50" name="Rounded Rectangle 49"/>
          <p:cNvSpPr/>
          <p:nvPr/>
        </p:nvSpPr>
        <p:spPr>
          <a:xfrm>
            <a:off x="6024372" y="4032504"/>
            <a:ext cx="2205228"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024372" y="4032504"/>
            <a:ext cx="2205228" cy="310896"/>
          </a:xfrm>
          <a:prstGeom prst="rect">
            <a:avLst/>
          </a:prstGeom>
          <a:noFill/>
        </p:spPr>
        <p:txBody>
          <a:bodyPr wrap="square" anchor="ctr" lIns="0" rIns="0" tIns="0" bIns="0">
            <a:noAutofit/>
          </a:bodyPr>
          <a:lstStyle/>
          <a:p>
            <a:pPr algn="ctr"/>
            <a:r>
              <a:rPr sz="650" b="1" i="0">
                <a:solidFill>
                  <a:srgbClr val="FFFFFF"/>
                </a:solidFill>
                <a:latin typeface="Outfit"/>
              </a:rPr>
              <a:t>Une décision de mission — chapitre IA</a:t>
            </a:r>
          </a:p>
        </p:txBody>
      </p:sp>
      <p:sp>
        <p:nvSpPr>
          <p:cNvPr id="52" name="Rounded Rectangle 51"/>
          <p:cNvSpPr/>
          <p:nvPr/>
        </p:nvSpPr>
        <p:spPr>
          <a:xfrm>
            <a:off x="562356" y="4471416"/>
            <a:ext cx="7804404" cy="5120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5236" y="4471416"/>
            <a:ext cx="7438644" cy="512064"/>
          </a:xfrm>
          <a:prstGeom prst="rect">
            <a:avLst/>
          </a:prstGeom>
          <a:noFill/>
        </p:spPr>
        <p:txBody>
          <a:bodyPr wrap="square" anchor="ctr" lIns="0" rIns="0" tIns="0" bIns="0">
            <a:noAutofit/>
          </a:bodyPr>
          <a:lstStyle/>
          <a:p>
            <a:pPr algn="l"/>
            <a:r>
              <a:rPr sz="650" b="1" i="0">
                <a:solidFill>
                  <a:srgbClr val="586586"/>
                </a:solidFill>
                <a:latin typeface="Outfit"/>
              </a:rPr>
              <a:t>MATÉRIAU DE CADRAGE</a:t>
            </a:r>
          </a:p>
          <a:p>
            <a:pPr algn="l">
              <a:lnSpc>
                <a:spcPct val="120000"/>
              </a:lnSpc>
              <a:spcBef>
                <a:spcPts val="200"/>
              </a:spcBef>
            </a:pPr>
            <a:r>
              <a:rPr sz="750" b="0" i="0">
                <a:solidFill>
                  <a:srgbClr val="0E2356"/>
                </a:solidFill>
                <a:latin typeface="Outfit"/>
              </a:rPr>
              <a:t>Les personas, les douleurs et les familles de gaspillage de ce cadrage sont nourris de trois contextes sectoriels réels : télécom et plateformes numériques, banque de détail, GIE informatique bancaire.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EXEC SUMMARY   ·   </a:t>
            </a:r>
            <a:r>
              <a:rPr b="1" sz="1250">
                <a:solidFill>
                  <a:srgbClr val="0E2356"/>
                </a:solidFill>
                <a:latin typeface="Outfit"/>
              </a:rPr>
              <a:t>La même démarche absorbe l'outillage : elle n'est jamais dédoublée</a:t>
            </a:r>
          </a:p>
        </p:txBody>
      </p:sp>
      <p:sp>
        <p:nvSpPr>
          <p:cNvPr id="3" name="TextBox 2"/>
          <p:cNvSpPr txBox="1"/>
          <p:nvPr/>
        </p:nvSpPr>
        <p:spPr>
          <a:xfrm>
            <a:off x="562356" y="1051560"/>
            <a:ext cx="7804404" cy="324739"/>
          </a:xfrm>
          <a:prstGeom prst="rect">
            <a:avLst/>
          </a:prstGeom>
          <a:noFill/>
        </p:spPr>
        <p:txBody>
          <a:bodyPr wrap="square" anchor="t" lIns="0" rIns="0" tIns="0" bIns="0">
            <a:noAutofit/>
          </a:bodyPr>
          <a:lstStyle/>
          <a:p>
            <a:pPr algn="l">
              <a:lnSpc>
                <a:spcPct val="125000"/>
              </a:lnSpc>
            </a:pPr>
            <a:r>
              <a:rPr sz="850" b="0" i="1">
                <a:solidFill>
                  <a:srgbClr val="0E2356"/>
                </a:solidFill>
                <a:latin typeface="Outfit"/>
              </a:rPr>
              <a:t>Trois temps identiques avec ou sans outillage — ce qui change, c'est ce que le consultant a dans les mains, et ce qui peut être déployé chez le client.</a:t>
            </a:r>
          </a:p>
        </p:txBody>
      </p:sp>
      <p:sp>
        <p:nvSpPr>
          <p:cNvPr id="4" name="Rectangle 3"/>
          <p:cNvSpPr/>
          <p:nvPr/>
        </p:nvSpPr>
        <p:spPr>
          <a:xfrm>
            <a:off x="2911602" y="1722856"/>
            <a:ext cx="4422648" cy="201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40890"/>
            <a:ext cx="1188720"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LA MÊME DÉMARCHE</a:t>
            </a:r>
          </a:p>
          <a:p>
            <a:pPr algn="l">
              <a:spcBef>
                <a:spcPts val="100"/>
              </a:spcBef>
            </a:pPr>
            <a:r>
              <a:rPr sz="620" b="0" i="1">
                <a:solidFill>
                  <a:srgbClr val="586586"/>
                </a:solidFill>
                <a:latin typeface="Outfit"/>
              </a:rPr>
              <a:t>quel que soit l'outillage</a:t>
            </a:r>
          </a:p>
        </p:txBody>
      </p:sp>
      <p:sp>
        <p:nvSpPr>
          <p:cNvPr id="6" name="Rounded Rectangle 5"/>
          <p:cNvSpPr/>
          <p:nvPr/>
        </p:nvSpPr>
        <p:spPr>
          <a:xfrm>
            <a:off x="2719578"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19578"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①</a:t>
            </a:r>
          </a:p>
        </p:txBody>
      </p:sp>
      <p:sp>
        <p:nvSpPr>
          <p:cNvPr id="8" name="TextBox 7"/>
          <p:cNvSpPr txBox="1"/>
          <p:nvPr/>
        </p:nvSpPr>
        <p:spPr>
          <a:xfrm>
            <a:off x="1879092"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COMPRENDRE</a:t>
            </a:r>
          </a:p>
        </p:txBody>
      </p:sp>
      <p:sp>
        <p:nvSpPr>
          <p:cNvPr id="9" name="TextBox 8"/>
          <p:cNvSpPr txBox="1"/>
          <p:nvPr/>
        </p:nvSpPr>
        <p:spPr>
          <a:xfrm>
            <a:off x="1879092"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matériau est structuré par le module — les questions posées, elles, ne changent pas.</a:t>
            </a:r>
          </a:p>
        </p:txBody>
      </p:sp>
      <p:sp>
        <p:nvSpPr>
          <p:cNvPr id="10" name="TextBox 9"/>
          <p:cNvSpPr txBox="1"/>
          <p:nvPr/>
        </p:nvSpPr>
        <p:spPr>
          <a:xfrm>
            <a:off x="3944112"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1" name="Rounded Rectangle 10"/>
          <p:cNvSpPr/>
          <p:nvPr/>
        </p:nvSpPr>
        <p:spPr>
          <a:xfrm>
            <a:off x="4930902"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0902"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②</a:t>
            </a:r>
          </a:p>
        </p:txBody>
      </p:sp>
      <p:sp>
        <p:nvSpPr>
          <p:cNvPr id="13" name="TextBox 12"/>
          <p:cNvSpPr txBox="1"/>
          <p:nvPr/>
        </p:nvSpPr>
        <p:spPr>
          <a:xfrm>
            <a:off x="4090416"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DÉFINIR</a:t>
            </a:r>
          </a:p>
        </p:txBody>
      </p:sp>
      <p:sp>
        <p:nvSpPr>
          <p:cNvPr id="14" name="TextBox 13"/>
          <p:cNvSpPr txBox="1"/>
          <p:nvPr/>
        </p:nvSpPr>
        <p:spPr>
          <a:xfrm>
            <a:off x="4090416"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 scoring devient explicite et rejouable ; la décision, elle, reste humaine.</a:t>
            </a:r>
          </a:p>
        </p:txBody>
      </p:sp>
      <p:sp>
        <p:nvSpPr>
          <p:cNvPr id="15" name="TextBox 14"/>
          <p:cNvSpPr txBox="1"/>
          <p:nvPr/>
        </p:nvSpPr>
        <p:spPr>
          <a:xfrm>
            <a:off x="6155436" y="1540890"/>
            <a:ext cx="146304" cy="384048"/>
          </a:xfrm>
          <a:prstGeom prst="rect">
            <a:avLst/>
          </a:prstGeom>
          <a:noFill/>
        </p:spPr>
        <p:txBody>
          <a:bodyPr wrap="square" anchor="ctr" lIns="0" rIns="0" tIns="0" bIns="0">
            <a:noAutofit/>
          </a:bodyPr>
          <a:lstStyle/>
          <a:p>
            <a:pPr algn="ctr"/>
            <a:r>
              <a:rPr sz="1200" b="1" i="0">
                <a:solidFill>
                  <a:srgbClr val="586586"/>
                </a:solidFill>
                <a:latin typeface="Outfit"/>
              </a:rPr>
              <a:t>→</a:t>
            </a:r>
          </a:p>
        </p:txBody>
      </p:sp>
      <p:sp>
        <p:nvSpPr>
          <p:cNvPr id="16" name="Rounded Rectangle 15"/>
          <p:cNvSpPr/>
          <p:nvPr/>
        </p:nvSpPr>
        <p:spPr>
          <a:xfrm>
            <a:off x="7142226" y="154089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42226" y="1540890"/>
            <a:ext cx="384048" cy="384048"/>
          </a:xfrm>
          <a:prstGeom prst="rect">
            <a:avLst/>
          </a:prstGeom>
          <a:noFill/>
        </p:spPr>
        <p:txBody>
          <a:bodyPr wrap="square" anchor="ctr" lIns="0" rIns="0" tIns="0" bIns="0">
            <a:noAutofit/>
          </a:bodyPr>
          <a:lstStyle/>
          <a:p>
            <a:pPr algn="ctr"/>
            <a:r>
              <a:rPr sz="1400" b="1" i="0">
                <a:solidFill>
                  <a:srgbClr val="FFFFFF"/>
                </a:solidFill>
                <a:latin typeface="Arial"/>
              </a:rPr>
              <a:t>③</a:t>
            </a:r>
          </a:p>
        </p:txBody>
      </p:sp>
      <p:sp>
        <p:nvSpPr>
          <p:cNvPr id="18" name="TextBox 17"/>
          <p:cNvSpPr txBox="1"/>
          <p:nvPr/>
        </p:nvSpPr>
        <p:spPr>
          <a:xfrm>
            <a:off x="6301740" y="1998091"/>
            <a:ext cx="2065020" cy="201168"/>
          </a:xfrm>
          <a:prstGeom prst="rect">
            <a:avLst/>
          </a:prstGeom>
          <a:noFill/>
        </p:spPr>
        <p:txBody>
          <a:bodyPr wrap="square" anchor="t" lIns="0" rIns="0" tIns="0" bIns="0">
            <a:noAutofit/>
          </a:bodyPr>
          <a:lstStyle/>
          <a:p>
            <a:pPr algn="ctr"/>
            <a:r>
              <a:rPr sz="900" b="1" i="0">
                <a:solidFill>
                  <a:srgbClr val="0E2356"/>
                </a:solidFill>
                <a:latin typeface="Outfit"/>
              </a:rPr>
              <a:t>FAIRE ADOPTER &amp; PROUVER</a:t>
            </a:r>
          </a:p>
        </p:txBody>
      </p:sp>
      <p:sp>
        <p:nvSpPr>
          <p:cNvPr id="19" name="TextBox 18"/>
          <p:cNvSpPr txBox="1"/>
          <p:nvPr/>
        </p:nvSpPr>
        <p:spPr>
          <a:xfrm>
            <a:off x="6301740" y="2217547"/>
            <a:ext cx="2065020" cy="360425"/>
          </a:xfrm>
          <a:prstGeom prst="rect">
            <a:avLst/>
          </a:prstGeom>
          <a:noFill/>
        </p:spPr>
        <p:txBody>
          <a:bodyPr wrap="square" anchor="t" lIns="0" rIns="0" tIns="0" bIns="0">
            <a:noAutofit/>
          </a:bodyPr>
          <a:lstStyle/>
          <a:p>
            <a:pPr algn="ctr">
              <a:lnSpc>
                <a:spcPct val="125000"/>
              </a:lnSpc>
            </a:pPr>
            <a:r>
              <a:rPr sz="680" b="0" i="1">
                <a:solidFill>
                  <a:srgbClr val="586586"/>
                </a:solidFill>
                <a:latin typeface="Outfit"/>
              </a:rPr>
              <a:t>Les livrables sont générés ; l'adoption, elle, reste de la présence de consultant.</a:t>
            </a:r>
          </a:p>
        </p:txBody>
      </p:sp>
      <p:sp>
        <p:nvSpPr>
          <p:cNvPr id="20" name="TextBox 19"/>
          <p:cNvSpPr txBox="1"/>
          <p:nvPr/>
        </p:nvSpPr>
        <p:spPr>
          <a:xfrm>
            <a:off x="562356" y="2199259"/>
            <a:ext cx="1188720" cy="360425"/>
          </a:xfrm>
          <a:prstGeom prst="rect">
            <a:avLst/>
          </a:prstGeom>
          <a:noFill/>
        </p:spPr>
        <p:txBody>
          <a:bodyPr wrap="square" anchor="t" lIns="0" rIns="0" tIns="0" bIns="0">
            <a:noAutofit/>
          </a:bodyPr>
          <a:lstStyle/>
          <a:p>
            <a:pPr algn="l">
              <a:lnSpc>
                <a:spcPct val="110000"/>
              </a:lnSpc>
            </a:pPr>
            <a:r>
              <a:rPr sz="650" b="1" i="0">
                <a:solidFill>
                  <a:srgbClr val="586586"/>
                </a:solidFill>
                <a:latin typeface="Outfit"/>
              </a:rPr>
              <a:t>CE QUE ÇA CHANGE</a:t>
            </a:r>
          </a:p>
        </p:txBody>
      </p:sp>
      <p:sp>
        <p:nvSpPr>
          <p:cNvPr id="21" name="TextBox 20"/>
          <p:cNvSpPr txBox="1"/>
          <p:nvPr/>
        </p:nvSpPr>
        <p:spPr>
          <a:xfrm>
            <a:off x="562356" y="2724277"/>
            <a:ext cx="118872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SANS OUTILLAGE</a:t>
            </a:r>
          </a:p>
          <a:p>
            <a:pPr algn="l">
              <a:lnSpc>
                <a:spcPct val="115000"/>
              </a:lnSpc>
              <a:spcBef>
                <a:spcPts val="200"/>
              </a:spcBef>
            </a:pPr>
            <a:r>
              <a:rPr sz="600" b="0" i="1">
                <a:solidFill>
                  <a:srgbClr val="586586"/>
                </a:solidFill>
                <a:latin typeface="Outfit"/>
              </a:rPr>
              <a:t>présence du consultant</a:t>
            </a:r>
          </a:p>
        </p:txBody>
      </p:sp>
      <p:sp>
        <p:nvSpPr>
          <p:cNvPr id="22" name="Rounded Rectangle 21"/>
          <p:cNvSpPr/>
          <p:nvPr/>
        </p:nvSpPr>
        <p:spPr>
          <a:xfrm>
            <a:off x="1879092"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70532"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Interviews et terrain</a:t>
            </a:r>
          </a:p>
        </p:txBody>
      </p:sp>
      <p:sp>
        <p:nvSpPr>
          <p:cNvPr id="24" name="Rounded Rectangle 23"/>
          <p:cNvSpPr/>
          <p:nvPr/>
        </p:nvSpPr>
        <p:spPr>
          <a:xfrm>
            <a:off x="4090416"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81856"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Ateliers de conception</a:t>
            </a:r>
          </a:p>
        </p:txBody>
      </p:sp>
      <p:sp>
        <p:nvSpPr>
          <p:cNvPr id="26" name="Rounded Rectangle 25"/>
          <p:cNvSpPr/>
          <p:nvPr/>
        </p:nvSpPr>
        <p:spPr>
          <a:xfrm>
            <a:off x="6301740" y="2724277"/>
            <a:ext cx="2065020" cy="432519"/>
          </a:xfrm>
          <a:prstGeom prst="roundRect">
            <a:avLst>
              <a:gd name="adj" fmla="val 22000"/>
            </a:avLst>
          </a:prstGeom>
          <a:solidFill>
            <a:srgbClr val="DCE6F5"/>
          </a:solidFill>
          <a:ln w="1270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3180" y="2724277"/>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Coaching, présence dégressive</a:t>
            </a:r>
          </a:p>
        </p:txBody>
      </p:sp>
      <p:sp>
        <p:nvSpPr>
          <p:cNvPr id="28" name="Gear 6 27"/>
          <p:cNvSpPr/>
          <p:nvPr/>
        </p:nvSpPr>
        <p:spPr>
          <a:xfrm>
            <a:off x="562356" y="3382200"/>
            <a:ext cx="201168" cy="201168"/>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6" y="3266524"/>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AVEC LE MODULE</a:t>
            </a:r>
          </a:p>
          <a:p>
            <a:pPr algn="l">
              <a:lnSpc>
                <a:spcPct val="115000"/>
              </a:lnSpc>
              <a:spcBef>
                <a:spcPts val="200"/>
              </a:spcBef>
            </a:pPr>
            <a:r>
              <a:rPr sz="600" b="0" i="1">
                <a:solidFill>
                  <a:srgbClr val="586586"/>
                </a:solidFill>
                <a:latin typeface="Outfit"/>
              </a:rPr>
              <a:t>côté consultant · décliné au chapitre Démarche</a:t>
            </a:r>
          </a:p>
        </p:txBody>
      </p:sp>
      <p:sp>
        <p:nvSpPr>
          <p:cNvPr id="30" name="Rounded Rectangle 29"/>
          <p:cNvSpPr/>
          <p:nvPr/>
        </p:nvSpPr>
        <p:spPr>
          <a:xfrm>
            <a:off x="1879092"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70532"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Trames et synthèse outillées</a:t>
            </a:r>
          </a:p>
        </p:txBody>
      </p:sp>
      <p:sp>
        <p:nvSpPr>
          <p:cNvPr id="32" name="Rounded Rectangle 31"/>
          <p:cNvSpPr/>
          <p:nvPr/>
        </p:nvSpPr>
        <p:spPr>
          <a:xfrm>
            <a:off x="4090416"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81856"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Fiche produit et scoring</a:t>
            </a:r>
          </a:p>
        </p:txBody>
      </p:sp>
      <p:sp>
        <p:nvSpPr>
          <p:cNvPr id="34" name="Rounded Rectangle 33"/>
          <p:cNvSpPr/>
          <p:nvPr/>
        </p:nvSpPr>
        <p:spPr>
          <a:xfrm>
            <a:off x="6301740" y="3266524"/>
            <a:ext cx="2065020" cy="432519"/>
          </a:xfrm>
          <a:prstGeom prst="roundRect">
            <a:avLst>
              <a:gd name="adj" fmla="val 22000"/>
            </a:avLst>
          </a:prstGeom>
          <a:solidFill>
            <a:srgbClr val="E1FDFA"/>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3180" y="3266524"/>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Decks et export markdown</a:t>
            </a:r>
          </a:p>
        </p:txBody>
      </p:sp>
      <p:sp>
        <p:nvSpPr>
          <p:cNvPr id="36" name="Pentagon 35"/>
          <p:cNvSpPr/>
          <p:nvPr/>
        </p:nvSpPr>
        <p:spPr>
          <a:xfrm>
            <a:off x="562356" y="3924448"/>
            <a:ext cx="201168" cy="201168"/>
          </a:xfrm>
          <a:prstGeom prst="homePlat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 y="3808772"/>
            <a:ext cx="914400" cy="432519"/>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AGENTIC CHEZ LE CLIENT</a:t>
            </a:r>
          </a:p>
          <a:p>
            <a:pPr algn="l">
              <a:lnSpc>
                <a:spcPct val="115000"/>
              </a:lnSpc>
              <a:spcBef>
                <a:spcPts val="200"/>
              </a:spcBef>
            </a:pPr>
            <a:r>
              <a:rPr sz="600" b="0" i="1">
                <a:solidFill>
                  <a:srgbClr val="586586"/>
                </a:solidFill>
                <a:latin typeface="Outfit"/>
              </a:rPr>
              <a:t>en option, sous gate IA · déployé au chapitre Outillage IAP</a:t>
            </a:r>
          </a:p>
        </p:txBody>
      </p:sp>
      <p:sp>
        <p:nvSpPr>
          <p:cNvPr id="38" name="Rounded Rectangle 37"/>
          <p:cNvSpPr/>
          <p:nvPr/>
        </p:nvSpPr>
        <p:spPr>
          <a:xfrm>
            <a:off x="1879092"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70532"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Rien de déployé à ce stade</a:t>
            </a:r>
          </a:p>
        </p:txBody>
      </p:sp>
      <p:sp>
        <p:nvSpPr>
          <p:cNvPr id="40" name="Rounded Rectangle 39"/>
          <p:cNvSpPr/>
          <p:nvPr/>
        </p:nvSpPr>
        <p:spPr>
          <a:xfrm>
            <a:off x="4090416"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81856"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Candidats qualifiés, gate IA</a:t>
            </a:r>
          </a:p>
        </p:txBody>
      </p:sp>
      <p:sp>
        <p:nvSpPr>
          <p:cNvPr id="42" name="Rounded Rectangle 41"/>
          <p:cNvSpPr/>
          <p:nvPr/>
        </p:nvSpPr>
        <p:spPr>
          <a:xfrm>
            <a:off x="6301740" y="3808772"/>
            <a:ext cx="2065020" cy="432519"/>
          </a:xfrm>
          <a:prstGeom prst="roundRect">
            <a:avLst>
              <a:gd name="adj" fmla="val 22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93180" y="3808772"/>
            <a:ext cx="1882139" cy="432519"/>
          </a:xfrm>
          <a:prstGeom prst="rect">
            <a:avLst/>
          </a:prstGeom>
          <a:noFill/>
        </p:spPr>
        <p:txBody>
          <a:bodyPr wrap="square" anchor="ctr" lIns="0" rIns="0" tIns="0" bIns="0">
            <a:noAutofit/>
          </a:bodyPr>
          <a:lstStyle/>
          <a:p>
            <a:pPr algn="ctr">
              <a:lnSpc>
                <a:spcPct val="115000"/>
              </a:lnSpc>
            </a:pPr>
            <a:r>
              <a:rPr sz="800" b="1" i="0">
                <a:solidFill>
                  <a:srgbClr val="0E2356"/>
                </a:solidFill>
                <a:latin typeface="Outfit"/>
              </a:rPr>
              <a:t>Supervisé, puis délégué</a:t>
            </a:r>
          </a:p>
        </p:txBody>
      </p:sp>
      <p:sp>
        <p:nvSpPr>
          <p:cNvPr id="44" name="Rounded Rectangle 43"/>
          <p:cNvSpPr/>
          <p:nvPr/>
        </p:nvSpPr>
        <p:spPr>
          <a:xfrm>
            <a:off x="562356" y="4387596"/>
            <a:ext cx="7804404" cy="595884"/>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62356" y="4387596"/>
            <a:ext cx="64008" cy="59588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1812" y="4442460"/>
            <a:ext cx="7402068" cy="486156"/>
          </a:xfrm>
          <a:prstGeom prst="rect">
            <a:avLst/>
          </a:prstGeom>
          <a:noFill/>
        </p:spPr>
        <p:txBody>
          <a:bodyPr wrap="square" anchor="t" lIns="0" rIns="0" tIns="0" bIns="0">
            <a:noAutofit/>
          </a:bodyPr>
          <a:lstStyle/>
          <a:p>
            <a:pPr algn="l"/>
            <a:r>
              <a:rPr sz="680" b="1" i="0">
                <a:solidFill>
                  <a:srgbClr val="8FD6DB"/>
                </a:solidFill>
                <a:latin typeface="Outfit"/>
              </a:rPr>
              <a:t>CE QUE LE DECK DÉCLINE ENSUITE</a:t>
            </a:r>
          </a:p>
          <a:p>
            <a:pPr algn="l">
              <a:lnSpc>
                <a:spcPct val="125000"/>
              </a:lnSpc>
              <a:spcBef>
                <a:spcPts val="300"/>
              </a:spcBef>
            </a:pPr>
            <a:r>
              <a:rPr sz="800" b="0" i="0">
                <a:solidFill>
                  <a:srgbClr val="FFFFFF"/>
                </a:solidFill>
                <a:latin typeface="Outfit"/>
              </a:rPr>
              <a:t>Une seule démarche, deux faces de l'agentic : le module outille le consultant (décliné au chapitre Démarche) ; déployer des agents chez le client est une décision distincte, sous gate IA (déployé au chapitre Outillage IAP).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Spécificités de l'infra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946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946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6 catégories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l'agent de triage de tickets et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