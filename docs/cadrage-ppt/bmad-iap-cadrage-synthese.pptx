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v2.34 · 2026-09-11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2044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Reprendre la main sur l'infra en quatre temps — organisation et plateforme, sans prérequis d'IA</a:t>
            </a:r>
          </a:p>
        </p:txBody>
      </p:sp>
      <p:sp>
        <p:nvSpPr>
          <p:cNvPr id="3" name="TextBox 2"/>
          <p:cNvSpPr txBox="1"/>
          <p:nvPr/>
        </p:nvSpPr>
        <p:spPr>
          <a:xfrm>
            <a:off x="347472" y="777240"/>
            <a:ext cx="8449055" cy="128016"/>
          </a:xfrm>
          <a:prstGeom prst="rect">
            <a:avLst/>
          </a:prstGeom>
          <a:noFill/>
        </p:spPr>
        <p:txBody>
          <a:bodyPr wrap="square" anchor="t" lIns="0" rIns="0" tIns="0" bIns="0">
            <a:noAutofit/>
          </a:bodyPr>
          <a:lstStyle/>
          <a:p>
            <a:pPr algn="l"/>
            <a:r>
              <a:rPr sz="650" b="1" i="0">
                <a:solidFill>
                  <a:srgbClr val="586586"/>
                </a:solidFill>
                <a:latin typeface="Outfit"/>
              </a:rPr>
              <a:t>CE QUE CE TERRAIN IMPOSE</a:t>
            </a:r>
          </a:p>
        </p:txBody>
      </p:sp>
      <p:sp>
        <p:nvSpPr>
          <p:cNvPr id="4" name="Rounded Rectangle 3"/>
          <p:cNvSpPr/>
          <p:nvPr/>
        </p:nvSpPr>
        <p:spPr>
          <a:xfrm>
            <a:off x="347472"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RUN qui ne s'arrête jamais et puise dans les experts du BUILD.</a:t>
            </a:r>
          </a:p>
        </p:txBody>
      </p:sp>
      <p:sp>
        <p:nvSpPr>
          <p:cNvPr id="6" name="Rounded Rectangle 5"/>
          <p:cNvSpPr/>
          <p:nvPr/>
        </p:nvSpPr>
        <p:spPr>
          <a:xfrm>
            <a:off x="3206495"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4512"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Une infra transverse que personne ne porte en propre.</a:t>
            </a:r>
          </a:p>
        </p:txBody>
      </p:sp>
      <p:sp>
        <p:nvSpPr>
          <p:cNvPr id="8" name="Rounded Rectangle 7"/>
          <p:cNvSpPr/>
          <p:nvPr/>
        </p:nvSpPr>
        <p:spPr>
          <a:xfrm>
            <a:off x="6065520"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3535"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guichet sursollicité, sans self-service.</a:t>
            </a:r>
          </a:p>
        </p:txBody>
      </p:sp>
      <p:sp>
        <p:nvSpPr>
          <p:cNvPr id="10" name="Rounded Rectangle 9"/>
          <p:cNvSpPr/>
          <p:nvPr/>
        </p:nvSpPr>
        <p:spPr>
          <a:xfrm>
            <a:off x="347472"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395971"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119"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Assessment flash</a:t>
            </a:r>
          </a:p>
        </p:txBody>
      </p:sp>
      <p:sp>
        <p:nvSpPr>
          <p:cNvPr id="13" name="Rounded Rectangle 12"/>
          <p:cNvSpPr/>
          <p:nvPr/>
        </p:nvSpPr>
        <p:spPr>
          <a:xfrm>
            <a:off x="972921"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2921"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5" name="Rounded Rectangle 14"/>
          <p:cNvSpPr/>
          <p:nvPr/>
        </p:nvSpPr>
        <p:spPr>
          <a:xfrm>
            <a:off x="716889"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889"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7" name="TextBox 16"/>
          <p:cNvSpPr txBox="1"/>
          <p:nvPr/>
        </p:nvSpPr>
        <p:spPr>
          <a:xfrm>
            <a:off x="393192"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18" name="TextBox 17"/>
          <p:cNvSpPr txBox="1"/>
          <p:nvPr/>
        </p:nvSpPr>
        <p:spPr>
          <a:xfrm>
            <a:off x="393192"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Diagnostiquer</a:t>
            </a:r>
            <a:r>
              <a:rPr sz="800" b="0" i="0">
                <a:solidFill>
                  <a:srgbClr val="0E2356"/>
                </a:solidFill>
                <a:latin typeface="Outfit"/>
              </a:rPr>
              <a:t> et restituer avec les parties prenantes.</a:t>
            </a:r>
          </a:p>
        </p:txBody>
      </p:sp>
      <p:sp>
        <p:nvSpPr>
          <p:cNvPr id="19" name="TextBox 18"/>
          <p:cNvSpPr txBox="1"/>
          <p:nvPr/>
        </p:nvSpPr>
        <p:spPr>
          <a:xfrm>
            <a:off x="393192"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20" name="TextBox 19"/>
          <p:cNvSpPr txBox="1"/>
          <p:nvPr/>
        </p:nvSpPr>
        <p:spPr>
          <a:xfrm>
            <a:off x="393192"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Cartographier</a:t>
            </a:r>
            <a:r>
              <a:rPr sz="800" b="0" i="0">
                <a:solidFill>
                  <a:srgbClr val="0E2356"/>
                </a:solidFill>
                <a:latin typeface="Outfit"/>
              </a:rPr>
              <a:t> la dette, les risques et les licences en tension.</a:t>
            </a:r>
          </a:p>
        </p:txBody>
      </p:sp>
      <p:sp>
        <p:nvSpPr>
          <p:cNvPr id="21" name="Rectangle 20"/>
          <p:cNvSpPr/>
          <p:nvPr/>
        </p:nvSpPr>
        <p:spPr>
          <a:xfrm>
            <a:off x="393192"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exécutif de restitution.</a:t>
            </a:r>
          </a:p>
        </p:txBody>
      </p:sp>
      <p:sp>
        <p:nvSpPr>
          <p:cNvPr id="23" name="Rounded Rectangle 22"/>
          <p:cNvSpPr/>
          <p:nvPr/>
        </p:nvSpPr>
        <p:spPr>
          <a:xfrm>
            <a:off x="2055571" y="1406525"/>
            <a:ext cx="1616659" cy="2527808"/>
          </a:xfrm>
          <a:prstGeom prst="roundRect">
            <a:avLst>
              <a:gd name="adj" fmla="val 8000"/>
            </a:avLst>
          </a:prstGeom>
          <a:solidFill>
            <a:srgbClr val="FFFFFF"/>
          </a:solidFill>
          <a:ln w="1397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104070" y="1744853"/>
            <a:ext cx="1519659" cy="305816"/>
          </a:xfrm>
          <a:prstGeom prst="chevron">
            <a:avLst/>
          </a:prstGeom>
          <a:solidFill>
            <a:srgbClr val="FFFFFF"/>
          </a:solidFill>
          <a:ln w="1397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5218" y="1744853"/>
            <a:ext cx="1437363" cy="305816"/>
          </a:xfrm>
          <a:prstGeom prst="rect">
            <a:avLst/>
          </a:prstGeom>
          <a:noFill/>
        </p:spPr>
        <p:txBody>
          <a:bodyPr wrap="square" anchor="ctr" lIns="0" rIns="0" tIns="0" bIns="0">
            <a:noAutofit/>
          </a:bodyPr>
          <a:lstStyle/>
          <a:p>
            <a:pPr algn="ctr">
              <a:lnSpc>
                <a:spcPct val="105000"/>
              </a:lnSpc>
            </a:pPr>
            <a:r>
              <a:rPr sz="800" b="1" i="0">
                <a:solidFill>
                  <a:srgbClr val="586586"/>
                </a:solidFill>
                <a:latin typeface="Outfit"/>
              </a:rPr>
              <a:t>Constitution du TOM — optionnel</a:t>
            </a:r>
          </a:p>
        </p:txBody>
      </p:sp>
      <p:sp>
        <p:nvSpPr>
          <p:cNvPr id="26" name="Rounded Rectangle 25"/>
          <p:cNvSpPr/>
          <p:nvPr/>
        </p:nvSpPr>
        <p:spPr>
          <a:xfrm>
            <a:off x="2681020" y="1424813"/>
            <a:ext cx="365760" cy="365760"/>
          </a:xfrm>
          <a:prstGeom prst="roundRect">
            <a:avLst>
              <a:gd name="adj" fmla="val 50000"/>
            </a:avLst>
          </a:prstGeom>
          <a:solidFill>
            <a:srgbClr val="E7E9EE"/>
          </a:solidFill>
          <a:ln w="1524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81020" y="1424813"/>
            <a:ext cx="365760" cy="365760"/>
          </a:xfrm>
          <a:prstGeom prst="rect">
            <a:avLst/>
          </a:prstGeom>
          <a:noFill/>
        </p:spPr>
        <p:txBody>
          <a:bodyPr wrap="square" anchor="ctr" lIns="0" rIns="0" tIns="0" bIns="0">
            <a:noAutofit/>
          </a:bodyPr>
          <a:lstStyle/>
          <a:p>
            <a:pPr algn="ctr"/>
            <a:r>
              <a:rPr sz="1200" b="0" i="0">
                <a:solidFill>
                  <a:srgbClr val="586586"/>
                </a:solidFill>
                <a:latin typeface="Outfit"/>
              </a:rPr>
              <a:t>+</a:t>
            </a:r>
          </a:p>
        </p:txBody>
      </p:sp>
      <p:sp>
        <p:nvSpPr>
          <p:cNvPr id="28" name="Rounded Rectangle 27"/>
          <p:cNvSpPr/>
          <p:nvPr/>
        </p:nvSpPr>
        <p:spPr>
          <a:xfrm>
            <a:off x="2424988" y="2105533"/>
            <a:ext cx="877824" cy="18288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4988"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3–4 sem.</a:t>
            </a:r>
          </a:p>
        </p:txBody>
      </p:sp>
      <p:sp>
        <p:nvSpPr>
          <p:cNvPr id="30" name="TextBox 29"/>
          <p:cNvSpPr txBox="1"/>
          <p:nvPr/>
        </p:nvSpPr>
        <p:spPr>
          <a:xfrm>
            <a:off x="2101291"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31" name="TextBox 30"/>
          <p:cNvSpPr txBox="1"/>
          <p:nvPr/>
        </p:nvSpPr>
        <p:spPr>
          <a:xfrm>
            <a:off x="2101291" y="2498725"/>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Formaliser</a:t>
            </a:r>
            <a:r>
              <a:rPr sz="800" b="0" i="0">
                <a:solidFill>
                  <a:srgbClr val="586586"/>
                </a:solidFill>
                <a:latin typeface="Outfit"/>
              </a:rPr>
              <a:t> le Target Operating Model : rôles et gouvernance.</a:t>
            </a:r>
          </a:p>
        </p:txBody>
      </p:sp>
      <p:sp>
        <p:nvSpPr>
          <p:cNvPr id="32" name="TextBox 31"/>
          <p:cNvSpPr txBox="1"/>
          <p:nvPr/>
        </p:nvSpPr>
        <p:spPr>
          <a:xfrm>
            <a:off x="2101291"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33" name="TextBox 32"/>
          <p:cNvSpPr txBox="1"/>
          <p:nvPr/>
        </p:nvSpPr>
        <p:spPr>
          <a:xfrm>
            <a:off x="2101291" y="3083941"/>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Poser</a:t>
            </a:r>
            <a:r>
              <a:rPr sz="800" b="0" i="0">
                <a:solidFill>
                  <a:srgbClr val="586586"/>
                </a:solidFill>
                <a:latin typeface="Outfit"/>
              </a:rPr>
              <a:t> le référentiel de standards et d'outillage à tenir.</a:t>
            </a:r>
          </a:p>
        </p:txBody>
      </p:sp>
      <p:sp>
        <p:nvSpPr>
          <p:cNvPr id="34" name="Rectangle 33"/>
          <p:cNvSpPr/>
          <p:nvPr/>
        </p:nvSpPr>
        <p:spPr>
          <a:xfrm>
            <a:off x="2101291"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01291"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586586"/>
                </a:solidFill>
                <a:latin typeface="Outfit"/>
              </a:rPr>
              <a:t>TOM et roadmap de déploiement.</a:t>
            </a:r>
          </a:p>
        </p:txBody>
      </p:sp>
      <p:sp>
        <p:nvSpPr>
          <p:cNvPr id="36" name="Rounded Rectangle 35"/>
          <p:cNvSpPr/>
          <p:nvPr/>
        </p:nvSpPr>
        <p:spPr>
          <a:xfrm>
            <a:off x="3763670"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3812170"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53318"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Premier déploiement</a:t>
            </a:r>
          </a:p>
        </p:txBody>
      </p:sp>
      <p:sp>
        <p:nvSpPr>
          <p:cNvPr id="39" name="Rounded Rectangle 38"/>
          <p:cNvSpPr/>
          <p:nvPr/>
        </p:nvSpPr>
        <p:spPr>
          <a:xfrm>
            <a:off x="43891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891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41" name="Rounded Rectangle 40"/>
          <p:cNvSpPr/>
          <p:nvPr/>
        </p:nvSpPr>
        <p:spPr>
          <a:xfrm>
            <a:off x="41330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43" name="TextBox 42"/>
          <p:cNvSpPr txBox="1"/>
          <p:nvPr/>
        </p:nvSpPr>
        <p:spPr>
          <a:xfrm>
            <a:off x="3809390"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44" name="TextBox 43"/>
          <p:cNvSpPr txBox="1"/>
          <p:nvPr/>
        </p:nvSpPr>
        <p:spPr>
          <a:xfrm>
            <a:off x="3809390"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Embarquer</a:t>
            </a:r>
            <a:r>
              <a:rPr sz="800" b="0" i="0">
                <a:solidFill>
                  <a:srgbClr val="0E2356"/>
                </a:solidFill>
                <a:latin typeface="Outfit"/>
              </a:rPr>
              <a:t> des équipes pilotes volontaires et prouver la valeur.</a:t>
            </a:r>
          </a:p>
        </p:txBody>
      </p:sp>
      <p:sp>
        <p:nvSpPr>
          <p:cNvPr id="45" name="TextBox 44"/>
          <p:cNvSpPr txBox="1"/>
          <p:nvPr/>
        </p:nvSpPr>
        <p:spPr>
          <a:xfrm>
            <a:off x="3809390"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46" name="TextBox 45"/>
          <p:cNvSpPr txBox="1"/>
          <p:nvPr/>
        </p:nvSpPr>
        <p:spPr>
          <a:xfrm>
            <a:off x="3809390"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Décommissionner</a:t>
            </a:r>
            <a:r>
              <a:rPr sz="800" b="0" i="0">
                <a:solidFill>
                  <a:srgbClr val="0E2356"/>
                </a:solidFill>
                <a:latin typeface="Outfit"/>
              </a:rPr>
              <a:t> ce qui peut l'être, observer ce qui reste.</a:t>
            </a:r>
          </a:p>
        </p:txBody>
      </p:sp>
      <p:sp>
        <p:nvSpPr>
          <p:cNvPr id="47" name="Rectangle 46"/>
          <p:cNvSpPr/>
          <p:nvPr/>
        </p:nvSpPr>
        <p:spPr>
          <a:xfrm>
            <a:off x="3809390"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09390"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Évaluation du déploiement pilote.</a:t>
            </a:r>
          </a:p>
        </p:txBody>
      </p:sp>
      <p:sp>
        <p:nvSpPr>
          <p:cNvPr id="49" name="Rounded Rectangle 48"/>
          <p:cNvSpPr/>
          <p:nvPr/>
        </p:nvSpPr>
        <p:spPr>
          <a:xfrm>
            <a:off x="5471769"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5520269"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561417"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Implémentation itérative</a:t>
            </a:r>
          </a:p>
        </p:txBody>
      </p:sp>
      <p:sp>
        <p:nvSpPr>
          <p:cNvPr id="52" name="Rounded Rectangle 51"/>
          <p:cNvSpPr/>
          <p:nvPr/>
        </p:nvSpPr>
        <p:spPr>
          <a:xfrm>
            <a:off x="60972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972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54" name="Rounded Rectangle 53"/>
          <p:cNvSpPr/>
          <p:nvPr/>
        </p:nvSpPr>
        <p:spPr>
          <a:xfrm>
            <a:off x="58411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8411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56" name="TextBox 55"/>
          <p:cNvSpPr txBox="1"/>
          <p:nvPr/>
        </p:nvSpPr>
        <p:spPr>
          <a:xfrm>
            <a:off x="5517489"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57" name="TextBox 56"/>
          <p:cNvSpPr txBox="1"/>
          <p:nvPr/>
        </p:nvSpPr>
        <p:spPr>
          <a:xfrm>
            <a:off x="5517489"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Généraliser</a:t>
            </a:r>
            <a:r>
              <a:rPr sz="800" b="0" i="0">
                <a:solidFill>
                  <a:srgbClr val="0E2356"/>
                </a:solidFill>
                <a:latin typeface="Outfit"/>
              </a:rPr>
              <a:t> équipe par équipe, en passant de coach à délégué.</a:t>
            </a:r>
          </a:p>
        </p:txBody>
      </p:sp>
      <p:sp>
        <p:nvSpPr>
          <p:cNvPr id="58" name="TextBox 57"/>
          <p:cNvSpPr txBox="1"/>
          <p:nvPr/>
        </p:nvSpPr>
        <p:spPr>
          <a:xfrm>
            <a:off x="5517489"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59" name="TextBox 58"/>
          <p:cNvSpPr txBox="1"/>
          <p:nvPr/>
        </p:nvSpPr>
        <p:spPr>
          <a:xfrm>
            <a:off x="5517489"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Standardiser</a:t>
            </a:r>
            <a:r>
              <a:rPr sz="800" b="0" i="0">
                <a:solidFill>
                  <a:srgbClr val="0E2356"/>
                </a:solidFill>
                <a:latin typeface="Outfit"/>
              </a:rPr>
              <a:t> et outiller : CI/CD et infra as code par défaut.</a:t>
            </a:r>
          </a:p>
        </p:txBody>
      </p:sp>
      <p:sp>
        <p:nvSpPr>
          <p:cNvPr id="60" name="Rectangle 59"/>
          <p:cNvSpPr/>
          <p:nvPr/>
        </p:nvSpPr>
        <p:spPr>
          <a:xfrm>
            <a:off x="5517489"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17489"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comité de pilotage.</a:t>
            </a:r>
          </a:p>
        </p:txBody>
      </p:sp>
      <p:sp>
        <p:nvSpPr>
          <p:cNvPr id="62" name="Rounded Rectangle 61"/>
          <p:cNvSpPr/>
          <p:nvPr/>
        </p:nvSpPr>
        <p:spPr>
          <a:xfrm>
            <a:off x="7179868" y="1406525"/>
            <a:ext cx="1616659" cy="2527808"/>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7228368" y="1744853"/>
            <a:ext cx="1519659" cy="30581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69516"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Boucle de réévaluation</a:t>
            </a:r>
          </a:p>
        </p:txBody>
      </p:sp>
      <p:sp>
        <p:nvSpPr>
          <p:cNvPr id="65" name="Rounded Rectangle 64"/>
          <p:cNvSpPr/>
          <p:nvPr/>
        </p:nvSpPr>
        <p:spPr>
          <a:xfrm>
            <a:off x="7805318" y="1424813"/>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05318" y="1424813"/>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67" name="Rounded Rectangle 66"/>
          <p:cNvSpPr/>
          <p:nvPr/>
        </p:nvSpPr>
        <p:spPr>
          <a:xfrm>
            <a:off x="7549286" y="2105533"/>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549286" y="2105533"/>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69" name="TextBox 68"/>
          <p:cNvSpPr txBox="1"/>
          <p:nvPr/>
        </p:nvSpPr>
        <p:spPr>
          <a:xfrm>
            <a:off x="7225588"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70" name="TextBox 69"/>
          <p:cNvSpPr txBox="1"/>
          <p:nvPr/>
        </p:nvSpPr>
        <p:spPr>
          <a:xfrm>
            <a:off x="7225588"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Rejouer</a:t>
            </a:r>
            <a:r>
              <a:rPr sz="800" b="0" i="0">
                <a:solidFill>
                  <a:srgbClr val="0E2356"/>
                </a:solidFill>
                <a:latin typeface="Outfit"/>
              </a:rPr>
              <a:t> le diagnostic au même instrument qu'à T0.</a:t>
            </a:r>
          </a:p>
        </p:txBody>
      </p:sp>
      <p:sp>
        <p:nvSpPr>
          <p:cNvPr id="71" name="TextBox 70"/>
          <p:cNvSpPr txBox="1"/>
          <p:nvPr/>
        </p:nvSpPr>
        <p:spPr>
          <a:xfrm>
            <a:off x="7225588"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72" name="TextBox 71"/>
          <p:cNvSpPr txBox="1"/>
          <p:nvPr/>
        </p:nvSpPr>
        <p:spPr>
          <a:xfrm>
            <a:off x="7225588"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Mesurer</a:t>
            </a:r>
            <a:r>
              <a:rPr sz="800" b="0" i="0">
                <a:solidFill>
                  <a:srgbClr val="0E2356"/>
                </a:solidFill>
                <a:latin typeface="Outfit"/>
              </a:rPr>
              <a:t> la dette technique et les KPI d'infra.</a:t>
            </a:r>
          </a:p>
        </p:txBody>
      </p:sp>
      <p:sp>
        <p:nvSpPr>
          <p:cNvPr id="73" name="Rectangle 72"/>
          <p:cNvSpPr/>
          <p:nvPr/>
        </p:nvSpPr>
        <p:spPr>
          <a:xfrm>
            <a:off x="7225588"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25588"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bilan et de ré-évaluation.</a:t>
            </a:r>
          </a:p>
        </p:txBody>
      </p:sp>
      <p:sp>
        <p:nvSpPr>
          <p:cNvPr id="75" name="Rounded Rectangle 74"/>
          <p:cNvSpPr/>
          <p:nvPr/>
        </p:nvSpPr>
        <p:spPr>
          <a:xfrm>
            <a:off x="347472"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Gear 6 75"/>
          <p:cNvSpPr/>
          <p:nvPr/>
        </p:nvSpPr>
        <p:spPr>
          <a:xfrm>
            <a:off x="457200" y="4207446"/>
            <a:ext cx="182880" cy="182880"/>
          </a:xfrm>
          <a:prstGeom prst="gear6">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20"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CÔTÉ CONSULTANT — LE MODULE BMAD IAP</a:t>
            </a:r>
          </a:p>
          <a:p>
            <a:pPr algn="l">
              <a:lnSpc>
                <a:spcPct val="125000"/>
              </a:lnSpc>
              <a:spcBef>
                <a:spcPts val="300"/>
              </a:spcBef>
            </a:pPr>
            <a:r>
              <a:rPr sz="700" b="0" i="0">
                <a:solidFill>
                  <a:srgbClr val="586586"/>
                </a:solidFill>
                <a:latin typeface="Outfit"/>
              </a:rPr>
              <a:t>Il outille chaque temps sur notre poste et sort les livrables plus vite — rien ne s'installe chez le client.</a:t>
            </a:r>
          </a:p>
        </p:txBody>
      </p:sp>
      <p:sp>
        <p:nvSpPr>
          <p:cNvPr id="78" name="Rounded Rectangle 77"/>
          <p:cNvSpPr/>
          <p:nvPr/>
        </p:nvSpPr>
        <p:spPr>
          <a:xfrm>
            <a:off x="4654295"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entagon 78"/>
          <p:cNvSpPr/>
          <p:nvPr/>
        </p:nvSpPr>
        <p:spPr>
          <a:xfrm>
            <a:off x="4764023" y="4207446"/>
            <a:ext cx="182880" cy="182880"/>
          </a:xfrm>
          <a:prstGeom prst="homePlate">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038343"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CHEZ LE CLIENT — UNE OPTION, PAS UN PRÉREQUIS</a:t>
            </a:r>
          </a:p>
          <a:p>
            <a:pPr algn="l">
              <a:lnSpc>
                <a:spcPct val="125000"/>
              </a:lnSpc>
              <a:spcBef>
                <a:spcPts val="300"/>
              </a:spcBef>
            </a:pPr>
            <a:r>
              <a:rPr sz="700" b="0" i="0">
                <a:solidFill>
                  <a:srgbClr val="586586"/>
                </a:solidFill>
                <a:latin typeface="Outfit"/>
              </a:rPr>
              <a:t>Déployer des agents (triage, FinOps, documentaire) reste une décision distincte, sous gate IA.</a:t>
            </a:r>
          </a:p>
        </p:txBody>
      </p:sp>
      <p:sp>
        <p:nvSpPr>
          <p:cNvPr id="81" name="Rounded Rectangle 80"/>
          <p:cNvSpPr/>
          <p:nvPr/>
        </p:nvSpPr>
        <p:spPr>
          <a:xfrm>
            <a:off x="347472" y="4626864"/>
            <a:ext cx="8065007" cy="45720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75488" y="464515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83" name="TextBox 82"/>
          <p:cNvSpPr txBox="1"/>
          <p:nvPr/>
        </p:nvSpPr>
        <p:spPr>
          <a:xfrm>
            <a:off x="530352" y="4626864"/>
            <a:ext cx="7699247" cy="457200"/>
          </a:xfrm>
          <a:prstGeom prst="rect">
            <a:avLst/>
          </a:prstGeom>
          <a:noFill/>
        </p:spPr>
        <p:txBody>
          <a:bodyPr wrap="square" anchor="ctr" lIns="0" rIns="0" tIns="0" bIns="0">
            <a:spAutoFit/>
          </a:bodyPr>
          <a:lstStyle/>
          <a:p>
            <a:pPr algn="ctr"/>
            <a:r>
              <a:rPr sz="1200" b="1" i="0">
                <a:solidFill>
                  <a:srgbClr val="FFFFFF"/>
                </a:solidFill>
                <a:latin typeface="Outfit"/>
              </a:rPr>
              <a:t>Aucun de ces temps ne requiert l'IA : l'agentic accélère, il ne remplace ni la démarche ni le consultant.</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Spécificités de l'infra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946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946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6 catégories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l'agent de triage de tickets et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