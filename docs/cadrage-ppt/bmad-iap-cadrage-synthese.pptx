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1"/>
  </p:notesMasterIdLst>
  <p:sldIdLst>
    <p:sldId id="256" r:id="rId10"/>
    <p:sldId id="257" r:id="rId9"/>
    <p:sldId id="258" r:id="rId8"/>
    <p:sldId id="259" r:id="rId7"/>
    <p:sldId id="260" r:id="rId6"/>
    <p:sldId id="261" r:id="rId5"/>
    <p:sldId id="262" r:id="rId4"/>
    <p:sldId id="263" r:id="rId3"/>
    <p:sldId id="264" r:id="rId2"/>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Lst>
  <p:sldSz cx="9144000" cy="5143500" type="screen16x9"/>
  <p:notesSz cx="6858000" cy="9144000"/>
  <p:embeddedFontLst>
    <p:embeddedFont>
      <p:font typeface="Century Gothic" panose="020B0502020202020204" pitchFamily="34" charset="0"/>
      <p:regular r:id="rId12"/>
      <p:bold r:id="rId13"/>
      <p:italic r:id="rId14"/>
      <p:boldItalic r:id="rId15"/>
    </p:embeddedFont>
    <p:embeddedFont>
      <p:font typeface="Helvetica Neue Light" panose="020B0604020202020204" charset="0"/>
      <p:regular r:id="rId16"/>
      <p:bold r:id="rId17"/>
      <p:italic r:id="rId18"/>
      <p:boldItalic r:id="rId19"/>
    </p:embeddedFont>
    <p:embeddedFont>
      <p:font typeface="Outfit" panose="020B0604020202020204" charset="0"/>
      <p:regular r:id="rId20"/>
      <p:bold r:id="rId21"/>
    </p:embeddedFont>
    <p:embeddedFont>
      <p:font typeface="Outfit Light" panose="020B0604020202020204" charset="0"/>
      <p:regular r:id="rId22"/>
      <p:bold r:id="rId23"/>
    </p:embeddedFont>
    <p:embeddedFont>
      <p:font typeface="Outfit Medium" panose="020B0604020202020204" charset="0"/>
      <p:regular r:id="rId24"/>
      <p:bold r:id="rId25"/>
    </p:embeddedFont>
    <p:embeddedFont>
      <p:font typeface="Outfit SemiBold"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A4A3A4"/>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font" Target="fonts/font15.fntdata"/><Relationship Id="rId27" Type="http://schemas.openxmlformats.org/officeDocument/2006/relationships/font" Target="fonts/font16.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accent6"/>
              </a:buClr>
              <a:buSzPts val="1400"/>
              <a:buFont typeface="Century Gothic"/>
              <a:buChar char="๏"/>
              <a:defRPr sz="1400" b="0" i="0" u="none" strike="noStrike" cap="none">
                <a:solidFill>
                  <a:schemeClr val="dk1"/>
                </a:solidFill>
                <a:latin typeface="Century Gothic"/>
                <a:ea typeface="Century Gothic"/>
                <a:cs typeface="Century Gothic"/>
                <a:sym typeface="Century Gothic"/>
              </a:defRPr>
            </a:lvl1pPr>
            <a:lvl2pPr marL="914400" marR="0" lvl="1" indent="-304800"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L="1371600" marR="0" lvl="2" indent="-292100"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L="1828800" marR="0" lvl="3" indent="-285750"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L="2286000" marR="0" lvl="4" indent="-279400"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L="2743200" marR="0" lvl="5" indent="-273050"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L="3200400" marR="0" lvl="6" indent="-266700"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L="3657600" marR="0" lvl="7" indent="-266700"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L="4114800" marR="0" lvl="8" indent="-266700"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06 - Slide vide">
  <p:cSld name="06 - Slide vide">
    <p:bg>
      <p:bgPr>
        <a:solidFill>
          <a:schemeClr val="lt1"/>
        </a:solidFill>
        <a:effectLst/>
      </p:bgPr>
    </p:bg>
    <p:spTree>
      <p:nvGrpSpPr>
        <p:cNvPr id="1" name="Shape 18"/>
        <p:cNvGrpSpPr/>
        <p:nvPr/>
      </p:nvGrpSpPr>
      <p:grpSpPr>
        <a:xfrm>
          <a:off x="0" y="0"/>
          <a:ext cx="0" cy="0"/>
          <a:chOff x="0" y="0"/>
          <a:chExt cx="0" cy="0"/>
        </a:xfrm>
      </p:grpSpPr>
      <p:grpSp>
        <p:nvGrpSpPr>
          <p:cNvPr id="19" name="Google Shape;19;p2"/>
          <p:cNvGrpSpPr/>
          <p:nvPr/>
        </p:nvGrpSpPr>
        <p:grpSpPr>
          <a:xfrm>
            <a:off x="276301" y="292130"/>
            <a:ext cx="170063" cy="166438"/>
            <a:chOff x="6838242" y="518225"/>
            <a:chExt cx="1247708" cy="1221114"/>
          </a:xfrm>
        </p:grpSpPr>
        <p:sp>
          <p:nvSpPr>
            <p:cNvPr id="20" name="Google Shape;20;p2"/>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 name="Google Shape;21;p2"/>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2" name="Google Shape;22;p2"/>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23" name="Google Shape;23;p2"/>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4" name="Google Shape;24;p2"/>
          <p:cNvCxnSpPr>
            <a:stCxn id="25"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6" name="Google Shape;26;p2"/>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7" name="Google Shape;27;p2"/>
          <p:cNvCxnSpPr>
            <a:endCxn id="26"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8" name="Google Shape;28;p2"/>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 name="Google Shape;25;p2"/>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9" name="Google Shape;29;p2"/>
          <p:cNvCxnSpPr>
            <a:stCxn id="28" idx="2"/>
            <a:endCxn id="26"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30" name="Google Shape;30;p2"/>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1 - Titre, sous-titre et contenu">
  <p:cSld name="01 - Titre, sous-titre et contenu">
    <p:spTree>
      <p:nvGrpSpPr>
        <p:cNvPr id="1" name="Shape 31"/>
        <p:cNvGrpSpPr/>
        <p:nvPr/>
      </p:nvGrpSpPr>
      <p:grpSpPr>
        <a:xfrm>
          <a:off x="0" y="0"/>
          <a:ext cx="0" cy="0"/>
          <a:chOff x="0" y="0"/>
          <a:chExt cx="0" cy="0"/>
        </a:xfrm>
      </p:grpSpPr>
      <p:sp>
        <p:nvSpPr>
          <p:cNvPr id="32" name="Google Shape;32;p3"/>
          <p:cNvSpPr txBox="1">
            <a:spLocks noGrp="1"/>
          </p:cNvSpPr>
          <p:nvPr>
            <p:ph type="body" idx="1"/>
          </p:nvPr>
        </p:nvSpPr>
        <p:spPr>
          <a:xfrm>
            <a:off x="562825" y="1273150"/>
            <a:ext cx="7957800" cy="3596100"/>
          </a:xfrm>
          <a:prstGeom prst="rect">
            <a:avLst/>
          </a:prstGeom>
          <a:noFill/>
          <a:ln>
            <a:noFill/>
          </a:ln>
        </p:spPr>
        <p:txBody>
          <a:bodyPr spcFirstLastPara="1" wrap="square" lIns="0" tIns="0" rIns="0" bIns="0" anchor="ctr" anchorCtr="0">
            <a:norm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3" name="Google Shape;33;p3"/>
          <p:cNvSpPr txBox="1">
            <a:spLocks noGrp="1"/>
          </p:cNvSpPr>
          <p:nvPr>
            <p:ph type="subTitle" idx="2"/>
          </p:nvPr>
        </p:nvSpPr>
        <p:spPr>
          <a:xfrm>
            <a:off x="567950" y="773825"/>
            <a:ext cx="79578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9pPr>
          </a:lstStyle>
          <a:p>
            <a:endParaRPr/>
          </a:p>
        </p:txBody>
      </p:sp>
      <p:sp>
        <p:nvSpPr>
          <p:cNvPr id="34" name="Google Shape;34;p3"/>
          <p:cNvSpPr txBox="1">
            <a:spLocks noGrp="1"/>
          </p:cNvSpPr>
          <p:nvPr>
            <p:ph type="title"/>
          </p:nvPr>
        </p:nvSpPr>
        <p:spPr>
          <a:xfrm>
            <a:off x="562825" y="361400"/>
            <a:ext cx="79578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50 - Chapitre [1]">
  <p:cSld name="50 - Chapitre [1]">
    <p:bg>
      <p:bgPr>
        <a:solidFill>
          <a:schemeClr val="lt1"/>
        </a:solidFill>
        <a:effectLst/>
      </p:bgPr>
    </p:bg>
    <p:spTree>
      <p:nvGrpSpPr>
        <p:cNvPr id="1" name="Shape 35"/>
        <p:cNvGrpSpPr/>
        <p:nvPr/>
      </p:nvGrpSpPr>
      <p:grpSpPr>
        <a:xfrm>
          <a:off x="0" y="0"/>
          <a:ext cx="0" cy="0"/>
          <a:chOff x="0" y="0"/>
          <a:chExt cx="0" cy="0"/>
        </a:xfrm>
      </p:grpSpPr>
      <p:sp>
        <p:nvSpPr>
          <p:cNvPr id="36" name="Google Shape;36;p4"/>
          <p:cNvSpPr/>
          <p:nvPr/>
        </p:nvSpPr>
        <p:spPr>
          <a:xfrm>
            <a:off x="1396875" y="1659950"/>
            <a:ext cx="2560500" cy="2560500"/>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 name="Google Shape;37;p4"/>
          <p:cNvSpPr/>
          <p:nvPr/>
        </p:nvSpPr>
        <p:spPr>
          <a:xfrm>
            <a:off x="3457625" y="1226750"/>
            <a:ext cx="499500" cy="433200"/>
          </a:xfrm>
          <a:prstGeom prst="round1Rect">
            <a:avLst>
              <a:gd name="adj" fmla="val 5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700" b="1" i="0" u="none" strike="noStrike" cap="none">
              <a:solidFill>
                <a:srgbClr val="000000"/>
              </a:solidFill>
              <a:latin typeface="Outfit"/>
              <a:ea typeface="Outfit"/>
              <a:cs typeface="Outfit"/>
              <a:sym typeface="Outfit"/>
            </a:endParaRPr>
          </a:p>
        </p:txBody>
      </p:sp>
      <p:sp>
        <p:nvSpPr>
          <p:cNvPr id="38" name="Google Shape;38;p4"/>
          <p:cNvSpPr txBox="1">
            <a:spLocks noGrp="1"/>
          </p:cNvSpPr>
          <p:nvPr>
            <p:ph type="title"/>
          </p:nvPr>
        </p:nvSpPr>
        <p:spPr>
          <a:xfrm>
            <a:off x="4295825" y="1918050"/>
            <a:ext cx="4164300" cy="1810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grpSp>
        <p:nvGrpSpPr>
          <p:cNvPr id="39" name="Google Shape;39;p4"/>
          <p:cNvGrpSpPr/>
          <p:nvPr/>
        </p:nvGrpSpPr>
        <p:grpSpPr>
          <a:xfrm>
            <a:off x="3171776" y="1360130"/>
            <a:ext cx="170063" cy="166438"/>
            <a:chOff x="6838242" y="518225"/>
            <a:chExt cx="1247708" cy="1221114"/>
          </a:xfrm>
        </p:grpSpPr>
        <p:sp>
          <p:nvSpPr>
            <p:cNvPr id="40" name="Google Shape;40;p4"/>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41" name="Google Shape;41;p4"/>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42" name="Google Shape;42;p4"/>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43" name="Google Shape;43;p4"/>
          <p:cNvSpPr txBox="1"/>
          <p:nvPr/>
        </p:nvSpPr>
        <p:spPr>
          <a:xfrm>
            <a:off x="84600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44" name="Google Shape;44;p4"/>
          <p:cNvCxnSpPr>
            <a:stCxn id="45" idx="2"/>
          </p:cNvCxnSpPr>
          <p:nvPr/>
        </p:nvCxnSpPr>
        <p:spPr>
          <a:xfrm>
            <a:off x="86768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46" name="Google Shape;46;p4"/>
          <p:cNvSpPr/>
          <p:nvPr/>
        </p:nvSpPr>
        <p:spPr>
          <a:xfrm>
            <a:off x="86635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47" name="Google Shape;47;p4"/>
          <p:cNvCxnSpPr>
            <a:endCxn id="46" idx="2"/>
          </p:cNvCxnSpPr>
          <p:nvPr/>
        </p:nvCxnSpPr>
        <p:spPr>
          <a:xfrm rot="10800000">
            <a:off x="88641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48" name="Google Shape;48;p4"/>
          <p:cNvSpPr/>
          <p:nvPr/>
        </p:nvSpPr>
        <p:spPr>
          <a:xfrm rot="-5400000">
            <a:off x="85760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45" name="Google Shape;45;p4"/>
          <p:cNvSpPr/>
          <p:nvPr/>
        </p:nvSpPr>
        <p:spPr>
          <a:xfrm rot="-5400000" flipH="1">
            <a:off x="85760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49" name="Google Shape;49;p4"/>
          <p:cNvCxnSpPr>
            <a:stCxn id="48" idx="2"/>
            <a:endCxn id="46" idx="0"/>
          </p:cNvCxnSpPr>
          <p:nvPr/>
        </p:nvCxnSpPr>
        <p:spPr>
          <a:xfrm>
            <a:off x="86767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50" name="Google Shape;50;p4"/>
          <p:cNvSpPr/>
          <p:nvPr/>
        </p:nvSpPr>
        <p:spPr>
          <a:xfrm>
            <a:off x="497875" y="5649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51" name="Google Shape;51;p4"/>
          <p:cNvSpPr txBox="1"/>
          <p:nvPr/>
        </p:nvSpPr>
        <p:spPr>
          <a:xfrm rot="-5400000">
            <a:off x="-309195" y="423320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US" sz="600">
                <a:solidFill>
                  <a:srgbClr val="0E2356"/>
                </a:solidFill>
                <a:latin typeface="Outfit Medium"/>
                <a:ea typeface="Outfit Medium"/>
                <a:cs typeface="Outfit Medium"/>
                <a:sym typeface="Outfit Medium"/>
              </a:rPr>
              <a:t>THERE IS A BETTER WAY</a:t>
            </a:r>
            <a:endParaRPr sz="600" i="0" u="none" strike="noStrike" cap="none">
              <a:solidFill>
                <a:srgbClr val="0E2356"/>
              </a:solidFill>
              <a:latin typeface="Outfit Medium"/>
              <a:ea typeface="Outfit Medium"/>
              <a:cs typeface="Outfit Medium"/>
              <a:sym typeface="Outfit Medium"/>
            </a:endParaRPr>
          </a:p>
        </p:txBody>
      </p:sp>
      <p:sp>
        <p:nvSpPr>
          <p:cNvPr id="52" name="Google Shape;52;p4"/>
          <p:cNvSpPr txBox="1"/>
          <p:nvPr/>
        </p:nvSpPr>
        <p:spPr>
          <a:xfrm>
            <a:off x="2277075" y="23278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sp>
        <p:nvSpPr>
          <p:cNvPr id="53" name="Google Shape;53;p4"/>
          <p:cNvSpPr txBox="1">
            <a:spLocks noGrp="1"/>
          </p:cNvSpPr>
          <p:nvPr>
            <p:ph type="body" idx="1"/>
          </p:nvPr>
        </p:nvSpPr>
        <p:spPr>
          <a:xfrm>
            <a:off x="3457650" y="1226600"/>
            <a:ext cx="499500" cy="433200"/>
          </a:xfrm>
          <a:prstGeom prst="rect">
            <a:avLst/>
          </a:prstGeom>
          <a:noFill/>
          <a:ln>
            <a:noFill/>
          </a:ln>
        </p:spPr>
        <p:txBody>
          <a:bodyPr spcFirstLastPara="1" wrap="square" lIns="0" tIns="0" rIns="0" bIns="0" anchor="ctr" anchorCtr="0">
            <a:noAutofit/>
          </a:bodyPr>
          <a:lstStyle>
            <a:lvl1pPr marL="457200" marR="0" lvl="0"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1pPr>
            <a:lvl2pPr marL="914400" marR="0" lvl="1" indent="-317500" algn="ctr"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2pPr>
            <a:lvl3pPr marL="1371600" marR="0" lvl="2"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3pPr>
            <a:lvl4pPr marL="1828800" marR="0" lvl="3" indent="-317500" algn="ctr" rtl="0">
              <a:lnSpc>
                <a:spcPct val="100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4pPr>
            <a:lvl5pPr marL="2286000" marR="0" lvl="4"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5pPr>
            <a:lvl6pPr marL="2743200" marR="0" lvl="5" indent="-317500" algn="ctr"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6pPr>
            <a:lvl7pPr marL="3200400" marR="0" lvl="6"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7pPr>
            <a:lvl8pPr marL="3657600" marR="0" lvl="7" indent="-317500" algn="ctr" rtl="0">
              <a:lnSpc>
                <a:spcPct val="115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8pPr>
            <a:lvl9pPr marL="4114800" marR="0" lvl="8"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9pPr>
          </a:lstStyle>
          <a:p>
            <a:endParaRPr/>
          </a:p>
        </p:txBody>
      </p:sp>
      <p:sp>
        <p:nvSpPr>
          <p:cNvPr id="54" name="Google Shape;54;p4"/>
          <p:cNvSpPr/>
          <p:nvPr/>
        </p:nvSpPr>
        <p:spPr>
          <a:xfrm rot="-5400000">
            <a:off x="3014525" y="1216850"/>
            <a:ext cx="433200" cy="453000"/>
          </a:xfrm>
          <a:prstGeom prst="round2SameRect">
            <a:avLst>
              <a:gd name="adj1" fmla="val 50000"/>
              <a:gd name="adj2" fmla="val 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Tree>
  </p:cSld>
  <p:clrMapOvr>
    <a:masterClrMapping/>
  </p:clrMapOvr>
  <p:extLst>
    <p:ext uri="{DCECCB84-F9BA-43D5-87BE-67443E8EF086}">
      <p15:sldGuideLst xmlns:p15="http://schemas.microsoft.com/office/powerpoint/2012/main">
        <p15:guide id="1" pos="3799">
          <p15:clr>
            <a:srgbClr val="FA7B17"/>
          </p15:clr>
        </p15:guide>
        <p15:guide id="2" pos="5625">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2 - Titre et contenu">
  <p:cSld name="02 - Titre et contenu">
    <p:spTree>
      <p:nvGrpSpPr>
        <p:cNvPr id="1" name="Shape 55"/>
        <p:cNvGrpSpPr/>
        <p:nvPr/>
      </p:nvGrpSpPr>
      <p:grpSpPr>
        <a:xfrm>
          <a:off x="0" y="0"/>
          <a:ext cx="0" cy="0"/>
          <a:chOff x="0" y="0"/>
          <a:chExt cx="0" cy="0"/>
        </a:xfrm>
      </p:grpSpPr>
      <p:sp>
        <p:nvSpPr>
          <p:cNvPr id="56" name="Google Shape;56;p5"/>
          <p:cNvSpPr txBox="1">
            <a:spLocks noGrp="1"/>
          </p:cNvSpPr>
          <p:nvPr>
            <p:ph type="body" idx="1"/>
          </p:nvPr>
        </p:nvSpPr>
        <p:spPr>
          <a:xfrm>
            <a:off x="578425" y="817575"/>
            <a:ext cx="7929000" cy="4046700"/>
          </a:xfrm>
          <a:prstGeom prst="rect">
            <a:avLst/>
          </a:prstGeom>
          <a:noFill/>
          <a:ln>
            <a:noFill/>
          </a:ln>
        </p:spPr>
        <p:txBody>
          <a:bodyPr spcFirstLastPara="1" wrap="square" lIns="91425"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57" name="Google Shape;57;p5"/>
          <p:cNvSpPr txBox="1">
            <a:spLocks noGrp="1"/>
          </p:cNvSpPr>
          <p:nvPr>
            <p:ph type="title"/>
          </p:nvPr>
        </p:nvSpPr>
        <p:spPr>
          <a:xfrm>
            <a:off x="562500" y="361400"/>
            <a:ext cx="792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3 - Titre et sous-titre">
  <p:cSld name="03 - Titre et sous-titre">
    <p:spTree>
      <p:nvGrpSpPr>
        <p:cNvPr id="1" name="Shape 58"/>
        <p:cNvGrpSpPr/>
        <p:nvPr/>
      </p:nvGrpSpPr>
      <p:grpSpPr>
        <a:xfrm>
          <a:off x="0" y="0"/>
          <a:ext cx="0" cy="0"/>
          <a:chOff x="0" y="0"/>
          <a:chExt cx="0" cy="0"/>
        </a:xfrm>
      </p:grpSpPr>
      <p:sp>
        <p:nvSpPr>
          <p:cNvPr id="59" name="Google Shape;59;p6"/>
          <p:cNvSpPr txBox="1">
            <a:spLocks noGrp="1"/>
          </p:cNvSpPr>
          <p:nvPr>
            <p:ph type="subTitle" idx="1"/>
          </p:nvPr>
        </p:nvSpPr>
        <p:spPr>
          <a:xfrm>
            <a:off x="571500" y="779175"/>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60" name="Google Shape;60;p6"/>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4 - Titre seul">
  <p:cSld name="04 - Titre seul">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562500"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5 - Focus">
  <p:cSld name="05 - Focus">
    <p:bg>
      <p:bgPr>
        <a:solidFill>
          <a:schemeClr val="dk2"/>
        </a:solidFill>
        <a:effectLst/>
      </p:bgPr>
    </p:bg>
    <p:spTree>
      <p:nvGrpSpPr>
        <p:cNvPr id="1" name="Shape 63"/>
        <p:cNvGrpSpPr/>
        <p:nvPr/>
      </p:nvGrpSpPr>
      <p:grpSpPr>
        <a:xfrm>
          <a:off x="0" y="0"/>
          <a:ext cx="0" cy="0"/>
          <a:chOff x="0" y="0"/>
          <a:chExt cx="0" cy="0"/>
        </a:xfrm>
      </p:grpSpPr>
      <p:sp>
        <p:nvSpPr>
          <p:cNvPr id="64" name="Google Shape;64;p8"/>
          <p:cNvSpPr/>
          <p:nvPr/>
        </p:nvSpPr>
        <p:spPr>
          <a:xfrm>
            <a:off x="185625" y="210050"/>
            <a:ext cx="190500" cy="175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5" name="Google Shape;65;p8"/>
          <p:cNvSpPr/>
          <p:nvPr/>
        </p:nvSpPr>
        <p:spPr>
          <a:xfrm>
            <a:off x="276300" y="292125"/>
            <a:ext cx="8591400" cy="4571700"/>
          </a:xfrm>
          <a:prstGeom prst="roundRect">
            <a:avLst>
              <a:gd name="adj" fmla="val 3551"/>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6" name="Google Shape;66;p8"/>
          <p:cNvSpPr/>
          <p:nvPr/>
        </p:nvSpPr>
        <p:spPr>
          <a:xfrm rot="-5400000">
            <a:off x="-1143306" y="34836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lt1"/>
                </a:solidFill>
                <a:latin typeface="Outfit Medium"/>
                <a:ea typeface="Outfit Medium"/>
                <a:cs typeface="Outfit Medium"/>
                <a:sym typeface="Outfit Medium"/>
              </a:rPr>
              <a:t>OCTO I PART OF ACCENTURE</a:t>
            </a:r>
            <a:r>
              <a:rPr lang="en-US" sz="500" b="0" i="0" u="none" strike="noStrike" cap="none">
                <a:solidFill>
                  <a:schemeClr val="lt1"/>
                </a:solidFill>
                <a:latin typeface="Outfit"/>
                <a:ea typeface="Outfit"/>
                <a:cs typeface="Outfit"/>
                <a:sym typeface="Outfit"/>
              </a:rPr>
              <a:t>© 202</a:t>
            </a:r>
            <a:r>
              <a:rPr lang="en-US" sz="500">
                <a:solidFill>
                  <a:schemeClr val="lt1"/>
                </a:solidFill>
                <a:latin typeface="Outfit"/>
                <a:ea typeface="Outfit"/>
                <a:cs typeface="Outfit"/>
                <a:sym typeface="Outfit"/>
              </a:rPr>
              <a:t>6</a:t>
            </a:r>
            <a:r>
              <a:rPr lang="en-US" sz="500" b="0" i="0" u="none" strike="noStrike" cap="none">
                <a:solidFill>
                  <a:schemeClr val="lt1"/>
                </a:solidFill>
                <a:latin typeface="Outfit"/>
                <a:ea typeface="Outfit"/>
                <a:cs typeface="Outfit"/>
                <a:sym typeface="Outfit"/>
              </a:rPr>
              <a:t> - All rights reserved</a:t>
            </a:r>
            <a:endParaRPr sz="500" b="0" i="0" u="none" strike="noStrike" cap="none">
              <a:solidFill>
                <a:schemeClr val="lt1"/>
              </a:solidFill>
              <a:latin typeface="Outfit Medium"/>
              <a:ea typeface="Outfit Medium"/>
              <a:cs typeface="Outfit Medium"/>
              <a:sym typeface="Outfit Medium"/>
            </a:endParaRPr>
          </a:p>
        </p:txBody>
      </p:sp>
      <p:sp>
        <p:nvSpPr>
          <p:cNvPr id="67" name="Google Shape;67;p8"/>
          <p:cNvSpPr txBox="1">
            <a:spLocks noGrp="1"/>
          </p:cNvSpPr>
          <p:nvPr>
            <p:ph type="subTitle" idx="1"/>
          </p:nvPr>
        </p:nvSpPr>
        <p:spPr>
          <a:xfrm>
            <a:off x="571500" y="778000"/>
            <a:ext cx="7884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68" name="Google Shape;68;p8"/>
          <p:cNvSpPr txBox="1">
            <a:spLocks noGrp="1"/>
          </p:cNvSpPr>
          <p:nvPr>
            <p:ph type="title"/>
          </p:nvPr>
        </p:nvSpPr>
        <p:spPr>
          <a:xfrm>
            <a:off x="563300" y="361275"/>
            <a:ext cx="7884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9pPr>
          </a:lstStyle>
          <a:p>
            <a:endParaRPr/>
          </a:p>
        </p:txBody>
      </p:sp>
      <p:sp>
        <p:nvSpPr>
          <p:cNvPr id="69" name="Google Shape;69;p8"/>
          <p:cNvSpPr txBox="1">
            <a:spLocks noGrp="1"/>
          </p:cNvSpPr>
          <p:nvPr>
            <p:ph type="body" idx="2"/>
          </p:nvPr>
        </p:nvSpPr>
        <p:spPr>
          <a:xfrm>
            <a:off x="571500" y="1273150"/>
            <a:ext cx="7884000" cy="3590700"/>
          </a:xfrm>
          <a:prstGeom prst="rect">
            <a:avLst/>
          </a:prstGeom>
          <a:noFill/>
          <a:ln>
            <a:noFill/>
          </a:ln>
        </p:spPr>
        <p:txBody>
          <a:bodyPr spcFirstLastPara="1" wrap="square" lIns="0" tIns="180000"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grpSp>
        <p:nvGrpSpPr>
          <p:cNvPr id="70" name="Google Shape;70;p8"/>
          <p:cNvGrpSpPr/>
          <p:nvPr/>
        </p:nvGrpSpPr>
        <p:grpSpPr>
          <a:xfrm>
            <a:off x="89501" y="125680"/>
            <a:ext cx="8793074" cy="4738970"/>
            <a:chOff x="89501" y="125680"/>
            <a:chExt cx="8793074" cy="4738970"/>
          </a:xfrm>
        </p:grpSpPr>
        <p:grpSp>
          <p:nvGrpSpPr>
            <p:cNvPr id="71" name="Google Shape;71;p8"/>
            <p:cNvGrpSpPr/>
            <p:nvPr/>
          </p:nvGrpSpPr>
          <p:grpSpPr>
            <a:xfrm>
              <a:off x="89501" y="125680"/>
              <a:ext cx="170063" cy="166438"/>
              <a:chOff x="6838242" y="518225"/>
              <a:chExt cx="1247708" cy="1221114"/>
            </a:xfrm>
          </p:grpSpPr>
          <p:sp>
            <p:nvSpPr>
              <p:cNvPr id="72" name="Google Shape;72;p8"/>
              <p:cNvSpPr/>
              <p:nvPr/>
            </p:nvSpPr>
            <p:spPr>
              <a:xfrm>
                <a:off x="7870550" y="518225"/>
                <a:ext cx="215400" cy="2154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3" name="Google Shape;73;p8"/>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4" name="Google Shape;74;p8"/>
              <p:cNvSpPr/>
              <p:nvPr/>
            </p:nvSpPr>
            <p:spPr>
              <a:xfrm>
                <a:off x="7483200" y="906125"/>
                <a:ext cx="215400" cy="2154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75" name="Google Shape;75;p8"/>
            <p:cNvSpPr/>
            <p:nvPr/>
          </p:nvSpPr>
          <p:spPr>
            <a:xfrm>
              <a:off x="8441325" y="4438950"/>
              <a:ext cx="425700" cy="425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76" name="Google Shape;76;p8"/>
            <p:cNvGrpSpPr/>
            <p:nvPr/>
          </p:nvGrpSpPr>
          <p:grpSpPr>
            <a:xfrm>
              <a:off x="8383075" y="4575725"/>
              <a:ext cx="499500" cy="228600"/>
              <a:chOff x="8383075" y="4575725"/>
              <a:chExt cx="499500" cy="228600"/>
            </a:xfrm>
          </p:grpSpPr>
          <p:sp>
            <p:nvSpPr>
              <p:cNvPr id="77" name="Google Shape;77;p8"/>
              <p:cNvSpPr txBox="1"/>
              <p:nvPr/>
            </p:nvSpPr>
            <p:spPr>
              <a:xfrm>
                <a:off x="8383075" y="45757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78" name="Google Shape;78;p8"/>
              <p:cNvCxnSpPr>
                <a:stCxn id="79" idx="2"/>
              </p:cNvCxnSpPr>
              <p:nvPr/>
            </p:nvCxnSpPr>
            <p:spPr>
              <a:xfrm>
                <a:off x="8599834" y="4788444"/>
                <a:ext cx="191400" cy="0"/>
              </a:xfrm>
              <a:prstGeom prst="straightConnector1">
                <a:avLst/>
              </a:prstGeom>
              <a:noFill/>
              <a:ln w="9525" cap="flat" cmpd="sng">
                <a:solidFill>
                  <a:srgbClr val="0E2356"/>
                </a:solidFill>
                <a:prstDash val="solid"/>
                <a:round/>
                <a:headEnd type="none" w="sm" len="sm"/>
                <a:tailEnd type="none" w="sm" len="sm"/>
              </a:ln>
            </p:spPr>
          </p:cxnSp>
          <p:sp>
            <p:nvSpPr>
              <p:cNvPr id="80" name="Google Shape;80;p8"/>
              <p:cNvSpPr/>
              <p:nvPr/>
            </p:nvSpPr>
            <p:spPr>
              <a:xfrm>
                <a:off x="8586528" y="45915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81" name="Google Shape;81;p8"/>
              <p:cNvCxnSpPr>
                <a:endCxn id="80" idx="2"/>
              </p:cNvCxnSpPr>
              <p:nvPr/>
            </p:nvCxnSpPr>
            <p:spPr>
              <a:xfrm rot="10800000">
                <a:off x="8787104" y="4694497"/>
                <a:ext cx="0" cy="98400"/>
              </a:xfrm>
              <a:prstGeom prst="straightConnector1">
                <a:avLst/>
              </a:prstGeom>
              <a:noFill/>
              <a:ln w="9525" cap="flat" cmpd="sng">
                <a:solidFill>
                  <a:srgbClr val="0E2356"/>
                </a:solidFill>
                <a:prstDash val="solid"/>
                <a:round/>
                <a:headEnd type="none" w="sm" len="sm"/>
                <a:tailEnd type="none" w="sm" len="sm"/>
              </a:ln>
            </p:spPr>
          </p:cxnSp>
          <p:sp>
            <p:nvSpPr>
              <p:cNvPr id="82" name="Google Shape;82;p8"/>
              <p:cNvSpPr/>
              <p:nvPr/>
            </p:nvSpPr>
            <p:spPr>
              <a:xfrm rot="-5400000">
                <a:off x="8499018" y="45938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9" name="Google Shape;79;p8"/>
              <p:cNvSpPr/>
              <p:nvPr/>
            </p:nvSpPr>
            <p:spPr>
              <a:xfrm rot="-5400000" flipH="1">
                <a:off x="8499018" y="45899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83" name="Google Shape;83;p8"/>
              <p:cNvCxnSpPr>
                <a:stCxn id="82" idx="2"/>
                <a:endCxn id="80" idx="0"/>
              </p:cNvCxnSpPr>
              <p:nvPr/>
            </p:nvCxnSpPr>
            <p:spPr>
              <a:xfrm>
                <a:off x="8599704" y="4591602"/>
                <a:ext cx="88500" cy="0"/>
              </a:xfrm>
              <a:prstGeom prst="straightConnector1">
                <a:avLst/>
              </a:prstGeom>
              <a:noFill/>
              <a:ln w="9525" cap="flat" cmpd="sng">
                <a:solidFill>
                  <a:srgbClr val="0E2356"/>
                </a:solidFill>
                <a:prstDash val="solid"/>
                <a:round/>
                <a:headEnd type="none" w="sm" len="sm"/>
                <a:tailEnd type="none" w="sm" len="sm"/>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07 - Slide vide fond foncé">
  <p:cSld name="07 - Slide vide fond foncé">
    <p:bg>
      <p:bgPr>
        <a:solidFill>
          <a:schemeClr val="lt1"/>
        </a:solidFill>
        <a:effectLst/>
      </p:bgPr>
    </p:bg>
    <p:spTree>
      <p:nvGrpSpPr>
        <p:cNvPr id="1" name="Shape 84"/>
        <p:cNvGrpSpPr/>
        <p:nvPr/>
      </p:nvGrpSpPr>
      <p:grpSpPr>
        <a:xfrm>
          <a:off x="0" y="0"/>
          <a:ext cx="0" cy="0"/>
          <a:chOff x="0" y="0"/>
          <a:chExt cx="0" cy="0"/>
        </a:xfrm>
      </p:grpSpPr>
      <p:grpSp>
        <p:nvGrpSpPr>
          <p:cNvPr id="85" name="Google Shape;85;p9"/>
          <p:cNvGrpSpPr/>
          <p:nvPr/>
        </p:nvGrpSpPr>
        <p:grpSpPr>
          <a:xfrm>
            <a:off x="276301" y="292130"/>
            <a:ext cx="170063" cy="166438"/>
            <a:chOff x="6838242" y="518225"/>
            <a:chExt cx="1247708" cy="1221114"/>
          </a:xfrm>
        </p:grpSpPr>
        <p:sp>
          <p:nvSpPr>
            <p:cNvPr id="86" name="Google Shape;86;p9"/>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7" name="Google Shape;87;p9"/>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8" name="Google Shape;88;p9"/>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89" name="Google Shape;89;p9"/>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90" name="Google Shape;90;p9"/>
          <p:cNvCxnSpPr>
            <a:stCxn id="91"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92" name="Google Shape;92;p9"/>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93" name="Google Shape;93;p9"/>
          <p:cNvCxnSpPr>
            <a:endCxn id="92"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94" name="Google Shape;94;p9"/>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91" name="Google Shape;91;p9"/>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95" name="Google Shape;95;p9"/>
          <p:cNvCxnSpPr>
            <a:stCxn id="94" idx="2"/>
            <a:endCxn id="92"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96" name="Google Shape;96;p9"/>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
        <p:nvSpPr>
          <p:cNvPr id="97" name="Google Shape;97;p9"/>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0 - Couverture [1]">
  <p:cSld name="40 - Couverture [1]">
    <p:bg>
      <p:bgPr>
        <a:solidFill>
          <a:schemeClr val="lt1"/>
        </a:solidFill>
        <a:effectLst/>
      </p:bgPr>
    </p:bg>
    <p:spTree>
      <p:nvGrpSpPr>
        <p:cNvPr id="1" name="Shape 98"/>
        <p:cNvGrpSpPr/>
        <p:nvPr/>
      </p:nvGrpSpPr>
      <p:grpSpPr>
        <a:xfrm>
          <a:off x="0" y="0"/>
          <a:ext cx="0" cy="0"/>
          <a:chOff x="0" y="0"/>
          <a:chExt cx="0" cy="0"/>
        </a:xfrm>
      </p:grpSpPr>
      <p:pic>
        <p:nvPicPr>
          <p:cNvPr id="99" name="Google Shape;99;p10"/>
          <p:cNvPicPr preferRelativeResize="0"/>
          <p:nvPr/>
        </p:nvPicPr>
        <p:blipFill rotWithShape="1">
          <a:blip r:embed="rId2">
            <a:alphaModFix/>
          </a:blip>
          <a:srcRect/>
          <a:stretch/>
        </p:blipFill>
        <p:spPr>
          <a:xfrm>
            <a:off x="0" y="0"/>
            <a:ext cx="9144000" cy="5143500"/>
          </a:xfrm>
          <a:prstGeom prst="roundRect">
            <a:avLst>
              <a:gd name="adj" fmla="val 0"/>
            </a:avLst>
          </a:prstGeom>
          <a:noFill/>
          <a:ln>
            <a:noFill/>
          </a:ln>
        </p:spPr>
      </p:pic>
      <p:sp>
        <p:nvSpPr>
          <p:cNvPr id="100" name="Google Shape;100;p10"/>
          <p:cNvSpPr txBox="1"/>
          <p:nvPr/>
        </p:nvSpPr>
        <p:spPr>
          <a:xfrm rot="-5400000">
            <a:off x="8220930" y="4230075"/>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600" b="0" i="0" u="none" strike="noStrike" cap="none">
                <a:solidFill>
                  <a:srgbClr val="FFFFFF"/>
                </a:solidFill>
                <a:latin typeface="Outfit Medium"/>
                <a:ea typeface="Outfit Medium"/>
                <a:cs typeface="Outfit Medium"/>
                <a:sym typeface="Outfit Medium"/>
              </a:rPr>
              <a:t>THERE IS A BETTER WAY</a:t>
            </a:r>
            <a:endParaRPr sz="600" b="0" i="0" u="none" strike="noStrike" cap="none">
              <a:solidFill>
                <a:srgbClr val="FFFFFF"/>
              </a:solidFill>
              <a:latin typeface="Outfit Medium"/>
              <a:ea typeface="Outfit Medium"/>
              <a:cs typeface="Outfit Medium"/>
              <a:sym typeface="Outfit Medium"/>
            </a:endParaRPr>
          </a:p>
        </p:txBody>
      </p:sp>
      <p:grpSp>
        <p:nvGrpSpPr>
          <p:cNvPr id="101" name="Google Shape;101;p10"/>
          <p:cNvGrpSpPr/>
          <p:nvPr/>
        </p:nvGrpSpPr>
        <p:grpSpPr>
          <a:xfrm>
            <a:off x="276293" y="292119"/>
            <a:ext cx="345989" cy="338615"/>
            <a:chOff x="6838242" y="518225"/>
            <a:chExt cx="1247708" cy="1221114"/>
          </a:xfrm>
        </p:grpSpPr>
        <p:sp>
          <p:nvSpPr>
            <p:cNvPr id="102" name="Google Shape;102;p10"/>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03" name="Google Shape;103;p10"/>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04" name="Google Shape;104;p10"/>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105" name="Google Shape;105;p10"/>
          <p:cNvSpPr txBox="1"/>
          <p:nvPr/>
        </p:nvSpPr>
        <p:spPr>
          <a:xfrm>
            <a:off x="182043" y="472785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600" b="0" i="0" u="none" strike="noStrike" cap="none">
                <a:solidFill>
                  <a:srgbClr val="FFFFFF"/>
                </a:solidFill>
                <a:latin typeface="Outfit Medium"/>
                <a:ea typeface="Outfit Medium"/>
                <a:cs typeface="Outfit Medium"/>
                <a:sym typeface="Outfit Medium"/>
              </a:rPr>
              <a:t>DIGITAL THINKERS &amp; DOERS</a:t>
            </a:r>
            <a:endParaRPr sz="600" b="0" i="0" u="none" strike="noStrike" cap="none">
              <a:solidFill>
                <a:srgbClr val="FFFFFF"/>
              </a:solidFill>
              <a:latin typeface="Outfit Medium"/>
              <a:ea typeface="Outfit Medium"/>
              <a:cs typeface="Outfit Medium"/>
              <a:sym typeface="Outfit Medium"/>
            </a:endParaRPr>
          </a:p>
        </p:txBody>
      </p:sp>
      <p:sp>
        <p:nvSpPr>
          <p:cNvPr id="106" name="Google Shape;106;p10"/>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107" name="Google Shape;107;p10"/>
          <p:cNvGrpSpPr/>
          <p:nvPr/>
        </p:nvGrpSpPr>
        <p:grpSpPr>
          <a:xfrm>
            <a:off x="1097923" y="1336707"/>
            <a:ext cx="4598402" cy="1873532"/>
            <a:chOff x="2164723" y="1336707"/>
            <a:chExt cx="4598402" cy="1873532"/>
          </a:xfrm>
        </p:grpSpPr>
        <p:cxnSp>
          <p:nvCxnSpPr>
            <p:cNvPr id="108" name="Google Shape;108;p10"/>
            <p:cNvCxnSpPr/>
            <p:nvPr/>
          </p:nvCxnSpPr>
          <p:spPr>
            <a:xfrm>
              <a:off x="3064700" y="3175550"/>
              <a:ext cx="3698100" cy="0"/>
            </a:xfrm>
            <a:prstGeom prst="straightConnector1">
              <a:avLst/>
            </a:prstGeom>
            <a:noFill/>
            <a:ln w="19050" cap="flat" cmpd="sng">
              <a:solidFill>
                <a:srgbClr val="FFFFFF"/>
              </a:solidFill>
              <a:prstDash val="solid"/>
              <a:round/>
              <a:headEnd type="none" w="sm" len="sm"/>
              <a:tailEnd type="none" w="sm" len="sm"/>
            </a:ln>
          </p:spPr>
        </p:cxnSp>
        <p:sp>
          <p:nvSpPr>
            <p:cNvPr id="109" name="Google Shape;109;p10"/>
            <p:cNvSpPr/>
            <p:nvPr/>
          </p:nvSpPr>
          <p:spPr>
            <a:xfrm>
              <a:off x="4924425" y="1371385"/>
              <a:ext cx="1838700" cy="17955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10" name="Google Shape;110;p10"/>
            <p:cNvCxnSpPr>
              <a:endCxn id="109" idx="2"/>
            </p:cNvCxnSpPr>
            <p:nvPr/>
          </p:nvCxnSpPr>
          <p:spPr>
            <a:xfrm rot="10800000">
              <a:off x="6761983" y="2313859"/>
              <a:ext cx="0" cy="861600"/>
            </a:xfrm>
            <a:prstGeom prst="straightConnector1">
              <a:avLst/>
            </a:prstGeom>
            <a:noFill/>
            <a:ln w="19050" cap="flat" cmpd="sng">
              <a:solidFill>
                <a:srgbClr val="FFFFFF"/>
              </a:solidFill>
              <a:prstDash val="solid"/>
              <a:round/>
              <a:headEnd type="none" w="sm" len="sm"/>
              <a:tailEnd type="none" w="sm" len="sm"/>
            </a:ln>
          </p:spPr>
        </p:cxnSp>
        <p:sp>
          <p:nvSpPr>
            <p:cNvPr id="111" name="Google Shape;111;p10"/>
            <p:cNvSpPr/>
            <p:nvPr/>
          </p:nvSpPr>
          <p:spPr>
            <a:xfrm rot="-5399439">
              <a:off x="2143273" y="1392988"/>
              <a:ext cx="1838700" cy="17955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12" name="Google Shape;112;p10"/>
            <p:cNvSpPr/>
            <p:nvPr/>
          </p:nvSpPr>
          <p:spPr>
            <a:xfrm rot="-5400561" flipH="1">
              <a:off x="2143273" y="1358457"/>
              <a:ext cx="1838700" cy="17955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13" name="Google Shape;113;p10"/>
            <p:cNvCxnSpPr>
              <a:stCxn id="111" idx="2"/>
              <a:endCxn id="109" idx="0"/>
            </p:cNvCxnSpPr>
            <p:nvPr/>
          </p:nvCxnSpPr>
          <p:spPr>
            <a:xfrm>
              <a:off x="3065855" y="1371394"/>
              <a:ext cx="2788800" cy="0"/>
            </a:xfrm>
            <a:prstGeom prst="straightConnector1">
              <a:avLst/>
            </a:prstGeom>
            <a:noFill/>
            <a:ln w="19050" cap="flat" cmpd="sng">
              <a:solidFill>
                <a:srgbClr val="FFFFFF"/>
              </a:solidFill>
              <a:prstDash val="solid"/>
              <a:round/>
              <a:headEnd type="none" w="sm" len="sm"/>
              <a:tailEnd type="none" w="sm" len="sm"/>
            </a:ln>
          </p:spPr>
        </p:cxnSp>
      </p:grpSp>
      <p:sp>
        <p:nvSpPr>
          <p:cNvPr id="114" name="Google Shape;114;p10"/>
          <p:cNvSpPr txBox="1"/>
          <p:nvPr/>
        </p:nvSpPr>
        <p:spPr>
          <a:xfrm>
            <a:off x="6997200" y="215900"/>
            <a:ext cx="1966800" cy="2154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650"/>
              <a:buFont typeface="Outfit"/>
              <a:buNone/>
            </a:pPr>
            <a:r>
              <a:rPr lang="en-US" sz="600" b="0" i="0" u="none" strike="noStrike" cap="none">
                <a:solidFill>
                  <a:srgbClr val="FFFFFF"/>
                </a:solidFill>
                <a:latin typeface="Outfit Medium"/>
                <a:ea typeface="Outfit Medium"/>
                <a:cs typeface="Outfit Medium"/>
                <a:sym typeface="Outfit Medium"/>
              </a:rPr>
              <a:t>OCTO TECHNOLOGY I PART OF ACCENTURE</a:t>
            </a:r>
            <a:endParaRPr sz="600" b="0" i="0" u="none" strike="noStrike" cap="none">
              <a:solidFill>
                <a:srgbClr val="FFFFFF"/>
              </a:solidFill>
              <a:latin typeface="Outfit Medium"/>
              <a:ea typeface="Outfit Medium"/>
              <a:cs typeface="Outfit Medium"/>
              <a:sym typeface="Outfit Medium"/>
            </a:endParaRPr>
          </a:p>
        </p:txBody>
      </p:sp>
      <p:pic>
        <p:nvPicPr>
          <p:cNvPr id="115" name="Google Shape;115;p10"/>
          <p:cNvPicPr preferRelativeResize="0"/>
          <p:nvPr/>
        </p:nvPicPr>
        <p:blipFill rotWithShape="1">
          <a:blip r:embed="rId3">
            <a:alphaModFix/>
          </a:blip>
          <a:srcRect t="338" b="338"/>
          <a:stretch/>
        </p:blipFill>
        <p:spPr>
          <a:xfrm>
            <a:off x="5866738" y="2120950"/>
            <a:ext cx="1724025" cy="1257300"/>
          </a:xfrm>
          <a:prstGeom prst="rect">
            <a:avLst/>
          </a:prstGeom>
          <a:noFill/>
          <a:ln>
            <a:noFill/>
          </a:ln>
        </p:spPr>
      </p:pic>
      <p:sp>
        <p:nvSpPr>
          <p:cNvPr id="116" name="Google Shape;116;p10"/>
          <p:cNvSpPr txBox="1">
            <a:spLocks noGrp="1"/>
          </p:cNvSpPr>
          <p:nvPr>
            <p:ph type="title"/>
          </p:nvPr>
        </p:nvSpPr>
        <p:spPr>
          <a:xfrm>
            <a:off x="1657350" y="1619250"/>
            <a:ext cx="3648000" cy="13050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2000"/>
              <a:buFont typeface="Outfit Medium"/>
              <a:buNone/>
              <a:defRPr sz="2000" i="0" u="none" strike="noStrike" cap="none">
                <a:solidFill>
                  <a:schemeClr val="lt1"/>
                </a:solidFill>
                <a:latin typeface="Outfit Medium"/>
                <a:ea typeface="Outfit Medium"/>
                <a:cs typeface="Outfit Medium"/>
                <a:sym typeface="Outfit Medium"/>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117" name="Google Shape;117;p10"/>
          <p:cNvSpPr txBox="1">
            <a:spLocks noGrp="1"/>
          </p:cNvSpPr>
          <p:nvPr>
            <p:ph type="subTitle" idx="1"/>
          </p:nvPr>
        </p:nvSpPr>
        <p:spPr>
          <a:xfrm>
            <a:off x="1657350" y="2668200"/>
            <a:ext cx="3648000" cy="215400"/>
          </a:xfrm>
          <a:prstGeom prst="rect">
            <a:avLst/>
          </a:prstGeom>
          <a:noFill/>
          <a:ln>
            <a:noFill/>
          </a:ln>
        </p:spPr>
        <p:txBody>
          <a:bodyPr spcFirstLastPara="1" wrap="square" lIns="0" tIns="0" rIns="0" bIns="0" anchor="b" anchorCtr="0">
            <a:normAutofit/>
          </a:bodyPr>
          <a:lstStyle>
            <a:lvl1pPr marR="0" lvl="0"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1pPr>
            <a:lvl2pPr marR="0" lvl="1"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2pPr>
            <a:lvl3pPr marR="0" lvl="2"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3pPr>
            <a:lvl4pPr marR="0" lvl="3"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4pPr>
            <a:lvl5pPr marR="0" lvl="4"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5pPr>
            <a:lvl6pPr marR="0" lvl="5"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6pPr>
            <a:lvl7pPr marR="0" lvl="6"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7pPr>
            <a:lvl8pPr marR="0" lvl="7"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8pPr>
            <a:lvl9pPr marR="0" lvl="8"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9pPr>
          </a:lstStyle>
          <a:p>
            <a:endParaRPr/>
          </a:p>
        </p:txBody>
      </p:sp>
      <p:sp>
        <p:nvSpPr>
          <p:cNvPr id="118" name="Google Shape;118;p10"/>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119" name="Google Shape;119;p10"/>
          <p:cNvGrpSpPr/>
          <p:nvPr/>
        </p:nvGrpSpPr>
        <p:grpSpPr>
          <a:xfrm rot="10800000">
            <a:off x="4572194" y="3152705"/>
            <a:ext cx="2605006" cy="616888"/>
            <a:chOff x="2164721" y="1365883"/>
            <a:chExt cx="4598421" cy="1890555"/>
          </a:xfrm>
        </p:grpSpPr>
        <p:cxnSp>
          <p:nvCxnSpPr>
            <p:cNvPr id="120" name="Google Shape;120;p10"/>
            <p:cNvCxnSpPr>
              <a:stCxn id="121" idx="2"/>
            </p:cNvCxnSpPr>
            <p:nvPr/>
          </p:nvCxnSpPr>
          <p:spPr>
            <a:xfrm>
              <a:off x="2699642" y="3175623"/>
              <a:ext cx="4063500" cy="0"/>
            </a:xfrm>
            <a:prstGeom prst="straightConnector1">
              <a:avLst/>
            </a:prstGeom>
            <a:noFill/>
            <a:ln w="19050" cap="flat" cmpd="sng">
              <a:solidFill>
                <a:srgbClr val="FFFFFF"/>
              </a:solidFill>
              <a:prstDash val="solid"/>
              <a:round/>
              <a:headEnd type="none" w="sm" len="sm"/>
              <a:tailEnd type="none" w="sm" len="sm"/>
            </a:ln>
          </p:spPr>
        </p:cxnSp>
        <p:sp>
          <p:nvSpPr>
            <p:cNvPr id="122" name="Google Shape;122;p10"/>
            <p:cNvSpPr/>
            <p:nvPr/>
          </p:nvSpPr>
          <p:spPr>
            <a:xfrm>
              <a:off x="5870124" y="1371373"/>
              <a:ext cx="892800" cy="14763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23" name="Google Shape;123;p10"/>
            <p:cNvCxnSpPr>
              <a:endCxn id="122" idx="2"/>
            </p:cNvCxnSpPr>
            <p:nvPr/>
          </p:nvCxnSpPr>
          <p:spPr>
            <a:xfrm rot="10800000">
              <a:off x="6762341" y="2147223"/>
              <a:ext cx="0" cy="1028700"/>
            </a:xfrm>
            <a:prstGeom prst="straightConnector1">
              <a:avLst/>
            </a:prstGeom>
            <a:noFill/>
            <a:ln w="19050" cap="flat" cmpd="sng">
              <a:solidFill>
                <a:srgbClr val="FFFFFF"/>
              </a:solidFill>
              <a:prstDash val="solid"/>
              <a:round/>
              <a:headEnd type="none" w="sm" len="sm"/>
              <a:tailEnd type="none" w="sm" len="sm"/>
            </a:ln>
          </p:spPr>
        </p:cxnSp>
        <p:sp>
          <p:nvSpPr>
            <p:cNvPr id="124" name="Google Shape;124;p10"/>
            <p:cNvSpPr/>
            <p:nvPr/>
          </p:nvSpPr>
          <p:spPr>
            <a:xfrm rot="-5399453">
              <a:off x="1791865" y="1744138"/>
              <a:ext cx="1885200" cy="11391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21" name="Google Shape;121;p10"/>
            <p:cNvSpPr/>
            <p:nvPr/>
          </p:nvSpPr>
          <p:spPr>
            <a:xfrm rot="-5400570" flipH="1">
              <a:off x="1792271" y="1738633"/>
              <a:ext cx="1809600" cy="10644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25" name="Google Shape;125;p10"/>
            <p:cNvCxnSpPr>
              <a:stCxn id="124" idx="2"/>
              <a:endCxn id="122" idx="0"/>
            </p:cNvCxnSpPr>
            <p:nvPr/>
          </p:nvCxnSpPr>
          <p:spPr>
            <a:xfrm>
              <a:off x="2736435" y="1371094"/>
              <a:ext cx="3585300" cy="300"/>
            </a:xfrm>
            <a:prstGeom prst="straightConnector1">
              <a:avLst/>
            </a:prstGeom>
            <a:noFill/>
            <a:ln w="19050" cap="flat" cmpd="sng">
              <a:solidFill>
                <a:srgbClr val="FFFFFF"/>
              </a:solidFill>
              <a:prstDash val="solid"/>
              <a:round/>
              <a:headEnd type="none" w="sm" len="sm"/>
              <a:tailEnd type="none" w="sm" len="sm"/>
            </a:ln>
          </p:spPr>
        </p:cxnSp>
      </p:grpSp>
      <p:cxnSp>
        <p:nvCxnSpPr>
          <p:cNvPr id="126" name="Google Shape;126;p10"/>
          <p:cNvCxnSpPr/>
          <p:nvPr/>
        </p:nvCxnSpPr>
        <p:spPr>
          <a:xfrm>
            <a:off x="5567313" y="3411150"/>
            <a:ext cx="0" cy="94200"/>
          </a:xfrm>
          <a:prstGeom prst="straightConnector1">
            <a:avLst/>
          </a:prstGeom>
          <a:noFill/>
          <a:ln w="9525" cap="flat" cmpd="sng">
            <a:solidFill>
              <a:srgbClr val="FFFFFF"/>
            </a:solidFill>
            <a:prstDash val="solid"/>
            <a:round/>
            <a:headEnd type="none" w="med" len="med"/>
            <a:tailEnd type="none" w="med" len="med"/>
          </a:ln>
        </p:spPr>
      </p:cxnSp>
      <p:sp>
        <p:nvSpPr>
          <p:cNvPr id="127" name="Google Shape;127;p10"/>
          <p:cNvSpPr txBox="1">
            <a:spLocks noGrp="1"/>
          </p:cNvSpPr>
          <p:nvPr>
            <p:ph type="title" idx="2"/>
          </p:nvPr>
        </p:nvSpPr>
        <p:spPr>
          <a:xfrm>
            <a:off x="4707450" y="3303350"/>
            <a:ext cx="7320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
        <p:nvSpPr>
          <p:cNvPr id="128" name="Google Shape;128;p10"/>
          <p:cNvSpPr txBox="1">
            <a:spLocks noGrp="1"/>
          </p:cNvSpPr>
          <p:nvPr>
            <p:ph type="title" idx="3"/>
          </p:nvPr>
        </p:nvSpPr>
        <p:spPr>
          <a:xfrm>
            <a:off x="5695200" y="3303350"/>
            <a:ext cx="14052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41 - Couverture [2]">
  <p:cSld name="41 - Couverture [2]">
    <p:bg>
      <p:bgPr>
        <a:solidFill>
          <a:schemeClr val="dk1"/>
        </a:solidFill>
        <a:effectLst/>
      </p:bgPr>
    </p:bg>
    <p:spTree>
      <p:nvGrpSpPr>
        <p:cNvPr id="1" name="Shape 129"/>
        <p:cNvGrpSpPr/>
        <p:nvPr/>
      </p:nvGrpSpPr>
      <p:grpSpPr>
        <a:xfrm>
          <a:off x="0" y="0"/>
          <a:ext cx="0" cy="0"/>
          <a:chOff x="0" y="0"/>
          <a:chExt cx="0" cy="0"/>
        </a:xfrm>
      </p:grpSpPr>
      <p:sp>
        <p:nvSpPr>
          <p:cNvPr id="130" name="Google Shape;130;p11"/>
          <p:cNvSpPr txBox="1">
            <a:spLocks noGrp="1"/>
          </p:cNvSpPr>
          <p:nvPr>
            <p:ph type="title"/>
          </p:nvPr>
        </p:nvSpPr>
        <p:spPr>
          <a:xfrm>
            <a:off x="2717000" y="1879350"/>
            <a:ext cx="3635400" cy="7743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2000"/>
              <a:buFont typeface="Outfit Medium"/>
              <a:buNone/>
              <a:defRPr sz="2000" i="0" u="none" strike="noStrike" cap="none">
                <a:solidFill>
                  <a:schemeClr val="lt1"/>
                </a:solidFill>
                <a:latin typeface="Outfit Medium"/>
                <a:ea typeface="Outfit Medium"/>
                <a:cs typeface="Outfit Medium"/>
                <a:sym typeface="Outfit Medium"/>
              </a:defRPr>
            </a:lvl1pPr>
            <a:lvl2pPr marR="0" lvl="1"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2pPr>
            <a:lvl3pPr marR="0" lvl="2"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3pPr>
            <a:lvl4pPr marR="0" lvl="3"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4pPr>
            <a:lvl5pPr marR="0" lvl="4"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5pPr>
            <a:lvl6pPr marR="0" lvl="5"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6pPr>
            <a:lvl7pPr marR="0" lvl="6"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7pPr>
            <a:lvl8pPr marR="0" lvl="7"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8pPr>
            <a:lvl9pPr marR="0" lvl="8"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9pPr>
          </a:lstStyle>
          <a:p>
            <a:endParaRPr/>
          </a:p>
        </p:txBody>
      </p:sp>
      <p:sp>
        <p:nvSpPr>
          <p:cNvPr id="131" name="Google Shape;131;p11"/>
          <p:cNvSpPr txBox="1">
            <a:spLocks noGrp="1"/>
          </p:cNvSpPr>
          <p:nvPr>
            <p:ph type="subTitle" idx="1"/>
          </p:nvPr>
        </p:nvSpPr>
        <p:spPr>
          <a:xfrm>
            <a:off x="2717000" y="2590325"/>
            <a:ext cx="3635400" cy="3201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1pPr>
            <a:lvl2pPr marR="0" lvl="1"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2pPr>
            <a:lvl3pPr marR="0" lvl="2"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3pPr>
            <a:lvl4pPr marR="0" lvl="3"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4pPr>
            <a:lvl5pPr marR="0" lvl="4"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5pPr>
            <a:lvl6pPr marR="0" lvl="5"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6pPr>
            <a:lvl7pPr marR="0" lvl="6"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7pPr>
            <a:lvl8pPr marR="0" lvl="7"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8pPr>
            <a:lvl9pPr marR="0" lvl="8"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9pPr>
          </a:lstStyle>
          <a:p>
            <a:endParaRPr/>
          </a:p>
        </p:txBody>
      </p:sp>
      <p:sp>
        <p:nvSpPr>
          <p:cNvPr id="132" name="Google Shape;132;p11"/>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11"/>
          <p:cNvGrpSpPr/>
          <p:nvPr/>
        </p:nvGrpSpPr>
        <p:grpSpPr>
          <a:xfrm>
            <a:off x="2164723" y="1336860"/>
            <a:ext cx="4598402" cy="1873225"/>
            <a:chOff x="2164723" y="1336860"/>
            <a:chExt cx="4598402" cy="1873225"/>
          </a:xfrm>
        </p:grpSpPr>
        <p:cxnSp>
          <p:nvCxnSpPr>
            <p:cNvPr id="134" name="Google Shape;134;p11"/>
            <p:cNvCxnSpPr/>
            <p:nvPr/>
          </p:nvCxnSpPr>
          <p:spPr>
            <a:xfrm>
              <a:off x="3064700" y="3175550"/>
              <a:ext cx="3698100" cy="0"/>
            </a:xfrm>
            <a:prstGeom prst="straightConnector1">
              <a:avLst/>
            </a:prstGeom>
            <a:noFill/>
            <a:ln w="19050" cap="flat" cmpd="sng">
              <a:solidFill>
                <a:srgbClr val="FFFFFF"/>
              </a:solidFill>
              <a:prstDash val="solid"/>
              <a:round/>
              <a:headEnd type="none" w="med" len="med"/>
              <a:tailEnd type="none" w="med" len="med"/>
            </a:ln>
          </p:spPr>
        </p:cxnSp>
        <p:sp>
          <p:nvSpPr>
            <p:cNvPr id="135" name="Google Shape;135;p11"/>
            <p:cNvSpPr/>
            <p:nvPr/>
          </p:nvSpPr>
          <p:spPr>
            <a:xfrm>
              <a:off x="4924425" y="1371385"/>
              <a:ext cx="1838700" cy="17955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 name="Google Shape;136;p11"/>
            <p:cNvCxnSpPr>
              <a:endCxn id="135" idx="2"/>
            </p:cNvCxnSpPr>
            <p:nvPr/>
          </p:nvCxnSpPr>
          <p:spPr>
            <a:xfrm rot="10800000">
              <a:off x="6761983" y="2313858"/>
              <a:ext cx="0" cy="861600"/>
            </a:xfrm>
            <a:prstGeom prst="straightConnector1">
              <a:avLst/>
            </a:prstGeom>
            <a:noFill/>
            <a:ln w="19050" cap="flat" cmpd="sng">
              <a:solidFill>
                <a:srgbClr val="FFFFFF"/>
              </a:solidFill>
              <a:prstDash val="solid"/>
              <a:round/>
              <a:headEnd type="none" w="med" len="med"/>
              <a:tailEnd type="none" w="med" len="med"/>
            </a:ln>
          </p:spPr>
        </p:cxnSp>
        <p:sp>
          <p:nvSpPr>
            <p:cNvPr id="137" name="Google Shape;137;p11"/>
            <p:cNvSpPr/>
            <p:nvPr/>
          </p:nvSpPr>
          <p:spPr>
            <a:xfrm rot="-5399439">
              <a:off x="2143273" y="1392985"/>
              <a:ext cx="1838700" cy="17955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p:cNvSpPr/>
            <p:nvPr/>
          </p:nvSpPr>
          <p:spPr>
            <a:xfrm rot="-5400561" flipH="1">
              <a:off x="2143273" y="1358460"/>
              <a:ext cx="1838700" cy="17955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9" name="Google Shape;139;p11"/>
            <p:cNvCxnSpPr>
              <a:stCxn id="137" idx="2"/>
              <a:endCxn id="135" idx="0"/>
            </p:cNvCxnSpPr>
            <p:nvPr/>
          </p:nvCxnSpPr>
          <p:spPr>
            <a:xfrm>
              <a:off x="3065855" y="1371390"/>
              <a:ext cx="2788800" cy="0"/>
            </a:xfrm>
            <a:prstGeom prst="straightConnector1">
              <a:avLst/>
            </a:prstGeom>
            <a:noFill/>
            <a:ln w="19050" cap="flat" cmpd="sng">
              <a:solidFill>
                <a:srgbClr val="FFFFFF"/>
              </a:solidFill>
              <a:prstDash val="solid"/>
              <a:round/>
              <a:headEnd type="none" w="med" len="med"/>
              <a:tailEnd type="none" w="med" len="med"/>
            </a:ln>
          </p:spPr>
        </p:cxnSp>
      </p:grpSp>
      <p:sp>
        <p:nvSpPr>
          <p:cNvPr id="140" name="Google Shape;140;p11"/>
          <p:cNvSpPr txBox="1"/>
          <p:nvPr/>
        </p:nvSpPr>
        <p:spPr>
          <a:xfrm rot="-5400000">
            <a:off x="8220930" y="4230075"/>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US" sz="600">
                <a:solidFill>
                  <a:srgbClr val="FFFFFF"/>
                </a:solidFill>
                <a:latin typeface="Outfit Medium"/>
                <a:ea typeface="Outfit Medium"/>
                <a:cs typeface="Outfit Medium"/>
                <a:sym typeface="Outfit Medium"/>
              </a:rPr>
              <a:t>THERE IS A BETTER WAY</a:t>
            </a:r>
            <a:endParaRPr sz="600" i="0" u="none" strike="noStrike" cap="none">
              <a:solidFill>
                <a:srgbClr val="FFFFFF"/>
              </a:solidFill>
              <a:latin typeface="Outfit Medium"/>
              <a:ea typeface="Outfit Medium"/>
              <a:cs typeface="Outfit Medium"/>
              <a:sym typeface="Outfit Medium"/>
            </a:endParaRPr>
          </a:p>
        </p:txBody>
      </p:sp>
      <p:grpSp>
        <p:nvGrpSpPr>
          <p:cNvPr id="141" name="Google Shape;141;p11"/>
          <p:cNvGrpSpPr/>
          <p:nvPr/>
        </p:nvGrpSpPr>
        <p:grpSpPr>
          <a:xfrm>
            <a:off x="276291" y="292119"/>
            <a:ext cx="345989" cy="338615"/>
            <a:chOff x="6838242" y="518225"/>
            <a:chExt cx="1247708" cy="1221114"/>
          </a:xfrm>
        </p:grpSpPr>
        <p:sp>
          <p:nvSpPr>
            <p:cNvPr id="142" name="Google Shape;142;p1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11"/>
          <p:cNvSpPr txBox="1"/>
          <p:nvPr/>
        </p:nvSpPr>
        <p:spPr>
          <a:xfrm>
            <a:off x="182043" y="472785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US" sz="600">
                <a:solidFill>
                  <a:srgbClr val="FFFFFF"/>
                </a:solidFill>
                <a:latin typeface="Outfit Medium"/>
                <a:ea typeface="Outfit Medium"/>
                <a:cs typeface="Outfit Medium"/>
                <a:sym typeface="Outfit Medium"/>
              </a:rPr>
              <a:t>DIGITAL THINKERS &amp; DOERS</a:t>
            </a:r>
            <a:endParaRPr sz="600" i="0" u="none" strike="noStrike" cap="none">
              <a:solidFill>
                <a:srgbClr val="FFFFFF"/>
              </a:solidFill>
              <a:latin typeface="Outfit Medium"/>
              <a:ea typeface="Outfit Medium"/>
              <a:cs typeface="Outfit Medium"/>
              <a:sym typeface="Outfit Medium"/>
            </a:endParaRPr>
          </a:p>
        </p:txBody>
      </p:sp>
      <p:sp>
        <p:nvSpPr>
          <p:cNvPr id="146" name="Google Shape;146;p11"/>
          <p:cNvSpPr txBox="1"/>
          <p:nvPr/>
        </p:nvSpPr>
        <p:spPr>
          <a:xfrm>
            <a:off x="6997200" y="215900"/>
            <a:ext cx="1966800" cy="2154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650"/>
              <a:buFont typeface="Century Gothic"/>
              <a:buNone/>
            </a:pPr>
            <a:r>
              <a:rPr lang="en-US" sz="600">
                <a:solidFill>
                  <a:srgbClr val="FFFFFF"/>
                </a:solidFill>
                <a:latin typeface="Outfit Medium"/>
                <a:ea typeface="Outfit Medium"/>
                <a:cs typeface="Outfit Medium"/>
                <a:sym typeface="Outfit Medium"/>
              </a:rPr>
              <a:t>OCTO TECHNOLOGY  I  PART OF ACCENTURE</a:t>
            </a:r>
            <a:endParaRPr sz="600" i="0" u="none" strike="noStrike" cap="none">
              <a:solidFill>
                <a:srgbClr val="FFFFFF"/>
              </a:solidFill>
              <a:latin typeface="Outfit Medium"/>
              <a:ea typeface="Outfit Medium"/>
              <a:cs typeface="Outfit Medium"/>
              <a:sym typeface="Outfit Medium"/>
            </a:endParaRPr>
          </a:p>
        </p:txBody>
      </p:sp>
      <p:grpSp>
        <p:nvGrpSpPr>
          <p:cNvPr id="147" name="Google Shape;147;p11"/>
          <p:cNvGrpSpPr/>
          <p:nvPr/>
        </p:nvGrpSpPr>
        <p:grpSpPr>
          <a:xfrm rot="10800000">
            <a:off x="4572194" y="3152774"/>
            <a:ext cx="2605006" cy="616751"/>
            <a:chOff x="2164721" y="1366095"/>
            <a:chExt cx="4598421" cy="1890134"/>
          </a:xfrm>
        </p:grpSpPr>
        <p:cxnSp>
          <p:nvCxnSpPr>
            <p:cNvPr id="148" name="Google Shape;148;p11"/>
            <p:cNvCxnSpPr>
              <a:stCxn id="149" idx="2"/>
            </p:cNvCxnSpPr>
            <p:nvPr/>
          </p:nvCxnSpPr>
          <p:spPr>
            <a:xfrm>
              <a:off x="2699643" y="3175685"/>
              <a:ext cx="4063500" cy="0"/>
            </a:xfrm>
            <a:prstGeom prst="straightConnector1">
              <a:avLst/>
            </a:prstGeom>
            <a:noFill/>
            <a:ln w="19050" cap="flat" cmpd="sng">
              <a:solidFill>
                <a:srgbClr val="FFFFFF"/>
              </a:solidFill>
              <a:prstDash val="solid"/>
              <a:round/>
              <a:headEnd type="none" w="med" len="med"/>
              <a:tailEnd type="none" w="med" len="med"/>
            </a:ln>
          </p:spPr>
        </p:cxnSp>
        <p:sp>
          <p:nvSpPr>
            <p:cNvPr id="150" name="Google Shape;150;p11"/>
            <p:cNvSpPr/>
            <p:nvPr/>
          </p:nvSpPr>
          <p:spPr>
            <a:xfrm>
              <a:off x="5870124" y="1371373"/>
              <a:ext cx="892800" cy="14763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 name="Google Shape;151;p11"/>
            <p:cNvCxnSpPr>
              <a:endCxn id="150" idx="2"/>
            </p:cNvCxnSpPr>
            <p:nvPr/>
          </p:nvCxnSpPr>
          <p:spPr>
            <a:xfrm rot="10800000">
              <a:off x="6762342" y="2147223"/>
              <a:ext cx="0" cy="1028700"/>
            </a:xfrm>
            <a:prstGeom prst="straightConnector1">
              <a:avLst/>
            </a:prstGeom>
            <a:noFill/>
            <a:ln w="19050" cap="flat" cmpd="sng">
              <a:solidFill>
                <a:srgbClr val="FFFFFF"/>
              </a:solidFill>
              <a:prstDash val="solid"/>
              <a:round/>
              <a:headEnd type="none" w="med" len="med"/>
              <a:tailEnd type="none" w="med" len="med"/>
            </a:ln>
          </p:spPr>
        </p:cxnSp>
        <p:sp>
          <p:nvSpPr>
            <p:cNvPr id="152" name="Google Shape;152;p11"/>
            <p:cNvSpPr/>
            <p:nvPr/>
          </p:nvSpPr>
          <p:spPr>
            <a:xfrm rot="-5399453">
              <a:off x="1791865" y="1744079"/>
              <a:ext cx="1885200" cy="11391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rot="-5400570" flipH="1">
              <a:off x="1792271" y="1738695"/>
              <a:ext cx="1809600" cy="10644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11"/>
            <p:cNvCxnSpPr>
              <a:stCxn id="152" idx="2"/>
              <a:endCxn id="150" idx="0"/>
            </p:cNvCxnSpPr>
            <p:nvPr/>
          </p:nvCxnSpPr>
          <p:spPr>
            <a:xfrm>
              <a:off x="2736435" y="1371034"/>
              <a:ext cx="3585300" cy="300"/>
            </a:xfrm>
            <a:prstGeom prst="straightConnector1">
              <a:avLst/>
            </a:prstGeom>
            <a:noFill/>
            <a:ln w="19050" cap="flat" cmpd="sng">
              <a:solidFill>
                <a:srgbClr val="FFFFFF"/>
              </a:solidFill>
              <a:prstDash val="solid"/>
              <a:round/>
              <a:headEnd type="none" w="med" len="med"/>
              <a:tailEnd type="none" w="med" len="med"/>
            </a:ln>
          </p:spPr>
        </p:cxnSp>
      </p:grpSp>
      <p:cxnSp>
        <p:nvCxnSpPr>
          <p:cNvPr id="154" name="Google Shape;154;p11"/>
          <p:cNvCxnSpPr/>
          <p:nvPr/>
        </p:nvCxnSpPr>
        <p:spPr>
          <a:xfrm>
            <a:off x="5575700" y="3411150"/>
            <a:ext cx="0" cy="94200"/>
          </a:xfrm>
          <a:prstGeom prst="straightConnector1">
            <a:avLst/>
          </a:prstGeom>
          <a:noFill/>
          <a:ln w="9525" cap="flat" cmpd="sng">
            <a:solidFill>
              <a:srgbClr val="FFFFFF"/>
            </a:solidFill>
            <a:prstDash val="solid"/>
            <a:round/>
            <a:headEnd type="none" w="med" len="med"/>
            <a:tailEnd type="none" w="med" len="med"/>
          </a:ln>
        </p:spPr>
      </p:cxnSp>
      <p:sp>
        <p:nvSpPr>
          <p:cNvPr id="155" name="Google Shape;155;p11"/>
          <p:cNvSpPr txBox="1">
            <a:spLocks noGrp="1"/>
          </p:cNvSpPr>
          <p:nvPr>
            <p:ph type="title" idx="2"/>
          </p:nvPr>
        </p:nvSpPr>
        <p:spPr>
          <a:xfrm>
            <a:off x="4707450" y="3303350"/>
            <a:ext cx="7320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
        <p:nvSpPr>
          <p:cNvPr id="156" name="Google Shape;156;p11"/>
          <p:cNvSpPr txBox="1">
            <a:spLocks noGrp="1"/>
          </p:cNvSpPr>
          <p:nvPr>
            <p:ph type="title" idx="3"/>
          </p:nvPr>
        </p:nvSpPr>
        <p:spPr>
          <a:xfrm>
            <a:off x="5695200" y="3303350"/>
            <a:ext cx="14052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51 - Chapitre [2]">
  <p:cSld name="51 - Chapitre [2]">
    <p:bg>
      <p:bgPr>
        <a:solidFill>
          <a:schemeClr val="lt1"/>
        </a:solidFill>
        <a:effectLst/>
      </p:bgPr>
    </p:bg>
    <p:spTree>
      <p:nvGrpSpPr>
        <p:cNvPr id="1" name="Shape 157"/>
        <p:cNvGrpSpPr/>
        <p:nvPr/>
      </p:nvGrpSpPr>
      <p:grpSpPr>
        <a:xfrm>
          <a:off x="0" y="0"/>
          <a:ext cx="0" cy="0"/>
          <a:chOff x="0" y="0"/>
          <a:chExt cx="0" cy="0"/>
        </a:xfrm>
      </p:grpSpPr>
      <p:sp>
        <p:nvSpPr>
          <p:cNvPr id="158" name="Google Shape;158;p12"/>
          <p:cNvSpPr/>
          <p:nvPr/>
        </p:nvSpPr>
        <p:spPr>
          <a:xfrm rot="5400000" flipH="1">
            <a:off x="1344924" y="364825"/>
            <a:ext cx="433200" cy="453000"/>
          </a:xfrm>
          <a:prstGeom prst="round2SameRect">
            <a:avLst>
              <a:gd name="adj1" fmla="val 50000"/>
              <a:gd name="adj2" fmla="val 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159" name="Google Shape;159;p12"/>
          <p:cNvSpPr/>
          <p:nvPr/>
        </p:nvSpPr>
        <p:spPr>
          <a:xfrm flipH="1">
            <a:off x="830825" y="817575"/>
            <a:ext cx="3663300" cy="3816300"/>
          </a:xfrm>
          <a:prstGeom prst="round2Diag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 name="Google Shape;160;p12"/>
          <p:cNvSpPr txBox="1">
            <a:spLocks noGrp="1"/>
          </p:cNvSpPr>
          <p:nvPr>
            <p:ph type="body" idx="1"/>
          </p:nvPr>
        </p:nvSpPr>
        <p:spPr>
          <a:xfrm>
            <a:off x="841248" y="374650"/>
            <a:ext cx="499500" cy="433200"/>
          </a:xfrm>
          <a:prstGeom prst="rect">
            <a:avLst/>
          </a:prstGeom>
          <a:noFill/>
          <a:ln>
            <a:noFill/>
          </a:ln>
        </p:spPr>
        <p:txBody>
          <a:bodyPr spcFirstLastPara="1" wrap="square" lIns="0" tIns="0" rIns="0" bIns="0" anchor="ctr" anchorCtr="0">
            <a:noAutofit/>
          </a:bodyPr>
          <a:lstStyle>
            <a:lvl1pPr marL="457200" marR="0" lvl="0"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1pPr>
            <a:lvl2pPr marL="914400" marR="0" lvl="1" indent="-317500" algn="l"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2pPr>
            <a:lvl3pPr marL="1371600" marR="0" lvl="2"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3pPr>
            <a:lvl4pPr marL="1828800" marR="0" lvl="3" indent="-317500" algn="l" rtl="0">
              <a:lnSpc>
                <a:spcPct val="100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4pPr>
            <a:lvl5pPr marL="2286000" marR="0" lvl="4"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5pPr>
            <a:lvl6pPr marL="2743200" marR="0" lvl="5" indent="-317500" algn="l"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6pPr>
            <a:lvl7pPr marL="3200400" marR="0" lvl="6"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7pPr>
            <a:lvl8pPr marL="3657600" marR="0" lvl="7" indent="-317500" algn="l" rtl="0">
              <a:lnSpc>
                <a:spcPct val="115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8pPr>
            <a:lvl9pPr marL="4114800" marR="0" lvl="8"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9pPr>
          </a:lstStyle>
          <a:p>
            <a:endParaRPr/>
          </a:p>
        </p:txBody>
      </p:sp>
      <p:sp>
        <p:nvSpPr>
          <p:cNvPr id="161" name="Google Shape;161;p12"/>
          <p:cNvSpPr txBox="1">
            <a:spLocks noGrp="1"/>
          </p:cNvSpPr>
          <p:nvPr>
            <p:ph type="title"/>
          </p:nvPr>
        </p:nvSpPr>
        <p:spPr>
          <a:xfrm>
            <a:off x="4699800" y="2685200"/>
            <a:ext cx="4164300" cy="1810200"/>
          </a:xfrm>
          <a:prstGeom prst="rect">
            <a:avLst/>
          </a:prstGeom>
          <a:noFill/>
          <a:ln>
            <a:noFill/>
          </a:ln>
        </p:spPr>
        <p:txBody>
          <a:bodyPr spcFirstLastPara="1" wrap="square" lIns="91425" tIns="91425" rIns="91425" bIns="91425" anchor="ctr" anchorCtr="0">
            <a:normAutofit/>
          </a:bodyPr>
          <a:lstStyle>
            <a:lvl1pPr marR="0" lvl="0"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2pPr>
            <a:lvl3pPr marR="0" lvl="2"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3pPr>
            <a:lvl4pPr marR="0" lvl="3"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4pPr>
            <a:lvl5pPr marR="0" lvl="4"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5pPr>
            <a:lvl6pPr marR="0" lvl="5"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6pPr>
            <a:lvl7pPr marR="0" lvl="6"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7pPr>
            <a:lvl8pPr marR="0" lvl="7"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8pPr>
            <a:lvl9pPr marR="0" lvl="8"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9pPr>
          </a:lstStyle>
          <a:p>
            <a:endParaRPr/>
          </a:p>
        </p:txBody>
      </p:sp>
      <p:sp>
        <p:nvSpPr>
          <p:cNvPr id="162" name="Google Shape;162;p12"/>
          <p:cNvSpPr txBox="1"/>
          <p:nvPr/>
        </p:nvSpPr>
        <p:spPr>
          <a:xfrm>
            <a:off x="84600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63" name="Google Shape;163;p12"/>
          <p:cNvCxnSpPr>
            <a:stCxn id="164" idx="2"/>
          </p:cNvCxnSpPr>
          <p:nvPr/>
        </p:nvCxnSpPr>
        <p:spPr>
          <a:xfrm>
            <a:off x="86768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65" name="Google Shape;165;p12"/>
          <p:cNvSpPr/>
          <p:nvPr/>
        </p:nvSpPr>
        <p:spPr>
          <a:xfrm>
            <a:off x="86635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66" name="Google Shape;166;p12"/>
          <p:cNvCxnSpPr>
            <a:endCxn id="165" idx="2"/>
          </p:cNvCxnSpPr>
          <p:nvPr/>
        </p:nvCxnSpPr>
        <p:spPr>
          <a:xfrm rot="10800000">
            <a:off x="88641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67" name="Google Shape;167;p12"/>
          <p:cNvSpPr/>
          <p:nvPr/>
        </p:nvSpPr>
        <p:spPr>
          <a:xfrm rot="-5400000">
            <a:off x="85760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64" name="Google Shape;164;p12"/>
          <p:cNvSpPr/>
          <p:nvPr/>
        </p:nvSpPr>
        <p:spPr>
          <a:xfrm rot="-5400000" flipH="1">
            <a:off x="85760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68" name="Google Shape;168;p12"/>
          <p:cNvCxnSpPr>
            <a:stCxn id="167" idx="2"/>
            <a:endCxn id="165" idx="0"/>
          </p:cNvCxnSpPr>
          <p:nvPr/>
        </p:nvCxnSpPr>
        <p:spPr>
          <a:xfrm>
            <a:off x="86767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69" name="Google Shape;169;p12"/>
          <p:cNvSpPr/>
          <p:nvPr/>
        </p:nvSpPr>
        <p:spPr>
          <a:xfrm>
            <a:off x="497875" y="5649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70" name="Google Shape;170;p12"/>
          <p:cNvSpPr txBox="1"/>
          <p:nvPr/>
        </p:nvSpPr>
        <p:spPr>
          <a:xfrm rot="-5400000">
            <a:off x="-309195" y="423320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US" sz="600">
                <a:solidFill>
                  <a:srgbClr val="0E2356"/>
                </a:solidFill>
                <a:latin typeface="Outfit Medium"/>
                <a:ea typeface="Outfit Medium"/>
                <a:cs typeface="Outfit Medium"/>
                <a:sym typeface="Outfit Medium"/>
              </a:rPr>
              <a:t>THERE IS A BETTER WAY</a:t>
            </a:r>
            <a:endParaRPr sz="600" i="0" u="none" strike="noStrike" cap="none">
              <a:solidFill>
                <a:srgbClr val="0E2356"/>
              </a:solidFill>
              <a:latin typeface="Outfit Medium"/>
              <a:ea typeface="Outfit Medium"/>
              <a:cs typeface="Outfit Medium"/>
              <a:sym typeface="Outfit Medium"/>
            </a:endParaRPr>
          </a:p>
        </p:txBody>
      </p:sp>
      <p:sp>
        <p:nvSpPr>
          <p:cNvPr id="171" name="Google Shape;171;p12"/>
          <p:cNvSpPr txBox="1"/>
          <p:nvPr/>
        </p:nvSpPr>
        <p:spPr>
          <a:xfrm>
            <a:off x="2262425" y="20484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sp>
        <p:nvSpPr>
          <p:cNvPr id="172" name="Google Shape;172;p12"/>
          <p:cNvSpPr/>
          <p:nvPr/>
        </p:nvSpPr>
        <p:spPr>
          <a:xfrm flipH="1">
            <a:off x="841248" y="374725"/>
            <a:ext cx="499500" cy="433200"/>
          </a:xfrm>
          <a:prstGeom prst="round1Rect">
            <a:avLst>
              <a:gd name="adj" fmla="val 5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700" b="1" i="0" u="none" strike="noStrike" cap="none">
              <a:solidFill>
                <a:srgbClr val="000000"/>
              </a:solidFill>
              <a:latin typeface="Outfit"/>
              <a:ea typeface="Outfit"/>
              <a:cs typeface="Outfit"/>
              <a:sym typeface="Outfit"/>
            </a:endParaRPr>
          </a:p>
        </p:txBody>
      </p:sp>
      <p:grpSp>
        <p:nvGrpSpPr>
          <p:cNvPr id="173" name="Google Shape;173;p12"/>
          <p:cNvGrpSpPr/>
          <p:nvPr/>
        </p:nvGrpSpPr>
        <p:grpSpPr>
          <a:xfrm>
            <a:off x="1450811" y="508105"/>
            <a:ext cx="170063" cy="166438"/>
            <a:chOff x="6838242" y="518225"/>
            <a:chExt cx="1247708" cy="1221114"/>
          </a:xfrm>
        </p:grpSpPr>
        <p:sp>
          <p:nvSpPr>
            <p:cNvPr id="174" name="Google Shape;174;p12"/>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75" name="Google Shape;175;p12"/>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76" name="Google Shape;176;p12"/>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59 - There is a better way">
  <p:cSld name="59 - There is a better way">
    <p:bg>
      <p:bgPr>
        <a:solidFill>
          <a:schemeClr val="lt1"/>
        </a:solidFill>
        <a:effectLst/>
      </p:bgPr>
    </p:bg>
    <p:spTree>
      <p:nvGrpSpPr>
        <p:cNvPr id="1" name="Shape 177"/>
        <p:cNvGrpSpPr/>
        <p:nvPr/>
      </p:nvGrpSpPr>
      <p:grpSpPr>
        <a:xfrm>
          <a:off x="0" y="0"/>
          <a:ext cx="0" cy="0"/>
          <a:chOff x="0" y="0"/>
          <a:chExt cx="0" cy="0"/>
        </a:xfrm>
      </p:grpSpPr>
      <p:grpSp>
        <p:nvGrpSpPr>
          <p:cNvPr id="178" name="Google Shape;178;p13"/>
          <p:cNvGrpSpPr/>
          <p:nvPr/>
        </p:nvGrpSpPr>
        <p:grpSpPr>
          <a:xfrm>
            <a:off x="290068" y="235357"/>
            <a:ext cx="345989" cy="338615"/>
            <a:chOff x="6838242" y="518225"/>
            <a:chExt cx="1247708" cy="1221114"/>
          </a:xfrm>
        </p:grpSpPr>
        <p:sp>
          <p:nvSpPr>
            <p:cNvPr id="179" name="Google Shape;179;p13"/>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80" name="Google Shape;180;p13"/>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81" name="Google Shape;181;p13"/>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pic>
        <p:nvPicPr>
          <p:cNvPr id="182" name="Google Shape;182;p13"/>
          <p:cNvPicPr preferRelativeResize="0"/>
          <p:nvPr/>
        </p:nvPicPr>
        <p:blipFill>
          <a:blip r:embed="rId2">
            <a:alphaModFix/>
          </a:blip>
          <a:stretch>
            <a:fillRect/>
          </a:stretch>
        </p:blipFill>
        <p:spPr>
          <a:xfrm>
            <a:off x="3736975" y="3307206"/>
            <a:ext cx="1670077" cy="829069"/>
          </a:xfrm>
          <a:prstGeom prst="rect">
            <a:avLst/>
          </a:prstGeom>
          <a:noFill/>
          <a:ln>
            <a:noFill/>
          </a:ln>
        </p:spPr>
      </p:pic>
      <p:pic>
        <p:nvPicPr>
          <p:cNvPr id="183" name="Google Shape;183;p13"/>
          <p:cNvPicPr preferRelativeResize="0"/>
          <p:nvPr/>
        </p:nvPicPr>
        <p:blipFill rotWithShape="1">
          <a:blip r:embed="rId3">
            <a:alphaModFix/>
          </a:blip>
          <a:srcRect l="17993" t="18848" r="18089" b="13862"/>
          <a:stretch/>
        </p:blipFill>
        <p:spPr>
          <a:xfrm>
            <a:off x="3589050" y="1007225"/>
            <a:ext cx="1965925" cy="2069625"/>
          </a:xfrm>
          <a:prstGeom prst="rect">
            <a:avLst/>
          </a:prstGeom>
          <a:noFill/>
          <a:ln>
            <a:noFill/>
          </a:ln>
        </p:spPr>
      </p:pic>
      <p:sp>
        <p:nvSpPr>
          <p:cNvPr id="184" name="Google Shape;184;p13"/>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60 - Titre et visuel">
  <p:cSld name="60 - Titre et visuel">
    <p:bg>
      <p:bgPr>
        <a:solidFill>
          <a:schemeClr val="lt1"/>
        </a:solidFill>
        <a:effectLst/>
      </p:bgPr>
    </p:bg>
    <p:spTree>
      <p:nvGrpSpPr>
        <p:cNvPr id="1" name="Shape 185"/>
        <p:cNvGrpSpPr/>
        <p:nvPr/>
      </p:nvGrpSpPr>
      <p:grpSpPr>
        <a:xfrm>
          <a:off x="0" y="0"/>
          <a:ext cx="0" cy="0"/>
          <a:chOff x="0" y="0"/>
          <a:chExt cx="0" cy="0"/>
        </a:xfrm>
      </p:grpSpPr>
      <p:pic>
        <p:nvPicPr>
          <p:cNvPr id="186" name="Google Shape;186;p14"/>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187" name="Google Shape;187;p14"/>
          <p:cNvSpPr txBox="1">
            <a:spLocks noGrp="1"/>
          </p:cNvSpPr>
          <p:nvPr>
            <p:ph type="title"/>
          </p:nvPr>
        </p:nvSpPr>
        <p:spPr>
          <a:xfrm>
            <a:off x="562550" y="382375"/>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188" name="Google Shape;188;p14"/>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89" name="Google Shape;189;p14"/>
          <p:cNvCxnSpPr>
            <a:stCxn id="190"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91" name="Google Shape;191;p14"/>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92" name="Google Shape;192;p14"/>
          <p:cNvCxnSpPr>
            <a:endCxn id="191"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93" name="Google Shape;193;p14"/>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90" name="Google Shape;190;p14"/>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94" name="Google Shape;194;p14"/>
          <p:cNvCxnSpPr>
            <a:stCxn id="193" idx="2"/>
            <a:endCxn id="191"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95" name="Google Shape;195;p14"/>
          <p:cNvSpPr>
            <a:spLocks noGrp="1"/>
          </p:cNvSpPr>
          <p:nvPr>
            <p:ph type="pic" idx="2"/>
          </p:nvPr>
        </p:nvSpPr>
        <p:spPr>
          <a:xfrm>
            <a:off x="528800" y="732450"/>
            <a:ext cx="8019000" cy="4131600"/>
          </a:xfrm>
          <a:prstGeom prst="rect">
            <a:avLst/>
          </a:prstGeom>
          <a:noFill/>
          <a:ln w="9525" cap="flat" cmpd="sng">
            <a:solidFill>
              <a:srgbClr val="000000"/>
            </a:solidFill>
            <a:prstDash val="solid"/>
            <a:round/>
            <a:headEnd type="none" w="sm" len="sm"/>
            <a:tailEnd type="none" w="sm" len="sm"/>
          </a:ln>
        </p:spPr>
      </p:sp>
      <p:sp>
        <p:nvSpPr>
          <p:cNvPr id="196" name="Google Shape;196;p14"/>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61 - Titre, sous-titre et visuel">
  <p:cSld name="61 - Titre, sous-titre et visuel">
    <p:bg>
      <p:bgPr>
        <a:solidFill>
          <a:schemeClr val="lt1"/>
        </a:solidFill>
        <a:effectLst/>
      </p:bgPr>
    </p:bg>
    <p:spTree>
      <p:nvGrpSpPr>
        <p:cNvPr id="1" name="Shape 197"/>
        <p:cNvGrpSpPr/>
        <p:nvPr/>
      </p:nvGrpSpPr>
      <p:grpSpPr>
        <a:xfrm>
          <a:off x="0" y="0"/>
          <a:ext cx="0" cy="0"/>
          <a:chOff x="0" y="0"/>
          <a:chExt cx="0" cy="0"/>
        </a:xfrm>
      </p:grpSpPr>
      <p:sp>
        <p:nvSpPr>
          <p:cNvPr id="198" name="Google Shape;198;p15"/>
          <p:cNvSpPr/>
          <p:nvPr/>
        </p:nvSpPr>
        <p:spPr>
          <a:xfrm>
            <a:off x="213475" y="208900"/>
            <a:ext cx="8715600" cy="4728600"/>
          </a:xfrm>
          <a:prstGeom prst="roundRect">
            <a:avLst>
              <a:gd name="adj" fmla="val 1616"/>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pic>
        <p:nvPicPr>
          <p:cNvPr id="199" name="Google Shape;199;p15"/>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200" name="Google Shape;200;p15"/>
          <p:cNvSpPr txBox="1"/>
          <p:nvPr/>
        </p:nvSpPr>
        <p:spPr>
          <a:xfrm rot="-5400000">
            <a:off x="8770600" y="2458900"/>
            <a:ext cx="5487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fld id="{00000000-1234-1234-1234-123412341234}" type="slidenum">
              <a:rPr lang="en-US" sz="800" b="0" i="0" u="none" strike="noStrike" cap="none">
                <a:solidFill>
                  <a:schemeClr val="dk1"/>
                </a:solidFill>
                <a:latin typeface="Outfit Light"/>
                <a:ea typeface="Outfit Light"/>
                <a:cs typeface="Outfit Light"/>
                <a:sym typeface="Outfit Light"/>
              </a:rPr>
              <a:t>‹#›</a:t>
            </a:fld>
            <a:endParaRPr sz="800" b="0" i="0" u="none" strike="noStrike" cap="none">
              <a:solidFill>
                <a:schemeClr val="dk1"/>
              </a:solidFill>
              <a:latin typeface="Outfit Light"/>
              <a:ea typeface="Outfit Light"/>
              <a:cs typeface="Outfit Light"/>
              <a:sym typeface="Outfit Light"/>
            </a:endParaRPr>
          </a:p>
        </p:txBody>
      </p:sp>
      <p:sp>
        <p:nvSpPr>
          <p:cNvPr id="201" name="Google Shape;201;p15"/>
          <p:cNvSpPr txBox="1"/>
          <p:nvPr/>
        </p:nvSpPr>
        <p:spPr>
          <a:xfrm rot="-5400000">
            <a:off x="-514095" y="2533275"/>
            <a:ext cx="1236600" cy="21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50"/>
              <a:buFont typeface="Outfit"/>
              <a:buNone/>
            </a:pPr>
            <a:r>
              <a:rPr lang="en-US" sz="650" b="0" i="0" u="none" strike="noStrike" cap="none">
                <a:solidFill>
                  <a:schemeClr val="dk1"/>
                </a:solidFill>
                <a:latin typeface="Outfit"/>
                <a:ea typeface="Outfit"/>
                <a:cs typeface="Outfit"/>
                <a:sym typeface="Outfit"/>
              </a:rPr>
              <a:t>There is a better way</a:t>
            </a:r>
            <a:endParaRPr sz="650" b="0" i="0" u="none" strike="noStrike" cap="none">
              <a:solidFill>
                <a:schemeClr val="dk1"/>
              </a:solidFill>
              <a:latin typeface="Outfit"/>
              <a:ea typeface="Outfit"/>
              <a:cs typeface="Outfit"/>
              <a:sym typeface="Outfit"/>
            </a:endParaRPr>
          </a:p>
        </p:txBody>
      </p:sp>
      <p:sp>
        <p:nvSpPr>
          <p:cNvPr id="202" name="Google Shape;202;p15"/>
          <p:cNvSpPr/>
          <p:nvPr/>
        </p:nvSpPr>
        <p:spPr>
          <a:xfrm>
            <a:off x="6682750" y="4939025"/>
            <a:ext cx="2335200" cy="2046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600"/>
              <a:buFont typeface="Outfit"/>
              <a:buNone/>
            </a:pPr>
            <a:r>
              <a:rPr lang="en-US" sz="600" b="0" i="0" u="none" strike="noStrike" cap="none">
                <a:solidFill>
                  <a:schemeClr val="dk1"/>
                </a:solidFill>
                <a:latin typeface="Outfit"/>
                <a:ea typeface="Outfit"/>
                <a:cs typeface="Outfit"/>
                <a:sym typeface="Outfit"/>
              </a:rPr>
              <a:t>OCTO Part of Accenture © 2023- All rights reserved</a:t>
            </a:r>
            <a:endParaRPr sz="600" b="0" i="0" u="none" strike="noStrike" cap="none">
              <a:solidFill>
                <a:schemeClr val="dk1"/>
              </a:solidFill>
              <a:latin typeface="Outfit"/>
              <a:ea typeface="Outfit"/>
              <a:cs typeface="Outfit"/>
              <a:sym typeface="Outfit"/>
            </a:endParaRPr>
          </a:p>
        </p:txBody>
      </p:sp>
      <p:sp>
        <p:nvSpPr>
          <p:cNvPr id="203" name="Google Shape;203;p15"/>
          <p:cNvSpPr txBox="1">
            <a:spLocks noGrp="1"/>
          </p:cNvSpPr>
          <p:nvPr>
            <p:ph type="title"/>
          </p:nvPr>
        </p:nvSpPr>
        <p:spPr>
          <a:xfrm>
            <a:off x="574050" y="361400"/>
            <a:ext cx="80079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204" name="Google Shape;204;p15"/>
          <p:cNvSpPr txBox="1">
            <a:spLocks noGrp="1"/>
          </p:cNvSpPr>
          <p:nvPr>
            <p:ph type="subTitle" idx="1"/>
          </p:nvPr>
        </p:nvSpPr>
        <p:spPr>
          <a:xfrm>
            <a:off x="557250" y="830200"/>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205" name="Google Shape;205;p15"/>
          <p:cNvSpPr>
            <a:spLocks noGrp="1"/>
          </p:cNvSpPr>
          <p:nvPr>
            <p:ph type="pic" idx="2"/>
          </p:nvPr>
        </p:nvSpPr>
        <p:spPr>
          <a:xfrm>
            <a:off x="545225" y="1257950"/>
            <a:ext cx="8041500" cy="3606600"/>
          </a:xfrm>
          <a:prstGeom prst="rect">
            <a:avLst/>
          </a:prstGeom>
          <a:noFill/>
          <a:ln>
            <a:noFill/>
          </a:ln>
        </p:spPr>
      </p:sp>
      <p:sp>
        <p:nvSpPr>
          <p:cNvPr id="206" name="Google Shape;206;p15"/>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62 - Visuel seul">
  <p:cSld name="62 - Visuel seul">
    <p:bg>
      <p:bgPr>
        <a:solidFill>
          <a:schemeClr val="lt1"/>
        </a:solidFill>
        <a:effectLst/>
      </p:bgPr>
    </p:bg>
    <p:spTree>
      <p:nvGrpSpPr>
        <p:cNvPr id="1" name="Shape 207"/>
        <p:cNvGrpSpPr/>
        <p:nvPr/>
      </p:nvGrpSpPr>
      <p:grpSpPr>
        <a:xfrm>
          <a:off x="0" y="0"/>
          <a:ext cx="0" cy="0"/>
          <a:chOff x="0" y="0"/>
          <a:chExt cx="0" cy="0"/>
        </a:xfrm>
      </p:grpSpPr>
      <p:pic>
        <p:nvPicPr>
          <p:cNvPr id="208" name="Google Shape;208;p16"/>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209" name="Google Shape;209;p16"/>
          <p:cNvSpPr>
            <a:spLocks noGrp="1"/>
          </p:cNvSpPr>
          <p:nvPr>
            <p:ph type="pic" idx="2"/>
          </p:nvPr>
        </p:nvSpPr>
        <p:spPr>
          <a:xfrm>
            <a:off x="3275" y="-23000"/>
            <a:ext cx="9144000" cy="5143500"/>
          </a:xfrm>
          <a:prstGeom prst="rect">
            <a:avLst/>
          </a:prstGeom>
          <a:noFill/>
          <a:ln>
            <a:noFill/>
          </a:ln>
        </p:spPr>
      </p:sp>
      <p:sp>
        <p:nvSpPr>
          <p:cNvPr id="210" name="Google Shape;210;p16"/>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63 - Titre, contenu et visuel à droite - cadre blanc">
  <p:cSld name="63 - Titre, contenu et visuel à droite - cadre blanc">
    <p:spTree>
      <p:nvGrpSpPr>
        <p:cNvPr id="1" name="Shape 211"/>
        <p:cNvGrpSpPr/>
        <p:nvPr/>
      </p:nvGrpSpPr>
      <p:grpSpPr>
        <a:xfrm>
          <a:off x="0" y="0"/>
          <a:ext cx="0" cy="0"/>
          <a:chOff x="0" y="0"/>
          <a:chExt cx="0" cy="0"/>
        </a:xfrm>
      </p:grpSpPr>
      <p:grpSp>
        <p:nvGrpSpPr>
          <p:cNvPr id="212" name="Google Shape;212;p17"/>
          <p:cNvGrpSpPr/>
          <p:nvPr/>
        </p:nvGrpSpPr>
        <p:grpSpPr>
          <a:xfrm>
            <a:off x="6270019" y="304800"/>
            <a:ext cx="2593200" cy="3705000"/>
            <a:chOff x="6270019" y="304800"/>
            <a:chExt cx="2593200" cy="3705000"/>
          </a:xfrm>
        </p:grpSpPr>
        <p:sp>
          <p:nvSpPr>
            <p:cNvPr id="213" name="Google Shape;213;p17"/>
            <p:cNvSpPr/>
            <p:nvPr/>
          </p:nvSpPr>
          <p:spPr>
            <a:xfrm>
              <a:off x="6270019" y="304800"/>
              <a:ext cx="2593200" cy="3705000"/>
            </a:xfrm>
            <a:prstGeom prst="round2DiagRect">
              <a:avLst>
                <a:gd name="adj1" fmla="val 50000"/>
                <a:gd name="adj2" fmla="val 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4" name="Google Shape;214;p17"/>
            <p:cNvSpPr txBox="1"/>
            <p:nvPr/>
          </p:nvSpPr>
          <p:spPr>
            <a:xfrm>
              <a:off x="7110475" y="1593700"/>
              <a:ext cx="800100" cy="1046700"/>
            </a:xfrm>
            <a:prstGeom prst="rect">
              <a:avLst/>
            </a:prstGeom>
            <a:solidFill>
              <a:schemeClr val="accent6"/>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215" name="Google Shape;215;p17"/>
          <p:cNvGrpSpPr/>
          <p:nvPr/>
        </p:nvGrpSpPr>
        <p:grpSpPr>
          <a:xfrm>
            <a:off x="276303" y="295049"/>
            <a:ext cx="8682472" cy="4585476"/>
            <a:chOff x="276303" y="295049"/>
            <a:chExt cx="8682472" cy="4585476"/>
          </a:xfrm>
        </p:grpSpPr>
        <p:sp>
          <p:nvSpPr>
            <p:cNvPr id="216" name="Google Shape;216;p17"/>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7" name="Google Shape;217;p17"/>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18" name="Google Shape;218;p17"/>
            <p:cNvCxnSpPr>
              <a:stCxn id="219"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20" name="Google Shape;220;p17"/>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21" name="Google Shape;221;p17"/>
            <p:cNvCxnSpPr>
              <a:endCxn id="220"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22" name="Google Shape;222;p17"/>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9" name="Google Shape;219;p17"/>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23" name="Google Shape;223;p17"/>
            <p:cNvCxnSpPr>
              <a:stCxn id="222" idx="2"/>
              <a:endCxn id="220"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224" name="Google Shape;224;p17"/>
          <p:cNvSpPr txBox="1">
            <a:spLocks noGrp="1"/>
          </p:cNvSpPr>
          <p:nvPr>
            <p:ph type="body" idx="1"/>
          </p:nvPr>
        </p:nvSpPr>
        <p:spPr>
          <a:xfrm>
            <a:off x="562825" y="817275"/>
            <a:ext cx="5305500" cy="4052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25" name="Google Shape;225;p17"/>
          <p:cNvSpPr txBox="1">
            <a:spLocks noGrp="1"/>
          </p:cNvSpPr>
          <p:nvPr>
            <p:ph type="title"/>
          </p:nvPr>
        </p:nvSpPr>
        <p:spPr>
          <a:xfrm>
            <a:off x="562825" y="357529"/>
            <a:ext cx="5305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grpSp>
        <p:nvGrpSpPr>
          <p:cNvPr id="226" name="Google Shape;226;p17"/>
          <p:cNvGrpSpPr/>
          <p:nvPr/>
        </p:nvGrpSpPr>
        <p:grpSpPr>
          <a:xfrm>
            <a:off x="364209" y="292130"/>
            <a:ext cx="82155" cy="82230"/>
            <a:chOff x="7483200" y="518225"/>
            <a:chExt cx="602750" cy="603300"/>
          </a:xfrm>
        </p:grpSpPr>
        <p:sp>
          <p:nvSpPr>
            <p:cNvPr id="227" name="Google Shape;227;p17"/>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28" name="Google Shape;228;p17"/>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229" name="Google Shape;229;p17"/>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64 - Titre, sous-titre, contenu et visuel à droite - cadre blanc">
  <p:cSld name="64 - Titre, sous-titre, contenu et visuel à droite - cadre blanc">
    <p:spTree>
      <p:nvGrpSpPr>
        <p:cNvPr id="1" name="Shape 230"/>
        <p:cNvGrpSpPr/>
        <p:nvPr/>
      </p:nvGrpSpPr>
      <p:grpSpPr>
        <a:xfrm>
          <a:off x="0" y="0"/>
          <a:ext cx="0" cy="0"/>
          <a:chOff x="0" y="0"/>
          <a:chExt cx="0" cy="0"/>
        </a:xfrm>
      </p:grpSpPr>
      <p:grpSp>
        <p:nvGrpSpPr>
          <p:cNvPr id="231" name="Google Shape;231;p18"/>
          <p:cNvGrpSpPr/>
          <p:nvPr/>
        </p:nvGrpSpPr>
        <p:grpSpPr>
          <a:xfrm>
            <a:off x="6270019" y="304800"/>
            <a:ext cx="2593200" cy="3705000"/>
            <a:chOff x="6270019" y="304800"/>
            <a:chExt cx="2593200" cy="3705000"/>
          </a:xfrm>
        </p:grpSpPr>
        <p:sp>
          <p:nvSpPr>
            <p:cNvPr id="232" name="Google Shape;232;p18"/>
            <p:cNvSpPr/>
            <p:nvPr/>
          </p:nvSpPr>
          <p:spPr>
            <a:xfrm>
              <a:off x="6270019" y="304800"/>
              <a:ext cx="2593200" cy="3705000"/>
            </a:xfrm>
            <a:prstGeom prst="round2DiagRect">
              <a:avLst>
                <a:gd name="adj1" fmla="val 50000"/>
                <a:gd name="adj2" fmla="val 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33" name="Google Shape;233;p18"/>
            <p:cNvSpPr txBox="1"/>
            <p:nvPr/>
          </p:nvSpPr>
          <p:spPr>
            <a:xfrm>
              <a:off x="7110475" y="1593700"/>
              <a:ext cx="800100" cy="1046700"/>
            </a:xfrm>
            <a:prstGeom prst="rect">
              <a:avLst/>
            </a:prstGeom>
            <a:solidFill>
              <a:schemeClr val="accent6"/>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234" name="Google Shape;234;p18"/>
          <p:cNvGrpSpPr/>
          <p:nvPr/>
        </p:nvGrpSpPr>
        <p:grpSpPr>
          <a:xfrm>
            <a:off x="276303" y="295049"/>
            <a:ext cx="8682472" cy="4585476"/>
            <a:chOff x="276303" y="295049"/>
            <a:chExt cx="8682472" cy="4585476"/>
          </a:xfrm>
        </p:grpSpPr>
        <p:cxnSp>
          <p:nvCxnSpPr>
            <p:cNvPr id="235" name="Google Shape;235;p18"/>
            <p:cNvCxnSpPr>
              <a:stCxn id="236" idx="2"/>
              <a:endCxn id="237"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nvGrpSpPr>
            <p:cNvPr id="238" name="Google Shape;238;p18"/>
            <p:cNvGrpSpPr/>
            <p:nvPr/>
          </p:nvGrpSpPr>
          <p:grpSpPr>
            <a:xfrm>
              <a:off x="276303" y="295049"/>
              <a:ext cx="8682472" cy="4585476"/>
              <a:chOff x="276303" y="295049"/>
              <a:chExt cx="8682472" cy="4585476"/>
            </a:xfrm>
          </p:grpSpPr>
          <p:sp>
            <p:nvSpPr>
              <p:cNvPr id="239" name="Google Shape;239;p18"/>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40" name="Google Shape;240;p18"/>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41" name="Google Shape;241;p18"/>
              <p:cNvCxnSpPr>
                <a:stCxn id="242"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37" name="Google Shape;237;p18"/>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43" name="Google Shape;243;p18"/>
              <p:cNvCxnSpPr>
                <a:endCxn id="237"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36" name="Google Shape;236;p18"/>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42" name="Google Shape;242;p18"/>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grpSp>
      <p:sp>
        <p:nvSpPr>
          <p:cNvPr id="244" name="Google Shape;244;p18"/>
          <p:cNvSpPr txBox="1">
            <a:spLocks noGrp="1"/>
          </p:cNvSpPr>
          <p:nvPr>
            <p:ph type="body" idx="1"/>
          </p:nvPr>
        </p:nvSpPr>
        <p:spPr>
          <a:xfrm>
            <a:off x="562800" y="1273200"/>
            <a:ext cx="5305500" cy="3591600"/>
          </a:xfrm>
          <a:prstGeom prst="rect">
            <a:avLst/>
          </a:prstGeom>
          <a:noFill/>
          <a:ln>
            <a:noFill/>
          </a:ln>
        </p:spPr>
        <p:txBody>
          <a:bodyPr spcFirstLastPara="1" wrap="square" lIns="0" tIns="180000" rIns="0"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45" name="Google Shape;245;p18"/>
          <p:cNvSpPr txBox="1">
            <a:spLocks noGrp="1"/>
          </p:cNvSpPr>
          <p:nvPr>
            <p:ph type="subTitle" idx="2"/>
          </p:nvPr>
        </p:nvSpPr>
        <p:spPr>
          <a:xfrm>
            <a:off x="571015" y="778000"/>
            <a:ext cx="5305500" cy="3240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246" name="Google Shape;246;p18"/>
          <p:cNvSpPr txBox="1">
            <a:spLocks noGrp="1"/>
          </p:cNvSpPr>
          <p:nvPr>
            <p:ph type="title"/>
          </p:nvPr>
        </p:nvSpPr>
        <p:spPr>
          <a:xfrm>
            <a:off x="562825" y="361400"/>
            <a:ext cx="5305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grpSp>
        <p:nvGrpSpPr>
          <p:cNvPr id="247" name="Google Shape;247;p18"/>
          <p:cNvGrpSpPr/>
          <p:nvPr/>
        </p:nvGrpSpPr>
        <p:grpSpPr>
          <a:xfrm>
            <a:off x="276301" y="295049"/>
            <a:ext cx="163560" cy="163519"/>
            <a:chOff x="6838242" y="539639"/>
            <a:chExt cx="1200000" cy="1199700"/>
          </a:xfrm>
        </p:grpSpPr>
        <p:sp>
          <p:nvSpPr>
            <p:cNvPr id="248" name="Google Shape;248;p18"/>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49" name="Google Shape;249;p18"/>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250" name="Google Shape;250;p18"/>
          <p:cNvSpPr/>
          <p:nvPr/>
        </p:nvSpPr>
        <p:spPr>
          <a:xfrm>
            <a:off x="417004" y="292130"/>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1" name="Google Shape;251;p18"/>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65 - Titre, contenu, visuel à droite et bloc conclu - cadre blanc">
  <p:cSld name="65 - Titre, contenu, visuel à droite et bloc conclu - cadre blanc">
    <p:spTree>
      <p:nvGrpSpPr>
        <p:cNvPr id="1" name="Shape 252"/>
        <p:cNvGrpSpPr/>
        <p:nvPr/>
      </p:nvGrpSpPr>
      <p:grpSpPr>
        <a:xfrm>
          <a:off x="0" y="0"/>
          <a:ext cx="0" cy="0"/>
          <a:chOff x="0" y="0"/>
          <a:chExt cx="0" cy="0"/>
        </a:xfrm>
      </p:grpSpPr>
      <p:grpSp>
        <p:nvGrpSpPr>
          <p:cNvPr id="253" name="Google Shape;253;p19"/>
          <p:cNvGrpSpPr/>
          <p:nvPr/>
        </p:nvGrpSpPr>
        <p:grpSpPr>
          <a:xfrm rot="10800000">
            <a:off x="5754900" y="3471525"/>
            <a:ext cx="1392300" cy="1392300"/>
            <a:chOff x="7475475" y="301725"/>
            <a:chExt cx="1392300" cy="1392300"/>
          </a:xfrm>
        </p:grpSpPr>
        <p:sp>
          <p:nvSpPr>
            <p:cNvPr id="254" name="Google Shape;254;p19"/>
            <p:cNvSpPr/>
            <p:nvPr/>
          </p:nvSpPr>
          <p:spPr>
            <a:xfrm rot="10800000">
              <a:off x="7475475" y="301725"/>
              <a:ext cx="1392300" cy="1392300"/>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5" name="Google Shape;255;p19"/>
            <p:cNvSpPr txBox="1"/>
            <p:nvPr/>
          </p:nvSpPr>
          <p:spPr>
            <a:xfrm rot="10800000">
              <a:off x="7776288" y="55385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256" name="Google Shape;256;p19"/>
          <p:cNvSpPr/>
          <p:nvPr/>
        </p:nvSpPr>
        <p:spPr>
          <a:xfrm>
            <a:off x="6549661" y="30172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257" name="Google Shape;257;p19"/>
          <p:cNvGrpSpPr/>
          <p:nvPr/>
        </p:nvGrpSpPr>
        <p:grpSpPr>
          <a:xfrm>
            <a:off x="276303" y="295049"/>
            <a:ext cx="8682472" cy="4585476"/>
            <a:chOff x="276303" y="295049"/>
            <a:chExt cx="8682472" cy="4585476"/>
          </a:xfrm>
        </p:grpSpPr>
        <p:sp>
          <p:nvSpPr>
            <p:cNvPr id="258" name="Google Shape;258;p19"/>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59" name="Google Shape;259;p19"/>
            <p:cNvCxnSpPr>
              <a:stCxn id="260"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61" name="Google Shape;261;p19"/>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62" name="Google Shape;262;p19"/>
            <p:cNvCxnSpPr>
              <a:endCxn id="261"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63" name="Google Shape;263;p19"/>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60" name="Google Shape;260;p19"/>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64" name="Google Shape;264;p19"/>
            <p:cNvCxnSpPr>
              <a:stCxn id="263" idx="2"/>
              <a:endCxn id="261"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265" name="Google Shape;265;p19"/>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grpSp>
      <p:sp>
        <p:nvSpPr>
          <p:cNvPr id="266" name="Google Shape;266;p19"/>
          <p:cNvSpPr txBox="1">
            <a:spLocks noGrp="1"/>
          </p:cNvSpPr>
          <p:nvPr>
            <p:ph type="body" idx="1"/>
          </p:nvPr>
        </p:nvSpPr>
        <p:spPr>
          <a:xfrm>
            <a:off x="562775" y="817275"/>
            <a:ext cx="4790400" cy="4052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67" name="Google Shape;267;p19"/>
          <p:cNvSpPr txBox="1">
            <a:spLocks noGrp="1"/>
          </p:cNvSpPr>
          <p:nvPr>
            <p:ph type="title"/>
          </p:nvPr>
        </p:nvSpPr>
        <p:spPr>
          <a:xfrm>
            <a:off x="562825" y="361375"/>
            <a:ext cx="47904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268" name="Google Shape;268;p19"/>
          <p:cNvSpPr txBox="1">
            <a:spLocks noGrp="1"/>
          </p:cNvSpPr>
          <p:nvPr>
            <p:ph type="body" idx="2"/>
          </p:nvPr>
        </p:nvSpPr>
        <p:spPr>
          <a:xfrm>
            <a:off x="6920978" y="765250"/>
            <a:ext cx="1699500" cy="2085900"/>
          </a:xfrm>
          <a:prstGeom prst="rect">
            <a:avLst/>
          </a:prstGeom>
          <a:noFill/>
          <a:ln>
            <a:noFill/>
          </a:ln>
        </p:spPr>
        <p:txBody>
          <a:bodyPr spcFirstLastPara="1" wrap="square" lIns="0"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cxnSp>
        <p:nvCxnSpPr>
          <p:cNvPr id="269" name="Google Shape;269;p19"/>
          <p:cNvCxnSpPr/>
          <p:nvPr/>
        </p:nvCxnSpPr>
        <p:spPr>
          <a:xfrm>
            <a:off x="8867775" y="434100"/>
            <a:ext cx="0" cy="1588800"/>
          </a:xfrm>
          <a:prstGeom prst="straightConnector1">
            <a:avLst/>
          </a:prstGeom>
          <a:noFill/>
          <a:ln w="9525" cap="flat" cmpd="sng">
            <a:solidFill>
              <a:schemeClr val="dk2"/>
            </a:solidFill>
            <a:prstDash val="solid"/>
            <a:round/>
            <a:headEnd type="none" w="med" len="med"/>
            <a:tailEnd type="none" w="med" len="med"/>
          </a:ln>
        </p:spPr>
      </p:cxnSp>
      <p:sp>
        <p:nvSpPr>
          <p:cNvPr id="270" name="Google Shape;270;p19"/>
          <p:cNvSpPr/>
          <p:nvPr/>
        </p:nvSpPr>
        <p:spPr>
          <a:xfrm>
            <a:off x="417004" y="292130"/>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71" name="Google Shape;271;p19"/>
          <p:cNvSpPr/>
          <p:nvPr/>
        </p:nvSpPr>
        <p:spPr>
          <a:xfrm>
            <a:off x="364209" y="345001"/>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72" name="Google Shape;272;p19"/>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66 - Titre, sous-titre, contenu, visuel à droite et bloc conclu - cadre blanc">
  <p:cSld name="66 - Titre, sous-titre, contenu, visuel à droite et bloc conclu - cadre blanc">
    <p:spTree>
      <p:nvGrpSpPr>
        <p:cNvPr id="1" name="Shape 273"/>
        <p:cNvGrpSpPr/>
        <p:nvPr/>
      </p:nvGrpSpPr>
      <p:grpSpPr>
        <a:xfrm>
          <a:off x="0" y="0"/>
          <a:ext cx="0" cy="0"/>
          <a:chOff x="0" y="0"/>
          <a:chExt cx="0" cy="0"/>
        </a:xfrm>
      </p:grpSpPr>
      <p:sp>
        <p:nvSpPr>
          <p:cNvPr id="274" name="Google Shape;274;p20"/>
          <p:cNvSpPr txBox="1">
            <a:spLocks noGrp="1"/>
          </p:cNvSpPr>
          <p:nvPr>
            <p:ph type="body" idx="1"/>
          </p:nvPr>
        </p:nvSpPr>
        <p:spPr>
          <a:xfrm>
            <a:off x="562825" y="1267800"/>
            <a:ext cx="4790400" cy="3596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75" name="Google Shape;275;p20"/>
          <p:cNvSpPr txBox="1">
            <a:spLocks noGrp="1"/>
          </p:cNvSpPr>
          <p:nvPr>
            <p:ph type="subTitle" idx="2"/>
          </p:nvPr>
        </p:nvSpPr>
        <p:spPr>
          <a:xfrm>
            <a:off x="571015" y="777619"/>
            <a:ext cx="47904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276" name="Google Shape;276;p20"/>
          <p:cNvSpPr txBox="1">
            <a:spLocks noGrp="1"/>
          </p:cNvSpPr>
          <p:nvPr>
            <p:ph type="title"/>
          </p:nvPr>
        </p:nvSpPr>
        <p:spPr>
          <a:xfrm>
            <a:off x="562825" y="367000"/>
            <a:ext cx="4790400" cy="3240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grpSp>
        <p:nvGrpSpPr>
          <p:cNvPr id="277" name="Google Shape;277;p20"/>
          <p:cNvGrpSpPr/>
          <p:nvPr/>
        </p:nvGrpSpPr>
        <p:grpSpPr>
          <a:xfrm>
            <a:off x="276301" y="292130"/>
            <a:ext cx="8682474" cy="4588395"/>
            <a:chOff x="276301" y="292130"/>
            <a:chExt cx="8682474" cy="4588395"/>
          </a:xfrm>
        </p:grpSpPr>
        <p:grpSp>
          <p:nvGrpSpPr>
            <p:cNvPr id="278" name="Google Shape;278;p20"/>
            <p:cNvGrpSpPr/>
            <p:nvPr/>
          </p:nvGrpSpPr>
          <p:grpSpPr>
            <a:xfrm>
              <a:off x="276301" y="292130"/>
              <a:ext cx="170063" cy="166438"/>
              <a:chOff x="6838242" y="518225"/>
              <a:chExt cx="1247708" cy="1221114"/>
            </a:xfrm>
          </p:grpSpPr>
          <p:sp>
            <p:nvSpPr>
              <p:cNvPr id="279" name="Google Shape;279;p20"/>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80" name="Google Shape;280;p20"/>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81" name="Google Shape;281;p20"/>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282" name="Google Shape;282;p20"/>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83" name="Google Shape;283;p20"/>
            <p:cNvCxnSpPr>
              <a:stCxn id="284"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85" name="Google Shape;285;p20"/>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86" name="Google Shape;286;p20"/>
            <p:cNvCxnSpPr>
              <a:endCxn id="285"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87" name="Google Shape;287;p20"/>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84" name="Google Shape;284;p20"/>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88" name="Google Shape;288;p20"/>
            <p:cNvCxnSpPr>
              <a:stCxn id="287" idx="2"/>
              <a:endCxn id="285"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grpSp>
        <p:nvGrpSpPr>
          <p:cNvPr id="289" name="Google Shape;289;p20"/>
          <p:cNvGrpSpPr/>
          <p:nvPr/>
        </p:nvGrpSpPr>
        <p:grpSpPr>
          <a:xfrm rot="10800000">
            <a:off x="5754902" y="3471525"/>
            <a:ext cx="1392300" cy="1392300"/>
            <a:chOff x="7475475" y="301725"/>
            <a:chExt cx="1392300" cy="1392300"/>
          </a:xfrm>
        </p:grpSpPr>
        <p:sp>
          <p:nvSpPr>
            <p:cNvPr id="290" name="Google Shape;290;p20"/>
            <p:cNvSpPr/>
            <p:nvPr/>
          </p:nvSpPr>
          <p:spPr>
            <a:xfrm rot="10800000">
              <a:off x="7475475" y="301725"/>
              <a:ext cx="1392300" cy="1392300"/>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91" name="Google Shape;291;p20"/>
            <p:cNvSpPr txBox="1"/>
            <p:nvPr/>
          </p:nvSpPr>
          <p:spPr>
            <a:xfrm rot="10800000">
              <a:off x="7776288" y="55385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292" name="Google Shape;292;p20"/>
          <p:cNvSpPr/>
          <p:nvPr/>
        </p:nvSpPr>
        <p:spPr>
          <a:xfrm>
            <a:off x="6543075" y="30172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93" name="Google Shape;293;p20"/>
          <p:cNvSpPr txBox="1">
            <a:spLocks noGrp="1"/>
          </p:cNvSpPr>
          <p:nvPr>
            <p:ph type="body" idx="3"/>
          </p:nvPr>
        </p:nvSpPr>
        <p:spPr>
          <a:xfrm>
            <a:off x="6920975" y="765250"/>
            <a:ext cx="1699500" cy="2085900"/>
          </a:xfrm>
          <a:prstGeom prst="rect">
            <a:avLst/>
          </a:prstGeom>
          <a:noFill/>
          <a:ln>
            <a:noFill/>
          </a:ln>
        </p:spPr>
        <p:txBody>
          <a:bodyPr spcFirstLastPara="1" wrap="square" lIns="0"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cxnSp>
        <p:nvCxnSpPr>
          <p:cNvPr id="294" name="Google Shape;294;p20"/>
          <p:cNvCxnSpPr/>
          <p:nvPr/>
        </p:nvCxnSpPr>
        <p:spPr>
          <a:xfrm>
            <a:off x="8867775" y="434100"/>
            <a:ext cx="0" cy="1588800"/>
          </a:xfrm>
          <a:prstGeom prst="straightConnector1">
            <a:avLst/>
          </a:prstGeom>
          <a:noFill/>
          <a:ln w="9525" cap="flat" cmpd="sng">
            <a:solidFill>
              <a:schemeClr val="dk2"/>
            </a:solidFill>
            <a:prstDash val="solid"/>
            <a:round/>
            <a:headEnd type="none" w="med" len="med"/>
            <a:tailEnd type="none" w="med" len="med"/>
          </a:ln>
        </p:spPr>
      </p:cxnSp>
      <p:sp>
        <p:nvSpPr>
          <p:cNvPr id="295" name="Google Shape;295;p20"/>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67 - Titre, contenu et visuel à gauche - cadre blanc">
  <p:cSld name="67 - Titre, contenu et visuel à gauche - cadre blanc">
    <p:spTree>
      <p:nvGrpSpPr>
        <p:cNvPr id="1" name="Shape 296"/>
        <p:cNvGrpSpPr/>
        <p:nvPr/>
      </p:nvGrpSpPr>
      <p:grpSpPr>
        <a:xfrm>
          <a:off x="0" y="0"/>
          <a:ext cx="0" cy="0"/>
          <a:chOff x="0" y="0"/>
          <a:chExt cx="0" cy="0"/>
        </a:xfrm>
      </p:grpSpPr>
      <p:sp>
        <p:nvSpPr>
          <p:cNvPr id="297" name="Google Shape;297;p21"/>
          <p:cNvSpPr txBox="1">
            <a:spLocks noGrp="1"/>
          </p:cNvSpPr>
          <p:nvPr>
            <p:ph type="title"/>
          </p:nvPr>
        </p:nvSpPr>
        <p:spPr>
          <a:xfrm>
            <a:off x="3440825" y="359479"/>
            <a:ext cx="51366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
        <p:nvSpPr>
          <p:cNvPr id="298" name="Google Shape;298;p21"/>
          <p:cNvSpPr txBox="1">
            <a:spLocks noGrp="1"/>
          </p:cNvSpPr>
          <p:nvPr>
            <p:ph type="body" idx="1"/>
          </p:nvPr>
        </p:nvSpPr>
        <p:spPr>
          <a:xfrm>
            <a:off x="3440825" y="817275"/>
            <a:ext cx="5136600" cy="40476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grpSp>
        <p:nvGrpSpPr>
          <p:cNvPr id="299" name="Google Shape;299;p21"/>
          <p:cNvGrpSpPr/>
          <p:nvPr/>
        </p:nvGrpSpPr>
        <p:grpSpPr>
          <a:xfrm>
            <a:off x="571494" y="306825"/>
            <a:ext cx="2593200" cy="3705000"/>
            <a:chOff x="-2696606" y="304800"/>
            <a:chExt cx="2593200" cy="3705000"/>
          </a:xfrm>
        </p:grpSpPr>
        <p:sp>
          <p:nvSpPr>
            <p:cNvPr id="300" name="Google Shape;300;p21"/>
            <p:cNvSpPr/>
            <p:nvPr/>
          </p:nvSpPr>
          <p:spPr>
            <a:xfrm>
              <a:off x="-2696606" y="304800"/>
              <a:ext cx="2593200" cy="3705000"/>
            </a:xfrm>
            <a:prstGeom prst="round2DiagRect">
              <a:avLst>
                <a:gd name="adj1" fmla="val 50000"/>
                <a:gd name="adj2" fmla="val 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1" name="Google Shape;301;p21"/>
            <p:cNvSpPr txBox="1"/>
            <p:nvPr/>
          </p:nvSpPr>
          <p:spPr>
            <a:xfrm>
              <a:off x="-1856150"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302" name="Google Shape;302;p21"/>
          <p:cNvGrpSpPr/>
          <p:nvPr/>
        </p:nvGrpSpPr>
        <p:grpSpPr>
          <a:xfrm>
            <a:off x="276301" y="292130"/>
            <a:ext cx="8682474" cy="4588395"/>
            <a:chOff x="276301" y="292130"/>
            <a:chExt cx="8682474" cy="4588395"/>
          </a:xfrm>
        </p:grpSpPr>
        <p:grpSp>
          <p:nvGrpSpPr>
            <p:cNvPr id="303" name="Google Shape;303;p21"/>
            <p:cNvGrpSpPr/>
            <p:nvPr/>
          </p:nvGrpSpPr>
          <p:grpSpPr>
            <a:xfrm>
              <a:off x="276301" y="292130"/>
              <a:ext cx="170063" cy="166438"/>
              <a:chOff x="6838242" y="518225"/>
              <a:chExt cx="1247708" cy="1221114"/>
            </a:xfrm>
          </p:grpSpPr>
          <p:sp>
            <p:nvSpPr>
              <p:cNvPr id="304" name="Google Shape;304;p2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5" name="Google Shape;305;p21"/>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6" name="Google Shape;306;p2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07" name="Google Shape;307;p21"/>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08" name="Google Shape;308;p21"/>
            <p:cNvCxnSpPr>
              <a:stCxn id="309"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10" name="Google Shape;310;p21"/>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11" name="Google Shape;311;p21"/>
            <p:cNvCxnSpPr>
              <a:endCxn id="310"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12" name="Google Shape;312;p21"/>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9" name="Google Shape;309;p21"/>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13" name="Google Shape;313;p21"/>
            <p:cNvCxnSpPr>
              <a:stCxn id="312" idx="2"/>
              <a:endCxn id="310"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314" name="Google Shape;314;p21"/>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68 - Titre, sous-titre, contenu et visuel à gauche - cadre blanc">
  <p:cSld name="68 - Titre, sous-titre, contenu et visuel à gauche - cadre blanc">
    <p:spTree>
      <p:nvGrpSpPr>
        <p:cNvPr id="1" name="Shape 315"/>
        <p:cNvGrpSpPr/>
        <p:nvPr/>
      </p:nvGrpSpPr>
      <p:grpSpPr>
        <a:xfrm>
          <a:off x="0" y="0"/>
          <a:ext cx="0" cy="0"/>
          <a:chOff x="0" y="0"/>
          <a:chExt cx="0" cy="0"/>
        </a:xfrm>
      </p:grpSpPr>
      <p:sp>
        <p:nvSpPr>
          <p:cNvPr id="316" name="Google Shape;316;p22"/>
          <p:cNvSpPr/>
          <p:nvPr/>
        </p:nvSpPr>
        <p:spPr>
          <a:xfrm rot="5400000" flipH="1">
            <a:off x="4143250" y="131125"/>
            <a:ext cx="4709400" cy="4865400"/>
          </a:xfrm>
          <a:prstGeom prst="round2SameRect">
            <a:avLst>
              <a:gd name="adj1" fmla="val 1367"/>
              <a:gd name="adj2" fmla="val 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17" name="Google Shape;317;p22"/>
          <p:cNvSpPr txBox="1">
            <a:spLocks noGrp="1"/>
          </p:cNvSpPr>
          <p:nvPr>
            <p:ph type="subTitle" idx="1"/>
          </p:nvPr>
        </p:nvSpPr>
        <p:spPr>
          <a:xfrm>
            <a:off x="3442450" y="779144"/>
            <a:ext cx="5139300" cy="3042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18" name="Google Shape;318;p22"/>
          <p:cNvSpPr txBox="1">
            <a:spLocks noGrp="1"/>
          </p:cNvSpPr>
          <p:nvPr>
            <p:ph type="body" idx="2"/>
          </p:nvPr>
        </p:nvSpPr>
        <p:spPr>
          <a:xfrm>
            <a:off x="3438150" y="1271025"/>
            <a:ext cx="5139300" cy="35937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19" name="Google Shape;319;p22"/>
          <p:cNvSpPr txBox="1">
            <a:spLocks noGrp="1"/>
          </p:cNvSpPr>
          <p:nvPr>
            <p:ph type="title"/>
          </p:nvPr>
        </p:nvSpPr>
        <p:spPr>
          <a:xfrm>
            <a:off x="3438150" y="358969"/>
            <a:ext cx="51393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20" name="Google Shape;320;p22"/>
          <p:cNvGrpSpPr/>
          <p:nvPr/>
        </p:nvGrpSpPr>
        <p:grpSpPr>
          <a:xfrm>
            <a:off x="571494" y="306825"/>
            <a:ext cx="2593200" cy="3705000"/>
            <a:chOff x="-2696606" y="304800"/>
            <a:chExt cx="2593200" cy="3705000"/>
          </a:xfrm>
        </p:grpSpPr>
        <p:sp>
          <p:nvSpPr>
            <p:cNvPr id="321" name="Google Shape;321;p22"/>
            <p:cNvSpPr/>
            <p:nvPr/>
          </p:nvSpPr>
          <p:spPr>
            <a:xfrm>
              <a:off x="-2696606" y="304800"/>
              <a:ext cx="2593200" cy="3705000"/>
            </a:xfrm>
            <a:prstGeom prst="round2DiagRect">
              <a:avLst>
                <a:gd name="adj1" fmla="val 50000"/>
                <a:gd name="adj2" fmla="val 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2" name="Google Shape;322;p22"/>
            <p:cNvSpPr txBox="1"/>
            <p:nvPr/>
          </p:nvSpPr>
          <p:spPr>
            <a:xfrm>
              <a:off x="-1856150"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323" name="Google Shape;323;p22"/>
          <p:cNvGrpSpPr/>
          <p:nvPr/>
        </p:nvGrpSpPr>
        <p:grpSpPr>
          <a:xfrm>
            <a:off x="276301" y="292130"/>
            <a:ext cx="8682474" cy="4588395"/>
            <a:chOff x="276301" y="292130"/>
            <a:chExt cx="8682474" cy="4588395"/>
          </a:xfrm>
        </p:grpSpPr>
        <p:grpSp>
          <p:nvGrpSpPr>
            <p:cNvPr id="324" name="Google Shape;324;p22"/>
            <p:cNvGrpSpPr/>
            <p:nvPr/>
          </p:nvGrpSpPr>
          <p:grpSpPr>
            <a:xfrm>
              <a:off x="276301" y="292130"/>
              <a:ext cx="170063" cy="166438"/>
              <a:chOff x="6838242" y="518225"/>
              <a:chExt cx="1247708" cy="1221114"/>
            </a:xfrm>
          </p:grpSpPr>
          <p:sp>
            <p:nvSpPr>
              <p:cNvPr id="325" name="Google Shape;325;p22"/>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6" name="Google Shape;326;p22"/>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7" name="Google Shape;327;p22"/>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28" name="Google Shape;328;p22"/>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29" name="Google Shape;329;p22"/>
            <p:cNvCxnSpPr>
              <a:stCxn id="330"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31" name="Google Shape;331;p22"/>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32" name="Google Shape;332;p22"/>
            <p:cNvCxnSpPr>
              <a:endCxn id="331"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33" name="Google Shape;333;p22"/>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30" name="Google Shape;330;p22"/>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34" name="Google Shape;334;p22"/>
            <p:cNvCxnSpPr>
              <a:stCxn id="333" idx="2"/>
              <a:endCxn id="331"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335" name="Google Shape;335;p22"/>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69 - Titre, contenu, visuel à gauche et bloc conclu - cadre blanc">
  <p:cSld name="69 - Titre, contenu, visuel à gauche et bloc conclu - cadre blanc">
    <p:spTree>
      <p:nvGrpSpPr>
        <p:cNvPr id="1" name="Shape 336"/>
        <p:cNvGrpSpPr/>
        <p:nvPr/>
      </p:nvGrpSpPr>
      <p:grpSpPr>
        <a:xfrm>
          <a:off x="0" y="0"/>
          <a:ext cx="0" cy="0"/>
          <a:chOff x="0" y="0"/>
          <a:chExt cx="0" cy="0"/>
        </a:xfrm>
      </p:grpSpPr>
      <p:grpSp>
        <p:nvGrpSpPr>
          <p:cNvPr id="337" name="Google Shape;337;p23"/>
          <p:cNvGrpSpPr/>
          <p:nvPr/>
        </p:nvGrpSpPr>
        <p:grpSpPr>
          <a:xfrm>
            <a:off x="276301" y="292130"/>
            <a:ext cx="8682474" cy="4588395"/>
            <a:chOff x="276301" y="292130"/>
            <a:chExt cx="8682474" cy="4588395"/>
          </a:xfrm>
        </p:grpSpPr>
        <p:grpSp>
          <p:nvGrpSpPr>
            <p:cNvPr id="338" name="Google Shape;338;p23"/>
            <p:cNvGrpSpPr/>
            <p:nvPr/>
          </p:nvGrpSpPr>
          <p:grpSpPr>
            <a:xfrm>
              <a:off x="276301" y="292130"/>
              <a:ext cx="170063" cy="166438"/>
              <a:chOff x="6838242" y="518225"/>
              <a:chExt cx="1247708" cy="1221114"/>
            </a:xfrm>
          </p:grpSpPr>
          <p:sp>
            <p:nvSpPr>
              <p:cNvPr id="339" name="Google Shape;339;p23"/>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40" name="Google Shape;340;p23"/>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41" name="Google Shape;341;p23"/>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42" name="Google Shape;342;p23"/>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43" name="Google Shape;343;p23"/>
            <p:cNvCxnSpPr>
              <a:stCxn id="344"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45" name="Google Shape;345;p23"/>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46" name="Google Shape;346;p23"/>
            <p:cNvCxnSpPr>
              <a:endCxn id="345"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47" name="Google Shape;347;p23"/>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44" name="Google Shape;344;p23"/>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48" name="Google Shape;348;p23"/>
            <p:cNvCxnSpPr>
              <a:stCxn id="347" idx="2"/>
              <a:endCxn id="345"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349" name="Google Shape;349;p23"/>
          <p:cNvSpPr txBox="1">
            <a:spLocks noGrp="1"/>
          </p:cNvSpPr>
          <p:nvPr>
            <p:ph type="title"/>
          </p:nvPr>
        </p:nvSpPr>
        <p:spPr>
          <a:xfrm>
            <a:off x="3932050" y="354600"/>
            <a:ext cx="4588200" cy="328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50" name="Google Shape;350;p23"/>
          <p:cNvGrpSpPr/>
          <p:nvPr/>
        </p:nvGrpSpPr>
        <p:grpSpPr>
          <a:xfrm rot="10800000">
            <a:off x="420900" y="3471525"/>
            <a:ext cx="1392300" cy="1392300"/>
            <a:chOff x="7475475" y="301725"/>
            <a:chExt cx="1392300" cy="1392300"/>
          </a:xfrm>
        </p:grpSpPr>
        <p:sp>
          <p:nvSpPr>
            <p:cNvPr id="351" name="Google Shape;351;p23"/>
            <p:cNvSpPr/>
            <p:nvPr/>
          </p:nvSpPr>
          <p:spPr>
            <a:xfrm rot="10800000">
              <a:off x="7475475" y="301725"/>
              <a:ext cx="1392300" cy="1392300"/>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52" name="Google Shape;352;p23"/>
            <p:cNvSpPr txBox="1"/>
            <p:nvPr/>
          </p:nvSpPr>
          <p:spPr>
            <a:xfrm rot="10800000">
              <a:off x="7776275" y="553855"/>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353" name="Google Shape;353;p23"/>
          <p:cNvSpPr txBox="1">
            <a:spLocks noGrp="1"/>
          </p:cNvSpPr>
          <p:nvPr>
            <p:ph type="body" idx="1"/>
          </p:nvPr>
        </p:nvSpPr>
        <p:spPr>
          <a:xfrm>
            <a:off x="1511925" y="817275"/>
            <a:ext cx="1719000" cy="2085600"/>
          </a:xfrm>
          <a:prstGeom prst="rect">
            <a:avLst/>
          </a:prstGeom>
          <a:noFill/>
          <a:ln>
            <a:noFill/>
          </a:ln>
        </p:spPr>
        <p:txBody>
          <a:bodyPr spcFirstLastPara="1" wrap="square" lIns="0"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54" name="Google Shape;354;p23"/>
          <p:cNvSpPr txBox="1">
            <a:spLocks noGrp="1"/>
          </p:cNvSpPr>
          <p:nvPr>
            <p:ph type="body" idx="2"/>
          </p:nvPr>
        </p:nvSpPr>
        <p:spPr>
          <a:xfrm>
            <a:off x="3932200" y="817275"/>
            <a:ext cx="4588200" cy="40467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55" name="Google Shape;355;p23"/>
          <p:cNvSpPr/>
          <p:nvPr/>
        </p:nvSpPr>
        <p:spPr>
          <a:xfrm>
            <a:off x="1209075" y="30172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56" name="Google Shape;356;p23"/>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70 - Titre, sous-titre, contenu, visuel à gauche et bloc conclu - cadre blanc">
  <p:cSld name="70 - Titre, sous-titre, contenu, visuel à gauche et bloc conclu - cadre blanc">
    <p:spTree>
      <p:nvGrpSpPr>
        <p:cNvPr id="1" name="Shape 357"/>
        <p:cNvGrpSpPr/>
        <p:nvPr/>
      </p:nvGrpSpPr>
      <p:grpSpPr>
        <a:xfrm>
          <a:off x="0" y="0"/>
          <a:ext cx="0" cy="0"/>
          <a:chOff x="0" y="0"/>
          <a:chExt cx="0" cy="0"/>
        </a:xfrm>
      </p:grpSpPr>
      <p:grpSp>
        <p:nvGrpSpPr>
          <p:cNvPr id="358" name="Google Shape;358;p24"/>
          <p:cNvGrpSpPr/>
          <p:nvPr/>
        </p:nvGrpSpPr>
        <p:grpSpPr>
          <a:xfrm>
            <a:off x="276301" y="292130"/>
            <a:ext cx="8682474" cy="4588395"/>
            <a:chOff x="276301" y="292130"/>
            <a:chExt cx="8682474" cy="4588395"/>
          </a:xfrm>
        </p:grpSpPr>
        <p:grpSp>
          <p:nvGrpSpPr>
            <p:cNvPr id="359" name="Google Shape;359;p24"/>
            <p:cNvGrpSpPr/>
            <p:nvPr/>
          </p:nvGrpSpPr>
          <p:grpSpPr>
            <a:xfrm>
              <a:off x="276301" y="292130"/>
              <a:ext cx="170063" cy="166438"/>
              <a:chOff x="6838242" y="518225"/>
              <a:chExt cx="1247708" cy="1221114"/>
            </a:xfrm>
          </p:grpSpPr>
          <p:sp>
            <p:nvSpPr>
              <p:cNvPr id="360" name="Google Shape;360;p24"/>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61" name="Google Shape;361;p24"/>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62" name="Google Shape;362;p24"/>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63" name="Google Shape;363;p24"/>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64" name="Google Shape;364;p24"/>
            <p:cNvCxnSpPr>
              <a:stCxn id="365"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66" name="Google Shape;366;p24"/>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67" name="Google Shape;367;p24"/>
            <p:cNvCxnSpPr>
              <a:endCxn id="366"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68" name="Google Shape;368;p24"/>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65" name="Google Shape;365;p24"/>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69" name="Google Shape;369;p24"/>
            <p:cNvCxnSpPr>
              <a:stCxn id="368" idx="2"/>
              <a:endCxn id="366"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370" name="Google Shape;370;p24"/>
          <p:cNvSpPr txBox="1">
            <a:spLocks noGrp="1"/>
          </p:cNvSpPr>
          <p:nvPr>
            <p:ph type="body" idx="1"/>
          </p:nvPr>
        </p:nvSpPr>
        <p:spPr>
          <a:xfrm>
            <a:off x="3943350" y="1271025"/>
            <a:ext cx="4564200" cy="35928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71" name="Google Shape;371;p24"/>
          <p:cNvSpPr txBox="1">
            <a:spLocks noGrp="1"/>
          </p:cNvSpPr>
          <p:nvPr>
            <p:ph type="subTitle" idx="2"/>
          </p:nvPr>
        </p:nvSpPr>
        <p:spPr>
          <a:xfrm>
            <a:off x="3935150" y="770950"/>
            <a:ext cx="4564200" cy="3441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72" name="Google Shape;372;p24"/>
          <p:cNvSpPr txBox="1">
            <a:spLocks noGrp="1"/>
          </p:cNvSpPr>
          <p:nvPr>
            <p:ph type="title"/>
          </p:nvPr>
        </p:nvSpPr>
        <p:spPr>
          <a:xfrm>
            <a:off x="3935150" y="348725"/>
            <a:ext cx="4564200" cy="3441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73" name="Google Shape;373;p24"/>
          <p:cNvGrpSpPr/>
          <p:nvPr/>
        </p:nvGrpSpPr>
        <p:grpSpPr>
          <a:xfrm rot="10800000">
            <a:off x="420900" y="3471800"/>
            <a:ext cx="1392300" cy="1392300"/>
            <a:chOff x="7475475" y="301725"/>
            <a:chExt cx="1392300" cy="1392300"/>
          </a:xfrm>
        </p:grpSpPr>
        <p:sp>
          <p:nvSpPr>
            <p:cNvPr id="374" name="Google Shape;374;p24"/>
            <p:cNvSpPr/>
            <p:nvPr/>
          </p:nvSpPr>
          <p:spPr>
            <a:xfrm rot="10800000">
              <a:off x="7475475" y="301725"/>
              <a:ext cx="1392300" cy="1392300"/>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75" name="Google Shape;375;p24"/>
            <p:cNvSpPr txBox="1"/>
            <p:nvPr/>
          </p:nvSpPr>
          <p:spPr>
            <a:xfrm rot="10800000">
              <a:off x="7776288" y="55385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US"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376" name="Google Shape;376;p24"/>
          <p:cNvSpPr/>
          <p:nvPr/>
        </p:nvSpPr>
        <p:spPr>
          <a:xfrm>
            <a:off x="1209075" y="30031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77" name="Google Shape;377;p24"/>
          <p:cNvSpPr txBox="1">
            <a:spLocks noGrp="1"/>
          </p:cNvSpPr>
          <p:nvPr>
            <p:ph type="body" idx="3"/>
          </p:nvPr>
        </p:nvSpPr>
        <p:spPr>
          <a:xfrm>
            <a:off x="1511925" y="812385"/>
            <a:ext cx="1719000" cy="20823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15000"/>
              </a:lnSpc>
              <a:spcBef>
                <a:spcPts val="0"/>
              </a:spcBef>
              <a:spcAft>
                <a:spcPts val="0"/>
              </a:spcAft>
              <a:buClr>
                <a:schemeClr val="accent3"/>
              </a:buClr>
              <a:buSzPts val="1200"/>
              <a:buFont typeface="Outfit"/>
              <a:buNone/>
              <a:defRPr sz="1200" b="1"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accent3"/>
              </a:buClr>
              <a:buSzPts val="1200"/>
              <a:buFont typeface="Outfit"/>
              <a:buNone/>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78" name="Google Shape;378;p24"/>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0 - Table des matières [2]">
  <p:cSld name="90 - Table des matières [2]">
    <p:spTree>
      <p:nvGrpSpPr>
        <p:cNvPr id="1" name="Shape 379"/>
        <p:cNvGrpSpPr/>
        <p:nvPr/>
      </p:nvGrpSpPr>
      <p:grpSpPr>
        <a:xfrm>
          <a:off x="0" y="0"/>
          <a:ext cx="0" cy="0"/>
          <a:chOff x="0" y="0"/>
          <a:chExt cx="0" cy="0"/>
        </a:xfrm>
      </p:grpSpPr>
      <p:sp>
        <p:nvSpPr>
          <p:cNvPr id="380" name="Google Shape;380;p25"/>
          <p:cNvSpPr txBox="1">
            <a:spLocks noGrp="1"/>
          </p:cNvSpPr>
          <p:nvPr>
            <p:ph type="title"/>
          </p:nvPr>
        </p:nvSpPr>
        <p:spPr>
          <a:xfrm>
            <a:off x="829600" y="1260303"/>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81" name="Google Shape;381;p25"/>
          <p:cNvSpPr txBox="1">
            <a:spLocks noGrp="1"/>
          </p:cNvSpPr>
          <p:nvPr>
            <p:ph type="body" idx="1"/>
          </p:nvPr>
        </p:nvSpPr>
        <p:spPr>
          <a:xfrm>
            <a:off x="2236850" y="2248633"/>
            <a:ext cx="2335200" cy="788100"/>
          </a:xfrm>
          <a:prstGeom prst="rect">
            <a:avLst/>
          </a:prstGeom>
          <a:noFill/>
          <a:ln>
            <a:noFill/>
          </a:ln>
        </p:spPr>
        <p:txBody>
          <a:bodyPr spcFirstLastPara="1" wrap="square" lIns="0" tIns="0" rIns="0" bIns="0" anchor="ctr" anchorCtr="0">
            <a:norm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2" name="Google Shape;382;p25"/>
          <p:cNvSpPr txBox="1">
            <a:spLocks noGrp="1"/>
          </p:cNvSpPr>
          <p:nvPr>
            <p:ph type="body" idx="2"/>
          </p:nvPr>
        </p:nvSpPr>
        <p:spPr>
          <a:xfrm>
            <a:off x="6210950" y="2248625"/>
            <a:ext cx="2335200" cy="788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3" name="Google Shape;383;p25"/>
          <p:cNvSpPr/>
          <p:nvPr/>
        </p:nvSpPr>
        <p:spPr>
          <a:xfrm>
            <a:off x="1106400" y="22486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84" name="Google Shape;384;p25"/>
          <p:cNvSpPr txBox="1"/>
          <p:nvPr/>
        </p:nvSpPr>
        <p:spPr>
          <a:xfrm>
            <a:off x="1086263" y="2254176"/>
            <a:ext cx="808200" cy="808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2000" b="1" i="0" u="none" strike="noStrike" cap="none">
                <a:solidFill>
                  <a:schemeClr val="dk1"/>
                </a:solidFill>
                <a:latin typeface="Outfit"/>
                <a:ea typeface="Outfit"/>
                <a:cs typeface="Outfit"/>
                <a:sym typeface="Outfit"/>
              </a:rPr>
              <a:t>01</a:t>
            </a:r>
            <a:endParaRPr sz="2000" b="0" i="0" u="none" strike="noStrike" cap="none">
              <a:solidFill>
                <a:schemeClr val="dk1"/>
              </a:solidFill>
              <a:latin typeface="Outfit"/>
              <a:ea typeface="Outfit"/>
              <a:cs typeface="Outfit"/>
              <a:sym typeface="Outfit"/>
            </a:endParaRPr>
          </a:p>
        </p:txBody>
      </p:sp>
      <p:sp>
        <p:nvSpPr>
          <p:cNvPr id="385" name="Google Shape;385;p25"/>
          <p:cNvSpPr/>
          <p:nvPr/>
        </p:nvSpPr>
        <p:spPr>
          <a:xfrm>
            <a:off x="5192425" y="2286425"/>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86" name="Google Shape;386;p25"/>
          <p:cNvSpPr txBox="1"/>
          <p:nvPr/>
        </p:nvSpPr>
        <p:spPr>
          <a:xfrm>
            <a:off x="5160164" y="2254177"/>
            <a:ext cx="852600" cy="852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2000" b="1" i="0" u="none" strike="noStrike" cap="none">
                <a:solidFill>
                  <a:schemeClr val="dk1"/>
                </a:solidFill>
                <a:latin typeface="Outfit"/>
                <a:ea typeface="Outfit"/>
                <a:cs typeface="Outfit"/>
                <a:sym typeface="Outfit"/>
              </a:rPr>
              <a:t>02</a:t>
            </a:r>
            <a:endParaRPr sz="2000" b="0" i="0" u="none" strike="noStrike" cap="none">
              <a:solidFill>
                <a:schemeClr val="dk1"/>
              </a:solidFill>
              <a:latin typeface="Outfit"/>
              <a:ea typeface="Outfit"/>
              <a:cs typeface="Outfit"/>
              <a:sym typeface="Outfi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91 - Table des matières [3]">
  <p:cSld name="91 - Table des matières [3]">
    <p:spTree>
      <p:nvGrpSpPr>
        <p:cNvPr id="1" name="Shape 387"/>
        <p:cNvGrpSpPr/>
        <p:nvPr/>
      </p:nvGrpSpPr>
      <p:grpSpPr>
        <a:xfrm>
          <a:off x="0" y="0"/>
          <a:ext cx="0" cy="0"/>
          <a:chOff x="0" y="0"/>
          <a:chExt cx="0" cy="0"/>
        </a:xfrm>
      </p:grpSpPr>
      <p:sp>
        <p:nvSpPr>
          <p:cNvPr id="388" name="Google Shape;388;p26"/>
          <p:cNvSpPr txBox="1">
            <a:spLocks noGrp="1"/>
          </p:cNvSpPr>
          <p:nvPr>
            <p:ph type="title"/>
          </p:nvPr>
        </p:nvSpPr>
        <p:spPr>
          <a:xfrm>
            <a:off x="829600" y="12635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89" name="Google Shape;389;p26"/>
          <p:cNvSpPr txBox="1">
            <a:spLocks noGrp="1"/>
          </p:cNvSpPr>
          <p:nvPr>
            <p:ph type="body" idx="1"/>
          </p:nvPr>
        </p:nvSpPr>
        <p:spPr>
          <a:xfrm>
            <a:off x="1172550" y="2689025"/>
            <a:ext cx="22698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90" name="Google Shape;390;p26"/>
          <p:cNvSpPr txBox="1">
            <a:spLocks noGrp="1"/>
          </p:cNvSpPr>
          <p:nvPr>
            <p:ph type="body" idx="2"/>
          </p:nvPr>
        </p:nvSpPr>
        <p:spPr>
          <a:xfrm>
            <a:off x="3666975" y="2711825"/>
            <a:ext cx="22698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91" name="Google Shape;391;p26"/>
          <p:cNvSpPr txBox="1">
            <a:spLocks noGrp="1"/>
          </p:cNvSpPr>
          <p:nvPr>
            <p:ph type="body" idx="3"/>
          </p:nvPr>
        </p:nvSpPr>
        <p:spPr>
          <a:xfrm>
            <a:off x="6260400" y="2711825"/>
            <a:ext cx="23172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92" name="Google Shape;392;p26"/>
          <p:cNvSpPr/>
          <p:nvPr/>
        </p:nvSpPr>
        <p:spPr>
          <a:xfrm rot="10800000">
            <a:off x="3666963"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3" name="Google Shape;393;p26"/>
          <p:cNvSpPr/>
          <p:nvPr/>
        </p:nvSpPr>
        <p:spPr>
          <a:xfrm rot="10800000">
            <a:off x="1172550"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4" name="Google Shape;394;p26"/>
          <p:cNvSpPr/>
          <p:nvPr/>
        </p:nvSpPr>
        <p:spPr>
          <a:xfrm rot="10800000">
            <a:off x="6260388"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5" name="Google Shape;395;p26"/>
          <p:cNvSpPr txBox="1"/>
          <p:nvPr/>
        </p:nvSpPr>
        <p:spPr>
          <a:xfrm>
            <a:off x="1164446" y="1799383"/>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2000" b="1" i="0" u="none" strike="noStrike" cap="none">
                <a:solidFill>
                  <a:schemeClr val="dk1"/>
                </a:solidFill>
                <a:latin typeface="Outfit"/>
                <a:ea typeface="Outfit"/>
                <a:cs typeface="Outfit"/>
                <a:sym typeface="Outfit"/>
              </a:rPr>
              <a:t>01</a:t>
            </a:r>
            <a:endParaRPr sz="2000" b="0" i="0" u="none" strike="noStrike" cap="none">
              <a:solidFill>
                <a:schemeClr val="dk1"/>
              </a:solidFill>
              <a:latin typeface="Outfit"/>
              <a:ea typeface="Outfit"/>
              <a:cs typeface="Outfit"/>
              <a:sym typeface="Outfit"/>
            </a:endParaRPr>
          </a:p>
        </p:txBody>
      </p:sp>
      <p:sp>
        <p:nvSpPr>
          <p:cNvPr id="396" name="Google Shape;396;p26"/>
          <p:cNvSpPr txBox="1"/>
          <p:nvPr/>
        </p:nvSpPr>
        <p:spPr>
          <a:xfrm>
            <a:off x="3650472" y="1799373"/>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2000" b="1" i="0" u="none" strike="noStrike" cap="none">
                <a:solidFill>
                  <a:schemeClr val="dk1"/>
                </a:solidFill>
                <a:latin typeface="Outfit"/>
                <a:ea typeface="Outfit"/>
                <a:cs typeface="Outfit"/>
                <a:sym typeface="Outfit"/>
              </a:rPr>
              <a:t>02</a:t>
            </a:r>
            <a:endParaRPr sz="2000" b="0" i="0" u="none" strike="noStrike" cap="none">
              <a:solidFill>
                <a:schemeClr val="dk1"/>
              </a:solidFill>
              <a:latin typeface="Outfit"/>
              <a:ea typeface="Outfit"/>
              <a:cs typeface="Outfit"/>
              <a:sym typeface="Outfit"/>
            </a:endParaRPr>
          </a:p>
        </p:txBody>
      </p:sp>
      <p:sp>
        <p:nvSpPr>
          <p:cNvPr id="397" name="Google Shape;397;p26"/>
          <p:cNvSpPr txBox="1"/>
          <p:nvPr/>
        </p:nvSpPr>
        <p:spPr>
          <a:xfrm>
            <a:off x="6243911" y="1799374"/>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2000" b="1" i="0" u="none" strike="noStrike" cap="none">
                <a:solidFill>
                  <a:schemeClr val="dk1"/>
                </a:solidFill>
                <a:latin typeface="Outfit"/>
                <a:ea typeface="Outfit"/>
                <a:cs typeface="Outfit"/>
                <a:sym typeface="Outfit"/>
              </a:rPr>
              <a:t>03</a:t>
            </a:r>
            <a:endParaRPr sz="2000" b="0" i="0" u="none" strike="noStrike" cap="none">
              <a:solidFill>
                <a:schemeClr val="dk1"/>
              </a:solidFill>
              <a:latin typeface="Outfit"/>
              <a:ea typeface="Outfit"/>
              <a:cs typeface="Outfit"/>
              <a:sym typeface="Outfi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92 - Table des matières [4]">
  <p:cSld name="92 - Table des matières [4]">
    <p:spTree>
      <p:nvGrpSpPr>
        <p:cNvPr id="1" name="Shape 398"/>
        <p:cNvGrpSpPr/>
        <p:nvPr/>
      </p:nvGrpSpPr>
      <p:grpSpPr>
        <a:xfrm>
          <a:off x="0" y="0"/>
          <a:ext cx="0" cy="0"/>
          <a:chOff x="0" y="0"/>
          <a:chExt cx="0" cy="0"/>
        </a:xfrm>
      </p:grpSpPr>
      <p:sp>
        <p:nvSpPr>
          <p:cNvPr id="399" name="Google Shape;399;p27"/>
          <p:cNvSpPr txBox="1">
            <a:spLocks noGrp="1"/>
          </p:cNvSpPr>
          <p:nvPr>
            <p:ph type="title"/>
          </p:nvPr>
        </p:nvSpPr>
        <p:spPr>
          <a:xfrm>
            <a:off x="829600" y="1260303"/>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00" name="Google Shape;400;p27"/>
          <p:cNvSpPr txBox="1">
            <a:spLocks noGrp="1"/>
          </p:cNvSpPr>
          <p:nvPr>
            <p:ph type="body" idx="1"/>
          </p:nvPr>
        </p:nvSpPr>
        <p:spPr>
          <a:xfrm>
            <a:off x="1681525" y="17380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1" name="Google Shape;401;p27"/>
          <p:cNvSpPr txBox="1">
            <a:spLocks noGrp="1"/>
          </p:cNvSpPr>
          <p:nvPr>
            <p:ph type="body" idx="2"/>
          </p:nvPr>
        </p:nvSpPr>
        <p:spPr>
          <a:xfrm>
            <a:off x="1681500" y="30141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2" name="Google Shape;402;p27"/>
          <p:cNvSpPr txBox="1">
            <a:spLocks noGrp="1"/>
          </p:cNvSpPr>
          <p:nvPr>
            <p:ph type="body" idx="3"/>
          </p:nvPr>
        </p:nvSpPr>
        <p:spPr>
          <a:xfrm>
            <a:off x="5619625" y="17381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3" name="Google Shape;403;p27"/>
          <p:cNvSpPr txBox="1">
            <a:spLocks noGrp="1"/>
          </p:cNvSpPr>
          <p:nvPr>
            <p:ph type="body" idx="4"/>
          </p:nvPr>
        </p:nvSpPr>
        <p:spPr>
          <a:xfrm>
            <a:off x="5619750" y="30141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4" name="Google Shape;404;p27"/>
          <p:cNvSpPr/>
          <p:nvPr/>
        </p:nvSpPr>
        <p:spPr>
          <a:xfrm rot="5400000">
            <a:off x="4767525" y="2951177"/>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5" name="Google Shape;405;p27"/>
          <p:cNvSpPr/>
          <p:nvPr/>
        </p:nvSpPr>
        <p:spPr>
          <a:xfrm rot="5400000">
            <a:off x="4767525" y="172202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6" name="Google Shape;406;p27"/>
          <p:cNvSpPr/>
          <p:nvPr/>
        </p:nvSpPr>
        <p:spPr>
          <a:xfrm rot="5400000">
            <a:off x="867525" y="2980796"/>
            <a:ext cx="671700" cy="6717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7" name="Google Shape;407;p27"/>
          <p:cNvSpPr/>
          <p:nvPr/>
        </p:nvSpPr>
        <p:spPr>
          <a:xfrm rot="5400000">
            <a:off x="867525" y="1722025"/>
            <a:ext cx="671700" cy="6717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8" name="Google Shape;408;p27"/>
          <p:cNvSpPr txBox="1"/>
          <p:nvPr/>
        </p:nvSpPr>
        <p:spPr>
          <a:xfrm>
            <a:off x="967623" y="1866129"/>
            <a:ext cx="462300" cy="4518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1" i="0" u="none" strike="noStrike" cap="none">
              <a:solidFill>
                <a:srgbClr val="0E2356"/>
              </a:solidFill>
              <a:latin typeface="Outfit"/>
              <a:ea typeface="Outfit"/>
              <a:cs typeface="Outfit"/>
              <a:sym typeface="Outfit"/>
            </a:endParaRPr>
          </a:p>
        </p:txBody>
      </p:sp>
      <p:sp>
        <p:nvSpPr>
          <p:cNvPr id="409" name="Google Shape;409;p27"/>
          <p:cNvSpPr txBox="1"/>
          <p:nvPr/>
        </p:nvSpPr>
        <p:spPr>
          <a:xfrm>
            <a:off x="967623" y="3116186"/>
            <a:ext cx="462300" cy="4518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1" i="0" u="none" strike="noStrike" cap="none">
              <a:solidFill>
                <a:srgbClr val="0E2356"/>
              </a:solidFill>
              <a:latin typeface="Outfit"/>
              <a:ea typeface="Outfit"/>
              <a:cs typeface="Outfit"/>
              <a:sym typeface="Outfit"/>
            </a:endParaRPr>
          </a:p>
        </p:txBody>
      </p:sp>
      <p:sp>
        <p:nvSpPr>
          <p:cNvPr id="410" name="Google Shape;410;p27"/>
          <p:cNvSpPr txBox="1"/>
          <p:nvPr/>
        </p:nvSpPr>
        <p:spPr>
          <a:xfrm>
            <a:off x="4869747" y="1851848"/>
            <a:ext cx="4515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1" i="0" u="none" strike="noStrike" cap="none">
              <a:solidFill>
                <a:srgbClr val="0E2356"/>
              </a:solidFill>
              <a:latin typeface="Outfit"/>
              <a:ea typeface="Outfit"/>
              <a:cs typeface="Outfit"/>
              <a:sym typeface="Outfit"/>
            </a:endParaRPr>
          </a:p>
        </p:txBody>
      </p:sp>
      <p:sp>
        <p:nvSpPr>
          <p:cNvPr id="411" name="Google Shape;411;p27"/>
          <p:cNvSpPr txBox="1"/>
          <p:nvPr/>
        </p:nvSpPr>
        <p:spPr>
          <a:xfrm>
            <a:off x="4869747" y="3072492"/>
            <a:ext cx="4515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1"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93 - Table des matières [5]">
  <p:cSld name="93 - Table des matières [5]">
    <p:spTree>
      <p:nvGrpSpPr>
        <p:cNvPr id="1" name="Shape 412"/>
        <p:cNvGrpSpPr/>
        <p:nvPr/>
      </p:nvGrpSpPr>
      <p:grpSpPr>
        <a:xfrm>
          <a:off x="0" y="0"/>
          <a:ext cx="0" cy="0"/>
          <a:chOff x="0" y="0"/>
          <a:chExt cx="0" cy="0"/>
        </a:xfrm>
      </p:grpSpPr>
      <p:sp>
        <p:nvSpPr>
          <p:cNvPr id="413" name="Google Shape;413;p28"/>
          <p:cNvSpPr txBox="1">
            <a:spLocks noGrp="1"/>
          </p:cNvSpPr>
          <p:nvPr>
            <p:ph type="title"/>
          </p:nvPr>
        </p:nvSpPr>
        <p:spPr>
          <a:xfrm>
            <a:off x="829600" y="11393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14" name="Google Shape;414;p28"/>
          <p:cNvSpPr txBox="1">
            <a:spLocks noGrp="1"/>
          </p:cNvSpPr>
          <p:nvPr>
            <p:ph type="body" idx="1"/>
          </p:nvPr>
        </p:nvSpPr>
        <p:spPr>
          <a:xfrm>
            <a:off x="1681525" y="16510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5" name="Google Shape;415;p28"/>
          <p:cNvSpPr txBox="1">
            <a:spLocks noGrp="1"/>
          </p:cNvSpPr>
          <p:nvPr>
            <p:ph type="body" idx="2"/>
          </p:nvPr>
        </p:nvSpPr>
        <p:spPr>
          <a:xfrm>
            <a:off x="1681525" y="2447225"/>
            <a:ext cx="27903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6" name="Google Shape;416;p28"/>
          <p:cNvSpPr txBox="1">
            <a:spLocks noGrp="1"/>
          </p:cNvSpPr>
          <p:nvPr>
            <p:ph type="body" idx="3"/>
          </p:nvPr>
        </p:nvSpPr>
        <p:spPr>
          <a:xfrm>
            <a:off x="1681525" y="32436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7" name="Google Shape;417;p28"/>
          <p:cNvSpPr txBox="1">
            <a:spLocks noGrp="1"/>
          </p:cNvSpPr>
          <p:nvPr>
            <p:ph type="body" idx="4"/>
          </p:nvPr>
        </p:nvSpPr>
        <p:spPr>
          <a:xfrm>
            <a:off x="5619625" y="1650825"/>
            <a:ext cx="2958000" cy="656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8" name="Google Shape;418;p28"/>
          <p:cNvSpPr txBox="1">
            <a:spLocks noGrp="1"/>
          </p:cNvSpPr>
          <p:nvPr>
            <p:ph type="body" idx="5"/>
          </p:nvPr>
        </p:nvSpPr>
        <p:spPr>
          <a:xfrm>
            <a:off x="5619625" y="24475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9" name="Google Shape;419;p28"/>
          <p:cNvSpPr/>
          <p:nvPr/>
        </p:nvSpPr>
        <p:spPr>
          <a:xfrm rot="5400000">
            <a:off x="8834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0" name="Google Shape;420;p28"/>
          <p:cNvSpPr/>
          <p:nvPr/>
        </p:nvSpPr>
        <p:spPr>
          <a:xfrm rot="5400000">
            <a:off x="883425" y="2447222"/>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1" name="Google Shape;421;p28"/>
          <p:cNvSpPr/>
          <p:nvPr/>
        </p:nvSpPr>
        <p:spPr>
          <a:xfrm rot="5400000">
            <a:off x="883425" y="3243569"/>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2" name="Google Shape;422;p28"/>
          <p:cNvSpPr/>
          <p:nvPr/>
        </p:nvSpPr>
        <p:spPr>
          <a:xfrm rot="5400000">
            <a:off x="4767525" y="1651025"/>
            <a:ext cx="6561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3" name="Google Shape;423;p28"/>
          <p:cNvSpPr/>
          <p:nvPr/>
        </p:nvSpPr>
        <p:spPr>
          <a:xfrm rot="5400000">
            <a:off x="4767525" y="2447566"/>
            <a:ext cx="6561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4" name="Google Shape;424;p28"/>
          <p:cNvSpPr txBox="1"/>
          <p:nvPr/>
        </p:nvSpPr>
        <p:spPr>
          <a:xfrm>
            <a:off x="985647" y="1787397"/>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25" name="Google Shape;425;p28"/>
          <p:cNvSpPr txBox="1"/>
          <p:nvPr/>
        </p:nvSpPr>
        <p:spPr>
          <a:xfrm>
            <a:off x="985647" y="2587947"/>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26" name="Google Shape;426;p28"/>
          <p:cNvSpPr txBox="1"/>
          <p:nvPr/>
        </p:nvSpPr>
        <p:spPr>
          <a:xfrm>
            <a:off x="985647" y="3388496"/>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27" name="Google Shape;427;p28"/>
          <p:cNvSpPr txBox="1"/>
          <p:nvPr/>
        </p:nvSpPr>
        <p:spPr>
          <a:xfrm>
            <a:off x="4869767" y="1787431"/>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28" name="Google Shape;428;p28"/>
          <p:cNvSpPr txBox="1"/>
          <p:nvPr/>
        </p:nvSpPr>
        <p:spPr>
          <a:xfrm>
            <a:off x="4867105" y="2563728"/>
            <a:ext cx="439500" cy="429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94 - Table des matières [6]">
  <p:cSld name="94 - Table des matières [6]">
    <p:spTree>
      <p:nvGrpSpPr>
        <p:cNvPr id="1" name="Shape 429"/>
        <p:cNvGrpSpPr/>
        <p:nvPr/>
      </p:nvGrpSpPr>
      <p:grpSpPr>
        <a:xfrm>
          <a:off x="0" y="0"/>
          <a:ext cx="0" cy="0"/>
          <a:chOff x="0" y="0"/>
          <a:chExt cx="0" cy="0"/>
        </a:xfrm>
      </p:grpSpPr>
      <p:sp>
        <p:nvSpPr>
          <p:cNvPr id="430" name="Google Shape;430;p29"/>
          <p:cNvSpPr txBox="1">
            <a:spLocks noGrp="1"/>
          </p:cNvSpPr>
          <p:nvPr>
            <p:ph type="title"/>
          </p:nvPr>
        </p:nvSpPr>
        <p:spPr>
          <a:xfrm>
            <a:off x="829600" y="10321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31" name="Google Shape;431;p29"/>
          <p:cNvSpPr txBox="1">
            <a:spLocks noGrp="1"/>
          </p:cNvSpPr>
          <p:nvPr>
            <p:ph type="body" idx="1"/>
          </p:nvPr>
        </p:nvSpPr>
        <p:spPr>
          <a:xfrm>
            <a:off x="1747225" y="165077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2" name="Google Shape;432;p29"/>
          <p:cNvSpPr txBox="1">
            <a:spLocks noGrp="1"/>
          </p:cNvSpPr>
          <p:nvPr>
            <p:ph type="body" idx="2"/>
          </p:nvPr>
        </p:nvSpPr>
        <p:spPr>
          <a:xfrm>
            <a:off x="1747225" y="244722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3" name="Google Shape;433;p29"/>
          <p:cNvSpPr txBox="1">
            <a:spLocks noGrp="1"/>
          </p:cNvSpPr>
          <p:nvPr>
            <p:ph type="body" idx="3"/>
          </p:nvPr>
        </p:nvSpPr>
        <p:spPr>
          <a:xfrm>
            <a:off x="1747225" y="324367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4" name="Google Shape;434;p29"/>
          <p:cNvSpPr txBox="1">
            <a:spLocks noGrp="1"/>
          </p:cNvSpPr>
          <p:nvPr>
            <p:ph type="body" idx="4"/>
          </p:nvPr>
        </p:nvSpPr>
        <p:spPr>
          <a:xfrm>
            <a:off x="5685325" y="16508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5" name="Google Shape;435;p29"/>
          <p:cNvSpPr txBox="1">
            <a:spLocks noGrp="1"/>
          </p:cNvSpPr>
          <p:nvPr>
            <p:ph type="body" idx="5"/>
          </p:nvPr>
        </p:nvSpPr>
        <p:spPr>
          <a:xfrm>
            <a:off x="5685325" y="24472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6" name="Google Shape;436;p29"/>
          <p:cNvSpPr txBox="1">
            <a:spLocks noGrp="1"/>
          </p:cNvSpPr>
          <p:nvPr>
            <p:ph type="body" idx="6"/>
          </p:nvPr>
        </p:nvSpPr>
        <p:spPr>
          <a:xfrm>
            <a:off x="5685325" y="32437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7" name="Google Shape;437;p29"/>
          <p:cNvSpPr/>
          <p:nvPr/>
        </p:nvSpPr>
        <p:spPr>
          <a:xfrm rot="5400000">
            <a:off x="4767525" y="3243573"/>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8" name="Google Shape;438;p29"/>
          <p:cNvSpPr/>
          <p:nvPr/>
        </p:nvSpPr>
        <p:spPr>
          <a:xfrm rot="5400000">
            <a:off x="8834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9" name="Google Shape;439;p29"/>
          <p:cNvSpPr/>
          <p:nvPr/>
        </p:nvSpPr>
        <p:spPr>
          <a:xfrm rot="5400000">
            <a:off x="883425" y="2447224"/>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40" name="Google Shape;440;p29"/>
          <p:cNvSpPr/>
          <p:nvPr/>
        </p:nvSpPr>
        <p:spPr>
          <a:xfrm rot="5400000">
            <a:off x="883425" y="3243573"/>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41" name="Google Shape;441;p29"/>
          <p:cNvSpPr/>
          <p:nvPr/>
        </p:nvSpPr>
        <p:spPr>
          <a:xfrm rot="5400000">
            <a:off x="47675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42" name="Google Shape;442;p29"/>
          <p:cNvSpPr/>
          <p:nvPr/>
        </p:nvSpPr>
        <p:spPr>
          <a:xfrm rot="5400000">
            <a:off x="4767525" y="2447224"/>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43" name="Google Shape;443;p29"/>
          <p:cNvSpPr txBox="1"/>
          <p:nvPr/>
        </p:nvSpPr>
        <p:spPr>
          <a:xfrm>
            <a:off x="985647" y="1787398"/>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44" name="Google Shape;444;p29"/>
          <p:cNvSpPr txBox="1"/>
          <p:nvPr/>
        </p:nvSpPr>
        <p:spPr>
          <a:xfrm>
            <a:off x="985647" y="2554581"/>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1" i="0" u="none" strike="noStrike" cap="none">
              <a:solidFill>
                <a:srgbClr val="0E2356"/>
              </a:solidFill>
              <a:latin typeface="Outfit"/>
              <a:ea typeface="Outfit"/>
              <a:cs typeface="Outfit"/>
              <a:sym typeface="Outfit"/>
            </a:endParaRPr>
          </a:p>
        </p:txBody>
      </p:sp>
      <p:sp>
        <p:nvSpPr>
          <p:cNvPr id="445" name="Google Shape;445;p29"/>
          <p:cNvSpPr txBox="1"/>
          <p:nvPr/>
        </p:nvSpPr>
        <p:spPr>
          <a:xfrm>
            <a:off x="985647" y="3355132"/>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46" name="Google Shape;446;p29"/>
          <p:cNvSpPr txBox="1"/>
          <p:nvPr/>
        </p:nvSpPr>
        <p:spPr>
          <a:xfrm>
            <a:off x="4868853" y="1787398"/>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47" name="Google Shape;447;p29"/>
          <p:cNvSpPr txBox="1"/>
          <p:nvPr/>
        </p:nvSpPr>
        <p:spPr>
          <a:xfrm>
            <a:off x="4868853" y="2554580"/>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48" name="Google Shape;448;p29"/>
          <p:cNvSpPr txBox="1"/>
          <p:nvPr/>
        </p:nvSpPr>
        <p:spPr>
          <a:xfrm>
            <a:off x="4868853" y="3355132"/>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95 - Table des matières [7]">
  <p:cSld name="95 - Table des matières [7]">
    <p:spTree>
      <p:nvGrpSpPr>
        <p:cNvPr id="1" name="Shape 449"/>
        <p:cNvGrpSpPr/>
        <p:nvPr/>
      </p:nvGrpSpPr>
      <p:grpSpPr>
        <a:xfrm>
          <a:off x="0" y="0"/>
          <a:ext cx="0" cy="0"/>
          <a:chOff x="0" y="0"/>
          <a:chExt cx="0" cy="0"/>
        </a:xfrm>
      </p:grpSpPr>
      <p:sp>
        <p:nvSpPr>
          <p:cNvPr id="450" name="Google Shape;450;p30"/>
          <p:cNvSpPr txBox="1">
            <a:spLocks noGrp="1"/>
          </p:cNvSpPr>
          <p:nvPr>
            <p:ph type="title"/>
          </p:nvPr>
        </p:nvSpPr>
        <p:spPr>
          <a:xfrm>
            <a:off x="829600" y="891150"/>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51" name="Google Shape;451;p30"/>
          <p:cNvSpPr txBox="1">
            <a:spLocks noGrp="1"/>
          </p:cNvSpPr>
          <p:nvPr>
            <p:ph type="body" idx="1"/>
          </p:nvPr>
        </p:nvSpPr>
        <p:spPr>
          <a:xfrm>
            <a:off x="1678225" y="139775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2" name="Google Shape;452;p30"/>
          <p:cNvSpPr txBox="1">
            <a:spLocks noGrp="1"/>
          </p:cNvSpPr>
          <p:nvPr>
            <p:ph type="body" idx="2"/>
          </p:nvPr>
        </p:nvSpPr>
        <p:spPr>
          <a:xfrm>
            <a:off x="1678225" y="211860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3" name="Google Shape;453;p30"/>
          <p:cNvSpPr txBox="1">
            <a:spLocks noGrp="1"/>
          </p:cNvSpPr>
          <p:nvPr>
            <p:ph type="body" idx="3"/>
          </p:nvPr>
        </p:nvSpPr>
        <p:spPr>
          <a:xfrm>
            <a:off x="1678225" y="285205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4" name="Google Shape;454;p30"/>
          <p:cNvSpPr txBox="1">
            <a:spLocks noGrp="1"/>
          </p:cNvSpPr>
          <p:nvPr>
            <p:ph type="body" idx="4"/>
          </p:nvPr>
        </p:nvSpPr>
        <p:spPr>
          <a:xfrm>
            <a:off x="1678125" y="357680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5" name="Google Shape;455;p30"/>
          <p:cNvSpPr txBox="1">
            <a:spLocks noGrp="1"/>
          </p:cNvSpPr>
          <p:nvPr>
            <p:ph type="body" idx="5"/>
          </p:nvPr>
        </p:nvSpPr>
        <p:spPr>
          <a:xfrm>
            <a:off x="5619625" y="1385200"/>
            <a:ext cx="29208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6" name="Google Shape;456;p30"/>
          <p:cNvSpPr txBox="1">
            <a:spLocks noGrp="1"/>
          </p:cNvSpPr>
          <p:nvPr>
            <p:ph type="body" idx="6"/>
          </p:nvPr>
        </p:nvSpPr>
        <p:spPr>
          <a:xfrm>
            <a:off x="5619625" y="2101550"/>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7" name="Google Shape;457;p30"/>
          <p:cNvSpPr txBox="1">
            <a:spLocks noGrp="1"/>
          </p:cNvSpPr>
          <p:nvPr>
            <p:ph type="body" idx="7"/>
          </p:nvPr>
        </p:nvSpPr>
        <p:spPr>
          <a:xfrm>
            <a:off x="5619625" y="2852100"/>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8" name="Google Shape;458;p30"/>
          <p:cNvSpPr/>
          <p:nvPr/>
        </p:nvSpPr>
        <p:spPr>
          <a:xfrm rot="5400000">
            <a:off x="47888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59" name="Google Shape;459;p30"/>
          <p:cNvSpPr/>
          <p:nvPr/>
        </p:nvSpPr>
        <p:spPr>
          <a:xfrm rot="5400000">
            <a:off x="47888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0" name="Google Shape;460;p30"/>
          <p:cNvSpPr/>
          <p:nvPr/>
        </p:nvSpPr>
        <p:spPr>
          <a:xfrm rot="5400000">
            <a:off x="47888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1" name="Google Shape;461;p30"/>
          <p:cNvSpPr/>
          <p:nvPr/>
        </p:nvSpPr>
        <p:spPr>
          <a:xfrm rot="5400000">
            <a:off x="883425" y="35769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2" name="Google Shape;462;p30"/>
          <p:cNvSpPr/>
          <p:nvPr/>
        </p:nvSpPr>
        <p:spPr>
          <a:xfrm rot="5400000">
            <a:off x="8834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3" name="Google Shape;463;p30"/>
          <p:cNvSpPr/>
          <p:nvPr/>
        </p:nvSpPr>
        <p:spPr>
          <a:xfrm rot="5400000">
            <a:off x="8834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4" name="Google Shape;464;p30"/>
          <p:cNvSpPr/>
          <p:nvPr/>
        </p:nvSpPr>
        <p:spPr>
          <a:xfrm rot="5400000">
            <a:off x="8834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5" name="Google Shape;465;p30"/>
          <p:cNvSpPr txBox="1"/>
          <p:nvPr/>
        </p:nvSpPr>
        <p:spPr>
          <a:xfrm>
            <a:off x="908769" y="14481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66" name="Google Shape;466;p30"/>
          <p:cNvSpPr txBox="1"/>
          <p:nvPr/>
        </p:nvSpPr>
        <p:spPr>
          <a:xfrm>
            <a:off x="908769" y="21816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67" name="Google Shape;467;p30"/>
          <p:cNvSpPr txBox="1"/>
          <p:nvPr/>
        </p:nvSpPr>
        <p:spPr>
          <a:xfrm>
            <a:off x="908769" y="29151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68" name="Google Shape;468;p30"/>
          <p:cNvSpPr txBox="1"/>
          <p:nvPr/>
        </p:nvSpPr>
        <p:spPr>
          <a:xfrm>
            <a:off x="908769" y="36485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69" name="Google Shape;469;p30"/>
          <p:cNvSpPr txBox="1"/>
          <p:nvPr/>
        </p:nvSpPr>
        <p:spPr>
          <a:xfrm>
            <a:off x="4814169" y="14482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70" name="Google Shape;470;p30"/>
          <p:cNvSpPr txBox="1"/>
          <p:nvPr/>
        </p:nvSpPr>
        <p:spPr>
          <a:xfrm>
            <a:off x="4814169" y="2181664"/>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471" name="Google Shape;471;p30"/>
          <p:cNvSpPr txBox="1"/>
          <p:nvPr/>
        </p:nvSpPr>
        <p:spPr>
          <a:xfrm>
            <a:off x="4814169" y="29151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96 - Table des matières [8]">
  <p:cSld name="96 - Table des matières [8]">
    <p:spTree>
      <p:nvGrpSpPr>
        <p:cNvPr id="1" name="Shape 472"/>
        <p:cNvGrpSpPr/>
        <p:nvPr/>
      </p:nvGrpSpPr>
      <p:grpSpPr>
        <a:xfrm>
          <a:off x="0" y="0"/>
          <a:ext cx="0" cy="0"/>
          <a:chOff x="0" y="0"/>
          <a:chExt cx="0" cy="0"/>
        </a:xfrm>
      </p:grpSpPr>
      <p:sp>
        <p:nvSpPr>
          <p:cNvPr id="473" name="Google Shape;473;p31"/>
          <p:cNvSpPr txBox="1">
            <a:spLocks noGrp="1"/>
          </p:cNvSpPr>
          <p:nvPr>
            <p:ph type="title"/>
          </p:nvPr>
        </p:nvSpPr>
        <p:spPr>
          <a:xfrm>
            <a:off x="829600" y="89702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74" name="Google Shape;474;p31"/>
          <p:cNvSpPr txBox="1">
            <a:spLocks noGrp="1"/>
          </p:cNvSpPr>
          <p:nvPr>
            <p:ph type="body" idx="1"/>
          </p:nvPr>
        </p:nvSpPr>
        <p:spPr>
          <a:xfrm>
            <a:off x="1681525" y="139775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5" name="Google Shape;475;p31"/>
          <p:cNvSpPr txBox="1">
            <a:spLocks noGrp="1"/>
          </p:cNvSpPr>
          <p:nvPr>
            <p:ph type="body" idx="2"/>
          </p:nvPr>
        </p:nvSpPr>
        <p:spPr>
          <a:xfrm>
            <a:off x="1681525" y="212070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6" name="Google Shape;476;p31"/>
          <p:cNvSpPr txBox="1">
            <a:spLocks noGrp="1"/>
          </p:cNvSpPr>
          <p:nvPr>
            <p:ph type="body" idx="3"/>
          </p:nvPr>
        </p:nvSpPr>
        <p:spPr>
          <a:xfrm>
            <a:off x="1681525" y="285205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7" name="Google Shape;477;p31"/>
          <p:cNvSpPr txBox="1">
            <a:spLocks noGrp="1"/>
          </p:cNvSpPr>
          <p:nvPr>
            <p:ph type="body" idx="4"/>
          </p:nvPr>
        </p:nvSpPr>
        <p:spPr>
          <a:xfrm>
            <a:off x="1681525" y="358550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8" name="Google Shape;478;p31"/>
          <p:cNvSpPr txBox="1">
            <a:spLocks noGrp="1"/>
          </p:cNvSpPr>
          <p:nvPr>
            <p:ph type="body" idx="5"/>
          </p:nvPr>
        </p:nvSpPr>
        <p:spPr>
          <a:xfrm>
            <a:off x="5619625" y="139780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9" name="Google Shape;479;p31"/>
          <p:cNvSpPr txBox="1">
            <a:spLocks noGrp="1"/>
          </p:cNvSpPr>
          <p:nvPr>
            <p:ph type="body" idx="6"/>
          </p:nvPr>
        </p:nvSpPr>
        <p:spPr>
          <a:xfrm>
            <a:off x="5619625" y="212075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80" name="Google Shape;480;p31"/>
          <p:cNvSpPr txBox="1">
            <a:spLocks noGrp="1"/>
          </p:cNvSpPr>
          <p:nvPr>
            <p:ph type="body" idx="7"/>
          </p:nvPr>
        </p:nvSpPr>
        <p:spPr>
          <a:xfrm>
            <a:off x="5619625" y="284340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81" name="Google Shape;481;p31"/>
          <p:cNvSpPr txBox="1">
            <a:spLocks noGrp="1"/>
          </p:cNvSpPr>
          <p:nvPr>
            <p:ph type="body" idx="8"/>
          </p:nvPr>
        </p:nvSpPr>
        <p:spPr>
          <a:xfrm>
            <a:off x="5619625" y="356635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82" name="Google Shape;482;p31"/>
          <p:cNvSpPr/>
          <p:nvPr/>
        </p:nvSpPr>
        <p:spPr>
          <a:xfrm rot="5400000">
            <a:off x="47888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3" name="Google Shape;483;p31"/>
          <p:cNvSpPr/>
          <p:nvPr/>
        </p:nvSpPr>
        <p:spPr>
          <a:xfrm rot="5400000">
            <a:off x="47888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4" name="Google Shape;484;p31"/>
          <p:cNvSpPr/>
          <p:nvPr/>
        </p:nvSpPr>
        <p:spPr>
          <a:xfrm rot="5400000">
            <a:off x="47888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5" name="Google Shape;485;p31"/>
          <p:cNvSpPr/>
          <p:nvPr/>
        </p:nvSpPr>
        <p:spPr>
          <a:xfrm rot="5400000">
            <a:off x="883425" y="35769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6" name="Google Shape;486;p31"/>
          <p:cNvSpPr/>
          <p:nvPr/>
        </p:nvSpPr>
        <p:spPr>
          <a:xfrm rot="5400000">
            <a:off x="8834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7" name="Google Shape;487;p31"/>
          <p:cNvSpPr/>
          <p:nvPr/>
        </p:nvSpPr>
        <p:spPr>
          <a:xfrm rot="5400000">
            <a:off x="8834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8" name="Google Shape;488;p31"/>
          <p:cNvSpPr/>
          <p:nvPr/>
        </p:nvSpPr>
        <p:spPr>
          <a:xfrm rot="5400000">
            <a:off x="8834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9" name="Google Shape;489;p31"/>
          <p:cNvSpPr txBox="1"/>
          <p:nvPr/>
        </p:nvSpPr>
        <p:spPr>
          <a:xfrm>
            <a:off x="908769" y="14481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90" name="Google Shape;490;p31"/>
          <p:cNvSpPr txBox="1"/>
          <p:nvPr/>
        </p:nvSpPr>
        <p:spPr>
          <a:xfrm>
            <a:off x="908769" y="21816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91" name="Google Shape;491;p31"/>
          <p:cNvSpPr txBox="1"/>
          <p:nvPr/>
        </p:nvSpPr>
        <p:spPr>
          <a:xfrm>
            <a:off x="908769" y="29151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92" name="Google Shape;492;p31"/>
          <p:cNvSpPr txBox="1"/>
          <p:nvPr/>
        </p:nvSpPr>
        <p:spPr>
          <a:xfrm>
            <a:off x="908769" y="36485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93" name="Google Shape;493;p31"/>
          <p:cNvSpPr txBox="1"/>
          <p:nvPr/>
        </p:nvSpPr>
        <p:spPr>
          <a:xfrm>
            <a:off x="4814169" y="14482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94" name="Google Shape;494;p31"/>
          <p:cNvSpPr txBox="1"/>
          <p:nvPr/>
        </p:nvSpPr>
        <p:spPr>
          <a:xfrm>
            <a:off x="4814169" y="2181664"/>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495" name="Google Shape;495;p31"/>
          <p:cNvSpPr txBox="1"/>
          <p:nvPr/>
        </p:nvSpPr>
        <p:spPr>
          <a:xfrm>
            <a:off x="4814169" y="29151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496" name="Google Shape;496;p31"/>
          <p:cNvSpPr/>
          <p:nvPr/>
        </p:nvSpPr>
        <p:spPr>
          <a:xfrm rot="5400000">
            <a:off x="4788825" y="356642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97" name="Google Shape;497;p31"/>
          <p:cNvSpPr txBox="1"/>
          <p:nvPr/>
        </p:nvSpPr>
        <p:spPr>
          <a:xfrm>
            <a:off x="4814169" y="3638040"/>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97 - Table des matières [9]">
  <p:cSld name="97 - Table des matières [9]">
    <p:spTree>
      <p:nvGrpSpPr>
        <p:cNvPr id="1" name="Shape 498"/>
        <p:cNvGrpSpPr/>
        <p:nvPr/>
      </p:nvGrpSpPr>
      <p:grpSpPr>
        <a:xfrm>
          <a:off x="0" y="0"/>
          <a:ext cx="0" cy="0"/>
          <a:chOff x="0" y="0"/>
          <a:chExt cx="0" cy="0"/>
        </a:xfrm>
      </p:grpSpPr>
      <p:sp>
        <p:nvSpPr>
          <p:cNvPr id="499" name="Google Shape;499;p32"/>
          <p:cNvSpPr txBox="1">
            <a:spLocks noGrp="1"/>
          </p:cNvSpPr>
          <p:nvPr>
            <p:ph type="title"/>
          </p:nvPr>
        </p:nvSpPr>
        <p:spPr>
          <a:xfrm>
            <a:off x="564931" y="362212"/>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500" name="Google Shape;500;p32"/>
          <p:cNvSpPr txBox="1">
            <a:spLocks noGrp="1"/>
          </p:cNvSpPr>
          <p:nvPr>
            <p:ph type="body" idx="1"/>
          </p:nvPr>
        </p:nvSpPr>
        <p:spPr>
          <a:xfrm>
            <a:off x="1681525" y="112242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1" name="Google Shape;501;p32"/>
          <p:cNvSpPr txBox="1">
            <a:spLocks noGrp="1"/>
          </p:cNvSpPr>
          <p:nvPr>
            <p:ph type="body" idx="2"/>
          </p:nvPr>
        </p:nvSpPr>
        <p:spPr>
          <a:xfrm>
            <a:off x="1681525" y="18195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2" name="Google Shape;502;p32"/>
          <p:cNvSpPr txBox="1">
            <a:spLocks noGrp="1"/>
          </p:cNvSpPr>
          <p:nvPr>
            <p:ph type="body" idx="3"/>
          </p:nvPr>
        </p:nvSpPr>
        <p:spPr>
          <a:xfrm>
            <a:off x="1681525" y="249002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3" name="Google Shape;503;p32"/>
          <p:cNvSpPr txBox="1">
            <a:spLocks noGrp="1"/>
          </p:cNvSpPr>
          <p:nvPr>
            <p:ph type="body" idx="4"/>
          </p:nvPr>
        </p:nvSpPr>
        <p:spPr>
          <a:xfrm>
            <a:off x="1681525" y="32864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4" name="Google Shape;504;p32"/>
          <p:cNvSpPr txBox="1">
            <a:spLocks noGrp="1"/>
          </p:cNvSpPr>
          <p:nvPr>
            <p:ph type="body" idx="5"/>
          </p:nvPr>
        </p:nvSpPr>
        <p:spPr>
          <a:xfrm>
            <a:off x="1681525" y="39788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5" name="Google Shape;505;p32"/>
          <p:cNvSpPr txBox="1">
            <a:spLocks noGrp="1"/>
          </p:cNvSpPr>
          <p:nvPr>
            <p:ph type="body" idx="6"/>
          </p:nvPr>
        </p:nvSpPr>
        <p:spPr>
          <a:xfrm>
            <a:off x="5619625" y="107717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6" name="Google Shape;506;p32"/>
          <p:cNvSpPr txBox="1">
            <a:spLocks noGrp="1"/>
          </p:cNvSpPr>
          <p:nvPr>
            <p:ph type="body" idx="7"/>
          </p:nvPr>
        </p:nvSpPr>
        <p:spPr>
          <a:xfrm>
            <a:off x="5619625" y="181062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7" name="Google Shape;507;p32"/>
          <p:cNvSpPr txBox="1">
            <a:spLocks noGrp="1"/>
          </p:cNvSpPr>
          <p:nvPr>
            <p:ph type="body" idx="8"/>
          </p:nvPr>
        </p:nvSpPr>
        <p:spPr>
          <a:xfrm>
            <a:off x="5619625" y="260707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8" name="Google Shape;508;p32"/>
          <p:cNvSpPr txBox="1">
            <a:spLocks noGrp="1"/>
          </p:cNvSpPr>
          <p:nvPr>
            <p:ph type="body" idx="9"/>
          </p:nvPr>
        </p:nvSpPr>
        <p:spPr>
          <a:xfrm>
            <a:off x="5619625" y="321452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9" name="Google Shape;509;p32"/>
          <p:cNvSpPr/>
          <p:nvPr/>
        </p:nvSpPr>
        <p:spPr>
          <a:xfrm rot="5400000">
            <a:off x="8834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0" name="Google Shape;510;p32"/>
          <p:cNvSpPr/>
          <p:nvPr/>
        </p:nvSpPr>
        <p:spPr>
          <a:xfrm rot="5400000">
            <a:off x="4788825" y="10885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1" name="Google Shape;511;p32"/>
          <p:cNvSpPr/>
          <p:nvPr/>
        </p:nvSpPr>
        <p:spPr>
          <a:xfrm rot="5400000">
            <a:off x="4788825" y="1811462"/>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2" name="Google Shape;512;p32"/>
          <p:cNvSpPr/>
          <p:nvPr/>
        </p:nvSpPr>
        <p:spPr>
          <a:xfrm rot="5400000">
            <a:off x="883425" y="32721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3" name="Google Shape;513;p32"/>
          <p:cNvSpPr/>
          <p:nvPr/>
        </p:nvSpPr>
        <p:spPr>
          <a:xfrm rot="5400000">
            <a:off x="883425" y="18157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4" name="Google Shape;514;p32"/>
          <p:cNvSpPr/>
          <p:nvPr/>
        </p:nvSpPr>
        <p:spPr>
          <a:xfrm rot="5400000">
            <a:off x="883425" y="25387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5" name="Google Shape;515;p32"/>
          <p:cNvSpPr/>
          <p:nvPr/>
        </p:nvSpPr>
        <p:spPr>
          <a:xfrm rot="5400000">
            <a:off x="883425" y="10928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6" name="Google Shape;516;p32"/>
          <p:cNvSpPr txBox="1"/>
          <p:nvPr/>
        </p:nvSpPr>
        <p:spPr>
          <a:xfrm>
            <a:off x="908769" y="11433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517" name="Google Shape;517;p32"/>
          <p:cNvSpPr txBox="1"/>
          <p:nvPr/>
        </p:nvSpPr>
        <p:spPr>
          <a:xfrm>
            <a:off x="908769" y="18768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518" name="Google Shape;518;p32"/>
          <p:cNvSpPr txBox="1"/>
          <p:nvPr/>
        </p:nvSpPr>
        <p:spPr>
          <a:xfrm>
            <a:off x="908769" y="26103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519" name="Google Shape;519;p32"/>
          <p:cNvSpPr txBox="1"/>
          <p:nvPr/>
        </p:nvSpPr>
        <p:spPr>
          <a:xfrm>
            <a:off x="908769" y="33437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520" name="Google Shape;520;p32"/>
          <p:cNvSpPr txBox="1"/>
          <p:nvPr/>
        </p:nvSpPr>
        <p:spPr>
          <a:xfrm>
            <a:off x="9087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521" name="Google Shape;521;p32"/>
          <p:cNvSpPr txBox="1"/>
          <p:nvPr/>
        </p:nvSpPr>
        <p:spPr>
          <a:xfrm>
            <a:off x="4814169" y="114962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522" name="Google Shape;522;p32"/>
          <p:cNvSpPr txBox="1"/>
          <p:nvPr/>
        </p:nvSpPr>
        <p:spPr>
          <a:xfrm>
            <a:off x="4814169" y="188307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523" name="Google Shape;523;p32"/>
          <p:cNvSpPr/>
          <p:nvPr/>
        </p:nvSpPr>
        <p:spPr>
          <a:xfrm rot="5400000">
            <a:off x="4788825" y="2534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24" name="Google Shape;524;p32"/>
          <p:cNvSpPr txBox="1"/>
          <p:nvPr/>
        </p:nvSpPr>
        <p:spPr>
          <a:xfrm>
            <a:off x="4814169" y="2606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
        <p:nvSpPr>
          <p:cNvPr id="525" name="Google Shape;525;p32"/>
          <p:cNvSpPr/>
          <p:nvPr/>
        </p:nvSpPr>
        <p:spPr>
          <a:xfrm rot="5400000">
            <a:off x="4788825" y="32573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26" name="Google Shape;526;p32"/>
          <p:cNvSpPr txBox="1"/>
          <p:nvPr/>
        </p:nvSpPr>
        <p:spPr>
          <a:xfrm>
            <a:off x="4814169" y="33289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09</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98 - Table des matières [10]">
  <p:cSld name="98 - Table des matières [10]">
    <p:spTree>
      <p:nvGrpSpPr>
        <p:cNvPr id="1" name="Shape 527"/>
        <p:cNvGrpSpPr/>
        <p:nvPr/>
      </p:nvGrpSpPr>
      <p:grpSpPr>
        <a:xfrm>
          <a:off x="0" y="0"/>
          <a:ext cx="0" cy="0"/>
          <a:chOff x="0" y="0"/>
          <a:chExt cx="0" cy="0"/>
        </a:xfrm>
      </p:grpSpPr>
      <p:sp>
        <p:nvSpPr>
          <p:cNvPr id="528" name="Google Shape;528;p33"/>
          <p:cNvSpPr txBox="1">
            <a:spLocks noGrp="1"/>
          </p:cNvSpPr>
          <p:nvPr>
            <p:ph type="title"/>
          </p:nvPr>
        </p:nvSpPr>
        <p:spPr>
          <a:xfrm>
            <a:off x="564931" y="362212"/>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529" name="Google Shape;529;p33"/>
          <p:cNvSpPr txBox="1">
            <a:spLocks noGrp="1"/>
          </p:cNvSpPr>
          <p:nvPr>
            <p:ph type="body" idx="1"/>
          </p:nvPr>
        </p:nvSpPr>
        <p:spPr>
          <a:xfrm>
            <a:off x="1678225" y="1122425"/>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0" name="Google Shape;530;p33"/>
          <p:cNvSpPr txBox="1">
            <a:spLocks noGrp="1"/>
          </p:cNvSpPr>
          <p:nvPr>
            <p:ph type="body" idx="2"/>
          </p:nvPr>
        </p:nvSpPr>
        <p:spPr>
          <a:xfrm>
            <a:off x="1678225" y="181957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1" name="Google Shape;531;p33"/>
          <p:cNvSpPr txBox="1">
            <a:spLocks noGrp="1"/>
          </p:cNvSpPr>
          <p:nvPr>
            <p:ph type="body" idx="3"/>
          </p:nvPr>
        </p:nvSpPr>
        <p:spPr>
          <a:xfrm>
            <a:off x="1678225" y="255302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2" name="Google Shape;532;p33"/>
          <p:cNvSpPr txBox="1">
            <a:spLocks noGrp="1"/>
          </p:cNvSpPr>
          <p:nvPr>
            <p:ph type="body" idx="4"/>
          </p:nvPr>
        </p:nvSpPr>
        <p:spPr>
          <a:xfrm>
            <a:off x="1678125" y="328647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3" name="Google Shape;533;p33"/>
          <p:cNvSpPr txBox="1">
            <a:spLocks noGrp="1"/>
          </p:cNvSpPr>
          <p:nvPr>
            <p:ph type="body" idx="5"/>
          </p:nvPr>
        </p:nvSpPr>
        <p:spPr>
          <a:xfrm>
            <a:off x="1681525" y="401517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4" name="Google Shape;534;p33"/>
          <p:cNvSpPr txBox="1">
            <a:spLocks noGrp="1"/>
          </p:cNvSpPr>
          <p:nvPr>
            <p:ph type="body" idx="6"/>
          </p:nvPr>
        </p:nvSpPr>
        <p:spPr>
          <a:xfrm>
            <a:off x="5619625" y="114017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5" name="Google Shape;535;p33"/>
          <p:cNvSpPr txBox="1">
            <a:spLocks noGrp="1"/>
          </p:cNvSpPr>
          <p:nvPr>
            <p:ph type="body" idx="7"/>
          </p:nvPr>
        </p:nvSpPr>
        <p:spPr>
          <a:xfrm>
            <a:off x="5619625" y="18736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6" name="Google Shape;536;p33"/>
          <p:cNvSpPr txBox="1">
            <a:spLocks noGrp="1"/>
          </p:cNvSpPr>
          <p:nvPr>
            <p:ph type="body" idx="8"/>
          </p:nvPr>
        </p:nvSpPr>
        <p:spPr>
          <a:xfrm>
            <a:off x="5619625" y="254407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7" name="Google Shape;537;p33"/>
          <p:cNvSpPr txBox="1">
            <a:spLocks noGrp="1"/>
          </p:cNvSpPr>
          <p:nvPr>
            <p:ph type="body" idx="9"/>
          </p:nvPr>
        </p:nvSpPr>
        <p:spPr>
          <a:xfrm>
            <a:off x="5619625" y="33405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8" name="Google Shape;538;p33"/>
          <p:cNvSpPr txBox="1">
            <a:spLocks noGrp="1"/>
          </p:cNvSpPr>
          <p:nvPr>
            <p:ph type="body" idx="13"/>
          </p:nvPr>
        </p:nvSpPr>
        <p:spPr>
          <a:xfrm>
            <a:off x="5619625" y="40329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9" name="Google Shape;539;p33"/>
          <p:cNvSpPr/>
          <p:nvPr/>
        </p:nvSpPr>
        <p:spPr>
          <a:xfrm rot="5400000">
            <a:off x="8834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0" name="Google Shape;540;p33"/>
          <p:cNvSpPr/>
          <p:nvPr/>
        </p:nvSpPr>
        <p:spPr>
          <a:xfrm rot="5400000">
            <a:off x="4788825" y="10885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1" name="Google Shape;541;p33"/>
          <p:cNvSpPr/>
          <p:nvPr/>
        </p:nvSpPr>
        <p:spPr>
          <a:xfrm rot="5400000">
            <a:off x="4788825" y="1811462"/>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2" name="Google Shape;542;p33"/>
          <p:cNvSpPr/>
          <p:nvPr/>
        </p:nvSpPr>
        <p:spPr>
          <a:xfrm rot="5400000">
            <a:off x="883425" y="32721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3" name="Google Shape;543;p33"/>
          <p:cNvSpPr/>
          <p:nvPr/>
        </p:nvSpPr>
        <p:spPr>
          <a:xfrm rot="5400000">
            <a:off x="883425" y="18157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4" name="Google Shape;544;p33"/>
          <p:cNvSpPr/>
          <p:nvPr/>
        </p:nvSpPr>
        <p:spPr>
          <a:xfrm rot="5400000">
            <a:off x="883425" y="25387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5" name="Google Shape;545;p33"/>
          <p:cNvSpPr/>
          <p:nvPr/>
        </p:nvSpPr>
        <p:spPr>
          <a:xfrm rot="5400000">
            <a:off x="883425" y="10928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6" name="Google Shape;546;p33"/>
          <p:cNvSpPr txBox="1"/>
          <p:nvPr/>
        </p:nvSpPr>
        <p:spPr>
          <a:xfrm>
            <a:off x="908769" y="11433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547" name="Google Shape;547;p33"/>
          <p:cNvSpPr txBox="1"/>
          <p:nvPr/>
        </p:nvSpPr>
        <p:spPr>
          <a:xfrm>
            <a:off x="908769" y="18768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548" name="Google Shape;548;p33"/>
          <p:cNvSpPr txBox="1"/>
          <p:nvPr/>
        </p:nvSpPr>
        <p:spPr>
          <a:xfrm>
            <a:off x="908769" y="26103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549" name="Google Shape;549;p33"/>
          <p:cNvSpPr txBox="1"/>
          <p:nvPr/>
        </p:nvSpPr>
        <p:spPr>
          <a:xfrm>
            <a:off x="908769" y="33437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550" name="Google Shape;550;p33"/>
          <p:cNvSpPr txBox="1"/>
          <p:nvPr/>
        </p:nvSpPr>
        <p:spPr>
          <a:xfrm>
            <a:off x="9087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551" name="Google Shape;551;p33"/>
          <p:cNvSpPr txBox="1"/>
          <p:nvPr/>
        </p:nvSpPr>
        <p:spPr>
          <a:xfrm>
            <a:off x="4814169" y="114962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552" name="Google Shape;552;p33"/>
          <p:cNvSpPr txBox="1"/>
          <p:nvPr/>
        </p:nvSpPr>
        <p:spPr>
          <a:xfrm>
            <a:off x="4814169" y="188307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553" name="Google Shape;553;p33"/>
          <p:cNvSpPr/>
          <p:nvPr/>
        </p:nvSpPr>
        <p:spPr>
          <a:xfrm rot="5400000">
            <a:off x="4788825" y="2534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4" name="Google Shape;554;p33"/>
          <p:cNvSpPr txBox="1"/>
          <p:nvPr/>
        </p:nvSpPr>
        <p:spPr>
          <a:xfrm>
            <a:off x="4814169" y="2606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
        <p:nvSpPr>
          <p:cNvPr id="555" name="Google Shape;555;p33"/>
          <p:cNvSpPr/>
          <p:nvPr/>
        </p:nvSpPr>
        <p:spPr>
          <a:xfrm rot="5400000">
            <a:off x="4788825" y="3261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6" name="Google Shape;556;p33"/>
          <p:cNvSpPr txBox="1"/>
          <p:nvPr/>
        </p:nvSpPr>
        <p:spPr>
          <a:xfrm>
            <a:off x="4814169" y="3333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09</a:t>
            </a:r>
            <a:endParaRPr sz="1700" b="0" i="0" u="none" strike="noStrike" cap="none">
              <a:solidFill>
                <a:srgbClr val="0E2356"/>
              </a:solidFill>
              <a:latin typeface="Outfit"/>
              <a:ea typeface="Outfit"/>
              <a:cs typeface="Outfit"/>
              <a:sym typeface="Outfit"/>
            </a:endParaRPr>
          </a:p>
        </p:txBody>
      </p:sp>
      <p:sp>
        <p:nvSpPr>
          <p:cNvPr id="557" name="Google Shape;557;p33"/>
          <p:cNvSpPr/>
          <p:nvPr/>
        </p:nvSpPr>
        <p:spPr>
          <a:xfrm rot="5400000">
            <a:off x="47888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8" name="Google Shape;558;p33"/>
          <p:cNvSpPr txBox="1"/>
          <p:nvPr/>
        </p:nvSpPr>
        <p:spPr>
          <a:xfrm>
            <a:off x="48141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US" sz="1700" b="1" i="0" u="none" strike="noStrike" cap="none">
                <a:solidFill>
                  <a:srgbClr val="0E2356"/>
                </a:solidFill>
                <a:latin typeface="Outfit"/>
                <a:ea typeface="Outfit"/>
                <a:cs typeface="Outfit"/>
                <a:sym typeface="Outfit"/>
              </a:rPr>
              <a:t>10</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99 - Table des matières [all]">
  <p:cSld name="99 - Table des matières [all]">
    <p:spTree>
      <p:nvGrpSpPr>
        <p:cNvPr id="1" name="Shape 559"/>
        <p:cNvGrpSpPr/>
        <p:nvPr/>
      </p:nvGrpSpPr>
      <p:grpSpPr>
        <a:xfrm>
          <a:off x="0" y="0"/>
          <a:ext cx="0" cy="0"/>
          <a:chOff x="0" y="0"/>
          <a:chExt cx="0" cy="0"/>
        </a:xfrm>
      </p:grpSpPr>
      <p:sp>
        <p:nvSpPr>
          <p:cNvPr id="560" name="Google Shape;560;p34"/>
          <p:cNvSpPr txBox="1">
            <a:spLocks noGrp="1"/>
          </p:cNvSpPr>
          <p:nvPr>
            <p:ph type="title"/>
          </p:nvPr>
        </p:nvSpPr>
        <p:spPr>
          <a:xfrm>
            <a:off x="564931" y="360737"/>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9pPr>
          </a:lstStyle>
          <a:p>
            <a:endParaRPr/>
          </a:p>
        </p:txBody>
      </p:sp>
      <p:sp>
        <p:nvSpPr>
          <p:cNvPr id="561" name="Google Shape;561;p34"/>
          <p:cNvSpPr txBox="1">
            <a:spLocks noGrp="1"/>
          </p:cNvSpPr>
          <p:nvPr>
            <p:ph type="body" idx="1"/>
          </p:nvPr>
        </p:nvSpPr>
        <p:spPr>
          <a:xfrm>
            <a:off x="571500" y="803050"/>
            <a:ext cx="7053000" cy="4077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62" name="Google Shape;562;p34"/>
          <p:cNvSpPr txBox="1">
            <a:spLocks noGrp="1"/>
          </p:cNvSpPr>
          <p:nvPr>
            <p:ph type="body" idx="2"/>
          </p:nvPr>
        </p:nvSpPr>
        <p:spPr>
          <a:xfrm>
            <a:off x="7624600" y="803050"/>
            <a:ext cx="1016100" cy="4077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03 - Titre et sous-titre 2">
  <p:cSld name="03 - Titre et sous-titre_1_2">
    <p:spTree>
      <p:nvGrpSpPr>
        <p:cNvPr id="1" name="Shape 563"/>
        <p:cNvGrpSpPr/>
        <p:nvPr/>
      </p:nvGrpSpPr>
      <p:grpSpPr>
        <a:xfrm>
          <a:off x="0" y="0"/>
          <a:ext cx="0" cy="0"/>
          <a:chOff x="0" y="0"/>
          <a:chExt cx="0" cy="0"/>
        </a:xfrm>
      </p:grpSpPr>
      <p:sp>
        <p:nvSpPr>
          <p:cNvPr id="564" name="Google Shape;564;p35"/>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565" name="Google Shape;565;p35"/>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276301" y="292130"/>
            <a:ext cx="170063" cy="166438"/>
            <a:chOff x="6838242" y="518225"/>
            <a:chExt cx="1247708" cy="1221114"/>
          </a:xfrm>
        </p:grpSpPr>
        <p:sp>
          <p:nvSpPr>
            <p:cNvPr id="7" name="Google Shape;7;p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 name="Google Shape;8;p1"/>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9" name="Google Shape;9;p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10" name="Google Shape;10;p1"/>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US" sz="800" b="0" i="0" u="none" strike="noStrike" cap="none">
                <a:solidFill>
                  <a:srgbClr val="00D2DD"/>
                </a:solidFill>
                <a:latin typeface="Outfit SemiBold"/>
                <a:ea typeface="Outfit SemiBold"/>
                <a:cs typeface="Outfit SemiBold"/>
                <a:sym typeface="Outfit SemiBold"/>
              </a:rPr>
              <a:t>.</a:t>
            </a:r>
            <a:fld id="{00000000-1234-1234-1234-123412341234}" type="slidenum">
              <a:rPr lang="en-US"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1" name="Google Shape;11;p1"/>
          <p:cNvCxnSpPr>
            <a:stCxn id="12"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3" name="Google Shape;13;p1"/>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4" name="Google Shape;14;p1"/>
          <p:cNvCxnSpPr>
            <a:endCxn id="13"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5" name="Google Shape;15;p1"/>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2" name="Google Shape;12;p1"/>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6" name="Google Shape;16;p1"/>
          <p:cNvCxnSpPr>
            <a:stCxn id="15" idx="2"/>
            <a:endCxn id="13"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7" name="Google Shape;17;p1"/>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US" sz="500" b="0" i="0" u="none" strike="noStrike" cap="none">
                <a:solidFill>
                  <a:schemeClr val="dk1"/>
                </a:solidFill>
                <a:latin typeface="Outfit Medium"/>
                <a:ea typeface="Outfit Medium"/>
                <a:cs typeface="Outfit Medium"/>
                <a:sym typeface="Outfit Medium"/>
              </a:rPr>
              <a:t>OCTO I PART OF ACCENTURE</a:t>
            </a:r>
            <a:r>
              <a:rPr lang="en-US" sz="500" b="0" i="0" u="none" strike="noStrike" cap="none">
                <a:solidFill>
                  <a:schemeClr val="dk1"/>
                </a:solidFill>
                <a:latin typeface="Outfit"/>
                <a:ea typeface="Outfit"/>
                <a:cs typeface="Outfit"/>
                <a:sym typeface="Outfit"/>
              </a:rPr>
              <a:t>© 202</a:t>
            </a:r>
            <a:r>
              <a:rPr lang="en-US" sz="500">
                <a:solidFill>
                  <a:schemeClr val="dk1"/>
                </a:solidFill>
                <a:latin typeface="Outfit"/>
                <a:ea typeface="Outfit"/>
                <a:cs typeface="Outfit"/>
                <a:sym typeface="Outfit"/>
              </a:rPr>
              <a:t>6</a:t>
            </a:r>
            <a:r>
              <a:rPr lang="en-US"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796">
          <p15:clr>
            <a:srgbClr val="EA4335"/>
          </p15:clr>
        </p15:guide>
        <p15:guide id="2" pos="2880">
          <p15:clr>
            <a:srgbClr val="EA4335"/>
          </p15:clr>
        </p15:guide>
        <p15:guide id="3" orient="horz" pos="3064">
          <p15:clr>
            <a:srgbClr val="EA4335"/>
          </p15:clr>
        </p15:guide>
        <p15:guide id="4" orient="horz" pos="236">
          <p15:clr>
            <a:srgbClr val="EA4335"/>
          </p15:clr>
        </p15:guide>
        <p15:guide id="5" pos="360">
          <p15:clr>
            <a:srgbClr val="EA4335"/>
          </p15:clr>
        </p15:guide>
        <p15:guide id="6" pos="5403">
          <p15:clr>
            <a:srgbClr val="EA4335"/>
          </p15:clr>
        </p15:guide>
        <p15:guide id="7" orient="horz" pos="515">
          <p15:clr>
            <a:srgbClr val="E46962"/>
          </p15:clr>
        </p15:guide>
        <p15:guide id="8" orient="horz" pos="802">
          <p15:clr>
            <a:srgbClr val="E46962"/>
          </p15:clr>
        </p15:guide>
        <p15:guide id="9" pos="3697">
          <p15:clr>
            <a:srgbClr val="E46962"/>
          </p15:clr>
        </p15:guide>
        <p15:guide id="10" pos="2168">
          <p15:clr>
            <a:srgbClr val="E46962"/>
          </p15:clr>
        </p15:guide>
        <p15:guide id="11" pos="3372">
          <p15:clr>
            <a:srgbClr val="E46962"/>
          </p15:clr>
        </p15:guide>
        <p15:guide id="12" pos="24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Outfit"/>
              </a:rPr>
              <a:t>BMAD IAP</a:t>
            </a:r>
          </a:p>
        </p:txBody>
      </p:sp>
      <p:sp>
        <p:nvSpPr>
          <p:cNvPr id="3" name="Subtitle 2"/>
          <p:cNvSpPr>
            <a:spLocks noGrp="1"/>
          </p:cNvSpPr>
          <p:nvPr>
            <p:ph type="subTitle" idx="1"/>
          </p:nvPr>
        </p:nvSpPr>
        <p:spPr/>
        <p:txBody>
          <a:bodyPr/>
          <a:lstStyle/>
          <a:p>
            <a:r>
              <a:rPr>
                <a:latin typeface="Outfit"/>
              </a:rPr>
              <a:t>Infra as a Product Transformation Pack — synthèse de cadrage</a:t>
            </a:r>
          </a:p>
        </p:txBody>
      </p:sp>
      <p:sp>
        <p:nvSpPr>
          <p:cNvPr id="4" name="Title 3"/>
          <p:cNvSpPr>
            <a:spLocks noGrp="1"/>
          </p:cNvSpPr>
          <p:nvPr>
            <p:ph type="title" idx="2"/>
          </p:nvPr>
        </p:nvSpPr>
        <p:spPr/>
        <p:txBody>
          <a:bodyPr/>
          <a:lstStyle/>
          <a:p>
            <a:r>
              <a:rPr>
                <a:latin typeface="Outfit"/>
              </a:rPr>
              <a:t>OCTO Technology</a:t>
            </a:r>
          </a:p>
        </p:txBody>
      </p:sp>
      <p:sp>
        <p:nvSpPr>
          <p:cNvPr id="5" name="Title 4"/>
          <p:cNvSpPr>
            <a:spLocks noGrp="1"/>
          </p:cNvSpPr>
          <p:nvPr>
            <p:ph type="title" idx="3"/>
          </p:nvPr>
        </p:nvSpPr>
        <p:spPr/>
        <p:txBody>
          <a:bodyPr/>
          <a:lstStyle/>
          <a:p>
            <a:r>
              <a:rPr>
                <a:latin typeface="Outfit"/>
              </a:rPr>
              <a:t>v2.43 · 2026-09-23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EXECUTIVE SUMMARY   ·   </a:t>
            </a:r>
            <a:r>
              <a:rPr b="1" sz="1200">
                <a:solidFill>
                  <a:srgbClr val="0E2356"/>
                </a:solidFill>
                <a:latin typeface="Outfit"/>
              </a:rPr>
              <a:t>Du pourquoi à la preuve : une transformation cadrée de bout en bout</a:t>
            </a:r>
          </a:p>
        </p:txBody>
      </p:sp>
      <p:sp>
        <p:nvSpPr>
          <p:cNvPr id="3" name="TextBox 2"/>
          <p:cNvSpPr txBox="1"/>
          <p:nvPr/>
        </p:nvSpPr>
        <p:spPr>
          <a:xfrm>
            <a:off x="562356" y="1051560"/>
            <a:ext cx="7804404" cy="566928"/>
          </a:xfrm>
          <a:prstGeom prst="rect">
            <a:avLst/>
          </a:prstGeom>
          <a:noFill/>
        </p:spPr>
        <p:txBody>
          <a:bodyPr wrap="square" anchor="t" lIns="0" rIns="0" tIns="0" bIns="0">
            <a:noAutofit/>
          </a:bodyPr>
          <a:lstStyle/>
          <a:p>
            <a:pPr algn="l">
              <a:lnSpc>
                <a:spcPct val="130000"/>
              </a:lnSpc>
            </a:pPr>
            <a:r>
              <a:rPr sz="1050" b="0" i="1">
                <a:solidFill>
                  <a:srgbClr val="0E2356"/>
                </a:solidFill>
                <a:latin typeface="Outfit"/>
              </a:rPr>
              <a:t>Transformer l'infrastructure en plateforme opérée comme un produit, ET traiter structurellement le gaspillage qui l'en empêche — le deck suit le fil : pourquoi, nos convictions, l'offre, comment, et comment démarrer.</a:t>
            </a:r>
          </a:p>
        </p:txBody>
      </p:sp>
      <p:sp>
        <p:nvSpPr>
          <p:cNvPr id="4" name="Rounded Rectangle 3"/>
          <p:cNvSpPr/>
          <p:nvPr/>
        </p:nvSpPr>
        <p:spPr>
          <a:xfrm>
            <a:off x="489204" y="1746504"/>
            <a:ext cx="7950708" cy="2872740"/>
          </a:xfrm>
          <a:prstGeom prst="roundRect">
            <a:avLst>
              <a:gd name="adj" fmla="val 6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2356" y="1892807"/>
            <a:ext cx="1414576" cy="258013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660" y="2020824"/>
            <a:ext cx="1121968" cy="219456"/>
          </a:xfrm>
          <a:prstGeom prst="rect">
            <a:avLst/>
          </a:prstGeom>
          <a:noFill/>
        </p:spPr>
        <p:txBody>
          <a:bodyPr wrap="square" anchor="t" lIns="0" rIns="0" tIns="0" bIns="0">
            <a:noAutofit/>
          </a:bodyPr>
          <a:lstStyle/>
          <a:p>
            <a:pPr algn="l"/>
            <a:r>
              <a:rPr sz="800" b="1" i="0">
                <a:solidFill>
                  <a:srgbClr val="0E2356"/>
                </a:solidFill>
                <a:latin typeface="Outfit"/>
              </a:rPr>
              <a:t>POURQUOI</a:t>
            </a:r>
          </a:p>
        </p:txBody>
      </p:sp>
      <p:sp>
        <p:nvSpPr>
          <p:cNvPr id="7" name="TextBox 6"/>
          <p:cNvSpPr txBox="1"/>
          <p:nvPr/>
        </p:nvSpPr>
        <p:spPr>
          <a:xfrm>
            <a:off x="708660" y="2240279"/>
            <a:ext cx="1121968" cy="621792"/>
          </a:xfrm>
          <a:prstGeom prst="rect">
            <a:avLst/>
          </a:prstGeom>
          <a:noFill/>
        </p:spPr>
        <p:txBody>
          <a:bodyPr wrap="square" anchor="t" lIns="0" rIns="0" tIns="0" bIns="0">
            <a:noAutofit/>
          </a:bodyPr>
          <a:lstStyle/>
          <a:p>
            <a:pPr algn="l">
              <a:lnSpc>
                <a:spcPct val="120000"/>
              </a:lnSpc>
            </a:pPr>
            <a:r>
              <a:rPr sz="900" b="1" i="0">
                <a:solidFill>
                  <a:srgbClr val="0E2356"/>
                </a:solidFill>
                <a:latin typeface="Outfit"/>
              </a:rPr>
              <a:t>L'infra subie coûte de plus en plus cher.</a:t>
            </a:r>
          </a:p>
        </p:txBody>
      </p:sp>
      <p:sp>
        <p:nvSpPr>
          <p:cNvPr id="8" name="TextBox 7"/>
          <p:cNvSpPr txBox="1"/>
          <p:nvPr/>
        </p:nvSpPr>
        <p:spPr>
          <a:xfrm>
            <a:off x="708660" y="2953512"/>
            <a:ext cx="1121968" cy="865632"/>
          </a:xfrm>
          <a:prstGeom prst="rect">
            <a:avLst/>
          </a:prstGeom>
          <a:noFill/>
        </p:spPr>
        <p:txBody>
          <a:bodyPr wrap="square" anchor="t" lIns="0" rIns="0" tIns="0" bIns="0">
            <a:noAutofit/>
          </a:bodyPr>
          <a:lstStyle/>
          <a:p>
            <a:pPr algn="l">
              <a:lnSpc>
                <a:spcPct val="130000"/>
              </a:lnSpc>
            </a:pPr>
            <a:r>
              <a:rPr sz="800" b="0" i="0">
                <a:solidFill>
                  <a:srgbClr val="586586"/>
                </a:solidFill>
                <a:latin typeface="Outfit"/>
              </a:rPr>
              <a:t>Trois déclencheurs, un terrain pas comme un autre, ce que coûte le statu quo, des douleurs mesurables et nommées.</a:t>
            </a:r>
          </a:p>
        </p:txBody>
      </p:sp>
      <p:sp>
        <p:nvSpPr>
          <p:cNvPr id="9" name="TextBox 8"/>
          <p:cNvSpPr txBox="1"/>
          <p:nvPr/>
        </p:nvSpPr>
        <p:spPr>
          <a:xfrm>
            <a:off x="708660" y="3947160"/>
            <a:ext cx="1121968" cy="397764"/>
          </a:xfrm>
          <a:prstGeom prst="rect">
            <a:avLst/>
          </a:prstGeom>
          <a:noFill/>
        </p:spPr>
        <p:txBody>
          <a:bodyPr wrap="square" anchor="b" lIns="0" rIns="0" tIns="0" bIns="0">
            <a:noAutofit/>
          </a:bodyPr>
          <a:lstStyle/>
          <a:p>
            <a:pPr algn="l"/>
            <a:r>
              <a:rPr sz="800" b="1" i="0">
                <a:solidFill>
                  <a:srgbClr val="0E2356"/>
                </a:solidFill>
                <a:latin typeface="Outfit"/>
              </a:rPr>
              <a:t>Contexte · Ce que ça coûte</a:t>
            </a:r>
          </a:p>
        </p:txBody>
      </p:sp>
      <p:sp>
        <p:nvSpPr>
          <p:cNvPr id="10" name="TextBox 9"/>
          <p:cNvSpPr txBox="1"/>
          <p:nvPr/>
        </p:nvSpPr>
        <p:spPr>
          <a:xfrm>
            <a:off x="1958644" y="3073146"/>
            <a:ext cx="219456" cy="219456"/>
          </a:xfrm>
          <a:prstGeom prst="rect">
            <a:avLst/>
          </a:prstGeom>
          <a:noFill/>
        </p:spPr>
        <p:txBody>
          <a:bodyPr wrap="square" anchor="ctr" lIns="0" rIns="0" tIns="0" bIns="0">
            <a:noAutofit/>
          </a:bodyPr>
          <a:lstStyle/>
          <a:p>
            <a:pPr algn="ctr"/>
            <a:r>
              <a:rPr sz="1100" b="1" i="0">
                <a:solidFill>
                  <a:srgbClr val="586586"/>
                </a:solidFill>
                <a:latin typeface="Outfit"/>
              </a:rPr>
              <a:t>→</a:t>
            </a:r>
          </a:p>
        </p:txBody>
      </p:sp>
      <p:sp>
        <p:nvSpPr>
          <p:cNvPr id="11" name="Rounded Rectangle 10"/>
          <p:cNvSpPr/>
          <p:nvPr/>
        </p:nvSpPr>
        <p:spPr>
          <a:xfrm>
            <a:off x="2159812" y="1892807"/>
            <a:ext cx="1414576" cy="258013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06116" y="2020824"/>
            <a:ext cx="1121968" cy="219456"/>
          </a:xfrm>
          <a:prstGeom prst="rect">
            <a:avLst/>
          </a:prstGeom>
          <a:noFill/>
        </p:spPr>
        <p:txBody>
          <a:bodyPr wrap="square" anchor="t" lIns="0" rIns="0" tIns="0" bIns="0">
            <a:noAutofit/>
          </a:bodyPr>
          <a:lstStyle/>
          <a:p>
            <a:pPr algn="l"/>
            <a:r>
              <a:rPr sz="800" b="1" i="0">
                <a:solidFill>
                  <a:srgbClr val="0E2356"/>
                </a:solidFill>
                <a:latin typeface="Outfit"/>
              </a:rPr>
              <a:t>CONVICTIONS</a:t>
            </a:r>
          </a:p>
        </p:txBody>
      </p:sp>
      <p:sp>
        <p:nvSpPr>
          <p:cNvPr id="13" name="TextBox 12"/>
          <p:cNvSpPr txBox="1"/>
          <p:nvPr/>
        </p:nvSpPr>
        <p:spPr>
          <a:xfrm>
            <a:off x="2306116" y="2240279"/>
            <a:ext cx="1121968" cy="621792"/>
          </a:xfrm>
          <a:prstGeom prst="rect">
            <a:avLst/>
          </a:prstGeom>
          <a:noFill/>
        </p:spPr>
        <p:txBody>
          <a:bodyPr wrap="square" anchor="t" lIns="0" rIns="0" tIns="0" bIns="0">
            <a:noAutofit/>
          </a:bodyPr>
          <a:lstStyle/>
          <a:p>
            <a:pPr algn="l">
              <a:lnSpc>
                <a:spcPct val="120000"/>
              </a:lnSpc>
            </a:pPr>
            <a:r>
              <a:rPr sz="900" b="1" i="0">
                <a:solidFill>
                  <a:srgbClr val="0E2356"/>
                </a:solidFill>
                <a:latin typeface="Outfit"/>
              </a:rPr>
              <a:t>Partir des utilisateurs, traiter le gaspillage d'abord.</a:t>
            </a:r>
          </a:p>
        </p:txBody>
      </p:sp>
      <p:sp>
        <p:nvSpPr>
          <p:cNvPr id="14" name="TextBox 13"/>
          <p:cNvSpPr txBox="1"/>
          <p:nvPr/>
        </p:nvSpPr>
        <p:spPr>
          <a:xfrm>
            <a:off x="2306116" y="2953512"/>
            <a:ext cx="1121968" cy="865632"/>
          </a:xfrm>
          <a:prstGeom prst="rect">
            <a:avLst/>
          </a:prstGeom>
          <a:noFill/>
        </p:spPr>
        <p:txBody>
          <a:bodyPr wrap="square" anchor="t" lIns="0" rIns="0" tIns="0" bIns="0">
            <a:noAutofit/>
          </a:bodyPr>
          <a:lstStyle/>
          <a:p>
            <a:pPr algn="l">
              <a:lnSpc>
                <a:spcPct val="130000"/>
              </a:lnSpc>
            </a:pPr>
            <a:r>
              <a:rPr sz="800" b="0" i="0">
                <a:solidFill>
                  <a:srgbClr val="586586"/>
                </a:solidFill>
                <a:latin typeface="Outfit"/>
              </a:rPr>
              <a:t>Cinq convictions sur ce qui fait réussir une infra en mode produit — et un exemple avant/après de ce qu'elle change.</a:t>
            </a:r>
          </a:p>
        </p:txBody>
      </p:sp>
      <p:sp>
        <p:nvSpPr>
          <p:cNvPr id="15" name="TextBox 14"/>
          <p:cNvSpPr txBox="1"/>
          <p:nvPr/>
        </p:nvSpPr>
        <p:spPr>
          <a:xfrm>
            <a:off x="2306116" y="3947160"/>
            <a:ext cx="1121968" cy="397764"/>
          </a:xfrm>
          <a:prstGeom prst="rect">
            <a:avLst/>
          </a:prstGeom>
          <a:noFill/>
        </p:spPr>
        <p:txBody>
          <a:bodyPr wrap="square" anchor="b" lIns="0" rIns="0" tIns="0" bIns="0">
            <a:noAutofit/>
          </a:bodyPr>
          <a:lstStyle/>
          <a:p>
            <a:pPr algn="l"/>
            <a:r>
              <a:rPr sz="800" b="1" i="0">
                <a:solidFill>
                  <a:srgbClr val="0E2356"/>
                </a:solidFill>
                <a:latin typeface="Outfit"/>
              </a:rPr>
              <a:t>Nos convictions</a:t>
            </a:r>
          </a:p>
        </p:txBody>
      </p:sp>
      <p:sp>
        <p:nvSpPr>
          <p:cNvPr id="16" name="TextBox 15"/>
          <p:cNvSpPr txBox="1"/>
          <p:nvPr/>
        </p:nvSpPr>
        <p:spPr>
          <a:xfrm>
            <a:off x="3556101" y="3073146"/>
            <a:ext cx="219456" cy="219456"/>
          </a:xfrm>
          <a:prstGeom prst="rect">
            <a:avLst/>
          </a:prstGeom>
          <a:noFill/>
        </p:spPr>
        <p:txBody>
          <a:bodyPr wrap="square" anchor="ctr" lIns="0" rIns="0" tIns="0" bIns="0">
            <a:noAutofit/>
          </a:bodyPr>
          <a:lstStyle/>
          <a:p>
            <a:pPr algn="ctr"/>
            <a:r>
              <a:rPr sz="1100" b="1" i="0">
                <a:solidFill>
                  <a:srgbClr val="586586"/>
                </a:solidFill>
                <a:latin typeface="Outfit"/>
              </a:rPr>
              <a:t>→</a:t>
            </a:r>
          </a:p>
        </p:txBody>
      </p:sp>
      <p:sp>
        <p:nvSpPr>
          <p:cNvPr id="17" name="Rounded Rectangle 16"/>
          <p:cNvSpPr/>
          <p:nvPr/>
        </p:nvSpPr>
        <p:spPr>
          <a:xfrm>
            <a:off x="3757269" y="1892807"/>
            <a:ext cx="1414576" cy="2580132"/>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573" y="2020824"/>
            <a:ext cx="1121968" cy="219456"/>
          </a:xfrm>
          <a:prstGeom prst="rect">
            <a:avLst/>
          </a:prstGeom>
          <a:noFill/>
        </p:spPr>
        <p:txBody>
          <a:bodyPr wrap="square" anchor="t" lIns="0" rIns="0" tIns="0" bIns="0">
            <a:noAutofit/>
          </a:bodyPr>
          <a:lstStyle/>
          <a:p>
            <a:pPr algn="l"/>
            <a:r>
              <a:rPr sz="800" b="1" i="0">
                <a:solidFill>
                  <a:srgbClr val="FFFFFF"/>
                </a:solidFill>
                <a:latin typeface="Outfit"/>
              </a:rPr>
              <a:t>OFFRE</a:t>
            </a:r>
          </a:p>
        </p:txBody>
      </p:sp>
      <p:sp>
        <p:nvSpPr>
          <p:cNvPr id="19" name="TextBox 18"/>
          <p:cNvSpPr txBox="1"/>
          <p:nvPr/>
        </p:nvSpPr>
        <p:spPr>
          <a:xfrm>
            <a:off x="3903573" y="2240279"/>
            <a:ext cx="1121968" cy="621792"/>
          </a:xfrm>
          <a:prstGeom prst="rect">
            <a:avLst/>
          </a:prstGeom>
          <a:noFill/>
        </p:spPr>
        <p:txBody>
          <a:bodyPr wrap="square" anchor="t" lIns="0" rIns="0" tIns="0" bIns="0">
            <a:noAutofit/>
          </a:bodyPr>
          <a:lstStyle/>
          <a:p>
            <a:pPr algn="l">
              <a:lnSpc>
                <a:spcPct val="120000"/>
              </a:lnSpc>
            </a:pPr>
            <a:r>
              <a:rPr sz="900" b="1" i="0">
                <a:solidFill>
                  <a:srgbClr val="FFFFFF"/>
                </a:solidFill>
                <a:latin typeface="Outfit"/>
              </a:rPr>
              <a:t>Traiter l'infra comme un produit, sans prérequis d'IA.</a:t>
            </a:r>
          </a:p>
        </p:txBody>
      </p:sp>
      <p:sp>
        <p:nvSpPr>
          <p:cNvPr id="20" name="TextBox 19"/>
          <p:cNvSpPr txBox="1"/>
          <p:nvPr/>
        </p:nvSpPr>
        <p:spPr>
          <a:xfrm>
            <a:off x="3903573" y="2953512"/>
            <a:ext cx="1121968" cy="865632"/>
          </a:xfrm>
          <a:prstGeom prst="rect">
            <a:avLst/>
          </a:prstGeom>
          <a:noFill/>
        </p:spPr>
        <p:txBody>
          <a:bodyPr wrap="square" anchor="t" lIns="0" rIns="0" tIns="0" bIns="0">
            <a:noAutofit/>
          </a:bodyPr>
          <a:lstStyle/>
          <a:p>
            <a:pPr algn="l">
              <a:lnSpc>
                <a:spcPct val="130000"/>
              </a:lnSpc>
            </a:pPr>
            <a:r>
              <a:rPr sz="800" b="0" i="0">
                <a:solidFill>
                  <a:srgbClr val="C7CBE0"/>
                </a:solidFill>
                <a:latin typeface="Outfit"/>
              </a:rPr>
              <a:t>La thèse, le gaspillage traité à deux — repéré, priorisé, tenu dans la durée — et la cible Platform Team.</a:t>
            </a:r>
          </a:p>
        </p:txBody>
      </p:sp>
      <p:sp>
        <p:nvSpPr>
          <p:cNvPr id="21" name="TextBox 20"/>
          <p:cNvSpPr txBox="1"/>
          <p:nvPr/>
        </p:nvSpPr>
        <p:spPr>
          <a:xfrm>
            <a:off x="3903573" y="3947160"/>
            <a:ext cx="1121968" cy="397764"/>
          </a:xfrm>
          <a:prstGeom prst="rect">
            <a:avLst/>
          </a:prstGeom>
          <a:noFill/>
        </p:spPr>
        <p:txBody>
          <a:bodyPr wrap="square" anchor="b" lIns="0" rIns="0" tIns="0" bIns="0">
            <a:noAutofit/>
          </a:bodyPr>
          <a:lstStyle/>
          <a:p>
            <a:pPr algn="l"/>
            <a:r>
              <a:rPr sz="800" b="1" i="0">
                <a:solidFill>
                  <a:srgbClr val="FFFFFF"/>
                </a:solidFill>
                <a:latin typeface="Outfit"/>
              </a:rPr>
              <a:t>L'offre</a:t>
            </a:r>
          </a:p>
        </p:txBody>
      </p:sp>
      <p:sp>
        <p:nvSpPr>
          <p:cNvPr id="22" name="TextBox 21"/>
          <p:cNvSpPr txBox="1"/>
          <p:nvPr/>
        </p:nvSpPr>
        <p:spPr>
          <a:xfrm>
            <a:off x="5153558" y="3073146"/>
            <a:ext cx="219456" cy="219456"/>
          </a:xfrm>
          <a:prstGeom prst="rect">
            <a:avLst/>
          </a:prstGeom>
          <a:noFill/>
        </p:spPr>
        <p:txBody>
          <a:bodyPr wrap="square" anchor="ctr" lIns="0" rIns="0" tIns="0" bIns="0">
            <a:noAutofit/>
          </a:bodyPr>
          <a:lstStyle/>
          <a:p>
            <a:pPr algn="ctr"/>
            <a:r>
              <a:rPr sz="1100" b="1" i="0">
                <a:solidFill>
                  <a:srgbClr val="586586"/>
                </a:solidFill>
                <a:latin typeface="Outfit"/>
              </a:rPr>
              <a:t>→</a:t>
            </a:r>
          </a:p>
        </p:txBody>
      </p:sp>
      <p:sp>
        <p:nvSpPr>
          <p:cNvPr id="23" name="Rounded Rectangle 22"/>
          <p:cNvSpPr/>
          <p:nvPr/>
        </p:nvSpPr>
        <p:spPr>
          <a:xfrm>
            <a:off x="5354726" y="1892807"/>
            <a:ext cx="1414576" cy="258013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01030" y="2020824"/>
            <a:ext cx="1121968" cy="219456"/>
          </a:xfrm>
          <a:prstGeom prst="rect">
            <a:avLst/>
          </a:prstGeom>
          <a:noFill/>
        </p:spPr>
        <p:txBody>
          <a:bodyPr wrap="square" anchor="t" lIns="0" rIns="0" tIns="0" bIns="0">
            <a:noAutofit/>
          </a:bodyPr>
          <a:lstStyle/>
          <a:p>
            <a:pPr algn="l"/>
            <a:r>
              <a:rPr sz="800" b="1" i="0">
                <a:solidFill>
                  <a:srgbClr val="0E2356"/>
                </a:solidFill>
                <a:latin typeface="Outfit"/>
              </a:rPr>
              <a:t>COMMENT</a:t>
            </a:r>
          </a:p>
        </p:txBody>
      </p:sp>
      <p:sp>
        <p:nvSpPr>
          <p:cNvPr id="25" name="TextBox 24"/>
          <p:cNvSpPr txBox="1"/>
          <p:nvPr/>
        </p:nvSpPr>
        <p:spPr>
          <a:xfrm>
            <a:off x="5501030" y="2240279"/>
            <a:ext cx="1121968" cy="621792"/>
          </a:xfrm>
          <a:prstGeom prst="rect">
            <a:avLst/>
          </a:prstGeom>
          <a:noFill/>
        </p:spPr>
        <p:txBody>
          <a:bodyPr wrap="square" anchor="t" lIns="0" rIns="0" tIns="0" bIns="0">
            <a:noAutofit/>
          </a:bodyPr>
          <a:lstStyle/>
          <a:p>
            <a:pPr algn="l">
              <a:lnSpc>
                <a:spcPct val="120000"/>
              </a:lnSpc>
            </a:pPr>
            <a:r>
              <a:rPr sz="900" b="1" i="0">
                <a:solidFill>
                  <a:srgbClr val="0E2356"/>
                </a:solidFill>
                <a:latin typeface="Outfit"/>
              </a:rPr>
              <a:t>Trois temps et une boucle, personnes comprises.</a:t>
            </a:r>
          </a:p>
        </p:txBody>
      </p:sp>
      <p:sp>
        <p:nvSpPr>
          <p:cNvPr id="26" name="TextBox 25"/>
          <p:cNvSpPr txBox="1"/>
          <p:nvPr/>
        </p:nvSpPr>
        <p:spPr>
          <a:xfrm>
            <a:off x="5501030" y="2953512"/>
            <a:ext cx="1121968" cy="865632"/>
          </a:xfrm>
          <a:prstGeom prst="rect">
            <a:avLst/>
          </a:prstGeom>
          <a:noFill/>
        </p:spPr>
        <p:txBody>
          <a:bodyPr wrap="square" anchor="t" lIns="0" rIns="0" tIns="0" bIns="0">
            <a:noAutofit/>
          </a:bodyPr>
          <a:lstStyle/>
          <a:p>
            <a:pPr algn="l">
              <a:lnSpc>
                <a:spcPct val="130000"/>
              </a:lnSpc>
            </a:pPr>
            <a:r>
              <a:rPr sz="800" b="0" i="0">
                <a:solidFill>
                  <a:srgbClr val="586586"/>
                </a:solidFill>
                <a:latin typeface="Outfit"/>
              </a:rPr>
              <a:t>Démarche ①②③⟲ et ses deux fils ; en complément, jamais en prérequis, le chapitre L'expertise agentic d'OCTO.</a:t>
            </a:r>
          </a:p>
        </p:txBody>
      </p:sp>
      <p:sp>
        <p:nvSpPr>
          <p:cNvPr id="27" name="TextBox 26"/>
          <p:cNvSpPr txBox="1"/>
          <p:nvPr/>
        </p:nvSpPr>
        <p:spPr>
          <a:xfrm>
            <a:off x="5501030" y="3947160"/>
            <a:ext cx="1121968" cy="397764"/>
          </a:xfrm>
          <a:prstGeom prst="rect">
            <a:avLst/>
          </a:prstGeom>
          <a:noFill/>
        </p:spPr>
        <p:txBody>
          <a:bodyPr wrap="square" anchor="b" lIns="0" rIns="0" tIns="0" bIns="0">
            <a:noAutofit/>
          </a:bodyPr>
          <a:lstStyle/>
          <a:p>
            <a:pPr algn="l"/>
            <a:r>
              <a:rPr sz="800" b="1" i="0">
                <a:solidFill>
                  <a:srgbClr val="0E2356"/>
                </a:solidFill>
                <a:latin typeface="Outfit"/>
              </a:rPr>
              <a:t>La démarche · L'expertise agentic d'OCTO</a:t>
            </a:r>
          </a:p>
        </p:txBody>
      </p:sp>
      <p:sp>
        <p:nvSpPr>
          <p:cNvPr id="28" name="TextBox 27"/>
          <p:cNvSpPr txBox="1"/>
          <p:nvPr/>
        </p:nvSpPr>
        <p:spPr>
          <a:xfrm>
            <a:off x="6751015" y="3073146"/>
            <a:ext cx="219456" cy="219456"/>
          </a:xfrm>
          <a:prstGeom prst="rect">
            <a:avLst/>
          </a:prstGeom>
          <a:noFill/>
        </p:spPr>
        <p:txBody>
          <a:bodyPr wrap="square" anchor="ctr" lIns="0" rIns="0" tIns="0" bIns="0">
            <a:noAutofit/>
          </a:bodyPr>
          <a:lstStyle/>
          <a:p>
            <a:pPr algn="ctr"/>
            <a:r>
              <a:rPr sz="1100" b="1" i="0">
                <a:solidFill>
                  <a:srgbClr val="586586"/>
                </a:solidFill>
                <a:latin typeface="Outfit"/>
              </a:rPr>
              <a:t>→</a:t>
            </a:r>
          </a:p>
        </p:txBody>
      </p:sp>
      <p:sp>
        <p:nvSpPr>
          <p:cNvPr id="29" name="Rounded Rectangle 28"/>
          <p:cNvSpPr/>
          <p:nvPr/>
        </p:nvSpPr>
        <p:spPr>
          <a:xfrm>
            <a:off x="6952183" y="1892807"/>
            <a:ext cx="1414576" cy="258013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98487" y="2020824"/>
            <a:ext cx="1121968" cy="219456"/>
          </a:xfrm>
          <a:prstGeom prst="rect">
            <a:avLst/>
          </a:prstGeom>
          <a:noFill/>
        </p:spPr>
        <p:txBody>
          <a:bodyPr wrap="square" anchor="t" lIns="0" rIns="0" tIns="0" bIns="0">
            <a:noAutofit/>
          </a:bodyPr>
          <a:lstStyle/>
          <a:p>
            <a:pPr algn="l"/>
            <a:r>
              <a:rPr sz="800" b="1" i="0">
                <a:solidFill>
                  <a:srgbClr val="0E2356"/>
                </a:solidFill>
                <a:latin typeface="Outfit"/>
              </a:rPr>
              <a:t>DÉMARRER</a:t>
            </a:r>
          </a:p>
        </p:txBody>
      </p:sp>
      <p:sp>
        <p:nvSpPr>
          <p:cNvPr id="31" name="TextBox 30"/>
          <p:cNvSpPr txBox="1"/>
          <p:nvPr/>
        </p:nvSpPr>
        <p:spPr>
          <a:xfrm>
            <a:off x="7098487" y="2240279"/>
            <a:ext cx="1121968" cy="621792"/>
          </a:xfrm>
          <a:prstGeom prst="rect">
            <a:avLst/>
          </a:prstGeom>
          <a:noFill/>
        </p:spPr>
        <p:txBody>
          <a:bodyPr wrap="square" anchor="t" lIns="0" rIns="0" tIns="0" bIns="0">
            <a:noAutofit/>
          </a:bodyPr>
          <a:lstStyle/>
          <a:p>
            <a:pPr algn="l">
              <a:lnSpc>
                <a:spcPct val="120000"/>
              </a:lnSpc>
            </a:pPr>
            <a:r>
              <a:rPr sz="900" b="1" i="0">
                <a:solidFill>
                  <a:srgbClr val="0E2356"/>
                </a:solidFill>
                <a:latin typeface="Outfit"/>
              </a:rPr>
              <a:t>Deux semaines pour un premier signal mesuré.</a:t>
            </a:r>
          </a:p>
        </p:txBody>
      </p:sp>
      <p:sp>
        <p:nvSpPr>
          <p:cNvPr id="32" name="TextBox 31"/>
          <p:cNvSpPr txBox="1"/>
          <p:nvPr/>
        </p:nvSpPr>
        <p:spPr>
          <a:xfrm>
            <a:off x="7098487" y="2953512"/>
            <a:ext cx="1121968" cy="865632"/>
          </a:xfrm>
          <a:prstGeom prst="rect">
            <a:avLst/>
          </a:prstGeom>
          <a:noFill/>
        </p:spPr>
        <p:txBody>
          <a:bodyPr wrap="square" anchor="t" lIns="0" rIns="0" tIns="0" bIns="0">
            <a:noAutofit/>
          </a:bodyPr>
          <a:lstStyle/>
          <a:p>
            <a:pPr algn="l">
              <a:lnSpc>
                <a:spcPct val="130000"/>
              </a:lnSpc>
            </a:pPr>
            <a:r>
              <a:rPr sz="800" b="0" i="0">
                <a:solidFill>
                  <a:srgbClr val="586586"/>
                </a:solidFill>
                <a:latin typeface="Outfit"/>
              </a:rPr>
              <a:t>Les conditions de réussite, ce que la DSI engage, et le signal minimal suivi dès le T0 — la preuve, pas une opinion.</a:t>
            </a:r>
          </a:p>
        </p:txBody>
      </p:sp>
      <p:sp>
        <p:nvSpPr>
          <p:cNvPr id="33" name="TextBox 32"/>
          <p:cNvSpPr txBox="1"/>
          <p:nvPr/>
        </p:nvSpPr>
        <p:spPr>
          <a:xfrm>
            <a:off x="7098487" y="3947160"/>
            <a:ext cx="1121968" cy="397764"/>
          </a:xfrm>
          <a:prstGeom prst="rect">
            <a:avLst/>
          </a:prstGeom>
          <a:noFill/>
        </p:spPr>
        <p:txBody>
          <a:bodyPr wrap="square" anchor="b" lIns="0" rIns="0" tIns="0" bIns="0">
            <a:noAutofit/>
          </a:bodyPr>
          <a:lstStyle/>
          <a:p>
            <a:pPr algn="l"/>
            <a:r>
              <a:rPr sz="800" b="1" i="0">
                <a:solidFill>
                  <a:srgbClr val="0E2356"/>
                </a:solidFill>
                <a:latin typeface="Outfit"/>
              </a:rPr>
              <a:t>Réussir et démarrer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000" b="1">
                <a:solidFill>
                  <a:srgbClr val="0E2356"/>
                </a:solidFill>
                <a:latin typeface="Outfit"/>
              </a:rPr>
              <a:t>EXECUTIVE SUMMARY   ·   </a:t>
            </a:r>
            <a:r>
              <a:rPr sz="2000" b="1">
                <a:solidFill>
                  <a:srgbClr val="0E2356"/>
                </a:solidFill>
                <a:latin typeface="Outfit"/>
              </a:rPr>
              <a:t>Le vrai risque : traiter le mauvais problème</a:t>
            </a:r>
          </a:p>
        </p:txBody>
      </p:sp>
      <p:sp>
        <p:nvSpPr>
          <p:cNvPr id="4" name="Rectangle 3"/>
          <p:cNvSpPr/>
          <p:nvPr/>
        </p:nvSpPr>
        <p:spPr>
          <a:xfrm>
            <a:off x="708660" y="1793367"/>
            <a:ext cx="18288" cy="2443734"/>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9556" y="1280160"/>
            <a:ext cx="5042916" cy="1026414"/>
          </a:xfrm>
          <a:prstGeom prst="roundRect">
            <a:avLst>
              <a:gd name="adj" fmla="val 6000"/>
            </a:avLst>
          </a:prstGeom>
          <a:solidFill>
            <a:srgbClr val="FFFFFF"/>
          </a:solidFill>
          <a:ln w="9525">
            <a:solidFill>
              <a:srgbClr val="E6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19556" y="1280160"/>
            <a:ext cx="64008" cy="102641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20724" y="1399031"/>
            <a:ext cx="4677156" cy="182880"/>
          </a:xfrm>
          <a:prstGeom prst="rect">
            <a:avLst/>
          </a:prstGeom>
          <a:noFill/>
        </p:spPr>
        <p:txBody>
          <a:bodyPr wrap="square" anchor="t" lIns="0" rIns="0" tIns="0" bIns="0">
            <a:noAutofit/>
          </a:bodyPr>
          <a:lstStyle/>
          <a:p>
            <a:pPr algn="l"/>
            <a:r>
              <a:rPr sz="800" b="1" i="0">
                <a:solidFill>
                  <a:srgbClr val="0E2356"/>
                </a:solidFill>
                <a:latin typeface="Outfit"/>
              </a:rPr>
              <a:t>LE CONSTAT</a:t>
            </a:r>
          </a:p>
        </p:txBody>
      </p:sp>
      <p:sp>
        <p:nvSpPr>
          <p:cNvPr id="8" name="TextBox 7"/>
          <p:cNvSpPr txBox="1"/>
          <p:nvPr/>
        </p:nvSpPr>
        <p:spPr>
          <a:xfrm>
            <a:off x="1220724" y="1581911"/>
            <a:ext cx="4677156" cy="356615"/>
          </a:xfrm>
          <a:prstGeom prst="rect">
            <a:avLst/>
          </a:prstGeom>
          <a:noFill/>
        </p:spPr>
        <p:txBody>
          <a:bodyPr wrap="square" anchor="t" lIns="0" rIns="0" tIns="0" bIns="0">
            <a:noAutofit/>
          </a:bodyPr>
          <a:lstStyle/>
          <a:p>
            <a:pPr algn="l">
              <a:lnSpc>
                <a:spcPct val="120000"/>
              </a:lnSpc>
            </a:pPr>
            <a:r>
              <a:rPr sz="1050" b="1" i="0">
                <a:solidFill>
                  <a:srgbClr val="0E2356"/>
                </a:solidFill>
                <a:latin typeface="Outfit"/>
              </a:rPr>
              <a:t>Une infrastructure guichet ou centre de coûts subit la demande au lieu de la piloter.</a:t>
            </a:r>
          </a:p>
        </p:txBody>
      </p:sp>
      <p:sp>
        <p:nvSpPr>
          <p:cNvPr id="9" name="TextBox 8"/>
          <p:cNvSpPr txBox="1"/>
          <p:nvPr/>
        </p:nvSpPr>
        <p:spPr>
          <a:xfrm>
            <a:off x="1220724" y="2002535"/>
            <a:ext cx="4677156" cy="185166"/>
          </a:xfrm>
          <a:prstGeom prst="rect">
            <a:avLst/>
          </a:prstGeom>
          <a:noFill/>
        </p:spPr>
        <p:txBody>
          <a:bodyPr wrap="square" anchor="t" lIns="0" rIns="0" tIns="0" bIns="0">
            <a:noAutofit/>
          </a:bodyPr>
          <a:lstStyle/>
          <a:p>
            <a:pPr algn="l">
              <a:lnSpc>
                <a:spcPct val="130000"/>
              </a:lnSpc>
            </a:pPr>
            <a:r>
              <a:rPr sz="900" b="0" i="0">
                <a:solidFill>
                  <a:srgbClr val="586586"/>
                </a:solidFill>
                <a:latin typeface="Outfit"/>
              </a:rPr>
              <a:t>Ni utilisateurs identifiés, ni feuille de route, ni levier d'adoption.</a:t>
            </a:r>
          </a:p>
        </p:txBody>
      </p:sp>
      <p:sp>
        <p:nvSpPr>
          <p:cNvPr id="10" name="Rounded Rectangle 9"/>
          <p:cNvSpPr/>
          <p:nvPr/>
        </p:nvSpPr>
        <p:spPr>
          <a:xfrm>
            <a:off x="562356" y="1637919"/>
            <a:ext cx="310896" cy="310896"/>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2356" y="1637919"/>
            <a:ext cx="310896" cy="310896"/>
          </a:xfrm>
          <a:prstGeom prst="rect">
            <a:avLst/>
          </a:prstGeom>
          <a:noFill/>
        </p:spPr>
        <p:txBody>
          <a:bodyPr wrap="square" anchor="ctr" lIns="0" rIns="0" tIns="0" bIns="0">
            <a:noAutofit/>
          </a:bodyPr>
          <a:lstStyle/>
          <a:p>
            <a:pPr algn="ctr"/>
            <a:r>
              <a:rPr sz="1100" b="1" i="0">
                <a:solidFill>
                  <a:srgbClr val="FFFFFF"/>
                </a:solidFill>
                <a:latin typeface="Outfit"/>
              </a:rPr>
              <a:t>1</a:t>
            </a:r>
          </a:p>
        </p:txBody>
      </p:sp>
      <p:sp>
        <p:nvSpPr>
          <p:cNvPr id="12" name="Rounded Rectangle 11"/>
          <p:cNvSpPr/>
          <p:nvPr/>
        </p:nvSpPr>
        <p:spPr>
          <a:xfrm>
            <a:off x="1019556" y="2507741"/>
            <a:ext cx="5042916" cy="1014983"/>
          </a:xfrm>
          <a:prstGeom prst="roundRect">
            <a:avLst>
              <a:gd name="adj" fmla="val 6000"/>
            </a:avLst>
          </a:prstGeom>
          <a:solidFill>
            <a:srgbClr val="FFFFFF"/>
          </a:solidFill>
          <a:ln w="9525">
            <a:solidFill>
              <a:srgbClr val="E6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19556" y="2507741"/>
            <a:ext cx="64008" cy="1014983"/>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0724" y="2626613"/>
            <a:ext cx="4677156" cy="182880"/>
          </a:xfrm>
          <a:prstGeom prst="rect">
            <a:avLst/>
          </a:prstGeom>
          <a:noFill/>
        </p:spPr>
        <p:txBody>
          <a:bodyPr wrap="square" anchor="t" lIns="0" rIns="0" tIns="0" bIns="0">
            <a:noAutofit/>
          </a:bodyPr>
          <a:lstStyle/>
          <a:p>
            <a:pPr algn="l"/>
            <a:r>
              <a:rPr sz="800" b="1" i="0">
                <a:solidFill>
                  <a:srgbClr val="0E2356"/>
                </a:solidFill>
                <a:latin typeface="Outfit"/>
              </a:rPr>
              <a:t>CE QUE ÇA COÛTE</a:t>
            </a:r>
          </a:p>
        </p:txBody>
      </p:sp>
      <p:sp>
        <p:nvSpPr>
          <p:cNvPr id="15" name="TextBox 14"/>
          <p:cNvSpPr txBox="1"/>
          <p:nvPr/>
        </p:nvSpPr>
        <p:spPr>
          <a:xfrm>
            <a:off x="1220724" y="2809494"/>
            <a:ext cx="4677156" cy="196596"/>
          </a:xfrm>
          <a:prstGeom prst="rect">
            <a:avLst/>
          </a:prstGeom>
          <a:noFill/>
        </p:spPr>
        <p:txBody>
          <a:bodyPr wrap="square" anchor="t" lIns="0" rIns="0" tIns="0" bIns="0">
            <a:noAutofit/>
          </a:bodyPr>
          <a:lstStyle/>
          <a:p>
            <a:pPr algn="l">
              <a:lnSpc>
                <a:spcPct val="120000"/>
              </a:lnSpc>
            </a:pPr>
            <a:r>
              <a:rPr sz="1050" b="1" i="0">
                <a:solidFill>
                  <a:srgbClr val="0E2356"/>
                </a:solidFill>
                <a:latin typeface="Outfit"/>
              </a:rPr>
              <a:t>La capacité disponible part en gaspillage.</a:t>
            </a:r>
          </a:p>
        </p:txBody>
      </p:sp>
      <p:sp>
        <p:nvSpPr>
          <p:cNvPr id="16" name="TextBox 15"/>
          <p:cNvSpPr txBox="1"/>
          <p:nvPr/>
        </p:nvSpPr>
        <p:spPr>
          <a:xfrm>
            <a:off x="1220724" y="3070097"/>
            <a:ext cx="4677156" cy="333756"/>
          </a:xfrm>
          <a:prstGeom prst="rect">
            <a:avLst/>
          </a:prstGeom>
          <a:noFill/>
        </p:spPr>
        <p:txBody>
          <a:bodyPr wrap="square" anchor="t" lIns="0" rIns="0" tIns="0" bIns="0">
            <a:noAutofit/>
          </a:bodyPr>
          <a:lstStyle/>
          <a:p>
            <a:pPr algn="l">
              <a:lnSpc>
                <a:spcPct val="130000"/>
              </a:lnSpc>
            </a:pPr>
            <a:r>
              <a:rPr sz="900" b="0" i="0">
                <a:solidFill>
                  <a:srgbClr val="586586"/>
                </a:solidFill>
                <a:latin typeface="Outfit"/>
              </a:rPr>
              <a:t>RUN subi (l'exploitation quotidienne), ressources orphelines, seniors sur du répétitif — et le réflexe « plus d'outils » ou « mettons de l'IA » aggrave le mal.</a:t>
            </a:r>
          </a:p>
        </p:txBody>
      </p:sp>
      <p:sp>
        <p:nvSpPr>
          <p:cNvPr id="17" name="Rounded Rectangle 16"/>
          <p:cNvSpPr/>
          <p:nvPr/>
        </p:nvSpPr>
        <p:spPr>
          <a:xfrm>
            <a:off x="562356" y="2859785"/>
            <a:ext cx="310896" cy="310896"/>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2356" y="2859785"/>
            <a:ext cx="310896" cy="310896"/>
          </a:xfrm>
          <a:prstGeom prst="rect">
            <a:avLst/>
          </a:prstGeom>
          <a:noFill/>
        </p:spPr>
        <p:txBody>
          <a:bodyPr wrap="square" anchor="ctr" lIns="0" rIns="0" tIns="0" bIns="0">
            <a:noAutofit/>
          </a:bodyPr>
          <a:lstStyle/>
          <a:p>
            <a:pPr algn="ctr"/>
            <a:r>
              <a:rPr sz="1100" b="1" i="0">
                <a:solidFill>
                  <a:srgbClr val="FFFFFF"/>
                </a:solidFill>
                <a:latin typeface="Outfit"/>
              </a:rPr>
              <a:t>2</a:t>
            </a:r>
          </a:p>
        </p:txBody>
      </p:sp>
      <p:sp>
        <p:nvSpPr>
          <p:cNvPr id="19" name="Rounded Rectangle 18"/>
          <p:cNvSpPr/>
          <p:nvPr/>
        </p:nvSpPr>
        <p:spPr>
          <a:xfrm>
            <a:off x="1019556" y="3723894"/>
            <a:ext cx="5042916" cy="1026414"/>
          </a:xfrm>
          <a:prstGeom prst="roundRect">
            <a:avLst>
              <a:gd name="adj" fmla="val 6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9556" y="3723894"/>
            <a:ext cx="64008" cy="1026414"/>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20724" y="3842765"/>
            <a:ext cx="4677156" cy="182880"/>
          </a:xfrm>
          <a:prstGeom prst="rect">
            <a:avLst/>
          </a:prstGeom>
          <a:noFill/>
        </p:spPr>
        <p:txBody>
          <a:bodyPr wrap="square" anchor="t" lIns="0" rIns="0" tIns="0" bIns="0">
            <a:noAutofit/>
          </a:bodyPr>
          <a:lstStyle/>
          <a:p>
            <a:pPr algn="l"/>
            <a:r>
              <a:rPr sz="800" b="1" i="0">
                <a:solidFill>
                  <a:srgbClr val="FFFFFF"/>
                </a:solidFill>
                <a:latin typeface="Outfit"/>
              </a:rPr>
              <a:t>CE QU'UN BON DIAGNOSTIC EXIGE</a:t>
            </a:r>
          </a:p>
        </p:txBody>
      </p:sp>
      <p:sp>
        <p:nvSpPr>
          <p:cNvPr id="22" name="TextBox 21"/>
          <p:cNvSpPr txBox="1"/>
          <p:nvPr/>
        </p:nvSpPr>
        <p:spPr>
          <a:xfrm>
            <a:off x="1220724" y="4025646"/>
            <a:ext cx="4677156" cy="356615"/>
          </a:xfrm>
          <a:prstGeom prst="rect">
            <a:avLst/>
          </a:prstGeom>
          <a:noFill/>
        </p:spPr>
        <p:txBody>
          <a:bodyPr wrap="square" anchor="t" lIns="0" rIns="0" tIns="0" bIns="0">
            <a:noAutofit/>
          </a:bodyPr>
          <a:lstStyle/>
          <a:p>
            <a:pPr algn="l">
              <a:lnSpc>
                <a:spcPct val="120000"/>
              </a:lnSpc>
            </a:pPr>
            <a:r>
              <a:rPr sz="1050" b="1" i="0">
                <a:solidFill>
                  <a:srgbClr val="FFFFFF"/>
                </a:solidFill>
                <a:latin typeface="Outfit"/>
              </a:rPr>
              <a:t>Partir des utilisateurs réels et de leurs douleurs — pas d'une réponse toute faite.</a:t>
            </a:r>
          </a:p>
        </p:txBody>
      </p:sp>
      <p:sp>
        <p:nvSpPr>
          <p:cNvPr id="23" name="TextBox 22"/>
          <p:cNvSpPr txBox="1"/>
          <p:nvPr/>
        </p:nvSpPr>
        <p:spPr>
          <a:xfrm>
            <a:off x="1220724" y="4446270"/>
            <a:ext cx="4677156" cy="185166"/>
          </a:xfrm>
          <a:prstGeom prst="rect">
            <a:avLst/>
          </a:prstGeom>
          <a:noFill/>
        </p:spPr>
        <p:txBody>
          <a:bodyPr wrap="square" anchor="t" lIns="0" rIns="0" tIns="0" bIns="0">
            <a:noAutofit/>
          </a:bodyPr>
          <a:lstStyle/>
          <a:p>
            <a:pPr algn="l">
              <a:lnSpc>
                <a:spcPct val="130000"/>
              </a:lnSpc>
            </a:pPr>
            <a:r>
              <a:rPr sz="900" b="0" i="0">
                <a:solidFill>
                  <a:srgbClr val="C7CBE0"/>
                </a:solidFill>
                <a:latin typeface="Outfit"/>
              </a:rPr>
              <a:t>Le fil que déroule tout le deck, du constat à la démarche.</a:t>
            </a:r>
          </a:p>
        </p:txBody>
      </p:sp>
      <p:sp>
        <p:nvSpPr>
          <p:cNvPr id="24" name="Rounded Rectangle 23"/>
          <p:cNvSpPr/>
          <p:nvPr/>
        </p:nvSpPr>
        <p:spPr>
          <a:xfrm>
            <a:off x="562356" y="4081653"/>
            <a:ext cx="310896" cy="310896"/>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2356" y="4081653"/>
            <a:ext cx="310896" cy="310896"/>
          </a:xfrm>
          <a:prstGeom prst="rect">
            <a:avLst/>
          </a:prstGeom>
          <a:noFill/>
        </p:spPr>
        <p:txBody>
          <a:bodyPr wrap="square" anchor="ctr" lIns="0" rIns="0" tIns="0" bIns="0">
            <a:noAutofit/>
          </a:bodyPr>
          <a:lstStyle/>
          <a:p>
            <a:pPr algn="ctr"/>
            <a:r>
              <a:rPr sz="1100" b="1" i="0">
                <a:solidFill>
                  <a:srgbClr val="FFFFFF"/>
                </a:solidFill>
                <a:latin typeface="Outfit"/>
              </a:rPr>
              <a:t>3</a:t>
            </a:r>
          </a:p>
        </p:txBody>
      </p:sp>
      <p:pic>
        <p:nvPicPr>
          <p:cNvPr id="26" name="Picture 25" descr="sunset_1_960x1372.jpg"/>
          <p:cNvPicPr>
            <a:picLocks noChangeAspect="1"/>
          </p:cNvPicPr>
          <p:nvPr/>
        </p:nvPicPr>
        <p:blipFill>
          <a:blip r:embed="rId2"/>
          <a:stretch>
            <a:fillRect/>
          </a:stretch>
        </p:blipFill>
        <p:spPr>
          <a:xfrm>
            <a:off x="6270019" y="304800"/>
            <a:ext cx="2593200" cy="3705000"/>
          </a:xfrm>
          <a:prstGeom prst="round2DiagRect">
            <a:avLst>
              <a:gd name="adj1" fmla="val 50000"/>
              <a:gd name="adj2" fmla="val 0"/>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Contexte</a:t>
            </a:r>
          </a:p>
          <a:p>
            <a:r>
              <a:rPr sz="1050" i="1">
                <a:solidFill>
                  <a:srgbClr val="586586"/>
                </a:solidFill>
                <a:latin typeface="Outfit"/>
              </a:rPr>
              <a:t>Ce qui rend le terrain infra à part, la double mission, pourquoi maintenant, et qui achète.</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01</a:t>
            </a:r>
          </a:p>
        </p:txBody>
      </p:sp>
      <p:pic>
        <p:nvPicPr>
          <p:cNvPr id="4" name="Picture 3" descr="mountains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CONTEXTE   ·   </a:t>
            </a:r>
            <a:r>
              <a:rPr b="1" sz="1200">
                <a:solidFill>
                  <a:srgbClr val="0E2356"/>
                </a:solidFill>
                <a:latin typeface="Outfit"/>
              </a:rPr>
              <a:t>D'un guichet sursollicité à une infra as a product — l'IA rend ce virage nécessaire.</a:t>
            </a:r>
          </a:p>
        </p:txBody>
      </p:sp>
      <p:sp>
        <p:nvSpPr>
          <p:cNvPr id="3" name="TextBox 2"/>
          <p:cNvSpPr txBox="1"/>
          <p:nvPr/>
        </p:nvSpPr>
        <p:spPr>
          <a:xfrm>
            <a:off x="562356" y="1069848"/>
            <a:ext cx="4069080" cy="182880"/>
          </a:xfrm>
          <a:prstGeom prst="rect">
            <a:avLst/>
          </a:prstGeom>
          <a:noFill/>
        </p:spPr>
        <p:txBody>
          <a:bodyPr wrap="square" anchor="t" lIns="0" rIns="0" tIns="0" bIns="0">
            <a:noAutofit/>
          </a:bodyPr>
          <a:lstStyle/>
          <a:p>
            <a:pPr algn="l"/>
            <a:r>
              <a:rPr sz="800" b="1" i="0">
                <a:solidFill>
                  <a:srgbClr val="586586"/>
                </a:solidFill>
                <a:latin typeface="Outfit"/>
              </a:rPr>
              <a:t>CE QUE VIT L'INFRA</a:t>
            </a:r>
          </a:p>
        </p:txBody>
      </p:sp>
      <p:sp>
        <p:nvSpPr>
          <p:cNvPr id="4" name="TextBox 3"/>
          <p:cNvSpPr txBox="1"/>
          <p:nvPr/>
        </p:nvSpPr>
        <p:spPr>
          <a:xfrm>
            <a:off x="5134356" y="1069848"/>
            <a:ext cx="3232404" cy="182880"/>
          </a:xfrm>
          <a:prstGeom prst="rect">
            <a:avLst/>
          </a:prstGeom>
          <a:noFill/>
        </p:spPr>
        <p:txBody>
          <a:bodyPr wrap="square" anchor="t" lIns="0" rIns="0" tIns="0" bIns="0">
            <a:noAutofit/>
          </a:bodyPr>
          <a:lstStyle/>
          <a:p>
            <a:pPr algn="l"/>
            <a:r>
              <a:rPr sz="800" b="1" i="0">
                <a:solidFill>
                  <a:srgbClr val="586586"/>
                </a:solidFill>
                <a:latin typeface="Outfit"/>
              </a:rPr>
              <a:t>CE QU'ON VISE</a:t>
            </a:r>
          </a:p>
        </p:txBody>
      </p:sp>
      <p:sp>
        <p:nvSpPr>
          <p:cNvPr id="5" name="Rounded Rectangle 4"/>
          <p:cNvSpPr/>
          <p:nvPr/>
        </p:nvSpPr>
        <p:spPr>
          <a:xfrm>
            <a:off x="562356" y="1307592"/>
            <a:ext cx="4069080" cy="804672"/>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5236" y="1307592"/>
            <a:ext cx="3703320" cy="804672"/>
          </a:xfrm>
          <a:prstGeom prst="rect">
            <a:avLst/>
          </a:prstGeom>
          <a:noFill/>
        </p:spPr>
        <p:txBody>
          <a:bodyPr wrap="square" anchor="ctr" lIns="0" rIns="0" tIns="0" bIns="0">
            <a:noAutofit/>
          </a:bodyPr>
          <a:lstStyle/>
          <a:p>
            <a:pPr algn="l"/>
            <a:r>
              <a:rPr sz="1100" b="1" i="0">
                <a:solidFill>
                  <a:srgbClr val="0E2356"/>
                </a:solidFill>
                <a:latin typeface="Outfit"/>
              </a:rPr>
              <a:t>Sortir de la sursollicitation et du guichet</a:t>
            </a:r>
          </a:p>
          <a:p>
            <a:pPr algn="l">
              <a:lnSpc>
                <a:spcPct val="120000"/>
              </a:lnSpc>
              <a:spcBef>
                <a:spcPts val="200"/>
              </a:spcBef>
            </a:pPr>
            <a:r>
              <a:rPr sz="900" b="0" i="0">
                <a:solidFill>
                  <a:srgbClr val="586586"/>
                </a:solidFill>
                <a:latin typeface="Outfit"/>
              </a:rPr>
              <a:t>Des équipiers qui font trop de choses, engorgés — décommissionnement jamais fait, trop de RUN au quotidien.</a:t>
            </a:r>
          </a:p>
        </p:txBody>
      </p:sp>
      <p:sp>
        <p:nvSpPr>
          <p:cNvPr id="7" name="Chevron 6"/>
          <p:cNvSpPr/>
          <p:nvPr/>
        </p:nvSpPr>
        <p:spPr>
          <a:xfrm>
            <a:off x="4741164" y="1527048"/>
            <a:ext cx="283464" cy="365760"/>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34356" y="1307592"/>
            <a:ext cx="3232404" cy="804672"/>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17236" y="1307592"/>
            <a:ext cx="2866644" cy="804672"/>
          </a:xfrm>
          <a:prstGeom prst="rect">
            <a:avLst/>
          </a:prstGeom>
          <a:noFill/>
        </p:spPr>
        <p:txBody>
          <a:bodyPr wrap="square" anchor="ctr" lIns="0" rIns="0" tIns="0" bIns="0">
            <a:noAutofit/>
          </a:bodyPr>
          <a:lstStyle/>
          <a:p>
            <a:pPr algn="l"/>
            <a:r>
              <a:rPr sz="1150" b="1" i="0">
                <a:solidFill>
                  <a:srgbClr val="0E2356"/>
                </a:solidFill>
                <a:latin typeface="Outfit"/>
              </a:rPr>
              <a:t>Assainir et travailler le gaspillage</a:t>
            </a:r>
          </a:p>
        </p:txBody>
      </p:sp>
      <p:sp>
        <p:nvSpPr>
          <p:cNvPr id="10" name="Rounded Rectangle 9"/>
          <p:cNvSpPr/>
          <p:nvPr/>
        </p:nvSpPr>
        <p:spPr>
          <a:xfrm>
            <a:off x="562356" y="2240280"/>
            <a:ext cx="4069080" cy="804672"/>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 y="2240280"/>
            <a:ext cx="3703320" cy="804672"/>
          </a:xfrm>
          <a:prstGeom prst="rect">
            <a:avLst/>
          </a:prstGeom>
          <a:noFill/>
        </p:spPr>
        <p:txBody>
          <a:bodyPr wrap="square" anchor="ctr" lIns="0" rIns="0" tIns="0" bIns="0">
            <a:noAutofit/>
          </a:bodyPr>
          <a:lstStyle/>
          <a:p>
            <a:pPr algn="l"/>
            <a:r>
              <a:rPr sz="1100" b="1" i="0">
                <a:solidFill>
                  <a:srgbClr val="0E2356"/>
                </a:solidFill>
                <a:latin typeface="Outfit"/>
              </a:rPr>
              <a:t>Mieux servir les utilisateurs</a:t>
            </a:r>
          </a:p>
          <a:p>
            <a:pPr algn="l">
              <a:lnSpc>
                <a:spcPct val="120000"/>
              </a:lnSpc>
              <a:spcBef>
                <a:spcPts val="200"/>
              </a:spcBef>
            </a:pPr>
            <a:r>
              <a:rPr sz="900" b="0" i="0">
                <a:solidFill>
                  <a:srgbClr val="586586"/>
                </a:solidFill>
                <a:latin typeface="Outfit"/>
              </a:rPr>
              <a:t>Passer d'un guichet de demandes à une approche as a service.</a:t>
            </a:r>
          </a:p>
        </p:txBody>
      </p:sp>
      <p:sp>
        <p:nvSpPr>
          <p:cNvPr id="12" name="Chevron 11"/>
          <p:cNvSpPr/>
          <p:nvPr/>
        </p:nvSpPr>
        <p:spPr>
          <a:xfrm>
            <a:off x="4741164" y="2459736"/>
            <a:ext cx="283464" cy="365760"/>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34356" y="2240280"/>
            <a:ext cx="3232404" cy="804672"/>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7236" y="2240280"/>
            <a:ext cx="2866644" cy="804672"/>
          </a:xfrm>
          <a:prstGeom prst="rect">
            <a:avLst/>
          </a:prstGeom>
          <a:noFill/>
        </p:spPr>
        <p:txBody>
          <a:bodyPr wrap="square" anchor="ctr" lIns="0" rIns="0" tIns="0" bIns="0">
            <a:noAutofit/>
          </a:bodyPr>
          <a:lstStyle/>
          <a:p>
            <a:pPr algn="l"/>
            <a:r>
              <a:rPr sz="1150" b="1" i="0">
                <a:solidFill>
                  <a:srgbClr val="0E2356"/>
                </a:solidFill>
                <a:latin typeface="Outfit"/>
              </a:rPr>
              <a:t>Une infra recentrée sur ses utilisateurs</a:t>
            </a:r>
          </a:p>
        </p:txBody>
      </p:sp>
      <p:sp>
        <p:nvSpPr>
          <p:cNvPr id="15" name="Rounded Rectangle 14"/>
          <p:cNvSpPr/>
          <p:nvPr/>
        </p:nvSpPr>
        <p:spPr>
          <a:xfrm>
            <a:off x="562356" y="3246120"/>
            <a:ext cx="7804404" cy="731520"/>
          </a:xfrm>
          <a:prstGeom prst="roundRect">
            <a:avLst>
              <a:gd name="adj" fmla="val 12000"/>
            </a:avLst>
          </a:prstGeom>
          <a:solidFill>
            <a:srgbClr val="FFFFFF"/>
          </a:solidFill>
          <a:ln w="1270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5236" y="3383280"/>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 y="3383280"/>
            <a:ext cx="457200" cy="457200"/>
          </a:xfrm>
          <a:prstGeom prst="rect">
            <a:avLst/>
          </a:prstGeom>
          <a:noFill/>
        </p:spPr>
        <p:txBody>
          <a:bodyPr wrap="square" anchor="ctr" lIns="0" rIns="0" tIns="0" bIns="0">
            <a:noAutofit/>
          </a:bodyPr>
          <a:lstStyle/>
          <a:p>
            <a:pPr algn="ctr"/>
            <a:r>
              <a:rPr sz="1200" b="1" i="0">
                <a:solidFill>
                  <a:srgbClr val="FFFFFF"/>
                </a:solidFill>
                <a:latin typeface="Outfit"/>
              </a:rPr>
              <a:t>IA</a:t>
            </a:r>
          </a:p>
        </p:txBody>
      </p:sp>
      <p:sp>
        <p:nvSpPr>
          <p:cNvPr id="18" name="TextBox 17"/>
          <p:cNvSpPr txBox="1"/>
          <p:nvPr/>
        </p:nvSpPr>
        <p:spPr>
          <a:xfrm>
            <a:off x="1385316" y="3246120"/>
            <a:ext cx="6798564" cy="731520"/>
          </a:xfrm>
          <a:prstGeom prst="rect">
            <a:avLst/>
          </a:prstGeom>
          <a:noFill/>
        </p:spPr>
        <p:txBody>
          <a:bodyPr wrap="square" anchor="ctr" lIns="0" rIns="0" tIns="0" bIns="0">
            <a:noAutofit/>
          </a:bodyPr>
          <a:lstStyle/>
          <a:p>
            <a:pPr algn="l"/>
            <a:r>
              <a:rPr sz="850" b="1" i="0">
                <a:solidFill>
                  <a:srgbClr val="0E2356"/>
                </a:solidFill>
                <a:latin typeface="Outfit"/>
              </a:rPr>
              <a:t>AVEC L'ARRIVÉE DE L'IA — UNE SURSOLLICITATION EXACERBÉE</a:t>
            </a:r>
          </a:p>
          <a:p>
            <a:pPr algn="l">
              <a:lnSpc>
                <a:spcPct val="120000"/>
              </a:lnSpc>
              <a:spcBef>
                <a:spcPts val="300"/>
              </a:spcBef>
            </a:pPr>
            <a:r>
              <a:rPr sz="950" b="0" i="0">
                <a:solidFill>
                  <a:srgbClr val="0E2356"/>
                </a:solidFill>
                <a:latin typeface="Outfit"/>
              </a:rPr>
              <a:t>Trop de demandes, des équipes engorgées : la même pression que le guichet d'hier, amplifiée par l'IA plutôt que résolue par elle.</a:t>
            </a:r>
          </a:p>
        </p:txBody>
      </p:sp>
      <p:sp>
        <p:nvSpPr>
          <p:cNvPr id="19" name="Rounded Rectangle 18"/>
          <p:cNvSpPr/>
          <p:nvPr/>
        </p:nvSpPr>
        <p:spPr>
          <a:xfrm>
            <a:off x="562356" y="4489704"/>
            <a:ext cx="7804404" cy="49377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 y="4581144"/>
            <a:ext cx="45720" cy="310896"/>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7" y="4507992"/>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22" name="TextBox 21"/>
          <p:cNvSpPr txBox="1"/>
          <p:nvPr/>
        </p:nvSpPr>
        <p:spPr>
          <a:xfrm>
            <a:off x="1074420" y="4489704"/>
            <a:ext cx="7109460" cy="493776"/>
          </a:xfrm>
          <a:prstGeom prst="rect">
            <a:avLst/>
          </a:prstGeom>
          <a:noFill/>
        </p:spPr>
        <p:txBody>
          <a:bodyPr wrap="square" anchor="ctr" lIns="0" rIns="0" tIns="0" bIns="0">
            <a:spAutoFit/>
          </a:bodyPr>
          <a:lstStyle/>
          <a:p>
            <a:pPr algn="ctr"/>
            <a:r>
              <a:rPr sz="1200" b="1" i="0">
                <a:solidFill>
                  <a:srgbClr val="FFFFFF"/>
                </a:solidFill>
                <a:latin typeface="Outfit"/>
              </a:rPr>
              <a:t>L'objectif : infra as a product.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700">
                <a:solidFill>
                  <a:srgbClr val="0E2356"/>
                </a:solidFill>
                <a:latin typeface="Outfit"/>
              </a:rPr>
              <a:t>CONTEXTE   ·   </a:t>
            </a:r>
            <a:r>
              <a:rPr b="1" sz="1700">
                <a:solidFill>
                  <a:srgbClr val="0E2356"/>
                </a:solidFill>
                <a:latin typeface="Outfit"/>
              </a:rPr>
              <a:t>Une double mission : transformer ET assainir</a:t>
            </a:r>
          </a:p>
        </p:txBody>
      </p:sp>
      <p:sp>
        <p:nvSpPr>
          <p:cNvPr id="3" name="Rounded Rectangle 2"/>
          <p:cNvSpPr/>
          <p:nvPr/>
        </p:nvSpPr>
        <p:spPr>
          <a:xfrm>
            <a:off x="562356" y="1051560"/>
            <a:ext cx="7804404" cy="475488"/>
          </a:xfrm>
          <a:prstGeom prst="roundRect">
            <a:avLst>
              <a:gd name="adj" fmla="val 12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0956" y="1051560"/>
            <a:ext cx="7347204" cy="475488"/>
          </a:xfrm>
          <a:prstGeom prst="rect">
            <a:avLst/>
          </a:prstGeom>
          <a:noFill/>
        </p:spPr>
        <p:txBody>
          <a:bodyPr wrap="square" anchor="ctr" lIns="0" rIns="0" tIns="0" bIns="0">
            <a:noAutofit/>
          </a:bodyPr>
          <a:lstStyle/>
          <a:p>
            <a:pPr algn="l">
              <a:lnSpc>
                <a:spcPct val="120000"/>
              </a:lnSpc>
            </a:pPr>
            <a:r>
              <a:rPr sz="950" b="0" i="1">
                <a:solidFill>
                  <a:srgbClr val="0E2356"/>
                </a:solidFill>
                <a:latin typeface="Outfit"/>
              </a:rPr>
              <a:t>Deux piliers ni séquentiels ni optionnels : une cible produit sans traitement du gaspillage manque de capacité pour s'y déployer ; l'inverse reste une réduction de coûts sans vision.</a:t>
            </a:r>
          </a:p>
        </p:txBody>
      </p:sp>
      <p:sp>
        <p:nvSpPr>
          <p:cNvPr id="5" name="Rounded Rectangle 4"/>
          <p:cNvSpPr/>
          <p:nvPr/>
        </p:nvSpPr>
        <p:spPr>
          <a:xfrm>
            <a:off x="562356" y="1709928"/>
            <a:ext cx="3810762" cy="2011680"/>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8" y="1874519"/>
            <a:ext cx="3298698" cy="1737360"/>
          </a:xfrm>
          <a:prstGeom prst="rect">
            <a:avLst/>
          </a:prstGeom>
          <a:noFill/>
        </p:spPr>
        <p:txBody>
          <a:bodyPr wrap="square" anchor="t" lIns="0" rIns="0" tIns="0" bIns="0">
            <a:noAutofit/>
          </a:bodyPr>
          <a:lstStyle/>
          <a:p>
            <a:pPr algn="l"/>
            <a:r>
              <a:rPr sz="1800" b="1" i="0">
                <a:solidFill>
                  <a:srgbClr val="FFFFFF"/>
                </a:solidFill>
                <a:latin typeface="Outfit"/>
              </a:rPr>
              <a:t>TRANSFORMER</a:t>
            </a:r>
          </a:p>
          <a:p>
            <a:pPr algn="l">
              <a:spcBef>
                <a:spcPts val="1000"/>
              </a:spcBef>
            </a:pPr>
            <a:r>
              <a:rPr sz="800" b="1" i="0">
                <a:solidFill>
                  <a:srgbClr val="C7CBE0"/>
                </a:solidFill>
                <a:latin typeface="Outfit"/>
              </a:rPr>
              <a:t>CE QU'IL VISE</a:t>
            </a:r>
          </a:p>
          <a:p>
            <a:pPr algn="l">
              <a:lnSpc>
                <a:spcPct val="120000"/>
              </a:lnSpc>
              <a:spcBef>
                <a:spcPts val="200"/>
              </a:spcBef>
            </a:pPr>
            <a:r>
              <a:rPr sz="950" b="0" i="0">
                <a:solidFill>
                  <a:srgbClr val="FFFFFF"/>
                </a:solidFill>
                <a:latin typeface="Outfit"/>
              </a:rPr>
              <a:t>Cible produit/plateforme : utilisateurs identifiés, valeur, roadmap, engagements de qualité, gouvernance lisible.</a:t>
            </a:r>
          </a:p>
          <a:p>
            <a:pPr algn="l">
              <a:spcBef>
                <a:spcPts val="1000"/>
              </a:spcBef>
            </a:pPr>
            <a:r>
              <a:rPr sz="800" b="1" i="0">
                <a:solidFill>
                  <a:srgbClr val="C7CBE0"/>
                </a:solidFill>
                <a:latin typeface="Outfit"/>
              </a:rPr>
              <a:t>CE QU'IL FINANCE</a:t>
            </a:r>
          </a:p>
          <a:p>
            <a:pPr algn="l">
              <a:lnSpc>
                <a:spcPct val="120000"/>
              </a:lnSpc>
              <a:spcBef>
                <a:spcPts val="200"/>
              </a:spcBef>
            </a:pPr>
            <a:r>
              <a:rPr sz="950" b="0" i="0">
                <a:solidFill>
                  <a:srgbClr val="FFFFFF"/>
                </a:solidFill>
                <a:latin typeface="Outfit"/>
              </a:rPr>
              <a:t>La vision à moyen terme — ce que le sponsor achète.</a:t>
            </a:r>
          </a:p>
        </p:txBody>
      </p:sp>
      <p:sp>
        <p:nvSpPr>
          <p:cNvPr id="7" name="Rounded Rectangle 6"/>
          <p:cNvSpPr/>
          <p:nvPr/>
        </p:nvSpPr>
        <p:spPr>
          <a:xfrm>
            <a:off x="4555998" y="1709928"/>
            <a:ext cx="3810762" cy="2011680"/>
          </a:xfrm>
          <a:prstGeom prst="roundRect">
            <a:avLst>
              <a:gd name="adj" fmla="val 8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12030" y="1874519"/>
            <a:ext cx="3298698" cy="1737360"/>
          </a:xfrm>
          <a:prstGeom prst="rect">
            <a:avLst/>
          </a:prstGeom>
          <a:noFill/>
        </p:spPr>
        <p:txBody>
          <a:bodyPr wrap="square" anchor="t" lIns="0" rIns="0" tIns="0" bIns="0">
            <a:noAutofit/>
          </a:bodyPr>
          <a:lstStyle/>
          <a:p>
            <a:pPr algn="l"/>
            <a:r>
              <a:rPr sz="1800" b="1" i="0">
                <a:solidFill>
                  <a:srgbClr val="0E2356"/>
                </a:solidFill>
                <a:latin typeface="Outfit"/>
              </a:rPr>
              <a:t>ASSAINIR</a:t>
            </a:r>
          </a:p>
          <a:p>
            <a:pPr algn="l">
              <a:spcBef>
                <a:spcPts val="1000"/>
              </a:spcBef>
            </a:pPr>
            <a:r>
              <a:rPr sz="800" b="1" i="0">
                <a:solidFill>
                  <a:srgbClr val="586586"/>
                </a:solidFill>
                <a:latin typeface="Outfit"/>
              </a:rPr>
              <a:t>CE QU'IL VISE</a:t>
            </a:r>
          </a:p>
          <a:p>
            <a:pPr algn="l">
              <a:lnSpc>
                <a:spcPct val="120000"/>
              </a:lnSpc>
              <a:spcBef>
                <a:spcPts val="200"/>
              </a:spcBef>
            </a:pPr>
            <a:r>
              <a:rPr sz="950" b="0" i="0">
                <a:solidFill>
                  <a:srgbClr val="0E2356"/>
                </a:solidFill>
                <a:latin typeface="Outfit"/>
              </a:rPr>
              <a:t>Traitement mesurable des gaspillages : flux, RUN, humain, financier, cognitif, décisionnel, environnemental, IA.</a:t>
            </a:r>
          </a:p>
          <a:p>
            <a:pPr algn="l">
              <a:spcBef>
                <a:spcPts val="1000"/>
              </a:spcBef>
            </a:pPr>
            <a:r>
              <a:rPr sz="800" b="1" i="0">
                <a:solidFill>
                  <a:srgbClr val="586586"/>
                </a:solidFill>
                <a:latin typeface="Outfit"/>
              </a:rPr>
              <a:t>CE QU'IL FINANCE</a:t>
            </a:r>
          </a:p>
          <a:p>
            <a:pPr algn="l">
              <a:lnSpc>
                <a:spcPct val="120000"/>
              </a:lnSpc>
              <a:spcBef>
                <a:spcPts val="200"/>
              </a:spcBef>
            </a:pPr>
            <a:r>
              <a:rPr sz="950" b="0" i="0">
                <a:solidFill>
                  <a:srgbClr val="0E2356"/>
                </a:solidFill>
                <a:latin typeface="Outfit"/>
              </a:rPr>
              <a:t>La capacité récupérée finance la trajectoire produit — hypothèse à prouver, qui suppose une réallocation budgétaire côté client.</a:t>
            </a:r>
          </a:p>
        </p:txBody>
      </p:sp>
      <p:sp>
        <p:nvSpPr>
          <p:cNvPr id="9" name="TextBox 8"/>
          <p:cNvSpPr txBox="1"/>
          <p:nvPr/>
        </p:nvSpPr>
        <p:spPr>
          <a:xfrm>
            <a:off x="562356" y="3904488"/>
            <a:ext cx="7804404" cy="182880"/>
          </a:xfrm>
          <a:prstGeom prst="rect">
            <a:avLst/>
          </a:prstGeom>
          <a:noFill/>
        </p:spPr>
        <p:txBody>
          <a:bodyPr wrap="square" anchor="t" lIns="0" rIns="0" tIns="0" bIns="0">
            <a:noAutofit/>
          </a:bodyPr>
          <a:lstStyle/>
          <a:p>
            <a:pPr algn="l"/>
            <a:r>
              <a:rPr sz="800" b="1" i="0">
                <a:solidFill>
                  <a:srgbClr val="586586"/>
                </a:solidFill>
                <a:latin typeface="Outfit"/>
              </a:rPr>
              <a:t>L'ÉQUILIBRE QUE LA DOUBLE MISSION TIENT EN PERMANENCE</a:t>
            </a:r>
          </a:p>
        </p:txBody>
      </p:sp>
      <p:sp>
        <p:nvSpPr>
          <p:cNvPr id="10" name="Rounded Rectangle 9"/>
          <p:cNvSpPr/>
          <p:nvPr/>
        </p:nvSpPr>
        <p:spPr>
          <a:xfrm>
            <a:off x="562356" y="4142232"/>
            <a:ext cx="2479548" cy="50292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2356" y="4142232"/>
            <a:ext cx="2479548" cy="502920"/>
          </a:xfrm>
          <a:prstGeom prst="rect">
            <a:avLst/>
          </a:prstGeom>
          <a:noFill/>
        </p:spPr>
        <p:txBody>
          <a:bodyPr wrap="square" anchor="ctr" lIns="0" rIns="0" tIns="0" bIns="0">
            <a:noAutofit/>
          </a:bodyPr>
          <a:lstStyle/>
          <a:p>
            <a:pPr algn="ctr"/>
            <a:r>
              <a:rPr sz="1000" b="1" i="0">
                <a:solidFill>
                  <a:srgbClr val="0E2356"/>
                </a:solidFill>
                <a:latin typeface="Outfit"/>
              </a:rPr>
              <a:t>Efficacité du delivery</a:t>
            </a:r>
          </a:p>
        </p:txBody>
      </p:sp>
      <p:sp>
        <p:nvSpPr>
          <p:cNvPr id="12" name="Rounded Rectangle 11"/>
          <p:cNvSpPr/>
          <p:nvPr/>
        </p:nvSpPr>
        <p:spPr>
          <a:xfrm>
            <a:off x="3224783" y="4142232"/>
            <a:ext cx="2479548" cy="50292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4783" y="4142232"/>
            <a:ext cx="2479548" cy="502920"/>
          </a:xfrm>
          <a:prstGeom prst="rect">
            <a:avLst/>
          </a:prstGeom>
          <a:noFill/>
        </p:spPr>
        <p:txBody>
          <a:bodyPr wrap="square" anchor="ctr" lIns="0" rIns="0" tIns="0" bIns="0">
            <a:noAutofit/>
          </a:bodyPr>
          <a:lstStyle/>
          <a:p>
            <a:pPr algn="ctr"/>
            <a:r>
              <a:rPr sz="1000" b="1" i="0">
                <a:solidFill>
                  <a:srgbClr val="0E2356"/>
                </a:solidFill>
                <a:latin typeface="Outfit"/>
              </a:rPr>
              <a:t>Robustesse du RUN</a:t>
            </a:r>
          </a:p>
        </p:txBody>
      </p:sp>
      <p:sp>
        <p:nvSpPr>
          <p:cNvPr id="14" name="Rounded Rectangle 13"/>
          <p:cNvSpPr/>
          <p:nvPr/>
        </p:nvSpPr>
        <p:spPr>
          <a:xfrm>
            <a:off x="5887212" y="4142232"/>
            <a:ext cx="2479548" cy="50292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7212" y="4142232"/>
            <a:ext cx="2479548" cy="502920"/>
          </a:xfrm>
          <a:prstGeom prst="rect">
            <a:avLst/>
          </a:prstGeom>
          <a:noFill/>
        </p:spPr>
        <p:txBody>
          <a:bodyPr wrap="square" anchor="ctr" lIns="0" rIns="0" tIns="0" bIns="0">
            <a:noAutofit/>
          </a:bodyPr>
          <a:lstStyle/>
          <a:p>
            <a:pPr algn="ctr"/>
            <a:r>
              <a:rPr sz="1000" b="1" i="0">
                <a:solidFill>
                  <a:srgbClr val="0E2356"/>
                </a:solidFill>
                <a:latin typeface="Outfit"/>
              </a:rPr>
              <a:t>Valeur perçue par les utilisateurs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50">
                <a:solidFill>
                  <a:srgbClr val="0E2356"/>
                </a:solidFill>
                <a:latin typeface="Outfit"/>
              </a:rPr>
              <a:t>CONTEXTE   ·   </a:t>
            </a:r>
            <a:r>
              <a:rPr b="1" sz="1250">
                <a:solidFill>
                  <a:srgbClr val="0E2356"/>
                </a:solidFill>
                <a:latin typeface="Outfit"/>
              </a:rPr>
              <a:t>Pourquoi cette transformation, pour un client infra — et maintenant</a:t>
            </a:r>
          </a:p>
        </p:txBody>
      </p:sp>
      <p:sp>
        <p:nvSpPr>
          <p:cNvPr id="3" name="TextBox 2"/>
          <p:cNvSpPr txBox="1"/>
          <p:nvPr/>
        </p:nvSpPr>
        <p:spPr>
          <a:xfrm>
            <a:off x="562356" y="1051560"/>
            <a:ext cx="7804404" cy="274320"/>
          </a:xfrm>
          <a:prstGeom prst="rect">
            <a:avLst/>
          </a:prstGeom>
          <a:noFill/>
        </p:spPr>
        <p:txBody>
          <a:bodyPr wrap="square" anchor="t" lIns="0" rIns="0" tIns="0" bIns="0">
            <a:noAutofit/>
          </a:bodyPr>
          <a:lstStyle/>
          <a:p>
            <a:pPr algn="l"/>
            <a:r>
              <a:rPr sz="950" b="0" i="1">
                <a:solidFill>
                  <a:srgbClr val="0E2356"/>
                </a:solidFill>
                <a:latin typeface="Outfit"/>
              </a:rPr>
              <a:t>Trois bascules rendent l'Infra-as-a-Product pertinente — et urgente — maintenant.</a:t>
            </a:r>
          </a:p>
        </p:txBody>
      </p:sp>
      <p:sp>
        <p:nvSpPr>
          <p:cNvPr id="4" name="Rounded Rectangle 3"/>
          <p:cNvSpPr/>
          <p:nvPr/>
        </p:nvSpPr>
        <p:spPr>
          <a:xfrm>
            <a:off x="562356" y="1618488"/>
            <a:ext cx="2479548" cy="1756791"/>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5236" y="1408176"/>
            <a:ext cx="420624" cy="4206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5236" y="1408176"/>
            <a:ext cx="420624" cy="420624"/>
          </a:xfrm>
          <a:prstGeom prst="rect">
            <a:avLst/>
          </a:prstGeom>
          <a:noFill/>
        </p:spPr>
        <p:txBody>
          <a:bodyPr wrap="square" anchor="ctr" lIns="0" rIns="0" tIns="0" bIns="0">
            <a:noAutofit/>
          </a:bodyPr>
          <a:lstStyle/>
          <a:p>
            <a:pPr algn="ctr"/>
            <a:r>
              <a:rPr sz="1400" b="1" i="0">
                <a:solidFill>
                  <a:srgbClr val="0E2356"/>
                </a:solidFill>
                <a:latin typeface="Outfit"/>
              </a:rPr>
              <a:t>1</a:t>
            </a:r>
          </a:p>
        </p:txBody>
      </p:sp>
      <p:sp>
        <p:nvSpPr>
          <p:cNvPr id="7" name="TextBox 6"/>
          <p:cNvSpPr txBox="1"/>
          <p:nvPr/>
        </p:nvSpPr>
        <p:spPr>
          <a:xfrm>
            <a:off x="745236" y="1956816"/>
            <a:ext cx="2113788" cy="374904"/>
          </a:xfrm>
          <a:prstGeom prst="rect">
            <a:avLst/>
          </a:prstGeom>
          <a:noFill/>
        </p:spPr>
        <p:txBody>
          <a:bodyPr wrap="square" anchor="t" lIns="0" rIns="0" tIns="0" bIns="0">
            <a:noAutofit/>
          </a:bodyPr>
          <a:lstStyle/>
          <a:p>
            <a:pPr algn="l">
              <a:lnSpc>
                <a:spcPct val="110000"/>
              </a:lnSpc>
            </a:pPr>
            <a:r>
              <a:rPr sz="1050" b="1" i="0">
                <a:solidFill>
                  <a:srgbClr val="FFFFFF"/>
                </a:solidFill>
                <a:latin typeface="Outfit"/>
              </a:rPr>
              <a:t>L'infra subie n'est plus tenable</a:t>
            </a:r>
          </a:p>
        </p:txBody>
      </p:sp>
      <p:sp>
        <p:nvSpPr>
          <p:cNvPr id="8" name="TextBox 7"/>
          <p:cNvSpPr txBox="1"/>
          <p:nvPr/>
        </p:nvSpPr>
        <p:spPr>
          <a:xfrm>
            <a:off x="745236" y="2404872"/>
            <a:ext cx="2113788" cy="805815"/>
          </a:xfrm>
          <a:prstGeom prst="rect">
            <a:avLst/>
          </a:prstGeom>
          <a:noFill/>
        </p:spPr>
        <p:txBody>
          <a:bodyPr wrap="square" anchor="t" lIns="0" rIns="0" tIns="0" bIns="0">
            <a:noAutofit/>
          </a:bodyPr>
          <a:lstStyle/>
          <a:p>
            <a:pPr algn="l">
              <a:lnSpc>
                <a:spcPct val="120000"/>
              </a:lnSpc>
            </a:pPr>
            <a:r>
              <a:rPr sz="900" b="0" i="0">
                <a:solidFill>
                  <a:srgbClr val="C7CBE0"/>
                </a:solidFill>
                <a:latin typeface="Outfit"/>
              </a:rPr>
              <a:t>RUN subi, experts seniors drainés sur du répétitif, gaspillage cloud non maîtrisé, plateforme contournée : le coût du statu quo ne cesse de monter.</a:t>
            </a:r>
          </a:p>
        </p:txBody>
      </p:sp>
      <p:sp>
        <p:nvSpPr>
          <p:cNvPr id="9" name="Rounded Rectangle 8"/>
          <p:cNvSpPr/>
          <p:nvPr/>
        </p:nvSpPr>
        <p:spPr>
          <a:xfrm>
            <a:off x="3224783" y="1618488"/>
            <a:ext cx="2479548" cy="1756791"/>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07664" y="1408176"/>
            <a:ext cx="420624" cy="42062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7664" y="1408176"/>
            <a:ext cx="420624" cy="420624"/>
          </a:xfrm>
          <a:prstGeom prst="rect">
            <a:avLst/>
          </a:prstGeom>
          <a:noFill/>
        </p:spPr>
        <p:txBody>
          <a:bodyPr wrap="square" anchor="ctr" lIns="0" rIns="0" tIns="0" bIns="0">
            <a:noAutofit/>
          </a:bodyPr>
          <a:lstStyle/>
          <a:p>
            <a:pPr algn="ctr"/>
            <a:r>
              <a:rPr sz="1400" b="1" i="0">
                <a:solidFill>
                  <a:srgbClr val="FFFFFF"/>
                </a:solidFill>
                <a:latin typeface="Outfit"/>
              </a:rPr>
              <a:t>2</a:t>
            </a:r>
          </a:p>
        </p:txBody>
      </p:sp>
      <p:sp>
        <p:nvSpPr>
          <p:cNvPr id="12" name="TextBox 11"/>
          <p:cNvSpPr txBox="1"/>
          <p:nvPr/>
        </p:nvSpPr>
        <p:spPr>
          <a:xfrm>
            <a:off x="3407664" y="1956816"/>
            <a:ext cx="2113788" cy="374904"/>
          </a:xfrm>
          <a:prstGeom prst="rect">
            <a:avLst/>
          </a:prstGeom>
          <a:noFill/>
        </p:spPr>
        <p:txBody>
          <a:bodyPr wrap="square" anchor="t" lIns="0" rIns="0" tIns="0" bIns="0">
            <a:noAutofit/>
          </a:bodyPr>
          <a:lstStyle/>
          <a:p>
            <a:pPr algn="l">
              <a:lnSpc>
                <a:spcPct val="110000"/>
              </a:lnSpc>
            </a:pPr>
            <a:r>
              <a:rPr sz="1050" b="1" i="0">
                <a:solidFill>
                  <a:srgbClr val="0E2356"/>
                </a:solidFill>
                <a:latin typeface="Outfit"/>
              </a:rPr>
              <a:t>Le modèle produit/plateforme est prouvé</a:t>
            </a:r>
          </a:p>
        </p:txBody>
      </p:sp>
      <p:sp>
        <p:nvSpPr>
          <p:cNvPr id="13" name="TextBox 12"/>
          <p:cNvSpPr txBox="1"/>
          <p:nvPr/>
        </p:nvSpPr>
        <p:spPr>
          <a:xfrm>
            <a:off x="3407664" y="2404872"/>
            <a:ext cx="2113788" cy="805815"/>
          </a:xfrm>
          <a:prstGeom prst="rect">
            <a:avLst/>
          </a:prstGeom>
          <a:noFill/>
        </p:spPr>
        <p:txBody>
          <a:bodyPr wrap="square" anchor="t" lIns="0" rIns="0" tIns="0" bIns="0">
            <a:noAutofit/>
          </a:bodyPr>
          <a:lstStyle/>
          <a:p>
            <a:pPr algn="l">
              <a:lnSpc>
                <a:spcPct val="120000"/>
              </a:lnSpc>
            </a:pPr>
            <a:r>
              <a:rPr sz="900" b="0" i="0">
                <a:solidFill>
                  <a:srgbClr val="0E2356"/>
                </a:solidFill>
                <a:latin typeface="Outfit"/>
              </a:rPr>
              <a:t>Devenu un standard — mais Gartner : 80 % de grandes organisations avec platform team en 2026, moins de 30 % de gains mesurables. C'est cet écart qu'Assainir adresse.</a:t>
            </a:r>
          </a:p>
        </p:txBody>
      </p:sp>
      <p:sp>
        <p:nvSpPr>
          <p:cNvPr id="14" name="Rounded Rectangle 13"/>
          <p:cNvSpPr/>
          <p:nvPr/>
        </p:nvSpPr>
        <p:spPr>
          <a:xfrm>
            <a:off x="5887212" y="1618488"/>
            <a:ext cx="2479548" cy="1756791"/>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70092" y="1408176"/>
            <a:ext cx="420624" cy="42062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70092" y="1408176"/>
            <a:ext cx="420624" cy="420624"/>
          </a:xfrm>
          <a:prstGeom prst="rect">
            <a:avLst/>
          </a:prstGeom>
          <a:noFill/>
        </p:spPr>
        <p:txBody>
          <a:bodyPr wrap="square" anchor="ctr" lIns="0" rIns="0" tIns="0" bIns="0">
            <a:noAutofit/>
          </a:bodyPr>
          <a:lstStyle/>
          <a:p>
            <a:pPr algn="ctr"/>
            <a:r>
              <a:rPr sz="1400" b="1" i="0">
                <a:solidFill>
                  <a:srgbClr val="FFFFFF"/>
                </a:solidFill>
                <a:latin typeface="Outfit"/>
              </a:rPr>
              <a:t>3</a:t>
            </a:r>
          </a:p>
        </p:txBody>
      </p:sp>
      <p:sp>
        <p:nvSpPr>
          <p:cNvPr id="17" name="TextBox 16"/>
          <p:cNvSpPr txBox="1"/>
          <p:nvPr/>
        </p:nvSpPr>
        <p:spPr>
          <a:xfrm>
            <a:off x="6070092" y="1956816"/>
            <a:ext cx="2113788" cy="374904"/>
          </a:xfrm>
          <a:prstGeom prst="rect">
            <a:avLst/>
          </a:prstGeom>
          <a:noFill/>
        </p:spPr>
        <p:txBody>
          <a:bodyPr wrap="square" anchor="t" lIns="0" rIns="0" tIns="0" bIns="0">
            <a:noAutofit/>
          </a:bodyPr>
          <a:lstStyle/>
          <a:p>
            <a:pPr algn="l">
              <a:lnSpc>
                <a:spcPct val="110000"/>
              </a:lnSpc>
            </a:pPr>
            <a:r>
              <a:rPr sz="1050" b="1" i="0">
                <a:solidFill>
                  <a:srgbClr val="0E2356"/>
                </a:solidFill>
                <a:latin typeface="Outfit"/>
              </a:rPr>
              <a:t>L'IA rebat les cartes — l'organisation d'abord</a:t>
            </a:r>
          </a:p>
        </p:txBody>
      </p:sp>
      <p:sp>
        <p:nvSpPr>
          <p:cNvPr id="18" name="TextBox 17"/>
          <p:cNvSpPr txBox="1"/>
          <p:nvPr/>
        </p:nvSpPr>
        <p:spPr>
          <a:xfrm>
            <a:off x="6070092" y="2404872"/>
            <a:ext cx="2113788" cy="805815"/>
          </a:xfrm>
          <a:prstGeom prst="rect">
            <a:avLst/>
          </a:prstGeom>
          <a:noFill/>
        </p:spPr>
        <p:txBody>
          <a:bodyPr wrap="square" anchor="t" lIns="0" rIns="0" tIns="0" bIns="0">
            <a:noAutofit/>
          </a:bodyPr>
          <a:lstStyle/>
          <a:p>
            <a:pPr algn="l">
              <a:lnSpc>
                <a:spcPct val="120000"/>
              </a:lnSpc>
            </a:pPr>
            <a:r>
              <a:rPr sz="900" b="0" i="0">
                <a:solidFill>
                  <a:srgbClr val="0E2356"/>
                </a:solidFill>
                <a:latin typeface="Outfit"/>
              </a:rPr>
              <a:t>L'IA amplifie une organisation mûre, jamais l'inverse. S'y préparer maintenant (doctrine confidentialité-first) évite de la subir plus tard.</a:t>
            </a:r>
          </a:p>
        </p:txBody>
      </p:sp>
      <p:sp>
        <p:nvSpPr>
          <p:cNvPr id="19" name="TextBox 18"/>
          <p:cNvSpPr txBox="1"/>
          <p:nvPr/>
        </p:nvSpPr>
        <p:spPr>
          <a:xfrm>
            <a:off x="562356" y="3631311"/>
            <a:ext cx="7804404" cy="201168"/>
          </a:xfrm>
          <a:prstGeom prst="rect">
            <a:avLst/>
          </a:prstGeom>
          <a:noFill/>
        </p:spPr>
        <p:txBody>
          <a:bodyPr wrap="square" anchor="t" lIns="0" rIns="0" tIns="0" bIns="0">
            <a:noAutofit/>
          </a:bodyPr>
          <a:lstStyle/>
          <a:p>
            <a:pPr algn="l"/>
            <a:r>
              <a:rPr sz="800" b="1" i="0">
                <a:solidFill>
                  <a:srgbClr val="586586"/>
                </a:solidFill>
                <a:latin typeface="Outfit"/>
              </a:rPr>
              <a:t>ET SURTOUT — NOS DEUX MISSIONS RÉPONDENT TRAIT POUR TRAIT AUX DEUX DOULEURS DU CLIENT</a:t>
            </a:r>
          </a:p>
        </p:txBody>
      </p:sp>
      <p:sp>
        <p:nvSpPr>
          <p:cNvPr id="20" name="Rounded Rectangle 19"/>
          <p:cNvSpPr/>
          <p:nvPr/>
        </p:nvSpPr>
        <p:spPr>
          <a:xfrm>
            <a:off x="562356" y="3887343"/>
            <a:ext cx="1234440" cy="603504"/>
          </a:xfrm>
          <a:prstGeom prst="roundRect">
            <a:avLst>
              <a:gd name="adj" fmla="val 5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 y="3887343"/>
            <a:ext cx="1234440" cy="603504"/>
          </a:xfrm>
          <a:prstGeom prst="rect">
            <a:avLst/>
          </a:prstGeom>
          <a:noFill/>
        </p:spPr>
        <p:txBody>
          <a:bodyPr wrap="square" anchor="ctr" lIns="0" rIns="0" tIns="0" bIns="0">
            <a:noAutofit/>
          </a:bodyPr>
          <a:lstStyle/>
          <a:p>
            <a:pPr algn="ctr"/>
            <a:r>
              <a:rPr sz="950" b="1" i="0">
                <a:solidFill>
                  <a:srgbClr val="0E2356"/>
                </a:solidFill>
                <a:latin typeface="Outfit"/>
              </a:rPr>
              <a:t>Subir le RUN</a:t>
            </a:r>
          </a:p>
        </p:txBody>
      </p:sp>
      <p:sp>
        <p:nvSpPr>
          <p:cNvPr id="22" name="Chevron 21"/>
          <p:cNvSpPr/>
          <p:nvPr/>
        </p:nvSpPr>
        <p:spPr>
          <a:xfrm>
            <a:off x="1851660" y="4042791"/>
            <a:ext cx="219456" cy="292608"/>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125980" y="3887343"/>
            <a:ext cx="2247138" cy="603504"/>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08860" y="3887343"/>
            <a:ext cx="1972818" cy="603504"/>
          </a:xfrm>
          <a:prstGeom prst="rect">
            <a:avLst/>
          </a:prstGeom>
          <a:noFill/>
        </p:spPr>
        <p:txBody>
          <a:bodyPr wrap="square" anchor="ctr" lIns="0" rIns="0" tIns="0" bIns="0">
            <a:noAutofit/>
          </a:bodyPr>
          <a:lstStyle/>
          <a:p>
            <a:pPr algn="l"/>
            <a:r>
              <a:rPr sz="1000" b="1" i="0">
                <a:solidFill>
                  <a:srgbClr val="0E2356"/>
                </a:solidFill>
                <a:latin typeface="Outfit"/>
              </a:rPr>
              <a:t>TRANSFORMER</a:t>
            </a:r>
          </a:p>
          <a:p>
            <a:pPr algn="l">
              <a:lnSpc>
                <a:spcPct val="110000"/>
              </a:lnSpc>
            </a:pPr>
            <a:r>
              <a:rPr sz="850" b="0" i="0">
                <a:solidFill>
                  <a:srgbClr val="586586"/>
                </a:solidFill>
                <a:latin typeface="Outfit"/>
              </a:rPr>
              <a:t>cible produit/plateforme</a:t>
            </a:r>
          </a:p>
        </p:txBody>
      </p:sp>
      <p:sp>
        <p:nvSpPr>
          <p:cNvPr id="25" name="Rounded Rectangle 24"/>
          <p:cNvSpPr/>
          <p:nvPr/>
        </p:nvSpPr>
        <p:spPr>
          <a:xfrm>
            <a:off x="4555998" y="3887343"/>
            <a:ext cx="1234440" cy="603504"/>
          </a:xfrm>
          <a:prstGeom prst="roundRect">
            <a:avLst>
              <a:gd name="adj" fmla="val 5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5998" y="3887343"/>
            <a:ext cx="1234440" cy="603504"/>
          </a:xfrm>
          <a:prstGeom prst="rect">
            <a:avLst/>
          </a:prstGeom>
          <a:noFill/>
        </p:spPr>
        <p:txBody>
          <a:bodyPr wrap="square" anchor="ctr" lIns="0" rIns="0" tIns="0" bIns="0">
            <a:noAutofit/>
          </a:bodyPr>
          <a:lstStyle/>
          <a:p>
            <a:pPr algn="ctr"/>
            <a:r>
              <a:rPr sz="950" b="1" i="0">
                <a:solidFill>
                  <a:srgbClr val="0E2356"/>
                </a:solidFill>
                <a:latin typeface="Outfit"/>
              </a:rPr>
              <a:t>Le gaspillage</a:t>
            </a:r>
          </a:p>
        </p:txBody>
      </p:sp>
      <p:sp>
        <p:nvSpPr>
          <p:cNvPr id="27" name="Chevron 26"/>
          <p:cNvSpPr/>
          <p:nvPr/>
        </p:nvSpPr>
        <p:spPr>
          <a:xfrm>
            <a:off x="5845302" y="4042791"/>
            <a:ext cx="219456" cy="292608"/>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119622" y="3887343"/>
            <a:ext cx="2247138" cy="603504"/>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2502" y="3887343"/>
            <a:ext cx="1972818" cy="603504"/>
          </a:xfrm>
          <a:prstGeom prst="rect">
            <a:avLst/>
          </a:prstGeom>
          <a:noFill/>
        </p:spPr>
        <p:txBody>
          <a:bodyPr wrap="square" anchor="ctr" lIns="0" rIns="0" tIns="0" bIns="0">
            <a:noAutofit/>
          </a:bodyPr>
          <a:lstStyle/>
          <a:p>
            <a:pPr algn="l"/>
            <a:r>
              <a:rPr sz="1000" b="1" i="0">
                <a:solidFill>
                  <a:srgbClr val="0E2356"/>
                </a:solidFill>
                <a:latin typeface="Outfit"/>
              </a:rPr>
              <a:t>ASSAINIR</a:t>
            </a:r>
          </a:p>
          <a:p>
            <a:pPr algn="l">
              <a:lnSpc>
                <a:spcPct val="110000"/>
              </a:lnSpc>
            </a:pPr>
            <a:r>
              <a:rPr sz="850" b="0" i="0">
                <a:solidFill>
                  <a:srgbClr val="586586"/>
                </a:solidFill>
                <a:latin typeface="Outfit"/>
              </a:rPr>
              <a:t>capacité récupérée à réinvestir — sous réserve d'une réallocation côté client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50">
                <a:solidFill>
                  <a:srgbClr val="0E2356"/>
                </a:solidFill>
                <a:latin typeface="Outfit"/>
              </a:rPr>
              <a:t>CONTEXTE   ·   </a:t>
            </a:r>
            <a:r>
              <a:rPr b="1" sz="1250">
                <a:solidFill>
                  <a:srgbClr val="0E2356"/>
                </a:solidFill>
                <a:latin typeface="Outfit"/>
              </a:rPr>
              <a:t>Le sponsor est la DSI — l'offre se gagne contre quatre achats partiels</a:t>
            </a:r>
          </a:p>
        </p:txBody>
      </p:sp>
      <p:sp>
        <p:nvSpPr>
          <p:cNvPr id="3" name="TextBox 2"/>
          <p:cNvSpPr txBox="1"/>
          <p:nvPr/>
        </p:nvSpPr>
        <p:spPr>
          <a:xfrm>
            <a:off x="562356" y="1051560"/>
            <a:ext cx="7804404" cy="738504"/>
          </a:xfrm>
          <a:prstGeom prst="rect">
            <a:avLst/>
          </a:prstGeom>
          <a:noFill/>
        </p:spPr>
        <p:txBody>
          <a:bodyPr wrap="square" anchor="t" lIns="0" rIns="0" tIns="0" bIns="0">
            <a:noAutofit/>
          </a:bodyPr>
          <a:lstStyle/>
          <a:p>
            <a:pPr algn="l">
              <a:lnSpc>
                <a:spcPct val="125000"/>
              </a:lnSpc>
            </a:pPr>
            <a:r>
              <a:rPr sz="950" b="0" i="1">
                <a:solidFill>
                  <a:srgbClr val="0E2356"/>
                </a:solidFill>
                <a:latin typeface="Outfit"/>
              </a:rPr>
              <a:t>Sponsor qualifié : DSI (direction des systèmes d'information) ou direction infrastructure, sur une ligne budgétaire transformation — jamais le budget RUN (exploitation courante).</a:t>
            </a:r>
          </a:p>
          <a:p>
            <a:pPr algn="l">
              <a:lnSpc>
                <a:spcPct val="125000"/>
              </a:lnSpc>
              <a:spcBef>
                <a:spcPts val="300"/>
              </a:spcBef>
            </a:pPr>
            <a:r>
              <a:rPr sz="800" b="0" i="0">
                <a:solidFill>
                  <a:srgbClr val="586586"/>
                </a:solidFill>
                <a:latin typeface="Outfit"/>
              </a:rPr>
              <a:t>La modernisation infra recule face à la cyber dans les priorités budgétaires 2026 (baromètre Abraxio) : le langage de vente est « récupérer de la capacité humaine rare », pas « moderniser l'infra ».</a:t>
            </a:r>
          </a:p>
        </p:txBody>
      </p:sp>
      <p:sp>
        <p:nvSpPr>
          <p:cNvPr id="4" name="TextBox 3"/>
          <p:cNvSpPr txBox="1"/>
          <p:nvPr/>
        </p:nvSpPr>
        <p:spPr>
          <a:xfrm>
            <a:off x="562356" y="1863216"/>
            <a:ext cx="3017520" cy="154432"/>
          </a:xfrm>
          <a:prstGeom prst="rect">
            <a:avLst/>
          </a:prstGeom>
          <a:noFill/>
        </p:spPr>
        <p:txBody>
          <a:bodyPr wrap="square" anchor="t" lIns="0" rIns="0" tIns="0" bIns="0">
            <a:noAutofit/>
          </a:bodyPr>
          <a:lstStyle/>
          <a:p>
            <a:pPr algn="l"/>
            <a:r>
              <a:rPr sz="800" b="1" i="0">
                <a:solidFill>
                  <a:srgbClr val="586586"/>
                </a:solidFill>
                <a:latin typeface="Outfit"/>
              </a:rPr>
              <a:t>ACHAT ALTERNATIF</a:t>
            </a:r>
          </a:p>
        </p:txBody>
      </p:sp>
      <p:sp>
        <p:nvSpPr>
          <p:cNvPr id="5" name="TextBox 4"/>
          <p:cNvSpPr txBox="1"/>
          <p:nvPr/>
        </p:nvSpPr>
        <p:spPr>
          <a:xfrm>
            <a:off x="3963924" y="1863216"/>
            <a:ext cx="4402836" cy="154432"/>
          </a:xfrm>
          <a:prstGeom prst="rect">
            <a:avLst/>
          </a:prstGeom>
          <a:noFill/>
        </p:spPr>
        <p:txBody>
          <a:bodyPr wrap="square" anchor="t" lIns="0" rIns="0" tIns="0" bIns="0">
            <a:noAutofit/>
          </a:bodyPr>
          <a:lstStyle/>
          <a:p>
            <a:pPr algn="l"/>
            <a:r>
              <a:rPr sz="800" b="1" i="0">
                <a:solidFill>
                  <a:srgbClr val="586586"/>
                </a:solidFill>
                <a:latin typeface="Outfit"/>
              </a:rPr>
              <a:t>CE QUI LUI MANQUE — LA RÉPONSE IAP</a:t>
            </a:r>
          </a:p>
        </p:txBody>
      </p:sp>
      <p:sp>
        <p:nvSpPr>
          <p:cNvPr id="6" name="Rounded Rectangle 5"/>
          <p:cNvSpPr/>
          <p:nvPr/>
        </p:nvSpPr>
        <p:spPr>
          <a:xfrm>
            <a:off x="562356" y="2054225"/>
            <a:ext cx="3017520" cy="382016"/>
          </a:xfrm>
          <a:prstGeom prst="roundRect">
            <a:avLst>
              <a:gd name="adj" fmla="val 18000"/>
            </a:avLst>
          </a:prstGeom>
          <a:solidFill>
            <a:srgbClr val="FFFFFF"/>
          </a:solidFill>
          <a:ln w="1397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 y="2054225"/>
            <a:ext cx="2779776" cy="382016"/>
          </a:xfrm>
          <a:prstGeom prst="rect">
            <a:avLst/>
          </a:prstGeom>
          <a:noFill/>
        </p:spPr>
        <p:txBody>
          <a:bodyPr wrap="square" anchor="ctr" lIns="0" rIns="0" tIns="0" bIns="0">
            <a:spAutoFit/>
          </a:bodyPr>
          <a:lstStyle/>
          <a:p>
            <a:pPr algn="l">
              <a:lnSpc>
                <a:spcPct val="110000"/>
              </a:lnSpc>
            </a:pPr>
            <a:r>
              <a:rPr sz="800" b="1" i="0">
                <a:solidFill>
                  <a:srgbClr val="0E2356"/>
                </a:solidFill>
                <a:latin typeface="Outfit"/>
              </a:rPr>
              <a:t>Ne rien faire</a:t>
            </a:r>
            <a:r>
              <a:rPr sz="800" b="0" i="0">
                <a:solidFill>
                  <a:srgbClr val="0E2356"/>
                </a:solidFill>
                <a:latin typeface="Outfit"/>
              </a:rPr>
              <a:t> — Zéro coût apparent.</a:t>
            </a:r>
          </a:p>
        </p:txBody>
      </p:sp>
      <p:sp>
        <p:nvSpPr>
          <p:cNvPr id="8" name="Chevron 7"/>
          <p:cNvSpPr/>
          <p:nvPr/>
        </p:nvSpPr>
        <p:spPr>
          <a:xfrm>
            <a:off x="3633642" y="2149729"/>
            <a:ext cx="276514" cy="191008"/>
          </a:xfrm>
          <a:prstGeom prst="chevron">
            <a:avLst/>
          </a:prstGeom>
          <a:solidFill>
            <a:srgbClr val="FFFFFF"/>
          </a:solidFill>
          <a:ln w="17780">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63924" y="2054225"/>
            <a:ext cx="4402836" cy="382016"/>
          </a:xfrm>
          <a:prstGeom prst="roundRect">
            <a:avLst>
              <a:gd name="adj" fmla="val 1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82796" y="2054225"/>
            <a:ext cx="4165092" cy="382016"/>
          </a:xfrm>
          <a:prstGeom prst="rect">
            <a:avLst/>
          </a:prstGeom>
          <a:noFill/>
        </p:spPr>
        <p:txBody>
          <a:bodyPr wrap="square" anchor="ctr" lIns="0" rIns="0" tIns="0" bIns="0">
            <a:spAutoFit/>
          </a:bodyPr>
          <a:lstStyle/>
          <a:p>
            <a:pPr algn="l">
              <a:lnSpc>
                <a:spcPct val="110000"/>
              </a:lnSpc>
            </a:pPr>
            <a:r>
              <a:rPr sz="800" b="1" i="0">
                <a:solidFill>
                  <a:srgbClr val="FFFFFF"/>
                </a:solidFill>
                <a:latin typeface="Outfit"/>
              </a:rPr>
              <a:t>Le coût du statu quo monte</a:t>
            </a:r>
            <a:r>
              <a:rPr sz="800" b="0" i="0">
                <a:solidFill>
                  <a:srgbClr val="FFFFFF"/>
                </a:solidFill>
                <a:latin typeface="Outfit"/>
              </a:rPr>
              <a:t> — C'est lui que l'Assessment flash chiffre (déclencheur ①).</a:t>
            </a:r>
          </a:p>
        </p:txBody>
      </p:sp>
      <p:sp>
        <p:nvSpPr>
          <p:cNvPr id="11" name="Rounded Rectangle 10"/>
          <p:cNvSpPr/>
          <p:nvPr/>
        </p:nvSpPr>
        <p:spPr>
          <a:xfrm>
            <a:off x="562356" y="2500249"/>
            <a:ext cx="3017520" cy="509016"/>
          </a:xfrm>
          <a:prstGeom prst="roundRect">
            <a:avLst>
              <a:gd name="adj" fmla="val 18000"/>
            </a:avLst>
          </a:prstGeom>
          <a:solidFill>
            <a:srgbClr val="FFFFFF"/>
          </a:solidFill>
          <a:ln w="1397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 y="2500249"/>
            <a:ext cx="2779776" cy="509016"/>
          </a:xfrm>
          <a:prstGeom prst="rect">
            <a:avLst/>
          </a:prstGeom>
          <a:noFill/>
        </p:spPr>
        <p:txBody>
          <a:bodyPr wrap="square" anchor="ctr" lIns="0" rIns="0" tIns="0" bIns="0">
            <a:spAutoFit/>
          </a:bodyPr>
          <a:lstStyle/>
          <a:p>
            <a:pPr algn="l">
              <a:lnSpc>
                <a:spcPct val="110000"/>
              </a:lnSpc>
            </a:pPr>
            <a:r>
              <a:rPr sz="800" b="1" i="0">
                <a:solidFill>
                  <a:srgbClr val="0E2356"/>
                </a:solidFill>
                <a:latin typeface="Outfit"/>
              </a:rPr>
              <a:t>FinOps outillé seul</a:t>
            </a:r>
            <a:r>
              <a:rPr sz="800" b="0" i="0">
                <a:solidFill>
                  <a:srgbClr val="0E2356"/>
                </a:solidFill>
                <a:latin typeface="Outfit"/>
              </a:rPr>
              <a:t> — Mesure le gaspillage : marché mature, gaspillage cloud estimé à 29 % (Flexera).</a:t>
            </a:r>
          </a:p>
        </p:txBody>
      </p:sp>
      <p:sp>
        <p:nvSpPr>
          <p:cNvPr id="13" name="Chevron 12"/>
          <p:cNvSpPr/>
          <p:nvPr/>
        </p:nvSpPr>
        <p:spPr>
          <a:xfrm>
            <a:off x="3633642" y="2627503"/>
            <a:ext cx="276514" cy="254508"/>
          </a:xfrm>
          <a:prstGeom prst="chevron">
            <a:avLst/>
          </a:prstGeom>
          <a:solidFill>
            <a:srgbClr val="FFFFFF"/>
          </a:solidFill>
          <a:ln w="17780">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963924" y="2500249"/>
            <a:ext cx="4402836" cy="509016"/>
          </a:xfrm>
          <a:prstGeom prst="roundRect">
            <a:avLst>
              <a:gd name="adj" fmla="val 1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82796" y="2500249"/>
            <a:ext cx="4165092" cy="509016"/>
          </a:xfrm>
          <a:prstGeom prst="rect">
            <a:avLst/>
          </a:prstGeom>
          <a:noFill/>
        </p:spPr>
        <p:txBody>
          <a:bodyPr wrap="square" anchor="ctr" lIns="0" rIns="0" tIns="0" bIns="0">
            <a:spAutoFit/>
          </a:bodyPr>
          <a:lstStyle/>
          <a:p>
            <a:pPr algn="l">
              <a:lnSpc>
                <a:spcPct val="110000"/>
              </a:lnSpc>
            </a:pPr>
            <a:r>
              <a:rPr sz="800" b="1" i="0">
                <a:solidFill>
                  <a:srgbClr val="FFFFFF"/>
                </a:solidFill>
                <a:latin typeface="Outfit"/>
              </a:rPr>
              <a:t>Ni cible produit, ni réallocation</a:t>
            </a:r>
            <a:r>
              <a:rPr sz="800" b="0" i="0">
                <a:solidFill>
                  <a:srgbClr val="FFFFFF"/>
                </a:solidFill>
                <a:latin typeface="Outfit"/>
              </a:rPr>
              <a:t> — IAP se place en aval : le chiffre devient une capacité produit gouvernée, pas seulement une économie.</a:t>
            </a:r>
          </a:p>
        </p:txBody>
      </p:sp>
      <p:sp>
        <p:nvSpPr>
          <p:cNvPr id="16" name="Rounded Rectangle 15"/>
          <p:cNvSpPr/>
          <p:nvPr/>
        </p:nvSpPr>
        <p:spPr>
          <a:xfrm>
            <a:off x="562356" y="3073273"/>
            <a:ext cx="3017520" cy="509016"/>
          </a:xfrm>
          <a:prstGeom prst="roundRect">
            <a:avLst>
              <a:gd name="adj" fmla="val 18000"/>
            </a:avLst>
          </a:prstGeom>
          <a:solidFill>
            <a:srgbClr val="FFFFFF"/>
          </a:solidFill>
          <a:ln w="1397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 y="3073273"/>
            <a:ext cx="2779776" cy="509016"/>
          </a:xfrm>
          <a:prstGeom prst="rect">
            <a:avLst/>
          </a:prstGeom>
          <a:noFill/>
        </p:spPr>
        <p:txBody>
          <a:bodyPr wrap="square" anchor="ctr" lIns="0" rIns="0" tIns="0" bIns="0">
            <a:spAutoFit/>
          </a:bodyPr>
          <a:lstStyle/>
          <a:p>
            <a:pPr algn="l">
              <a:lnSpc>
                <a:spcPct val="110000"/>
              </a:lnSpc>
            </a:pPr>
            <a:r>
              <a:rPr sz="800" b="1" i="0">
                <a:solidFill>
                  <a:srgbClr val="0E2356"/>
                </a:solidFill>
                <a:latin typeface="Outfit"/>
              </a:rPr>
              <a:t>Platform engineering pur</a:t>
            </a:r>
            <a:r>
              <a:rPr sz="800" b="0" i="0">
                <a:solidFill>
                  <a:srgbClr val="0E2356"/>
                </a:solidFill>
                <a:latin typeface="Outfit"/>
              </a:rPr>
              <a:t> — La cible produit/plateforme, un modèle devenu standard.</a:t>
            </a:r>
          </a:p>
        </p:txBody>
      </p:sp>
      <p:sp>
        <p:nvSpPr>
          <p:cNvPr id="18" name="Chevron 17"/>
          <p:cNvSpPr/>
          <p:nvPr/>
        </p:nvSpPr>
        <p:spPr>
          <a:xfrm>
            <a:off x="3633642" y="3200527"/>
            <a:ext cx="276514" cy="254508"/>
          </a:xfrm>
          <a:prstGeom prst="chevron">
            <a:avLst/>
          </a:prstGeom>
          <a:solidFill>
            <a:srgbClr val="FFFFFF"/>
          </a:solidFill>
          <a:ln w="17780">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963924" y="3073273"/>
            <a:ext cx="4402836" cy="509016"/>
          </a:xfrm>
          <a:prstGeom prst="roundRect">
            <a:avLst>
              <a:gd name="adj" fmla="val 1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82796" y="3073273"/>
            <a:ext cx="4165092" cy="509016"/>
          </a:xfrm>
          <a:prstGeom prst="rect">
            <a:avLst/>
          </a:prstGeom>
          <a:noFill/>
        </p:spPr>
        <p:txBody>
          <a:bodyPr wrap="square" anchor="ctr" lIns="0" rIns="0" tIns="0" bIns="0">
            <a:spAutoFit/>
          </a:bodyPr>
          <a:lstStyle/>
          <a:p>
            <a:pPr algn="l">
              <a:lnSpc>
                <a:spcPct val="110000"/>
              </a:lnSpc>
            </a:pPr>
            <a:r>
              <a:rPr sz="800" b="1" i="0">
                <a:solidFill>
                  <a:srgbClr val="FFFFFF"/>
                </a:solidFill>
                <a:latin typeface="Outfit"/>
              </a:rPr>
              <a:t>La cible sans le financement</a:t>
            </a:r>
            <a:r>
              <a:rPr sz="800" b="0" i="0">
                <a:solidFill>
                  <a:srgbClr val="FFFFFF"/>
                </a:solidFill>
                <a:latin typeface="Outfit"/>
              </a:rPr>
              <a:t> — Reproduit l'écart 80/30 déjà posé au déclencheur ② : 80 % de platform teams en 2026, moins de 30 % de gains mesurables (Gartner).</a:t>
            </a:r>
          </a:p>
        </p:txBody>
      </p:sp>
      <p:sp>
        <p:nvSpPr>
          <p:cNvPr id="21" name="Rounded Rectangle 20"/>
          <p:cNvSpPr/>
          <p:nvPr/>
        </p:nvSpPr>
        <p:spPr>
          <a:xfrm>
            <a:off x="562356" y="3646297"/>
            <a:ext cx="3017520" cy="382016"/>
          </a:xfrm>
          <a:prstGeom prst="roundRect">
            <a:avLst>
              <a:gd name="adj" fmla="val 18000"/>
            </a:avLst>
          </a:prstGeom>
          <a:solidFill>
            <a:srgbClr val="FFFFFF"/>
          </a:solidFill>
          <a:ln w="1397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 y="3646297"/>
            <a:ext cx="2779776" cy="382016"/>
          </a:xfrm>
          <a:prstGeom prst="rect">
            <a:avLst/>
          </a:prstGeom>
          <a:noFill/>
        </p:spPr>
        <p:txBody>
          <a:bodyPr wrap="square" anchor="ctr" lIns="0" rIns="0" tIns="0" bIns="0">
            <a:spAutoFit/>
          </a:bodyPr>
          <a:lstStyle/>
          <a:p>
            <a:pPr algn="l">
              <a:lnSpc>
                <a:spcPct val="110000"/>
              </a:lnSpc>
            </a:pPr>
            <a:r>
              <a:rPr sz="800" b="1" i="0">
                <a:solidFill>
                  <a:srgbClr val="0E2356"/>
                </a:solidFill>
                <a:latin typeface="Outfit"/>
              </a:rPr>
              <a:t>AIOps / agentic outillé</a:t>
            </a:r>
            <a:r>
              <a:rPr sz="800" b="0" i="0">
                <a:solidFill>
                  <a:srgbClr val="0E2356"/>
                </a:solidFill>
                <a:latin typeface="Outfit"/>
              </a:rPr>
              <a:t> — Time-to-value court (ServiceNow, Datadog).</a:t>
            </a:r>
          </a:p>
        </p:txBody>
      </p:sp>
      <p:sp>
        <p:nvSpPr>
          <p:cNvPr id="23" name="Chevron 22"/>
          <p:cNvSpPr/>
          <p:nvPr/>
        </p:nvSpPr>
        <p:spPr>
          <a:xfrm>
            <a:off x="3633642" y="3741801"/>
            <a:ext cx="276514" cy="191008"/>
          </a:xfrm>
          <a:prstGeom prst="chevron">
            <a:avLst/>
          </a:prstGeom>
          <a:solidFill>
            <a:srgbClr val="FFFFFF"/>
          </a:solidFill>
          <a:ln w="17780">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963924" y="3646297"/>
            <a:ext cx="4402836" cy="382016"/>
          </a:xfrm>
          <a:prstGeom prst="roundRect">
            <a:avLst>
              <a:gd name="adj" fmla="val 1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82796" y="3646297"/>
            <a:ext cx="4165092" cy="382016"/>
          </a:xfrm>
          <a:prstGeom prst="rect">
            <a:avLst/>
          </a:prstGeom>
          <a:noFill/>
        </p:spPr>
        <p:txBody>
          <a:bodyPr wrap="square" anchor="ctr" lIns="0" rIns="0" tIns="0" bIns="0">
            <a:spAutoFit/>
          </a:bodyPr>
          <a:lstStyle/>
          <a:p>
            <a:pPr algn="l">
              <a:lnSpc>
                <a:spcPct val="110000"/>
              </a:lnSpc>
            </a:pPr>
            <a:r>
              <a:rPr sz="800" b="1" i="0">
                <a:solidFill>
                  <a:srgbClr val="FFFFFF"/>
                </a:solidFill>
                <a:latin typeface="Outfit"/>
              </a:rPr>
              <a:t>Automatise le RUN sans transformer</a:t>
            </a:r>
            <a:r>
              <a:rPr sz="800" b="0" i="0">
                <a:solidFill>
                  <a:srgbClr val="FFFFFF"/>
                </a:solidFill>
                <a:latin typeface="Outfit"/>
              </a:rPr>
              <a:t> — Plus de 40 % des projets agentic seront abandonnés d'ici 2027 (Gartner, juin 2025).</a:t>
            </a:r>
          </a:p>
        </p:txBody>
      </p:sp>
      <p:sp>
        <p:nvSpPr>
          <p:cNvPr id="26" name="Rounded Rectangle 25"/>
          <p:cNvSpPr/>
          <p:nvPr/>
        </p:nvSpPr>
        <p:spPr>
          <a:xfrm>
            <a:off x="562356" y="4192016"/>
            <a:ext cx="3810762" cy="791464"/>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372" y="4301744"/>
            <a:ext cx="3554730" cy="572008"/>
          </a:xfrm>
          <a:prstGeom prst="rect">
            <a:avLst/>
          </a:prstGeom>
          <a:noFill/>
        </p:spPr>
        <p:txBody>
          <a:bodyPr wrap="square" anchor="t" lIns="0" rIns="0" tIns="0" bIns="0">
            <a:noAutofit/>
          </a:bodyPr>
          <a:lstStyle/>
          <a:p>
            <a:pPr algn="l"/>
            <a:r>
              <a:rPr sz="800" b="1" i="0">
                <a:solidFill>
                  <a:srgbClr val="586586"/>
                </a:solidFill>
                <a:latin typeface="Outfit"/>
              </a:rPr>
              <a:t>CE QUE LES QUATRE ALTERNATIVES N'ONT PAS</a:t>
            </a:r>
          </a:p>
          <a:p>
            <a:pPr algn="l">
              <a:lnSpc>
                <a:spcPct val="125000"/>
              </a:lnSpc>
              <a:spcBef>
                <a:spcPts val="300"/>
              </a:spcBef>
            </a:pPr>
            <a:r>
              <a:rPr sz="800" b="0" i="0">
                <a:solidFill>
                  <a:srgbClr val="0E2356"/>
                </a:solidFill>
                <a:latin typeface="Outfit"/>
              </a:rPr>
              <a:t>« Infrastructure as a Product » existe ailleurs (Thoughtworks, Itential) ; nous gardons l'étiquette. Le différenciateur : produit + gaspillage + doctrine IA.</a:t>
            </a:r>
          </a:p>
        </p:txBody>
      </p:sp>
      <p:sp>
        <p:nvSpPr>
          <p:cNvPr id="28" name="Rounded Rectangle 27"/>
          <p:cNvSpPr/>
          <p:nvPr/>
        </p:nvSpPr>
        <p:spPr>
          <a:xfrm>
            <a:off x="4555998" y="4192016"/>
            <a:ext cx="3810762" cy="791464"/>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4014" y="4301744"/>
            <a:ext cx="3554730" cy="572008"/>
          </a:xfrm>
          <a:prstGeom prst="rect">
            <a:avLst/>
          </a:prstGeom>
          <a:noFill/>
        </p:spPr>
        <p:txBody>
          <a:bodyPr wrap="square" anchor="t" lIns="0" rIns="0" tIns="0" bIns="0">
            <a:noAutofit/>
          </a:bodyPr>
          <a:lstStyle/>
          <a:p>
            <a:pPr algn="l"/>
            <a:r>
              <a:rPr sz="800" b="1" i="0">
                <a:solidFill>
                  <a:srgbClr val="586586"/>
                </a:solidFill>
                <a:latin typeface="Outfit"/>
              </a:rPr>
              <a:t>LA RÉPONSE AU « JE NE VEUX QUE LA BAISSE DE COÛTS »</a:t>
            </a:r>
          </a:p>
          <a:p>
            <a:pPr algn="l">
              <a:lnSpc>
                <a:spcPct val="125000"/>
              </a:lnSpc>
              <a:spcBef>
                <a:spcPts val="300"/>
              </a:spcBef>
            </a:pPr>
            <a:r>
              <a:rPr sz="800" b="0" i="0">
                <a:solidFill>
                  <a:srgbClr val="0E2356"/>
                </a:solidFill>
                <a:latin typeface="Outfit"/>
              </a:rPr>
              <a:t>Un Assessment flash d'entrée, puis la trajectoire — jamais l'assainissement seul. Sous pression IA : un cas d'usage public, « tout de suite, sous gate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Ce que ça coûte</a:t>
            </a:r>
          </a:p>
          <a:p>
            <a:r>
              <a:rPr sz="1050" i="1">
                <a:solidFill>
                  <a:srgbClr val="586586"/>
                </a:solidFill>
                <a:latin typeface="Outfit"/>
              </a:rPr>
              <a:t>Ce que coûte le statu quo, les douleurs mesurables, et les 8 familles qui les rendent traitables.</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02</a:t>
            </a:r>
          </a:p>
        </p:txBody>
      </p:sp>
      <p:pic>
        <p:nvPicPr>
          <p:cNvPr id="4" name="Picture 3" descr="riverdelta_5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CE QUE ÇA COÛTE   ·   </a:t>
            </a:r>
            <a:r>
              <a:rPr b="1" sz="1200">
                <a:solidFill>
                  <a:srgbClr val="0E2356"/>
                </a:solidFill>
                <a:latin typeface="Outfit"/>
              </a:rPr>
              <a:t>Si rien ne change : un RUN permanent, une infra orpheline, une DSI qui pilote à vue</a:t>
            </a:r>
          </a:p>
        </p:txBody>
      </p:sp>
      <p:sp>
        <p:nvSpPr>
          <p:cNvPr id="3" name="TextBox 2"/>
          <p:cNvSpPr txBox="1"/>
          <p:nvPr/>
        </p:nvSpPr>
        <p:spPr>
          <a:xfrm>
            <a:off x="562356" y="1051560"/>
            <a:ext cx="7804404" cy="274320"/>
          </a:xfrm>
          <a:prstGeom prst="rect">
            <a:avLst/>
          </a:prstGeom>
          <a:noFill/>
        </p:spPr>
        <p:txBody>
          <a:bodyPr wrap="square" anchor="t" lIns="0" rIns="0" tIns="0" bIns="0">
            <a:noAutofit/>
          </a:bodyPr>
          <a:lstStyle/>
          <a:p>
            <a:pPr algn="l"/>
            <a:r>
              <a:rPr sz="1050" b="0" i="1">
                <a:solidFill>
                  <a:srgbClr val="0E2356"/>
                </a:solidFill>
                <a:latin typeface="Outfit"/>
              </a:rPr>
              <a:t>Quatre parties prenantes interrogées séparément convergent sur un même constat, lu ici à l'échelle de la DSI.</a:t>
            </a:r>
          </a:p>
        </p:txBody>
      </p:sp>
      <p:sp>
        <p:nvSpPr>
          <p:cNvPr id="4" name="Rounded Rectangle 3"/>
          <p:cNvSpPr/>
          <p:nvPr/>
        </p:nvSpPr>
        <p:spPr>
          <a:xfrm>
            <a:off x="562356" y="1490472"/>
            <a:ext cx="2479548" cy="2804922"/>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5236" y="1655063"/>
            <a:ext cx="2113788" cy="201168"/>
          </a:xfrm>
          <a:prstGeom prst="rect">
            <a:avLst/>
          </a:prstGeom>
          <a:noFill/>
        </p:spPr>
        <p:txBody>
          <a:bodyPr wrap="square" anchor="t" lIns="0" rIns="0" tIns="0" bIns="0">
            <a:noAutofit/>
          </a:bodyPr>
          <a:lstStyle/>
          <a:p>
            <a:pPr algn="l"/>
            <a:r>
              <a:rPr sz="800" b="1" i="0">
                <a:solidFill>
                  <a:srgbClr val="C7CBE0"/>
                </a:solidFill>
                <a:latin typeface="Outfit"/>
              </a:rPr>
              <a:t>1 · LE RUN</a:t>
            </a:r>
          </a:p>
        </p:txBody>
      </p:sp>
      <p:sp>
        <p:nvSpPr>
          <p:cNvPr id="6" name="TextBox 5"/>
          <p:cNvSpPr txBox="1"/>
          <p:nvPr/>
        </p:nvSpPr>
        <p:spPr>
          <a:xfrm>
            <a:off x="745236" y="1856231"/>
            <a:ext cx="2113788" cy="534924"/>
          </a:xfrm>
          <a:prstGeom prst="rect">
            <a:avLst/>
          </a:prstGeom>
          <a:noFill/>
        </p:spPr>
        <p:txBody>
          <a:bodyPr wrap="square" anchor="t" lIns="0" rIns="0" tIns="0" bIns="0">
            <a:noAutofit/>
          </a:bodyPr>
          <a:lstStyle/>
          <a:p>
            <a:pPr algn="l">
              <a:lnSpc>
                <a:spcPct val="115000"/>
              </a:lnSpc>
            </a:pPr>
            <a:r>
              <a:rPr sz="1050" b="1" i="0">
                <a:solidFill>
                  <a:srgbClr val="FFFFFF"/>
                </a:solidFill>
                <a:latin typeface="Outfit"/>
              </a:rPr>
              <a:t>Il ne s'arrête jamais, et il puise dans les mêmes experts que le BUILD</a:t>
            </a:r>
          </a:p>
        </p:txBody>
      </p:sp>
      <p:sp>
        <p:nvSpPr>
          <p:cNvPr id="7" name="TextBox 6"/>
          <p:cNvSpPr txBox="1"/>
          <p:nvPr/>
        </p:nvSpPr>
        <p:spPr>
          <a:xfrm>
            <a:off x="745236" y="2482596"/>
            <a:ext cx="2113788" cy="1648206"/>
          </a:xfrm>
          <a:prstGeom prst="rect">
            <a:avLst/>
          </a:prstGeom>
          <a:noFill/>
        </p:spPr>
        <p:txBody>
          <a:bodyPr wrap="square" anchor="t" lIns="0" rIns="0" tIns="0" bIns="0">
            <a:spAutoFit/>
          </a:bodyPr>
          <a:lstStyle/>
          <a:p>
            <a:pPr algn="l">
              <a:lnSpc>
                <a:spcPct val="120000"/>
              </a:lnSpc>
              <a:spcBef>
                <a:spcPts val="0"/>
              </a:spcBef>
            </a:pPr>
            <a:r>
              <a:rPr sz="900" b="0" i="0">
                <a:solidFill>
                  <a:srgbClr val="C7CBE0"/>
                </a:solidFill>
                <a:latin typeface="Outfit"/>
              </a:rPr>
              <a:t>—  </a:t>
            </a:r>
            <a:r>
              <a:rPr sz="900" b="0" i="0">
                <a:solidFill>
                  <a:srgbClr val="FFFFFF"/>
                </a:solidFill>
                <a:latin typeface="Outfit"/>
              </a:rPr>
              <a:t>Régime permanent : aucune fin de phase ne libère l'astreinte ni le maintien.</a:t>
            </a:r>
          </a:p>
          <a:p>
            <a:pPr algn="l">
              <a:lnSpc>
                <a:spcPct val="120000"/>
              </a:lnSpc>
              <a:spcBef>
                <a:spcPts val="400"/>
              </a:spcBef>
            </a:pPr>
            <a:r>
              <a:rPr sz="900" b="0" i="0">
                <a:solidFill>
                  <a:srgbClr val="C7CBE0"/>
                </a:solidFill>
                <a:latin typeface="Outfit"/>
              </a:rPr>
              <a:t>—  </a:t>
            </a:r>
            <a:r>
              <a:rPr sz="900" b="0" i="0">
                <a:solidFill>
                  <a:srgbClr val="FFFFFF"/>
                </a:solidFill>
                <a:latin typeface="Outfit"/>
              </a:rPr>
              <a:t>Sa charge vient de l'extérieur — incidents, demandes, obsolescences.</a:t>
            </a:r>
          </a:p>
          <a:p>
            <a:pPr algn="l">
              <a:lnSpc>
                <a:spcPct val="120000"/>
              </a:lnSpc>
              <a:spcBef>
                <a:spcPts val="400"/>
              </a:spcBef>
            </a:pPr>
            <a:r>
              <a:rPr sz="900" b="0" i="0">
                <a:solidFill>
                  <a:srgbClr val="C7CBE0"/>
                </a:solidFill>
                <a:latin typeface="Outfit"/>
              </a:rPr>
              <a:t>—  </a:t>
            </a:r>
            <a:r>
              <a:rPr sz="900" b="0" i="0">
                <a:solidFill>
                  <a:srgbClr val="FFFFFF"/>
                </a:solidFill>
                <a:latin typeface="Outfit"/>
              </a:rPr>
              <a:t>Sa dette ne se voit pas le jour où on la crée : elle se paie plus tard.</a:t>
            </a:r>
          </a:p>
        </p:txBody>
      </p:sp>
      <p:sp>
        <p:nvSpPr>
          <p:cNvPr id="8" name="Rounded Rectangle 7"/>
          <p:cNvSpPr/>
          <p:nvPr/>
        </p:nvSpPr>
        <p:spPr>
          <a:xfrm>
            <a:off x="3224783" y="1490472"/>
            <a:ext cx="2479548" cy="280492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7664" y="1655063"/>
            <a:ext cx="2113788" cy="201168"/>
          </a:xfrm>
          <a:prstGeom prst="rect">
            <a:avLst/>
          </a:prstGeom>
          <a:noFill/>
        </p:spPr>
        <p:txBody>
          <a:bodyPr wrap="square" anchor="t" lIns="0" rIns="0" tIns="0" bIns="0">
            <a:noAutofit/>
          </a:bodyPr>
          <a:lstStyle/>
          <a:p>
            <a:pPr algn="l"/>
            <a:r>
              <a:rPr sz="800" b="1" i="0">
                <a:solidFill>
                  <a:srgbClr val="586586"/>
                </a:solidFill>
                <a:latin typeface="Outfit"/>
              </a:rPr>
              <a:t>2 · L'INFRA TRANSVERSE</a:t>
            </a:r>
          </a:p>
        </p:txBody>
      </p:sp>
      <p:sp>
        <p:nvSpPr>
          <p:cNvPr id="10" name="TextBox 9"/>
          <p:cNvSpPr txBox="1"/>
          <p:nvPr/>
        </p:nvSpPr>
        <p:spPr>
          <a:xfrm>
            <a:off x="3407664" y="1856231"/>
            <a:ext cx="2113788" cy="534924"/>
          </a:xfrm>
          <a:prstGeom prst="rect">
            <a:avLst/>
          </a:prstGeom>
          <a:noFill/>
        </p:spPr>
        <p:txBody>
          <a:bodyPr wrap="square" anchor="t" lIns="0" rIns="0" tIns="0" bIns="0">
            <a:noAutofit/>
          </a:bodyPr>
          <a:lstStyle/>
          <a:p>
            <a:pPr algn="l">
              <a:lnSpc>
                <a:spcPct val="115000"/>
              </a:lnSpc>
            </a:pPr>
            <a:r>
              <a:rPr sz="1050" b="1" i="0">
                <a:solidFill>
                  <a:srgbClr val="0E2356"/>
                </a:solidFill>
                <a:latin typeface="Outfit"/>
              </a:rPr>
              <a:t>Elle sert toutes les équipes et n'appartient à aucune</a:t>
            </a:r>
          </a:p>
        </p:txBody>
      </p:sp>
      <p:sp>
        <p:nvSpPr>
          <p:cNvPr id="11" name="TextBox 10"/>
          <p:cNvSpPr txBox="1"/>
          <p:nvPr/>
        </p:nvSpPr>
        <p:spPr>
          <a:xfrm>
            <a:off x="3407664" y="2482596"/>
            <a:ext cx="2113788" cy="1648206"/>
          </a:xfrm>
          <a:prstGeom prst="rect">
            <a:avLst/>
          </a:prstGeom>
          <a:noFill/>
        </p:spPr>
        <p:txBody>
          <a:bodyPr wrap="square" anchor="t" lIns="0" rIns="0" tIns="0" bIns="0">
            <a:spAutoFit/>
          </a:bodyPr>
          <a:lstStyle/>
          <a:p>
            <a:pPr algn="l">
              <a:lnSpc>
                <a:spcPct val="120000"/>
              </a:lnSpc>
              <a:spcBef>
                <a:spcPts val="0"/>
              </a:spcBef>
            </a:pPr>
            <a:r>
              <a:rPr sz="900" b="0" i="0">
                <a:solidFill>
                  <a:srgbClr val="586586"/>
                </a:solidFill>
                <a:latin typeface="Outfit"/>
              </a:rPr>
              <a:t>—  </a:t>
            </a:r>
            <a:r>
              <a:rPr sz="900" b="0" i="0">
                <a:solidFill>
                  <a:srgbClr val="0E2356"/>
                </a:solidFill>
                <a:latin typeface="Outfit"/>
              </a:rPr>
              <a:t>Son gaspillage est mutualisé : il ne pèse sur le budget d'aucune équipe.</a:t>
            </a:r>
          </a:p>
          <a:p>
            <a:pPr algn="l">
              <a:lnSpc>
                <a:spcPct val="120000"/>
              </a:lnSpc>
              <a:spcBef>
                <a:spcPts val="400"/>
              </a:spcBef>
            </a:pPr>
            <a:r>
              <a:rPr sz="900" b="0" i="0">
                <a:solidFill>
                  <a:srgbClr val="586586"/>
                </a:solidFill>
                <a:latin typeface="Outfit"/>
              </a:rPr>
              <a:t>—  </a:t>
            </a:r>
            <a:r>
              <a:rPr sz="900" b="0" i="0">
                <a:solidFill>
                  <a:srgbClr val="0E2356"/>
                </a:solidFill>
                <a:latin typeface="Outfit"/>
              </a:rPr>
              <a:t>Personne ne porte le coût, donc personne n'a de raison de le réduire.</a:t>
            </a:r>
          </a:p>
          <a:p>
            <a:pPr algn="l">
              <a:lnSpc>
                <a:spcPct val="120000"/>
              </a:lnSpc>
              <a:spcBef>
                <a:spcPts val="400"/>
              </a:spcBef>
            </a:pPr>
            <a:r>
              <a:rPr sz="900" b="0" i="0">
                <a:solidFill>
                  <a:srgbClr val="586586"/>
                </a:solidFill>
                <a:latin typeface="Outfit"/>
              </a:rPr>
              <a:t>—  </a:t>
            </a:r>
            <a:r>
              <a:rPr sz="900" b="0" i="0">
                <a:solidFill>
                  <a:srgbClr val="0E2356"/>
                </a:solidFill>
                <a:latin typeface="Outfit"/>
              </a:rPr>
              <a:t>Personne n'arbitre seul : fermer un service touche tout le monde.</a:t>
            </a:r>
          </a:p>
        </p:txBody>
      </p:sp>
      <p:sp>
        <p:nvSpPr>
          <p:cNvPr id="12" name="Rounded Rectangle 11"/>
          <p:cNvSpPr/>
          <p:nvPr/>
        </p:nvSpPr>
        <p:spPr>
          <a:xfrm>
            <a:off x="5887212" y="1490472"/>
            <a:ext cx="2479548" cy="2804922"/>
          </a:xfrm>
          <a:prstGeom prst="roundRect">
            <a:avLst>
              <a:gd name="adj" fmla="val 8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70092" y="1655063"/>
            <a:ext cx="2113788" cy="201168"/>
          </a:xfrm>
          <a:prstGeom prst="rect">
            <a:avLst/>
          </a:prstGeom>
          <a:noFill/>
        </p:spPr>
        <p:txBody>
          <a:bodyPr wrap="square" anchor="t" lIns="0" rIns="0" tIns="0" bIns="0">
            <a:noAutofit/>
          </a:bodyPr>
          <a:lstStyle/>
          <a:p>
            <a:pPr algn="l"/>
            <a:r>
              <a:rPr sz="800" b="1" i="0">
                <a:solidFill>
                  <a:srgbClr val="586586"/>
                </a:solidFill>
                <a:latin typeface="Outfit"/>
              </a:rPr>
              <a:t>3 · LA DSI</a:t>
            </a:r>
          </a:p>
        </p:txBody>
      </p:sp>
      <p:sp>
        <p:nvSpPr>
          <p:cNvPr id="14" name="TextBox 13"/>
          <p:cNvSpPr txBox="1"/>
          <p:nvPr/>
        </p:nvSpPr>
        <p:spPr>
          <a:xfrm>
            <a:off x="6070092" y="1856231"/>
            <a:ext cx="2113788" cy="534924"/>
          </a:xfrm>
          <a:prstGeom prst="rect">
            <a:avLst/>
          </a:prstGeom>
          <a:noFill/>
        </p:spPr>
        <p:txBody>
          <a:bodyPr wrap="square" anchor="t" lIns="0" rIns="0" tIns="0" bIns="0">
            <a:noAutofit/>
          </a:bodyPr>
          <a:lstStyle/>
          <a:p>
            <a:pPr algn="l">
              <a:lnSpc>
                <a:spcPct val="115000"/>
              </a:lnSpc>
            </a:pPr>
            <a:r>
              <a:rPr sz="1050" b="1" i="0">
                <a:solidFill>
                  <a:srgbClr val="0E2356"/>
                </a:solidFill>
                <a:latin typeface="Outfit"/>
              </a:rPr>
              <a:t>Elle pilote à vue, et sa promesse reste déclarative</a:t>
            </a:r>
          </a:p>
        </p:txBody>
      </p:sp>
      <p:sp>
        <p:nvSpPr>
          <p:cNvPr id="15" name="TextBox 14"/>
          <p:cNvSpPr txBox="1"/>
          <p:nvPr/>
        </p:nvSpPr>
        <p:spPr>
          <a:xfrm>
            <a:off x="6070092" y="2482596"/>
            <a:ext cx="2113788" cy="1648206"/>
          </a:xfrm>
          <a:prstGeom prst="rect">
            <a:avLst/>
          </a:prstGeom>
          <a:noFill/>
        </p:spPr>
        <p:txBody>
          <a:bodyPr wrap="square" anchor="t" lIns="0" rIns="0" tIns="0" bIns="0">
            <a:spAutoFit/>
          </a:bodyPr>
          <a:lstStyle/>
          <a:p>
            <a:pPr algn="l">
              <a:lnSpc>
                <a:spcPct val="120000"/>
              </a:lnSpc>
              <a:spcBef>
                <a:spcPts val="0"/>
              </a:spcBef>
            </a:pPr>
            <a:r>
              <a:rPr sz="900" b="0" i="0">
                <a:solidFill>
                  <a:srgbClr val="586586"/>
                </a:solidFill>
                <a:latin typeface="Outfit"/>
              </a:rPr>
              <a:t>—  </a:t>
            </a:r>
            <a:r>
              <a:rPr sz="900" b="0" i="0">
                <a:solidFill>
                  <a:srgbClr val="0E2356"/>
                </a:solidFill>
                <a:latin typeface="Outfit"/>
              </a:rPr>
              <a:t>Aucun signal de flux partagé : un reporting-miroir, pas un pilotage.</a:t>
            </a:r>
          </a:p>
          <a:p>
            <a:pPr algn="l">
              <a:lnSpc>
                <a:spcPct val="120000"/>
              </a:lnSpc>
              <a:spcBef>
                <a:spcPts val="400"/>
              </a:spcBef>
            </a:pPr>
            <a:r>
              <a:rPr sz="900" b="0" i="0">
                <a:solidFill>
                  <a:srgbClr val="586586"/>
                </a:solidFill>
                <a:latin typeface="Outfit"/>
              </a:rPr>
              <a:t>—  </a:t>
            </a:r>
            <a:r>
              <a:rPr sz="900" b="0" i="0">
                <a:solidFill>
                  <a:srgbClr val="0E2356"/>
                </a:solidFill>
                <a:latin typeface="Outfit"/>
              </a:rPr>
              <a:t>Le self-service reste un guichet tant que le contournement va plus vite.</a:t>
            </a:r>
          </a:p>
          <a:p>
            <a:pPr algn="l">
              <a:lnSpc>
                <a:spcPct val="120000"/>
              </a:lnSpc>
              <a:spcBef>
                <a:spcPts val="400"/>
              </a:spcBef>
            </a:pPr>
            <a:r>
              <a:rPr sz="900" b="0" i="0">
                <a:solidFill>
                  <a:srgbClr val="586586"/>
                </a:solidFill>
                <a:latin typeface="Outfit"/>
              </a:rPr>
              <a:t>—  </a:t>
            </a:r>
            <a:r>
              <a:rPr sz="900" b="0" i="0">
                <a:solidFill>
                  <a:srgbClr val="0E2356"/>
                </a:solidFill>
                <a:latin typeface="Outfit"/>
              </a:rPr>
              <a:t>Un gate de confidentialité non instruit peut bloquer toute preuve par l'IA.</a:t>
            </a:r>
          </a:p>
        </p:txBody>
      </p:sp>
      <p:sp>
        <p:nvSpPr>
          <p:cNvPr id="16" name="Rounded Rectangle 15"/>
          <p:cNvSpPr/>
          <p:nvPr/>
        </p:nvSpPr>
        <p:spPr>
          <a:xfrm>
            <a:off x="562356" y="4504944"/>
            <a:ext cx="7804404" cy="47853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 y="4596384"/>
            <a:ext cx="45720" cy="295656"/>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7" y="4523232"/>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19" name="TextBox 18"/>
          <p:cNvSpPr txBox="1"/>
          <p:nvPr/>
        </p:nvSpPr>
        <p:spPr>
          <a:xfrm>
            <a:off x="1074420" y="4504944"/>
            <a:ext cx="7109460" cy="478536"/>
          </a:xfrm>
          <a:prstGeom prst="rect">
            <a:avLst/>
          </a:prstGeom>
          <a:noFill/>
        </p:spPr>
        <p:txBody>
          <a:bodyPr wrap="square" anchor="ctr" lIns="0" rIns="0" tIns="0" bIns="0">
            <a:spAutoFit/>
          </a:bodyPr>
          <a:lstStyle/>
          <a:p>
            <a:pPr algn="ctr"/>
            <a:r>
              <a:rPr sz="1100" b="1" i="0">
                <a:solidFill>
                  <a:srgbClr val="FFFFFF"/>
                </a:solidFill>
                <a:latin typeface="Outfit"/>
              </a:rPr>
              <a:t>Traiter le RUN comme un projet, c'est le perdre à chaque arbitrage.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50">
                <a:solidFill>
                  <a:srgbClr val="0E2356"/>
                </a:solidFill>
                <a:latin typeface="Outfit"/>
              </a:rPr>
              <a:t>CE QUE ÇA COÛTE   ·   </a:t>
            </a:r>
            <a:r>
              <a:rPr b="1" sz="1250">
                <a:solidFill>
                  <a:srgbClr val="0E2356"/>
                </a:solidFill>
                <a:latin typeface="Outfit"/>
              </a:rPr>
              <a:t>Les douleurs des clients infra : mesurables, pas des plaintes</a:t>
            </a:r>
          </a:p>
        </p:txBody>
      </p:sp>
      <p:sp>
        <p:nvSpPr>
          <p:cNvPr id="3" name="TextBox 2"/>
          <p:cNvSpPr txBox="1"/>
          <p:nvPr/>
        </p:nvSpPr>
        <p:spPr>
          <a:xfrm>
            <a:off x="562356" y="1051560"/>
            <a:ext cx="7804404" cy="365760"/>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Chaque douleur appartient à un persona et se range dans une famille de gaspillage — c'est ce qui la rend traitable plutôt que subie.</a:t>
            </a:r>
          </a:p>
        </p:txBody>
      </p:sp>
      <p:sp>
        <p:nvSpPr>
          <p:cNvPr id="4" name="Rounded Rectangle 3"/>
          <p:cNvSpPr/>
          <p:nvPr/>
        </p:nvSpPr>
        <p:spPr>
          <a:xfrm>
            <a:off x="1254442" y="1453895"/>
            <a:ext cx="457200" cy="457200"/>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2356" y="1453895"/>
            <a:ext cx="1841373" cy="457200"/>
          </a:xfrm>
          <a:prstGeom prst="rect">
            <a:avLst/>
          </a:prstGeom>
          <a:noFill/>
        </p:spPr>
        <p:txBody>
          <a:bodyPr wrap="square" anchor="ctr" lIns="0" rIns="0" tIns="0" bIns="0">
            <a:noAutofit/>
          </a:bodyPr>
          <a:lstStyle/>
          <a:p>
            <a:pPr algn="ctr"/>
            <a:r>
              <a:rPr sz="1300" b="1" i="0">
                <a:solidFill>
                  <a:srgbClr val="0E2356"/>
                </a:solidFill>
                <a:latin typeface="Outfit"/>
              </a:rPr>
              <a:t>1</a:t>
            </a:r>
          </a:p>
        </p:txBody>
      </p:sp>
      <p:sp>
        <p:nvSpPr>
          <p:cNvPr id="6" name="Rectangle 5"/>
          <p:cNvSpPr/>
          <p:nvPr/>
        </p:nvSpPr>
        <p:spPr>
          <a:xfrm>
            <a:off x="1472984" y="1911095"/>
            <a:ext cx="20116" cy="146304"/>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2356" y="2057400"/>
            <a:ext cx="1841373" cy="310896"/>
          </a:xfrm>
          <a:prstGeom prst="rect">
            <a:avLst/>
          </a:prstGeom>
          <a:noFill/>
        </p:spPr>
        <p:txBody>
          <a:bodyPr wrap="square" anchor="t" lIns="0" rIns="0" tIns="0" bIns="0">
            <a:noAutofit/>
          </a:bodyPr>
          <a:lstStyle/>
          <a:p>
            <a:pPr algn="ctr">
              <a:lnSpc>
                <a:spcPct val="105000"/>
              </a:lnSpc>
            </a:pPr>
            <a:r>
              <a:rPr sz="850" b="1" i="0">
                <a:solidFill>
                  <a:srgbClr val="0E2356"/>
                </a:solidFill>
                <a:latin typeface="Outfit"/>
              </a:rPr>
              <a:t>Infra &amp; RUN</a:t>
            </a:r>
          </a:p>
        </p:txBody>
      </p:sp>
      <p:sp>
        <p:nvSpPr>
          <p:cNvPr id="8" name="TextBox 7"/>
          <p:cNvSpPr txBox="1"/>
          <p:nvPr/>
        </p:nvSpPr>
        <p:spPr>
          <a:xfrm>
            <a:off x="617220" y="2368296"/>
            <a:ext cx="1731644" cy="1036701"/>
          </a:xfrm>
          <a:prstGeom prst="rect">
            <a:avLst/>
          </a:prstGeom>
          <a:noFill/>
        </p:spPr>
        <p:txBody>
          <a:bodyPr wrap="square" anchor="t" lIns="0" rIns="0" tIns="0" bIns="0">
            <a:noAutofit/>
          </a:bodyPr>
          <a:lstStyle/>
          <a:p>
            <a:pPr algn="l">
              <a:lnSpc>
                <a:spcPct val="125000"/>
              </a:lnSpc>
            </a:pPr>
            <a:r>
              <a:rPr sz="900" b="0" i="0">
                <a:solidFill>
                  <a:srgbClr val="0E2356"/>
                </a:solidFill>
                <a:latin typeface="Outfit"/>
              </a:rPr>
              <a:t>RUN subi : les mêmes incidents reviennent et mobilisent les experts seniors, le BUILD est sacrifié à l'astreinte.</a:t>
            </a:r>
          </a:p>
        </p:txBody>
      </p:sp>
      <p:sp>
        <p:nvSpPr>
          <p:cNvPr id="9" name="TextBox 8"/>
          <p:cNvSpPr txBox="1"/>
          <p:nvPr/>
        </p:nvSpPr>
        <p:spPr>
          <a:xfrm>
            <a:off x="617220" y="3496437"/>
            <a:ext cx="1731644" cy="128016"/>
          </a:xfrm>
          <a:prstGeom prst="rect">
            <a:avLst/>
          </a:prstGeom>
          <a:noFill/>
        </p:spPr>
        <p:txBody>
          <a:bodyPr wrap="square" anchor="t" lIns="0" rIns="0" tIns="0" bIns="0">
            <a:noAutofit/>
          </a:bodyPr>
          <a:lstStyle/>
          <a:p>
            <a:pPr algn="l"/>
            <a:r>
              <a:rPr sz="800" b="1" i="0">
                <a:solidFill>
                  <a:srgbClr val="586586"/>
                </a:solidFill>
                <a:latin typeface="Outfit"/>
              </a:rPr>
              <a:t>SIGNAL / MESURE</a:t>
            </a:r>
          </a:p>
        </p:txBody>
      </p:sp>
      <p:sp>
        <p:nvSpPr>
          <p:cNvPr id="10" name="TextBox 9"/>
          <p:cNvSpPr txBox="1"/>
          <p:nvPr/>
        </p:nvSpPr>
        <p:spPr>
          <a:xfrm>
            <a:off x="617220" y="3642741"/>
            <a:ext cx="1731644" cy="402336"/>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Tickets récurrents/mois, part du temps en RUN non maîtrisé.</a:t>
            </a:r>
          </a:p>
        </p:txBody>
      </p:sp>
      <p:sp>
        <p:nvSpPr>
          <p:cNvPr id="11" name="Rounded Rectangle 10"/>
          <p:cNvSpPr/>
          <p:nvPr/>
        </p:nvSpPr>
        <p:spPr>
          <a:xfrm>
            <a:off x="617220" y="4173093"/>
            <a:ext cx="1731644" cy="274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 y="4173093"/>
            <a:ext cx="1731644" cy="274320"/>
          </a:xfrm>
          <a:prstGeom prst="rect">
            <a:avLst/>
          </a:prstGeom>
          <a:noFill/>
        </p:spPr>
        <p:txBody>
          <a:bodyPr wrap="square" anchor="ctr" lIns="0" rIns="0" tIns="0" bIns="0">
            <a:noAutofit/>
          </a:bodyPr>
          <a:lstStyle/>
          <a:p>
            <a:pPr algn="ctr"/>
            <a:r>
              <a:rPr sz="800" b="1" i="0">
                <a:solidFill>
                  <a:srgbClr val="FFFFFF"/>
                </a:solidFill>
                <a:latin typeface="Outfit"/>
              </a:rPr>
              <a:t>RUN · Humain</a:t>
            </a:r>
          </a:p>
        </p:txBody>
      </p:sp>
      <p:sp>
        <p:nvSpPr>
          <p:cNvPr id="13" name="Rounded Rectangle 12"/>
          <p:cNvSpPr/>
          <p:nvPr/>
        </p:nvSpPr>
        <p:spPr>
          <a:xfrm>
            <a:off x="3242119" y="1453895"/>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0033" y="1453895"/>
            <a:ext cx="1841373" cy="457200"/>
          </a:xfrm>
          <a:prstGeom prst="rect">
            <a:avLst/>
          </a:prstGeom>
          <a:noFill/>
        </p:spPr>
        <p:txBody>
          <a:bodyPr wrap="square" anchor="ctr" lIns="0" rIns="0" tIns="0" bIns="0">
            <a:noAutofit/>
          </a:bodyPr>
          <a:lstStyle/>
          <a:p>
            <a:pPr algn="ctr"/>
            <a:r>
              <a:rPr sz="1300" b="1" i="0">
                <a:solidFill>
                  <a:srgbClr val="FFFFFF"/>
                </a:solidFill>
                <a:latin typeface="Outfit"/>
              </a:rPr>
              <a:t>2</a:t>
            </a:r>
          </a:p>
        </p:txBody>
      </p:sp>
      <p:sp>
        <p:nvSpPr>
          <p:cNvPr id="15" name="Rectangle 14"/>
          <p:cNvSpPr/>
          <p:nvPr/>
        </p:nvSpPr>
        <p:spPr>
          <a:xfrm>
            <a:off x="3460661" y="1911095"/>
            <a:ext cx="20116" cy="146304"/>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50033" y="2057400"/>
            <a:ext cx="1841373" cy="310896"/>
          </a:xfrm>
          <a:prstGeom prst="rect">
            <a:avLst/>
          </a:prstGeom>
          <a:noFill/>
        </p:spPr>
        <p:txBody>
          <a:bodyPr wrap="square" anchor="t" lIns="0" rIns="0" tIns="0" bIns="0">
            <a:noAutofit/>
          </a:bodyPr>
          <a:lstStyle/>
          <a:p>
            <a:pPr algn="ctr">
              <a:lnSpc>
                <a:spcPct val="105000"/>
              </a:lnSpc>
            </a:pPr>
            <a:r>
              <a:rPr sz="850" b="1" i="0">
                <a:solidFill>
                  <a:srgbClr val="0E2356"/>
                </a:solidFill>
                <a:latin typeface="Outfit"/>
              </a:rPr>
              <a:t>Utilisateur applicatif</a:t>
            </a:r>
          </a:p>
        </p:txBody>
      </p:sp>
      <p:sp>
        <p:nvSpPr>
          <p:cNvPr id="17" name="TextBox 16"/>
          <p:cNvSpPr txBox="1"/>
          <p:nvPr/>
        </p:nvSpPr>
        <p:spPr>
          <a:xfrm>
            <a:off x="2604897" y="2368296"/>
            <a:ext cx="1731644" cy="1036701"/>
          </a:xfrm>
          <a:prstGeom prst="rect">
            <a:avLst/>
          </a:prstGeom>
          <a:noFill/>
        </p:spPr>
        <p:txBody>
          <a:bodyPr wrap="square" anchor="t" lIns="0" rIns="0" tIns="0" bIns="0">
            <a:noAutofit/>
          </a:bodyPr>
          <a:lstStyle/>
          <a:p>
            <a:pPr algn="l">
              <a:lnSpc>
                <a:spcPct val="125000"/>
              </a:lnSpc>
            </a:pPr>
            <a:r>
              <a:rPr sz="900" b="0" i="0">
                <a:solidFill>
                  <a:srgbClr val="0E2356"/>
                </a:solidFill>
                <a:latin typeface="Outfit"/>
              </a:rPr>
              <a:t>Aucun self-service ni parcours conçu : tout passe par un guichet, le contournement (shadow IT) va plus vite que la demande officielle.</a:t>
            </a:r>
          </a:p>
        </p:txBody>
      </p:sp>
      <p:sp>
        <p:nvSpPr>
          <p:cNvPr id="18" name="TextBox 17"/>
          <p:cNvSpPr txBox="1"/>
          <p:nvPr/>
        </p:nvSpPr>
        <p:spPr>
          <a:xfrm>
            <a:off x="2604897" y="3496437"/>
            <a:ext cx="1731644" cy="128016"/>
          </a:xfrm>
          <a:prstGeom prst="rect">
            <a:avLst/>
          </a:prstGeom>
          <a:noFill/>
        </p:spPr>
        <p:txBody>
          <a:bodyPr wrap="square" anchor="t" lIns="0" rIns="0" tIns="0" bIns="0">
            <a:noAutofit/>
          </a:bodyPr>
          <a:lstStyle/>
          <a:p>
            <a:pPr algn="l"/>
            <a:r>
              <a:rPr sz="800" b="1" i="0">
                <a:solidFill>
                  <a:srgbClr val="586586"/>
                </a:solidFill>
                <a:latin typeface="Outfit"/>
              </a:rPr>
              <a:t>SIGNAL / MESURE</a:t>
            </a:r>
          </a:p>
        </p:txBody>
      </p:sp>
      <p:sp>
        <p:nvSpPr>
          <p:cNvPr id="19" name="TextBox 18"/>
          <p:cNvSpPr txBox="1"/>
          <p:nvPr/>
        </p:nvSpPr>
        <p:spPr>
          <a:xfrm>
            <a:off x="2604897" y="3642741"/>
            <a:ext cx="1731644" cy="402336"/>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Taux de contournement, délai de mise à disposition.</a:t>
            </a:r>
          </a:p>
        </p:txBody>
      </p:sp>
      <p:sp>
        <p:nvSpPr>
          <p:cNvPr id="20" name="Rounded Rectangle 19"/>
          <p:cNvSpPr/>
          <p:nvPr/>
        </p:nvSpPr>
        <p:spPr>
          <a:xfrm>
            <a:off x="2604897" y="4173093"/>
            <a:ext cx="1731644" cy="274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4897" y="4173093"/>
            <a:ext cx="1731644" cy="274320"/>
          </a:xfrm>
          <a:prstGeom prst="rect">
            <a:avLst/>
          </a:prstGeom>
          <a:noFill/>
        </p:spPr>
        <p:txBody>
          <a:bodyPr wrap="square" anchor="ctr" lIns="0" rIns="0" tIns="0" bIns="0">
            <a:noAutofit/>
          </a:bodyPr>
          <a:lstStyle/>
          <a:p>
            <a:pPr algn="ctr"/>
            <a:r>
              <a:rPr sz="800" b="1" i="0">
                <a:solidFill>
                  <a:srgbClr val="FFFFFF"/>
                </a:solidFill>
                <a:latin typeface="Outfit"/>
              </a:rPr>
              <a:t>Flux · Cognitif</a:t>
            </a:r>
          </a:p>
        </p:txBody>
      </p:sp>
      <p:sp>
        <p:nvSpPr>
          <p:cNvPr id="22" name="Rounded Rectangle 21"/>
          <p:cNvSpPr/>
          <p:nvPr/>
        </p:nvSpPr>
        <p:spPr>
          <a:xfrm>
            <a:off x="5229796" y="1453895"/>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7710" y="1453895"/>
            <a:ext cx="1841373" cy="457200"/>
          </a:xfrm>
          <a:prstGeom prst="rect">
            <a:avLst/>
          </a:prstGeom>
          <a:noFill/>
        </p:spPr>
        <p:txBody>
          <a:bodyPr wrap="square" anchor="ctr" lIns="0" rIns="0" tIns="0" bIns="0">
            <a:noAutofit/>
          </a:bodyPr>
          <a:lstStyle/>
          <a:p>
            <a:pPr algn="ctr"/>
            <a:r>
              <a:rPr sz="1300" b="1" i="0">
                <a:solidFill>
                  <a:srgbClr val="FFFFFF"/>
                </a:solidFill>
                <a:latin typeface="Outfit"/>
              </a:rPr>
              <a:t>3</a:t>
            </a:r>
          </a:p>
        </p:txBody>
      </p:sp>
      <p:sp>
        <p:nvSpPr>
          <p:cNvPr id="24" name="Rectangle 23"/>
          <p:cNvSpPr/>
          <p:nvPr/>
        </p:nvSpPr>
        <p:spPr>
          <a:xfrm>
            <a:off x="5448338" y="1911095"/>
            <a:ext cx="20116" cy="146304"/>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37710" y="2057400"/>
            <a:ext cx="1841373" cy="310896"/>
          </a:xfrm>
          <a:prstGeom prst="rect">
            <a:avLst/>
          </a:prstGeom>
          <a:noFill/>
        </p:spPr>
        <p:txBody>
          <a:bodyPr wrap="square" anchor="t" lIns="0" rIns="0" tIns="0" bIns="0">
            <a:noAutofit/>
          </a:bodyPr>
          <a:lstStyle/>
          <a:p>
            <a:pPr algn="ctr">
              <a:lnSpc>
                <a:spcPct val="105000"/>
              </a:lnSpc>
            </a:pPr>
            <a:r>
              <a:rPr sz="850" b="1" i="0">
                <a:solidFill>
                  <a:srgbClr val="0E2356"/>
                </a:solidFill>
                <a:latin typeface="Outfit"/>
              </a:rPr>
              <a:t>Management</a:t>
            </a:r>
          </a:p>
        </p:txBody>
      </p:sp>
      <p:sp>
        <p:nvSpPr>
          <p:cNvPr id="26" name="TextBox 25"/>
          <p:cNvSpPr txBox="1"/>
          <p:nvPr/>
        </p:nvSpPr>
        <p:spPr>
          <a:xfrm>
            <a:off x="4592574" y="2368296"/>
            <a:ext cx="1731644" cy="1036701"/>
          </a:xfrm>
          <a:prstGeom prst="rect">
            <a:avLst/>
          </a:prstGeom>
          <a:noFill/>
        </p:spPr>
        <p:txBody>
          <a:bodyPr wrap="square" anchor="t" lIns="0" rIns="0" tIns="0" bIns="0">
            <a:noAutofit/>
          </a:bodyPr>
          <a:lstStyle/>
          <a:p>
            <a:pPr algn="l">
              <a:lnSpc>
                <a:spcPct val="125000"/>
              </a:lnSpc>
            </a:pPr>
            <a:r>
              <a:rPr sz="900" b="0" i="0">
                <a:solidFill>
                  <a:srgbClr val="0E2356"/>
                </a:solidFill>
                <a:latin typeface="Outfit"/>
              </a:rPr>
              <a:t>« Expert devenu manager malgré lui » : reporting miroir et micromanagement compensatoire, faute de signal fiable sur le flux.</a:t>
            </a:r>
          </a:p>
        </p:txBody>
      </p:sp>
      <p:sp>
        <p:nvSpPr>
          <p:cNvPr id="27" name="TextBox 26"/>
          <p:cNvSpPr txBox="1"/>
          <p:nvPr/>
        </p:nvSpPr>
        <p:spPr>
          <a:xfrm>
            <a:off x="4592574" y="3496437"/>
            <a:ext cx="1731644" cy="128016"/>
          </a:xfrm>
          <a:prstGeom prst="rect">
            <a:avLst/>
          </a:prstGeom>
          <a:noFill/>
        </p:spPr>
        <p:txBody>
          <a:bodyPr wrap="square" anchor="t" lIns="0" rIns="0" tIns="0" bIns="0">
            <a:noAutofit/>
          </a:bodyPr>
          <a:lstStyle/>
          <a:p>
            <a:pPr algn="l"/>
            <a:r>
              <a:rPr sz="800" b="1" i="0">
                <a:solidFill>
                  <a:srgbClr val="586586"/>
                </a:solidFill>
                <a:latin typeface="Outfit"/>
              </a:rPr>
              <a:t>SIGNAL / MESURE</a:t>
            </a:r>
          </a:p>
        </p:txBody>
      </p:sp>
      <p:sp>
        <p:nvSpPr>
          <p:cNvPr id="28" name="TextBox 27"/>
          <p:cNvSpPr txBox="1"/>
          <p:nvPr/>
        </p:nvSpPr>
        <p:spPr>
          <a:xfrm>
            <a:off x="4592574" y="3642741"/>
            <a:ext cx="1731644" cy="402336"/>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Ratio temps reporting / temps résolution d'obstacles.</a:t>
            </a:r>
          </a:p>
        </p:txBody>
      </p:sp>
      <p:sp>
        <p:nvSpPr>
          <p:cNvPr id="29" name="Rounded Rectangle 28"/>
          <p:cNvSpPr/>
          <p:nvPr/>
        </p:nvSpPr>
        <p:spPr>
          <a:xfrm>
            <a:off x="4592574" y="4173093"/>
            <a:ext cx="1731644" cy="274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2574" y="4173093"/>
            <a:ext cx="1731644" cy="274320"/>
          </a:xfrm>
          <a:prstGeom prst="rect">
            <a:avLst/>
          </a:prstGeom>
          <a:noFill/>
        </p:spPr>
        <p:txBody>
          <a:bodyPr wrap="square" anchor="ctr" lIns="0" rIns="0" tIns="0" bIns="0">
            <a:noAutofit/>
          </a:bodyPr>
          <a:lstStyle/>
          <a:p>
            <a:pPr algn="ctr"/>
            <a:r>
              <a:rPr sz="800" b="1" i="0">
                <a:solidFill>
                  <a:srgbClr val="FFFFFF"/>
                </a:solidFill>
                <a:latin typeface="Outfit"/>
              </a:rPr>
              <a:t>Décisionnel · Humain</a:t>
            </a:r>
          </a:p>
        </p:txBody>
      </p:sp>
      <p:sp>
        <p:nvSpPr>
          <p:cNvPr id="31" name="Rounded Rectangle 30"/>
          <p:cNvSpPr/>
          <p:nvPr/>
        </p:nvSpPr>
        <p:spPr>
          <a:xfrm>
            <a:off x="7217473" y="1453895"/>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5387" y="1453895"/>
            <a:ext cx="1841373" cy="457200"/>
          </a:xfrm>
          <a:prstGeom prst="rect">
            <a:avLst/>
          </a:prstGeom>
          <a:noFill/>
        </p:spPr>
        <p:txBody>
          <a:bodyPr wrap="square" anchor="ctr" lIns="0" rIns="0" tIns="0" bIns="0">
            <a:noAutofit/>
          </a:bodyPr>
          <a:lstStyle/>
          <a:p>
            <a:pPr algn="ctr"/>
            <a:r>
              <a:rPr sz="1300" b="1" i="0">
                <a:solidFill>
                  <a:srgbClr val="FFFFFF"/>
                </a:solidFill>
                <a:latin typeface="Outfit"/>
              </a:rPr>
              <a:t>4</a:t>
            </a:r>
          </a:p>
        </p:txBody>
      </p:sp>
      <p:sp>
        <p:nvSpPr>
          <p:cNvPr id="33" name="Rectangle 32"/>
          <p:cNvSpPr/>
          <p:nvPr/>
        </p:nvSpPr>
        <p:spPr>
          <a:xfrm>
            <a:off x="7436015" y="1911095"/>
            <a:ext cx="20116" cy="146304"/>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25387" y="2057400"/>
            <a:ext cx="1841373" cy="310896"/>
          </a:xfrm>
          <a:prstGeom prst="rect">
            <a:avLst/>
          </a:prstGeom>
          <a:noFill/>
        </p:spPr>
        <p:txBody>
          <a:bodyPr wrap="square" anchor="t" lIns="0" rIns="0" tIns="0" bIns="0">
            <a:noAutofit/>
          </a:bodyPr>
          <a:lstStyle/>
          <a:p>
            <a:pPr algn="ctr">
              <a:lnSpc>
                <a:spcPct val="105000"/>
              </a:lnSpc>
            </a:pPr>
            <a:r>
              <a:rPr sz="850" b="1" i="0">
                <a:solidFill>
                  <a:srgbClr val="0E2356"/>
                </a:solidFill>
                <a:latin typeface="Outfit"/>
              </a:rPr>
              <a:t>Sponsor</a:t>
            </a:r>
          </a:p>
        </p:txBody>
      </p:sp>
      <p:sp>
        <p:nvSpPr>
          <p:cNvPr id="35" name="TextBox 34"/>
          <p:cNvSpPr txBox="1"/>
          <p:nvPr/>
        </p:nvSpPr>
        <p:spPr>
          <a:xfrm>
            <a:off x="6580251" y="2368296"/>
            <a:ext cx="1731644" cy="1036701"/>
          </a:xfrm>
          <a:prstGeom prst="rect">
            <a:avLst/>
          </a:prstGeom>
          <a:noFill/>
        </p:spPr>
        <p:txBody>
          <a:bodyPr wrap="square" anchor="t" lIns="0" rIns="0" tIns="0" bIns="0">
            <a:noAutofit/>
          </a:bodyPr>
          <a:lstStyle/>
          <a:p>
            <a:pPr algn="l">
              <a:lnSpc>
                <a:spcPct val="125000"/>
              </a:lnSpc>
            </a:pPr>
            <a:r>
              <a:rPr sz="900" b="0" i="0">
                <a:solidFill>
                  <a:srgbClr val="0E2356"/>
                </a:solidFill>
                <a:latin typeface="Outfit"/>
              </a:rPr>
              <a:t>Pression à « mettre de l'IA » sans cas d'usage, peur d'une transformation cosmétique : beaucoup d'activité, peu de valeur démontrée.</a:t>
            </a:r>
          </a:p>
        </p:txBody>
      </p:sp>
      <p:sp>
        <p:nvSpPr>
          <p:cNvPr id="36" name="TextBox 35"/>
          <p:cNvSpPr txBox="1"/>
          <p:nvPr/>
        </p:nvSpPr>
        <p:spPr>
          <a:xfrm>
            <a:off x="6580251" y="3496437"/>
            <a:ext cx="1731644" cy="128016"/>
          </a:xfrm>
          <a:prstGeom prst="rect">
            <a:avLst/>
          </a:prstGeom>
          <a:noFill/>
        </p:spPr>
        <p:txBody>
          <a:bodyPr wrap="square" anchor="t" lIns="0" rIns="0" tIns="0" bIns="0">
            <a:noAutofit/>
          </a:bodyPr>
          <a:lstStyle/>
          <a:p>
            <a:pPr algn="l"/>
            <a:r>
              <a:rPr sz="800" b="1" i="0">
                <a:solidFill>
                  <a:srgbClr val="586586"/>
                </a:solidFill>
                <a:latin typeface="Outfit"/>
              </a:rPr>
              <a:t>SIGNAL / MESURE</a:t>
            </a:r>
          </a:p>
        </p:txBody>
      </p:sp>
      <p:sp>
        <p:nvSpPr>
          <p:cNvPr id="37" name="TextBox 36"/>
          <p:cNvSpPr txBox="1"/>
          <p:nvPr/>
        </p:nvSpPr>
        <p:spPr>
          <a:xfrm>
            <a:off x="6580251" y="3642741"/>
            <a:ext cx="1731644" cy="402336"/>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Valeur / capacité récupérée démontrée vs promise.</a:t>
            </a:r>
          </a:p>
        </p:txBody>
      </p:sp>
      <p:sp>
        <p:nvSpPr>
          <p:cNvPr id="38" name="Rounded Rectangle 37"/>
          <p:cNvSpPr/>
          <p:nvPr/>
        </p:nvSpPr>
        <p:spPr>
          <a:xfrm>
            <a:off x="6580251" y="4173093"/>
            <a:ext cx="1731644" cy="274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0251" y="4173093"/>
            <a:ext cx="1731644" cy="274320"/>
          </a:xfrm>
          <a:prstGeom prst="rect">
            <a:avLst/>
          </a:prstGeom>
          <a:noFill/>
        </p:spPr>
        <p:txBody>
          <a:bodyPr wrap="square" anchor="ctr" lIns="0" rIns="0" tIns="0" bIns="0">
            <a:noAutofit/>
          </a:bodyPr>
          <a:lstStyle/>
          <a:p>
            <a:pPr algn="ctr"/>
            <a:r>
              <a:rPr sz="800" b="1" i="0">
                <a:solidFill>
                  <a:srgbClr val="FFFFFF"/>
                </a:solidFill>
                <a:latin typeface="Outfit"/>
              </a:rPr>
              <a:t>Décisionnel · IA (gadget)</a:t>
            </a:r>
          </a:p>
        </p:txBody>
      </p:sp>
      <p:sp>
        <p:nvSpPr>
          <p:cNvPr id="40" name="Rounded Rectangle 39"/>
          <p:cNvSpPr/>
          <p:nvPr/>
        </p:nvSpPr>
        <p:spPr>
          <a:xfrm>
            <a:off x="562356" y="4612004"/>
            <a:ext cx="7804404" cy="371475"/>
          </a:xfrm>
          <a:prstGeom prst="roundRect">
            <a:avLst>
              <a:gd name="adj" fmla="val 14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62356" y="4612004"/>
            <a:ext cx="64008" cy="371475"/>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0100" y="4612004"/>
            <a:ext cx="7347204" cy="371475"/>
          </a:xfrm>
          <a:prstGeom prst="rect">
            <a:avLst/>
          </a:prstGeom>
          <a:noFill/>
        </p:spPr>
        <p:txBody>
          <a:bodyPr wrap="square" anchor="ctr" lIns="0" rIns="0" tIns="0" bIns="0">
            <a:noAutofit/>
          </a:bodyPr>
          <a:lstStyle/>
          <a:p>
            <a:pPr algn="l">
              <a:lnSpc>
                <a:spcPct val="115000"/>
              </a:lnSpc>
            </a:pPr>
            <a:r>
              <a:rPr sz="900" b="1" i="0">
                <a:solidFill>
                  <a:srgbClr val="0E2356"/>
                </a:solidFill>
                <a:latin typeface="Outfit"/>
              </a:rPr>
              <a:t>Ces 4 douleurs se rangent en 8 familles de gaspillage, le langage commun qui les rend traitables.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CE QUE ÇA COÛTE   ·   </a:t>
            </a:r>
            <a:r>
              <a:rPr b="1" sz="1200">
                <a:solidFill>
                  <a:srgbClr val="0E2356"/>
                </a:solidFill>
                <a:latin typeface="Outfit"/>
              </a:rPr>
              <a:t>Les 8 familles de gaspillage — le langage commun qui rend les douleurs traitables</a:t>
            </a:r>
          </a:p>
        </p:txBody>
      </p:sp>
      <p:sp>
        <p:nvSpPr>
          <p:cNvPr id="3" name="TextBox 2"/>
          <p:cNvSpPr txBox="1"/>
          <p:nvPr/>
        </p:nvSpPr>
        <p:spPr>
          <a:xfrm>
            <a:off x="562356" y="1051560"/>
            <a:ext cx="7804404" cy="274320"/>
          </a:xfrm>
          <a:prstGeom prst="rect">
            <a:avLst/>
          </a:prstGeom>
          <a:noFill/>
        </p:spPr>
        <p:txBody>
          <a:bodyPr wrap="square" anchor="t" lIns="0" rIns="0" tIns="0" bIns="0">
            <a:noAutofit/>
          </a:bodyPr>
          <a:lstStyle/>
          <a:p>
            <a:pPr algn="l"/>
            <a:r>
              <a:rPr sz="1050" b="0" i="1">
                <a:solidFill>
                  <a:srgbClr val="0E2356"/>
                </a:solidFill>
                <a:latin typeface="Outfit"/>
              </a:rPr>
              <a:t>Nommer la famille, c'est déjà pouvoir la détecter, la chiffrer et la prioriser.</a:t>
            </a:r>
          </a:p>
        </p:txBody>
      </p:sp>
      <p:sp>
        <p:nvSpPr>
          <p:cNvPr id="4" name="Rounded Rectangle 3"/>
          <p:cNvSpPr/>
          <p:nvPr/>
        </p:nvSpPr>
        <p:spPr>
          <a:xfrm>
            <a:off x="562356" y="1517904"/>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2356" y="1517904"/>
            <a:ext cx="420624" cy="420624"/>
          </a:xfrm>
          <a:prstGeom prst="rect">
            <a:avLst/>
          </a:prstGeom>
          <a:noFill/>
        </p:spPr>
        <p:txBody>
          <a:bodyPr wrap="square" anchor="ctr" lIns="0" rIns="0" tIns="0" bIns="0">
            <a:noAutofit/>
          </a:bodyPr>
          <a:lstStyle/>
          <a:p>
            <a:pPr algn="ctr"/>
            <a:r>
              <a:rPr sz="1600" b="1" i="0">
                <a:solidFill>
                  <a:srgbClr val="0E2356"/>
                </a:solidFill>
                <a:latin typeface="Outfit"/>
              </a:rPr>
              <a:t>1</a:t>
            </a:r>
          </a:p>
        </p:txBody>
      </p:sp>
      <p:sp>
        <p:nvSpPr>
          <p:cNvPr id="6" name="Rounded Rectangle 5"/>
          <p:cNvSpPr/>
          <p:nvPr/>
        </p:nvSpPr>
        <p:spPr>
          <a:xfrm>
            <a:off x="1092707" y="1490472"/>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93875" y="1490472"/>
            <a:ext cx="2882646" cy="475488"/>
          </a:xfrm>
          <a:prstGeom prst="rect">
            <a:avLst/>
          </a:prstGeom>
          <a:noFill/>
        </p:spPr>
        <p:txBody>
          <a:bodyPr wrap="square" anchor="ctr" lIns="0" rIns="0" tIns="0" bIns="0">
            <a:spAutoFit/>
          </a:bodyPr>
          <a:lstStyle/>
          <a:p>
            <a:pPr algn="l"/>
            <a:r>
              <a:rPr sz="1100" b="1" i="0">
                <a:solidFill>
                  <a:srgbClr val="0E2356"/>
                </a:solidFill>
                <a:latin typeface="Outfit"/>
              </a:rPr>
              <a:t>Flux</a:t>
            </a:r>
            <a:r>
              <a:rPr sz="900" b="0" i="0">
                <a:solidFill>
                  <a:srgbClr val="586586"/>
                </a:solidFill>
                <a:latin typeface="Outfit"/>
              </a:rPr>
              <a:t>  —  Attentes, validations multiples</a:t>
            </a:r>
          </a:p>
        </p:txBody>
      </p:sp>
      <p:sp>
        <p:nvSpPr>
          <p:cNvPr id="8" name="Rounded Rectangle 7"/>
          <p:cNvSpPr/>
          <p:nvPr/>
        </p:nvSpPr>
        <p:spPr>
          <a:xfrm>
            <a:off x="562356" y="2103120"/>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 y="2103120"/>
            <a:ext cx="420624" cy="420624"/>
          </a:xfrm>
          <a:prstGeom prst="rect">
            <a:avLst/>
          </a:prstGeom>
          <a:noFill/>
        </p:spPr>
        <p:txBody>
          <a:bodyPr wrap="square" anchor="ctr" lIns="0" rIns="0" tIns="0" bIns="0">
            <a:noAutofit/>
          </a:bodyPr>
          <a:lstStyle/>
          <a:p>
            <a:pPr algn="ctr"/>
            <a:r>
              <a:rPr sz="1600" b="1" i="0">
                <a:solidFill>
                  <a:srgbClr val="0E2356"/>
                </a:solidFill>
                <a:latin typeface="Outfit"/>
              </a:rPr>
              <a:t>2</a:t>
            </a:r>
          </a:p>
        </p:txBody>
      </p:sp>
      <p:sp>
        <p:nvSpPr>
          <p:cNvPr id="10" name="Rounded Rectangle 9"/>
          <p:cNvSpPr/>
          <p:nvPr/>
        </p:nvSpPr>
        <p:spPr>
          <a:xfrm>
            <a:off x="1092707" y="2075688"/>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3875" y="2075688"/>
            <a:ext cx="2882646" cy="475488"/>
          </a:xfrm>
          <a:prstGeom prst="rect">
            <a:avLst/>
          </a:prstGeom>
          <a:noFill/>
        </p:spPr>
        <p:txBody>
          <a:bodyPr wrap="square" anchor="ctr" lIns="0" rIns="0" tIns="0" bIns="0">
            <a:spAutoFit/>
          </a:bodyPr>
          <a:lstStyle/>
          <a:p>
            <a:pPr algn="l"/>
            <a:r>
              <a:rPr sz="1100" b="1" i="0">
                <a:solidFill>
                  <a:srgbClr val="0E2356"/>
                </a:solidFill>
                <a:latin typeface="Outfit"/>
              </a:rPr>
              <a:t>Humain</a:t>
            </a:r>
            <a:r>
              <a:rPr sz="900" b="0" i="0">
                <a:solidFill>
                  <a:srgbClr val="586586"/>
                </a:solidFill>
                <a:latin typeface="Outfit"/>
              </a:rPr>
              <a:t>  —  Experts seniors sur des tâches répétitives</a:t>
            </a:r>
          </a:p>
        </p:txBody>
      </p:sp>
      <p:sp>
        <p:nvSpPr>
          <p:cNvPr id="12" name="Rounded Rectangle 11"/>
          <p:cNvSpPr/>
          <p:nvPr/>
        </p:nvSpPr>
        <p:spPr>
          <a:xfrm>
            <a:off x="562356" y="2688336"/>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2356" y="2688336"/>
            <a:ext cx="420624" cy="420624"/>
          </a:xfrm>
          <a:prstGeom prst="rect">
            <a:avLst/>
          </a:prstGeom>
          <a:noFill/>
        </p:spPr>
        <p:txBody>
          <a:bodyPr wrap="square" anchor="ctr" lIns="0" rIns="0" tIns="0" bIns="0">
            <a:noAutofit/>
          </a:bodyPr>
          <a:lstStyle/>
          <a:p>
            <a:pPr algn="ctr"/>
            <a:r>
              <a:rPr sz="1600" b="1" i="0">
                <a:solidFill>
                  <a:srgbClr val="0E2356"/>
                </a:solidFill>
                <a:latin typeface="Outfit"/>
              </a:rPr>
              <a:t>3</a:t>
            </a:r>
          </a:p>
        </p:txBody>
      </p:sp>
      <p:sp>
        <p:nvSpPr>
          <p:cNvPr id="14" name="Rounded Rectangle 13"/>
          <p:cNvSpPr/>
          <p:nvPr/>
        </p:nvSpPr>
        <p:spPr>
          <a:xfrm>
            <a:off x="1092707" y="2660904"/>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3875" y="2660904"/>
            <a:ext cx="2882646" cy="475488"/>
          </a:xfrm>
          <a:prstGeom prst="rect">
            <a:avLst/>
          </a:prstGeom>
          <a:noFill/>
        </p:spPr>
        <p:txBody>
          <a:bodyPr wrap="square" anchor="ctr" lIns="0" rIns="0" tIns="0" bIns="0">
            <a:spAutoFit/>
          </a:bodyPr>
          <a:lstStyle/>
          <a:p>
            <a:pPr algn="l"/>
            <a:r>
              <a:rPr sz="1100" b="1" i="0">
                <a:solidFill>
                  <a:srgbClr val="0E2356"/>
                </a:solidFill>
                <a:latin typeface="Outfit"/>
              </a:rPr>
              <a:t>RUN</a:t>
            </a:r>
            <a:r>
              <a:rPr sz="900" b="0" i="0">
                <a:solidFill>
                  <a:srgbClr val="586586"/>
                </a:solidFill>
                <a:latin typeface="Outfit"/>
              </a:rPr>
              <a:t>  —  Incidents récurrents, demandes répétées</a:t>
            </a:r>
          </a:p>
        </p:txBody>
      </p:sp>
      <p:sp>
        <p:nvSpPr>
          <p:cNvPr id="16" name="Rounded Rectangle 15"/>
          <p:cNvSpPr/>
          <p:nvPr/>
        </p:nvSpPr>
        <p:spPr>
          <a:xfrm>
            <a:off x="562356" y="3273551"/>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 y="3273551"/>
            <a:ext cx="420624" cy="420624"/>
          </a:xfrm>
          <a:prstGeom prst="rect">
            <a:avLst/>
          </a:prstGeom>
          <a:noFill/>
        </p:spPr>
        <p:txBody>
          <a:bodyPr wrap="square" anchor="ctr" lIns="0" rIns="0" tIns="0" bIns="0">
            <a:noAutofit/>
          </a:bodyPr>
          <a:lstStyle/>
          <a:p>
            <a:pPr algn="ctr"/>
            <a:r>
              <a:rPr sz="1600" b="1" i="0">
                <a:solidFill>
                  <a:srgbClr val="0E2356"/>
                </a:solidFill>
                <a:latin typeface="Outfit"/>
              </a:rPr>
              <a:t>4</a:t>
            </a:r>
          </a:p>
        </p:txBody>
      </p:sp>
      <p:sp>
        <p:nvSpPr>
          <p:cNvPr id="18" name="Rounded Rectangle 17"/>
          <p:cNvSpPr/>
          <p:nvPr/>
        </p:nvSpPr>
        <p:spPr>
          <a:xfrm>
            <a:off x="1092707" y="3246120"/>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3875" y="3246120"/>
            <a:ext cx="2882646" cy="475488"/>
          </a:xfrm>
          <a:prstGeom prst="rect">
            <a:avLst/>
          </a:prstGeom>
          <a:noFill/>
        </p:spPr>
        <p:txBody>
          <a:bodyPr wrap="square" anchor="ctr" lIns="0" rIns="0" tIns="0" bIns="0">
            <a:spAutoFit/>
          </a:bodyPr>
          <a:lstStyle/>
          <a:p>
            <a:pPr algn="l"/>
            <a:r>
              <a:rPr sz="1100" b="1" i="0">
                <a:solidFill>
                  <a:srgbClr val="0E2356"/>
                </a:solidFill>
                <a:latin typeface="Outfit"/>
              </a:rPr>
              <a:t>Financier</a:t>
            </a:r>
            <a:r>
              <a:rPr sz="900" b="0" i="0">
                <a:solidFill>
                  <a:srgbClr val="586586"/>
                </a:solidFill>
                <a:latin typeface="Outfit"/>
              </a:rPr>
              <a:t>  —  Surdimensionnement, ressources non décommissionnées</a:t>
            </a:r>
          </a:p>
        </p:txBody>
      </p:sp>
      <p:sp>
        <p:nvSpPr>
          <p:cNvPr id="20" name="Rounded Rectangle 19"/>
          <p:cNvSpPr/>
          <p:nvPr/>
        </p:nvSpPr>
        <p:spPr>
          <a:xfrm>
            <a:off x="4624578" y="1517904"/>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4578" y="1517904"/>
            <a:ext cx="420624" cy="420624"/>
          </a:xfrm>
          <a:prstGeom prst="rect">
            <a:avLst/>
          </a:prstGeom>
          <a:noFill/>
        </p:spPr>
        <p:txBody>
          <a:bodyPr wrap="square" anchor="ctr" lIns="0" rIns="0" tIns="0" bIns="0">
            <a:noAutofit/>
          </a:bodyPr>
          <a:lstStyle/>
          <a:p>
            <a:pPr algn="ctr"/>
            <a:r>
              <a:rPr sz="1600" b="1" i="0">
                <a:solidFill>
                  <a:srgbClr val="0E2356"/>
                </a:solidFill>
                <a:latin typeface="Outfit"/>
              </a:rPr>
              <a:t>5</a:t>
            </a:r>
          </a:p>
        </p:txBody>
      </p:sp>
      <p:sp>
        <p:nvSpPr>
          <p:cNvPr id="22" name="Rounded Rectangle 21"/>
          <p:cNvSpPr/>
          <p:nvPr/>
        </p:nvSpPr>
        <p:spPr>
          <a:xfrm>
            <a:off x="5154930" y="1490472"/>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56098" y="1490472"/>
            <a:ext cx="2882646" cy="475488"/>
          </a:xfrm>
          <a:prstGeom prst="rect">
            <a:avLst/>
          </a:prstGeom>
          <a:noFill/>
        </p:spPr>
        <p:txBody>
          <a:bodyPr wrap="square" anchor="ctr" lIns="0" rIns="0" tIns="0" bIns="0">
            <a:spAutoFit/>
          </a:bodyPr>
          <a:lstStyle/>
          <a:p>
            <a:pPr algn="l"/>
            <a:r>
              <a:rPr sz="1100" b="1" i="0">
                <a:solidFill>
                  <a:srgbClr val="0E2356"/>
                </a:solidFill>
                <a:latin typeface="Outfit"/>
              </a:rPr>
              <a:t>Cognitif</a:t>
            </a:r>
            <a:r>
              <a:rPr sz="900" b="0" i="0">
                <a:solidFill>
                  <a:srgbClr val="586586"/>
                </a:solidFill>
                <a:latin typeface="Outfit"/>
              </a:rPr>
              <a:t>  —  Trop d'outils, procédures complexes</a:t>
            </a:r>
          </a:p>
        </p:txBody>
      </p:sp>
      <p:sp>
        <p:nvSpPr>
          <p:cNvPr id="24" name="Rounded Rectangle 23"/>
          <p:cNvSpPr/>
          <p:nvPr/>
        </p:nvSpPr>
        <p:spPr>
          <a:xfrm>
            <a:off x="4624578" y="2103120"/>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24578" y="2103120"/>
            <a:ext cx="420624" cy="420624"/>
          </a:xfrm>
          <a:prstGeom prst="rect">
            <a:avLst/>
          </a:prstGeom>
          <a:noFill/>
        </p:spPr>
        <p:txBody>
          <a:bodyPr wrap="square" anchor="ctr" lIns="0" rIns="0" tIns="0" bIns="0">
            <a:noAutofit/>
          </a:bodyPr>
          <a:lstStyle/>
          <a:p>
            <a:pPr algn="ctr"/>
            <a:r>
              <a:rPr sz="1600" b="1" i="0">
                <a:solidFill>
                  <a:srgbClr val="0E2356"/>
                </a:solidFill>
                <a:latin typeface="Outfit"/>
              </a:rPr>
              <a:t>6</a:t>
            </a:r>
          </a:p>
        </p:txBody>
      </p:sp>
      <p:sp>
        <p:nvSpPr>
          <p:cNvPr id="26" name="Rounded Rectangle 25"/>
          <p:cNvSpPr/>
          <p:nvPr/>
        </p:nvSpPr>
        <p:spPr>
          <a:xfrm>
            <a:off x="5154930" y="2075688"/>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56098" y="2075688"/>
            <a:ext cx="2882646" cy="475488"/>
          </a:xfrm>
          <a:prstGeom prst="rect">
            <a:avLst/>
          </a:prstGeom>
          <a:noFill/>
        </p:spPr>
        <p:txBody>
          <a:bodyPr wrap="square" anchor="ctr" lIns="0" rIns="0" tIns="0" bIns="0">
            <a:spAutoFit/>
          </a:bodyPr>
          <a:lstStyle/>
          <a:p>
            <a:pPr algn="l"/>
            <a:r>
              <a:rPr sz="1100" b="1" i="0">
                <a:solidFill>
                  <a:srgbClr val="0E2356"/>
                </a:solidFill>
                <a:latin typeface="Outfit"/>
              </a:rPr>
              <a:t>Décisionnel</a:t>
            </a:r>
            <a:r>
              <a:rPr sz="900" b="0" i="0">
                <a:solidFill>
                  <a:srgbClr val="586586"/>
                </a:solidFill>
                <a:latin typeface="Outfit"/>
              </a:rPr>
              <a:t>  —  Arbitrages subjectifs, priorisation opaque</a:t>
            </a:r>
          </a:p>
        </p:txBody>
      </p:sp>
      <p:sp>
        <p:nvSpPr>
          <p:cNvPr id="28" name="Rounded Rectangle 27"/>
          <p:cNvSpPr/>
          <p:nvPr/>
        </p:nvSpPr>
        <p:spPr>
          <a:xfrm>
            <a:off x="4624578" y="2688336"/>
            <a:ext cx="420624" cy="420624"/>
          </a:xfrm>
          <a:prstGeom prst="roundRect">
            <a:avLst>
              <a:gd name="adj" fmla="val 18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24578" y="2688336"/>
            <a:ext cx="420624" cy="420624"/>
          </a:xfrm>
          <a:prstGeom prst="rect">
            <a:avLst/>
          </a:prstGeom>
          <a:noFill/>
        </p:spPr>
        <p:txBody>
          <a:bodyPr wrap="square" anchor="ctr" lIns="0" rIns="0" tIns="0" bIns="0">
            <a:noAutofit/>
          </a:bodyPr>
          <a:lstStyle/>
          <a:p>
            <a:pPr algn="ctr"/>
            <a:r>
              <a:rPr sz="1600" b="1" i="0">
                <a:solidFill>
                  <a:srgbClr val="0E2356"/>
                </a:solidFill>
                <a:latin typeface="Outfit"/>
              </a:rPr>
              <a:t>7</a:t>
            </a:r>
          </a:p>
        </p:txBody>
      </p:sp>
      <p:sp>
        <p:nvSpPr>
          <p:cNvPr id="30" name="Rounded Rectangle 29"/>
          <p:cNvSpPr/>
          <p:nvPr/>
        </p:nvSpPr>
        <p:spPr>
          <a:xfrm>
            <a:off x="5154930" y="2660904"/>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56098" y="2660904"/>
            <a:ext cx="2882646" cy="475488"/>
          </a:xfrm>
          <a:prstGeom prst="rect">
            <a:avLst/>
          </a:prstGeom>
          <a:noFill/>
        </p:spPr>
        <p:txBody>
          <a:bodyPr wrap="square" anchor="ctr" lIns="0" rIns="0" tIns="0" bIns="0">
            <a:spAutoFit/>
          </a:bodyPr>
          <a:lstStyle/>
          <a:p>
            <a:pPr algn="l"/>
            <a:r>
              <a:rPr sz="1100" b="1" i="0">
                <a:solidFill>
                  <a:srgbClr val="0E2356"/>
                </a:solidFill>
                <a:latin typeface="Outfit"/>
              </a:rPr>
              <a:t>Environnemental</a:t>
            </a:r>
            <a:r>
              <a:rPr sz="900" b="0" i="0">
                <a:solidFill>
                  <a:srgbClr val="586586"/>
                </a:solidFill>
                <a:latin typeface="Outfit"/>
              </a:rPr>
              <a:t>  —  Ressources inutilisées, environnements non éteints</a:t>
            </a:r>
          </a:p>
        </p:txBody>
      </p:sp>
      <p:sp>
        <p:nvSpPr>
          <p:cNvPr id="32" name="Rounded Rectangle 31"/>
          <p:cNvSpPr/>
          <p:nvPr/>
        </p:nvSpPr>
        <p:spPr>
          <a:xfrm>
            <a:off x="4624578" y="3273551"/>
            <a:ext cx="420624" cy="420624"/>
          </a:xfrm>
          <a:prstGeom prst="roundRect">
            <a:avLst>
              <a:gd name="adj" fmla="val 18000"/>
            </a:avLst>
          </a:prstGeom>
          <a:solidFill>
            <a:srgbClr val="0E2356"/>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24578" y="3273551"/>
            <a:ext cx="420624" cy="420624"/>
          </a:xfrm>
          <a:prstGeom prst="rect">
            <a:avLst/>
          </a:prstGeom>
          <a:noFill/>
        </p:spPr>
        <p:txBody>
          <a:bodyPr wrap="square" anchor="ctr" lIns="0" rIns="0" tIns="0" bIns="0">
            <a:noAutofit/>
          </a:bodyPr>
          <a:lstStyle/>
          <a:p>
            <a:pPr algn="ctr"/>
            <a:r>
              <a:rPr sz="1600" b="1" i="0">
                <a:solidFill>
                  <a:srgbClr val="FFFFFF"/>
                </a:solidFill>
                <a:latin typeface="Outfit"/>
              </a:rPr>
              <a:t>8</a:t>
            </a:r>
          </a:p>
        </p:txBody>
      </p:sp>
      <p:sp>
        <p:nvSpPr>
          <p:cNvPr id="34" name="Rounded Rectangle 33"/>
          <p:cNvSpPr/>
          <p:nvPr/>
        </p:nvSpPr>
        <p:spPr>
          <a:xfrm>
            <a:off x="5154930" y="3246120"/>
            <a:ext cx="3211830" cy="475488"/>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56098" y="3246120"/>
            <a:ext cx="2882646" cy="475488"/>
          </a:xfrm>
          <a:prstGeom prst="rect">
            <a:avLst/>
          </a:prstGeom>
          <a:noFill/>
        </p:spPr>
        <p:txBody>
          <a:bodyPr wrap="square" anchor="ctr" lIns="0" rIns="0" tIns="0" bIns="0">
            <a:spAutoFit/>
          </a:bodyPr>
          <a:lstStyle/>
          <a:p>
            <a:pPr algn="l"/>
            <a:r>
              <a:rPr sz="1100" b="1" i="0">
                <a:solidFill>
                  <a:srgbClr val="0E2356"/>
                </a:solidFill>
                <a:latin typeface="Outfit"/>
              </a:rPr>
              <a:t>IA</a:t>
            </a:r>
            <a:r>
              <a:rPr sz="900" b="0" i="0">
                <a:solidFill>
                  <a:srgbClr val="586586"/>
                </a:solidFill>
                <a:latin typeface="Outfit"/>
              </a:rPr>
              <a:t>  —  Cas d'usage gadget, automatisation sans garde-fous</a:t>
            </a:r>
          </a:p>
        </p:txBody>
      </p:sp>
      <p:sp>
        <p:nvSpPr>
          <p:cNvPr id="36" name="Rounded Rectangle 35"/>
          <p:cNvSpPr/>
          <p:nvPr/>
        </p:nvSpPr>
        <p:spPr>
          <a:xfrm>
            <a:off x="562356" y="4337304"/>
            <a:ext cx="7804404" cy="64617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 y="4428744"/>
            <a:ext cx="45720" cy="463295"/>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6947" y="4355591"/>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39" name="TextBox 38"/>
          <p:cNvSpPr txBox="1"/>
          <p:nvPr/>
        </p:nvSpPr>
        <p:spPr>
          <a:xfrm>
            <a:off x="1074420" y="4337304"/>
            <a:ext cx="7109460" cy="646176"/>
          </a:xfrm>
          <a:prstGeom prst="rect">
            <a:avLst/>
          </a:prstGeom>
          <a:noFill/>
        </p:spPr>
        <p:txBody>
          <a:bodyPr wrap="square" anchor="ctr" lIns="0" rIns="0" tIns="0" bIns="0">
            <a:spAutoFit/>
          </a:bodyPr>
          <a:lstStyle/>
          <a:p>
            <a:pPr algn="ctr"/>
            <a:r>
              <a:rPr sz="1100" b="1" i="0">
                <a:solidFill>
                  <a:srgbClr val="FFFFFF"/>
                </a:solidFill>
                <a:latin typeface="Outfit"/>
              </a:rPr>
              <a:t>Nommé, un gaspillage devient traitable : la méthode existe déjà — détaillée au chapitre L'offre.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Nos convictions</a:t>
            </a:r>
          </a:p>
          <a:p>
            <a:r>
              <a:rPr sz="1050" i="1">
                <a:solidFill>
                  <a:srgbClr val="586586"/>
                </a:solidFill>
                <a:latin typeface="Outfit"/>
              </a:rPr>
              <a:t>Ce qui fait réussir une infra en mode produit, et un exemple avant/après de ce qu'elle change.</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03</a:t>
            </a:r>
          </a:p>
        </p:txBody>
      </p:sp>
      <p:pic>
        <p:nvPicPr>
          <p:cNvPr id="4" name="Picture 3" descr="wheatfield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350">
                <a:solidFill>
                  <a:srgbClr val="0E2356"/>
                </a:solidFill>
                <a:latin typeface="Outfit"/>
              </a:rPr>
              <a:t>NOS CONVICTIONS   ·   </a:t>
            </a:r>
            <a:r>
              <a:rPr b="1" sz="1350">
                <a:solidFill>
                  <a:srgbClr val="0E2356"/>
                </a:solidFill>
                <a:latin typeface="Outfit"/>
              </a:rPr>
              <a:t>Nos convictions sur votre infrastructure en mode produit</a:t>
            </a:r>
          </a:p>
        </p:txBody>
      </p:sp>
      <p:sp>
        <p:nvSpPr>
          <p:cNvPr id="3" name="TextBox 2"/>
          <p:cNvSpPr txBox="1"/>
          <p:nvPr/>
        </p:nvSpPr>
        <p:spPr>
          <a:xfrm>
            <a:off x="562356" y="1051560"/>
            <a:ext cx="7804404" cy="237744"/>
          </a:xfrm>
          <a:prstGeom prst="rect">
            <a:avLst/>
          </a:prstGeom>
          <a:noFill/>
        </p:spPr>
        <p:txBody>
          <a:bodyPr wrap="square" anchor="t" lIns="0" rIns="0" tIns="0" bIns="0">
            <a:noAutofit/>
          </a:bodyPr>
          <a:lstStyle/>
          <a:p>
            <a:pPr algn="l"/>
            <a:r>
              <a:rPr sz="1050" b="0" i="1">
                <a:solidFill>
                  <a:srgbClr val="0E2356"/>
                </a:solidFill>
                <a:latin typeface="Outfit"/>
              </a:rPr>
              <a:t>Ce qui fait réussir une Infra as a Product — et ce qui la fait échouer</a:t>
            </a:r>
          </a:p>
        </p:txBody>
      </p:sp>
      <p:sp>
        <p:nvSpPr>
          <p:cNvPr id="4" name="Round Diagonal Corner Rectangle 3"/>
          <p:cNvSpPr/>
          <p:nvPr/>
        </p:nvSpPr>
        <p:spPr>
          <a:xfrm>
            <a:off x="562356" y="1417319"/>
            <a:ext cx="457200" cy="310896"/>
          </a:xfrm>
          <a:prstGeom prst="round2DiagRect">
            <a:avLst/>
          </a:prstGeom>
          <a:solidFill>
            <a:srgbClr val="0E2356"/>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2356" y="1417319"/>
            <a:ext cx="457200" cy="310896"/>
          </a:xfrm>
          <a:prstGeom prst="rect">
            <a:avLst/>
          </a:prstGeom>
          <a:noFill/>
        </p:spPr>
        <p:txBody>
          <a:bodyPr wrap="square" anchor="ctr" lIns="0" rIns="0" tIns="0" bIns="0">
            <a:noAutofit/>
          </a:bodyPr>
          <a:lstStyle/>
          <a:p>
            <a:pPr algn="ctr"/>
            <a:r>
              <a:rPr sz="1200" b="1" i="0">
                <a:solidFill>
                  <a:srgbClr val="FFFFFF"/>
                </a:solidFill>
                <a:latin typeface="Outfit"/>
              </a:rPr>
              <a:t>1.</a:t>
            </a:r>
          </a:p>
        </p:txBody>
      </p:sp>
      <p:sp>
        <p:nvSpPr>
          <p:cNvPr id="6" name="Rectangle 5"/>
          <p:cNvSpPr/>
          <p:nvPr/>
        </p:nvSpPr>
        <p:spPr>
          <a:xfrm>
            <a:off x="646480" y="1728216"/>
            <a:ext cx="14630" cy="168592"/>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7219" y="1860232"/>
            <a:ext cx="73152" cy="73152"/>
          </a:xfrm>
          <a:prstGeom prst="ellipse">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3876" y="1399031"/>
            <a:ext cx="7072884" cy="392620"/>
          </a:xfrm>
          <a:prstGeom prst="rect">
            <a:avLst/>
          </a:prstGeom>
          <a:noFill/>
        </p:spPr>
        <p:txBody>
          <a:bodyPr wrap="square" anchor="t" lIns="0" rIns="0" tIns="0" bIns="0">
            <a:spAutoFit/>
          </a:bodyPr>
          <a:lstStyle/>
          <a:p>
            <a:pPr algn="l">
              <a:lnSpc>
                <a:spcPct val="115000"/>
              </a:lnSpc>
            </a:pPr>
            <a:r>
              <a:rPr sz="1050" b="1" i="0">
                <a:solidFill>
                  <a:srgbClr val="0E2356"/>
                </a:solidFill>
                <a:latin typeface="Outfit"/>
              </a:rPr>
              <a:t>Partir des utilisateurs et de leurs douleurs, pas du catalogue d'outils.</a:t>
            </a:r>
          </a:p>
          <a:p>
            <a:pPr algn="l">
              <a:lnSpc>
                <a:spcPct val="120000"/>
              </a:lnSpc>
              <a:spcBef>
                <a:spcPts val="200"/>
              </a:spcBef>
            </a:pPr>
            <a:r>
              <a:rPr sz="850" b="0" i="0">
                <a:solidFill>
                  <a:srgbClr val="586586"/>
                </a:solidFill>
                <a:latin typeface="Outfit"/>
              </a:rPr>
              <a:t>Une plateforme n'est adoptée que si elle résout une douleur mesurée chez ceux qui la consomment.</a:t>
            </a:r>
          </a:p>
        </p:txBody>
      </p:sp>
      <p:sp>
        <p:nvSpPr>
          <p:cNvPr id="9" name="Round Diagonal Corner Rectangle 8"/>
          <p:cNvSpPr/>
          <p:nvPr/>
        </p:nvSpPr>
        <p:spPr>
          <a:xfrm>
            <a:off x="562356" y="2047684"/>
            <a:ext cx="457200" cy="310896"/>
          </a:xfrm>
          <a:prstGeom prst="round2DiagRect">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6" y="2047684"/>
            <a:ext cx="457200" cy="310896"/>
          </a:xfrm>
          <a:prstGeom prst="rect">
            <a:avLst/>
          </a:prstGeom>
          <a:noFill/>
        </p:spPr>
        <p:txBody>
          <a:bodyPr wrap="square" anchor="ctr" lIns="0" rIns="0" tIns="0" bIns="0">
            <a:noAutofit/>
          </a:bodyPr>
          <a:lstStyle/>
          <a:p>
            <a:pPr algn="ctr"/>
            <a:r>
              <a:rPr sz="1200" b="1" i="0">
                <a:solidFill>
                  <a:srgbClr val="0E2356"/>
                </a:solidFill>
                <a:latin typeface="Outfit"/>
              </a:rPr>
              <a:t>2.</a:t>
            </a:r>
          </a:p>
        </p:txBody>
      </p:sp>
      <p:sp>
        <p:nvSpPr>
          <p:cNvPr id="11" name="Rectangle 10"/>
          <p:cNvSpPr/>
          <p:nvPr/>
        </p:nvSpPr>
        <p:spPr>
          <a:xfrm>
            <a:off x="646480" y="2358580"/>
            <a:ext cx="14630" cy="168592"/>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7219" y="2490597"/>
            <a:ext cx="73152" cy="73152"/>
          </a:xfrm>
          <a:prstGeom prst="ellipse">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3876" y="2029396"/>
            <a:ext cx="7072884" cy="392620"/>
          </a:xfrm>
          <a:prstGeom prst="rect">
            <a:avLst/>
          </a:prstGeom>
          <a:noFill/>
        </p:spPr>
        <p:txBody>
          <a:bodyPr wrap="square" anchor="t" lIns="0" rIns="0" tIns="0" bIns="0">
            <a:spAutoFit/>
          </a:bodyPr>
          <a:lstStyle/>
          <a:p>
            <a:pPr algn="l">
              <a:lnSpc>
                <a:spcPct val="115000"/>
              </a:lnSpc>
            </a:pPr>
            <a:r>
              <a:rPr sz="1050" b="1" i="0">
                <a:solidFill>
                  <a:srgbClr val="0E2356"/>
                </a:solidFill>
                <a:latin typeface="Outfit"/>
              </a:rPr>
              <a:t>Traiter le gaspillage avant de construire.</a:t>
            </a:r>
          </a:p>
          <a:p>
            <a:pPr algn="l">
              <a:lnSpc>
                <a:spcPct val="120000"/>
              </a:lnSpc>
              <a:spcBef>
                <a:spcPts val="200"/>
              </a:spcBef>
            </a:pPr>
            <a:r>
              <a:rPr sz="850" b="0" i="0">
                <a:solidFill>
                  <a:srgbClr val="586586"/>
                </a:solidFill>
                <a:latin typeface="Outfit"/>
              </a:rPr>
              <a:t>Nommer, scorer et prioriser les 8 familles libère la capacité que le RUN confisque aujourd'hui.</a:t>
            </a:r>
          </a:p>
        </p:txBody>
      </p:sp>
      <p:sp>
        <p:nvSpPr>
          <p:cNvPr id="14" name="Round Diagonal Corner Rectangle 13"/>
          <p:cNvSpPr/>
          <p:nvPr/>
        </p:nvSpPr>
        <p:spPr>
          <a:xfrm>
            <a:off x="562356" y="2678049"/>
            <a:ext cx="457200" cy="310896"/>
          </a:xfrm>
          <a:prstGeom prst="round2DiagRect">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356" y="2678049"/>
            <a:ext cx="457200" cy="310896"/>
          </a:xfrm>
          <a:prstGeom prst="rect">
            <a:avLst/>
          </a:prstGeom>
          <a:noFill/>
        </p:spPr>
        <p:txBody>
          <a:bodyPr wrap="square" anchor="ctr" lIns="0" rIns="0" tIns="0" bIns="0">
            <a:noAutofit/>
          </a:bodyPr>
          <a:lstStyle/>
          <a:p>
            <a:pPr algn="ctr"/>
            <a:r>
              <a:rPr sz="1200" b="1" i="0">
                <a:solidFill>
                  <a:srgbClr val="0E2356"/>
                </a:solidFill>
                <a:latin typeface="Outfit"/>
              </a:rPr>
              <a:t>3.</a:t>
            </a:r>
          </a:p>
        </p:txBody>
      </p:sp>
      <p:sp>
        <p:nvSpPr>
          <p:cNvPr id="16" name="Rectangle 15"/>
          <p:cNvSpPr/>
          <p:nvPr/>
        </p:nvSpPr>
        <p:spPr>
          <a:xfrm>
            <a:off x="646480" y="2988945"/>
            <a:ext cx="14630" cy="168592"/>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7219" y="3120961"/>
            <a:ext cx="73152" cy="73152"/>
          </a:xfrm>
          <a:prstGeom prst="ellipse">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3876" y="2659761"/>
            <a:ext cx="7072884" cy="392620"/>
          </a:xfrm>
          <a:prstGeom prst="rect">
            <a:avLst/>
          </a:prstGeom>
          <a:noFill/>
        </p:spPr>
        <p:txBody>
          <a:bodyPr wrap="square" anchor="t" lIns="0" rIns="0" tIns="0" bIns="0">
            <a:spAutoFit/>
          </a:bodyPr>
          <a:lstStyle/>
          <a:p>
            <a:pPr algn="l">
              <a:lnSpc>
                <a:spcPct val="115000"/>
              </a:lnSpc>
            </a:pPr>
            <a:r>
              <a:rPr sz="1050" b="1" i="0">
                <a:solidFill>
                  <a:srgbClr val="0E2356"/>
                </a:solidFill>
                <a:latin typeface="Outfit"/>
              </a:rPr>
              <a:t>Un propriétaire, une roadmap, une valeur mesurée.</a:t>
            </a:r>
          </a:p>
          <a:p>
            <a:pPr algn="l">
              <a:lnSpc>
                <a:spcPct val="120000"/>
              </a:lnSpc>
              <a:spcBef>
                <a:spcPts val="200"/>
              </a:spcBef>
            </a:pPr>
            <a:r>
              <a:rPr sz="850" b="0" i="0">
                <a:solidFill>
                  <a:srgbClr val="586586"/>
                </a:solidFill>
                <a:latin typeface="Outfit"/>
              </a:rPr>
              <a:t>Sans porteur produit, l'infra retourne au guichet.</a:t>
            </a:r>
          </a:p>
        </p:txBody>
      </p:sp>
      <p:sp>
        <p:nvSpPr>
          <p:cNvPr id="19" name="Round Diagonal Corner Rectangle 18"/>
          <p:cNvSpPr/>
          <p:nvPr/>
        </p:nvSpPr>
        <p:spPr>
          <a:xfrm>
            <a:off x="562356" y="3308413"/>
            <a:ext cx="457200" cy="310896"/>
          </a:xfrm>
          <a:prstGeom prst="round2DiagRect">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2356" y="3308413"/>
            <a:ext cx="457200" cy="310896"/>
          </a:xfrm>
          <a:prstGeom prst="rect">
            <a:avLst/>
          </a:prstGeom>
          <a:noFill/>
        </p:spPr>
        <p:txBody>
          <a:bodyPr wrap="square" anchor="ctr" lIns="0" rIns="0" tIns="0" bIns="0">
            <a:noAutofit/>
          </a:bodyPr>
          <a:lstStyle/>
          <a:p>
            <a:pPr algn="ctr"/>
            <a:r>
              <a:rPr sz="1200" b="1" i="0">
                <a:solidFill>
                  <a:srgbClr val="0E2356"/>
                </a:solidFill>
                <a:latin typeface="Outfit"/>
              </a:rPr>
              <a:t>4.</a:t>
            </a:r>
          </a:p>
        </p:txBody>
      </p:sp>
      <p:sp>
        <p:nvSpPr>
          <p:cNvPr id="21" name="Rectangle 20"/>
          <p:cNvSpPr/>
          <p:nvPr/>
        </p:nvSpPr>
        <p:spPr>
          <a:xfrm>
            <a:off x="646480" y="3619309"/>
            <a:ext cx="14630" cy="584644"/>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17219" y="4167378"/>
            <a:ext cx="73152" cy="73152"/>
          </a:xfrm>
          <a:prstGeom prst="ellipse">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3876" y="3290125"/>
            <a:ext cx="7072884" cy="808672"/>
          </a:xfrm>
          <a:prstGeom prst="rect">
            <a:avLst/>
          </a:prstGeom>
          <a:noFill/>
        </p:spPr>
        <p:txBody>
          <a:bodyPr wrap="square" anchor="t" lIns="0" rIns="0" tIns="0" bIns="0">
            <a:spAutoFit/>
          </a:bodyPr>
          <a:lstStyle/>
          <a:p>
            <a:pPr algn="l">
              <a:lnSpc>
                <a:spcPct val="115000"/>
              </a:lnSpc>
            </a:pPr>
            <a:r>
              <a:rPr sz="1050" b="1" i="0">
                <a:solidFill>
                  <a:srgbClr val="0E2356"/>
                </a:solidFill>
                <a:latin typeface="Outfit"/>
              </a:rPr>
              <a:t>L'IA fait gagner du temps là où il est perdu, pas là où on décide.</a:t>
            </a:r>
          </a:p>
          <a:p>
            <a:pPr algn="l">
              <a:lnSpc>
                <a:spcPct val="120000"/>
              </a:lnSpc>
              <a:spcBef>
                <a:spcPts val="200"/>
              </a:spcBef>
            </a:pPr>
            <a:r>
              <a:rPr sz="850" b="1" i="0">
                <a:solidFill>
                  <a:srgbClr val="0E2356"/>
                </a:solidFill>
                <a:latin typeface="Outfit"/>
              </a:rPr>
              <a:t>–  </a:t>
            </a:r>
            <a:r>
              <a:rPr sz="850" b="0" i="0">
                <a:solidFill>
                  <a:srgbClr val="586586"/>
                </a:solidFill>
                <a:latin typeface="Outfit"/>
              </a:rPr>
              <a:t>Elle accélère le diagnostic, la qualification des demandes et la restitution : le temps de triage du RUN est rendu aux équipes, mesuré dès le T0, pas promis.</a:t>
            </a:r>
          </a:p>
          <a:p>
            <a:pPr algn="l">
              <a:lnSpc>
                <a:spcPct val="120000"/>
              </a:lnSpc>
              <a:spcBef>
                <a:spcPts val="200"/>
              </a:spcBef>
            </a:pPr>
            <a:r>
              <a:rPr sz="850" b="1" i="0">
                <a:solidFill>
                  <a:srgbClr val="0E2356"/>
                </a:solidFill>
                <a:latin typeface="Outfit"/>
              </a:rPr>
              <a:t>–  </a:t>
            </a:r>
            <a:r>
              <a:rPr sz="850" b="0" i="0">
                <a:solidFill>
                  <a:srgbClr val="586586"/>
                </a:solidFill>
                <a:latin typeface="Outfit"/>
              </a:rPr>
              <a:t>Elle ne passe jamais avant le gate de confidentialité et n'est jamais un prérequis : la démarche tient sans elle, l'IA l'accélère.</a:t>
            </a:r>
          </a:p>
        </p:txBody>
      </p:sp>
      <p:sp>
        <p:nvSpPr>
          <p:cNvPr id="24" name="Round Diagonal Corner Rectangle 23"/>
          <p:cNvSpPr/>
          <p:nvPr/>
        </p:nvSpPr>
        <p:spPr>
          <a:xfrm>
            <a:off x="562356" y="4354830"/>
            <a:ext cx="457200" cy="310896"/>
          </a:xfrm>
          <a:prstGeom prst="round2DiagRect">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2356" y="4354830"/>
            <a:ext cx="457200" cy="310896"/>
          </a:xfrm>
          <a:prstGeom prst="rect">
            <a:avLst/>
          </a:prstGeom>
          <a:noFill/>
        </p:spPr>
        <p:txBody>
          <a:bodyPr wrap="square" anchor="ctr" lIns="0" rIns="0" tIns="0" bIns="0">
            <a:noAutofit/>
          </a:bodyPr>
          <a:lstStyle/>
          <a:p>
            <a:pPr algn="ctr"/>
            <a:r>
              <a:rPr sz="1200" b="1" i="0">
                <a:solidFill>
                  <a:srgbClr val="0E2356"/>
                </a:solidFill>
                <a:latin typeface="Outfit"/>
              </a:rPr>
              <a:t>5.</a:t>
            </a:r>
          </a:p>
        </p:txBody>
      </p:sp>
      <p:sp>
        <p:nvSpPr>
          <p:cNvPr id="26" name="Rectangle 25"/>
          <p:cNvSpPr/>
          <p:nvPr/>
        </p:nvSpPr>
        <p:spPr>
          <a:xfrm>
            <a:off x="646480" y="4665726"/>
            <a:ext cx="14630" cy="168592"/>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17219" y="4797742"/>
            <a:ext cx="73152" cy="73152"/>
          </a:xfrm>
          <a:prstGeom prst="ellipse">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93876" y="4336542"/>
            <a:ext cx="7072884" cy="392620"/>
          </a:xfrm>
          <a:prstGeom prst="rect">
            <a:avLst/>
          </a:prstGeom>
          <a:noFill/>
        </p:spPr>
        <p:txBody>
          <a:bodyPr wrap="square" anchor="t" lIns="0" rIns="0" tIns="0" bIns="0">
            <a:spAutoFit/>
          </a:bodyPr>
          <a:lstStyle/>
          <a:p>
            <a:pPr algn="l">
              <a:lnSpc>
                <a:spcPct val="115000"/>
              </a:lnSpc>
            </a:pPr>
            <a:r>
              <a:rPr sz="1050" b="1" i="0">
                <a:solidFill>
                  <a:srgbClr val="0E2356"/>
                </a:solidFill>
                <a:latin typeface="Outfit"/>
              </a:rPr>
              <a:t>Nous rendre dispensables.</a:t>
            </a:r>
          </a:p>
          <a:p>
            <a:pPr algn="l">
              <a:lnSpc>
                <a:spcPct val="120000"/>
              </a:lnSpc>
              <a:spcBef>
                <a:spcPts val="200"/>
              </a:spcBef>
            </a:pPr>
            <a:r>
              <a:rPr sz="850" b="0" i="0">
                <a:solidFill>
                  <a:srgbClr val="586586"/>
                </a:solidFill>
                <a:latin typeface="Outfit"/>
              </a:rPr>
              <a:t>La réussite se mesure au jour où l'équipe tient le modèle sans nous.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NOS CONVICTIONS   ·   </a:t>
            </a:r>
            <a:r>
              <a:rPr b="1" sz="1200">
                <a:solidFill>
                  <a:srgbClr val="0E2356"/>
                </a:solidFill>
                <a:latin typeface="Outfit"/>
              </a:rPr>
              <a:t>Ce que change l'infra as a product, concrètement — un exemple avant/après.</a:t>
            </a:r>
          </a:p>
        </p:txBody>
      </p:sp>
      <p:sp>
        <p:nvSpPr>
          <p:cNvPr id="3" name="Rounded Rectangle 2"/>
          <p:cNvSpPr/>
          <p:nvPr/>
        </p:nvSpPr>
        <p:spPr>
          <a:xfrm>
            <a:off x="562356" y="1069848"/>
            <a:ext cx="914400" cy="256032"/>
          </a:xfrm>
          <a:prstGeom prst="roundRect">
            <a:avLst>
              <a:gd name="adj" fmla="val 50000"/>
            </a:avLst>
          </a:prstGeom>
          <a:solidFill>
            <a:srgbClr val="5865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2356" y="1069848"/>
            <a:ext cx="914400" cy="256032"/>
          </a:xfrm>
          <a:prstGeom prst="rect">
            <a:avLst/>
          </a:prstGeom>
          <a:noFill/>
        </p:spPr>
        <p:txBody>
          <a:bodyPr wrap="square" anchor="ctr" lIns="0" rIns="0" tIns="0" bIns="0">
            <a:noAutofit/>
          </a:bodyPr>
          <a:lstStyle/>
          <a:p>
            <a:pPr algn="ctr"/>
            <a:r>
              <a:rPr sz="1000" b="1" i="0">
                <a:solidFill>
                  <a:srgbClr val="FFFFFF"/>
                </a:solidFill>
                <a:latin typeface="Outfit"/>
              </a:rPr>
              <a:t>AVANT</a:t>
            </a:r>
          </a:p>
        </p:txBody>
      </p:sp>
      <p:sp>
        <p:nvSpPr>
          <p:cNvPr id="5" name="Rounded Rectangle 4"/>
          <p:cNvSpPr/>
          <p:nvPr/>
        </p:nvSpPr>
        <p:spPr>
          <a:xfrm>
            <a:off x="4894326" y="1069848"/>
            <a:ext cx="2377440" cy="256032"/>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94326" y="1069848"/>
            <a:ext cx="2377440" cy="256032"/>
          </a:xfrm>
          <a:prstGeom prst="rect">
            <a:avLst/>
          </a:prstGeom>
          <a:noFill/>
        </p:spPr>
        <p:txBody>
          <a:bodyPr wrap="square" anchor="ctr" lIns="0" rIns="0" tIns="0" bIns="0">
            <a:noAutofit/>
          </a:bodyPr>
          <a:lstStyle/>
          <a:p>
            <a:pPr algn="ctr"/>
            <a:r>
              <a:rPr sz="1000" b="1" i="0">
                <a:solidFill>
                  <a:srgbClr val="FFFFFF"/>
                </a:solidFill>
                <a:latin typeface="Outfit"/>
              </a:rPr>
              <a:t>APRÈS — infra as a product</a:t>
            </a:r>
          </a:p>
        </p:txBody>
      </p:sp>
      <p:sp>
        <p:nvSpPr>
          <p:cNvPr id="7" name="Rounded Rectangle 6"/>
          <p:cNvSpPr/>
          <p:nvPr/>
        </p:nvSpPr>
        <p:spPr>
          <a:xfrm>
            <a:off x="562356" y="1453895"/>
            <a:ext cx="3472434" cy="452755"/>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894326" y="1453895"/>
            <a:ext cx="3472434" cy="452755"/>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 y="1453895"/>
            <a:ext cx="3216402" cy="452755"/>
          </a:xfrm>
          <a:prstGeom prst="rect">
            <a:avLst/>
          </a:prstGeom>
          <a:noFill/>
        </p:spPr>
        <p:txBody>
          <a:bodyPr wrap="square" anchor="ctr" lIns="0" rIns="0" tIns="0" bIns="0">
            <a:spAutoFit/>
          </a:bodyPr>
          <a:lstStyle/>
          <a:p>
            <a:pPr algn="l">
              <a:lnSpc>
                <a:spcPct val="120000"/>
              </a:lnSpc>
            </a:pPr>
            <a:r>
              <a:rPr sz="850" b="0" i="0">
                <a:solidFill>
                  <a:srgbClr val="586586"/>
                </a:solidFill>
                <a:latin typeface="Outfit"/>
              </a:rPr>
              <a:t>—  </a:t>
            </a:r>
            <a:r>
              <a:rPr sz="850" b="1" i="0">
                <a:solidFill>
                  <a:srgbClr val="0E2356"/>
                </a:solidFill>
                <a:latin typeface="Outfit"/>
              </a:rPr>
              <a:t>Guichet de tickets</a:t>
            </a:r>
            <a:r>
              <a:rPr sz="850" b="0" i="0">
                <a:solidFill>
                  <a:srgbClr val="586586"/>
                </a:solidFill>
                <a:latin typeface="Outfit"/>
              </a:rPr>
              <a:t> — personne n'est propriétaire du service.</a:t>
            </a:r>
          </a:p>
        </p:txBody>
      </p:sp>
      <p:sp>
        <p:nvSpPr>
          <p:cNvPr id="10" name="TextBox 9"/>
          <p:cNvSpPr txBox="1"/>
          <p:nvPr/>
        </p:nvSpPr>
        <p:spPr>
          <a:xfrm>
            <a:off x="5022342" y="1453895"/>
            <a:ext cx="3216402" cy="452755"/>
          </a:xfrm>
          <a:prstGeom prst="rect">
            <a:avLst/>
          </a:prstGeom>
          <a:noFill/>
        </p:spPr>
        <p:txBody>
          <a:bodyPr wrap="square" anchor="ctr" lIns="0" rIns="0" tIns="0" bIns="0">
            <a:spAutoFit/>
          </a:bodyPr>
          <a:lstStyle/>
          <a:p>
            <a:pPr algn="l">
              <a:lnSpc>
                <a:spcPct val="120000"/>
              </a:lnSpc>
            </a:pPr>
            <a:r>
              <a:rPr sz="850" b="1" i="0">
                <a:solidFill>
                  <a:srgbClr val="0E2356"/>
                </a:solidFill>
                <a:latin typeface="Outfit"/>
              </a:rPr>
              <a:t>✓  </a:t>
            </a:r>
            <a:r>
              <a:rPr sz="850" b="1" i="0">
                <a:solidFill>
                  <a:srgbClr val="0E2356"/>
                </a:solidFill>
                <a:latin typeface="Outfit"/>
              </a:rPr>
              <a:t>Un propriétaire produit</a:t>
            </a:r>
            <a:r>
              <a:rPr sz="850" b="0" i="0">
                <a:solidFill>
                  <a:srgbClr val="0E2356"/>
                </a:solidFill>
                <a:latin typeface="Outfit"/>
              </a:rPr>
              <a:t> — une roadmap, des indicateurs de pilotage.</a:t>
            </a:r>
          </a:p>
        </p:txBody>
      </p:sp>
      <p:sp>
        <p:nvSpPr>
          <p:cNvPr id="11" name="Rounded Rectangle 10"/>
          <p:cNvSpPr/>
          <p:nvPr/>
        </p:nvSpPr>
        <p:spPr>
          <a:xfrm>
            <a:off x="562356" y="1979802"/>
            <a:ext cx="3472434" cy="452755"/>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94326" y="1979802"/>
            <a:ext cx="3472434" cy="452755"/>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 y="1979802"/>
            <a:ext cx="3216402" cy="452755"/>
          </a:xfrm>
          <a:prstGeom prst="rect">
            <a:avLst/>
          </a:prstGeom>
          <a:noFill/>
        </p:spPr>
        <p:txBody>
          <a:bodyPr wrap="square" anchor="ctr" lIns="0" rIns="0" tIns="0" bIns="0">
            <a:spAutoFit/>
          </a:bodyPr>
          <a:lstStyle/>
          <a:p>
            <a:pPr algn="l">
              <a:lnSpc>
                <a:spcPct val="120000"/>
              </a:lnSpc>
            </a:pPr>
            <a:r>
              <a:rPr sz="850" b="0" i="0">
                <a:solidFill>
                  <a:srgbClr val="586586"/>
                </a:solidFill>
                <a:latin typeface="Outfit"/>
              </a:rPr>
              <a:t>—  </a:t>
            </a:r>
            <a:r>
              <a:rPr sz="850" b="1" i="0">
                <a:solidFill>
                  <a:srgbClr val="0E2356"/>
                </a:solidFill>
                <a:latin typeface="Outfit"/>
              </a:rPr>
              <a:t>Le triage du RUN trop long</a:t>
            </a:r>
            <a:r>
              <a:rPr sz="850" b="0" i="0">
                <a:solidFill>
                  <a:srgbClr val="586586"/>
                </a:solidFill>
                <a:latin typeface="Outfit"/>
              </a:rPr>
              <a:t> — traité au fil de l'eau.</a:t>
            </a:r>
          </a:p>
        </p:txBody>
      </p:sp>
      <p:sp>
        <p:nvSpPr>
          <p:cNvPr id="14" name="TextBox 13"/>
          <p:cNvSpPr txBox="1"/>
          <p:nvPr/>
        </p:nvSpPr>
        <p:spPr>
          <a:xfrm>
            <a:off x="5022342" y="1979802"/>
            <a:ext cx="3216402" cy="452755"/>
          </a:xfrm>
          <a:prstGeom prst="rect">
            <a:avLst/>
          </a:prstGeom>
          <a:noFill/>
        </p:spPr>
        <p:txBody>
          <a:bodyPr wrap="square" anchor="ctr" lIns="0" rIns="0" tIns="0" bIns="0">
            <a:spAutoFit/>
          </a:bodyPr>
          <a:lstStyle/>
          <a:p>
            <a:pPr algn="l">
              <a:lnSpc>
                <a:spcPct val="120000"/>
              </a:lnSpc>
            </a:pPr>
            <a:r>
              <a:rPr sz="850" b="1" i="0">
                <a:solidFill>
                  <a:srgbClr val="0E2356"/>
                </a:solidFill>
                <a:latin typeface="Outfit"/>
              </a:rPr>
              <a:t>✓  </a:t>
            </a:r>
            <a:r>
              <a:rPr sz="850" b="1" i="0">
                <a:solidFill>
                  <a:srgbClr val="0E2356"/>
                </a:solidFill>
                <a:latin typeface="Outfit"/>
              </a:rPr>
              <a:t>Temps de triage du RUN réduit</a:t>
            </a:r>
            <a:r>
              <a:rPr sz="850" b="0" i="0">
                <a:solidFill>
                  <a:srgbClr val="0E2356"/>
                </a:solidFill>
                <a:latin typeface="Outfit"/>
              </a:rPr>
              <a:t> — capacité RUN récupérée.</a:t>
            </a:r>
          </a:p>
        </p:txBody>
      </p:sp>
      <p:sp>
        <p:nvSpPr>
          <p:cNvPr id="15" name="Rounded Rectangle 14"/>
          <p:cNvSpPr/>
          <p:nvPr/>
        </p:nvSpPr>
        <p:spPr>
          <a:xfrm>
            <a:off x="562356" y="2505710"/>
            <a:ext cx="3472434" cy="452755"/>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94326" y="2505710"/>
            <a:ext cx="3472434" cy="452755"/>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372" y="2505710"/>
            <a:ext cx="3216402" cy="452755"/>
          </a:xfrm>
          <a:prstGeom prst="rect">
            <a:avLst/>
          </a:prstGeom>
          <a:noFill/>
        </p:spPr>
        <p:txBody>
          <a:bodyPr wrap="square" anchor="ctr" lIns="0" rIns="0" tIns="0" bIns="0">
            <a:spAutoFit/>
          </a:bodyPr>
          <a:lstStyle/>
          <a:p>
            <a:pPr algn="l">
              <a:lnSpc>
                <a:spcPct val="120000"/>
              </a:lnSpc>
            </a:pPr>
            <a:r>
              <a:rPr sz="850" b="0" i="0">
                <a:solidFill>
                  <a:srgbClr val="586586"/>
                </a:solidFill>
                <a:latin typeface="Outfit"/>
              </a:rPr>
              <a:t>—  </a:t>
            </a:r>
            <a:r>
              <a:rPr sz="850" b="1" i="0">
                <a:solidFill>
                  <a:srgbClr val="0E2356"/>
                </a:solidFill>
                <a:latin typeface="Outfit"/>
              </a:rPr>
              <a:t>Backlog invisible</a:t>
            </a:r>
            <a:r>
              <a:rPr sz="850" b="0" i="0">
                <a:solidFill>
                  <a:srgbClr val="586586"/>
                </a:solidFill>
                <a:latin typeface="Outfit"/>
              </a:rPr>
              <a:t> — aucun indicateur de pilotage.</a:t>
            </a:r>
          </a:p>
        </p:txBody>
      </p:sp>
      <p:sp>
        <p:nvSpPr>
          <p:cNvPr id="18" name="TextBox 17"/>
          <p:cNvSpPr txBox="1"/>
          <p:nvPr/>
        </p:nvSpPr>
        <p:spPr>
          <a:xfrm>
            <a:off x="5022342" y="2505710"/>
            <a:ext cx="3216402" cy="452755"/>
          </a:xfrm>
          <a:prstGeom prst="rect">
            <a:avLst/>
          </a:prstGeom>
          <a:noFill/>
        </p:spPr>
        <p:txBody>
          <a:bodyPr wrap="square" anchor="ctr" lIns="0" rIns="0" tIns="0" bIns="0">
            <a:spAutoFit/>
          </a:bodyPr>
          <a:lstStyle/>
          <a:p>
            <a:pPr algn="l">
              <a:lnSpc>
                <a:spcPct val="120000"/>
              </a:lnSpc>
            </a:pPr>
            <a:r>
              <a:rPr sz="850" b="1" i="0">
                <a:solidFill>
                  <a:srgbClr val="0E2356"/>
                </a:solidFill>
                <a:latin typeface="Outfit"/>
              </a:rPr>
              <a:t>✓  </a:t>
            </a:r>
            <a:r>
              <a:rPr sz="850" b="1" i="0">
                <a:solidFill>
                  <a:srgbClr val="0E2356"/>
                </a:solidFill>
                <a:latin typeface="Outfit"/>
              </a:rPr>
              <a:t>Backlog visible</a:t>
            </a:r>
            <a:r>
              <a:rPr sz="850" b="0" i="0">
                <a:solidFill>
                  <a:srgbClr val="0E2356"/>
                </a:solidFill>
                <a:latin typeface="Outfit"/>
              </a:rPr>
              <a:t> — priorisé, mesuré dans le temps.</a:t>
            </a:r>
          </a:p>
        </p:txBody>
      </p:sp>
      <p:sp>
        <p:nvSpPr>
          <p:cNvPr id="19" name="Rounded Rectangle 18"/>
          <p:cNvSpPr/>
          <p:nvPr/>
        </p:nvSpPr>
        <p:spPr>
          <a:xfrm>
            <a:off x="562356" y="3031617"/>
            <a:ext cx="3472434" cy="452755"/>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94326" y="3031617"/>
            <a:ext cx="3472434" cy="452755"/>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 y="3031617"/>
            <a:ext cx="3216402" cy="452755"/>
          </a:xfrm>
          <a:prstGeom prst="rect">
            <a:avLst/>
          </a:prstGeom>
          <a:noFill/>
        </p:spPr>
        <p:txBody>
          <a:bodyPr wrap="square" anchor="ctr" lIns="0" rIns="0" tIns="0" bIns="0">
            <a:spAutoFit/>
          </a:bodyPr>
          <a:lstStyle/>
          <a:p>
            <a:pPr algn="l">
              <a:lnSpc>
                <a:spcPct val="120000"/>
              </a:lnSpc>
            </a:pPr>
            <a:r>
              <a:rPr sz="850" b="0" i="0">
                <a:solidFill>
                  <a:srgbClr val="586586"/>
                </a:solidFill>
                <a:latin typeface="Outfit"/>
              </a:rPr>
              <a:t>—  </a:t>
            </a:r>
            <a:r>
              <a:rPr sz="850" b="1" i="0">
                <a:solidFill>
                  <a:srgbClr val="0E2356"/>
                </a:solidFill>
                <a:latin typeface="Outfit"/>
              </a:rPr>
              <a:t>Beaucoup de projets, peu d'indicateurs</a:t>
            </a:r>
            <a:r>
              <a:rPr sz="850" b="0" i="0">
                <a:solidFill>
                  <a:srgbClr val="586586"/>
                </a:solidFill>
                <a:latin typeface="Outfit"/>
              </a:rPr>
              <a:t> — du contrôle et du reporting partout.</a:t>
            </a:r>
          </a:p>
        </p:txBody>
      </p:sp>
      <p:sp>
        <p:nvSpPr>
          <p:cNvPr id="22" name="TextBox 21"/>
          <p:cNvSpPr txBox="1"/>
          <p:nvPr/>
        </p:nvSpPr>
        <p:spPr>
          <a:xfrm>
            <a:off x="5022342" y="3031617"/>
            <a:ext cx="3216402" cy="452755"/>
          </a:xfrm>
          <a:prstGeom prst="rect">
            <a:avLst/>
          </a:prstGeom>
          <a:noFill/>
        </p:spPr>
        <p:txBody>
          <a:bodyPr wrap="square" anchor="ctr" lIns="0" rIns="0" tIns="0" bIns="0">
            <a:spAutoFit/>
          </a:bodyPr>
          <a:lstStyle/>
          <a:p>
            <a:pPr algn="l">
              <a:lnSpc>
                <a:spcPct val="120000"/>
              </a:lnSpc>
            </a:pPr>
            <a:r>
              <a:rPr sz="850" b="1" i="0">
                <a:solidFill>
                  <a:srgbClr val="0E2356"/>
                </a:solidFill>
                <a:latin typeface="Outfit"/>
              </a:rPr>
              <a:t>✓  </a:t>
            </a:r>
            <a:r>
              <a:rPr sz="850" b="1" i="0">
                <a:solidFill>
                  <a:srgbClr val="0E2356"/>
                </a:solidFill>
                <a:latin typeface="Outfit"/>
              </a:rPr>
              <a:t>Process explicite, rôles définis</a:t>
            </a:r>
            <a:r>
              <a:rPr sz="850" b="0" i="0">
                <a:solidFill>
                  <a:srgbClr val="0E2356"/>
                </a:solidFill>
                <a:latin typeface="Outfit"/>
              </a:rPr>
              <a:t> — l'agent n'arrive qu'une fois le process écrit.</a:t>
            </a:r>
          </a:p>
        </p:txBody>
      </p:sp>
      <p:sp>
        <p:nvSpPr>
          <p:cNvPr id="23" name="Rounded Rectangle 22"/>
          <p:cNvSpPr/>
          <p:nvPr/>
        </p:nvSpPr>
        <p:spPr>
          <a:xfrm>
            <a:off x="562356" y="3557524"/>
            <a:ext cx="3472434" cy="452755"/>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94326" y="3557524"/>
            <a:ext cx="3472434" cy="452755"/>
          </a:xfrm>
          <a:prstGeom prst="roundRect">
            <a:avLst>
              <a:gd name="adj" fmla="val 12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 y="3557524"/>
            <a:ext cx="3216402" cy="452755"/>
          </a:xfrm>
          <a:prstGeom prst="rect">
            <a:avLst/>
          </a:prstGeom>
          <a:noFill/>
        </p:spPr>
        <p:txBody>
          <a:bodyPr wrap="square" anchor="ctr" lIns="0" rIns="0" tIns="0" bIns="0">
            <a:spAutoFit/>
          </a:bodyPr>
          <a:lstStyle/>
          <a:p>
            <a:pPr algn="l">
              <a:lnSpc>
                <a:spcPct val="120000"/>
              </a:lnSpc>
            </a:pPr>
            <a:r>
              <a:rPr sz="850" b="0" i="0">
                <a:solidFill>
                  <a:srgbClr val="586586"/>
                </a:solidFill>
                <a:latin typeface="Outfit"/>
              </a:rPr>
              <a:t>—  </a:t>
            </a:r>
            <a:r>
              <a:rPr sz="850" b="1" i="0">
                <a:solidFill>
                  <a:srgbClr val="0E2356"/>
                </a:solidFill>
                <a:latin typeface="Outfit"/>
              </a:rPr>
              <a:t>Un pilotage dans la douleur</a:t>
            </a:r>
            <a:r>
              <a:rPr sz="850" b="0" i="0">
                <a:solidFill>
                  <a:srgbClr val="586586"/>
                </a:solidFill>
                <a:latin typeface="Outfit"/>
              </a:rPr>
              <a:t> — trop de sujets pour trop peu de capacité.</a:t>
            </a:r>
          </a:p>
        </p:txBody>
      </p:sp>
      <p:sp>
        <p:nvSpPr>
          <p:cNvPr id="26" name="TextBox 25"/>
          <p:cNvSpPr txBox="1"/>
          <p:nvPr/>
        </p:nvSpPr>
        <p:spPr>
          <a:xfrm>
            <a:off x="5022342" y="3557524"/>
            <a:ext cx="3216402" cy="452755"/>
          </a:xfrm>
          <a:prstGeom prst="rect">
            <a:avLst/>
          </a:prstGeom>
          <a:noFill/>
        </p:spPr>
        <p:txBody>
          <a:bodyPr wrap="square" anchor="ctr" lIns="0" rIns="0" tIns="0" bIns="0">
            <a:spAutoFit/>
          </a:bodyPr>
          <a:lstStyle/>
          <a:p>
            <a:pPr algn="l">
              <a:lnSpc>
                <a:spcPct val="120000"/>
              </a:lnSpc>
            </a:pPr>
            <a:r>
              <a:rPr sz="850" b="1" i="0">
                <a:solidFill>
                  <a:srgbClr val="0E2356"/>
                </a:solidFill>
                <a:latin typeface="Outfit"/>
              </a:rPr>
              <a:t>✓  </a:t>
            </a:r>
            <a:r>
              <a:rPr sz="850" b="1" i="0">
                <a:solidFill>
                  <a:srgbClr val="0E2356"/>
                </a:solidFill>
                <a:latin typeface="Outfit"/>
              </a:rPr>
              <a:t>Des évolutions tech atteignables</a:t>
            </a:r>
            <a:r>
              <a:rPr sz="850" b="0" i="0">
                <a:solidFill>
                  <a:srgbClr val="0E2356"/>
                </a:solidFill>
                <a:latin typeface="Outfit"/>
              </a:rPr>
              <a:t> — un pilotage serein, des priorités tenues.</a:t>
            </a:r>
          </a:p>
        </p:txBody>
      </p:sp>
      <p:sp>
        <p:nvSpPr>
          <p:cNvPr id="27" name="Right Arrow 26"/>
          <p:cNvSpPr/>
          <p:nvPr/>
        </p:nvSpPr>
        <p:spPr>
          <a:xfrm>
            <a:off x="4144518" y="1682495"/>
            <a:ext cx="640080" cy="2099183"/>
          </a:xfrm>
          <a:prstGeom prst="rightArrow">
            <a:avLst/>
          </a:prstGeom>
          <a:solidFill>
            <a:srgbClr val="FFFFFF"/>
          </a:solidFill>
          <a:ln w="285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2356" y="4337304"/>
            <a:ext cx="7804404" cy="64617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 y="4428744"/>
            <a:ext cx="45720" cy="463295"/>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947" y="4355591"/>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31" name="TextBox 30"/>
          <p:cNvSpPr txBox="1"/>
          <p:nvPr/>
        </p:nvSpPr>
        <p:spPr>
          <a:xfrm>
            <a:off x="1074420" y="4337304"/>
            <a:ext cx="7109460" cy="646176"/>
          </a:xfrm>
          <a:prstGeom prst="rect">
            <a:avLst/>
          </a:prstGeom>
          <a:noFill/>
        </p:spPr>
        <p:txBody>
          <a:bodyPr wrap="square" anchor="ctr" lIns="0" rIns="0" tIns="0" bIns="0">
            <a:spAutoFit/>
          </a:bodyPr>
          <a:lstStyle/>
          <a:p>
            <a:pPr algn="ctr"/>
            <a:r>
              <a:rPr sz="1100" b="1" i="0">
                <a:solidFill>
                  <a:srgbClr val="FFFFFF"/>
                </a:solidFill>
                <a:latin typeface="Outfit"/>
              </a:rPr>
              <a:t>Faire les bonnes choses au bon moment, un backlog piloté, des résultats concrets — l'agentique accélère la démarche, il ne la remplace pas.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L'offre</a:t>
            </a:r>
          </a:p>
          <a:p>
            <a:r>
              <a:rPr sz="1050" i="1">
                <a:solidFill>
                  <a:srgbClr val="586586"/>
                </a:solidFill>
                <a:latin typeface="Outfit"/>
              </a:rPr>
              <a:t>La thèse, le gaspillage traité à deux, et la cible Platform Team.</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04</a:t>
            </a:r>
          </a:p>
        </p:txBody>
      </p:sp>
      <p:pic>
        <p:nvPicPr>
          <p:cNvPr id="4" name="Picture 3" descr="forest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50">
                <a:solidFill>
                  <a:srgbClr val="0E2356"/>
                </a:solidFill>
                <a:latin typeface="Outfit"/>
              </a:rPr>
              <a:t>L'OFFRE   ·   </a:t>
            </a:r>
            <a:r>
              <a:rPr b="1" sz="1250">
                <a:solidFill>
                  <a:srgbClr val="0E2356"/>
                </a:solidFill>
                <a:latin typeface="Outfit"/>
              </a:rPr>
              <a:t>Pourquoi « Infrastructure as a Product » — le socle de la proposition</a:t>
            </a:r>
          </a:p>
        </p:txBody>
      </p:sp>
      <p:sp>
        <p:nvSpPr>
          <p:cNvPr id="3" name="Rounded Rectangle 2"/>
          <p:cNvSpPr/>
          <p:nvPr/>
        </p:nvSpPr>
        <p:spPr>
          <a:xfrm>
            <a:off x="562356" y="1051560"/>
            <a:ext cx="7804404" cy="713232"/>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3796" y="1179576"/>
            <a:ext cx="54864" cy="457200"/>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3252" y="1051560"/>
            <a:ext cx="7255764" cy="713232"/>
          </a:xfrm>
          <a:prstGeom prst="rect">
            <a:avLst/>
          </a:prstGeom>
          <a:noFill/>
        </p:spPr>
        <p:txBody>
          <a:bodyPr wrap="square" anchor="ctr" lIns="0" rIns="0" tIns="0" bIns="0">
            <a:noAutofit/>
          </a:bodyPr>
          <a:lstStyle/>
          <a:p>
            <a:pPr algn="l"/>
            <a:r>
              <a:rPr sz="1400" b="1" i="0">
                <a:solidFill>
                  <a:srgbClr val="FFFFFF"/>
                </a:solidFill>
                <a:latin typeface="Outfit"/>
              </a:rPr>
              <a:t>Traiter l'infrastructure comme un produit, pas comme un guichet de tickets.</a:t>
            </a:r>
          </a:p>
          <a:p>
            <a:pPr algn="l">
              <a:spcBef>
                <a:spcPts val="300"/>
              </a:spcBef>
            </a:pPr>
            <a:r>
              <a:rPr sz="900" b="0" i="0">
                <a:solidFill>
                  <a:srgbClr val="C7CBE0"/>
                </a:solidFill>
                <a:latin typeface="Outfit"/>
              </a:rPr>
              <a:t>Un produit a des utilisateurs, un cycle de vie et une valeur mesurée — trois bascules qui répondent directement aux personas et à leurs douleurs.</a:t>
            </a:r>
          </a:p>
        </p:txBody>
      </p:sp>
      <p:sp>
        <p:nvSpPr>
          <p:cNvPr id="6" name="Rounded Rectangle 5"/>
          <p:cNvSpPr/>
          <p:nvPr/>
        </p:nvSpPr>
        <p:spPr>
          <a:xfrm>
            <a:off x="562356" y="2039112"/>
            <a:ext cx="7804404" cy="88392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3524" y="2252472"/>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 y="2252472"/>
            <a:ext cx="457200" cy="457200"/>
          </a:xfrm>
          <a:prstGeom prst="rect">
            <a:avLst/>
          </a:prstGeom>
          <a:noFill/>
        </p:spPr>
        <p:txBody>
          <a:bodyPr wrap="square" anchor="ctr" lIns="0" rIns="0" tIns="0" bIns="0">
            <a:noAutofit/>
          </a:bodyPr>
          <a:lstStyle/>
          <a:p>
            <a:pPr algn="ctr"/>
            <a:r>
              <a:rPr sz="1500" b="1" i="0">
                <a:solidFill>
                  <a:srgbClr val="FFFFFF"/>
                </a:solidFill>
                <a:latin typeface="Outfit"/>
              </a:rPr>
              <a:t>1</a:t>
            </a:r>
          </a:p>
        </p:txBody>
      </p:sp>
      <p:sp>
        <p:nvSpPr>
          <p:cNvPr id="9" name="TextBox 8"/>
          <p:cNvSpPr txBox="1"/>
          <p:nvPr/>
        </p:nvSpPr>
        <p:spPr>
          <a:xfrm>
            <a:off x="1421892" y="2039112"/>
            <a:ext cx="4841748" cy="883920"/>
          </a:xfrm>
          <a:prstGeom prst="rect">
            <a:avLst/>
          </a:prstGeom>
          <a:noFill/>
        </p:spPr>
        <p:txBody>
          <a:bodyPr wrap="square" anchor="ctr" lIns="0" rIns="0" tIns="0" bIns="0">
            <a:noAutofit/>
          </a:bodyPr>
          <a:lstStyle/>
          <a:p>
            <a:pPr algn="l"/>
            <a:r>
              <a:rPr sz="1100" b="1" i="0">
                <a:solidFill>
                  <a:srgbClr val="0E2356"/>
                </a:solidFill>
                <a:latin typeface="Outfit"/>
              </a:rPr>
              <a:t>Des utilisateurs, pas des tickets</a:t>
            </a:r>
          </a:p>
          <a:p>
            <a:pPr algn="l">
              <a:lnSpc>
                <a:spcPct val="120000"/>
              </a:lnSpc>
              <a:spcBef>
                <a:spcPts val="200"/>
              </a:spcBef>
            </a:pPr>
            <a:r>
              <a:rPr sz="900" b="0" i="0">
                <a:solidFill>
                  <a:srgbClr val="586586"/>
                </a:solidFill>
                <a:latin typeface="Outfit"/>
              </a:rPr>
              <a:t>On conçoit l'adoption — self-service, onboarding, parcours — au lieu de subir un guichet que le contournement rend inutile.</a:t>
            </a:r>
          </a:p>
        </p:txBody>
      </p:sp>
      <p:sp>
        <p:nvSpPr>
          <p:cNvPr id="10" name="Rounded Rectangle 9"/>
          <p:cNvSpPr/>
          <p:nvPr/>
        </p:nvSpPr>
        <p:spPr>
          <a:xfrm>
            <a:off x="6419088" y="2252472"/>
            <a:ext cx="1783080" cy="45720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252472"/>
            <a:ext cx="1783080" cy="457200"/>
          </a:xfrm>
          <a:prstGeom prst="rect">
            <a:avLst/>
          </a:prstGeom>
          <a:noFill/>
        </p:spPr>
        <p:txBody>
          <a:bodyPr wrap="square" anchor="ctr" lIns="0" rIns="0" tIns="0" bIns="0">
            <a:noAutofit/>
          </a:bodyPr>
          <a:lstStyle/>
          <a:p>
            <a:pPr algn="ctr"/>
            <a:r>
              <a:rPr sz="800" b="1" i="0">
                <a:solidFill>
                  <a:srgbClr val="586586"/>
                </a:solidFill>
                <a:latin typeface="Outfit"/>
              </a:rPr>
              <a:t>RÉPOND À</a:t>
            </a:r>
          </a:p>
          <a:p>
            <a:pPr algn="ctr"/>
            <a:r>
              <a:rPr sz="900" b="1" i="0">
                <a:solidFill>
                  <a:srgbClr val="0E2356"/>
                </a:solidFill>
                <a:latin typeface="Outfit"/>
              </a:rPr>
              <a:t>l'utilisateur applicatif</a:t>
            </a:r>
          </a:p>
        </p:txBody>
      </p:sp>
      <p:sp>
        <p:nvSpPr>
          <p:cNvPr id="12" name="Rounded Rectangle 11"/>
          <p:cNvSpPr/>
          <p:nvPr/>
        </p:nvSpPr>
        <p:spPr>
          <a:xfrm>
            <a:off x="562356" y="3069336"/>
            <a:ext cx="7804404" cy="88392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3524" y="3282696"/>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3524" y="3282696"/>
            <a:ext cx="457200" cy="457200"/>
          </a:xfrm>
          <a:prstGeom prst="rect">
            <a:avLst/>
          </a:prstGeom>
          <a:noFill/>
        </p:spPr>
        <p:txBody>
          <a:bodyPr wrap="square" anchor="ctr" lIns="0" rIns="0" tIns="0" bIns="0">
            <a:noAutofit/>
          </a:bodyPr>
          <a:lstStyle/>
          <a:p>
            <a:pPr algn="ctr"/>
            <a:r>
              <a:rPr sz="1500" b="1" i="0">
                <a:solidFill>
                  <a:srgbClr val="FFFFFF"/>
                </a:solidFill>
                <a:latin typeface="Outfit"/>
              </a:rPr>
              <a:t>2</a:t>
            </a:r>
          </a:p>
        </p:txBody>
      </p:sp>
      <p:sp>
        <p:nvSpPr>
          <p:cNvPr id="15" name="TextBox 14"/>
          <p:cNvSpPr txBox="1"/>
          <p:nvPr/>
        </p:nvSpPr>
        <p:spPr>
          <a:xfrm>
            <a:off x="1421892" y="3069336"/>
            <a:ext cx="4841748" cy="883920"/>
          </a:xfrm>
          <a:prstGeom prst="rect">
            <a:avLst/>
          </a:prstGeom>
          <a:noFill/>
        </p:spPr>
        <p:txBody>
          <a:bodyPr wrap="square" anchor="ctr" lIns="0" rIns="0" tIns="0" bIns="0">
            <a:noAutofit/>
          </a:bodyPr>
          <a:lstStyle/>
          <a:p>
            <a:pPr algn="l"/>
            <a:r>
              <a:rPr sz="1100" b="1" i="0">
                <a:solidFill>
                  <a:srgbClr val="0E2356"/>
                </a:solidFill>
                <a:latin typeface="Outfit"/>
              </a:rPr>
              <a:t>Un cycle de vie, une équipe qui en répond</a:t>
            </a:r>
          </a:p>
          <a:p>
            <a:pPr algn="l">
              <a:lnSpc>
                <a:spcPct val="120000"/>
              </a:lnSpc>
              <a:spcBef>
                <a:spcPts val="200"/>
              </a:spcBef>
            </a:pPr>
            <a:r>
              <a:rPr sz="900" b="0" i="0">
                <a:solidFill>
                  <a:srgbClr val="586586"/>
                </a:solidFill>
                <a:latin typeface="Outfit"/>
              </a:rPr>
              <a:t>Le produit a un propriétaire, une roadmap et une dette gérée : on sort du RUN subi et on récupère de la capacité.</a:t>
            </a:r>
          </a:p>
        </p:txBody>
      </p:sp>
      <p:sp>
        <p:nvSpPr>
          <p:cNvPr id="16" name="Rounded Rectangle 15"/>
          <p:cNvSpPr/>
          <p:nvPr/>
        </p:nvSpPr>
        <p:spPr>
          <a:xfrm>
            <a:off x="6419088" y="3282696"/>
            <a:ext cx="1783080" cy="45720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3282696"/>
            <a:ext cx="1783080" cy="457200"/>
          </a:xfrm>
          <a:prstGeom prst="rect">
            <a:avLst/>
          </a:prstGeom>
          <a:noFill/>
        </p:spPr>
        <p:txBody>
          <a:bodyPr wrap="square" anchor="ctr" lIns="0" rIns="0" tIns="0" bIns="0">
            <a:noAutofit/>
          </a:bodyPr>
          <a:lstStyle/>
          <a:p>
            <a:pPr algn="ctr"/>
            <a:r>
              <a:rPr sz="800" b="1" i="0">
                <a:solidFill>
                  <a:srgbClr val="586586"/>
                </a:solidFill>
                <a:latin typeface="Outfit"/>
              </a:rPr>
              <a:t>RÉPOND À</a:t>
            </a:r>
          </a:p>
          <a:p>
            <a:pPr algn="ctr"/>
            <a:r>
              <a:rPr sz="900" b="1" i="0">
                <a:solidFill>
                  <a:srgbClr val="0E2356"/>
                </a:solidFill>
                <a:latin typeface="Outfit"/>
              </a:rPr>
              <a:t>l'infra &amp; le RUN</a:t>
            </a:r>
          </a:p>
        </p:txBody>
      </p:sp>
      <p:sp>
        <p:nvSpPr>
          <p:cNvPr id="18" name="Rounded Rectangle 17"/>
          <p:cNvSpPr/>
          <p:nvPr/>
        </p:nvSpPr>
        <p:spPr>
          <a:xfrm>
            <a:off x="562356" y="4099560"/>
            <a:ext cx="7804404" cy="88392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3524" y="4312920"/>
            <a:ext cx="45720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 y="4312920"/>
            <a:ext cx="457200" cy="457200"/>
          </a:xfrm>
          <a:prstGeom prst="rect">
            <a:avLst/>
          </a:prstGeom>
          <a:noFill/>
        </p:spPr>
        <p:txBody>
          <a:bodyPr wrap="square" anchor="ctr" lIns="0" rIns="0" tIns="0" bIns="0">
            <a:noAutofit/>
          </a:bodyPr>
          <a:lstStyle/>
          <a:p>
            <a:pPr algn="ctr"/>
            <a:r>
              <a:rPr sz="1500" b="1" i="0">
                <a:solidFill>
                  <a:srgbClr val="FFFFFF"/>
                </a:solidFill>
                <a:latin typeface="Outfit"/>
              </a:rPr>
              <a:t>3</a:t>
            </a:r>
          </a:p>
        </p:txBody>
      </p:sp>
      <p:sp>
        <p:nvSpPr>
          <p:cNvPr id="21" name="TextBox 20"/>
          <p:cNvSpPr txBox="1"/>
          <p:nvPr/>
        </p:nvSpPr>
        <p:spPr>
          <a:xfrm>
            <a:off x="1421892" y="4099560"/>
            <a:ext cx="4841748" cy="883920"/>
          </a:xfrm>
          <a:prstGeom prst="rect">
            <a:avLst/>
          </a:prstGeom>
          <a:noFill/>
        </p:spPr>
        <p:txBody>
          <a:bodyPr wrap="square" anchor="ctr" lIns="0" rIns="0" tIns="0" bIns="0">
            <a:noAutofit/>
          </a:bodyPr>
          <a:lstStyle/>
          <a:p>
            <a:pPr algn="l"/>
            <a:r>
              <a:rPr sz="1100" b="1" i="0">
                <a:solidFill>
                  <a:srgbClr val="0E2356"/>
                </a:solidFill>
                <a:latin typeface="Outfit"/>
              </a:rPr>
              <a:t>Un pilotage par la valeur</a:t>
            </a:r>
          </a:p>
          <a:p>
            <a:pPr algn="l">
              <a:lnSpc>
                <a:spcPct val="120000"/>
              </a:lnSpc>
              <a:spcBef>
                <a:spcPts val="200"/>
              </a:spcBef>
            </a:pPr>
            <a:r>
              <a:rPr sz="900" b="0" i="0">
                <a:solidFill>
                  <a:srgbClr val="586586"/>
                </a:solidFill>
                <a:latin typeface="Outfit"/>
              </a:rPr>
              <a:t>On mesure l'usage et la valeur produite, pas l'activité : un signal de flux fiable, des KPIs de mission — pas du reporting-miroir.</a:t>
            </a:r>
          </a:p>
        </p:txBody>
      </p:sp>
      <p:sp>
        <p:nvSpPr>
          <p:cNvPr id="22" name="Rounded Rectangle 21"/>
          <p:cNvSpPr/>
          <p:nvPr/>
        </p:nvSpPr>
        <p:spPr>
          <a:xfrm>
            <a:off x="6419088" y="4312920"/>
            <a:ext cx="1783080" cy="457200"/>
          </a:xfrm>
          <a:prstGeom prst="roundRect">
            <a:avLst>
              <a:gd name="adj" fmla="val 50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4312920"/>
            <a:ext cx="1783080" cy="457200"/>
          </a:xfrm>
          <a:prstGeom prst="rect">
            <a:avLst/>
          </a:prstGeom>
          <a:noFill/>
        </p:spPr>
        <p:txBody>
          <a:bodyPr wrap="square" anchor="ctr" lIns="0" rIns="0" tIns="0" bIns="0">
            <a:noAutofit/>
          </a:bodyPr>
          <a:lstStyle/>
          <a:p>
            <a:pPr algn="ctr"/>
            <a:r>
              <a:rPr sz="800" b="1" i="0">
                <a:solidFill>
                  <a:srgbClr val="586586"/>
                </a:solidFill>
                <a:latin typeface="Outfit"/>
              </a:rPr>
              <a:t>RÉPOND À</a:t>
            </a:r>
          </a:p>
          <a:p>
            <a:pPr algn="ctr"/>
            <a:r>
              <a:rPr sz="900" b="1" i="0">
                <a:solidFill>
                  <a:srgbClr val="0E2356"/>
                </a:solidFill>
                <a:latin typeface="Outfit"/>
              </a:rPr>
              <a:t>le management &amp; le sponsor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L'OFFRE   ·   </a:t>
            </a:r>
            <a:r>
              <a:rPr b="1" sz="1200">
                <a:solidFill>
                  <a:srgbClr val="0E2356"/>
                </a:solidFill>
                <a:latin typeface="Outfit"/>
              </a:rPr>
              <a:t>Repérer, prioriser, tenir : le gaspillage se traite à deux, sinon il retourne à personne</a:t>
            </a:r>
          </a:p>
        </p:txBody>
      </p:sp>
      <p:sp>
        <p:nvSpPr>
          <p:cNvPr id="3" name="TextBox 2"/>
          <p:cNvSpPr txBox="1"/>
          <p:nvPr/>
        </p:nvSpPr>
        <p:spPr>
          <a:xfrm>
            <a:off x="562356" y="1051560"/>
            <a:ext cx="7804404" cy="256032"/>
          </a:xfrm>
          <a:prstGeom prst="rect">
            <a:avLst/>
          </a:prstGeom>
          <a:noFill/>
        </p:spPr>
        <p:txBody>
          <a:bodyPr wrap="square" anchor="t" lIns="0" rIns="0" tIns="0" bIns="0">
            <a:noAutofit/>
          </a:bodyPr>
          <a:lstStyle/>
          <a:p>
            <a:pPr algn="l"/>
            <a:r>
              <a:rPr sz="900" b="0" i="1">
                <a:solidFill>
                  <a:srgbClr val="0E2356"/>
                </a:solidFill>
                <a:latin typeface="Outfit"/>
              </a:rPr>
              <a:t>Même chemin pour chaque famille, avec le client — score = (impact × faisabilité) − prudence IA, ordinal : il éclaire l'arbitrage, sans le remplacer.</a:t>
            </a:r>
          </a:p>
        </p:txBody>
      </p:sp>
      <p:sp>
        <p:nvSpPr>
          <p:cNvPr id="4" name="Rounded Rectangle 3"/>
          <p:cNvSpPr/>
          <p:nvPr/>
        </p:nvSpPr>
        <p:spPr>
          <a:xfrm>
            <a:off x="562356" y="1618488"/>
            <a:ext cx="2418588" cy="3136391"/>
          </a:xfrm>
          <a:prstGeom prst="roundRect">
            <a:avLst>
              <a:gd name="adj" fmla="val 8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8660" y="1453896"/>
            <a:ext cx="329184" cy="32918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660" y="1453896"/>
            <a:ext cx="329184" cy="329184"/>
          </a:xfrm>
          <a:prstGeom prst="rect">
            <a:avLst/>
          </a:prstGeom>
          <a:noFill/>
        </p:spPr>
        <p:txBody>
          <a:bodyPr wrap="square" anchor="ctr" lIns="0" rIns="0" tIns="0" bIns="0">
            <a:noAutofit/>
          </a:bodyPr>
          <a:lstStyle/>
          <a:p>
            <a:pPr algn="ctr"/>
            <a:r>
              <a:rPr sz="1200" b="1" i="0">
                <a:solidFill>
                  <a:srgbClr val="FFFFFF"/>
                </a:solidFill>
                <a:latin typeface="Outfit"/>
              </a:rPr>
              <a:t>1</a:t>
            </a:r>
          </a:p>
        </p:txBody>
      </p:sp>
      <p:sp>
        <p:nvSpPr>
          <p:cNvPr id="7" name="TextBox 6"/>
          <p:cNvSpPr txBox="1"/>
          <p:nvPr/>
        </p:nvSpPr>
        <p:spPr>
          <a:xfrm>
            <a:off x="708660" y="1856231"/>
            <a:ext cx="2125980" cy="256032"/>
          </a:xfrm>
          <a:prstGeom prst="rect">
            <a:avLst/>
          </a:prstGeom>
          <a:noFill/>
        </p:spPr>
        <p:txBody>
          <a:bodyPr wrap="square" anchor="t" lIns="0" rIns="0" tIns="0" bIns="0">
            <a:spAutoFit/>
          </a:bodyPr>
          <a:lstStyle/>
          <a:p>
            <a:pPr algn="l"/>
            <a:r>
              <a:rPr sz="1300" b="1" i="0">
                <a:solidFill>
                  <a:srgbClr val="0E2356"/>
                </a:solidFill>
                <a:latin typeface="Outfit"/>
              </a:rPr>
              <a:t>Repérer</a:t>
            </a:r>
            <a:r>
              <a:rPr sz="1000" b="0" i="0">
                <a:solidFill>
                  <a:srgbClr val="586586"/>
                </a:solidFill>
                <a:latin typeface="Outfit"/>
              </a:rPr>
              <a:t> et chiffrer</a:t>
            </a:r>
          </a:p>
        </p:txBody>
      </p:sp>
      <p:sp>
        <p:nvSpPr>
          <p:cNvPr id="8" name="TextBox 7"/>
          <p:cNvSpPr txBox="1"/>
          <p:nvPr/>
        </p:nvSpPr>
        <p:spPr>
          <a:xfrm>
            <a:off x="708660" y="2130551"/>
            <a:ext cx="2125980" cy="425196"/>
          </a:xfrm>
          <a:prstGeom prst="rect">
            <a:avLst/>
          </a:prstGeom>
          <a:noFill/>
        </p:spPr>
        <p:txBody>
          <a:bodyPr wrap="square" anchor="t" lIns="0" rIns="0" tIns="0" bIns="0">
            <a:noAutofit/>
          </a:bodyPr>
          <a:lstStyle/>
          <a:p>
            <a:pPr algn="l">
              <a:lnSpc>
                <a:spcPct val="120000"/>
              </a:lnSpc>
            </a:pPr>
            <a:r>
              <a:rPr sz="850" b="0" i="0">
                <a:solidFill>
                  <a:srgbClr val="0E2356"/>
                </a:solidFill>
                <a:latin typeface="Outfit"/>
              </a:rPr>
              <a:t>On détecte chaque gaspillage et on le quantifie, preuves à l'appui.</a:t>
            </a:r>
          </a:p>
        </p:txBody>
      </p:sp>
      <p:sp>
        <p:nvSpPr>
          <p:cNvPr id="9" name="TextBox 8"/>
          <p:cNvSpPr txBox="1"/>
          <p:nvPr/>
        </p:nvSpPr>
        <p:spPr>
          <a:xfrm>
            <a:off x="708660" y="2647187"/>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CLIENT</a:t>
            </a:r>
          </a:p>
          <a:p>
            <a:pPr algn="l">
              <a:lnSpc>
                <a:spcPct val="120000"/>
              </a:lnSpc>
            </a:pPr>
            <a:r>
              <a:rPr sz="850" b="0" i="0">
                <a:solidFill>
                  <a:srgbClr val="0E2356"/>
                </a:solidFill>
                <a:latin typeface="Outfit"/>
              </a:rPr>
              <a:t>Ouvre ses données — CMDB, facturation, tickets — et nomme ce qui le gêne vraiment.</a:t>
            </a:r>
          </a:p>
        </p:txBody>
      </p:sp>
      <p:sp>
        <p:nvSpPr>
          <p:cNvPr id="10" name="TextBox 9"/>
          <p:cNvSpPr txBox="1"/>
          <p:nvPr/>
        </p:nvSpPr>
        <p:spPr>
          <a:xfrm>
            <a:off x="708660" y="3282695"/>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OCTO</a:t>
            </a:r>
          </a:p>
          <a:p>
            <a:pPr algn="l">
              <a:lnSpc>
                <a:spcPct val="120000"/>
              </a:lnSpc>
            </a:pPr>
            <a:r>
              <a:rPr sz="850" b="0" i="0">
                <a:solidFill>
                  <a:srgbClr val="0E2356"/>
                </a:solidFill>
                <a:latin typeface="Outfit"/>
              </a:rPr>
              <a:t>Apporte la grille des 8 familles et la méthode de quantification.</a:t>
            </a:r>
          </a:p>
        </p:txBody>
      </p:sp>
      <p:sp>
        <p:nvSpPr>
          <p:cNvPr id="11" name="Rounded Rectangle 10"/>
          <p:cNvSpPr/>
          <p:nvPr/>
        </p:nvSpPr>
        <p:spPr>
          <a:xfrm>
            <a:off x="635508" y="3954779"/>
            <a:ext cx="2272284" cy="708660"/>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 y="4009643"/>
            <a:ext cx="45720" cy="598932"/>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 y="4018787"/>
            <a:ext cx="2071116" cy="617220"/>
          </a:xfrm>
          <a:prstGeom prst="rect">
            <a:avLst/>
          </a:prstGeom>
          <a:noFill/>
        </p:spPr>
        <p:txBody>
          <a:bodyPr wrap="square" anchor="t" lIns="0" rIns="0" tIns="0" bIns="0">
            <a:noAutofit/>
          </a:bodyPr>
          <a:lstStyle/>
          <a:p>
            <a:pPr algn="l"/>
            <a:r>
              <a:rPr sz="800" b="1" i="0">
                <a:solidFill>
                  <a:srgbClr val="0E2356"/>
                </a:solidFill>
                <a:latin typeface="Outfit"/>
              </a:rPr>
              <a:t>TRANCHÉ ENSEMBLE</a:t>
            </a:r>
          </a:p>
          <a:p>
            <a:pPr algn="l">
              <a:lnSpc>
                <a:spcPct val="120000"/>
              </a:lnSpc>
            </a:pPr>
            <a:r>
              <a:rPr sz="850" b="1" i="0">
                <a:solidFill>
                  <a:srgbClr val="0E2356"/>
                </a:solidFill>
                <a:latin typeface="Outfit"/>
              </a:rPr>
              <a:t>Le périmètre mesuré, et ce qu'on accepte d'appeler gaspillage.</a:t>
            </a:r>
          </a:p>
        </p:txBody>
      </p:sp>
      <p:sp>
        <p:nvSpPr>
          <p:cNvPr id="14" name="TextBox 13"/>
          <p:cNvSpPr txBox="1"/>
          <p:nvPr/>
        </p:nvSpPr>
        <p:spPr>
          <a:xfrm>
            <a:off x="2980944" y="3049523"/>
            <a:ext cx="274320" cy="274320"/>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15" name="Rounded Rectangle 14"/>
          <p:cNvSpPr/>
          <p:nvPr/>
        </p:nvSpPr>
        <p:spPr>
          <a:xfrm>
            <a:off x="3255263" y="1618488"/>
            <a:ext cx="2418588" cy="3136391"/>
          </a:xfrm>
          <a:prstGeom prst="roundRect">
            <a:avLst>
              <a:gd name="adj" fmla="val 8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01568" y="1453896"/>
            <a:ext cx="329184" cy="32918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1568" y="1453896"/>
            <a:ext cx="329184" cy="329184"/>
          </a:xfrm>
          <a:prstGeom prst="rect">
            <a:avLst/>
          </a:prstGeom>
          <a:noFill/>
        </p:spPr>
        <p:txBody>
          <a:bodyPr wrap="square" anchor="ctr" lIns="0" rIns="0" tIns="0" bIns="0">
            <a:noAutofit/>
          </a:bodyPr>
          <a:lstStyle/>
          <a:p>
            <a:pPr algn="ctr"/>
            <a:r>
              <a:rPr sz="1200" b="1" i="0">
                <a:solidFill>
                  <a:srgbClr val="FFFFFF"/>
                </a:solidFill>
                <a:latin typeface="Outfit"/>
              </a:rPr>
              <a:t>2</a:t>
            </a:r>
          </a:p>
        </p:txBody>
      </p:sp>
      <p:sp>
        <p:nvSpPr>
          <p:cNvPr id="18" name="TextBox 17"/>
          <p:cNvSpPr txBox="1"/>
          <p:nvPr/>
        </p:nvSpPr>
        <p:spPr>
          <a:xfrm>
            <a:off x="3401568" y="1856231"/>
            <a:ext cx="2125980" cy="256032"/>
          </a:xfrm>
          <a:prstGeom prst="rect">
            <a:avLst/>
          </a:prstGeom>
          <a:noFill/>
        </p:spPr>
        <p:txBody>
          <a:bodyPr wrap="square" anchor="t" lIns="0" rIns="0" tIns="0" bIns="0">
            <a:spAutoFit/>
          </a:bodyPr>
          <a:lstStyle/>
          <a:p>
            <a:pPr algn="l"/>
            <a:r>
              <a:rPr sz="1300" b="1" i="0">
                <a:solidFill>
                  <a:srgbClr val="0E2356"/>
                </a:solidFill>
                <a:latin typeface="Outfit"/>
              </a:rPr>
              <a:t>Prioriser</a:t>
            </a:r>
            <a:r>
              <a:rPr sz="1000" b="0" i="0">
                <a:solidFill>
                  <a:srgbClr val="586586"/>
                </a:solidFill>
                <a:latin typeface="Outfit"/>
              </a:rPr>
              <a:t> dans un backlog</a:t>
            </a:r>
          </a:p>
        </p:txBody>
      </p:sp>
      <p:sp>
        <p:nvSpPr>
          <p:cNvPr id="19" name="TextBox 18"/>
          <p:cNvSpPr txBox="1"/>
          <p:nvPr/>
        </p:nvSpPr>
        <p:spPr>
          <a:xfrm>
            <a:off x="3401568" y="2130551"/>
            <a:ext cx="2125980" cy="425196"/>
          </a:xfrm>
          <a:prstGeom prst="rect">
            <a:avLst/>
          </a:prstGeom>
          <a:noFill/>
        </p:spPr>
        <p:txBody>
          <a:bodyPr wrap="square" anchor="t" lIns="0" rIns="0" tIns="0" bIns="0">
            <a:noAutofit/>
          </a:bodyPr>
          <a:lstStyle/>
          <a:p>
            <a:pPr algn="l">
              <a:lnSpc>
                <a:spcPct val="120000"/>
              </a:lnSpc>
            </a:pPr>
            <a:r>
              <a:rPr sz="850" b="0" i="0">
                <a:solidFill>
                  <a:srgbClr val="0E2356"/>
                </a:solidFill>
                <a:latin typeface="Outfit"/>
              </a:rPr>
              <a:t>Chaque gaspillage reçoit un score et prend sa place dans le backlog.</a:t>
            </a:r>
          </a:p>
        </p:txBody>
      </p:sp>
      <p:sp>
        <p:nvSpPr>
          <p:cNvPr id="20" name="TextBox 19"/>
          <p:cNvSpPr txBox="1"/>
          <p:nvPr/>
        </p:nvSpPr>
        <p:spPr>
          <a:xfrm>
            <a:off x="3401568" y="2647187"/>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CLIENT</a:t>
            </a:r>
          </a:p>
          <a:p>
            <a:pPr algn="l">
              <a:lnSpc>
                <a:spcPct val="120000"/>
              </a:lnSpc>
            </a:pPr>
            <a:r>
              <a:rPr sz="850" b="0" i="0">
                <a:solidFill>
                  <a:srgbClr val="0E2356"/>
                </a:solidFill>
                <a:latin typeface="Outfit"/>
              </a:rPr>
              <a:t>Arbitre ce qu'aucune équipe ne tranche seule : fermer, standardiser, décommissionner.</a:t>
            </a:r>
          </a:p>
        </p:txBody>
      </p:sp>
      <p:sp>
        <p:nvSpPr>
          <p:cNvPr id="21" name="TextBox 20"/>
          <p:cNvSpPr txBox="1"/>
          <p:nvPr/>
        </p:nvSpPr>
        <p:spPr>
          <a:xfrm>
            <a:off x="3401568" y="3282695"/>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OCTO</a:t>
            </a:r>
          </a:p>
          <a:p>
            <a:pPr algn="l">
              <a:lnSpc>
                <a:spcPct val="120000"/>
              </a:lnSpc>
            </a:pPr>
            <a:r>
              <a:rPr sz="850" b="0" i="0">
                <a:solidFill>
                  <a:srgbClr val="0E2356"/>
                </a:solidFill>
                <a:latin typeface="Outfit"/>
              </a:rPr>
              <a:t>Instruit les causes racines et propose le score — une proposition, jamais un verdict.</a:t>
            </a:r>
          </a:p>
        </p:txBody>
      </p:sp>
      <p:sp>
        <p:nvSpPr>
          <p:cNvPr id="22" name="Rounded Rectangle 21"/>
          <p:cNvSpPr/>
          <p:nvPr/>
        </p:nvSpPr>
        <p:spPr>
          <a:xfrm>
            <a:off x="3328415" y="3954779"/>
            <a:ext cx="2272284" cy="708660"/>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28415" y="4009643"/>
            <a:ext cx="45720" cy="598932"/>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56432" y="4018787"/>
            <a:ext cx="2071116" cy="617220"/>
          </a:xfrm>
          <a:prstGeom prst="rect">
            <a:avLst/>
          </a:prstGeom>
          <a:noFill/>
        </p:spPr>
        <p:txBody>
          <a:bodyPr wrap="square" anchor="t" lIns="0" rIns="0" tIns="0" bIns="0">
            <a:noAutofit/>
          </a:bodyPr>
          <a:lstStyle/>
          <a:p>
            <a:pPr algn="l"/>
            <a:r>
              <a:rPr sz="800" b="1" i="0">
                <a:solidFill>
                  <a:srgbClr val="0E2356"/>
                </a:solidFill>
                <a:latin typeface="Outfit"/>
              </a:rPr>
              <a:t>TRANCHÉ ENSEMBLE</a:t>
            </a:r>
          </a:p>
          <a:p>
            <a:pPr algn="l">
              <a:lnSpc>
                <a:spcPct val="120000"/>
              </a:lnSpc>
            </a:pPr>
            <a:r>
              <a:rPr sz="850" b="1" i="0">
                <a:solidFill>
                  <a:srgbClr val="0E2356"/>
                </a:solidFill>
                <a:latin typeface="Outfit"/>
              </a:rPr>
              <a:t>Le backlog priorisé et, pour chaque ligne, le porteur nommé.</a:t>
            </a:r>
          </a:p>
        </p:txBody>
      </p:sp>
      <p:sp>
        <p:nvSpPr>
          <p:cNvPr id="25" name="TextBox 24"/>
          <p:cNvSpPr txBox="1"/>
          <p:nvPr/>
        </p:nvSpPr>
        <p:spPr>
          <a:xfrm>
            <a:off x="5673852" y="3049523"/>
            <a:ext cx="274320" cy="274320"/>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26" name="Rounded Rectangle 25"/>
          <p:cNvSpPr/>
          <p:nvPr/>
        </p:nvSpPr>
        <p:spPr>
          <a:xfrm>
            <a:off x="5948172" y="1618488"/>
            <a:ext cx="2418588" cy="3136391"/>
          </a:xfrm>
          <a:prstGeom prst="roundRect">
            <a:avLst>
              <a:gd name="adj" fmla="val 8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094476" y="1453896"/>
            <a:ext cx="329184" cy="32918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4476" y="1453896"/>
            <a:ext cx="329184" cy="329184"/>
          </a:xfrm>
          <a:prstGeom prst="rect">
            <a:avLst/>
          </a:prstGeom>
          <a:noFill/>
        </p:spPr>
        <p:txBody>
          <a:bodyPr wrap="square" anchor="ctr" lIns="0" rIns="0" tIns="0" bIns="0">
            <a:noAutofit/>
          </a:bodyPr>
          <a:lstStyle/>
          <a:p>
            <a:pPr algn="ctr"/>
            <a:r>
              <a:rPr sz="1200" b="1" i="0">
                <a:solidFill>
                  <a:srgbClr val="FFFFFF"/>
                </a:solidFill>
                <a:latin typeface="Outfit"/>
              </a:rPr>
              <a:t>3</a:t>
            </a:r>
          </a:p>
        </p:txBody>
      </p:sp>
      <p:sp>
        <p:nvSpPr>
          <p:cNvPr id="29" name="TextBox 28"/>
          <p:cNvSpPr txBox="1"/>
          <p:nvPr/>
        </p:nvSpPr>
        <p:spPr>
          <a:xfrm>
            <a:off x="6094476" y="1856231"/>
            <a:ext cx="2125980" cy="256032"/>
          </a:xfrm>
          <a:prstGeom prst="rect">
            <a:avLst/>
          </a:prstGeom>
          <a:noFill/>
        </p:spPr>
        <p:txBody>
          <a:bodyPr wrap="square" anchor="t" lIns="0" rIns="0" tIns="0" bIns="0">
            <a:spAutoFit/>
          </a:bodyPr>
          <a:lstStyle/>
          <a:p>
            <a:pPr algn="l"/>
            <a:r>
              <a:rPr sz="1300" b="1" i="0">
                <a:solidFill>
                  <a:srgbClr val="0E2356"/>
                </a:solidFill>
                <a:latin typeface="Outfit"/>
              </a:rPr>
              <a:t>Tenir</a:t>
            </a:r>
            <a:r>
              <a:rPr sz="1000" b="0" i="0">
                <a:solidFill>
                  <a:srgbClr val="586586"/>
                </a:solidFill>
                <a:latin typeface="Outfit"/>
              </a:rPr>
              <a:t> dans la durée</a:t>
            </a:r>
          </a:p>
        </p:txBody>
      </p:sp>
      <p:sp>
        <p:nvSpPr>
          <p:cNvPr id="30" name="TextBox 29"/>
          <p:cNvSpPr txBox="1"/>
          <p:nvPr/>
        </p:nvSpPr>
        <p:spPr>
          <a:xfrm>
            <a:off x="6094476" y="2130551"/>
            <a:ext cx="2125980" cy="425196"/>
          </a:xfrm>
          <a:prstGeom prst="rect">
            <a:avLst/>
          </a:prstGeom>
          <a:noFill/>
        </p:spPr>
        <p:txBody>
          <a:bodyPr wrap="square" anchor="t" lIns="0" rIns="0" tIns="0" bIns="0">
            <a:noAutofit/>
          </a:bodyPr>
          <a:lstStyle/>
          <a:p>
            <a:pPr algn="l">
              <a:lnSpc>
                <a:spcPct val="120000"/>
              </a:lnSpc>
            </a:pPr>
            <a:r>
              <a:rPr sz="850" b="0" i="0">
                <a:solidFill>
                  <a:srgbClr val="0E2356"/>
                </a:solidFill>
                <a:latin typeface="Outfit"/>
              </a:rPr>
              <a:t>On expérimente, on mesure le delta réel, puis on industrialise.</a:t>
            </a:r>
          </a:p>
        </p:txBody>
      </p:sp>
      <p:sp>
        <p:nvSpPr>
          <p:cNvPr id="31" name="TextBox 30"/>
          <p:cNvSpPr txBox="1"/>
          <p:nvPr/>
        </p:nvSpPr>
        <p:spPr>
          <a:xfrm>
            <a:off x="6094476" y="2647187"/>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CLIENT</a:t>
            </a:r>
          </a:p>
          <a:p>
            <a:pPr algn="l">
              <a:lnSpc>
                <a:spcPct val="120000"/>
              </a:lnSpc>
            </a:pPr>
            <a:r>
              <a:rPr sz="850" b="0" i="0">
                <a:solidFill>
                  <a:srgbClr val="0E2356"/>
                </a:solidFill>
                <a:latin typeface="Outfit"/>
              </a:rPr>
              <a:t>Porte les expérimentations et libère le temps qu'elles demandent.</a:t>
            </a:r>
          </a:p>
        </p:txBody>
      </p:sp>
      <p:sp>
        <p:nvSpPr>
          <p:cNvPr id="32" name="TextBox 31"/>
          <p:cNvSpPr txBox="1"/>
          <p:nvPr/>
        </p:nvSpPr>
        <p:spPr>
          <a:xfrm>
            <a:off x="6094476" y="3282695"/>
            <a:ext cx="2125980" cy="580644"/>
          </a:xfrm>
          <a:prstGeom prst="rect">
            <a:avLst/>
          </a:prstGeom>
          <a:noFill/>
        </p:spPr>
        <p:txBody>
          <a:bodyPr wrap="square" anchor="t" lIns="0" rIns="0" tIns="0" bIns="0">
            <a:noAutofit/>
          </a:bodyPr>
          <a:lstStyle/>
          <a:p>
            <a:pPr algn="l"/>
            <a:r>
              <a:rPr sz="800" b="1" i="0">
                <a:solidFill>
                  <a:srgbClr val="586586"/>
                </a:solidFill>
                <a:latin typeface="Outfit"/>
              </a:rPr>
              <a:t>CÔTÉ OCTO</a:t>
            </a:r>
          </a:p>
          <a:p>
            <a:pPr algn="l">
              <a:lnSpc>
                <a:spcPct val="120000"/>
              </a:lnSpc>
            </a:pPr>
            <a:r>
              <a:rPr sz="850" b="0" i="0">
                <a:solidFill>
                  <a:srgbClr val="0E2356"/>
                </a:solidFill>
                <a:latin typeface="Outfit"/>
              </a:rPr>
              <a:t>Outille, mesure le delta réel et industrialise ce qui a marché.</a:t>
            </a:r>
          </a:p>
        </p:txBody>
      </p:sp>
      <p:sp>
        <p:nvSpPr>
          <p:cNvPr id="33" name="Rounded Rectangle 32"/>
          <p:cNvSpPr/>
          <p:nvPr/>
        </p:nvSpPr>
        <p:spPr>
          <a:xfrm>
            <a:off x="6021324" y="3954779"/>
            <a:ext cx="2272284" cy="708660"/>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021324" y="4009643"/>
            <a:ext cx="45720" cy="598932"/>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9340" y="4018787"/>
            <a:ext cx="2071116" cy="617220"/>
          </a:xfrm>
          <a:prstGeom prst="rect">
            <a:avLst/>
          </a:prstGeom>
          <a:noFill/>
        </p:spPr>
        <p:txBody>
          <a:bodyPr wrap="square" anchor="t" lIns="0" rIns="0" tIns="0" bIns="0">
            <a:noAutofit/>
          </a:bodyPr>
          <a:lstStyle/>
          <a:p>
            <a:pPr algn="l"/>
            <a:r>
              <a:rPr sz="800" b="1" i="0">
                <a:solidFill>
                  <a:srgbClr val="0E2356"/>
                </a:solidFill>
                <a:latin typeface="Outfit"/>
              </a:rPr>
              <a:t>TRANCHÉ ENSEMBLE</a:t>
            </a:r>
          </a:p>
          <a:p>
            <a:pPr algn="l">
              <a:lnSpc>
                <a:spcPct val="120000"/>
              </a:lnSpc>
            </a:pPr>
            <a:r>
              <a:rPr sz="850" b="1" i="0">
                <a:solidFill>
                  <a:srgbClr val="0E2356"/>
                </a:solidFill>
                <a:latin typeface="Outfit"/>
              </a:rPr>
              <a:t>Le seuil au-delà duquel on généralise — ou on arrête.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700">
                <a:solidFill>
                  <a:srgbClr val="0E2356"/>
                </a:solidFill>
                <a:latin typeface="Outfit"/>
              </a:rPr>
              <a:t>L'OFFRE   ·   </a:t>
            </a:r>
            <a:r>
              <a:rPr b="1" sz="1700">
                <a:solidFill>
                  <a:srgbClr val="0E2356"/>
                </a:solidFill>
                <a:latin typeface="Outfit"/>
              </a:rPr>
              <a:t>La cible IAP est une Platform Team</a:t>
            </a:r>
          </a:p>
        </p:txBody>
      </p:sp>
      <p:sp>
        <p:nvSpPr>
          <p:cNvPr id="3" name="TextBox 2"/>
          <p:cNvSpPr txBox="1"/>
          <p:nvPr/>
        </p:nvSpPr>
        <p:spPr>
          <a:xfrm>
            <a:off x="562356" y="1051560"/>
            <a:ext cx="7804404" cy="256032"/>
          </a:xfrm>
          <a:prstGeom prst="rect">
            <a:avLst/>
          </a:prstGeom>
          <a:noFill/>
        </p:spPr>
        <p:txBody>
          <a:bodyPr wrap="square" anchor="t" lIns="0" rIns="0" tIns="0" bIns="0">
            <a:noAutofit/>
          </a:bodyPr>
          <a:lstStyle/>
          <a:p>
            <a:pPr algn="l"/>
            <a:r>
              <a:rPr sz="900" b="0" i="1">
                <a:solidFill>
                  <a:srgbClr val="0E2356"/>
                </a:solidFill>
                <a:latin typeface="Outfit"/>
              </a:rPr>
              <a:t>Team Topologies décrit 4 archétypes reliés entre eux : les 3 autres s'articulent autour de la Platform Team.</a:t>
            </a:r>
          </a:p>
        </p:txBody>
      </p:sp>
      <p:sp>
        <p:nvSpPr>
          <p:cNvPr id="4" name="TextBox 3"/>
          <p:cNvSpPr txBox="1"/>
          <p:nvPr/>
        </p:nvSpPr>
        <p:spPr>
          <a:xfrm>
            <a:off x="2784348" y="1271016"/>
            <a:ext cx="2743200" cy="182880"/>
          </a:xfrm>
          <a:prstGeom prst="rect">
            <a:avLst/>
          </a:prstGeom>
          <a:noFill/>
        </p:spPr>
        <p:txBody>
          <a:bodyPr wrap="square" anchor="t" lIns="0" rIns="0" tIns="0" bIns="0">
            <a:noAutofit/>
          </a:bodyPr>
          <a:lstStyle/>
          <a:p>
            <a:pPr algn="l"/>
            <a:r>
              <a:rPr sz="800" b="1" i="0">
                <a:solidFill>
                  <a:srgbClr val="586586"/>
                </a:solidFill>
                <a:latin typeface="Outfit"/>
              </a:rPr>
              <a:t>CE QU'IL APPORTE</a:t>
            </a:r>
          </a:p>
        </p:txBody>
      </p:sp>
      <p:sp>
        <p:nvSpPr>
          <p:cNvPr id="5" name="TextBox 4"/>
          <p:cNvSpPr txBox="1"/>
          <p:nvPr/>
        </p:nvSpPr>
        <p:spPr>
          <a:xfrm>
            <a:off x="5618988" y="1271016"/>
            <a:ext cx="2743200" cy="182880"/>
          </a:xfrm>
          <a:prstGeom prst="rect">
            <a:avLst/>
          </a:prstGeom>
          <a:noFill/>
        </p:spPr>
        <p:txBody>
          <a:bodyPr wrap="square" anchor="t" lIns="0" rIns="0" tIns="0" bIns="0">
            <a:noAutofit/>
          </a:bodyPr>
          <a:lstStyle/>
          <a:p>
            <a:pPr algn="l"/>
            <a:r>
              <a:rPr sz="800" b="1" i="0">
                <a:solidFill>
                  <a:srgbClr val="586586"/>
                </a:solidFill>
                <a:latin typeface="Outfit"/>
              </a:rPr>
              <a:t>DANS LA CIBLE IAP</a:t>
            </a:r>
          </a:p>
        </p:txBody>
      </p:sp>
      <p:sp>
        <p:nvSpPr>
          <p:cNvPr id="6" name="Rounded Rectangle 5"/>
          <p:cNvSpPr/>
          <p:nvPr/>
        </p:nvSpPr>
        <p:spPr>
          <a:xfrm>
            <a:off x="562356" y="1490472"/>
            <a:ext cx="2057400" cy="512064"/>
          </a:xfrm>
          <a:prstGeom prst="roundRect">
            <a:avLst>
              <a:gd name="adj" fmla="val 50000"/>
            </a:avLst>
          </a:prstGeom>
          <a:solidFill>
            <a:srgbClr val="0E2356"/>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2356" y="1490472"/>
            <a:ext cx="2057400" cy="512064"/>
          </a:xfrm>
          <a:prstGeom prst="rect">
            <a:avLst/>
          </a:prstGeom>
          <a:noFill/>
        </p:spPr>
        <p:txBody>
          <a:bodyPr wrap="square" anchor="ctr" lIns="0" rIns="0" tIns="0" bIns="0">
            <a:noAutofit/>
          </a:bodyPr>
          <a:lstStyle/>
          <a:p>
            <a:pPr algn="ctr"/>
            <a:r>
              <a:rPr sz="1050" b="1" i="0">
                <a:solidFill>
                  <a:srgbClr val="FFFFFF"/>
                </a:solidFill>
                <a:latin typeface="Outfit"/>
              </a:rPr>
              <a:t>Platform Team</a:t>
            </a:r>
          </a:p>
        </p:txBody>
      </p:sp>
      <p:sp>
        <p:nvSpPr>
          <p:cNvPr id="8" name="Rounded Rectangle 7"/>
          <p:cNvSpPr/>
          <p:nvPr/>
        </p:nvSpPr>
        <p:spPr>
          <a:xfrm>
            <a:off x="2711196" y="1490472"/>
            <a:ext cx="5655564" cy="512064"/>
          </a:xfrm>
          <a:prstGeom prst="roundRect">
            <a:avLst>
              <a:gd name="adj" fmla="val 50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39796" y="1490472"/>
            <a:ext cx="2606040" cy="512064"/>
          </a:xfrm>
          <a:prstGeom prst="rect">
            <a:avLst/>
          </a:prstGeom>
          <a:noFill/>
        </p:spPr>
        <p:txBody>
          <a:bodyPr wrap="square" anchor="ctr" lIns="0" rIns="0" tIns="0" bIns="0">
            <a:noAutofit/>
          </a:bodyPr>
          <a:lstStyle/>
          <a:p>
            <a:pPr algn="l">
              <a:lnSpc>
                <a:spcPct val="115000"/>
              </a:lnSpc>
            </a:pPr>
            <a:r>
              <a:rPr sz="900" b="1" i="0">
                <a:solidFill>
                  <a:srgbClr val="0E2356"/>
                </a:solidFill>
                <a:latin typeface="Outfit"/>
              </a:rPr>
              <a:t>Capacités en self-service (X-as-a-Service)</a:t>
            </a:r>
          </a:p>
        </p:txBody>
      </p:sp>
      <p:sp>
        <p:nvSpPr>
          <p:cNvPr id="10" name="TextBox 9"/>
          <p:cNvSpPr txBox="1"/>
          <p:nvPr/>
        </p:nvSpPr>
        <p:spPr>
          <a:xfrm>
            <a:off x="5545836" y="1490472"/>
            <a:ext cx="2683764" cy="512064"/>
          </a:xfrm>
          <a:prstGeom prst="rect">
            <a:avLst/>
          </a:prstGeom>
          <a:noFill/>
        </p:spPr>
        <p:txBody>
          <a:bodyPr wrap="square" anchor="ctr" lIns="0" rIns="0" tIns="0" bIns="0">
            <a:noAutofit/>
          </a:bodyPr>
          <a:lstStyle/>
          <a:p>
            <a:pPr algn="l">
              <a:lnSpc>
                <a:spcPct val="115000"/>
              </a:lnSpc>
            </a:pPr>
            <a:r>
              <a:rPr sz="900" b="1" i="0">
                <a:solidFill>
                  <a:srgbClr val="0E2356"/>
                </a:solidFill>
                <a:latin typeface="Outfit"/>
              </a:rPr>
              <a:t>La cible même de la transformation IAP</a:t>
            </a:r>
          </a:p>
        </p:txBody>
      </p:sp>
      <p:sp>
        <p:nvSpPr>
          <p:cNvPr id="11" name="Rounded Rectangle 10"/>
          <p:cNvSpPr/>
          <p:nvPr/>
        </p:nvSpPr>
        <p:spPr>
          <a:xfrm>
            <a:off x="562356" y="2112264"/>
            <a:ext cx="2057400" cy="512064"/>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356" y="2112264"/>
            <a:ext cx="2057400" cy="512064"/>
          </a:xfrm>
          <a:prstGeom prst="rect">
            <a:avLst/>
          </a:prstGeom>
          <a:noFill/>
        </p:spPr>
        <p:txBody>
          <a:bodyPr wrap="square" anchor="ctr" lIns="0" rIns="0" tIns="0" bIns="0">
            <a:noAutofit/>
          </a:bodyPr>
          <a:lstStyle/>
          <a:p>
            <a:pPr algn="ctr"/>
            <a:r>
              <a:rPr sz="1050" b="1" i="0">
                <a:solidFill>
                  <a:srgbClr val="0E2356"/>
                </a:solidFill>
                <a:latin typeface="Outfit"/>
              </a:rPr>
              <a:t>Stream-aligned</a:t>
            </a:r>
          </a:p>
        </p:txBody>
      </p:sp>
      <p:sp>
        <p:nvSpPr>
          <p:cNvPr id="13" name="Rounded Rectangle 12"/>
          <p:cNvSpPr/>
          <p:nvPr/>
        </p:nvSpPr>
        <p:spPr>
          <a:xfrm>
            <a:off x="2711196" y="2112264"/>
            <a:ext cx="5655564" cy="512064"/>
          </a:xfrm>
          <a:prstGeom prst="roundRect">
            <a:avLst>
              <a:gd name="adj" fmla="val 5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9796" y="2112264"/>
            <a:ext cx="2606040" cy="512064"/>
          </a:xfrm>
          <a:prstGeom prst="rect">
            <a:avLst/>
          </a:prstGeom>
          <a:noFill/>
        </p:spPr>
        <p:txBody>
          <a:bodyPr wrap="square" anchor="ctr" lIns="0" rIns="0" tIns="0" bIns="0">
            <a:noAutofit/>
          </a:bodyPr>
          <a:lstStyle/>
          <a:p>
            <a:pPr algn="l">
              <a:lnSpc>
                <a:spcPct val="115000"/>
              </a:lnSpc>
            </a:pPr>
            <a:r>
              <a:rPr sz="900" b="0" i="0">
                <a:solidFill>
                  <a:srgbClr val="0E2356"/>
                </a:solidFill>
                <a:latin typeface="Outfit"/>
              </a:rPr>
              <a:t>Flux de valeur métier continu</a:t>
            </a:r>
          </a:p>
        </p:txBody>
      </p:sp>
      <p:sp>
        <p:nvSpPr>
          <p:cNvPr id="15" name="TextBox 14"/>
          <p:cNvSpPr txBox="1"/>
          <p:nvPr/>
        </p:nvSpPr>
        <p:spPr>
          <a:xfrm>
            <a:off x="5545836" y="2112264"/>
            <a:ext cx="2683764" cy="512064"/>
          </a:xfrm>
          <a:prstGeom prst="rect">
            <a:avLst/>
          </a:prstGeom>
          <a:noFill/>
        </p:spPr>
        <p:txBody>
          <a:bodyPr wrap="square" anchor="ctr" lIns="0" rIns="0" tIns="0" bIns="0">
            <a:noAutofit/>
          </a:bodyPr>
          <a:lstStyle/>
          <a:p>
            <a:pPr algn="l">
              <a:lnSpc>
                <a:spcPct val="115000"/>
              </a:lnSpc>
            </a:pPr>
            <a:r>
              <a:rPr sz="900" b="0" i="0">
                <a:solidFill>
                  <a:srgbClr val="586586"/>
                </a:solidFill>
                <a:latin typeface="Outfit"/>
              </a:rPr>
              <a:t>Les équipes applicatives, clientes de la plateforme</a:t>
            </a:r>
          </a:p>
        </p:txBody>
      </p:sp>
      <p:sp>
        <p:nvSpPr>
          <p:cNvPr id="16" name="Rounded Rectangle 15"/>
          <p:cNvSpPr/>
          <p:nvPr/>
        </p:nvSpPr>
        <p:spPr>
          <a:xfrm>
            <a:off x="562356" y="2734056"/>
            <a:ext cx="2057400" cy="512064"/>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 y="2734056"/>
            <a:ext cx="2057400" cy="512064"/>
          </a:xfrm>
          <a:prstGeom prst="rect">
            <a:avLst/>
          </a:prstGeom>
          <a:noFill/>
        </p:spPr>
        <p:txBody>
          <a:bodyPr wrap="square" anchor="ctr" lIns="0" rIns="0" tIns="0" bIns="0">
            <a:noAutofit/>
          </a:bodyPr>
          <a:lstStyle/>
          <a:p>
            <a:pPr algn="ctr"/>
            <a:r>
              <a:rPr sz="1050" b="1" i="0">
                <a:solidFill>
                  <a:srgbClr val="0E2356"/>
                </a:solidFill>
                <a:latin typeface="Outfit"/>
              </a:rPr>
              <a:t>Enabling</a:t>
            </a:r>
          </a:p>
        </p:txBody>
      </p:sp>
      <p:sp>
        <p:nvSpPr>
          <p:cNvPr id="18" name="Rounded Rectangle 17"/>
          <p:cNvSpPr/>
          <p:nvPr/>
        </p:nvSpPr>
        <p:spPr>
          <a:xfrm>
            <a:off x="2711196" y="2734056"/>
            <a:ext cx="5655564" cy="512064"/>
          </a:xfrm>
          <a:prstGeom prst="roundRect">
            <a:avLst>
              <a:gd name="adj" fmla="val 5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9796" y="2734056"/>
            <a:ext cx="2606040" cy="512064"/>
          </a:xfrm>
          <a:prstGeom prst="rect">
            <a:avLst/>
          </a:prstGeom>
          <a:noFill/>
        </p:spPr>
        <p:txBody>
          <a:bodyPr wrap="square" anchor="ctr" lIns="0" rIns="0" tIns="0" bIns="0">
            <a:noAutofit/>
          </a:bodyPr>
          <a:lstStyle/>
          <a:p>
            <a:pPr algn="l">
              <a:lnSpc>
                <a:spcPct val="115000"/>
              </a:lnSpc>
            </a:pPr>
            <a:r>
              <a:rPr sz="900" b="0" i="0">
                <a:solidFill>
                  <a:srgbClr val="0E2356"/>
                </a:solidFill>
                <a:latin typeface="Outfit"/>
              </a:rPr>
              <a:t>Montée en compétence temporaire</a:t>
            </a:r>
          </a:p>
        </p:txBody>
      </p:sp>
      <p:sp>
        <p:nvSpPr>
          <p:cNvPr id="20" name="TextBox 19"/>
          <p:cNvSpPr txBox="1"/>
          <p:nvPr/>
        </p:nvSpPr>
        <p:spPr>
          <a:xfrm>
            <a:off x="5545836" y="2734056"/>
            <a:ext cx="2683764" cy="512064"/>
          </a:xfrm>
          <a:prstGeom prst="rect">
            <a:avLst/>
          </a:prstGeom>
          <a:noFill/>
        </p:spPr>
        <p:txBody>
          <a:bodyPr wrap="square" anchor="ctr" lIns="0" rIns="0" tIns="0" bIns="0">
            <a:noAutofit/>
          </a:bodyPr>
          <a:lstStyle/>
          <a:p>
            <a:pPr algn="l">
              <a:lnSpc>
                <a:spcPct val="115000"/>
              </a:lnSpc>
            </a:pPr>
            <a:r>
              <a:rPr sz="900" b="0" i="0">
                <a:solidFill>
                  <a:srgbClr val="586586"/>
                </a:solidFill>
                <a:latin typeface="Outfit"/>
              </a:rPr>
              <a:t>La posture du coach — jamais permanente</a:t>
            </a:r>
          </a:p>
        </p:txBody>
      </p:sp>
      <p:sp>
        <p:nvSpPr>
          <p:cNvPr id="21" name="Rounded Rectangle 20"/>
          <p:cNvSpPr/>
          <p:nvPr/>
        </p:nvSpPr>
        <p:spPr>
          <a:xfrm>
            <a:off x="562356" y="3355848"/>
            <a:ext cx="2057400" cy="512064"/>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 y="3355848"/>
            <a:ext cx="2057400" cy="512064"/>
          </a:xfrm>
          <a:prstGeom prst="rect">
            <a:avLst/>
          </a:prstGeom>
          <a:noFill/>
        </p:spPr>
        <p:txBody>
          <a:bodyPr wrap="square" anchor="ctr" lIns="0" rIns="0" tIns="0" bIns="0">
            <a:noAutofit/>
          </a:bodyPr>
          <a:lstStyle/>
          <a:p>
            <a:pPr algn="ctr"/>
            <a:r>
              <a:rPr sz="1050" b="1" i="0">
                <a:solidFill>
                  <a:srgbClr val="0E2356"/>
                </a:solidFill>
                <a:latin typeface="Outfit"/>
              </a:rPr>
              <a:t>Complicated-subsystem</a:t>
            </a:r>
          </a:p>
        </p:txBody>
      </p:sp>
      <p:sp>
        <p:nvSpPr>
          <p:cNvPr id="23" name="Rounded Rectangle 22"/>
          <p:cNvSpPr/>
          <p:nvPr/>
        </p:nvSpPr>
        <p:spPr>
          <a:xfrm>
            <a:off x="2711196" y="3355848"/>
            <a:ext cx="5655564" cy="512064"/>
          </a:xfrm>
          <a:prstGeom prst="roundRect">
            <a:avLst>
              <a:gd name="adj" fmla="val 5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39796" y="3355848"/>
            <a:ext cx="2606040" cy="512064"/>
          </a:xfrm>
          <a:prstGeom prst="rect">
            <a:avLst/>
          </a:prstGeom>
          <a:noFill/>
        </p:spPr>
        <p:txBody>
          <a:bodyPr wrap="square" anchor="ctr" lIns="0" rIns="0" tIns="0" bIns="0">
            <a:noAutofit/>
          </a:bodyPr>
          <a:lstStyle/>
          <a:p>
            <a:pPr algn="l">
              <a:lnSpc>
                <a:spcPct val="115000"/>
              </a:lnSpc>
            </a:pPr>
            <a:r>
              <a:rPr sz="900" b="0" i="0">
                <a:solidFill>
                  <a:srgbClr val="0E2356"/>
                </a:solidFill>
                <a:latin typeface="Outfit"/>
              </a:rPr>
              <a:t>Expertise pointue, compétences rares</a:t>
            </a:r>
          </a:p>
        </p:txBody>
      </p:sp>
      <p:sp>
        <p:nvSpPr>
          <p:cNvPr id="25" name="TextBox 24"/>
          <p:cNvSpPr txBox="1"/>
          <p:nvPr/>
        </p:nvSpPr>
        <p:spPr>
          <a:xfrm>
            <a:off x="5545836" y="3355848"/>
            <a:ext cx="2683764" cy="512064"/>
          </a:xfrm>
          <a:prstGeom prst="rect">
            <a:avLst/>
          </a:prstGeom>
          <a:noFill/>
        </p:spPr>
        <p:txBody>
          <a:bodyPr wrap="square" anchor="ctr" lIns="0" rIns="0" tIns="0" bIns="0">
            <a:noAutofit/>
          </a:bodyPr>
          <a:lstStyle/>
          <a:p>
            <a:pPr algn="l">
              <a:lnSpc>
                <a:spcPct val="115000"/>
              </a:lnSpc>
            </a:pPr>
            <a:r>
              <a:rPr sz="900" b="0" i="0">
                <a:solidFill>
                  <a:srgbClr val="586586"/>
                </a:solidFill>
                <a:latin typeface="Outfit"/>
              </a:rPr>
              <a:t>Un vrai sous-système complexe, pas un produit plateforme</a:t>
            </a:r>
          </a:p>
        </p:txBody>
      </p:sp>
      <p:sp>
        <p:nvSpPr>
          <p:cNvPr id="26" name="Rounded Rectangle 25"/>
          <p:cNvSpPr/>
          <p:nvPr/>
        </p:nvSpPr>
        <p:spPr>
          <a:xfrm>
            <a:off x="562356" y="4050791"/>
            <a:ext cx="2057400" cy="512064"/>
          </a:xfrm>
          <a:prstGeom prst="roundRect">
            <a:avLst>
              <a:gd name="adj" fmla="val 50000"/>
            </a:avLst>
          </a:prstGeom>
          <a:solidFill>
            <a:srgbClr val="FFFFFF"/>
          </a:solidFill>
          <a:ln w="1270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2356" y="4050791"/>
            <a:ext cx="2057400" cy="512064"/>
          </a:xfrm>
          <a:prstGeom prst="rect">
            <a:avLst/>
          </a:prstGeom>
          <a:noFill/>
        </p:spPr>
        <p:txBody>
          <a:bodyPr wrap="square" anchor="ctr" lIns="0" rIns="0" tIns="0" bIns="0">
            <a:noAutofit/>
          </a:bodyPr>
          <a:lstStyle/>
          <a:p>
            <a:pPr algn="ctr"/>
            <a:r>
              <a:rPr sz="1050" b="1" i="0">
                <a:solidFill>
                  <a:srgbClr val="0E2356"/>
                </a:solidFill>
                <a:latin typeface="Outfit"/>
              </a:rPr>
              <a:t>+ Agents IA</a:t>
            </a:r>
          </a:p>
        </p:txBody>
      </p:sp>
      <p:sp>
        <p:nvSpPr>
          <p:cNvPr id="28" name="Rounded Rectangle 27"/>
          <p:cNvSpPr/>
          <p:nvPr/>
        </p:nvSpPr>
        <p:spPr>
          <a:xfrm>
            <a:off x="2711196" y="4050791"/>
            <a:ext cx="5655564" cy="512064"/>
          </a:xfrm>
          <a:prstGeom prst="roundRect">
            <a:avLst>
              <a:gd name="adj" fmla="val 50000"/>
            </a:avLst>
          </a:prstGeom>
          <a:solidFill>
            <a:srgbClr val="FFFFFF"/>
          </a:solidFill>
          <a:ln w="1270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39796" y="4050791"/>
            <a:ext cx="2606040" cy="512064"/>
          </a:xfrm>
          <a:prstGeom prst="rect">
            <a:avLst/>
          </a:prstGeom>
          <a:noFill/>
        </p:spPr>
        <p:txBody>
          <a:bodyPr wrap="square" anchor="ctr" lIns="0" rIns="0" tIns="0" bIns="0">
            <a:noAutofit/>
          </a:bodyPr>
          <a:lstStyle/>
          <a:p>
            <a:pPr algn="l">
              <a:lnSpc>
                <a:spcPct val="115000"/>
              </a:lnSpc>
            </a:pPr>
            <a:r>
              <a:rPr sz="900" b="0" i="0">
                <a:solidFill>
                  <a:srgbClr val="0E2356"/>
                </a:solidFill>
                <a:latin typeface="Outfit"/>
              </a:rPr>
              <a:t>Coéquipier d'équipe ou capacité de la plateforme</a:t>
            </a:r>
          </a:p>
        </p:txBody>
      </p:sp>
      <p:sp>
        <p:nvSpPr>
          <p:cNvPr id="30" name="TextBox 29"/>
          <p:cNvSpPr txBox="1"/>
          <p:nvPr/>
        </p:nvSpPr>
        <p:spPr>
          <a:xfrm>
            <a:off x="5545836" y="4050791"/>
            <a:ext cx="2683764" cy="512064"/>
          </a:xfrm>
          <a:prstGeom prst="rect">
            <a:avLst/>
          </a:prstGeom>
          <a:noFill/>
        </p:spPr>
        <p:txBody>
          <a:bodyPr wrap="square" anchor="ctr" lIns="0" rIns="0" tIns="0" bIns="0">
            <a:noAutofit/>
          </a:bodyPr>
          <a:lstStyle/>
          <a:p>
            <a:pPr algn="l">
              <a:lnSpc>
                <a:spcPct val="115000"/>
              </a:lnSpc>
            </a:pPr>
            <a:r>
              <a:rPr sz="900" b="0" i="0">
                <a:solidFill>
                  <a:srgbClr val="586586"/>
                </a:solidFill>
                <a:latin typeface="Outfit"/>
              </a:rPr>
              <a:t>4e mode d'interaction, la Supervision : mandat écrit, assisté → supervisé → délégué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La démarche</a:t>
            </a:r>
          </a:p>
          <a:p>
            <a:r>
              <a:rPr sz="1050" i="1">
                <a:solidFill>
                  <a:srgbClr val="586586"/>
                </a:solidFill>
                <a:latin typeface="Outfit"/>
              </a:rPr>
              <a:t>Trois temps et une boucle, et les deux fils — les personnes et la technique — qui courent dans chaque phase.</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05</a:t>
            </a:r>
          </a:p>
        </p:txBody>
      </p:sp>
      <p:pic>
        <p:nvPicPr>
          <p:cNvPr id="4" name="Picture 3" descr="canyon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LA DÉMARCHE   ·   </a:t>
            </a:r>
            <a:r>
              <a:rPr b="1" sz="1200">
                <a:solidFill>
                  <a:srgbClr val="0E2356"/>
                </a:solidFill>
                <a:latin typeface="Outfit"/>
              </a:rPr>
              <a:t>Trois temps et une boucle — chaque phase produit son livrable de décision</a:t>
            </a:r>
          </a:p>
        </p:txBody>
      </p:sp>
      <p:sp>
        <p:nvSpPr>
          <p:cNvPr id="3" name="Rectangle 2"/>
          <p:cNvSpPr/>
          <p:nvPr/>
        </p:nvSpPr>
        <p:spPr>
          <a:xfrm>
            <a:off x="928116" y="1369771"/>
            <a:ext cx="7072884" cy="21945"/>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13294" y="1124712"/>
            <a:ext cx="512064" cy="512064"/>
          </a:xfrm>
          <a:prstGeom prst="roundRect">
            <a:avLst>
              <a:gd name="adj" fmla="val 50000"/>
            </a:avLst>
          </a:prstGeom>
          <a:solidFill>
            <a:srgbClr val="0E2356"/>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3294" y="1124712"/>
            <a:ext cx="512064" cy="512064"/>
          </a:xfrm>
          <a:prstGeom prst="rect">
            <a:avLst/>
          </a:prstGeom>
          <a:noFill/>
        </p:spPr>
        <p:txBody>
          <a:bodyPr wrap="square" anchor="ctr" lIns="0" rIns="0" tIns="0" bIns="0">
            <a:noAutofit/>
          </a:bodyPr>
          <a:lstStyle/>
          <a:p>
            <a:pPr algn="ctr"/>
            <a:r>
              <a:rPr sz="1600" b="1" i="0">
                <a:solidFill>
                  <a:srgbClr val="FFFFFF"/>
                </a:solidFill>
                <a:latin typeface="Arial"/>
              </a:rPr>
              <a:t>①</a:t>
            </a:r>
          </a:p>
        </p:txBody>
      </p:sp>
      <p:sp>
        <p:nvSpPr>
          <p:cNvPr id="6" name="TextBox 5"/>
          <p:cNvSpPr txBox="1"/>
          <p:nvPr/>
        </p:nvSpPr>
        <p:spPr>
          <a:xfrm>
            <a:off x="562356" y="1746504"/>
            <a:ext cx="1813941" cy="228600"/>
          </a:xfrm>
          <a:prstGeom prst="rect">
            <a:avLst/>
          </a:prstGeom>
          <a:noFill/>
        </p:spPr>
        <p:txBody>
          <a:bodyPr wrap="square" anchor="t" lIns="0" rIns="0" tIns="0" bIns="0">
            <a:noAutofit/>
          </a:bodyPr>
          <a:lstStyle/>
          <a:p>
            <a:pPr algn="ctr"/>
            <a:r>
              <a:rPr sz="1050" b="1" i="0">
                <a:solidFill>
                  <a:srgbClr val="0E2356"/>
                </a:solidFill>
                <a:latin typeface="Outfit"/>
              </a:rPr>
              <a:t>Assessment flash</a:t>
            </a:r>
          </a:p>
        </p:txBody>
      </p:sp>
      <p:sp>
        <p:nvSpPr>
          <p:cNvPr id="7" name="TextBox 6"/>
          <p:cNvSpPr txBox="1"/>
          <p:nvPr/>
        </p:nvSpPr>
        <p:spPr>
          <a:xfrm>
            <a:off x="562356" y="1984248"/>
            <a:ext cx="1813941" cy="201168"/>
          </a:xfrm>
          <a:prstGeom prst="rect">
            <a:avLst/>
          </a:prstGeom>
          <a:noFill/>
        </p:spPr>
        <p:txBody>
          <a:bodyPr wrap="square" anchor="t" lIns="0" rIns="0" tIns="0" bIns="0">
            <a:noAutofit/>
          </a:bodyPr>
          <a:lstStyle/>
          <a:p>
            <a:pPr algn="ctr"/>
            <a:r>
              <a:rPr sz="850" b="0" i="1">
                <a:solidFill>
                  <a:srgbClr val="586586"/>
                </a:solidFill>
                <a:latin typeface="Outfit"/>
              </a:rPr>
              <a:t>2 semaines</a:t>
            </a:r>
          </a:p>
        </p:txBody>
      </p:sp>
      <p:sp>
        <p:nvSpPr>
          <p:cNvPr id="8" name="TextBox 7"/>
          <p:cNvSpPr txBox="1"/>
          <p:nvPr/>
        </p:nvSpPr>
        <p:spPr>
          <a:xfrm>
            <a:off x="617220" y="2258568"/>
            <a:ext cx="1704213" cy="603503"/>
          </a:xfrm>
          <a:prstGeom prst="rect">
            <a:avLst/>
          </a:prstGeom>
          <a:noFill/>
        </p:spPr>
        <p:txBody>
          <a:bodyPr wrap="square" anchor="t" lIns="0" rIns="0" tIns="0" bIns="0">
            <a:noAutofit/>
          </a:bodyPr>
          <a:lstStyle/>
          <a:p>
            <a:pPr algn="ctr">
              <a:lnSpc>
                <a:spcPct val="120000"/>
              </a:lnSpc>
            </a:pPr>
            <a:r>
              <a:rPr sz="900" b="0" i="0">
                <a:solidFill>
                  <a:srgbClr val="0E2356"/>
                </a:solidFill>
                <a:latin typeface="Outfit"/>
              </a:rPr>
              <a:t>Collecte, diagnostic, conception et restitution.</a:t>
            </a:r>
          </a:p>
        </p:txBody>
      </p:sp>
      <p:sp>
        <p:nvSpPr>
          <p:cNvPr id="9" name="Rounded Rectangle 8"/>
          <p:cNvSpPr/>
          <p:nvPr/>
        </p:nvSpPr>
        <p:spPr>
          <a:xfrm>
            <a:off x="562356" y="2971800"/>
            <a:ext cx="1813941" cy="978407"/>
          </a:xfrm>
          <a:prstGeom prst="roundRect">
            <a:avLst>
              <a:gd name="adj" fmla="val 1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 y="2971800"/>
            <a:ext cx="1594485" cy="978407"/>
          </a:xfrm>
          <a:prstGeom prst="rect">
            <a:avLst/>
          </a:prstGeom>
          <a:noFill/>
        </p:spPr>
        <p:txBody>
          <a:bodyPr wrap="square" anchor="ctr" lIns="0" rIns="0" tIns="0" bIns="0">
            <a:noAutofit/>
          </a:bodyPr>
          <a:lstStyle/>
          <a:p>
            <a:pPr algn="ctr"/>
            <a:r>
              <a:rPr sz="800" b="1" i="0">
                <a:solidFill>
                  <a:srgbClr val="586586"/>
                </a:solidFill>
                <a:latin typeface="Outfit"/>
              </a:rPr>
              <a:t>LIVRABLE-CLÉ</a:t>
            </a:r>
          </a:p>
          <a:p>
            <a:pPr algn="ctr">
              <a:lnSpc>
                <a:spcPct val="115000"/>
              </a:lnSpc>
              <a:spcBef>
                <a:spcPts val="200"/>
              </a:spcBef>
            </a:pPr>
            <a:r>
              <a:rPr sz="900" b="1" i="0">
                <a:solidFill>
                  <a:srgbClr val="0E2356"/>
                </a:solidFill>
                <a:latin typeface="Outfit"/>
              </a:rPr>
              <a:t>Deck exécutif de restitution</a:t>
            </a:r>
          </a:p>
          <a:p>
            <a:pPr algn="ctr">
              <a:spcBef>
                <a:spcPts val="300"/>
              </a:spcBef>
            </a:pPr>
            <a:r>
              <a:rPr sz="800" b="0" i="1">
                <a:solidFill>
                  <a:srgbClr val="586586"/>
                </a:solidFill>
                <a:latin typeface="Outfit"/>
              </a:rPr>
              <a:t>Sponsor · comité de lancement</a:t>
            </a:r>
          </a:p>
        </p:txBody>
      </p:sp>
      <p:sp>
        <p:nvSpPr>
          <p:cNvPr id="11" name="Rounded Rectangle 10"/>
          <p:cNvSpPr/>
          <p:nvPr/>
        </p:nvSpPr>
        <p:spPr>
          <a:xfrm>
            <a:off x="3210115" y="1124712"/>
            <a:ext cx="512064" cy="512064"/>
          </a:xfrm>
          <a:prstGeom prst="roundRect">
            <a:avLst>
              <a:gd name="adj" fmla="val 50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10115" y="1124712"/>
            <a:ext cx="512064" cy="512064"/>
          </a:xfrm>
          <a:prstGeom prst="rect">
            <a:avLst/>
          </a:prstGeom>
          <a:noFill/>
        </p:spPr>
        <p:txBody>
          <a:bodyPr wrap="square" anchor="ctr" lIns="0" rIns="0" tIns="0" bIns="0">
            <a:noAutofit/>
          </a:bodyPr>
          <a:lstStyle/>
          <a:p>
            <a:pPr algn="ctr"/>
            <a:r>
              <a:rPr sz="1600" b="1" i="0">
                <a:solidFill>
                  <a:srgbClr val="0E2356"/>
                </a:solidFill>
                <a:latin typeface="Arial"/>
              </a:rPr>
              <a:t>②</a:t>
            </a:r>
          </a:p>
        </p:txBody>
      </p:sp>
      <p:sp>
        <p:nvSpPr>
          <p:cNvPr id="13" name="TextBox 12"/>
          <p:cNvSpPr txBox="1"/>
          <p:nvPr/>
        </p:nvSpPr>
        <p:spPr>
          <a:xfrm>
            <a:off x="2559177" y="1746504"/>
            <a:ext cx="1813941" cy="228600"/>
          </a:xfrm>
          <a:prstGeom prst="rect">
            <a:avLst/>
          </a:prstGeom>
          <a:noFill/>
        </p:spPr>
        <p:txBody>
          <a:bodyPr wrap="square" anchor="t" lIns="0" rIns="0" tIns="0" bIns="0">
            <a:noAutofit/>
          </a:bodyPr>
          <a:lstStyle/>
          <a:p>
            <a:pPr algn="ctr"/>
            <a:r>
              <a:rPr sz="1050" b="1" i="0">
                <a:solidFill>
                  <a:srgbClr val="0E2356"/>
                </a:solidFill>
                <a:latin typeface="Outfit"/>
              </a:rPr>
              <a:t>Premier déploiement</a:t>
            </a:r>
          </a:p>
        </p:txBody>
      </p:sp>
      <p:sp>
        <p:nvSpPr>
          <p:cNvPr id="14" name="TextBox 13"/>
          <p:cNvSpPr txBox="1"/>
          <p:nvPr/>
        </p:nvSpPr>
        <p:spPr>
          <a:xfrm>
            <a:off x="2559177" y="1984248"/>
            <a:ext cx="1813941" cy="201168"/>
          </a:xfrm>
          <a:prstGeom prst="rect">
            <a:avLst/>
          </a:prstGeom>
          <a:noFill/>
        </p:spPr>
        <p:txBody>
          <a:bodyPr wrap="square" anchor="t" lIns="0" rIns="0" tIns="0" bIns="0">
            <a:noAutofit/>
          </a:bodyPr>
          <a:lstStyle/>
          <a:p>
            <a:pPr algn="ctr"/>
            <a:r>
              <a:rPr sz="850" b="0" i="1">
                <a:solidFill>
                  <a:srgbClr val="586586"/>
                </a:solidFill>
                <a:latin typeface="Outfit"/>
              </a:rPr>
              <a:t>4 à 5 semaines</a:t>
            </a:r>
          </a:p>
        </p:txBody>
      </p:sp>
      <p:sp>
        <p:nvSpPr>
          <p:cNvPr id="15" name="TextBox 14"/>
          <p:cNvSpPr txBox="1"/>
          <p:nvPr/>
        </p:nvSpPr>
        <p:spPr>
          <a:xfrm>
            <a:off x="2614041" y="2258568"/>
            <a:ext cx="1704213" cy="603503"/>
          </a:xfrm>
          <a:prstGeom prst="rect">
            <a:avLst/>
          </a:prstGeom>
          <a:noFill/>
        </p:spPr>
        <p:txBody>
          <a:bodyPr wrap="square" anchor="t" lIns="0" rIns="0" tIns="0" bIns="0">
            <a:noAutofit/>
          </a:bodyPr>
          <a:lstStyle/>
          <a:p>
            <a:pPr algn="ctr">
              <a:lnSpc>
                <a:spcPct val="120000"/>
              </a:lnSpc>
            </a:pPr>
            <a:r>
              <a:rPr sz="900" b="0" i="0">
                <a:solidFill>
                  <a:srgbClr val="0E2356"/>
                </a:solidFill>
                <a:latin typeface="Outfit"/>
              </a:rPr>
              <a:t>1 à 2 équipes pilotes volontaires, mode Coach dominant.</a:t>
            </a:r>
          </a:p>
        </p:txBody>
      </p:sp>
      <p:sp>
        <p:nvSpPr>
          <p:cNvPr id="16" name="Rounded Rectangle 15"/>
          <p:cNvSpPr/>
          <p:nvPr/>
        </p:nvSpPr>
        <p:spPr>
          <a:xfrm>
            <a:off x="2559177" y="2971800"/>
            <a:ext cx="1813941" cy="978407"/>
          </a:xfrm>
          <a:prstGeom prst="roundRect">
            <a:avLst>
              <a:gd name="adj" fmla="val 1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8905" y="2971800"/>
            <a:ext cx="1594485" cy="978407"/>
          </a:xfrm>
          <a:prstGeom prst="rect">
            <a:avLst/>
          </a:prstGeom>
          <a:noFill/>
        </p:spPr>
        <p:txBody>
          <a:bodyPr wrap="square" anchor="ctr" lIns="0" rIns="0" tIns="0" bIns="0">
            <a:noAutofit/>
          </a:bodyPr>
          <a:lstStyle/>
          <a:p>
            <a:pPr algn="ctr"/>
            <a:r>
              <a:rPr sz="800" b="1" i="0">
                <a:solidFill>
                  <a:srgbClr val="586586"/>
                </a:solidFill>
                <a:latin typeface="Outfit"/>
              </a:rPr>
              <a:t>LIVRABLE-CLÉ</a:t>
            </a:r>
          </a:p>
          <a:p>
            <a:pPr algn="ctr">
              <a:lnSpc>
                <a:spcPct val="115000"/>
              </a:lnSpc>
              <a:spcBef>
                <a:spcPts val="200"/>
              </a:spcBef>
            </a:pPr>
            <a:r>
              <a:rPr sz="900" b="1" i="0">
                <a:solidFill>
                  <a:srgbClr val="0E2356"/>
                </a:solidFill>
                <a:latin typeface="Outfit"/>
              </a:rPr>
              <a:t>Deck de plan de déploiement · export markdown</a:t>
            </a:r>
          </a:p>
          <a:p>
            <a:pPr algn="ctr">
              <a:spcBef>
                <a:spcPts val="300"/>
              </a:spcBef>
            </a:pPr>
            <a:r>
              <a:rPr sz="800" b="0" i="1">
                <a:solidFill>
                  <a:srgbClr val="586586"/>
                </a:solidFill>
                <a:latin typeface="Outfit"/>
              </a:rPr>
              <a:t>Équipes pilotes · management</a:t>
            </a:r>
          </a:p>
        </p:txBody>
      </p:sp>
      <p:sp>
        <p:nvSpPr>
          <p:cNvPr id="18" name="Rounded Rectangle 17"/>
          <p:cNvSpPr/>
          <p:nvPr/>
        </p:nvSpPr>
        <p:spPr>
          <a:xfrm>
            <a:off x="5206936" y="1124712"/>
            <a:ext cx="512064" cy="512064"/>
          </a:xfrm>
          <a:prstGeom prst="roundRect">
            <a:avLst>
              <a:gd name="adj" fmla="val 50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6936" y="1124712"/>
            <a:ext cx="512064" cy="512064"/>
          </a:xfrm>
          <a:prstGeom prst="rect">
            <a:avLst/>
          </a:prstGeom>
          <a:noFill/>
        </p:spPr>
        <p:txBody>
          <a:bodyPr wrap="square" anchor="ctr" lIns="0" rIns="0" tIns="0" bIns="0">
            <a:noAutofit/>
          </a:bodyPr>
          <a:lstStyle/>
          <a:p>
            <a:pPr algn="ctr"/>
            <a:r>
              <a:rPr sz="1600" b="1" i="0">
                <a:solidFill>
                  <a:srgbClr val="0E2356"/>
                </a:solidFill>
                <a:latin typeface="Arial"/>
              </a:rPr>
              <a:t>③</a:t>
            </a:r>
          </a:p>
        </p:txBody>
      </p:sp>
      <p:sp>
        <p:nvSpPr>
          <p:cNvPr id="20" name="TextBox 19"/>
          <p:cNvSpPr txBox="1"/>
          <p:nvPr/>
        </p:nvSpPr>
        <p:spPr>
          <a:xfrm>
            <a:off x="4555998" y="1746504"/>
            <a:ext cx="1813941" cy="228600"/>
          </a:xfrm>
          <a:prstGeom prst="rect">
            <a:avLst/>
          </a:prstGeom>
          <a:noFill/>
        </p:spPr>
        <p:txBody>
          <a:bodyPr wrap="square" anchor="t" lIns="0" rIns="0" tIns="0" bIns="0">
            <a:noAutofit/>
          </a:bodyPr>
          <a:lstStyle/>
          <a:p>
            <a:pPr algn="ctr"/>
            <a:r>
              <a:rPr sz="1050" b="1" i="0">
                <a:solidFill>
                  <a:srgbClr val="0E2356"/>
                </a:solidFill>
                <a:latin typeface="Outfit"/>
              </a:rPr>
              <a:t>Implémentation itérative</a:t>
            </a:r>
          </a:p>
        </p:txBody>
      </p:sp>
      <p:sp>
        <p:nvSpPr>
          <p:cNvPr id="21" name="TextBox 20"/>
          <p:cNvSpPr txBox="1"/>
          <p:nvPr/>
        </p:nvSpPr>
        <p:spPr>
          <a:xfrm>
            <a:off x="4555998" y="1984248"/>
            <a:ext cx="1813941" cy="201168"/>
          </a:xfrm>
          <a:prstGeom prst="rect">
            <a:avLst/>
          </a:prstGeom>
          <a:noFill/>
        </p:spPr>
        <p:txBody>
          <a:bodyPr wrap="square" anchor="t" lIns="0" rIns="0" tIns="0" bIns="0">
            <a:noAutofit/>
          </a:bodyPr>
          <a:lstStyle/>
          <a:p>
            <a:pPr algn="ctr"/>
            <a:r>
              <a:rPr sz="850" b="0" i="1">
                <a:solidFill>
                  <a:srgbClr val="586586"/>
                </a:solidFill>
                <a:latin typeface="Outfit"/>
              </a:rPr>
              <a:t>jusqu'à T+6-12 mois</a:t>
            </a:r>
          </a:p>
        </p:txBody>
      </p:sp>
      <p:sp>
        <p:nvSpPr>
          <p:cNvPr id="22" name="TextBox 21"/>
          <p:cNvSpPr txBox="1"/>
          <p:nvPr/>
        </p:nvSpPr>
        <p:spPr>
          <a:xfrm>
            <a:off x="4610862" y="2258568"/>
            <a:ext cx="1704213" cy="603503"/>
          </a:xfrm>
          <a:prstGeom prst="rect">
            <a:avLst/>
          </a:prstGeom>
          <a:noFill/>
        </p:spPr>
        <p:txBody>
          <a:bodyPr wrap="square" anchor="t" lIns="0" rIns="0" tIns="0" bIns="0">
            <a:noAutofit/>
          </a:bodyPr>
          <a:lstStyle/>
          <a:p>
            <a:pPr algn="ctr">
              <a:lnSpc>
                <a:spcPct val="120000"/>
              </a:lnSpc>
            </a:pPr>
            <a:r>
              <a:rPr sz="900" b="0" i="0">
                <a:solidFill>
                  <a:srgbClr val="0E2356"/>
                </a:solidFill>
                <a:latin typeface="Outfit"/>
              </a:rPr>
              <a:t>Généralisation équipe par équipe, du mode Coach au mode Délégué.</a:t>
            </a:r>
          </a:p>
        </p:txBody>
      </p:sp>
      <p:sp>
        <p:nvSpPr>
          <p:cNvPr id="23" name="Rounded Rectangle 22"/>
          <p:cNvSpPr/>
          <p:nvPr/>
        </p:nvSpPr>
        <p:spPr>
          <a:xfrm>
            <a:off x="4555998" y="2971800"/>
            <a:ext cx="1813941" cy="978407"/>
          </a:xfrm>
          <a:prstGeom prst="roundRect">
            <a:avLst>
              <a:gd name="adj" fmla="val 1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5726" y="2971800"/>
            <a:ext cx="1594485" cy="978407"/>
          </a:xfrm>
          <a:prstGeom prst="rect">
            <a:avLst/>
          </a:prstGeom>
          <a:noFill/>
        </p:spPr>
        <p:txBody>
          <a:bodyPr wrap="square" anchor="ctr" lIns="0" rIns="0" tIns="0" bIns="0">
            <a:noAutofit/>
          </a:bodyPr>
          <a:lstStyle/>
          <a:p>
            <a:pPr algn="ctr"/>
            <a:r>
              <a:rPr sz="800" b="1" i="0">
                <a:solidFill>
                  <a:srgbClr val="586586"/>
                </a:solidFill>
                <a:latin typeface="Outfit"/>
              </a:rPr>
              <a:t>LIVRABLE-CLÉ</a:t>
            </a:r>
          </a:p>
          <a:p>
            <a:pPr algn="ctr">
              <a:lnSpc>
                <a:spcPct val="115000"/>
              </a:lnSpc>
              <a:spcBef>
                <a:spcPts val="200"/>
              </a:spcBef>
            </a:pPr>
            <a:r>
              <a:rPr sz="900" b="1" i="0">
                <a:solidFill>
                  <a:srgbClr val="0E2356"/>
                </a:solidFill>
                <a:latin typeface="Outfit"/>
              </a:rPr>
              <a:t>Deck de comité de pilotage (périodique)</a:t>
            </a:r>
          </a:p>
          <a:p>
            <a:pPr algn="ctr">
              <a:spcBef>
                <a:spcPts val="300"/>
              </a:spcBef>
            </a:pPr>
            <a:r>
              <a:rPr sz="800" b="0" i="1">
                <a:solidFill>
                  <a:srgbClr val="586586"/>
                </a:solidFill>
                <a:latin typeface="Outfit"/>
              </a:rPr>
              <a:t>Instance de comitologie</a:t>
            </a:r>
          </a:p>
        </p:txBody>
      </p:sp>
      <p:sp>
        <p:nvSpPr>
          <p:cNvPr id="25" name="Rounded Rectangle 24"/>
          <p:cNvSpPr/>
          <p:nvPr/>
        </p:nvSpPr>
        <p:spPr>
          <a:xfrm>
            <a:off x="7203757" y="1124712"/>
            <a:ext cx="512064" cy="512064"/>
          </a:xfrm>
          <a:prstGeom prst="roundRect">
            <a:avLst>
              <a:gd name="adj" fmla="val 50000"/>
            </a:avLst>
          </a:prstGeom>
          <a:solidFill>
            <a:srgbClr val="FFFFFF"/>
          </a:solidFill>
          <a:ln w="1905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03757" y="1124712"/>
            <a:ext cx="512064" cy="512064"/>
          </a:xfrm>
          <a:prstGeom prst="rect">
            <a:avLst/>
          </a:prstGeom>
          <a:noFill/>
        </p:spPr>
        <p:txBody>
          <a:bodyPr wrap="square" anchor="ctr" lIns="0" rIns="0" tIns="0" bIns="0">
            <a:noAutofit/>
          </a:bodyPr>
          <a:lstStyle/>
          <a:p>
            <a:pPr algn="ctr"/>
            <a:r>
              <a:rPr sz="1600" b="0" i="0">
                <a:solidFill>
                  <a:srgbClr val="0E2356"/>
                </a:solidFill>
                <a:latin typeface="Arial"/>
              </a:rPr>
              <a:t>⟲</a:t>
            </a:r>
          </a:p>
        </p:txBody>
      </p:sp>
      <p:sp>
        <p:nvSpPr>
          <p:cNvPr id="27" name="TextBox 26"/>
          <p:cNvSpPr txBox="1"/>
          <p:nvPr/>
        </p:nvSpPr>
        <p:spPr>
          <a:xfrm>
            <a:off x="6552819" y="1746504"/>
            <a:ext cx="1813941" cy="228600"/>
          </a:xfrm>
          <a:prstGeom prst="rect">
            <a:avLst/>
          </a:prstGeom>
          <a:noFill/>
        </p:spPr>
        <p:txBody>
          <a:bodyPr wrap="square" anchor="t" lIns="0" rIns="0" tIns="0" bIns="0">
            <a:noAutofit/>
          </a:bodyPr>
          <a:lstStyle/>
          <a:p>
            <a:pPr algn="ctr"/>
            <a:r>
              <a:rPr sz="1050" b="1" i="0">
                <a:solidFill>
                  <a:srgbClr val="0E2356"/>
                </a:solidFill>
                <a:latin typeface="Outfit"/>
              </a:rPr>
              <a:t>Boucle de réévaluation</a:t>
            </a:r>
          </a:p>
        </p:txBody>
      </p:sp>
      <p:sp>
        <p:nvSpPr>
          <p:cNvPr id="28" name="TextBox 27"/>
          <p:cNvSpPr txBox="1"/>
          <p:nvPr/>
        </p:nvSpPr>
        <p:spPr>
          <a:xfrm>
            <a:off x="6552819" y="1984248"/>
            <a:ext cx="1813941" cy="201168"/>
          </a:xfrm>
          <a:prstGeom prst="rect">
            <a:avLst/>
          </a:prstGeom>
          <a:noFill/>
        </p:spPr>
        <p:txBody>
          <a:bodyPr wrap="square" anchor="t" lIns="0" rIns="0" tIns="0" bIns="0">
            <a:noAutofit/>
          </a:bodyPr>
          <a:lstStyle/>
          <a:p>
            <a:pPr algn="ctr"/>
            <a:r>
              <a:rPr sz="850" b="0" i="1">
                <a:solidFill>
                  <a:srgbClr val="586586"/>
                </a:solidFill>
                <a:latin typeface="Outfit"/>
              </a:rPr>
              <a:t>T+6-12 mois</a:t>
            </a:r>
          </a:p>
        </p:txBody>
      </p:sp>
      <p:sp>
        <p:nvSpPr>
          <p:cNvPr id="29" name="TextBox 28"/>
          <p:cNvSpPr txBox="1"/>
          <p:nvPr/>
        </p:nvSpPr>
        <p:spPr>
          <a:xfrm>
            <a:off x="6607683" y="2258568"/>
            <a:ext cx="1704213" cy="603503"/>
          </a:xfrm>
          <a:prstGeom prst="rect">
            <a:avLst/>
          </a:prstGeom>
          <a:noFill/>
        </p:spPr>
        <p:txBody>
          <a:bodyPr wrap="square" anchor="t" lIns="0" rIns="0" tIns="0" bIns="0">
            <a:noAutofit/>
          </a:bodyPr>
          <a:lstStyle/>
          <a:p>
            <a:pPr algn="ctr">
              <a:lnSpc>
                <a:spcPct val="120000"/>
              </a:lnSpc>
            </a:pPr>
            <a:r>
              <a:rPr sz="900" b="0" i="0">
                <a:solidFill>
                  <a:srgbClr val="0E2356"/>
                </a:solidFill>
                <a:latin typeface="Outfit"/>
              </a:rPr>
              <a:t>La réévaluation reboucle vers la collecte et alimente la bibliothèque de REX.</a:t>
            </a:r>
          </a:p>
        </p:txBody>
      </p:sp>
      <p:sp>
        <p:nvSpPr>
          <p:cNvPr id="30" name="Rounded Rectangle 29"/>
          <p:cNvSpPr/>
          <p:nvPr/>
        </p:nvSpPr>
        <p:spPr>
          <a:xfrm>
            <a:off x="6552819" y="2971800"/>
            <a:ext cx="1813941" cy="978407"/>
          </a:xfrm>
          <a:prstGeom prst="roundRect">
            <a:avLst>
              <a:gd name="adj" fmla="val 1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2547" y="2971800"/>
            <a:ext cx="1594485" cy="978407"/>
          </a:xfrm>
          <a:prstGeom prst="rect">
            <a:avLst/>
          </a:prstGeom>
          <a:noFill/>
        </p:spPr>
        <p:txBody>
          <a:bodyPr wrap="square" anchor="ctr" lIns="0" rIns="0" tIns="0" bIns="0">
            <a:noAutofit/>
          </a:bodyPr>
          <a:lstStyle/>
          <a:p>
            <a:pPr algn="ctr"/>
            <a:r>
              <a:rPr sz="800" b="1" i="0">
                <a:solidFill>
                  <a:srgbClr val="586586"/>
                </a:solidFill>
                <a:latin typeface="Outfit"/>
              </a:rPr>
              <a:t>LIVRABLE-CLÉ</a:t>
            </a:r>
          </a:p>
          <a:p>
            <a:pPr algn="ctr">
              <a:lnSpc>
                <a:spcPct val="115000"/>
              </a:lnSpc>
              <a:spcBef>
                <a:spcPts val="200"/>
              </a:spcBef>
            </a:pPr>
            <a:r>
              <a:rPr sz="900" b="1" i="0">
                <a:solidFill>
                  <a:srgbClr val="0E2356"/>
                </a:solidFill>
                <a:latin typeface="Outfit"/>
              </a:rPr>
              <a:t>Deck de bilan · markdown amendé</a:t>
            </a:r>
          </a:p>
          <a:p>
            <a:pPr algn="ctr">
              <a:spcBef>
                <a:spcPts val="300"/>
              </a:spcBef>
            </a:pPr>
            <a:r>
              <a:rPr sz="800" b="0" i="1">
                <a:solidFill>
                  <a:srgbClr val="586586"/>
                </a:solidFill>
                <a:latin typeface="Outfit"/>
              </a:rPr>
              <a:t>Sponsor</a:t>
            </a:r>
          </a:p>
        </p:txBody>
      </p:sp>
      <p:sp>
        <p:nvSpPr>
          <p:cNvPr id="32" name="Rounded Rectangle 31"/>
          <p:cNvSpPr/>
          <p:nvPr/>
        </p:nvSpPr>
        <p:spPr>
          <a:xfrm>
            <a:off x="562356" y="4337304"/>
            <a:ext cx="7804404" cy="64617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 y="4428744"/>
            <a:ext cx="45720" cy="463295"/>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947" y="4355591"/>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35" name="TextBox 34"/>
          <p:cNvSpPr txBox="1"/>
          <p:nvPr/>
        </p:nvSpPr>
        <p:spPr>
          <a:xfrm>
            <a:off x="1074420" y="4337304"/>
            <a:ext cx="7109460" cy="646176"/>
          </a:xfrm>
          <a:prstGeom prst="rect">
            <a:avLst/>
          </a:prstGeom>
          <a:noFill/>
        </p:spPr>
        <p:txBody>
          <a:bodyPr wrap="square" anchor="ctr" lIns="0" rIns="0" tIns="0" bIns="0">
            <a:spAutoFit/>
          </a:bodyPr>
          <a:lstStyle/>
          <a:p>
            <a:pPr algn="ctr"/>
            <a:r>
              <a:rPr sz="1100" b="1" i="0">
                <a:solidFill>
                  <a:srgbClr val="FFFFFF"/>
                </a:solidFill>
                <a:latin typeface="Outfit"/>
              </a:rPr>
              <a:t>Quatre livrables-clés, quatre profils d'un même générateur modulaire — pas quatre outils distincts.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LA DÉMARCHE   ·   </a:t>
            </a:r>
            <a:r>
              <a:rPr b="1" sz="1200">
                <a:solidFill>
                  <a:srgbClr val="0E2356"/>
                </a:solidFill>
                <a:latin typeface="Outfit"/>
              </a:rPr>
              <a:t>Deux fils courent dans les mêmes phases : les personnes et la technique</a:t>
            </a:r>
          </a:p>
        </p:txBody>
      </p:sp>
      <p:sp>
        <p:nvSpPr>
          <p:cNvPr id="3" name="Rounded Rectangle 2"/>
          <p:cNvSpPr/>
          <p:nvPr/>
        </p:nvSpPr>
        <p:spPr>
          <a:xfrm>
            <a:off x="562356" y="1069848"/>
            <a:ext cx="960120" cy="512064"/>
          </a:xfrm>
          <a:prstGeom prst="roundRect">
            <a:avLst>
              <a:gd name="adj" fmla="val 12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2356" y="1069848"/>
            <a:ext cx="960120" cy="512064"/>
          </a:xfrm>
          <a:prstGeom prst="rect">
            <a:avLst/>
          </a:prstGeom>
          <a:noFill/>
        </p:spPr>
        <p:txBody>
          <a:bodyPr wrap="square" anchor="ctr" lIns="0" rIns="0" tIns="0" bIns="0">
            <a:noAutofit/>
          </a:bodyPr>
          <a:lstStyle/>
          <a:p>
            <a:pPr algn="ctr"/>
            <a:r>
              <a:rPr sz="1700" b="1" i="0">
                <a:solidFill>
                  <a:srgbClr val="FFFFFF"/>
                </a:solidFill>
                <a:latin typeface="Outfit"/>
              </a:rPr>
              <a:t>70 %</a:t>
            </a:r>
          </a:p>
        </p:txBody>
      </p:sp>
      <p:sp>
        <p:nvSpPr>
          <p:cNvPr id="5" name="TextBox 4"/>
          <p:cNvSpPr txBox="1"/>
          <p:nvPr/>
        </p:nvSpPr>
        <p:spPr>
          <a:xfrm>
            <a:off x="1687068" y="1069848"/>
            <a:ext cx="6679692" cy="512064"/>
          </a:xfrm>
          <a:prstGeom prst="rect">
            <a:avLst/>
          </a:prstGeom>
          <a:noFill/>
        </p:spPr>
        <p:txBody>
          <a:bodyPr wrap="square" anchor="ctr" lIns="0" rIns="0" tIns="0" bIns="0">
            <a:noAutofit/>
          </a:bodyPr>
          <a:lstStyle/>
          <a:p>
            <a:pPr algn="l">
              <a:lnSpc>
                <a:spcPct val="115000"/>
              </a:lnSpc>
            </a:pPr>
            <a:r>
              <a:rPr sz="800" b="1" i="0">
                <a:solidFill>
                  <a:srgbClr val="0E2356"/>
                </a:solidFill>
                <a:latin typeface="Outfit"/>
              </a:rPr>
              <a:t>des transformations sont inachevées ou échouent parce que les facteurs humains et culturels sont mal pris en compte (Kotter, Harvard Business Review).</a:t>
            </a:r>
          </a:p>
          <a:p>
            <a:pPr algn="l">
              <a:lnSpc>
                <a:spcPct val="115000"/>
              </a:lnSpc>
              <a:spcBef>
                <a:spcPts val="300"/>
              </a:spcBef>
            </a:pPr>
            <a:r>
              <a:rPr sz="800" b="0" i="1">
                <a:solidFill>
                  <a:srgbClr val="586586"/>
                </a:solidFill>
                <a:latin typeface="Outfit"/>
              </a:rPr>
              <a:t>Aucun des deux n'est un stream séparé : ce sont deux fils DANS les phases ①②③⟲ de la trajectoire, menés en parallèle.</a:t>
            </a:r>
          </a:p>
        </p:txBody>
      </p:sp>
      <p:sp>
        <p:nvSpPr>
          <p:cNvPr id="6" name="Rounded Rectangle 5"/>
          <p:cNvSpPr/>
          <p:nvPr/>
        </p:nvSpPr>
        <p:spPr>
          <a:xfrm>
            <a:off x="562356" y="2148840"/>
            <a:ext cx="7804404" cy="2221992"/>
          </a:xfrm>
          <a:prstGeom prst="roundRect">
            <a:avLst>
              <a:gd name="adj" fmla="val 6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1964" y="1956816"/>
            <a:ext cx="384048" cy="384048"/>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01964" y="1956816"/>
            <a:ext cx="384048" cy="384048"/>
          </a:xfrm>
          <a:prstGeom prst="rect">
            <a:avLst/>
          </a:prstGeom>
          <a:noFill/>
        </p:spPr>
        <p:txBody>
          <a:bodyPr wrap="square" anchor="ctr" lIns="0" rIns="0" tIns="0" bIns="0">
            <a:noAutofit/>
          </a:bodyPr>
          <a:lstStyle/>
          <a:p>
            <a:pPr algn="ctr"/>
            <a:r>
              <a:rPr sz="1200" b="1" i="0">
                <a:solidFill>
                  <a:srgbClr val="FFFFFF"/>
                </a:solidFill>
                <a:latin typeface="Arial"/>
              </a:rPr>
              <a:t>①</a:t>
            </a:r>
          </a:p>
        </p:txBody>
      </p:sp>
      <p:sp>
        <p:nvSpPr>
          <p:cNvPr id="9" name="TextBox 8"/>
          <p:cNvSpPr txBox="1"/>
          <p:nvPr/>
        </p:nvSpPr>
        <p:spPr>
          <a:xfrm>
            <a:off x="1440180" y="2432304"/>
            <a:ext cx="1507617" cy="182880"/>
          </a:xfrm>
          <a:prstGeom prst="rect">
            <a:avLst/>
          </a:prstGeom>
          <a:noFill/>
        </p:spPr>
        <p:txBody>
          <a:bodyPr wrap="square" anchor="t" lIns="0" rIns="0" tIns="0" bIns="0">
            <a:noAutofit/>
          </a:bodyPr>
          <a:lstStyle/>
          <a:p>
            <a:pPr algn="ctr"/>
            <a:r>
              <a:rPr sz="800" b="1" i="0">
                <a:solidFill>
                  <a:srgbClr val="586586"/>
                </a:solidFill>
                <a:latin typeface="Outfit"/>
              </a:rPr>
              <a:t>ASSESSMENT FLASH</a:t>
            </a:r>
          </a:p>
        </p:txBody>
      </p:sp>
      <p:sp>
        <p:nvSpPr>
          <p:cNvPr id="10" name="Rectangle 9"/>
          <p:cNvSpPr/>
          <p:nvPr/>
        </p:nvSpPr>
        <p:spPr>
          <a:xfrm>
            <a:off x="3075813" y="2258568"/>
            <a:ext cx="10972" cy="2002536"/>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65613" y="1956816"/>
            <a:ext cx="384048" cy="384048"/>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5613" y="1956816"/>
            <a:ext cx="384048" cy="384048"/>
          </a:xfrm>
          <a:prstGeom prst="rect">
            <a:avLst/>
          </a:prstGeom>
          <a:noFill/>
        </p:spPr>
        <p:txBody>
          <a:bodyPr wrap="square" anchor="ctr" lIns="0" rIns="0" tIns="0" bIns="0">
            <a:noAutofit/>
          </a:bodyPr>
          <a:lstStyle/>
          <a:p>
            <a:pPr algn="ctr"/>
            <a:r>
              <a:rPr sz="1200" b="1" i="0">
                <a:solidFill>
                  <a:srgbClr val="FFFFFF"/>
                </a:solidFill>
                <a:latin typeface="Arial"/>
              </a:rPr>
              <a:t>②</a:t>
            </a:r>
          </a:p>
        </p:txBody>
      </p:sp>
      <p:sp>
        <p:nvSpPr>
          <p:cNvPr id="13" name="TextBox 12"/>
          <p:cNvSpPr txBox="1"/>
          <p:nvPr/>
        </p:nvSpPr>
        <p:spPr>
          <a:xfrm>
            <a:off x="3203829" y="2432304"/>
            <a:ext cx="1507617" cy="182880"/>
          </a:xfrm>
          <a:prstGeom prst="rect">
            <a:avLst/>
          </a:prstGeom>
          <a:noFill/>
        </p:spPr>
        <p:txBody>
          <a:bodyPr wrap="square" anchor="t" lIns="0" rIns="0" tIns="0" bIns="0">
            <a:noAutofit/>
          </a:bodyPr>
          <a:lstStyle/>
          <a:p>
            <a:pPr algn="ctr"/>
            <a:r>
              <a:rPr sz="800" b="1" i="0">
                <a:solidFill>
                  <a:srgbClr val="586586"/>
                </a:solidFill>
                <a:latin typeface="Outfit"/>
              </a:rPr>
              <a:t>PREMIER DÉPLOIEMENT</a:t>
            </a:r>
          </a:p>
        </p:txBody>
      </p:sp>
      <p:sp>
        <p:nvSpPr>
          <p:cNvPr id="14" name="Rectangle 13"/>
          <p:cNvSpPr/>
          <p:nvPr/>
        </p:nvSpPr>
        <p:spPr>
          <a:xfrm>
            <a:off x="4839462" y="2258568"/>
            <a:ext cx="10972" cy="2002536"/>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529262" y="1956816"/>
            <a:ext cx="384048" cy="384048"/>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29262" y="1956816"/>
            <a:ext cx="384048" cy="384048"/>
          </a:xfrm>
          <a:prstGeom prst="rect">
            <a:avLst/>
          </a:prstGeom>
          <a:noFill/>
        </p:spPr>
        <p:txBody>
          <a:bodyPr wrap="square" anchor="ctr" lIns="0" rIns="0" tIns="0" bIns="0">
            <a:noAutofit/>
          </a:bodyPr>
          <a:lstStyle/>
          <a:p>
            <a:pPr algn="ctr"/>
            <a:r>
              <a:rPr sz="1200" b="1" i="0">
                <a:solidFill>
                  <a:srgbClr val="FFFFFF"/>
                </a:solidFill>
                <a:latin typeface="Arial"/>
              </a:rPr>
              <a:t>③</a:t>
            </a:r>
          </a:p>
        </p:txBody>
      </p:sp>
      <p:sp>
        <p:nvSpPr>
          <p:cNvPr id="17" name="TextBox 16"/>
          <p:cNvSpPr txBox="1"/>
          <p:nvPr/>
        </p:nvSpPr>
        <p:spPr>
          <a:xfrm>
            <a:off x="4967478" y="2432304"/>
            <a:ext cx="1507617" cy="182880"/>
          </a:xfrm>
          <a:prstGeom prst="rect">
            <a:avLst/>
          </a:prstGeom>
          <a:noFill/>
        </p:spPr>
        <p:txBody>
          <a:bodyPr wrap="square" anchor="t" lIns="0" rIns="0" tIns="0" bIns="0">
            <a:noAutofit/>
          </a:bodyPr>
          <a:lstStyle/>
          <a:p>
            <a:pPr algn="ctr"/>
            <a:r>
              <a:rPr sz="800" b="1" i="0">
                <a:solidFill>
                  <a:srgbClr val="586586"/>
                </a:solidFill>
                <a:latin typeface="Outfit"/>
              </a:rPr>
              <a:t>IMPLÉMENTATION ITÉRATIVE</a:t>
            </a:r>
          </a:p>
        </p:txBody>
      </p:sp>
      <p:sp>
        <p:nvSpPr>
          <p:cNvPr id="18" name="Rectangle 17"/>
          <p:cNvSpPr/>
          <p:nvPr/>
        </p:nvSpPr>
        <p:spPr>
          <a:xfrm>
            <a:off x="6603111" y="2258568"/>
            <a:ext cx="10972" cy="2002536"/>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92911" y="1956816"/>
            <a:ext cx="384048" cy="384048"/>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92911" y="1956816"/>
            <a:ext cx="384048" cy="384048"/>
          </a:xfrm>
          <a:prstGeom prst="rect">
            <a:avLst/>
          </a:prstGeom>
          <a:noFill/>
        </p:spPr>
        <p:txBody>
          <a:bodyPr wrap="square" anchor="ctr" lIns="0" rIns="0" tIns="0" bIns="0">
            <a:noAutofit/>
          </a:bodyPr>
          <a:lstStyle/>
          <a:p>
            <a:pPr algn="ctr"/>
            <a:r>
              <a:rPr sz="1200" b="0" i="0">
                <a:solidFill>
                  <a:srgbClr val="FFFFFF"/>
                </a:solidFill>
                <a:latin typeface="Arial"/>
              </a:rPr>
              <a:t>⟲</a:t>
            </a:r>
          </a:p>
        </p:txBody>
      </p:sp>
      <p:sp>
        <p:nvSpPr>
          <p:cNvPr id="21" name="TextBox 20"/>
          <p:cNvSpPr txBox="1"/>
          <p:nvPr/>
        </p:nvSpPr>
        <p:spPr>
          <a:xfrm>
            <a:off x="6731126" y="2432304"/>
            <a:ext cx="1507617" cy="182880"/>
          </a:xfrm>
          <a:prstGeom prst="rect">
            <a:avLst/>
          </a:prstGeom>
          <a:noFill/>
        </p:spPr>
        <p:txBody>
          <a:bodyPr wrap="square" anchor="t" lIns="0" rIns="0" tIns="0" bIns="0">
            <a:noAutofit/>
          </a:bodyPr>
          <a:lstStyle/>
          <a:p>
            <a:pPr algn="ctr"/>
            <a:r>
              <a:rPr sz="800" b="1" i="0">
                <a:solidFill>
                  <a:srgbClr val="586586"/>
                </a:solidFill>
                <a:latin typeface="Outfit"/>
              </a:rPr>
              <a:t>BOUCLE DE RÉÉVALUATION</a:t>
            </a:r>
          </a:p>
        </p:txBody>
      </p:sp>
      <p:sp>
        <p:nvSpPr>
          <p:cNvPr id="22" name="Rounded Rectangle 21"/>
          <p:cNvSpPr/>
          <p:nvPr/>
        </p:nvSpPr>
        <p:spPr>
          <a:xfrm>
            <a:off x="617220" y="2578608"/>
            <a:ext cx="7694676" cy="982472"/>
          </a:xfrm>
          <a:prstGeom prst="roundRect">
            <a:avLst>
              <a:gd name="adj" fmla="val 6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 y="2578608"/>
            <a:ext cx="621792" cy="982472"/>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LES PERSONNES</a:t>
            </a:r>
          </a:p>
        </p:txBody>
      </p:sp>
      <p:sp>
        <p:nvSpPr>
          <p:cNvPr id="24" name="TextBox 23"/>
          <p:cNvSpPr txBox="1"/>
          <p:nvPr/>
        </p:nvSpPr>
        <p:spPr>
          <a:xfrm>
            <a:off x="1440180" y="2615184"/>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Engager</a:t>
            </a:r>
          </a:p>
        </p:txBody>
      </p:sp>
      <p:sp>
        <p:nvSpPr>
          <p:cNvPr id="25" name="TextBox 24"/>
          <p:cNvSpPr txBox="1"/>
          <p:nvPr/>
        </p:nvSpPr>
        <p:spPr>
          <a:xfrm>
            <a:off x="1440180" y="2852928"/>
            <a:ext cx="1507617" cy="671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L'engagement du sponsor se construit dès l'intake ; la restitution revient aux interviewés, pas au seul sponsor.</a:t>
            </a:r>
          </a:p>
        </p:txBody>
      </p:sp>
      <p:sp>
        <p:nvSpPr>
          <p:cNvPr id="26" name="TextBox 25"/>
          <p:cNvSpPr txBox="1"/>
          <p:nvPr/>
        </p:nvSpPr>
        <p:spPr>
          <a:xfrm>
            <a:off x="3203829" y="2615184"/>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Expérimenter</a:t>
            </a:r>
          </a:p>
        </p:txBody>
      </p:sp>
      <p:sp>
        <p:nvSpPr>
          <p:cNvPr id="27" name="TextBox 26"/>
          <p:cNvSpPr txBox="1"/>
          <p:nvPr/>
        </p:nvSpPr>
        <p:spPr>
          <a:xfrm>
            <a:off x="3203829" y="2852928"/>
            <a:ext cx="1507617" cy="671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Équipes pilotes volontaires, jamais désignées ; formation sur les cas réels — « pas de formation sans coaching ».</a:t>
            </a:r>
          </a:p>
        </p:txBody>
      </p:sp>
      <p:sp>
        <p:nvSpPr>
          <p:cNvPr id="28" name="TextBox 27"/>
          <p:cNvSpPr txBox="1"/>
          <p:nvPr/>
        </p:nvSpPr>
        <p:spPr>
          <a:xfrm>
            <a:off x="4967478" y="2615184"/>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Outiller &amp; relayer</a:t>
            </a:r>
          </a:p>
        </p:txBody>
      </p:sp>
      <p:sp>
        <p:nvSpPr>
          <p:cNvPr id="29" name="TextBox 28"/>
          <p:cNvSpPr txBox="1"/>
          <p:nvPr/>
        </p:nvSpPr>
        <p:spPr>
          <a:xfrm>
            <a:off x="4967478" y="2852928"/>
            <a:ext cx="1507617" cy="671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Les résistances sont un signal ; relais internes formés — le consultant se rend dispensable.</a:t>
            </a:r>
          </a:p>
        </p:txBody>
      </p:sp>
      <p:sp>
        <p:nvSpPr>
          <p:cNvPr id="30" name="TextBox 29"/>
          <p:cNvSpPr txBox="1"/>
          <p:nvPr/>
        </p:nvSpPr>
        <p:spPr>
          <a:xfrm>
            <a:off x="6731126" y="2615184"/>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Mesurer</a:t>
            </a:r>
          </a:p>
        </p:txBody>
      </p:sp>
      <p:sp>
        <p:nvSpPr>
          <p:cNvPr id="31" name="TextBox 30"/>
          <p:cNvSpPr txBox="1"/>
          <p:nvPr/>
        </p:nvSpPr>
        <p:spPr>
          <a:xfrm>
            <a:off x="6731126" y="2852928"/>
            <a:ext cx="1507617" cy="671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Satisfaction et adhésion au même instrument qu'à T0 — le delta humain à côté du delta de maturité.</a:t>
            </a:r>
          </a:p>
        </p:txBody>
      </p:sp>
      <p:sp>
        <p:nvSpPr>
          <p:cNvPr id="32" name="TextBox 31"/>
          <p:cNvSpPr txBox="1"/>
          <p:nvPr/>
        </p:nvSpPr>
        <p:spPr>
          <a:xfrm>
            <a:off x="653796" y="3561080"/>
            <a:ext cx="621792" cy="855472"/>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LA TECHNIQUE</a:t>
            </a:r>
          </a:p>
        </p:txBody>
      </p:sp>
      <p:sp>
        <p:nvSpPr>
          <p:cNvPr id="33" name="TextBox 32"/>
          <p:cNvSpPr txBox="1"/>
          <p:nvPr/>
        </p:nvSpPr>
        <p:spPr>
          <a:xfrm>
            <a:off x="1440180" y="3597656"/>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Cartographier</a:t>
            </a:r>
          </a:p>
        </p:txBody>
      </p:sp>
      <p:sp>
        <p:nvSpPr>
          <p:cNvPr id="34" name="TextBox 33"/>
          <p:cNvSpPr txBox="1"/>
          <p:nvPr/>
        </p:nvSpPr>
        <p:spPr>
          <a:xfrm>
            <a:off x="1440180" y="3835400"/>
            <a:ext cx="1507617" cy="544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Dette, plateformes vieillissantes, dépendances : une base factuelle.</a:t>
            </a:r>
          </a:p>
        </p:txBody>
      </p:sp>
      <p:sp>
        <p:nvSpPr>
          <p:cNvPr id="35" name="TextBox 34"/>
          <p:cNvSpPr txBox="1"/>
          <p:nvPr/>
        </p:nvSpPr>
        <p:spPr>
          <a:xfrm>
            <a:off x="3203829" y="3597656"/>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Décommissionner &amp; observer</a:t>
            </a:r>
          </a:p>
        </p:txBody>
      </p:sp>
      <p:sp>
        <p:nvSpPr>
          <p:cNvPr id="36" name="TextBox 35"/>
          <p:cNvSpPr txBox="1"/>
          <p:nvPr/>
        </p:nvSpPr>
        <p:spPr>
          <a:xfrm>
            <a:off x="3203829" y="3835400"/>
            <a:ext cx="1507617" cy="544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Sur les pilotes : ce qui peut être décommissionné l'est, l'observabilité du reste est posée.</a:t>
            </a:r>
          </a:p>
        </p:txBody>
      </p:sp>
      <p:sp>
        <p:nvSpPr>
          <p:cNvPr id="37" name="TextBox 36"/>
          <p:cNvSpPr txBox="1"/>
          <p:nvPr/>
        </p:nvSpPr>
        <p:spPr>
          <a:xfrm>
            <a:off x="4967478" y="3597656"/>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Standardiser &amp; outiller</a:t>
            </a:r>
          </a:p>
        </p:txBody>
      </p:sp>
      <p:sp>
        <p:nvSpPr>
          <p:cNvPr id="38" name="TextBox 37"/>
          <p:cNvSpPr txBox="1"/>
          <p:nvPr/>
        </p:nvSpPr>
        <p:spPr>
          <a:xfrm>
            <a:off x="4967478" y="3835400"/>
            <a:ext cx="1507617" cy="544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CI/CD et infra as code deviennent le mode par défaut.</a:t>
            </a:r>
          </a:p>
        </p:txBody>
      </p:sp>
      <p:sp>
        <p:nvSpPr>
          <p:cNvPr id="39" name="TextBox 38"/>
          <p:cNvSpPr txBox="1"/>
          <p:nvPr/>
        </p:nvSpPr>
        <p:spPr>
          <a:xfrm>
            <a:off x="6731126" y="3597656"/>
            <a:ext cx="1507617" cy="237744"/>
          </a:xfrm>
          <a:prstGeom prst="rect">
            <a:avLst/>
          </a:prstGeom>
          <a:noFill/>
        </p:spPr>
        <p:txBody>
          <a:bodyPr wrap="square" anchor="t" lIns="0" rIns="0" tIns="0" bIns="0">
            <a:noAutofit/>
          </a:bodyPr>
          <a:lstStyle/>
          <a:p>
            <a:pPr algn="l">
              <a:lnSpc>
                <a:spcPct val="105000"/>
              </a:lnSpc>
            </a:pPr>
            <a:r>
              <a:rPr sz="850" b="1" i="0">
                <a:solidFill>
                  <a:srgbClr val="0E2356"/>
                </a:solidFill>
                <a:latin typeface="Outfit"/>
              </a:rPr>
              <a:t>Mesurer &amp; réengager</a:t>
            </a:r>
          </a:p>
        </p:txBody>
      </p:sp>
      <p:sp>
        <p:nvSpPr>
          <p:cNvPr id="40" name="TextBox 39"/>
          <p:cNvSpPr txBox="1"/>
          <p:nvPr/>
        </p:nvSpPr>
        <p:spPr>
          <a:xfrm>
            <a:off x="6731126" y="3835400"/>
            <a:ext cx="1507617" cy="544576"/>
          </a:xfrm>
          <a:prstGeom prst="rect">
            <a:avLst/>
          </a:prstGeom>
          <a:noFill/>
        </p:spPr>
        <p:txBody>
          <a:bodyPr wrap="square" anchor="t" lIns="0" rIns="0" tIns="0" bIns="0">
            <a:noAutofit/>
          </a:bodyPr>
          <a:lstStyle/>
          <a:p>
            <a:pPr algn="l">
              <a:lnSpc>
                <a:spcPct val="125000"/>
              </a:lnSpc>
            </a:pPr>
            <a:r>
              <a:rPr sz="800" b="0" i="0">
                <a:solidFill>
                  <a:srgbClr val="0E2356"/>
                </a:solidFill>
                <a:latin typeface="Outfit"/>
              </a:rPr>
              <a:t>Dette et KPI infra rejoués au même instrument qu'à T0.</a:t>
            </a:r>
          </a:p>
        </p:txBody>
      </p:sp>
      <p:sp>
        <p:nvSpPr>
          <p:cNvPr id="41" name="Rounded Rectangle 40"/>
          <p:cNvSpPr/>
          <p:nvPr/>
        </p:nvSpPr>
        <p:spPr>
          <a:xfrm>
            <a:off x="562356" y="4517136"/>
            <a:ext cx="7804404" cy="457200"/>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5236" y="4517136"/>
            <a:ext cx="7438644" cy="457200"/>
          </a:xfrm>
          <a:prstGeom prst="rect">
            <a:avLst/>
          </a:prstGeom>
          <a:noFill/>
        </p:spPr>
        <p:txBody>
          <a:bodyPr wrap="square" anchor="ctr" lIns="0" rIns="0" tIns="0" bIns="0">
            <a:noAutofit/>
          </a:bodyPr>
          <a:lstStyle/>
          <a:p>
            <a:pPr algn="l"/>
            <a:r>
              <a:rPr sz="800" b="1" i="0">
                <a:solidFill>
                  <a:srgbClr val="0E2356"/>
                </a:solidFill>
                <a:latin typeface="Outfit"/>
              </a:rPr>
              <a:t>Ce que ces deux fils ne créent pas</a:t>
            </a:r>
          </a:p>
          <a:p>
            <a:pPr algn="l">
              <a:lnSpc>
                <a:spcPct val="125000"/>
              </a:lnSpc>
              <a:spcBef>
                <a:spcPts val="300"/>
              </a:spcBef>
            </a:pPr>
            <a:r>
              <a:rPr sz="800" b="0" i="0">
                <a:solidFill>
                  <a:srgbClr val="0E2356"/>
                </a:solidFill>
                <a:latin typeface="Outfit"/>
              </a:rPr>
              <a:t>Ni phase en plus, ni chantier d'architecture à part, ni évaluation des personnes ; la gouvernance sécurité et conformité reste celle du client.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L'expertise agentic d'OCTO</a:t>
            </a:r>
          </a:p>
          <a:p>
            <a:r>
              <a:rPr sz="1050" i="1">
                <a:solidFill>
                  <a:srgbClr val="586586"/>
                </a:solidFill>
                <a:latin typeface="Outfit"/>
              </a:rPr>
              <a:t>Un complément à notre démarche, jamais un prérequis : ce qu'il apporte, les agents candidats, les garde-fous et les niveaux d'ambition.</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06</a:t>
            </a:r>
          </a:p>
        </p:txBody>
      </p:sp>
      <p:pic>
        <p:nvPicPr>
          <p:cNvPr id="4" name="Picture 3" descr="ocean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350">
                <a:solidFill>
                  <a:srgbClr val="0E2356"/>
                </a:solidFill>
                <a:latin typeface="Outfit"/>
              </a:rPr>
              <a:t>L'EXPERTISE AGENTIC D'OCTO   ·   </a:t>
            </a:r>
            <a:r>
              <a:rPr b="1" sz="1350">
                <a:solidFill>
                  <a:srgbClr val="0E2356"/>
                </a:solidFill>
                <a:latin typeface="Outfit"/>
              </a:rPr>
              <a:t>Une expertise OCTO qui complète notre démarche</a:t>
            </a:r>
          </a:p>
        </p:txBody>
      </p:sp>
      <p:sp>
        <p:nvSpPr>
          <p:cNvPr id="3" name="TextBox 2"/>
          <p:cNvSpPr txBox="1"/>
          <p:nvPr/>
        </p:nvSpPr>
        <p:spPr>
          <a:xfrm>
            <a:off x="562356" y="1051560"/>
            <a:ext cx="7804404" cy="274320"/>
          </a:xfrm>
          <a:prstGeom prst="rect">
            <a:avLst/>
          </a:prstGeom>
          <a:noFill/>
        </p:spPr>
        <p:txBody>
          <a:bodyPr wrap="square" anchor="t" lIns="0" rIns="0" tIns="0" bIns="0">
            <a:noAutofit/>
          </a:bodyPr>
          <a:lstStyle/>
          <a:p>
            <a:pPr algn="l"/>
            <a:r>
              <a:rPr sz="1050" b="0" i="1">
                <a:solidFill>
                  <a:srgbClr val="0E2356"/>
                </a:solidFill>
                <a:latin typeface="Outfit"/>
              </a:rPr>
              <a:t>Là où notre démarche a des besoins complémentaires, l'expertise agentic d'OCTO y répond — sans rien remplacer de ce qui existe.</a:t>
            </a:r>
          </a:p>
        </p:txBody>
      </p:sp>
      <p:sp>
        <p:nvSpPr>
          <p:cNvPr id="4" name="TextBox 3"/>
          <p:cNvSpPr txBox="1"/>
          <p:nvPr/>
        </p:nvSpPr>
        <p:spPr>
          <a:xfrm>
            <a:off x="562356" y="1399031"/>
            <a:ext cx="1600200" cy="182880"/>
          </a:xfrm>
          <a:prstGeom prst="rect">
            <a:avLst/>
          </a:prstGeom>
          <a:noFill/>
        </p:spPr>
        <p:txBody>
          <a:bodyPr wrap="square" anchor="t" lIns="0" rIns="0" tIns="0" bIns="0">
            <a:noAutofit/>
          </a:bodyPr>
          <a:lstStyle/>
          <a:p>
            <a:pPr algn="l"/>
            <a:r>
              <a:rPr sz="800" b="1" i="0">
                <a:solidFill>
                  <a:srgbClr val="586586"/>
                </a:solidFill>
                <a:latin typeface="Outfit"/>
              </a:rPr>
              <a:t>BESOIN COMPLÉMENTAIRE</a:t>
            </a:r>
          </a:p>
        </p:txBody>
      </p:sp>
      <p:sp>
        <p:nvSpPr>
          <p:cNvPr id="5" name="TextBox 4"/>
          <p:cNvSpPr txBox="1"/>
          <p:nvPr/>
        </p:nvSpPr>
        <p:spPr>
          <a:xfrm>
            <a:off x="2272284" y="1399031"/>
            <a:ext cx="2331720" cy="182880"/>
          </a:xfrm>
          <a:prstGeom prst="rect">
            <a:avLst/>
          </a:prstGeom>
          <a:noFill/>
        </p:spPr>
        <p:txBody>
          <a:bodyPr wrap="square" anchor="t" lIns="0" rIns="0" tIns="0" bIns="0">
            <a:noAutofit/>
          </a:bodyPr>
          <a:lstStyle/>
          <a:p>
            <a:pPr algn="l"/>
            <a:r>
              <a:rPr sz="800" b="1" i="0">
                <a:solidFill>
                  <a:srgbClr val="586586"/>
                </a:solidFill>
                <a:latin typeface="Outfit"/>
              </a:rPr>
              <a:t>CE QUI FREINE AUJOURD'HUI</a:t>
            </a:r>
          </a:p>
        </p:txBody>
      </p:sp>
      <p:sp>
        <p:nvSpPr>
          <p:cNvPr id="6" name="TextBox 5"/>
          <p:cNvSpPr txBox="1"/>
          <p:nvPr/>
        </p:nvSpPr>
        <p:spPr>
          <a:xfrm>
            <a:off x="4969764" y="1399031"/>
            <a:ext cx="3396996" cy="182880"/>
          </a:xfrm>
          <a:prstGeom prst="rect">
            <a:avLst/>
          </a:prstGeom>
          <a:noFill/>
        </p:spPr>
        <p:txBody>
          <a:bodyPr wrap="square" anchor="t" lIns="0" rIns="0" tIns="0" bIns="0">
            <a:noAutofit/>
          </a:bodyPr>
          <a:lstStyle/>
          <a:p>
            <a:pPr algn="l"/>
            <a:r>
              <a:rPr sz="800" b="1" i="0">
                <a:solidFill>
                  <a:srgbClr val="586586"/>
                </a:solidFill>
                <a:latin typeface="Outfit"/>
              </a:rPr>
              <a:t>CE QU'OCTO APPORTE</a:t>
            </a:r>
          </a:p>
        </p:txBody>
      </p:sp>
      <p:sp>
        <p:nvSpPr>
          <p:cNvPr id="7" name="Rounded Rectangle 6"/>
          <p:cNvSpPr/>
          <p:nvPr/>
        </p:nvSpPr>
        <p:spPr>
          <a:xfrm>
            <a:off x="562356" y="1618487"/>
            <a:ext cx="1600200" cy="772668"/>
          </a:xfrm>
          <a:prstGeom prst="roundRect">
            <a:avLst>
              <a:gd name="adj" fmla="val 12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 y="1618487"/>
            <a:ext cx="1344168" cy="772668"/>
          </a:xfrm>
          <a:prstGeom prst="rect">
            <a:avLst/>
          </a:prstGeom>
          <a:noFill/>
        </p:spPr>
        <p:txBody>
          <a:bodyPr wrap="square" anchor="ctr" lIns="0" rIns="0" tIns="0" bIns="0">
            <a:noAutofit/>
          </a:bodyPr>
          <a:lstStyle/>
          <a:p>
            <a:pPr algn="l">
              <a:lnSpc>
                <a:spcPct val="110000"/>
              </a:lnSpc>
            </a:pPr>
            <a:r>
              <a:rPr sz="1000" b="1" i="0">
                <a:solidFill>
                  <a:srgbClr val="FFFFFF"/>
                </a:solidFill>
                <a:latin typeface="Outfit"/>
              </a:rPr>
              <a:t>Accélérer le diagnostic</a:t>
            </a:r>
          </a:p>
        </p:txBody>
      </p:sp>
      <p:sp>
        <p:nvSpPr>
          <p:cNvPr id="9" name="Rounded Rectangle 8"/>
          <p:cNvSpPr/>
          <p:nvPr/>
        </p:nvSpPr>
        <p:spPr>
          <a:xfrm>
            <a:off x="2272284" y="1618487"/>
            <a:ext cx="2331720" cy="7726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9444" y="1618487"/>
            <a:ext cx="2057400" cy="772668"/>
          </a:xfrm>
          <a:prstGeom prst="rect">
            <a:avLst/>
          </a:prstGeom>
          <a:noFill/>
        </p:spPr>
        <p:txBody>
          <a:bodyPr wrap="square" anchor="ctr" lIns="0" rIns="0" tIns="0" bIns="0">
            <a:noAutofit/>
          </a:bodyPr>
          <a:lstStyle/>
          <a:p>
            <a:pPr algn="l">
              <a:lnSpc>
                <a:spcPct val="125000"/>
              </a:lnSpc>
            </a:pPr>
            <a:r>
              <a:rPr sz="900" b="0" i="0">
                <a:solidFill>
                  <a:srgbClr val="586586"/>
                </a:solidFill>
                <a:latin typeface="Outfit"/>
              </a:rPr>
              <a:t>Les interviews et les données s'accumulent plus vite que l'équipe ne les lit.</a:t>
            </a:r>
          </a:p>
        </p:txBody>
      </p:sp>
      <p:sp>
        <p:nvSpPr>
          <p:cNvPr id="11" name="Chevron 10"/>
          <p:cNvSpPr/>
          <p:nvPr/>
        </p:nvSpPr>
        <p:spPr>
          <a:xfrm>
            <a:off x="4677156" y="1840229"/>
            <a:ext cx="219456" cy="329184"/>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69764" y="1618487"/>
            <a:ext cx="3396996" cy="772668"/>
          </a:xfrm>
          <a:prstGeom prst="roundRect">
            <a:avLst>
              <a:gd name="adj" fmla="val 12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6924" y="1618487"/>
            <a:ext cx="3122676" cy="772668"/>
          </a:xfrm>
          <a:prstGeom prst="rect">
            <a:avLst/>
          </a:prstGeom>
          <a:noFill/>
        </p:spPr>
        <p:txBody>
          <a:bodyPr wrap="square" anchor="ctr" lIns="0" rIns="0" tIns="0" bIns="0">
            <a:noAutofit/>
          </a:bodyPr>
          <a:lstStyle/>
          <a:p>
            <a:pPr algn="l">
              <a:lnSpc>
                <a:spcPct val="125000"/>
              </a:lnSpc>
            </a:pPr>
            <a:r>
              <a:rPr sz="900" b="0" i="0">
                <a:solidFill>
                  <a:srgbClr val="0E2356"/>
                </a:solidFill>
                <a:latin typeface="Outfit"/>
              </a:rPr>
              <a:t>Des workflows outillés préparent les trames d'interview, la synthèse et le deck de restitution — le consultant garde l'analyse.</a:t>
            </a:r>
          </a:p>
        </p:txBody>
      </p:sp>
      <p:sp>
        <p:nvSpPr>
          <p:cNvPr id="14" name="Rounded Rectangle 13"/>
          <p:cNvSpPr/>
          <p:nvPr/>
        </p:nvSpPr>
        <p:spPr>
          <a:xfrm>
            <a:off x="562356" y="2482596"/>
            <a:ext cx="1600200" cy="772668"/>
          </a:xfrm>
          <a:prstGeom prst="roundRect">
            <a:avLst>
              <a:gd name="adj" fmla="val 12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 y="2482596"/>
            <a:ext cx="1344168" cy="772668"/>
          </a:xfrm>
          <a:prstGeom prst="rect">
            <a:avLst/>
          </a:prstGeom>
          <a:noFill/>
        </p:spPr>
        <p:txBody>
          <a:bodyPr wrap="square" anchor="ctr" lIns="0" rIns="0" tIns="0" bIns="0">
            <a:noAutofit/>
          </a:bodyPr>
          <a:lstStyle/>
          <a:p>
            <a:pPr algn="l">
              <a:lnSpc>
                <a:spcPct val="110000"/>
              </a:lnSpc>
            </a:pPr>
            <a:r>
              <a:rPr sz="1000" b="1" i="0">
                <a:solidFill>
                  <a:srgbClr val="FFFFFF"/>
                </a:solidFill>
                <a:latin typeface="Outfit"/>
              </a:rPr>
              <a:t>Trier le RUN</a:t>
            </a:r>
          </a:p>
        </p:txBody>
      </p:sp>
      <p:sp>
        <p:nvSpPr>
          <p:cNvPr id="16" name="Rounded Rectangle 15"/>
          <p:cNvSpPr/>
          <p:nvPr/>
        </p:nvSpPr>
        <p:spPr>
          <a:xfrm>
            <a:off x="2272284" y="2482596"/>
            <a:ext cx="2331720" cy="7726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09444" y="2482596"/>
            <a:ext cx="2057400" cy="772668"/>
          </a:xfrm>
          <a:prstGeom prst="rect">
            <a:avLst/>
          </a:prstGeom>
          <a:noFill/>
        </p:spPr>
        <p:txBody>
          <a:bodyPr wrap="square" anchor="ctr" lIns="0" rIns="0" tIns="0" bIns="0">
            <a:noAutofit/>
          </a:bodyPr>
          <a:lstStyle/>
          <a:p>
            <a:pPr algn="l">
              <a:lnSpc>
                <a:spcPct val="125000"/>
              </a:lnSpc>
            </a:pPr>
            <a:r>
              <a:rPr sz="900" b="0" i="0">
                <a:solidFill>
                  <a:srgbClr val="586586"/>
                </a:solidFill>
                <a:latin typeface="Outfit"/>
              </a:rPr>
              <a:t>Les mêmes tickets reviennent et mobilisent les experts seniors.</a:t>
            </a:r>
          </a:p>
        </p:txBody>
      </p:sp>
      <p:sp>
        <p:nvSpPr>
          <p:cNvPr id="18" name="Chevron 17"/>
          <p:cNvSpPr/>
          <p:nvPr/>
        </p:nvSpPr>
        <p:spPr>
          <a:xfrm>
            <a:off x="4677156" y="2704337"/>
            <a:ext cx="219456" cy="329184"/>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69764" y="2482596"/>
            <a:ext cx="3396996" cy="772668"/>
          </a:xfrm>
          <a:prstGeom prst="roundRect">
            <a:avLst>
              <a:gd name="adj" fmla="val 12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6924" y="2482596"/>
            <a:ext cx="3122676" cy="772668"/>
          </a:xfrm>
          <a:prstGeom prst="rect">
            <a:avLst/>
          </a:prstGeom>
          <a:noFill/>
        </p:spPr>
        <p:txBody>
          <a:bodyPr wrap="square" anchor="ctr" lIns="0" rIns="0" tIns="0" bIns="0">
            <a:noAutofit/>
          </a:bodyPr>
          <a:lstStyle/>
          <a:p>
            <a:pPr algn="l">
              <a:lnSpc>
                <a:spcPct val="125000"/>
              </a:lnSpc>
            </a:pPr>
            <a:r>
              <a:rPr sz="900" b="0" i="0">
                <a:solidFill>
                  <a:srgbClr val="0E2356"/>
                </a:solidFill>
                <a:latin typeface="Outfit"/>
              </a:rPr>
              <a:t>Un agent de triage classe et route les tickets selon un runbook déjà écrit, sous gate, supervisé avant d'être délégué.</a:t>
            </a:r>
          </a:p>
        </p:txBody>
      </p:sp>
      <p:sp>
        <p:nvSpPr>
          <p:cNvPr id="21" name="Rounded Rectangle 20"/>
          <p:cNvSpPr/>
          <p:nvPr/>
        </p:nvSpPr>
        <p:spPr>
          <a:xfrm>
            <a:off x="562356" y="3346703"/>
            <a:ext cx="1600200" cy="772668"/>
          </a:xfrm>
          <a:prstGeom prst="roundRect">
            <a:avLst>
              <a:gd name="adj" fmla="val 12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 y="3346703"/>
            <a:ext cx="1344168" cy="772668"/>
          </a:xfrm>
          <a:prstGeom prst="rect">
            <a:avLst/>
          </a:prstGeom>
          <a:noFill/>
        </p:spPr>
        <p:txBody>
          <a:bodyPr wrap="square" anchor="ctr" lIns="0" rIns="0" tIns="0" bIns="0">
            <a:noAutofit/>
          </a:bodyPr>
          <a:lstStyle/>
          <a:p>
            <a:pPr algn="l">
              <a:lnSpc>
                <a:spcPct val="110000"/>
              </a:lnSpc>
            </a:pPr>
            <a:r>
              <a:rPr sz="1000" b="1" i="0">
                <a:solidFill>
                  <a:srgbClr val="FFFFFF"/>
                </a:solidFill>
                <a:latin typeface="Outfit"/>
              </a:rPr>
              <a:t>Capitaliser le savoir</a:t>
            </a:r>
          </a:p>
        </p:txBody>
      </p:sp>
      <p:sp>
        <p:nvSpPr>
          <p:cNvPr id="23" name="Rounded Rectangle 22"/>
          <p:cNvSpPr/>
          <p:nvPr/>
        </p:nvSpPr>
        <p:spPr>
          <a:xfrm>
            <a:off x="2272284" y="3346703"/>
            <a:ext cx="2331720" cy="7726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09444" y="3346703"/>
            <a:ext cx="2057400" cy="772668"/>
          </a:xfrm>
          <a:prstGeom prst="rect">
            <a:avLst/>
          </a:prstGeom>
          <a:noFill/>
        </p:spPr>
        <p:txBody>
          <a:bodyPr wrap="square" anchor="ctr" lIns="0" rIns="0" tIns="0" bIns="0">
            <a:noAutofit/>
          </a:bodyPr>
          <a:lstStyle/>
          <a:p>
            <a:pPr algn="l">
              <a:lnSpc>
                <a:spcPct val="125000"/>
              </a:lnSpc>
            </a:pPr>
            <a:r>
              <a:rPr sz="900" b="0" i="0">
                <a:solidFill>
                  <a:srgbClr val="586586"/>
                </a:solidFill>
                <a:latin typeface="Outfit"/>
              </a:rPr>
              <a:t>Le savoir-faire reste dans quelques têtes et dans des procédures dispersées.</a:t>
            </a:r>
          </a:p>
        </p:txBody>
      </p:sp>
      <p:sp>
        <p:nvSpPr>
          <p:cNvPr id="25" name="Chevron 24"/>
          <p:cNvSpPr/>
          <p:nvPr/>
        </p:nvSpPr>
        <p:spPr>
          <a:xfrm>
            <a:off x="4677156" y="3568445"/>
            <a:ext cx="219456" cy="329184"/>
          </a:xfrm>
          <a:prstGeom prst="chevron">
            <a:avLst/>
          </a:prstGeom>
          <a:solidFill>
            <a:srgbClr val="FFFFFF"/>
          </a:solidFill>
          <a:ln w="15875">
            <a:solidFill>
              <a:srgbClr val="5865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969764" y="3346703"/>
            <a:ext cx="3396996" cy="772668"/>
          </a:xfrm>
          <a:prstGeom prst="roundRect">
            <a:avLst>
              <a:gd name="adj" fmla="val 12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06924" y="3346703"/>
            <a:ext cx="3122676" cy="772668"/>
          </a:xfrm>
          <a:prstGeom prst="rect">
            <a:avLst/>
          </a:prstGeom>
          <a:noFill/>
        </p:spPr>
        <p:txBody>
          <a:bodyPr wrap="square" anchor="ctr" lIns="0" rIns="0" tIns="0" bIns="0">
            <a:noAutofit/>
          </a:bodyPr>
          <a:lstStyle/>
          <a:p>
            <a:pPr algn="l">
              <a:lnSpc>
                <a:spcPct val="125000"/>
              </a:lnSpc>
            </a:pPr>
            <a:r>
              <a:rPr sz="900" b="0" i="0">
                <a:solidFill>
                  <a:srgbClr val="0E2356"/>
                </a:solidFill>
                <a:latin typeface="Outfit"/>
              </a:rPr>
              <a:t>Un agent documentaire répond avec sa source, et un export markdown versionné reste à l'équipe après la mission.</a:t>
            </a:r>
          </a:p>
        </p:txBody>
      </p:sp>
      <p:sp>
        <p:nvSpPr>
          <p:cNvPr id="28" name="Rounded Rectangle 27"/>
          <p:cNvSpPr/>
          <p:nvPr/>
        </p:nvSpPr>
        <p:spPr>
          <a:xfrm>
            <a:off x="562356" y="4367784"/>
            <a:ext cx="7804404" cy="615696"/>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 y="4459224"/>
            <a:ext cx="45720" cy="432816"/>
          </a:xfrm>
          <a:prstGeom prst="rect">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947" y="4386072"/>
            <a:ext cx="365760" cy="365760"/>
          </a:xfrm>
          <a:prstGeom prst="rect">
            <a:avLst/>
          </a:prstGeom>
          <a:noFill/>
        </p:spPr>
        <p:txBody>
          <a:bodyPr wrap="square" anchor="t" lIns="0" rIns="0" tIns="0" bIns="0">
            <a:noAutofit/>
          </a:bodyPr>
          <a:lstStyle/>
          <a:p>
            <a:pPr algn="l"/>
            <a:r>
              <a:rPr sz="2400" b="1" i="0">
                <a:solidFill>
                  <a:srgbClr val="FFFFFF"/>
                </a:solidFill>
                <a:latin typeface="Outfit"/>
              </a:rPr>
              <a:t>“</a:t>
            </a:r>
          </a:p>
        </p:txBody>
      </p:sp>
      <p:sp>
        <p:nvSpPr>
          <p:cNvPr id="31" name="TextBox 30"/>
          <p:cNvSpPr txBox="1"/>
          <p:nvPr/>
        </p:nvSpPr>
        <p:spPr>
          <a:xfrm>
            <a:off x="1074420" y="4367784"/>
            <a:ext cx="7109460" cy="615696"/>
          </a:xfrm>
          <a:prstGeom prst="rect">
            <a:avLst/>
          </a:prstGeom>
          <a:noFill/>
        </p:spPr>
        <p:txBody>
          <a:bodyPr wrap="square" anchor="ctr" lIns="0" rIns="0" tIns="0" bIns="0">
            <a:spAutoFit/>
          </a:bodyPr>
          <a:lstStyle/>
          <a:p>
            <a:pPr algn="ctr"/>
            <a:r>
              <a:rPr sz="1000" b="1" i="0">
                <a:solidFill>
                  <a:srgbClr val="FFFFFF"/>
                </a:solidFill>
                <a:latin typeface="Outfit"/>
              </a:rPr>
              <a:t>Jamais un prérequis : la démarche tient sans elle — l'expertise agentic l'accélère là où le temps est perdu.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L'EXPERTISE AGENTIC D'OCTO   ·   </a:t>
            </a:r>
            <a:r>
              <a:rPr b="1" sz="1200">
                <a:solidFill>
                  <a:srgbClr val="0E2356"/>
                </a:solidFill>
                <a:latin typeface="Outfit"/>
              </a:rPr>
              <a:t>L'outillage prend en charge une partie du fil humain — le consultant garde le reste</a:t>
            </a:r>
          </a:p>
        </p:txBody>
      </p:sp>
      <p:sp>
        <p:nvSpPr>
          <p:cNvPr id="3" name="TextBox 2"/>
          <p:cNvSpPr txBox="1"/>
          <p:nvPr/>
        </p:nvSpPr>
        <p:spPr>
          <a:xfrm>
            <a:off x="562356" y="1051560"/>
            <a:ext cx="7804404" cy="256032"/>
          </a:xfrm>
          <a:prstGeom prst="rect">
            <a:avLst/>
          </a:prstGeom>
          <a:noFill/>
        </p:spPr>
        <p:txBody>
          <a:bodyPr wrap="square" anchor="t" lIns="0" rIns="0" tIns="0" bIns="0">
            <a:noAutofit/>
          </a:bodyPr>
          <a:lstStyle/>
          <a:p>
            <a:pPr algn="l">
              <a:lnSpc>
                <a:spcPct val="115000"/>
              </a:lnSpc>
            </a:pPr>
            <a:r>
              <a:rPr sz="800" b="0" i="1">
                <a:solidFill>
                  <a:srgbClr val="586586"/>
                </a:solidFill>
                <a:latin typeface="Outfit"/>
              </a:rPr>
              <a:t>Les mêmes quatre temps que la trajectoire : en haut, ce que le consultant fait avec le module ; en bas, ce qu'il fait sans lui.</a:t>
            </a:r>
          </a:p>
        </p:txBody>
      </p:sp>
      <p:sp>
        <p:nvSpPr>
          <p:cNvPr id="4" name="Rounded Rectangle 3"/>
          <p:cNvSpPr/>
          <p:nvPr/>
        </p:nvSpPr>
        <p:spPr>
          <a:xfrm>
            <a:off x="2327719" y="1362456"/>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27719" y="1362456"/>
            <a:ext cx="237744" cy="237744"/>
          </a:xfrm>
          <a:prstGeom prst="rect">
            <a:avLst/>
          </a:prstGeom>
          <a:noFill/>
        </p:spPr>
        <p:txBody>
          <a:bodyPr wrap="square" anchor="ctr" lIns="0" rIns="0" tIns="0" bIns="0">
            <a:noAutofit/>
          </a:bodyPr>
          <a:lstStyle/>
          <a:p>
            <a:pPr algn="ctr"/>
            <a:r>
              <a:rPr sz="900" b="1" i="0">
                <a:solidFill>
                  <a:srgbClr val="FFFFFF"/>
                </a:solidFill>
                <a:latin typeface="Arial"/>
              </a:rPr>
              <a:t>①</a:t>
            </a:r>
          </a:p>
        </p:txBody>
      </p:sp>
      <p:sp>
        <p:nvSpPr>
          <p:cNvPr id="6" name="TextBox 5"/>
          <p:cNvSpPr txBox="1"/>
          <p:nvPr/>
        </p:nvSpPr>
        <p:spPr>
          <a:xfrm>
            <a:off x="1632204" y="1618488"/>
            <a:ext cx="1628775" cy="146304"/>
          </a:xfrm>
          <a:prstGeom prst="rect">
            <a:avLst/>
          </a:prstGeom>
          <a:noFill/>
        </p:spPr>
        <p:txBody>
          <a:bodyPr wrap="square" anchor="t" lIns="0" rIns="0" tIns="0" bIns="0">
            <a:noAutofit/>
          </a:bodyPr>
          <a:lstStyle/>
          <a:p>
            <a:pPr algn="ctr"/>
            <a:r>
              <a:rPr sz="800" b="1" i="0">
                <a:solidFill>
                  <a:srgbClr val="0E2356"/>
                </a:solidFill>
                <a:latin typeface="Outfit"/>
              </a:rPr>
              <a:t>Assessment flash</a:t>
            </a:r>
          </a:p>
        </p:txBody>
      </p:sp>
      <p:sp>
        <p:nvSpPr>
          <p:cNvPr id="7" name="Rounded Rectangle 6"/>
          <p:cNvSpPr/>
          <p:nvPr/>
        </p:nvSpPr>
        <p:spPr>
          <a:xfrm>
            <a:off x="4029646" y="1362456"/>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9646" y="1362456"/>
            <a:ext cx="237744" cy="237744"/>
          </a:xfrm>
          <a:prstGeom prst="rect">
            <a:avLst/>
          </a:prstGeom>
          <a:noFill/>
        </p:spPr>
        <p:txBody>
          <a:bodyPr wrap="square" anchor="ctr" lIns="0" rIns="0" tIns="0" bIns="0">
            <a:noAutofit/>
          </a:bodyPr>
          <a:lstStyle/>
          <a:p>
            <a:pPr algn="ctr"/>
            <a:r>
              <a:rPr sz="900" b="1" i="0">
                <a:solidFill>
                  <a:srgbClr val="FFFFFF"/>
                </a:solidFill>
                <a:latin typeface="Arial"/>
              </a:rPr>
              <a:t>②</a:t>
            </a:r>
          </a:p>
        </p:txBody>
      </p:sp>
      <p:sp>
        <p:nvSpPr>
          <p:cNvPr id="9" name="TextBox 8"/>
          <p:cNvSpPr txBox="1"/>
          <p:nvPr/>
        </p:nvSpPr>
        <p:spPr>
          <a:xfrm>
            <a:off x="3334131" y="1618488"/>
            <a:ext cx="1628775" cy="146304"/>
          </a:xfrm>
          <a:prstGeom prst="rect">
            <a:avLst/>
          </a:prstGeom>
          <a:noFill/>
        </p:spPr>
        <p:txBody>
          <a:bodyPr wrap="square" anchor="t" lIns="0" rIns="0" tIns="0" bIns="0">
            <a:noAutofit/>
          </a:bodyPr>
          <a:lstStyle/>
          <a:p>
            <a:pPr algn="ctr"/>
            <a:r>
              <a:rPr sz="800" b="1" i="0">
                <a:solidFill>
                  <a:srgbClr val="0E2356"/>
                </a:solidFill>
                <a:latin typeface="Outfit"/>
              </a:rPr>
              <a:t>Premier déploiement</a:t>
            </a:r>
          </a:p>
        </p:txBody>
      </p:sp>
      <p:sp>
        <p:nvSpPr>
          <p:cNvPr id="10" name="Rounded Rectangle 9"/>
          <p:cNvSpPr/>
          <p:nvPr/>
        </p:nvSpPr>
        <p:spPr>
          <a:xfrm>
            <a:off x="5731573" y="1362456"/>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31573" y="1362456"/>
            <a:ext cx="237744" cy="237744"/>
          </a:xfrm>
          <a:prstGeom prst="rect">
            <a:avLst/>
          </a:prstGeom>
          <a:noFill/>
        </p:spPr>
        <p:txBody>
          <a:bodyPr wrap="square" anchor="ctr" lIns="0" rIns="0" tIns="0" bIns="0">
            <a:noAutofit/>
          </a:bodyPr>
          <a:lstStyle/>
          <a:p>
            <a:pPr algn="ctr"/>
            <a:r>
              <a:rPr sz="900" b="1" i="0">
                <a:solidFill>
                  <a:srgbClr val="FFFFFF"/>
                </a:solidFill>
                <a:latin typeface="Arial"/>
              </a:rPr>
              <a:t>③</a:t>
            </a:r>
          </a:p>
        </p:txBody>
      </p:sp>
      <p:sp>
        <p:nvSpPr>
          <p:cNvPr id="12" name="TextBox 11"/>
          <p:cNvSpPr txBox="1"/>
          <p:nvPr/>
        </p:nvSpPr>
        <p:spPr>
          <a:xfrm>
            <a:off x="5036058" y="1618488"/>
            <a:ext cx="1628775" cy="146304"/>
          </a:xfrm>
          <a:prstGeom prst="rect">
            <a:avLst/>
          </a:prstGeom>
          <a:noFill/>
        </p:spPr>
        <p:txBody>
          <a:bodyPr wrap="square" anchor="t" lIns="0" rIns="0" tIns="0" bIns="0">
            <a:noAutofit/>
          </a:bodyPr>
          <a:lstStyle/>
          <a:p>
            <a:pPr algn="ctr"/>
            <a:r>
              <a:rPr sz="800" b="1" i="0">
                <a:solidFill>
                  <a:srgbClr val="0E2356"/>
                </a:solidFill>
                <a:latin typeface="Outfit"/>
              </a:rPr>
              <a:t>Implémentation itérative</a:t>
            </a:r>
          </a:p>
        </p:txBody>
      </p:sp>
      <p:sp>
        <p:nvSpPr>
          <p:cNvPr id="13" name="Rounded Rectangle 12"/>
          <p:cNvSpPr/>
          <p:nvPr/>
        </p:nvSpPr>
        <p:spPr>
          <a:xfrm>
            <a:off x="7433500" y="1362456"/>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33500" y="1362456"/>
            <a:ext cx="237744" cy="237744"/>
          </a:xfrm>
          <a:prstGeom prst="rect">
            <a:avLst/>
          </a:prstGeom>
          <a:noFill/>
        </p:spPr>
        <p:txBody>
          <a:bodyPr wrap="square" anchor="ctr" lIns="0" rIns="0" tIns="0" bIns="0">
            <a:noAutofit/>
          </a:bodyPr>
          <a:lstStyle/>
          <a:p>
            <a:pPr algn="ctr"/>
            <a:r>
              <a:rPr sz="900" b="0" i="0">
                <a:solidFill>
                  <a:srgbClr val="FFFFFF"/>
                </a:solidFill>
                <a:latin typeface="Arial"/>
              </a:rPr>
              <a:t>⟲</a:t>
            </a:r>
          </a:p>
        </p:txBody>
      </p:sp>
      <p:sp>
        <p:nvSpPr>
          <p:cNvPr id="15" name="TextBox 14"/>
          <p:cNvSpPr txBox="1"/>
          <p:nvPr/>
        </p:nvSpPr>
        <p:spPr>
          <a:xfrm>
            <a:off x="6737985" y="1618488"/>
            <a:ext cx="1628775" cy="146304"/>
          </a:xfrm>
          <a:prstGeom prst="rect">
            <a:avLst/>
          </a:prstGeom>
          <a:noFill/>
        </p:spPr>
        <p:txBody>
          <a:bodyPr wrap="square" anchor="t" lIns="0" rIns="0" tIns="0" bIns="0">
            <a:noAutofit/>
          </a:bodyPr>
          <a:lstStyle/>
          <a:p>
            <a:pPr algn="ctr"/>
            <a:r>
              <a:rPr sz="800" b="1" i="0">
                <a:solidFill>
                  <a:srgbClr val="0E2356"/>
                </a:solidFill>
                <a:latin typeface="Outfit"/>
              </a:rPr>
              <a:t>Boucle de réévaluation</a:t>
            </a:r>
          </a:p>
        </p:txBody>
      </p:sp>
      <p:sp>
        <p:nvSpPr>
          <p:cNvPr id="16" name="Rounded Rectangle 15"/>
          <p:cNvSpPr/>
          <p:nvPr/>
        </p:nvSpPr>
        <p:spPr>
          <a:xfrm>
            <a:off x="562356" y="1819656"/>
            <a:ext cx="7804404" cy="1304543"/>
          </a:xfrm>
          <a:prstGeom prst="roundRect">
            <a:avLst>
              <a:gd name="adj" fmla="val 6000"/>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2356" y="1819656"/>
            <a:ext cx="54864" cy="1304543"/>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 y="1819656"/>
            <a:ext cx="850392" cy="1304543"/>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AVEC IAP</a:t>
            </a:r>
          </a:p>
          <a:p>
            <a:pPr algn="l">
              <a:lnSpc>
                <a:spcPct val="110000"/>
              </a:lnSpc>
              <a:spcBef>
                <a:spcPts val="200"/>
              </a:spcBef>
            </a:pPr>
            <a:r>
              <a:rPr sz="800" b="0" i="1">
                <a:solidFill>
                  <a:srgbClr val="586586"/>
                </a:solidFill>
                <a:latin typeface="Outfit"/>
              </a:rPr>
              <a:t>outillé par le module</a:t>
            </a:r>
          </a:p>
        </p:txBody>
      </p:sp>
      <p:sp>
        <p:nvSpPr>
          <p:cNvPr id="19" name="Rectangle 18"/>
          <p:cNvSpPr/>
          <p:nvPr/>
        </p:nvSpPr>
        <p:spPr>
          <a:xfrm>
            <a:off x="1540764" y="1911095"/>
            <a:ext cx="10972" cy="1121664"/>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05356" y="1892807"/>
            <a:ext cx="1482471" cy="1158240"/>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Trames d'interview par persona, versées à la Collecte</a:t>
            </a:r>
          </a:p>
          <a:p>
            <a:pPr algn="l">
              <a:lnSpc>
                <a:spcPct val="115000"/>
              </a:lnSpc>
              <a:spcBef>
                <a:spcPts val="400"/>
              </a:spcBef>
            </a:pPr>
            <a:r>
              <a:rPr sz="800" b="0" i="0">
                <a:solidFill>
                  <a:srgbClr val="0E2356"/>
                </a:solidFill>
                <a:latin typeface="Outfit"/>
              </a:rPr>
              <a:t>La restitution s'appuie sur le deck exécutif généré</a:t>
            </a:r>
          </a:p>
          <a:p>
            <a:pPr algn="l">
              <a:lnSpc>
                <a:spcPct val="115000"/>
              </a:lnSpc>
              <a:spcBef>
                <a:spcPts val="400"/>
              </a:spcBef>
            </a:pPr>
            <a:r>
              <a:rPr sz="800" b="0" i="0">
                <a:solidFill>
                  <a:srgbClr val="0E2356"/>
                </a:solidFill>
                <a:latin typeface="Outfit"/>
              </a:rPr>
              <a:t>Sondage humain de référence (T0)</a:t>
            </a:r>
          </a:p>
        </p:txBody>
      </p:sp>
      <p:sp>
        <p:nvSpPr>
          <p:cNvPr id="21" name="Rectangle 20"/>
          <p:cNvSpPr/>
          <p:nvPr/>
        </p:nvSpPr>
        <p:spPr>
          <a:xfrm>
            <a:off x="3297555" y="1911095"/>
            <a:ext cx="10972" cy="1121664"/>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07283" y="1892807"/>
            <a:ext cx="1482471" cy="1158240"/>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Deck de plan de déploiement · export markdown (1re version)</a:t>
            </a:r>
          </a:p>
        </p:txBody>
      </p:sp>
      <p:sp>
        <p:nvSpPr>
          <p:cNvPr id="23" name="Rectangle 22"/>
          <p:cNvSpPr/>
          <p:nvPr/>
        </p:nvSpPr>
        <p:spPr>
          <a:xfrm>
            <a:off x="4999482" y="1911095"/>
            <a:ext cx="10972" cy="1121664"/>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09210" y="1892807"/>
            <a:ext cx="1482471" cy="1158240"/>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Comité de pilotage : deck périodique, santé humaine incluse</a:t>
            </a:r>
          </a:p>
        </p:txBody>
      </p:sp>
      <p:sp>
        <p:nvSpPr>
          <p:cNvPr id="25" name="Rectangle 24"/>
          <p:cNvSpPr/>
          <p:nvPr/>
        </p:nvSpPr>
        <p:spPr>
          <a:xfrm>
            <a:off x="6701409" y="1911095"/>
            <a:ext cx="10972" cy="1121664"/>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1137" y="1892807"/>
            <a:ext cx="1482471" cy="1158240"/>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KPI humain rejoué au même instrument : delta T0 → réévaluation</a:t>
            </a:r>
          </a:p>
          <a:p>
            <a:pPr algn="l">
              <a:lnSpc>
                <a:spcPct val="115000"/>
              </a:lnSpc>
              <a:spcBef>
                <a:spcPts val="400"/>
              </a:spcBef>
            </a:pPr>
            <a:r>
              <a:rPr sz="800" b="0" i="0">
                <a:solidFill>
                  <a:srgbClr val="0E2356"/>
                </a:solidFill>
                <a:latin typeface="Outfit"/>
              </a:rPr>
              <a:t>Export markdown amendé · deck de bilan</a:t>
            </a:r>
          </a:p>
        </p:txBody>
      </p:sp>
      <p:sp>
        <p:nvSpPr>
          <p:cNvPr id="27" name="Rounded Rectangle 26"/>
          <p:cNvSpPr/>
          <p:nvPr/>
        </p:nvSpPr>
        <p:spPr>
          <a:xfrm>
            <a:off x="562356" y="3215640"/>
            <a:ext cx="7804404" cy="1005840"/>
          </a:xfrm>
          <a:prstGeom prst="roundRect">
            <a:avLst>
              <a:gd name="adj" fmla="val 6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 y="3215640"/>
            <a:ext cx="850392" cy="1005840"/>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SANS IAP</a:t>
            </a:r>
          </a:p>
          <a:p>
            <a:pPr algn="l">
              <a:lnSpc>
                <a:spcPct val="110000"/>
              </a:lnSpc>
              <a:spcBef>
                <a:spcPts val="200"/>
              </a:spcBef>
            </a:pPr>
            <a:r>
              <a:rPr sz="800" b="0" i="1">
                <a:solidFill>
                  <a:srgbClr val="586586"/>
                </a:solidFill>
                <a:latin typeface="Outfit"/>
              </a:rPr>
              <a:t>présence du consultant</a:t>
            </a:r>
          </a:p>
        </p:txBody>
      </p:sp>
      <p:sp>
        <p:nvSpPr>
          <p:cNvPr id="29" name="Rectangle 28"/>
          <p:cNvSpPr/>
          <p:nvPr/>
        </p:nvSpPr>
        <p:spPr>
          <a:xfrm>
            <a:off x="1540764" y="3307080"/>
            <a:ext cx="10972" cy="822960"/>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705356" y="3288792"/>
            <a:ext cx="1482471" cy="859536"/>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Le sponsor présente lui-même l'ambition (micro-lancement)</a:t>
            </a:r>
          </a:p>
          <a:p>
            <a:pPr algn="l">
              <a:lnSpc>
                <a:spcPct val="115000"/>
              </a:lnSpc>
              <a:spcBef>
                <a:spcPts val="400"/>
              </a:spcBef>
            </a:pPr>
            <a:r>
              <a:rPr sz="800" b="0" i="0">
                <a:solidFill>
                  <a:srgbClr val="0E2356"/>
                </a:solidFill>
                <a:latin typeface="Outfit"/>
              </a:rPr>
              <a:t>Restitution-embarquement : feedback des interviewés</a:t>
            </a:r>
          </a:p>
        </p:txBody>
      </p:sp>
      <p:sp>
        <p:nvSpPr>
          <p:cNvPr id="31" name="Rectangle 30"/>
          <p:cNvSpPr/>
          <p:nvPr/>
        </p:nvSpPr>
        <p:spPr>
          <a:xfrm>
            <a:off x="3297555" y="3307080"/>
            <a:ext cx="10972" cy="822960"/>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7283" y="3288792"/>
            <a:ext cx="1482471" cy="859536"/>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Équipes pilotes volontaires, ateliers co-construits</a:t>
            </a:r>
          </a:p>
          <a:p>
            <a:pPr algn="l">
              <a:lnSpc>
                <a:spcPct val="115000"/>
              </a:lnSpc>
              <a:spcBef>
                <a:spcPts val="400"/>
              </a:spcBef>
            </a:pPr>
            <a:r>
              <a:rPr sz="800" b="0" i="0">
                <a:solidFill>
                  <a:srgbClr val="0E2356"/>
                </a:solidFill>
                <a:latin typeface="Outfit"/>
              </a:rPr>
              <a:t>Formation sur les cas réels — pas de formation sans coaching</a:t>
            </a:r>
          </a:p>
        </p:txBody>
      </p:sp>
      <p:sp>
        <p:nvSpPr>
          <p:cNvPr id="33" name="Rectangle 32"/>
          <p:cNvSpPr/>
          <p:nvPr/>
        </p:nvSpPr>
        <p:spPr>
          <a:xfrm>
            <a:off x="4999482" y="3307080"/>
            <a:ext cx="10972" cy="822960"/>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9210" y="3288792"/>
            <a:ext cx="1482471" cy="859536"/>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Communauté de managers, N+1/N+2 embarqués</a:t>
            </a:r>
          </a:p>
          <a:p>
            <a:pPr algn="l">
              <a:lnSpc>
                <a:spcPct val="115000"/>
              </a:lnSpc>
              <a:spcBef>
                <a:spcPts val="400"/>
              </a:spcBef>
            </a:pPr>
            <a:r>
              <a:rPr sz="800" b="0" i="0">
                <a:solidFill>
                  <a:srgbClr val="0E2356"/>
                </a:solidFill>
                <a:latin typeface="Outfit"/>
              </a:rPr>
              <a:t>Coaching individuel sous déontologie · relais internes formés</a:t>
            </a:r>
          </a:p>
        </p:txBody>
      </p:sp>
      <p:sp>
        <p:nvSpPr>
          <p:cNvPr id="35" name="Rectangle 34"/>
          <p:cNvSpPr/>
          <p:nvPr/>
        </p:nvSpPr>
        <p:spPr>
          <a:xfrm>
            <a:off x="6701409" y="3307080"/>
            <a:ext cx="10972" cy="822960"/>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11137" y="3288792"/>
            <a:ext cx="1482471" cy="859536"/>
          </a:xfrm>
          <a:prstGeom prst="rect">
            <a:avLst/>
          </a:prstGeom>
          <a:noFill/>
        </p:spPr>
        <p:txBody>
          <a:bodyPr wrap="square" anchor="ctr" lIns="0" rIns="0" tIns="0" bIns="0">
            <a:noAutofit/>
          </a:bodyPr>
          <a:lstStyle/>
          <a:p>
            <a:pPr algn="l">
              <a:lnSpc>
                <a:spcPct val="115000"/>
              </a:lnSpc>
              <a:spcBef>
                <a:spcPts val="0"/>
              </a:spcBef>
            </a:pPr>
            <a:r>
              <a:rPr sz="800" b="0" i="0">
                <a:solidFill>
                  <a:srgbClr val="0E2356"/>
                </a:solidFill>
                <a:latin typeface="Outfit"/>
              </a:rPr>
              <a:t>Présence dégressive : le consultant se rend dispensable</a:t>
            </a:r>
          </a:p>
          <a:p>
            <a:pPr algn="l">
              <a:lnSpc>
                <a:spcPct val="115000"/>
              </a:lnSpc>
              <a:spcBef>
                <a:spcPts val="400"/>
              </a:spcBef>
            </a:pPr>
            <a:r>
              <a:rPr sz="800" b="0" i="0">
                <a:solidFill>
                  <a:srgbClr val="0E2356"/>
                </a:solidFill>
                <a:latin typeface="Outfit"/>
              </a:rPr>
              <a:t>Lecture du delta humain avec les équipes</a:t>
            </a:r>
          </a:p>
        </p:txBody>
      </p:sp>
      <p:sp>
        <p:nvSpPr>
          <p:cNvPr id="37" name="Rounded Rectangle 36"/>
          <p:cNvSpPr/>
          <p:nvPr/>
        </p:nvSpPr>
        <p:spPr>
          <a:xfrm>
            <a:off x="562356" y="4306824"/>
            <a:ext cx="7804404" cy="676656"/>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660" y="4306824"/>
            <a:ext cx="7511796" cy="676656"/>
          </a:xfrm>
          <a:prstGeom prst="rect">
            <a:avLst/>
          </a:prstGeom>
          <a:noFill/>
        </p:spPr>
        <p:txBody>
          <a:bodyPr wrap="square" anchor="ctr" lIns="0" rIns="0" tIns="0" bIns="0">
            <a:spAutoFit/>
          </a:bodyPr>
          <a:lstStyle/>
          <a:p>
            <a:pPr algn="l"/>
            <a:r>
              <a:rPr sz="800" b="1" i="0">
                <a:solidFill>
                  <a:srgbClr val="0E2356"/>
                </a:solidFill>
                <a:latin typeface="Outfit"/>
              </a:rPr>
              <a:t>ONZE WORKFLOWS OUTILLÉS, PAR ÉTAPE — UN SEUL BLOQUANT : LE GATE DE CONFIDENTIALITÉ</a:t>
            </a:r>
          </a:p>
          <a:p>
            <a:pPr algn="l">
              <a:lnSpc>
                <a:spcPct val="120000"/>
              </a:lnSpc>
              <a:spcBef>
                <a:spcPts val="300"/>
              </a:spcBef>
            </a:pPr>
            <a:r>
              <a:rPr sz="800" b="1" i="0">
                <a:solidFill>
                  <a:srgbClr val="0E2356"/>
                </a:solidFill>
                <a:latin typeface="Outfit"/>
              </a:rPr>
              <a:t>Intake : </a:t>
            </a:r>
            <a:r>
              <a:rPr sz="800" b="0" i="0">
                <a:solidFill>
                  <a:srgbClr val="0E2356"/>
                </a:solidFill>
                <a:latin typeface="Outfit"/>
              </a:rPr>
              <a:t>qualification du contexte · </a:t>
            </a:r>
            <a:r>
              <a:rPr sz="800" b="1" i="0">
                <a:solidFill>
                  <a:srgbClr val="0E2356"/>
                </a:solidFill>
                <a:latin typeface="Outfit"/>
              </a:rPr>
              <a:t>Diagnostic : </a:t>
            </a:r>
            <a:r>
              <a:rPr sz="800" b="0" i="0">
                <a:solidFill>
                  <a:srgbClr val="0E2356"/>
                </a:solidFill>
                <a:latin typeface="Outfit"/>
              </a:rPr>
              <a:t>diagnostic systémique, découverte du gaspillage · </a:t>
            </a:r>
            <a:r>
              <a:rPr sz="800" b="1" i="0">
                <a:solidFill>
                  <a:srgbClr val="0E2356"/>
                </a:solidFill>
                <a:latin typeface="Outfit"/>
              </a:rPr>
              <a:t>Conception : </a:t>
            </a:r>
            <a:r>
              <a:rPr sz="800" b="0" i="0">
                <a:solidFill>
                  <a:srgbClr val="0E2356"/>
                </a:solidFill>
                <a:latin typeface="Outfit"/>
              </a:rPr>
              <a:t>traitement du gaspillage, définition produit, modèle opératoire, opportunités agentic · </a:t>
            </a:r>
            <a:r>
              <a:rPr sz="800" b="1" i="0">
                <a:solidFill>
                  <a:srgbClr val="0E2356"/>
                </a:solidFill>
                <a:latin typeface="Outfit"/>
              </a:rPr>
              <a:t>Adoption &amp; restitution : </a:t>
            </a:r>
            <a:r>
              <a:rPr sz="800" b="0" i="0">
                <a:solidFill>
                  <a:srgbClr val="0E2356"/>
                </a:solidFill>
                <a:latin typeface="Outfit"/>
              </a:rPr>
              <a:t>plan d'adoption, playbook de scénario, restitution exécutive.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L'EXPERTISE AGENTIC D'OCTO   ·   </a:t>
            </a:r>
            <a:r>
              <a:rPr b="1" sz="1200">
                <a:solidFill>
                  <a:srgbClr val="0E2356"/>
                </a:solidFill>
                <a:latin typeface="Outfit"/>
              </a:rPr>
              <a:t>Trois candidats d'agent, un par famille de gaspillage</a:t>
            </a:r>
          </a:p>
        </p:txBody>
      </p:sp>
      <p:sp>
        <p:nvSpPr>
          <p:cNvPr id="3" name="Rounded Rectangle 2"/>
          <p:cNvSpPr/>
          <p:nvPr/>
        </p:nvSpPr>
        <p:spPr>
          <a:xfrm>
            <a:off x="6263640" y="1051560"/>
            <a:ext cx="2103120" cy="384048"/>
          </a:xfrm>
          <a:prstGeom prst="roundRect">
            <a:avLst>
              <a:gd name="adj" fmla="val 18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73368" y="1051560"/>
            <a:ext cx="1883663" cy="384048"/>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DÉPLOIEMENT AGENTIC</a:t>
            </a:r>
          </a:p>
          <a:p>
            <a:pPr algn="l">
              <a:spcBef>
                <a:spcPts val="100"/>
              </a:spcBef>
            </a:pPr>
            <a:r>
              <a:rPr sz="800" b="0" i="1">
                <a:solidFill>
                  <a:srgbClr val="586586"/>
                </a:solidFill>
                <a:latin typeface="Outfit"/>
              </a:rPr>
              <a:t>cf. les trois niveaux d'ambition</a:t>
            </a:r>
          </a:p>
        </p:txBody>
      </p:sp>
      <p:sp>
        <p:nvSpPr>
          <p:cNvPr id="5" name="TextBox 4"/>
          <p:cNvSpPr txBox="1"/>
          <p:nvPr/>
        </p:nvSpPr>
        <p:spPr>
          <a:xfrm>
            <a:off x="562356" y="1051560"/>
            <a:ext cx="5518404" cy="310896"/>
          </a:xfrm>
          <a:prstGeom prst="rect">
            <a:avLst/>
          </a:prstGeom>
          <a:noFill/>
        </p:spPr>
        <p:txBody>
          <a:bodyPr wrap="square" anchor="t" lIns="0" rIns="0" tIns="0" bIns="0">
            <a:noAutofit/>
          </a:bodyPr>
          <a:lstStyle/>
          <a:p>
            <a:pPr algn="l">
              <a:lnSpc>
                <a:spcPct val="120000"/>
              </a:lnSpc>
            </a:pPr>
            <a:r>
              <a:rPr sz="900" b="0" i="1">
                <a:solidFill>
                  <a:srgbClr val="586586"/>
                </a:solidFill>
                <a:latin typeface="Outfit"/>
              </a:rPr>
              <a:t>Le gaspillage d'abord, l'IA ensuite : chaque candidat répond à une famille déjà cadrée au chapitre Ce que ça coûte — aucun n'est inventé pour l'occasion.</a:t>
            </a:r>
          </a:p>
        </p:txBody>
      </p:sp>
      <p:sp>
        <p:nvSpPr>
          <p:cNvPr id="6" name="Gear 6 5"/>
          <p:cNvSpPr/>
          <p:nvPr/>
        </p:nvSpPr>
        <p:spPr>
          <a:xfrm>
            <a:off x="562356" y="1472184"/>
            <a:ext cx="274320" cy="274320"/>
          </a:xfrm>
          <a:prstGeom prst="gear6">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6404" y="1453895"/>
            <a:ext cx="2071116" cy="310896"/>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Agent de triage de tickets</a:t>
            </a:r>
          </a:p>
          <a:p>
            <a:pPr algn="l">
              <a:spcBef>
                <a:spcPts val="100"/>
              </a:spcBef>
            </a:pPr>
            <a:r>
              <a:rPr sz="800" b="0" i="1">
                <a:solidFill>
                  <a:srgbClr val="586586"/>
                </a:solidFill>
                <a:latin typeface="Outfit"/>
              </a:rPr>
              <a:t>Gaspillage RUN</a:t>
            </a:r>
          </a:p>
        </p:txBody>
      </p:sp>
      <p:sp>
        <p:nvSpPr>
          <p:cNvPr id="8" name="Rectangle 7"/>
          <p:cNvSpPr/>
          <p:nvPr/>
        </p:nvSpPr>
        <p:spPr>
          <a:xfrm>
            <a:off x="562356" y="1856231"/>
            <a:ext cx="2455164" cy="12801"/>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 y="1947672"/>
            <a:ext cx="2455164" cy="146304"/>
          </a:xfrm>
          <a:prstGeom prst="rect">
            <a:avLst/>
          </a:prstGeom>
          <a:noFill/>
        </p:spPr>
        <p:txBody>
          <a:bodyPr wrap="square" anchor="t" lIns="0" rIns="0" tIns="0" bIns="0">
            <a:noAutofit/>
          </a:bodyPr>
          <a:lstStyle/>
          <a:p>
            <a:pPr algn="l"/>
            <a:r>
              <a:rPr sz="800" b="1" i="0">
                <a:solidFill>
                  <a:srgbClr val="0E2356"/>
                </a:solidFill>
                <a:latin typeface="Outfit"/>
              </a:rPr>
              <a:t>POURQUOI</a:t>
            </a:r>
          </a:p>
        </p:txBody>
      </p:sp>
      <p:sp>
        <p:nvSpPr>
          <p:cNvPr id="10" name="TextBox 9"/>
          <p:cNvSpPr txBox="1"/>
          <p:nvPr/>
        </p:nvSpPr>
        <p:spPr>
          <a:xfrm>
            <a:off x="562356" y="2093976"/>
            <a:ext cx="2455164" cy="417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Les mêmes tickets reviennent depuis des années et mobilisent des seniors sur du répétitif à faible valeur.</a:t>
            </a:r>
          </a:p>
        </p:txBody>
      </p:sp>
      <p:sp>
        <p:nvSpPr>
          <p:cNvPr id="11" name="TextBox 10"/>
          <p:cNvSpPr txBox="1"/>
          <p:nvPr/>
        </p:nvSpPr>
        <p:spPr>
          <a:xfrm>
            <a:off x="562356" y="2621280"/>
            <a:ext cx="2455164" cy="146304"/>
          </a:xfrm>
          <a:prstGeom prst="rect">
            <a:avLst/>
          </a:prstGeom>
          <a:noFill/>
        </p:spPr>
        <p:txBody>
          <a:bodyPr wrap="square" anchor="t" lIns="0" rIns="0" tIns="0" bIns="0">
            <a:noAutofit/>
          </a:bodyPr>
          <a:lstStyle/>
          <a:p>
            <a:pPr algn="l"/>
            <a:r>
              <a:rPr sz="800" b="1" i="0">
                <a:solidFill>
                  <a:srgbClr val="0E2356"/>
                </a:solidFill>
                <a:latin typeface="Outfit"/>
              </a:rPr>
              <a:t>CE QUE FAIT L'AGENT</a:t>
            </a:r>
          </a:p>
        </p:txBody>
      </p:sp>
      <p:sp>
        <p:nvSpPr>
          <p:cNvPr id="12" name="TextBox 11"/>
          <p:cNvSpPr txBox="1"/>
          <p:nvPr/>
        </p:nvSpPr>
        <p:spPr>
          <a:xfrm>
            <a:off x="562356" y="2767584"/>
            <a:ext cx="2455164" cy="671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Lit chaque ticket, le classe selon un runbook déjà documenté, le route vers la bonne équipe. Le processus doit être explicite AVANT l'agent — jamais l'inverse.</a:t>
            </a:r>
          </a:p>
        </p:txBody>
      </p:sp>
      <p:sp>
        <p:nvSpPr>
          <p:cNvPr id="13" name="TextBox 12"/>
          <p:cNvSpPr txBox="1"/>
          <p:nvPr/>
        </p:nvSpPr>
        <p:spPr>
          <a:xfrm>
            <a:off x="562356" y="3548888"/>
            <a:ext cx="2455164" cy="146304"/>
          </a:xfrm>
          <a:prstGeom prst="rect">
            <a:avLst/>
          </a:prstGeom>
          <a:noFill/>
        </p:spPr>
        <p:txBody>
          <a:bodyPr wrap="square" anchor="t" lIns="0" rIns="0" tIns="0" bIns="0">
            <a:noAutofit/>
          </a:bodyPr>
          <a:lstStyle/>
          <a:p>
            <a:pPr algn="l"/>
            <a:r>
              <a:rPr sz="800" b="1" i="0">
                <a:solidFill>
                  <a:srgbClr val="0E2356"/>
                </a:solidFill>
                <a:latin typeface="Outfit"/>
              </a:rPr>
              <a:t>GAIN</a:t>
            </a:r>
          </a:p>
        </p:txBody>
      </p:sp>
      <p:sp>
        <p:nvSpPr>
          <p:cNvPr id="14" name="TextBox 13"/>
          <p:cNvSpPr txBox="1"/>
          <p:nvPr/>
        </p:nvSpPr>
        <p:spPr>
          <a:xfrm>
            <a:off x="562356" y="3695192"/>
            <a:ext cx="2455164" cy="544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Jusqu'à 15 tickets/mois sans intervention humaine, temps de triage divisé par deux (cas nominal du cadrage).</a:t>
            </a:r>
          </a:p>
        </p:txBody>
      </p:sp>
      <p:sp>
        <p:nvSpPr>
          <p:cNvPr id="15" name="Cloud 14"/>
          <p:cNvSpPr/>
          <p:nvPr/>
        </p:nvSpPr>
        <p:spPr>
          <a:xfrm>
            <a:off x="3236976" y="1472184"/>
            <a:ext cx="274320" cy="274320"/>
          </a:xfrm>
          <a:prstGeom prst="cloud">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1453895"/>
            <a:ext cx="2071116" cy="310896"/>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Agent de veille FinOps</a:t>
            </a:r>
          </a:p>
          <a:p>
            <a:pPr algn="l">
              <a:spcBef>
                <a:spcPts val="100"/>
              </a:spcBef>
            </a:pPr>
            <a:r>
              <a:rPr sz="800" b="0" i="1">
                <a:solidFill>
                  <a:srgbClr val="586586"/>
                </a:solidFill>
                <a:latin typeface="Outfit"/>
              </a:rPr>
              <a:t>Gaspillage Financier</a:t>
            </a:r>
          </a:p>
        </p:txBody>
      </p:sp>
      <p:sp>
        <p:nvSpPr>
          <p:cNvPr id="17" name="Rectangle 16"/>
          <p:cNvSpPr/>
          <p:nvPr/>
        </p:nvSpPr>
        <p:spPr>
          <a:xfrm>
            <a:off x="3236976" y="1856231"/>
            <a:ext cx="2455164" cy="12801"/>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36976" y="1947672"/>
            <a:ext cx="2455164" cy="146304"/>
          </a:xfrm>
          <a:prstGeom prst="rect">
            <a:avLst/>
          </a:prstGeom>
          <a:noFill/>
        </p:spPr>
        <p:txBody>
          <a:bodyPr wrap="square" anchor="t" lIns="0" rIns="0" tIns="0" bIns="0">
            <a:noAutofit/>
          </a:bodyPr>
          <a:lstStyle/>
          <a:p>
            <a:pPr algn="l"/>
            <a:r>
              <a:rPr sz="800" b="1" i="0">
                <a:solidFill>
                  <a:srgbClr val="0E2356"/>
                </a:solidFill>
                <a:latin typeface="Outfit"/>
              </a:rPr>
              <a:t>POURQUOI</a:t>
            </a:r>
          </a:p>
        </p:txBody>
      </p:sp>
      <p:sp>
        <p:nvSpPr>
          <p:cNvPr id="19" name="TextBox 18"/>
          <p:cNvSpPr txBox="1"/>
          <p:nvPr/>
        </p:nvSpPr>
        <p:spPr>
          <a:xfrm>
            <a:off x="3236976" y="2093976"/>
            <a:ext cx="2455164" cy="544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Les ressources cloud surdimensionnées ou orphelines n'apparaissent qu'aux audits ponctuels — le gaspillage s'accumule entre deux revues.</a:t>
            </a:r>
          </a:p>
        </p:txBody>
      </p:sp>
      <p:sp>
        <p:nvSpPr>
          <p:cNvPr id="20" name="TextBox 19"/>
          <p:cNvSpPr txBox="1"/>
          <p:nvPr/>
        </p:nvSpPr>
        <p:spPr>
          <a:xfrm>
            <a:off x="3236976" y="2748280"/>
            <a:ext cx="2455164" cy="146304"/>
          </a:xfrm>
          <a:prstGeom prst="rect">
            <a:avLst/>
          </a:prstGeom>
          <a:noFill/>
        </p:spPr>
        <p:txBody>
          <a:bodyPr wrap="square" anchor="t" lIns="0" rIns="0" tIns="0" bIns="0">
            <a:noAutofit/>
          </a:bodyPr>
          <a:lstStyle/>
          <a:p>
            <a:pPr algn="l"/>
            <a:r>
              <a:rPr sz="800" b="1" i="0">
                <a:solidFill>
                  <a:srgbClr val="0E2356"/>
                </a:solidFill>
                <a:latin typeface="Outfit"/>
              </a:rPr>
              <a:t>CE QUE FAIT L'AGENT</a:t>
            </a:r>
          </a:p>
        </p:txBody>
      </p:sp>
      <p:sp>
        <p:nvSpPr>
          <p:cNvPr id="21" name="TextBox 20"/>
          <p:cNvSpPr txBox="1"/>
          <p:nvPr/>
        </p:nvSpPr>
        <p:spPr>
          <a:xfrm>
            <a:off x="3236976" y="2894584"/>
            <a:ext cx="2455164" cy="671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Scanne en continu la CMDB et la facturation, repère l'inactif et le surdimensionné, propose une liste à valider — ne décommissionne jamais seul.</a:t>
            </a:r>
          </a:p>
        </p:txBody>
      </p:sp>
      <p:sp>
        <p:nvSpPr>
          <p:cNvPr id="22" name="TextBox 21"/>
          <p:cNvSpPr txBox="1"/>
          <p:nvPr/>
        </p:nvSpPr>
        <p:spPr>
          <a:xfrm>
            <a:off x="3236976" y="3675887"/>
            <a:ext cx="2455164" cy="146304"/>
          </a:xfrm>
          <a:prstGeom prst="rect">
            <a:avLst/>
          </a:prstGeom>
          <a:noFill/>
        </p:spPr>
        <p:txBody>
          <a:bodyPr wrap="square" anchor="t" lIns="0" rIns="0" tIns="0" bIns="0">
            <a:noAutofit/>
          </a:bodyPr>
          <a:lstStyle/>
          <a:p>
            <a:pPr algn="l"/>
            <a:r>
              <a:rPr sz="800" b="1" i="0">
                <a:solidFill>
                  <a:srgbClr val="0E2356"/>
                </a:solidFill>
                <a:latin typeface="Outfit"/>
              </a:rPr>
              <a:t>GAIN</a:t>
            </a:r>
          </a:p>
        </p:txBody>
      </p:sp>
      <p:sp>
        <p:nvSpPr>
          <p:cNvPr id="23" name="TextBox 22"/>
          <p:cNvSpPr txBox="1"/>
          <p:nvPr/>
        </p:nvSpPr>
        <p:spPr>
          <a:xfrm>
            <a:off x="3236976" y="3822191"/>
            <a:ext cx="2455164" cy="290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Coût récupéré directement mesurable — un KPI de mission déjà cadré.</a:t>
            </a:r>
          </a:p>
        </p:txBody>
      </p:sp>
      <p:sp>
        <p:nvSpPr>
          <p:cNvPr id="24" name="Folded Corner 23"/>
          <p:cNvSpPr/>
          <p:nvPr/>
        </p:nvSpPr>
        <p:spPr>
          <a:xfrm>
            <a:off x="5911596" y="1472184"/>
            <a:ext cx="274320" cy="274320"/>
          </a:xfrm>
          <a:prstGeom prst="foldedCorner">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5644" y="1453895"/>
            <a:ext cx="2071116" cy="310896"/>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Agent documentaire (RAG)</a:t>
            </a:r>
          </a:p>
          <a:p>
            <a:pPr algn="l">
              <a:spcBef>
                <a:spcPts val="100"/>
              </a:spcBef>
            </a:pPr>
            <a:r>
              <a:rPr sz="800" b="0" i="1">
                <a:solidFill>
                  <a:srgbClr val="586586"/>
                </a:solidFill>
                <a:latin typeface="Outfit"/>
              </a:rPr>
              <a:t>Gaspillage Cognitif</a:t>
            </a:r>
          </a:p>
        </p:txBody>
      </p:sp>
      <p:sp>
        <p:nvSpPr>
          <p:cNvPr id="26" name="Rectangle 25"/>
          <p:cNvSpPr/>
          <p:nvPr/>
        </p:nvSpPr>
        <p:spPr>
          <a:xfrm>
            <a:off x="5911596" y="1856231"/>
            <a:ext cx="2455164" cy="12801"/>
          </a:xfrm>
          <a:prstGeom prst="rect">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11596" y="1947672"/>
            <a:ext cx="2455164" cy="146304"/>
          </a:xfrm>
          <a:prstGeom prst="rect">
            <a:avLst/>
          </a:prstGeom>
          <a:noFill/>
        </p:spPr>
        <p:txBody>
          <a:bodyPr wrap="square" anchor="t" lIns="0" rIns="0" tIns="0" bIns="0">
            <a:noAutofit/>
          </a:bodyPr>
          <a:lstStyle/>
          <a:p>
            <a:pPr algn="l"/>
            <a:r>
              <a:rPr sz="800" b="1" i="0">
                <a:solidFill>
                  <a:srgbClr val="0E2356"/>
                </a:solidFill>
                <a:latin typeface="Outfit"/>
              </a:rPr>
              <a:t>POURQUOI</a:t>
            </a:r>
          </a:p>
        </p:txBody>
      </p:sp>
      <p:sp>
        <p:nvSpPr>
          <p:cNvPr id="28" name="TextBox 27"/>
          <p:cNvSpPr txBox="1"/>
          <p:nvPr/>
        </p:nvSpPr>
        <p:spPr>
          <a:xfrm>
            <a:off x="5911596" y="2093976"/>
            <a:ext cx="2455164" cy="544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Trop d'outils, procédures dispersées : retrouver l'information ralentit les équipes et sollicite toujours les mêmes experts.</a:t>
            </a:r>
          </a:p>
        </p:txBody>
      </p:sp>
      <p:sp>
        <p:nvSpPr>
          <p:cNvPr id="29" name="TextBox 28"/>
          <p:cNvSpPr txBox="1"/>
          <p:nvPr/>
        </p:nvSpPr>
        <p:spPr>
          <a:xfrm>
            <a:off x="5911596" y="2748280"/>
            <a:ext cx="2455164" cy="146304"/>
          </a:xfrm>
          <a:prstGeom prst="rect">
            <a:avLst/>
          </a:prstGeom>
          <a:noFill/>
        </p:spPr>
        <p:txBody>
          <a:bodyPr wrap="square" anchor="t" lIns="0" rIns="0" tIns="0" bIns="0">
            <a:noAutofit/>
          </a:bodyPr>
          <a:lstStyle/>
          <a:p>
            <a:pPr algn="l"/>
            <a:r>
              <a:rPr sz="800" b="1" i="0">
                <a:solidFill>
                  <a:srgbClr val="0E2356"/>
                </a:solidFill>
                <a:latin typeface="Outfit"/>
              </a:rPr>
              <a:t>CE QUE FAIT L'AGENT</a:t>
            </a:r>
          </a:p>
        </p:txBody>
      </p:sp>
      <p:sp>
        <p:nvSpPr>
          <p:cNvPr id="30" name="TextBox 29"/>
          <p:cNvSpPr txBox="1"/>
          <p:nvPr/>
        </p:nvSpPr>
        <p:spPr>
          <a:xfrm>
            <a:off x="5911596" y="2894584"/>
            <a:ext cx="2455164" cy="544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Indexe runbooks, wikis et tickets résolus, répond aux questions fréquentes avec la source citée — jamais de réponse sans preuve.</a:t>
            </a:r>
          </a:p>
        </p:txBody>
      </p:sp>
      <p:sp>
        <p:nvSpPr>
          <p:cNvPr id="31" name="TextBox 30"/>
          <p:cNvSpPr txBox="1"/>
          <p:nvPr/>
        </p:nvSpPr>
        <p:spPr>
          <a:xfrm>
            <a:off x="5911596" y="3548888"/>
            <a:ext cx="2455164" cy="146304"/>
          </a:xfrm>
          <a:prstGeom prst="rect">
            <a:avLst/>
          </a:prstGeom>
          <a:noFill/>
        </p:spPr>
        <p:txBody>
          <a:bodyPr wrap="square" anchor="t" lIns="0" rIns="0" tIns="0" bIns="0">
            <a:noAutofit/>
          </a:bodyPr>
          <a:lstStyle/>
          <a:p>
            <a:pPr algn="l"/>
            <a:r>
              <a:rPr sz="800" b="1" i="0">
                <a:solidFill>
                  <a:srgbClr val="0E2356"/>
                </a:solidFill>
                <a:latin typeface="Outfit"/>
              </a:rPr>
              <a:t>GAIN</a:t>
            </a:r>
          </a:p>
        </p:txBody>
      </p:sp>
      <p:sp>
        <p:nvSpPr>
          <p:cNvPr id="32" name="TextBox 31"/>
          <p:cNvSpPr txBox="1"/>
          <p:nvPr/>
        </p:nvSpPr>
        <p:spPr>
          <a:xfrm>
            <a:off x="5911596" y="3695192"/>
            <a:ext cx="2455164" cy="417576"/>
          </a:xfrm>
          <a:prstGeom prst="rect">
            <a:avLst/>
          </a:prstGeom>
          <a:noFill/>
        </p:spPr>
        <p:txBody>
          <a:bodyPr wrap="square" anchor="t" lIns="0" rIns="0" tIns="0" bIns="0">
            <a:noAutofit/>
          </a:bodyPr>
          <a:lstStyle/>
          <a:p>
            <a:pPr algn="l">
              <a:lnSpc>
                <a:spcPct val="122000"/>
              </a:lnSpc>
            </a:pPr>
            <a:r>
              <a:rPr sz="800" b="0" i="0">
                <a:solidFill>
                  <a:srgbClr val="0E2356"/>
                </a:solidFill>
                <a:latin typeface="Outfit"/>
              </a:rPr>
              <a:t>Charge cognitive réduite, onboarding plus rapide, moins d'interruptions des experts seniors.</a:t>
            </a:r>
          </a:p>
        </p:txBody>
      </p:sp>
      <p:sp>
        <p:nvSpPr>
          <p:cNvPr id="33" name="TextBox 32"/>
          <p:cNvSpPr txBox="1"/>
          <p:nvPr/>
        </p:nvSpPr>
        <p:spPr>
          <a:xfrm>
            <a:off x="562356" y="4672584"/>
            <a:ext cx="7804404" cy="310896"/>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Ces 3 candidats restent soumis au scoring (chapitre L'offre) et au gate de confidentialité avant toute décision — des exemples illustratifs, pas une liste actée.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L'EXPERTISE AGENTIC D'OCTO   ·   </a:t>
            </a:r>
            <a:r>
              <a:rPr b="1" sz="1200">
                <a:solidFill>
                  <a:srgbClr val="0E2356"/>
                </a:solidFill>
                <a:latin typeface="Outfit"/>
              </a:rPr>
              <a:t>Sous contrôle : la donnée fixe le mode d'exécution, la prudence freine le score</a:t>
            </a:r>
          </a:p>
        </p:txBody>
      </p:sp>
      <p:sp>
        <p:nvSpPr>
          <p:cNvPr id="3" name="TextBox 2"/>
          <p:cNvSpPr txBox="1"/>
          <p:nvPr/>
        </p:nvSpPr>
        <p:spPr>
          <a:xfrm>
            <a:off x="562356" y="1051560"/>
            <a:ext cx="7804404" cy="274320"/>
          </a:xfrm>
          <a:prstGeom prst="rect">
            <a:avLst/>
          </a:prstGeom>
          <a:noFill/>
        </p:spPr>
        <p:txBody>
          <a:bodyPr wrap="square" anchor="t" lIns="0" rIns="0" tIns="0" bIns="0">
            <a:noAutofit/>
          </a:bodyPr>
          <a:lstStyle/>
          <a:p>
            <a:pPr algn="l"/>
            <a:r>
              <a:rPr sz="850" b="0" i="1">
                <a:solidFill>
                  <a:srgbClr val="586586"/>
                </a:solidFill>
                <a:latin typeface="Outfit"/>
              </a:rPr>
              <a:t>Checkpoint toujours humain avant tout usage IA sur donnée client — le gate de confidentialité, quel que soit le mode d'exécution retenu.</a:t>
            </a:r>
          </a:p>
        </p:txBody>
      </p:sp>
      <p:sp>
        <p:nvSpPr>
          <p:cNvPr id="4" name="TextBox 3"/>
          <p:cNvSpPr txBox="1"/>
          <p:nvPr/>
        </p:nvSpPr>
        <p:spPr>
          <a:xfrm>
            <a:off x="562356" y="1380744"/>
            <a:ext cx="4709160" cy="182880"/>
          </a:xfrm>
          <a:prstGeom prst="rect">
            <a:avLst/>
          </a:prstGeom>
          <a:noFill/>
        </p:spPr>
        <p:txBody>
          <a:bodyPr wrap="square" anchor="t" lIns="0" rIns="0" tIns="0" bIns="0">
            <a:noAutofit/>
          </a:bodyPr>
          <a:lstStyle/>
          <a:p>
            <a:pPr algn="l"/>
            <a:r>
              <a:rPr sz="800" b="1" i="0">
                <a:solidFill>
                  <a:srgbClr val="586586"/>
                </a:solidFill>
                <a:latin typeface="Outfit"/>
              </a:rPr>
              <a:t>LE GATE DE CONFIDENTIALITÉ — LA DONNÉE DÉCIDE DU MODE</a:t>
            </a:r>
          </a:p>
        </p:txBody>
      </p:sp>
      <p:sp>
        <p:nvSpPr>
          <p:cNvPr id="5" name="Rounded Rectangle 4"/>
          <p:cNvSpPr/>
          <p:nvPr/>
        </p:nvSpPr>
        <p:spPr>
          <a:xfrm>
            <a:off x="562356" y="1618488"/>
            <a:ext cx="1188720" cy="457200"/>
          </a:xfrm>
          <a:prstGeom prst="roundRect">
            <a:avLst>
              <a:gd name="adj" fmla="val 50000"/>
            </a:avLst>
          </a:prstGeom>
          <a:solidFill>
            <a:srgbClr val="5865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2356" y="1618488"/>
            <a:ext cx="1188720" cy="457200"/>
          </a:xfrm>
          <a:prstGeom prst="rect">
            <a:avLst/>
          </a:prstGeom>
          <a:noFill/>
        </p:spPr>
        <p:txBody>
          <a:bodyPr wrap="square" anchor="ctr" lIns="0" rIns="0" tIns="0" bIns="0">
            <a:noAutofit/>
          </a:bodyPr>
          <a:lstStyle/>
          <a:p>
            <a:pPr algn="ctr"/>
            <a:r>
              <a:rPr sz="850" b="1" i="0">
                <a:solidFill>
                  <a:srgbClr val="FFFFFF"/>
                </a:solidFill>
                <a:latin typeface="Outfit"/>
              </a:rPr>
              <a:t>D0 · Public</a:t>
            </a:r>
          </a:p>
        </p:txBody>
      </p:sp>
      <p:sp>
        <p:nvSpPr>
          <p:cNvPr id="7" name="TextBox 6"/>
          <p:cNvSpPr txBox="1"/>
          <p:nvPr/>
        </p:nvSpPr>
        <p:spPr>
          <a:xfrm>
            <a:off x="1879092" y="1618488"/>
            <a:ext cx="1874519" cy="457200"/>
          </a:xfrm>
          <a:prstGeom prst="rect">
            <a:avLst/>
          </a:prstGeom>
          <a:noFill/>
        </p:spPr>
        <p:txBody>
          <a:bodyPr wrap="square" anchor="ctr" lIns="0" rIns="0" tIns="0" bIns="0">
            <a:noAutofit/>
          </a:bodyPr>
          <a:lstStyle/>
          <a:p>
            <a:pPr algn="l">
              <a:lnSpc>
                <a:spcPct val="115000"/>
              </a:lnSpc>
            </a:pPr>
            <a:r>
              <a:rPr sz="850" b="0" i="0">
                <a:solidFill>
                  <a:srgbClr val="0E2356"/>
                </a:solidFill>
                <a:latin typeface="Outfit"/>
              </a:rPr>
              <a:t>Articles publics, docs méthodo</a:t>
            </a:r>
          </a:p>
        </p:txBody>
      </p:sp>
      <p:sp>
        <p:nvSpPr>
          <p:cNvPr id="8" name="TextBox 7"/>
          <p:cNvSpPr txBox="1"/>
          <p:nvPr/>
        </p:nvSpPr>
        <p:spPr>
          <a:xfrm>
            <a:off x="3826764" y="1618488"/>
            <a:ext cx="1444752" cy="457200"/>
          </a:xfrm>
          <a:prstGeom prst="rect">
            <a:avLst/>
          </a:prstGeom>
          <a:noFill/>
        </p:spPr>
        <p:txBody>
          <a:bodyPr wrap="square" anchor="ctr" lIns="0" rIns="0" tIns="0" bIns="0">
            <a:noAutofit/>
          </a:bodyPr>
          <a:lstStyle/>
          <a:p>
            <a:pPr algn="l">
              <a:lnSpc>
                <a:spcPct val="115000"/>
              </a:lnSpc>
            </a:pPr>
            <a:r>
              <a:rPr sz="850" b="0" i="1">
                <a:solidFill>
                  <a:srgbClr val="586586"/>
                </a:solidFill>
                <a:latin typeface="Outfit"/>
              </a:rPr>
              <a:t>IA externe possible</a:t>
            </a:r>
          </a:p>
        </p:txBody>
      </p:sp>
      <p:sp>
        <p:nvSpPr>
          <p:cNvPr id="9" name="Rounded Rectangle 8"/>
          <p:cNvSpPr/>
          <p:nvPr/>
        </p:nvSpPr>
        <p:spPr>
          <a:xfrm>
            <a:off x="562356" y="2148840"/>
            <a:ext cx="1188720" cy="457200"/>
          </a:xfrm>
          <a:prstGeom prst="roundRect">
            <a:avLst>
              <a:gd name="adj" fmla="val 50000"/>
            </a:avLst>
          </a:prstGeom>
          <a:solidFill>
            <a:srgbClr val="4A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2356" y="2148840"/>
            <a:ext cx="1188720" cy="457200"/>
          </a:xfrm>
          <a:prstGeom prst="rect">
            <a:avLst/>
          </a:prstGeom>
          <a:noFill/>
        </p:spPr>
        <p:txBody>
          <a:bodyPr wrap="square" anchor="ctr" lIns="0" rIns="0" tIns="0" bIns="0">
            <a:noAutofit/>
          </a:bodyPr>
          <a:lstStyle/>
          <a:p>
            <a:pPr algn="ctr"/>
            <a:r>
              <a:rPr sz="850" b="1" i="0">
                <a:solidFill>
                  <a:srgbClr val="FFFFFF"/>
                </a:solidFill>
                <a:latin typeface="Outfit"/>
              </a:rPr>
              <a:t>D1 · Interne</a:t>
            </a:r>
          </a:p>
        </p:txBody>
      </p:sp>
      <p:sp>
        <p:nvSpPr>
          <p:cNvPr id="11" name="TextBox 10"/>
          <p:cNvSpPr txBox="1"/>
          <p:nvPr/>
        </p:nvSpPr>
        <p:spPr>
          <a:xfrm>
            <a:off x="1879092" y="2148840"/>
            <a:ext cx="1874519" cy="457200"/>
          </a:xfrm>
          <a:prstGeom prst="rect">
            <a:avLst/>
          </a:prstGeom>
          <a:noFill/>
        </p:spPr>
        <p:txBody>
          <a:bodyPr wrap="square" anchor="ctr" lIns="0" rIns="0" tIns="0" bIns="0">
            <a:noAutofit/>
          </a:bodyPr>
          <a:lstStyle/>
          <a:p>
            <a:pPr algn="l">
              <a:lnSpc>
                <a:spcPct val="115000"/>
              </a:lnSpc>
            </a:pPr>
            <a:r>
              <a:rPr sz="850" b="0" i="0">
                <a:solidFill>
                  <a:srgbClr val="0E2356"/>
                </a:solidFill>
                <a:latin typeface="Outfit"/>
              </a:rPr>
              <a:t>Organisation macro, catalogue anonymisé</a:t>
            </a:r>
          </a:p>
        </p:txBody>
      </p:sp>
      <p:sp>
        <p:nvSpPr>
          <p:cNvPr id="12" name="TextBox 11"/>
          <p:cNvSpPr txBox="1"/>
          <p:nvPr/>
        </p:nvSpPr>
        <p:spPr>
          <a:xfrm>
            <a:off x="3826764" y="2148840"/>
            <a:ext cx="1444752" cy="457200"/>
          </a:xfrm>
          <a:prstGeom prst="rect">
            <a:avLst/>
          </a:prstGeom>
          <a:noFill/>
        </p:spPr>
        <p:txBody>
          <a:bodyPr wrap="square" anchor="ctr" lIns="0" rIns="0" tIns="0" bIns="0">
            <a:noAutofit/>
          </a:bodyPr>
          <a:lstStyle/>
          <a:p>
            <a:pPr algn="l">
              <a:lnSpc>
                <a:spcPct val="115000"/>
              </a:lnSpc>
            </a:pPr>
            <a:r>
              <a:rPr sz="850" b="0" i="1">
                <a:solidFill>
                  <a:srgbClr val="586586"/>
                </a:solidFill>
                <a:latin typeface="Outfit"/>
              </a:rPr>
              <a:t>IA client recommandée</a:t>
            </a:r>
          </a:p>
        </p:txBody>
      </p:sp>
      <p:sp>
        <p:nvSpPr>
          <p:cNvPr id="13" name="Rounded Rectangle 12"/>
          <p:cNvSpPr/>
          <p:nvPr/>
        </p:nvSpPr>
        <p:spPr>
          <a:xfrm>
            <a:off x="562356" y="2679191"/>
            <a:ext cx="1188720" cy="457200"/>
          </a:xfrm>
          <a:prstGeom prst="roundRect">
            <a:avLst>
              <a:gd name="adj" fmla="val 50000"/>
            </a:avLst>
          </a:prstGeom>
          <a:solidFill>
            <a:srgbClr val="3E4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 y="2679191"/>
            <a:ext cx="1188720" cy="457200"/>
          </a:xfrm>
          <a:prstGeom prst="rect">
            <a:avLst/>
          </a:prstGeom>
          <a:noFill/>
        </p:spPr>
        <p:txBody>
          <a:bodyPr wrap="square" anchor="ctr" lIns="0" rIns="0" tIns="0" bIns="0">
            <a:noAutofit/>
          </a:bodyPr>
          <a:lstStyle/>
          <a:p>
            <a:pPr algn="ctr"/>
            <a:r>
              <a:rPr sz="850" b="1" i="0">
                <a:solidFill>
                  <a:srgbClr val="FFFFFF"/>
                </a:solidFill>
                <a:latin typeface="Outfit"/>
              </a:rPr>
              <a:t>D2 · Confidentiel</a:t>
            </a:r>
          </a:p>
        </p:txBody>
      </p:sp>
      <p:sp>
        <p:nvSpPr>
          <p:cNvPr id="15" name="TextBox 14"/>
          <p:cNvSpPr txBox="1"/>
          <p:nvPr/>
        </p:nvSpPr>
        <p:spPr>
          <a:xfrm>
            <a:off x="1879092" y="2679191"/>
            <a:ext cx="1874519" cy="457200"/>
          </a:xfrm>
          <a:prstGeom prst="rect">
            <a:avLst/>
          </a:prstGeom>
          <a:noFill/>
        </p:spPr>
        <p:txBody>
          <a:bodyPr wrap="square" anchor="ctr" lIns="0" rIns="0" tIns="0" bIns="0">
            <a:noAutofit/>
          </a:bodyPr>
          <a:lstStyle/>
          <a:p>
            <a:pPr algn="l">
              <a:lnSpc>
                <a:spcPct val="115000"/>
              </a:lnSpc>
            </a:pPr>
            <a:r>
              <a:rPr sz="850" b="0" i="0">
                <a:solidFill>
                  <a:srgbClr val="0E2356"/>
                </a:solidFill>
                <a:latin typeface="Outfit"/>
              </a:rPr>
              <a:t>Notes d'interview, reporting</a:t>
            </a:r>
          </a:p>
        </p:txBody>
      </p:sp>
      <p:sp>
        <p:nvSpPr>
          <p:cNvPr id="16" name="TextBox 15"/>
          <p:cNvSpPr txBox="1"/>
          <p:nvPr/>
        </p:nvSpPr>
        <p:spPr>
          <a:xfrm>
            <a:off x="3826764" y="2679191"/>
            <a:ext cx="1444752" cy="457200"/>
          </a:xfrm>
          <a:prstGeom prst="rect">
            <a:avLst/>
          </a:prstGeom>
          <a:noFill/>
        </p:spPr>
        <p:txBody>
          <a:bodyPr wrap="square" anchor="ctr" lIns="0" rIns="0" tIns="0" bIns="0">
            <a:noAutofit/>
          </a:bodyPr>
          <a:lstStyle/>
          <a:p>
            <a:pPr algn="l">
              <a:lnSpc>
                <a:spcPct val="115000"/>
              </a:lnSpc>
            </a:pPr>
            <a:r>
              <a:rPr sz="850" b="0" i="1">
                <a:solidFill>
                  <a:srgbClr val="586586"/>
                </a:solidFill>
                <a:latin typeface="Outfit"/>
              </a:rPr>
              <a:t>IA client ou LLM privé</a:t>
            </a:r>
          </a:p>
        </p:txBody>
      </p:sp>
      <p:sp>
        <p:nvSpPr>
          <p:cNvPr id="17" name="Rounded Rectangle 16"/>
          <p:cNvSpPr/>
          <p:nvPr/>
        </p:nvSpPr>
        <p:spPr>
          <a:xfrm>
            <a:off x="562356" y="3209544"/>
            <a:ext cx="1188720" cy="457200"/>
          </a:xfrm>
          <a:prstGeom prst="roundRect">
            <a:avLst>
              <a:gd name="adj" fmla="val 50000"/>
            </a:avLst>
          </a:prstGeom>
          <a:solidFill>
            <a:srgbClr val="263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2356" y="3209544"/>
            <a:ext cx="1188720" cy="457200"/>
          </a:xfrm>
          <a:prstGeom prst="rect">
            <a:avLst/>
          </a:prstGeom>
          <a:noFill/>
        </p:spPr>
        <p:txBody>
          <a:bodyPr wrap="square" anchor="ctr" lIns="0" rIns="0" tIns="0" bIns="0">
            <a:noAutofit/>
          </a:bodyPr>
          <a:lstStyle/>
          <a:p>
            <a:pPr algn="ctr"/>
            <a:r>
              <a:rPr sz="850" b="1" i="0">
                <a:solidFill>
                  <a:srgbClr val="FFFFFF"/>
                </a:solidFill>
                <a:latin typeface="Outfit"/>
              </a:rPr>
              <a:t>D3 · Restreint</a:t>
            </a:r>
          </a:p>
        </p:txBody>
      </p:sp>
      <p:sp>
        <p:nvSpPr>
          <p:cNvPr id="19" name="TextBox 18"/>
          <p:cNvSpPr txBox="1"/>
          <p:nvPr/>
        </p:nvSpPr>
        <p:spPr>
          <a:xfrm>
            <a:off x="1879092" y="3209544"/>
            <a:ext cx="1874519" cy="457200"/>
          </a:xfrm>
          <a:prstGeom prst="rect">
            <a:avLst/>
          </a:prstGeom>
          <a:noFill/>
        </p:spPr>
        <p:txBody>
          <a:bodyPr wrap="square" anchor="ctr" lIns="0" rIns="0" tIns="0" bIns="0">
            <a:noAutofit/>
          </a:bodyPr>
          <a:lstStyle/>
          <a:p>
            <a:pPr algn="l">
              <a:lnSpc>
                <a:spcPct val="115000"/>
              </a:lnSpc>
            </a:pPr>
            <a:r>
              <a:rPr sz="850" b="0" i="0">
                <a:solidFill>
                  <a:srgbClr val="0E2356"/>
                </a:solidFill>
                <a:latin typeface="Outfit"/>
              </a:rPr>
              <a:t>Tickets détaillés, logs, CMDB, IAM</a:t>
            </a:r>
          </a:p>
        </p:txBody>
      </p:sp>
      <p:sp>
        <p:nvSpPr>
          <p:cNvPr id="20" name="TextBox 19"/>
          <p:cNvSpPr txBox="1"/>
          <p:nvPr/>
        </p:nvSpPr>
        <p:spPr>
          <a:xfrm>
            <a:off x="3826764" y="3209544"/>
            <a:ext cx="1444752" cy="457200"/>
          </a:xfrm>
          <a:prstGeom prst="rect">
            <a:avLst/>
          </a:prstGeom>
          <a:noFill/>
        </p:spPr>
        <p:txBody>
          <a:bodyPr wrap="square" anchor="ctr" lIns="0" rIns="0" tIns="0" bIns="0">
            <a:noAutofit/>
          </a:bodyPr>
          <a:lstStyle/>
          <a:p>
            <a:pPr algn="l">
              <a:lnSpc>
                <a:spcPct val="115000"/>
              </a:lnSpc>
            </a:pPr>
            <a:r>
              <a:rPr sz="850" b="0" i="1">
                <a:solidFill>
                  <a:srgbClr val="586586"/>
                </a:solidFill>
                <a:latin typeface="Outfit"/>
              </a:rPr>
              <a:t>LLM local, contrôles forts</a:t>
            </a:r>
          </a:p>
        </p:txBody>
      </p:sp>
      <p:sp>
        <p:nvSpPr>
          <p:cNvPr id="21" name="Rounded Rectangle 20"/>
          <p:cNvSpPr/>
          <p:nvPr/>
        </p:nvSpPr>
        <p:spPr>
          <a:xfrm>
            <a:off x="562356" y="3739896"/>
            <a:ext cx="1188720" cy="45720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 y="3739896"/>
            <a:ext cx="1188720" cy="457200"/>
          </a:xfrm>
          <a:prstGeom prst="rect">
            <a:avLst/>
          </a:prstGeom>
          <a:noFill/>
        </p:spPr>
        <p:txBody>
          <a:bodyPr wrap="square" anchor="ctr" lIns="0" rIns="0" tIns="0" bIns="0">
            <a:noAutofit/>
          </a:bodyPr>
          <a:lstStyle/>
          <a:p>
            <a:pPr algn="ctr"/>
            <a:r>
              <a:rPr sz="850" b="1" i="0">
                <a:solidFill>
                  <a:srgbClr val="FFFFFF"/>
                </a:solidFill>
                <a:latin typeface="Outfit"/>
              </a:rPr>
              <a:t>D4 · Critique</a:t>
            </a:r>
          </a:p>
        </p:txBody>
      </p:sp>
      <p:sp>
        <p:nvSpPr>
          <p:cNvPr id="23" name="TextBox 22"/>
          <p:cNvSpPr txBox="1"/>
          <p:nvPr/>
        </p:nvSpPr>
        <p:spPr>
          <a:xfrm>
            <a:off x="1879092" y="3739896"/>
            <a:ext cx="1874519" cy="457200"/>
          </a:xfrm>
          <a:prstGeom prst="rect">
            <a:avLst/>
          </a:prstGeom>
          <a:noFill/>
        </p:spPr>
        <p:txBody>
          <a:bodyPr wrap="square" anchor="ctr" lIns="0" rIns="0" tIns="0" bIns="0">
            <a:noAutofit/>
          </a:bodyPr>
          <a:lstStyle/>
          <a:p>
            <a:pPr algn="l">
              <a:lnSpc>
                <a:spcPct val="115000"/>
              </a:lnSpc>
            </a:pPr>
            <a:r>
              <a:rPr sz="850" b="0" i="0">
                <a:solidFill>
                  <a:srgbClr val="0E2356"/>
                </a:solidFill>
                <a:latin typeface="Outfit"/>
              </a:rPr>
              <a:t>Secrets de production, données réglementées</a:t>
            </a:r>
          </a:p>
        </p:txBody>
      </p:sp>
      <p:sp>
        <p:nvSpPr>
          <p:cNvPr id="24" name="TextBox 23"/>
          <p:cNvSpPr txBox="1"/>
          <p:nvPr/>
        </p:nvSpPr>
        <p:spPr>
          <a:xfrm>
            <a:off x="3826764" y="3739896"/>
            <a:ext cx="1444752" cy="457200"/>
          </a:xfrm>
          <a:prstGeom prst="rect">
            <a:avLst/>
          </a:prstGeom>
          <a:noFill/>
        </p:spPr>
        <p:txBody>
          <a:bodyPr wrap="square" anchor="ctr" lIns="0" rIns="0" tIns="0" bIns="0">
            <a:noAutofit/>
          </a:bodyPr>
          <a:lstStyle/>
          <a:p>
            <a:pPr algn="l">
              <a:lnSpc>
                <a:spcPct val="115000"/>
              </a:lnSpc>
            </a:pPr>
            <a:r>
              <a:rPr sz="850" b="0" i="1">
                <a:solidFill>
                  <a:srgbClr val="586586"/>
                </a:solidFill>
                <a:latin typeface="Outfit"/>
              </a:rPr>
              <a:t>Local, sans IA générative</a:t>
            </a:r>
          </a:p>
        </p:txBody>
      </p:sp>
      <p:sp>
        <p:nvSpPr>
          <p:cNvPr id="25" name="Rounded Rectangle 24"/>
          <p:cNvSpPr/>
          <p:nvPr/>
        </p:nvSpPr>
        <p:spPr>
          <a:xfrm>
            <a:off x="5500116" y="1380744"/>
            <a:ext cx="2866644" cy="2816352"/>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4708" y="1545336"/>
            <a:ext cx="2537460" cy="2487168"/>
          </a:xfrm>
          <a:prstGeom prst="rect">
            <a:avLst/>
          </a:prstGeom>
          <a:noFill/>
        </p:spPr>
        <p:txBody>
          <a:bodyPr wrap="square" anchor="t" lIns="0" rIns="0" tIns="0" bIns="0">
            <a:spAutoFit/>
          </a:bodyPr>
          <a:lstStyle/>
          <a:p>
            <a:pPr algn="l"/>
            <a:r>
              <a:rPr sz="800" b="1" i="0">
                <a:solidFill>
                  <a:srgbClr val="C7CBE0"/>
                </a:solidFill>
                <a:latin typeface="Outfit"/>
              </a:rPr>
              <a:t>PRUDENCE IA — UN FREIN CHIFFRÉ</a:t>
            </a:r>
          </a:p>
          <a:p>
            <a:pPr algn="l">
              <a:spcBef>
                <a:spcPts val="400"/>
              </a:spcBef>
            </a:pPr>
            <a:r>
              <a:rPr sz="1050" b="1" i="0">
                <a:solidFill>
                  <a:srgbClr val="FFFFFF"/>
                </a:solidFill>
                <a:latin typeface="Outfit"/>
              </a:rPr>
              <a:t>= confidentialité + supervision + criticité</a:t>
            </a:r>
          </a:p>
          <a:p>
            <a:pPr algn="l">
              <a:lnSpc>
                <a:spcPct val="120000"/>
              </a:lnSpc>
              <a:spcBef>
                <a:spcPts val="700"/>
              </a:spcBef>
            </a:pPr>
            <a:r>
              <a:rPr sz="850" b="1" i="0">
                <a:solidFill>
                  <a:srgbClr val="FFFFFF"/>
                </a:solidFill>
                <a:latin typeface="Outfit"/>
              </a:rPr>
              <a:t>Confidentialité : </a:t>
            </a:r>
            <a:r>
              <a:rPr sz="850" b="0" i="0">
                <a:solidFill>
                  <a:srgbClr val="C7CBE0"/>
                </a:solidFill>
                <a:latin typeface="Outfit"/>
              </a:rPr>
              <a:t>reprend la classe D0-D4 : plus la donnée est sensible, plus le score monte.</a:t>
            </a:r>
          </a:p>
          <a:p>
            <a:pPr algn="l">
              <a:lnSpc>
                <a:spcPct val="120000"/>
              </a:lnSpc>
              <a:spcBef>
                <a:spcPts val="700"/>
              </a:spcBef>
            </a:pPr>
            <a:r>
              <a:rPr sz="850" b="1" i="0">
                <a:solidFill>
                  <a:srgbClr val="FFFFFF"/>
                </a:solidFill>
                <a:latin typeface="Outfit"/>
              </a:rPr>
              <a:t>Supervision : </a:t>
            </a:r>
            <a:r>
              <a:rPr sz="850" b="0" i="0">
                <a:solidFill>
                  <a:srgbClr val="C7CBE0"/>
                </a:solidFill>
                <a:latin typeface="Outfit"/>
              </a:rPr>
              <a:t>un agent encore au stade assisté pèse plus lourd qu'un agent éprouvé.</a:t>
            </a:r>
          </a:p>
          <a:p>
            <a:pPr algn="l">
              <a:lnSpc>
                <a:spcPct val="120000"/>
              </a:lnSpc>
              <a:spcBef>
                <a:spcPts val="700"/>
              </a:spcBef>
            </a:pPr>
            <a:r>
              <a:rPr sz="850" b="1" i="0">
                <a:solidFill>
                  <a:srgbClr val="FFFFFF"/>
                </a:solidFill>
                <a:latin typeface="Outfit"/>
              </a:rPr>
              <a:t>Criticité : </a:t>
            </a:r>
            <a:r>
              <a:rPr sz="850" b="0" i="0">
                <a:solidFill>
                  <a:srgbClr val="C7CBE0"/>
                </a:solidFill>
                <a:latin typeface="Outfit"/>
              </a:rPr>
              <a:t>une décision irréversible pèse plus qu'une recommandation réversible.</a:t>
            </a:r>
          </a:p>
          <a:p>
            <a:pPr algn="l">
              <a:lnSpc>
                <a:spcPct val="120000"/>
              </a:lnSpc>
              <a:spcBef>
                <a:spcPts val="1000"/>
              </a:spcBef>
            </a:pPr>
            <a:r>
              <a:rPr sz="850" b="1" i="0">
                <a:solidFill>
                  <a:srgbClr val="FFFFFF"/>
                </a:solidFill>
                <a:latin typeface="Outfit"/>
              </a:rPr>
              <a:t>Soustraite de impact × faisabilité : un frein, pas un veto — avancer malgré un score élevé reste possible, et se documente.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L'EXPERTISE AGENTIC D'OCTO   ·   </a:t>
            </a:r>
            <a:r>
              <a:rPr b="1" sz="1200">
                <a:solidFill>
                  <a:srgbClr val="0E2356"/>
                </a:solidFill>
                <a:latin typeface="Outfit"/>
              </a:rPr>
              <a:t>Trois niveaux d'ambition : seul ce qui passe chez le client change, pas la méthode</a:t>
            </a:r>
          </a:p>
        </p:txBody>
      </p:sp>
      <p:sp>
        <p:nvSpPr>
          <p:cNvPr id="3" name="TextBox 2"/>
          <p:cNvSpPr txBox="1"/>
          <p:nvPr/>
        </p:nvSpPr>
        <p:spPr>
          <a:xfrm>
            <a:off x="2528316" y="1097280"/>
            <a:ext cx="1860803" cy="182880"/>
          </a:xfrm>
          <a:prstGeom prst="rect">
            <a:avLst/>
          </a:prstGeom>
          <a:noFill/>
        </p:spPr>
        <p:txBody>
          <a:bodyPr wrap="square" anchor="t" lIns="0" rIns="0" tIns="0" bIns="0">
            <a:noAutofit/>
          </a:bodyPr>
          <a:lstStyle/>
          <a:p>
            <a:pPr algn="l"/>
            <a:r>
              <a:rPr sz="800" b="1" i="0">
                <a:solidFill>
                  <a:srgbClr val="586586"/>
                </a:solidFill>
                <a:latin typeface="Outfit"/>
              </a:rPr>
              <a:t>CE QU'IL FAIT</a:t>
            </a:r>
          </a:p>
        </p:txBody>
      </p:sp>
      <p:sp>
        <p:nvSpPr>
          <p:cNvPr id="4" name="TextBox 3"/>
          <p:cNvSpPr txBox="1"/>
          <p:nvPr/>
        </p:nvSpPr>
        <p:spPr>
          <a:xfrm>
            <a:off x="4517136" y="1097280"/>
            <a:ext cx="1860803" cy="182880"/>
          </a:xfrm>
          <a:prstGeom prst="rect">
            <a:avLst/>
          </a:prstGeom>
          <a:noFill/>
        </p:spPr>
        <p:txBody>
          <a:bodyPr wrap="square" anchor="t" lIns="0" rIns="0" tIns="0" bIns="0">
            <a:noAutofit/>
          </a:bodyPr>
          <a:lstStyle/>
          <a:p>
            <a:pPr algn="l"/>
            <a:r>
              <a:rPr sz="800" b="1" i="0">
                <a:solidFill>
                  <a:srgbClr val="586586"/>
                </a:solidFill>
                <a:latin typeface="Outfit"/>
              </a:rPr>
              <a:t>LIEN AU SI</a:t>
            </a:r>
          </a:p>
        </p:txBody>
      </p:sp>
      <p:sp>
        <p:nvSpPr>
          <p:cNvPr id="5" name="TextBox 4"/>
          <p:cNvSpPr txBox="1"/>
          <p:nvPr/>
        </p:nvSpPr>
        <p:spPr>
          <a:xfrm>
            <a:off x="6505956" y="1097280"/>
            <a:ext cx="1860803" cy="182880"/>
          </a:xfrm>
          <a:prstGeom prst="rect">
            <a:avLst/>
          </a:prstGeom>
          <a:noFill/>
        </p:spPr>
        <p:txBody>
          <a:bodyPr wrap="square" anchor="t" lIns="0" rIns="0" tIns="0" bIns="0">
            <a:noAutofit/>
          </a:bodyPr>
          <a:lstStyle/>
          <a:p>
            <a:pPr algn="l"/>
            <a:r>
              <a:rPr sz="800" b="1" i="0">
                <a:solidFill>
                  <a:srgbClr val="586586"/>
                </a:solidFill>
                <a:latin typeface="Outfit"/>
              </a:rPr>
              <a:t>CE QUI PASSE CHEZ LE CLIENT</a:t>
            </a:r>
          </a:p>
        </p:txBody>
      </p:sp>
      <p:sp>
        <p:nvSpPr>
          <p:cNvPr id="6" name="Rounded Rectangle 5"/>
          <p:cNvSpPr/>
          <p:nvPr/>
        </p:nvSpPr>
        <p:spPr>
          <a:xfrm>
            <a:off x="562356" y="1353312"/>
            <a:ext cx="7804404" cy="814070"/>
          </a:xfrm>
          <a:prstGeom prst="roundRect">
            <a:avLst>
              <a:gd name="adj" fmla="val 1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2356" y="1353312"/>
            <a:ext cx="1828800" cy="814070"/>
          </a:xfrm>
          <a:prstGeom prst="roundRect">
            <a:avLst>
              <a:gd name="adj" fmla="val 1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2084" y="1577467"/>
            <a:ext cx="365760"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 y="1577467"/>
            <a:ext cx="365760" cy="365760"/>
          </a:xfrm>
          <a:prstGeom prst="rect">
            <a:avLst/>
          </a:prstGeom>
          <a:noFill/>
        </p:spPr>
        <p:txBody>
          <a:bodyPr wrap="square" anchor="ctr" lIns="0" rIns="0" tIns="0" bIns="0">
            <a:noAutofit/>
          </a:bodyPr>
          <a:lstStyle/>
          <a:p>
            <a:pPr algn="ctr"/>
            <a:r>
              <a:rPr sz="1300" b="1" i="0">
                <a:solidFill>
                  <a:srgbClr val="0E2356"/>
                </a:solidFill>
                <a:latin typeface="Outfit"/>
              </a:rPr>
              <a:t>A</a:t>
            </a:r>
          </a:p>
        </p:txBody>
      </p:sp>
      <p:sp>
        <p:nvSpPr>
          <p:cNvPr id="10" name="TextBox 9"/>
          <p:cNvSpPr txBox="1"/>
          <p:nvPr/>
        </p:nvSpPr>
        <p:spPr>
          <a:xfrm>
            <a:off x="1129284" y="1353312"/>
            <a:ext cx="1188720" cy="814070"/>
          </a:xfrm>
          <a:prstGeom prst="rect">
            <a:avLst/>
          </a:prstGeom>
          <a:noFill/>
        </p:spPr>
        <p:txBody>
          <a:bodyPr wrap="square" anchor="ctr" lIns="0" rIns="0" tIns="0" bIns="0">
            <a:noAutofit/>
          </a:bodyPr>
          <a:lstStyle/>
          <a:p>
            <a:pPr algn="l">
              <a:lnSpc>
                <a:spcPct val="110000"/>
              </a:lnSpc>
            </a:pPr>
            <a:r>
              <a:rPr sz="1000" b="1" i="0">
                <a:solidFill>
                  <a:srgbClr val="FFFFFF"/>
                </a:solidFill>
                <a:latin typeface="Outfit"/>
              </a:rPr>
              <a:t>Aide au coach</a:t>
            </a:r>
          </a:p>
          <a:p>
            <a:pPr algn="l">
              <a:spcBef>
                <a:spcPts val="200"/>
              </a:spcBef>
            </a:pPr>
            <a:r>
              <a:rPr sz="800" b="0" i="1">
                <a:solidFill>
                  <a:srgbClr val="C7CBE0"/>
                </a:solidFill>
                <a:latin typeface="Outfit"/>
              </a:rPr>
              <a:t>État actuel (MVP0–MVP5)</a:t>
            </a:r>
          </a:p>
        </p:txBody>
      </p:sp>
      <p:sp>
        <p:nvSpPr>
          <p:cNvPr id="11" name="TextBox 10"/>
          <p:cNvSpPr txBox="1"/>
          <p:nvPr/>
        </p:nvSpPr>
        <p:spPr>
          <a:xfrm>
            <a:off x="2528316" y="1353312"/>
            <a:ext cx="1860803" cy="81407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Génère un livrable à la demande ; le consultant pilote à 100 %.</a:t>
            </a:r>
          </a:p>
        </p:txBody>
      </p:sp>
      <p:sp>
        <p:nvSpPr>
          <p:cNvPr id="12" name="TextBox 11"/>
          <p:cNvSpPr txBox="1"/>
          <p:nvPr/>
        </p:nvSpPr>
        <p:spPr>
          <a:xfrm>
            <a:off x="4517136" y="1353312"/>
            <a:ext cx="1860803" cy="81407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Exports ponctuels et interviews — aucune connexion.</a:t>
            </a:r>
          </a:p>
        </p:txBody>
      </p:sp>
      <p:sp>
        <p:nvSpPr>
          <p:cNvPr id="13" name="TextBox 12"/>
          <p:cNvSpPr txBox="1"/>
          <p:nvPr/>
        </p:nvSpPr>
        <p:spPr>
          <a:xfrm>
            <a:off x="6505956" y="1353312"/>
            <a:ext cx="1860803" cy="814070"/>
          </a:xfrm>
          <a:prstGeom prst="rect">
            <a:avLst/>
          </a:prstGeom>
          <a:noFill/>
        </p:spPr>
        <p:txBody>
          <a:bodyPr wrap="square" anchor="ctr" lIns="0" rIns="0" tIns="0" bIns="0">
            <a:noAutofit/>
          </a:bodyPr>
          <a:lstStyle/>
          <a:p>
            <a:pPr algn="l">
              <a:lnSpc>
                <a:spcPct val="125000"/>
              </a:lnSpc>
            </a:pPr>
            <a:r>
              <a:rPr sz="850" b="1" i="0">
                <a:solidFill>
                  <a:srgbClr val="0E2356"/>
                </a:solidFill>
                <a:latin typeface="Outfit"/>
              </a:rPr>
              <a:t>Rien ne s'installe : livrables markdown et deck, sur le poste du consultant.</a:t>
            </a:r>
          </a:p>
        </p:txBody>
      </p:sp>
      <p:sp>
        <p:nvSpPr>
          <p:cNvPr id="14" name="Rounded Rectangle 13"/>
          <p:cNvSpPr/>
          <p:nvPr/>
        </p:nvSpPr>
        <p:spPr>
          <a:xfrm>
            <a:off x="562356" y="2295398"/>
            <a:ext cx="7804404" cy="731520"/>
          </a:xfrm>
          <a:prstGeom prst="roundRect">
            <a:avLst>
              <a:gd name="adj" fmla="val 1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2356" y="2295398"/>
            <a:ext cx="1828800" cy="731520"/>
          </a:xfrm>
          <a:prstGeom prst="roundRect">
            <a:avLst>
              <a:gd name="adj" fmla="val 10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2084" y="2478277"/>
            <a:ext cx="365760" cy="36576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 y="2478277"/>
            <a:ext cx="365760" cy="365760"/>
          </a:xfrm>
          <a:prstGeom prst="rect">
            <a:avLst/>
          </a:prstGeom>
          <a:noFill/>
        </p:spPr>
        <p:txBody>
          <a:bodyPr wrap="square" anchor="ctr" lIns="0" rIns="0" tIns="0" bIns="0">
            <a:noAutofit/>
          </a:bodyPr>
          <a:lstStyle/>
          <a:p>
            <a:pPr algn="ctr"/>
            <a:r>
              <a:rPr sz="1300" b="1" i="0">
                <a:solidFill>
                  <a:srgbClr val="FFFFFF"/>
                </a:solidFill>
                <a:latin typeface="Outfit"/>
              </a:rPr>
              <a:t>B</a:t>
            </a:r>
          </a:p>
        </p:txBody>
      </p:sp>
      <p:sp>
        <p:nvSpPr>
          <p:cNvPr id="18" name="TextBox 17"/>
          <p:cNvSpPr txBox="1"/>
          <p:nvPr/>
        </p:nvSpPr>
        <p:spPr>
          <a:xfrm>
            <a:off x="1129284" y="2295398"/>
            <a:ext cx="1188720" cy="731520"/>
          </a:xfrm>
          <a:prstGeom prst="rect">
            <a:avLst/>
          </a:prstGeom>
          <a:noFill/>
        </p:spPr>
        <p:txBody>
          <a:bodyPr wrap="square" anchor="ctr" lIns="0" rIns="0" tIns="0" bIns="0">
            <a:noAutofit/>
          </a:bodyPr>
          <a:lstStyle/>
          <a:p>
            <a:pPr algn="l">
              <a:lnSpc>
                <a:spcPct val="110000"/>
              </a:lnSpc>
            </a:pPr>
            <a:r>
              <a:rPr sz="1000" b="1" i="0">
                <a:solidFill>
                  <a:srgbClr val="0E2356"/>
                </a:solidFill>
                <a:latin typeface="Outfit"/>
              </a:rPr>
              <a:t>Assistant interactif</a:t>
            </a:r>
          </a:p>
          <a:p>
            <a:pPr algn="l">
              <a:spcBef>
                <a:spcPts val="200"/>
              </a:spcBef>
            </a:pPr>
            <a:r>
              <a:rPr sz="800" b="0" i="1">
                <a:solidFill>
                  <a:srgbClr val="586586"/>
                </a:solidFill>
                <a:latin typeface="Outfit"/>
              </a:rPr>
              <a:t>Palier intermédiaire</a:t>
            </a:r>
          </a:p>
        </p:txBody>
      </p:sp>
      <p:sp>
        <p:nvSpPr>
          <p:cNvPr id="19" name="TextBox 18"/>
          <p:cNvSpPr txBox="1"/>
          <p:nvPr/>
        </p:nvSpPr>
        <p:spPr>
          <a:xfrm>
            <a:off x="2528316" y="2295398"/>
            <a:ext cx="1860803" cy="73152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Guide pas à pas, pose des questions, signale les incohérences.</a:t>
            </a:r>
          </a:p>
        </p:txBody>
      </p:sp>
      <p:sp>
        <p:nvSpPr>
          <p:cNvPr id="20" name="TextBox 19"/>
          <p:cNvSpPr txBox="1"/>
          <p:nvPr/>
        </p:nvSpPr>
        <p:spPr>
          <a:xfrm>
            <a:off x="4517136" y="2295398"/>
            <a:ext cx="1860803" cy="73152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Exports + app de capture terrain, site centralisé.</a:t>
            </a:r>
          </a:p>
        </p:txBody>
      </p:sp>
      <p:sp>
        <p:nvSpPr>
          <p:cNvPr id="21" name="TextBox 20"/>
          <p:cNvSpPr txBox="1"/>
          <p:nvPr/>
        </p:nvSpPr>
        <p:spPr>
          <a:xfrm>
            <a:off x="6505956" y="2295398"/>
            <a:ext cx="1860803" cy="731520"/>
          </a:xfrm>
          <a:prstGeom prst="rect">
            <a:avLst/>
          </a:prstGeom>
          <a:noFill/>
        </p:spPr>
        <p:txBody>
          <a:bodyPr wrap="square" anchor="ctr" lIns="0" rIns="0" tIns="0" bIns="0">
            <a:noAutofit/>
          </a:bodyPr>
          <a:lstStyle/>
          <a:p>
            <a:pPr algn="l">
              <a:lnSpc>
                <a:spcPct val="125000"/>
              </a:lnSpc>
            </a:pPr>
            <a:r>
              <a:rPr sz="850" b="1" i="0">
                <a:solidFill>
                  <a:srgbClr val="0E2356"/>
                </a:solidFill>
                <a:latin typeface="Outfit"/>
              </a:rPr>
              <a:t>L'app de capture et un tableau de bord multi-engagements.</a:t>
            </a:r>
          </a:p>
        </p:txBody>
      </p:sp>
      <p:sp>
        <p:nvSpPr>
          <p:cNvPr id="22" name="Rounded Rectangle 21"/>
          <p:cNvSpPr/>
          <p:nvPr/>
        </p:nvSpPr>
        <p:spPr>
          <a:xfrm>
            <a:off x="562356" y="3154934"/>
            <a:ext cx="7804404" cy="731520"/>
          </a:xfrm>
          <a:prstGeom prst="roundRect">
            <a:avLst>
              <a:gd name="adj" fmla="val 10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2356" y="3154934"/>
            <a:ext cx="1828800" cy="731520"/>
          </a:xfrm>
          <a:prstGeom prst="roundRect">
            <a:avLst>
              <a:gd name="adj" fmla="val 10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2084" y="3337813"/>
            <a:ext cx="365760" cy="36576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 y="3337813"/>
            <a:ext cx="365760" cy="365760"/>
          </a:xfrm>
          <a:prstGeom prst="rect">
            <a:avLst/>
          </a:prstGeom>
          <a:noFill/>
        </p:spPr>
        <p:txBody>
          <a:bodyPr wrap="square" anchor="ctr" lIns="0" rIns="0" tIns="0" bIns="0">
            <a:noAutofit/>
          </a:bodyPr>
          <a:lstStyle/>
          <a:p>
            <a:pPr algn="ctr"/>
            <a:r>
              <a:rPr sz="1300" b="1" i="0">
                <a:solidFill>
                  <a:srgbClr val="FFFFFF"/>
                </a:solidFill>
                <a:latin typeface="Outfit"/>
              </a:rPr>
              <a:t>C</a:t>
            </a:r>
          </a:p>
        </p:txBody>
      </p:sp>
      <p:sp>
        <p:nvSpPr>
          <p:cNvPr id="26" name="TextBox 25"/>
          <p:cNvSpPr txBox="1"/>
          <p:nvPr/>
        </p:nvSpPr>
        <p:spPr>
          <a:xfrm>
            <a:off x="1129284" y="3154934"/>
            <a:ext cx="1188720" cy="731520"/>
          </a:xfrm>
          <a:prstGeom prst="rect">
            <a:avLst/>
          </a:prstGeom>
          <a:noFill/>
        </p:spPr>
        <p:txBody>
          <a:bodyPr wrap="square" anchor="ctr" lIns="0" rIns="0" tIns="0" bIns="0">
            <a:noAutofit/>
          </a:bodyPr>
          <a:lstStyle/>
          <a:p>
            <a:pPr algn="l">
              <a:lnSpc>
                <a:spcPct val="110000"/>
              </a:lnSpc>
            </a:pPr>
            <a:r>
              <a:rPr sz="1000" b="1" i="0">
                <a:solidFill>
                  <a:srgbClr val="0E2356"/>
                </a:solidFill>
                <a:latin typeface="Outfit"/>
              </a:rPr>
              <a:t>Companion connecté</a:t>
            </a:r>
          </a:p>
          <a:p>
            <a:pPr algn="l">
              <a:spcBef>
                <a:spcPts val="200"/>
              </a:spcBef>
            </a:pPr>
            <a:r>
              <a:rPr sz="800" b="0" i="1">
                <a:solidFill>
                  <a:srgbClr val="586586"/>
                </a:solidFill>
                <a:latin typeface="Outfit"/>
              </a:rPr>
              <a:t>MVP6, non engagé</a:t>
            </a:r>
          </a:p>
        </p:txBody>
      </p:sp>
      <p:sp>
        <p:nvSpPr>
          <p:cNvPr id="27" name="TextBox 26"/>
          <p:cNvSpPr txBox="1"/>
          <p:nvPr/>
        </p:nvSpPr>
        <p:spPr>
          <a:xfrm>
            <a:off x="2528316" y="3154934"/>
            <a:ext cx="1860803" cy="73152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Quasi autonome sur la collecte et la préparation — jamais sur l'arbitrage.</a:t>
            </a:r>
          </a:p>
        </p:txBody>
      </p:sp>
      <p:sp>
        <p:nvSpPr>
          <p:cNvPr id="28" name="TextBox 27"/>
          <p:cNvSpPr txBox="1"/>
          <p:nvPr/>
        </p:nvSpPr>
        <p:spPr>
          <a:xfrm>
            <a:off x="4517136" y="3154934"/>
            <a:ext cx="1860803" cy="731520"/>
          </a:xfrm>
          <a:prstGeom prst="rect">
            <a:avLst/>
          </a:prstGeom>
          <a:noFill/>
        </p:spPr>
        <p:txBody>
          <a:bodyPr wrap="square" anchor="ctr" lIns="0" rIns="0" tIns="0" bIns="0">
            <a:noAutofit/>
          </a:bodyPr>
          <a:lstStyle/>
          <a:p>
            <a:pPr algn="l">
              <a:lnSpc>
                <a:spcPct val="125000"/>
              </a:lnSpc>
            </a:pPr>
            <a:r>
              <a:rPr sz="850" b="0" i="0">
                <a:solidFill>
                  <a:srgbClr val="0E2356"/>
                </a:solidFill>
                <a:latin typeface="Outfit"/>
              </a:rPr>
              <a:t>Connecteurs API directs, en continu (ServiceNow, Jira, CMDB, FinOps…).</a:t>
            </a:r>
          </a:p>
        </p:txBody>
      </p:sp>
      <p:sp>
        <p:nvSpPr>
          <p:cNvPr id="29" name="TextBox 28"/>
          <p:cNvSpPr txBox="1"/>
          <p:nvPr/>
        </p:nvSpPr>
        <p:spPr>
          <a:xfrm>
            <a:off x="6505956" y="3154934"/>
            <a:ext cx="1860803" cy="731520"/>
          </a:xfrm>
          <a:prstGeom prst="rect">
            <a:avLst/>
          </a:prstGeom>
          <a:noFill/>
        </p:spPr>
        <p:txBody>
          <a:bodyPr wrap="square" anchor="ctr" lIns="0" rIns="0" tIns="0" bIns="0">
            <a:noAutofit/>
          </a:bodyPr>
          <a:lstStyle/>
          <a:p>
            <a:pPr algn="l">
              <a:lnSpc>
                <a:spcPct val="125000"/>
              </a:lnSpc>
            </a:pPr>
            <a:r>
              <a:rPr sz="850" b="1" i="0">
                <a:solidFill>
                  <a:srgbClr val="0E2356"/>
                </a:solidFill>
                <a:latin typeface="Outfit"/>
              </a:rPr>
              <a:t>Un accès direct aux données de production : un risque d'un autre ordre.</a:t>
            </a:r>
          </a:p>
        </p:txBody>
      </p:sp>
      <p:sp>
        <p:nvSpPr>
          <p:cNvPr id="30" name="TextBox 29"/>
          <p:cNvSpPr txBox="1"/>
          <p:nvPr/>
        </p:nvSpPr>
        <p:spPr>
          <a:xfrm>
            <a:off x="562356" y="3977893"/>
            <a:ext cx="7804404" cy="365760"/>
          </a:xfrm>
          <a:prstGeom prst="rect">
            <a:avLst/>
          </a:prstGeom>
          <a:noFill/>
        </p:spPr>
        <p:txBody>
          <a:bodyPr wrap="square" anchor="t" lIns="0" rIns="0" tIns="0" bIns="0">
            <a:noAutofit/>
          </a:bodyPr>
          <a:lstStyle/>
          <a:p>
            <a:pPr algn="l">
              <a:lnSpc>
                <a:spcPct val="120000"/>
              </a:lnSpc>
            </a:pPr>
            <a:r>
              <a:rPr sz="850" b="0" i="1">
                <a:solidFill>
                  <a:srgbClr val="586586"/>
                </a:solidFill>
                <a:latin typeface="Outfit"/>
              </a:rPr>
              <a:t>À tout niveau, les agents candidats retenus ne passent chez le client qu'en ②/③, sous gate. Un cabinet peut durablement rester au niveau A ou B par choix de gouvernance.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Réussir et démarrer</a:t>
            </a:r>
          </a:p>
          <a:p>
            <a:r>
              <a:rPr sz="1050" i="1">
                <a:solidFill>
                  <a:srgbClr val="586586"/>
                </a:solidFill>
                <a:latin typeface="Outfit"/>
              </a:rPr>
              <a:t>Les conditions de réussite, ce que la démarche refuse, et la décision de lancer l'Assessment flash.</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07</a:t>
            </a:r>
          </a:p>
        </p:txBody>
      </p:sp>
      <p:pic>
        <p:nvPicPr>
          <p:cNvPr id="4" name="Picture 3" descr="meadow_1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500">
                <a:solidFill>
                  <a:srgbClr val="0E2356"/>
                </a:solidFill>
                <a:latin typeface="Outfit"/>
              </a:rPr>
              <a:t>RÉUSSIR ET DÉMARRER   ·   </a:t>
            </a:r>
            <a:r>
              <a:rPr b="1" sz="1500">
                <a:solidFill>
                  <a:srgbClr val="0E2356"/>
                </a:solidFill>
                <a:latin typeface="Outfit"/>
              </a:rPr>
              <a:t>Quatre conditions de réussite de la démarche</a:t>
            </a:r>
          </a:p>
        </p:txBody>
      </p:sp>
      <p:sp>
        <p:nvSpPr>
          <p:cNvPr id="3" name="TextBox 2"/>
          <p:cNvSpPr txBox="1"/>
          <p:nvPr/>
        </p:nvSpPr>
        <p:spPr>
          <a:xfrm>
            <a:off x="562356" y="1051560"/>
            <a:ext cx="7804404" cy="237744"/>
          </a:xfrm>
          <a:prstGeom prst="rect">
            <a:avLst/>
          </a:prstGeom>
          <a:noFill/>
        </p:spPr>
        <p:txBody>
          <a:bodyPr wrap="square" anchor="t" lIns="0" rIns="0" tIns="0" bIns="0">
            <a:noAutofit/>
          </a:bodyPr>
          <a:lstStyle/>
          <a:p>
            <a:pPr algn="l"/>
            <a:r>
              <a:rPr sz="950" b="0" i="1">
                <a:solidFill>
                  <a:srgbClr val="0E2356"/>
                </a:solidFill>
                <a:latin typeface="Outfit"/>
              </a:rPr>
              <a:t>Nos convictions fixent les conditions de réussite — et ce que la démarche refuse, même quand on le lui demande.</a:t>
            </a:r>
          </a:p>
        </p:txBody>
      </p:sp>
      <p:sp>
        <p:nvSpPr>
          <p:cNvPr id="4" name="Rectangle 3"/>
          <p:cNvSpPr/>
          <p:nvPr/>
        </p:nvSpPr>
        <p:spPr>
          <a:xfrm>
            <a:off x="699516" y="1760219"/>
            <a:ext cx="18288" cy="2276856"/>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28116" y="1417319"/>
            <a:ext cx="3154680" cy="68580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71500" y="1623060"/>
            <a:ext cx="274320" cy="274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1500" y="1623060"/>
            <a:ext cx="274320" cy="274320"/>
          </a:xfrm>
          <a:prstGeom prst="rect">
            <a:avLst/>
          </a:prstGeom>
          <a:noFill/>
        </p:spPr>
        <p:txBody>
          <a:bodyPr wrap="square" anchor="ctr" lIns="0" rIns="0" tIns="0" bIns="0">
            <a:noAutofit/>
          </a:bodyPr>
          <a:lstStyle/>
          <a:p>
            <a:pPr algn="ctr"/>
            <a:r>
              <a:rPr sz="900" b="1" i="0">
                <a:solidFill>
                  <a:srgbClr val="FFFFFF"/>
                </a:solidFill>
                <a:latin typeface="Outfit"/>
              </a:rPr>
              <a:t>1</a:t>
            </a:r>
          </a:p>
        </p:txBody>
      </p:sp>
      <p:sp>
        <p:nvSpPr>
          <p:cNvPr id="8" name="TextBox 7"/>
          <p:cNvSpPr txBox="1"/>
          <p:nvPr/>
        </p:nvSpPr>
        <p:spPr>
          <a:xfrm>
            <a:off x="1074420" y="1417319"/>
            <a:ext cx="2862072" cy="685800"/>
          </a:xfrm>
          <a:prstGeom prst="rect">
            <a:avLst/>
          </a:prstGeom>
          <a:noFill/>
        </p:spPr>
        <p:txBody>
          <a:bodyPr wrap="square" anchor="ctr" lIns="0" rIns="0" tIns="0" bIns="0">
            <a:noAutofit/>
          </a:bodyPr>
          <a:lstStyle/>
          <a:p>
            <a:pPr algn="l"/>
            <a:r>
              <a:rPr sz="950" b="1" i="0">
                <a:solidFill>
                  <a:srgbClr val="0E2356"/>
                </a:solidFill>
                <a:latin typeface="Outfit"/>
              </a:rPr>
              <a:t>Un sponsor qui porte la cible</a:t>
            </a:r>
          </a:p>
          <a:p>
            <a:pPr algn="l">
              <a:lnSpc>
                <a:spcPct val="115000"/>
              </a:lnSpc>
              <a:spcBef>
                <a:spcPts val="100"/>
              </a:spcBef>
            </a:pPr>
            <a:r>
              <a:rPr sz="850" b="0" i="0">
                <a:solidFill>
                  <a:srgbClr val="586586"/>
                </a:solidFill>
                <a:latin typeface="Outfit"/>
              </a:rPr>
              <a:t>La transformation ne va pas plus loin que ce que le sponsor porte.</a:t>
            </a:r>
          </a:p>
        </p:txBody>
      </p:sp>
      <p:sp>
        <p:nvSpPr>
          <p:cNvPr id="9" name="Rounded Rectangle 8"/>
          <p:cNvSpPr/>
          <p:nvPr/>
        </p:nvSpPr>
        <p:spPr>
          <a:xfrm>
            <a:off x="928116" y="2176272"/>
            <a:ext cx="3154680" cy="68580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1500" y="2382012"/>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2382012"/>
            <a:ext cx="274320" cy="274320"/>
          </a:xfrm>
          <a:prstGeom prst="rect">
            <a:avLst/>
          </a:prstGeom>
          <a:noFill/>
        </p:spPr>
        <p:txBody>
          <a:bodyPr wrap="square" anchor="ctr" lIns="0" rIns="0" tIns="0" bIns="0">
            <a:noAutofit/>
          </a:bodyPr>
          <a:lstStyle/>
          <a:p>
            <a:pPr algn="ctr"/>
            <a:r>
              <a:rPr sz="900" b="1" i="0">
                <a:solidFill>
                  <a:srgbClr val="0E2356"/>
                </a:solidFill>
                <a:latin typeface="Outfit"/>
              </a:rPr>
              <a:t>2</a:t>
            </a:r>
          </a:p>
        </p:txBody>
      </p:sp>
      <p:sp>
        <p:nvSpPr>
          <p:cNvPr id="12" name="TextBox 11"/>
          <p:cNvSpPr txBox="1"/>
          <p:nvPr/>
        </p:nvSpPr>
        <p:spPr>
          <a:xfrm>
            <a:off x="1074420" y="2176272"/>
            <a:ext cx="2862072" cy="685800"/>
          </a:xfrm>
          <a:prstGeom prst="rect">
            <a:avLst/>
          </a:prstGeom>
          <a:noFill/>
        </p:spPr>
        <p:txBody>
          <a:bodyPr wrap="square" anchor="ctr" lIns="0" rIns="0" tIns="0" bIns="0">
            <a:noAutofit/>
          </a:bodyPr>
          <a:lstStyle/>
          <a:p>
            <a:pPr algn="l"/>
            <a:r>
              <a:rPr sz="950" b="1" i="0">
                <a:solidFill>
                  <a:srgbClr val="0E2356"/>
                </a:solidFill>
                <a:latin typeface="Outfit"/>
              </a:rPr>
              <a:t>Des équipes réellement disponibles</a:t>
            </a:r>
          </a:p>
          <a:p>
            <a:pPr algn="l">
              <a:lnSpc>
                <a:spcPct val="115000"/>
              </a:lnSpc>
              <a:spcBef>
                <a:spcPts val="100"/>
              </a:spcBef>
            </a:pPr>
            <a:r>
              <a:rPr sz="850" b="0" i="0">
                <a:solidFill>
                  <a:srgbClr val="586586"/>
                </a:solidFill>
                <a:latin typeface="Outfit"/>
              </a:rPr>
              <a:t>Interviews et ateliers sur du temps réservé, vérifié à l'intake.</a:t>
            </a:r>
          </a:p>
        </p:txBody>
      </p:sp>
      <p:sp>
        <p:nvSpPr>
          <p:cNvPr id="13" name="Rounded Rectangle 12"/>
          <p:cNvSpPr/>
          <p:nvPr/>
        </p:nvSpPr>
        <p:spPr>
          <a:xfrm>
            <a:off x="928116" y="2935224"/>
            <a:ext cx="3154680" cy="68580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71500" y="3140964"/>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 y="3140964"/>
            <a:ext cx="274320" cy="274320"/>
          </a:xfrm>
          <a:prstGeom prst="rect">
            <a:avLst/>
          </a:prstGeom>
          <a:noFill/>
        </p:spPr>
        <p:txBody>
          <a:bodyPr wrap="square" anchor="ctr" lIns="0" rIns="0" tIns="0" bIns="0">
            <a:noAutofit/>
          </a:bodyPr>
          <a:lstStyle/>
          <a:p>
            <a:pPr algn="ctr"/>
            <a:r>
              <a:rPr sz="900" b="1" i="0">
                <a:solidFill>
                  <a:srgbClr val="0E2356"/>
                </a:solidFill>
                <a:latin typeface="Outfit"/>
              </a:rPr>
              <a:t>3</a:t>
            </a:r>
          </a:p>
        </p:txBody>
      </p:sp>
      <p:sp>
        <p:nvSpPr>
          <p:cNvPr id="16" name="TextBox 15"/>
          <p:cNvSpPr txBox="1"/>
          <p:nvPr/>
        </p:nvSpPr>
        <p:spPr>
          <a:xfrm>
            <a:off x="1074420" y="2935224"/>
            <a:ext cx="2862072" cy="685800"/>
          </a:xfrm>
          <a:prstGeom prst="rect">
            <a:avLst/>
          </a:prstGeom>
          <a:noFill/>
        </p:spPr>
        <p:txBody>
          <a:bodyPr wrap="square" anchor="ctr" lIns="0" rIns="0" tIns="0" bIns="0">
            <a:noAutofit/>
          </a:bodyPr>
          <a:lstStyle/>
          <a:p>
            <a:pPr algn="l"/>
            <a:r>
              <a:rPr sz="950" b="1" i="0">
                <a:solidFill>
                  <a:srgbClr val="0E2356"/>
                </a:solidFill>
                <a:latin typeface="Outfit"/>
              </a:rPr>
              <a:t>Une RH embarquée sur rôles et évaluation</a:t>
            </a:r>
          </a:p>
          <a:p>
            <a:pPr algn="l">
              <a:lnSpc>
                <a:spcPct val="115000"/>
              </a:lnSpc>
              <a:spcBef>
                <a:spcPts val="100"/>
              </a:spcBef>
            </a:pPr>
            <a:r>
              <a:rPr sz="850" b="0" i="0">
                <a:solidFill>
                  <a:srgbClr val="586586"/>
                </a:solidFill>
                <a:latin typeface="Outfit"/>
              </a:rPr>
              <a:t>Coacher une posture que les grilles punissent, c'est ramer à contre-courant.</a:t>
            </a:r>
          </a:p>
        </p:txBody>
      </p:sp>
      <p:sp>
        <p:nvSpPr>
          <p:cNvPr id="17" name="Rounded Rectangle 16"/>
          <p:cNvSpPr/>
          <p:nvPr/>
        </p:nvSpPr>
        <p:spPr>
          <a:xfrm>
            <a:off x="928116" y="3694175"/>
            <a:ext cx="3154680" cy="685800"/>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71500" y="3899915"/>
            <a:ext cx="2743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500" y="3899915"/>
            <a:ext cx="274320" cy="274320"/>
          </a:xfrm>
          <a:prstGeom prst="rect">
            <a:avLst/>
          </a:prstGeom>
          <a:noFill/>
        </p:spPr>
        <p:txBody>
          <a:bodyPr wrap="square" anchor="ctr" lIns="0" rIns="0" tIns="0" bIns="0">
            <a:noAutofit/>
          </a:bodyPr>
          <a:lstStyle/>
          <a:p>
            <a:pPr algn="ctr"/>
            <a:r>
              <a:rPr sz="900" b="1" i="0">
                <a:solidFill>
                  <a:srgbClr val="0E2356"/>
                </a:solidFill>
                <a:latin typeface="Outfit"/>
              </a:rPr>
              <a:t>4</a:t>
            </a:r>
          </a:p>
        </p:txBody>
      </p:sp>
      <p:sp>
        <p:nvSpPr>
          <p:cNvPr id="20" name="TextBox 19"/>
          <p:cNvSpPr txBox="1"/>
          <p:nvPr/>
        </p:nvSpPr>
        <p:spPr>
          <a:xfrm>
            <a:off x="1074420" y="3694175"/>
            <a:ext cx="2862072" cy="685800"/>
          </a:xfrm>
          <a:prstGeom prst="rect">
            <a:avLst/>
          </a:prstGeom>
          <a:noFill/>
        </p:spPr>
        <p:txBody>
          <a:bodyPr wrap="square" anchor="ctr" lIns="0" rIns="0" tIns="0" bIns="0">
            <a:noAutofit/>
          </a:bodyPr>
          <a:lstStyle/>
          <a:p>
            <a:pPr algn="l"/>
            <a:r>
              <a:rPr sz="950" b="1" i="0">
                <a:solidFill>
                  <a:srgbClr val="0E2356"/>
                </a:solidFill>
                <a:latin typeface="Outfit"/>
              </a:rPr>
              <a:t>Un processus documenté avant tout agent</a:t>
            </a:r>
          </a:p>
          <a:p>
            <a:pPr algn="l">
              <a:lnSpc>
                <a:spcPct val="115000"/>
              </a:lnSpc>
              <a:spcBef>
                <a:spcPts val="100"/>
              </a:spcBef>
            </a:pPr>
            <a:r>
              <a:rPr sz="850" b="0" i="0">
                <a:solidFill>
                  <a:srgbClr val="586586"/>
                </a:solidFill>
                <a:latin typeface="Outfit"/>
              </a:rPr>
              <a:t>Sinon on fige dans le code une pratique mal définie.</a:t>
            </a:r>
          </a:p>
        </p:txBody>
      </p:sp>
      <p:sp>
        <p:nvSpPr>
          <p:cNvPr id="21" name="Rounded Rectangle 20"/>
          <p:cNvSpPr/>
          <p:nvPr/>
        </p:nvSpPr>
        <p:spPr>
          <a:xfrm>
            <a:off x="4283964" y="1417319"/>
            <a:ext cx="4082796" cy="2962656"/>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48555" y="1581911"/>
            <a:ext cx="1097280" cy="219456"/>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8555" y="1581911"/>
            <a:ext cx="1097280" cy="219456"/>
          </a:xfrm>
          <a:prstGeom prst="rect">
            <a:avLst/>
          </a:prstGeom>
          <a:noFill/>
        </p:spPr>
        <p:txBody>
          <a:bodyPr wrap="square" anchor="ctr" lIns="0" rIns="0" tIns="0" bIns="0">
            <a:noAutofit/>
          </a:bodyPr>
          <a:lstStyle/>
          <a:p>
            <a:pPr algn="ctr"/>
            <a:r>
              <a:rPr sz="800" b="1" i="0">
                <a:solidFill>
                  <a:srgbClr val="0E2356"/>
                </a:solidFill>
                <a:latin typeface="Outfit"/>
              </a:rPr>
              <a:t>NOS REFUS</a:t>
            </a:r>
          </a:p>
        </p:txBody>
      </p:sp>
      <p:sp>
        <p:nvSpPr>
          <p:cNvPr id="24" name="TextBox 23"/>
          <p:cNvSpPr txBox="1"/>
          <p:nvPr/>
        </p:nvSpPr>
        <p:spPr>
          <a:xfrm>
            <a:off x="4448555" y="1874519"/>
            <a:ext cx="3753612" cy="2340864"/>
          </a:xfrm>
          <a:prstGeom prst="rect">
            <a:avLst/>
          </a:prstGeom>
          <a:noFill/>
        </p:spPr>
        <p:txBody>
          <a:bodyPr wrap="square" anchor="t" lIns="0" rIns="0" tIns="0" bIns="0">
            <a:spAutoFit/>
          </a:bodyPr>
          <a:lstStyle/>
          <a:p>
            <a:pPr algn="l"/>
            <a:r>
              <a:rPr sz="1000" b="1" i="0">
                <a:solidFill>
                  <a:srgbClr val="FFFFFF"/>
                </a:solidFill>
                <a:latin typeface="Outfit"/>
              </a:rPr>
              <a:t>Ce que la démarche ne fera pas.</a:t>
            </a:r>
          </a:p>
          <a:p>
            <a:pPr algn="l">
              <a:lnSpc>
                <a:spcPct val="115000"/>
              </a:lnSpc>
              <a:spcBef>
                <a:spcPts val="200"/>
              </a:spcBef>
            </a:pPr>
            <a:r>
              <a:rPr sz="850" b="0" i="0">
                <a:solidFill>
                  <a:srgbClr val="C7CBE0"/>
                </a:solidFill>
                <a:latin typeface="Outfit"/>
              </a:rPr>
              <a:t>Des lignes qu'elle tient et explique dès l'Assessment flash — pas des conditions posées au client.</a:t>
            </a:r>
          </a:p>
          <a:p>
            <a:pPr algn="l">
              <a:spcBef>
                <a:spcPts val="800"/>
              </a:spcBef>
            </a:pPr>
            <a:r>
              <a:rPr sz="800" b="1" i="0">
                <a:solidFill>
                  <a:srgbClr val="8891B3"/>
                </a:solidFill>
                <a:latin typeface="Outfit"/>
              </a:rPr>
              <a:t>ON REFUSE</a:t>
            </a:r>
          </a:p>
          <a:p>
            <a:pPr algn="l">
              <a:spcBef>
                <a:spcPts val="200"/>
              </a:spcBef>
            </a:pPr>
            <a:r>
              <a:rPr sz="850" b="0" i="0">
                <a:solidFill>
                  <a:srgbClr val="FFFFFF"/>
                </a:solidFill>
                <a:latin typeface="Outfit"/>
              </a:rPr>
              <a:t>—  Automatiser un processus mal conçu.</a:t>
            </a:r>
          </a:p>
          <a:p>
            <a:pPr algn="l">
              <a:spcBef>
                <a:spcPts val="200"/>
              </a:spcBef>
            </a:pPr>
            <a:r>
              <a:rPr sz="850" b="0" i="0">
                <a:solidFill>
                  <a:srgbClr val="FFFFFF"/>
                </a:solidFill>
                <a:latin typeface="Outfit"/>
              </a:rPr>
              <a:t>—  Livrer une plateforme techniquement bonne mais peu adoptée.</a:t>
            </a:r>
          </a:p>
          <a:p>
            <a:pPr algn="l">
              <a:spcBef>
                <a:spcPts val="200"/>
              </a:spcBef>
            </a:pPr>
            <a:r>
              <a:rPr sz="850" b="0" i="0">
                <a:solidFill>
                  <a:srgbClr val="FFFFFF"/>
                </a:solidFill>
                <a:latin typeface="Outfit"/>
              </a:rPr>
              <a:t>—  Séparer transformation organisationnelle et technique.</a:t>
            </a:r>
          </a:p>
          <a:p>
            <a:pPr algn="l">
              <a:spcBef>
                <a:spcPts val="800"/>
              </a:spcBef>
            </a:pPr>
            <a:r>
              <a:rPr sz="800" b="1" i="0">
                <a:solidFill>
                  <a:srgbClr val="8891B3"/>
                </a:solidFill>
                <a:latin typeface="Outfit"/>
              </a:rPr>
              <a:t>ON NE LE RÉSOUT PAS, MAIS ON LE POSE</a:t>
            </a:r>
          </a:p>
          <a:p>
            <a:pPr algn="l">
              <a:lnSpc>
                <a:spcPct val="115000"/>
              </a:lnSpc>
              <a:spcBef>
                <a:spcPts val="200"/>
              </a:spcBef>
            </a:pPr>
            <a:r>
              <a:rPr sz="850" b="1" i="0">
                <a:solidFill>
                  <a:srgbClr val="FFFFFF"/>
                </a:solidFill>
                <a:latin typeface="Outfit"/>
              </a:rPr>
              <a:t>Perte de savoir-faire : </a:t>
            </a:r>
            <a:r>
              <a:rPr sz="850" b="0" i="0">
                <a:solidFill>
                  <a:srgbClr val="C7CBE0"/>
                </a:solidFill>
                <a:latin typeface="Outfit"/>
              </a:rPr>
              <a:t>l'équipe reprendrait-elle la main une semaine sans l'agent ?</a:t>
            </a:r>
          </a:p>
          <a:p>
            <a:pPr algn="l">
              <a:lnSpc>
                <a:spcPct val="115000"/>
              </a:lnSpc>
              <a:spcBef>
                <a:spcPts val="200"/>
              </a:spcBef>
            </a:pPr>
            <a:r>
              <a:rPr sz="850" b="1" i="0">
                <a:solidFill>
                  <a:srgbClr val="FFFFFF"/>
                </a:solidFill>
                <a:latin typeface="Outfit"/>
              </a:rPr>
              <a:t>Incitations RH contraires : </a:t>
            </a:r>
            <a:r>
              <a:rPr sz="850" b="0" i="0">
                <a:solidFill>
                  <a:srgbClr val="C7CBE0"/>
                </a:solidFill>
                <a:latin typeface="Outfit"/>
              </a:rPr>
              <a:t>vos grilles récompensent-elles encore ce qu'on décourage ?</a:t>
            </a:r>
          </a:p>
        </p:txBody>
      </p:sp>
      <p:sp>
        <p:nvSpPr>
          <p:cNvPr id="25" name="Rounded Rectangle 24"/>
          <p:cNvSpPr/>
          <p:nvPr/>
        </p:nvSpPr>
        <p:spPr>
          <a:xfrm>
            <a:off x="562356" y="4526280"/>
            <a:ext cx="7804404" cy="457200"/>
          </a:xfrm>
          <a:prstGeom prst="roundRect">
            <a:avLst>
              <a:gd name="adj" fmla="val 8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 y="4526280"/>
            <a:ext cx="7438644" cy="457200"/>
          </a:xfrm>
          <a:prstGeom prst="rect">
            <a:avLst/>
          </a:prstGeom>
          <a:noFill/>
        </p:spPr>
        <p:txBody>
          <a:bodyPr wrap="square" anchor="ctr" lIns="0" rIns="0" tIns="0" bIns="0">
            <a:noAutofit/>
          </a:bodyPr>
          <a:lstStyle/>
          <a:p>
            <a:pPr algn="l"/>
            <a:r>
              <a:rPr sz="800" b="1" i="0">
                <a:solidFill>
                  <a:srgbClr val="586586"/>
                </a:solidFill>
                <a:latin typeface="Outfit"/>
              </a:rPr>
              <a:t>LE CRITÈRE DE SORTIE EST LE MIROIR DES CONDITIONS D'ENTRÉE</a:t>
            </a:r>
          </a:p>
          <a:p>
            <a:pPr algn="l">
              <a:lnSpc>
                <a:spcPct val="115000"/>
              </a:lnSpc>
              <a:spcBef>
                <a:spcPts val="200"/>
              </a:spcBef>
            </a:pPr>
            <a:r>
              <a:rPr sz="850" b="0" i="0">
                <a:solidFill>
                  <a:srgbClr val="0E2356"/>
                </a:solidFill>
                <a:latin typeface="Outfit"/>
              </a:rPr>
              <a:t>L'équipe tient-elle le modèle sans le consultant ? Il se rend dispensable : n'évalue jamais les personnes, ne fait pas leur reporting, ne s'installe pas entre l'équipe et le sponsor.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RÉUSSIR ET DÉMARRER   ·   </a:t>
            </a:r>
            <a:r>
              <a:rPr b="1" sz="1200">
                <a:solidFill>
                  <a:srgbClr val="0E2356"/>
                </a:solidFill>
                <a:latin typeface="Outfit"/>
              </a:rPr>
              <a:t>Deux semaines d'Assessment flash pour un premier signal mesuré</a:t>
            </a:r>
          </a:p>
        </p:txBody>
      </p:sp>
      <p:sp>
        <p:nvSpPr>
          <p:cNvPr id="3" name="TextBox 2"/>
          <p:cNvSpPr txBox="1"/>
          <p:nvPr/>
        </p:nvSpPr>
        <p:spPr>
          <a:xfrm>
            <a:off x="562356" y="1051560"/>
            <a:ext cx="7804404" cy="237744"/>
          </a:xfrm>
          <a:prstGeom prst="rect">
            <a:avLst/>
          </a:prstGeom>
          <a:noFill/>
        </p:spPr>
        <p:txBody>
          <a:bodyPr wrap="square" anchor="t" lIns="0" rIns="0" tIns="0" bIns="0">
            <a:noAutofit/>
          </a:bodyPr>
          <a:lstStyle/>
          <a:p>
            <a:pPr algn="l"/>
            <a:r>
              <a:rPr sz="850" b="0" i="1">
                <a:solidFill>
                  <a:srgbClr val="0E2356"/>
                </a:solidFill>
                <a:latin typeface="Outfit"/>
              </a:rPr>
              <a:t>Décision demandée : lancer l'Assessment flash. La DSI engage un sponsor et des équipes disponibles ; le premier signal arrive à sa restitution, fin de semaine 2.</a:t>
            </a:r>
          </a:p>
        </p:txBody>
      </p:sp>
      <p:sp>
        <p:nvSpPr>
          <p:cNvPr id="4" name="TextBox 3"/>
          <p:cNvSpPr txBox="1"/>
          <p:nvPr/>
        </p:nvSpPr>
        <p:spPr>
          <a:xfrm>
            <a:off x="243687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S1</a:t>
            </a:r>
          </a:p>
        </p:txBody>
      </p:sp>
      <p:sp>
        <p:nvSpPr>
          <p:cNvPr id="5" name="TextBox 4"/>
          <p:cNvSpPr txBox="1"/>
          <p:nvPr/>
        </p:nvSpPr>
        <p:spPr>
          <a:xfrm>
            <a:off x="298551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S2</a:t>
            </a:r>
          </a:p>
        </p:txBody>
      </p:sp>
      <p:sp>
        <p:nvSpPr>
          <p:cNvPr id="6" name="TextBox 5"/>
          <p:cNvSpPr txBox="1"/>
          <p:nvPr/>
        </p:nvSpPr>
        <p:spPr>
          <a:xfrm>
            <a:off x="353415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S3</a:t>
            </a:r>
          </a:p>
        </p:txBody>
      </p:sp>
      <p:sp>
        <p:nvSpPr>
          <p:cNvPr id="7" name="TextBox 6"/>
          <p:cNvSpPr txBox="1"/>
          <p:nvPr/>
        </p:nvSpPr>
        <p:spPr>
          <a:xfrm>
            <a:off x="408279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S4</a:t>
            </a:r>
          </a:p>
        </p:txBody>
      </p:sp>
      <p:sp>
        <p:nvSpPr>
          <p:cNvPr id="8" name="TextBox 7"/>
          <p:cNvSpPr txBox="1"/>
          <p:nvPr/>
        </p:nvSpPr>
        <p:spPr>
          <a:xfrm>
            <a:off x="463143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S5</a:t>
            </a:r>
          </a:p>
        </p:txBody>
      </p:sp>
      <p:sp>
        <p:nvSpPr>
          <p:cNvPr id="9" name="TextBox 8"/>
          <p:cNvSpPr txBox="1"/>
          <p:nvPr/>
        </p:nvSpPr>
        <p:spPr>
          <a:xfrm>
            <a:off x="518007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S6</a:t>
            </a:r>
          </a:p>
        </p:txBody>
      </p:sp>
      <p:sp>
        <p:nvSpPr>
          <p:cNvPr id="10" name="TextBox 9"/>
          <p:cNvSpPr txBox="1"/>
          <p:nvPr/>
        </p:nvSpPr>
        <p:spPr>
          <a:xfrm>
            <a:off x="5728716" y="1399031"/>
            <a:ext cx="548640" cy="164592"/>
          </a:xfrm>
          <a:prstGeom prst="rect">
            <a:avLst/>
          </a:prstGeom>
          <a:noFill/>
        </p:spPr>
        <p:txBody>
          <a:bodyPr wrap="square" anchor="t" lIns="0" rIns="0" tIns="0" bIns="0">
            <a:noAutofit/>
          </a:bodyPr>
          <a:lstStyle/>
          <a:p>
            <a:pPr algn="ctr"/>
            <a:r>
              <a:rPr sz="800" b="1" i="0">
                <a:solidFill>
                  <a:srgbClr val="586586"/>
                </a:solidFill>
                <a:latin typeface="Outfit"/>
              </a:rPr>
              <a:t>S7</a:t>
            </a:r>
          </a:p>
        </p:txBody>
      </p:sp>
      <p:sp>
        <p:nvSpPr>
          <p:cNvPr id="11" name="TextBox 10"/>
          <p:cNvSpPr txBox="1"/>
          <p:nvPr/>
        </p:nvSpPr>
        <p:spPr>
          <a:xfrm>
            <a:off x="6277356" y="1399031"/>
            <a:ext cx="809243" cy="164592"/>
          </a:xfrm>
          <a:prstGeom prst="rect">
            <a:avLst/>
          </a:prstGeom>
          <a:noFill/>
        </p:spPr>
        <p:txBody>
          <a:bodyPr wrap="square" anchor="t" lIns="0" rIns="0" tIns="0" bIns="0">
            <a:noAutofit/>
          </a:bodyPr>
          <a:lstStyle/>
          <a:p>
            <a:pPr algn="ctr"/>
            <a:r>
              <a:rPr sz="800" b="1" i="0">
                <a:solidFill>
                  <a:srgbClr val="586586"/>
                </a:solidFill>
                <a:latin typeface="Outfit"/>
              </a:rPr>
              <a:t>…</a:t>
            </a:r>
          </a:p>
        </p:txBody>
      </p:sp>
      <p:sp>
        <p:nvSpPr>
          <p:cNvPr id="12" name="TextBox 11"/>
          <p:cNvSpPr txBox="1"/>
          <p:nvPr/>
        </p:nvSpPr>
        <p:spPr>
          <a:xfrm>
            <a:off x="7086600" y="1399031"/>
            <a:ext cx="1280160" cy="164592"/>
          </a:xfrm>
          <a:prstGeom prst="rect">
            <a:avLst/>
          </a:prstGeom>
          <a:noFill/>
        </p:spPr>
        <p:txBody>
          <a:bodyPr wrap="square" anchor="t" lIns="0" rIns="0" tIns="0" bIns="0">
            <a:noAutofit/>
          </a:bodyPr>
          <a:lstStyle/>
          <a:p>
            <a:pPr algn="ctr"/>
            <a:r>
              <a:rPr sz="800" b="1" i="0">
                <a:solidFill>
                  <a:srgbClr val="586586"/>
                </a:solidFill>
                <a:latin typeface="Outfit"/>
              </a:rPr>
              <a:t>T+6–12 MOIS</a:t>
            </a:r>
          </a:p>
        </p:txBody>
      </p:sp>
      <p:sp>
        <p:nvSpPr>
          <p:cNvPr id="13" name="Oval 12"/>
          <p:cNvSpPr/>
          <p:nvPr/>
        </p:nvSpPr>
        <p:spPr>
          <a:xfrm>
            <a:off x="265633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204972" y="1600199"/>
            <a:ext cx="109728" cy="109728"/>
          </a:xfrm>
          <a:prstGeom prst="ellipse">
            <a:avLst/>
          </a:prstGeom>
          <a:solidFill>
            <a:srgbClr val="00D2DD"/>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5361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0225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85089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9953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8172"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671815" y="1600199"/>
            <a:ext cx="109728" cy="109728"/>
          </a:xfrm>
          <a:prstGeom prst="ellipse">
            <a:avLst/>
          </a:prstGeom>
          <a:solidFill>
            <a:srgbClr val="FFFFFF"/>
          </a:solidFill>
          <a:ln w="952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2356" y="2075688"/>
            <a:ext cx="7804404" cy="9144"/>
          </a:xfrm>
          <a:prstGeom prst="rect">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2356" y="1801367"/>
            <a:ext cx="1783080" cy="246888"/>
          </a:xfrm>
          <a:prstGeom prst="rect">
            <a:avLst/>
          </a:prstGeom>
          <a:noFill/>
        </p:spPr>
        <p:txBody>
          <a:bodyPr wrap="square" anchor="ctr" lIns="0" rIns="0" tIns="0" bIns="0">
            <a:noAutofit/>
          </a:bodyPr>
          <a:lstStyle/>
          <a:p>
            <a:pPr algn="l"/>
            <a:r>
              <a:rPr sz="800" b="1" i="0">
                <a:solidFill>
                  <a:srgbClr val="0E2356"/>
                </a:solidFill>
                <a:latin typeface="Outfit"/>
              </a:rPr>
              <a:t>①  Assessment flash</a:t>
            </a:r>
          </a:p>
        </p:txBody>
      </p:sp>
      <p:sp>
        <p:nvSpPr>
          <p:cNvPr id="23" name="Rounded Rectangle 22"/>
          <p:cNvSpPr/>
          <p:nvPr/>
        </p:nvSpPr>
        <p:spPr>
          <a:xfrm>
            <a:off x="2464308" y="1801367"/>
            <a:ext cx="1042416" cy="246888"/>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64308" y="1801367"/>
            <a:ext cx="1042416" cy="246888"/>
          </a:xfrm>
          <a:prstGeom prst="rect">
            <a:avLst/>
          </a:prstGeom>
          <a:noFill/>
        </p:spPr>
        <p:txBody>
          <a:bodyPr wrap="square" anchor="ctr" lIns="0" rIns="0" tIns="0" bIns="0">
            <a:noAutofit/>
          </a:bodyPr>
          <a:lstStyle/>
          <a:p>
            <a:pPr algn="ctr"/>
            <a:r>
              <a:rPr sz="800" b="1" i="0">
                <a:solidFill>
                  <a:srgbClr val="FFFFFF"/>
                </a:solidFill>
                <a:latin typeface="Outfit"/>
              </a:rPr>
              <a:t>2 semaines</a:t>
            </a:r>
          </a:p>
        </p:txBody>
      </p:sp>
      <p:sp>
        <p:nvSpPr>
          <p:cNvPr id="25" name="Rectangle 24"/>
          <p:cNvSpPr/>
          <p:nvPr/>
        </p:nvSpPr>
        <p:spPr>
          <a:xfrm>
            <a:off x="562356" y="2386584"/>
            <a:ext cx="7804404" cy="9144"/>
          </a:xfrm>
          <a:prstGeom prst="rect">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356" y="2112263"/>
            <a:ext cx="1783080" cy="246888"/>
          </a:xfrm>
          <a:prstGeom prst="rect">
            <a:avLst/>
          </a:prstGeom>
          <a:noFill/>
        </p:spPr>
        <p:txBody>
          <a:bodyPr wrap="square" anchor="ctr" lIns="0" rIns="0" tIns="0" bIns="0">
            <a:noAutofit/>
          </a:bodyPr>
          <a:lstStyle/>
          <a:p>
            <a:pPr algn="l"/>
            <a:r>
              <a:rPr sz="800" b="1" i="0">
                <a:solidFill>
                  <a:srgbClr val="0E2356"/>
                </a:solidFill>
                <a:latin typeface="Outfit"/>
              </a:rPr>
              <a:t>②  Premier déploiement</a:t>
            </a:r>
          </a:p>
        </p:txBody>
      </p:sp>
      <p:sp>
        <p:nvSpPr>
          <p:cNvPr id="27" name="Rounded Rectangle 26"/>
          <p:cNvSpPr/>
          <p:nvPr/>
        </p:nvSpPr>
        <p:spPr>
          <a:xfrm>
            <a:off x="3561588" y="2112263"/>
            <a:ext cx="3236975" cy="246888"/>
          </a:xfrm>
          <a:prstGeom prst="roundRect">
            <a:avLst>
              <a:gd name="adj" fmla="val 50000"/>
            </a:avLst>
          </a:prstGeom>
          <a:solidFill>
            <a:srgbClr val="FFFFFF"/>
          </a:solidFill>
          <a:ln w="15875">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1588" y="2112263"/>
            <a:ext cx="3236975" cy="246888"/>
          </a:xfrm>
          <a:prstGeom prst="rect">
            <a:avLst/>
          </a:prstGeom>
          <a:noFill/>
        </p:spPr>
        <p:txBody>
          <a:bodyPr wrap="square" anchor="ctr" lIns="0" rIns="0" tIns="0" bIns="0">
            <a:noAutofit/>
          </a:bodyPr>
          <a:lstStyle/>
          <a:p>
            <a:pPr algn="ctr"/>
            <a:r>
              <a:rPr sz="800" b="1" i="0">
                <a:solidFill>
                  <a:srgbClr val="0E2356"/>
                </a:solidFill>
                <a:latin typeface="Outfit"/>
              </a:rPr>
              <a:t>4 à 5 semaines</a:t>
            </a:r>
          </a:p>
        </p:txBody>
      </p:sp>
      <p:sp>
        <p:nvSpPr>
          <p:cNvPr id="29" name="Rectangle 28"/>
          <p:cNvSpPr/>
          <p:nvPr/>
        </p:nvSpPr>
        <p:spPr>
          <a:xfrm>
            <a:off x="562356" y="2697480"/>
            <a:ext cx="7804404" cy="9144"/>
          </a:xfrm>
          <a:prstGeom prst="rect">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2356" y="2423160"/>
            <a:ext cx="1783080" cy="246888"/>
          </a:xfrm>
          <a:prstGeom prst="rect">
            <a:avLst/>
          </a:prstGeom>
          <a:noFill/>
        </p:spPr>
        <p:txBody>
          <a:bodyPr wrap="square" anchor="ctr" lIns="0" rIns="0" tIns="0" bIns="0">
            <a:noAutofit/>
          </a:bodyPr>
          <a:lstStyle/>
          <a:p>
            <a:pPr algn="l"/>
            <a:r>
              <a:rPr sz="800" b="1" i="0">
                <a:solidFill>
                  <a:srgbClr val="0E2356"/>
                </a:solidFill>
                <a:latin typeface="Outfit"/>
              </a:rPr>
              <a:t>③  Implémentation itérative</a:t>
            </a:r>
          </a:p>
        </p:txBody>
      </p:sp>
      <p:sp>
        <p:nvSpPr>
          <p:cNvPr id="31" name="Rounded Rectangle 30"/>
          <p:cNvSpPr/>
          <p:nvPr/>
        </p:nvSpPr>
        <p:spPr>
          <a:xfrm>
            <a:off x="6853428" y="2423160"/>
            <a:ext cx="1513332" cy="246888"/>
          </a:xfrm>
          <a:prstGeom prst="roundRect">
            <a:avLst>
              <a:gd name="adj" fmla="val 50000"/>
            </a:avLst>
          </a:prstGeom>
          <a:solidFill>
            <a:srgbClr val="FFFFFF"/>
          </a:solidFill>
          <a:ln w="1270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3428" y="2423160"/>
            <a:ext cx="1513332" cy="246888"/>
          </a:xfrm>
          <a:prstGeom prst="rect">
            <a:avLst/>
          </a:prstGeom>
          <a:noFill/>
        </p:spPr>
        <p:txBody>
          <a:bodyPr wrap="square" anchor="ctr" lIns="0" rIns="0" tIns="0" bIns="0">
            <a:noAutofit/>
          </a:bodyPr>
          <a:lstStyle/>
          <a:p>
            <a:pPr algn="ctr"/>
            <a:r>
              <a:rPr sz="800" b="1" i="0">
                <a:solidFill>
                  <a:srgbClr val="0E2356"/>
                </a:solidFill>
                <a:latin typeface="Outfit"/>
              </a:rPr>
              <a:t>en continu</a:t>
            </a:r>
          </a:p>
        </p:txBody>
      </p:sp>
      <p:sp>
        <p:nvSpPr>
          <p:cNvPr id="33" name="Rectangle 32"/>
          <p:cNvSpPr/>
          <p:nvPr/>
        </p:nvSpPr>
        <p:spPr>
          <a:xfrm>
            <a:off x="562356" y="3008376"/>
            <a:ext cx="7804404" cy="9144"/>
          </a:xfrm>
          <a:prstGeom prst="rect">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356" y="2734056"/>
            <a:ext cx="1783080" cy="246888"/>
          </a:xfrm>
          <a:prstGeom prst="rect">
            <a:avLst/>
          </a:prstGeom>
          <a:noFill/>
        </p:spPr>
        <p:txBody>
          <a:bodyPr wrap="square" anchor="ctr" lIns="0" rIns="0" tIns="0" bIns="0">
            <a:noAutofit/>
          </a:bodyPr>
          <a:lstStyle/>
          <a:p>
            <a:pPr algn="l"/>
            <a:r>
              <a:rPr sz="800" b="0" i="0">
                <a:solidFill>
                  <a:srgbClr val="0E2356"/>
                </a:solidFill>
                <a:latin typeface="Outfit"/>
              </a:rPr>
              <a:t>⟲  Réévaluation</a:t>
            </a:r>
          </a:p>
        </p:txBody>
      </p:sp>
      <p:sp>
        <p:nvSpPr>
          <p:cNvPr id="35" name="Decision 34"/>
          <p:cNvSpPr/>
          <p:nvPr/>
        </p:nvSpPr>
        <p:spPr>
          <a:xfrm>
            <a:off x="7607807" y="2752344"/>
            <a:ext cx="237744" cy="210312"/>
          </a:xfrm>
          <a:prstGeom prst="flowChartDecision">
            <a:avLst/>
          </a:prstGeom>
          <a:solidFill>
            <a:srgbClr val="FFFFFF"/>
          </a:solidFill>
          <a:ln w="15875">
            <a:solidFill>
              <a:srgbClr val="0E23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82796" y="2734056"/>
            <a:ext cx="3479291" cy="246888"/>
          </a:xfrm>
          <a:prstGeom prst="rect">
            <a:avLst/>
          </a:prstGeom>
          <a:noFill/>
        </p:spPr>
        <p:txBody>
          <a:bodyPr wrap="square" anchor="ctr" lIns="0" rIns="0" tIns="0" bIns="0">
            <a:noAutofit/>
          </a:bodyPr>
          <a:lstStyle/>
          <a:p>
            <a:pPr algn="r"/>
            <a:r>
              <a:rPr sz="800" b="0" i="1">
                <a:solidFill>
                  <a:srgbClr val="586586"/>
                </a:solidFill>
                <a:latin typeface="Outfit"/>
              </a:rPr>
              <a:t>Delta mesuré — même instrument qu'au T0</a:t>
            </a:r>
          </a:p>
        </p:txBody>
      </p:sp>
      <p:sp>
        <p:nvSpPr>
          <p:cNvPr id="37" name="Decision 36"/>
          <p:cNvSpPr/>
          <p:nvPr/>
        </p:nvSpPr>
        <p:spPr>
          <a:xfrm>
            <a:off x="3415284" y="1819655"/>
            <a:ext cx="237744" cy="210312"/>
          </a:xfrm>
          <a:prstGeom prst="flowChartDecision">
            <a:avLst/>
          </a:prstGeom>
          <a:solidFill>
            <a:srgbClr val="00D2DD"/>
          </a:solidFill>
          <a:ln w="15875">
            <a:solidFill>
              <a:srgbClr val="0E23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36876" y="3054096"/>
            <a:ext cx="4572000" cy="182880"/>
          </a:xfrm>
          <a:prstGeom prst="rect">
            <a:avLst/>
          </a:prstGeom>
          <a:noFill/>
        </p:spPr>
        <p:txBody>
          <a:bodyPr wrap="square" anchor="t" lIns="0" rIns="0" tIns="0" bIns="0">
            <a:noAutofit/>
          </a:bodyPr>
          <a:lstStyle/>
          <a:p>
            <a:pPr algn="l"/>
            <a:r>
              <a:rPr sz="800" b="1" i="0">
                <a:solidFill>
                  <a:srgbClr val="0E2356"/>
                </a:solidFill>
                <a:latin typeface="Outfit"/>
              </a:rPr>
              <a:t>◆ Fin S2 : premier signal — mesures T0 restituées au sponsor</a:t>
            </a:r>
          </a:p>
        </p:txBody>
      </p:sp>
      <p:sp>
        <p:nvSpPr>
          <p:cNvPr id="39" name="TextBox 38"/>
          <p:cNvSpPr txBox="1"/>
          <p:nvPr/>
        </p:nvSpPr>
        <p:spPr>
          <a:xfrm>
            <a:off x="562356" y="3355848"/>
            <a:ext cx="2788920" cy="182880"/>
          </a:xfrm>
          <a:prstGeom prst="rect">
            <a:avLst/>
          </a:prstGeom>
          <a:noFill/>
        </p:spPr>
        <p:txBody>
          <a:bodyPr wrap="square" anchor="t" lIns="0" rIns="0" tIns="0" bIns="0">
            <a:noAutofit/>
          </a:bodyPr>
          <a:lstStyle/>
          <a:p>
            <a:pPr algn="l"/>
            <a:r>
              <a:rPr sz="800" b="1" i="0">
                <a:solidFill>
                  <a:srgbClr val="586586"/>
                </a:solidFill>
                <a:latin typeface="Outfit"/>
              </a:rPr>
              <a:t>CE QUE LA DSI ENGAGE</a:t>
            </a:r>
          </a:p>
        </p:txBody>
      </p:sp>
      <p:sp>
        <p:nvSpPr>
          <p:cNvPr id="40" name="Rounded Rectangle 39"/>
          <p:cNvSpPr/>
          <p:nvPr/>
        </p:nvSpPr>
        <p:spPr>
          <a:xfrm>
            <a:off x="562356" y="3575304"/>
            <a:ext cx="2788920" cy="667512"/>
          </a:xfrm>
          <a:prstGeom prst="roundRect">
            <a:avLst>
              <a:gd name="adj" fmla="val 12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62940" y="3790188"/>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 y="3790188"/>
            <a:ext cx="237744" cy="237744"/>
          </a:xfrm>
          <a:prstGeom prst="rect">
            <a:avLst/>
          </a:prstGeom>
          <a:noFill/>
        </p:spPr>
        <p:txBody>
          <a:bodyPr wrap="square" anchor="ctr" lIns="0" rIns="0" tIns="0" bIns="0">
            <a:noAutofit/>
          </a:bodyPr>
          <a:lstStyle/>
          <a:p>
            <a:pPr algn="ctr"/>
            <a:r>
              <a:rPr sz="800" b="1" i="0">
                <a:solidFill>
                  <a:srgbClr val="FFFFFF"/>
                </a:solidFill>
                <a:latin typeface="Outfit"/>
              </a:rPr>
              <a:t>1</a:t>
            </a:r>
          </a:p>
        </p:txBody>
      </p:sp>
      <p:sp>
        <p:nvSpPr>
          <p:cNvPr id="43" name="TextBox 42"/>
          <p:cNvSpPr txBox="1"/>
          <p:nvPr/>
        </p:nvSpPr>
        <p:spPr>
          <a:xfrm>
            <a:off x="982980" y="3575304"/>
            <a:ext cx="2276856" cy="667512"/>
          </a:xfrm>
          <a:prstGeom prst="rect">
            <a:avLst/>
          </a:prstGeom>
          <a:noFill/>
        </p:spPr>
        <p:txBody>
          <a:bodyPr wrap="square" anchor="ctr" lIns="0" rIns="0" tIns="0" bIns="0">
            <a:noAutofit/>
          </a:bodyPr>
          <a:lstStyle/>
          <a:p>
            <a:pPr algn="l">
              <a:lnSpc>
                <a:spcPct val="110000"/>
              </a:lnSpc>
            </a:pPr>
            <a:r>
              <a:rPr sz="850" b="1" i="0">
                <a:solidFill>
                  <a:srgbClr val="0E2356"/>
                </a:solidFill>
                <a:latin typeface="Outfit"/>
              </a:rPr>
              <a:t>Un sponsor qui porte la cible</a:t>
            </a:r>
          </a:p>
          <a:p>
            <a:pPr algn="l">
              <a:lnSpc>
                <a:spcPct val="115000"/>
              </a:lnSpc>
              <a:spcBef>
                <a:spcPts val="200"/>
              </a:spcBef>
            </a:pPr>
            <a:r>
              <a:rPr sz="800" b="0" i="0">
                <a:solidFill>
                  <a:srgbClr val="586586"/>
                </a:solidFill>
                <a:latin typeface="Outfit"/>
              </a:rPr>
              <a:t>DSI ou direction infrastructure, engagé dès l'intake.</a:t>
            </a:r>
          </a:p>
        </p:txBody>
      </p:sp>
      <p:sp>
        <p:nvSpPr>
          <p:cNvPr id="44" name="Rounded Rectangle 43"/>
          <p:cNvSpPr/>
          <p:nvPr/>
        </p:nvSpPr>
        <p:spPr>
          <a:xfrm>
            <a:off x="562356" y="4315968"/>
            <a:ext cx="2788920" cy="667512"/>
          </a:xfrm>
          <a:prstGeom prst="roundRect">
            <a:avLst>
              <a:gd name="adj" fmla="val 12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62940" y="4530852"/>
            <a:ext cx="237744" cy="23774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940" y="4530852"/>
            <a:ext cx="237744" cy="237744"/>
          </a:xfrm>
          <a:prstGeom prst="rect">
            <a:avLst/>
          </a:prstGeom>
          <a:noFill/>
        </p:spPr>
        <p:txBody>
          <a:bodyPr wrap="square" anchor="ctr" lIns="0" rIns="0" tIns="0" bIns="0">
            <a:noAutofit/>
          </a:bodyPr>
          <a:lstStyle/>
          <a:p>
            <a:pPr algn="ctr"/>
            <a:r>
              <a:rPr sz="800" b="1" i="0">
                <a:solidFill>
                  <a:srgbClr val="FFFFFF"/>
                </a:solidFill>
                <a:latin typeface="Outfit"/>
              </a:rPr>
              <a:t>2</a:t>
            </a:r>
          </a:p>
        </p:txBody>
      </p:sp>
      <p:sp>
        <p:nvSpPr>
          <p:cNvPr id="47" name="TextBox 46"/>
          <p:cNvSpPr txBox="1"/>
          <p:nvPr/>
        </p:nvSpPr>
        <p:spPr>
          <a:xfrm>
            <a:off x="982980" y="4315968"/>
            <a:ext cx="2276856" cy="667512"/>
          </a:xfrm>
          <a:prstGeom prst="rect">
            <a:avLst/>
          </a:prstGeom>
          <a:noFill/>
        </p:spPr>
        <p:txBody>
          <a:bodyPr wrap="square" anchor="ctr" lIns="0" rIns="0" tIns="0" bIns="0">
            <a:noAutofit/>
          </a:bodyPr>
          <a:lstStyle/>
          <a:p>
            <a:pPr algn="l">
              <a:lnSpc>
                <a:spcPct val="110000"/>
              </a:lnSpc>
            </a:pPr>
            <a:r>
              <a:rPr sz="850" b="1" i="0">
                <a:solidFill>
                  <a:srgbClr val="0E2356"/>
                </a:solidFill>
                <a:latin typeface="Outfit"/>
              </a:rPr>
              <a:t>Des équipes réellement disponibles</a:t>
            </a:r>
          </a:p>
          <a:p>
            <a:pPr algn="l">
              <a:lnSpc>
                <a:spcPct val="115000"/>
              </a:lnSpc>
              <a:spcBef>
                <a:spcPts val="200"/>
              </a:spcBef>
            </a:pPr>
            <a:r>
              <a:rPr sz="800" b="0" i="0">
                <a:solidFill>
                  <a:srgbClr val="586586"/>
                </a:solidFill>
                <a:latin typeface="Outfit"/>
              </a:rPr>
              <a:t>Interviews et ateliers sur du temps réservé, vérifié avant le démarrage.</a:t>
            </a:r>
          </a:p>
        </p:txBody>
      </p:sp>
      <p:sp>
        <p:nvSpPr>
          <p:cNvPr id="48" name="TextBox 47"/>
          <p:cNvSpPr txBox="1"/>
          <p:nvPr/>
        </p:nvSpPr>
        <p:spPr>
          <a:xfrm>
            <a:off x="3579876" y="3355848"/>
            <a:ext cx="4786884" cy="182880"/>
          </a:xfrm>
          <a:prstGeom prst="rect">
            <a:avLst/>
          </a:prstGeom>
          <a:noFill/>
        </p:spPr>
        <p:txBody>
          <a:bodyPr wrap="square" anchor="t" lIns="0" rIns="0" tIns="0" bIns="0">
            <a:noAutofit/>
          </a:bodyPr>
          <a:lstStyle/>
          <a:p>
            <a:pPr algn="l"/>
            <a:r>
              <a:rPr sz="800" b="1" i="0">
                <a:solidFill>
                  <a:srgbClr val="586586"/>
                </a:solidFill>
                <a:latin typeface="Outfit"/>
              </a:rPr>
              <a:t>SIGNAL MINIMAL — MESURÉ AU T0, REMESURÉ À T+6–12 MOIS</a:t>
            </a:r>
          </a:p>
        </p:txBody>
      </p:sp>
      <p:sp>
        <p:nvSpPr>
          <p:cNvPr id="49" name="Rounded Rectangle 48"/>
          <p:cNvSpPr/>
          <p:nvPr/>
        </p:nvSpPr>
        <p:spPr>
          <a:xfrm>
            <a:off x="3579876" y="3575304"/>
            <a:ext cx="2347722" cy="6583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579876" y="3648456"/>
            <a:ext cx="45720" cy="51206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26180" y="3575304"/>
            <a:ext cx="2128266" cy="658368"/>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Gaspillage traité</a:t>
            </a:r>
          </a:p>
          <a:p>
            <a:pPr algn="l">
              <a:lnSpc>
                <a:spcPct val="115000"/>
              </a:lnSpc>
              <a:spcBef>
                <a:spcPts val="100"/>
              </a:spcBef>
            </a:pPr>
            <a:r>
              <a:rPr sz="800" b="0" i="0">
                <a:solidFill>
                  <a:srgbClr val="586586"/>
                </a:solidFill>
                <a:latin typeface="Outfit"/>
              </a:rPr>
              <a:t>capacité RUN récupérée</a:t>
            </a:r>
          </a:p>
        </p:txBody>
      </p:sp>
      <p:sp>
        <p:nvSpPr>
          <p:cNvPr id="52" name="Rounded Rectangle 51"/>
          <p:cNvSpPr/>
          <p:nvPr/>
        </p:nvSpPr>
        <p:spPr>
          <a:xfrm>
            <a:off x="6019038" y="3575304"/>
            <a:ext cx="2347722" cy="6583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019038" y="3648456"/>
            <a:ext cx="45720" cy="51206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65342" y="3575304"/>
            <a:ext cx="2128266" cy="658368"/>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Adoption produit</a:t>
            </a:r>
          </a:p>
          <a:p>
            <a:pPr algn="l">
              <a:lnSpc>
                <a:spcPct val="115000"/>
              </a:lnSpc>
              <a:spcBef>
                <a:spcPts val="100"/>
              </a:spcBef>
            </a:pPr>
            <a:r>
              <a:rPr sz="800" b="0" i="0">
                <a:solidFill>
                  <a:srgbClr val="586586"/>
                </a:solidFill>
                <a:latin typeface="Outfit"/>
              </a:rPr>
              <a:t>usage du self-service</a:t>
            </a:r>
          </a:p>
        </p:txBody>
      </p:sp>
      <p:sp>
        <p:nvSpPr>
          <p:cNvPr id="55" name="Rounded Rectangle 54"/>
          <p:cNvSpPr/>
          <p:nvPr/>
        </p:nvSpPr>
        <p:spPr>
          <a:xfrm>
            <a:off x="3579876" y="4325112"/>
            <a:ext cx="2347722" cy="6583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579876" y="4398264"/>
            <a:ext cx="45720" cy="51206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726180" y="4325112"/>
            <a:ext cx="2128266" cy="658368"/>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Fiabilité &amp; SLA</a:t>
            </a:r>
          </a:p>
          <a:p>
            <a:pPr algn="l">
              <a:lnSpc>
                <a:spcPct val="115000"/>
              </a:lnSpc>
              <a:spcBef>
                <a:spcPts val="100"/>
              </a:spcBef>
            </a:pPr>
            <a:r>
              <a:rPr sz="800" b="0" i="0">
                <a:solidFill>
                  <a:srgbClr val="586586"/>
                </a:solidFill>
                <a:latin typeface="Outfit"/>
              </a:rPr>
              <a:t>MTTR, respect des engagements</a:t>
            </a:r>
          </a:p>
        </p:txBody>
      </p:sp>
      <p:sp>
        <p:nvSpPr>
          <p:cNvPr id="58" name="Rounded Rectangle 57"/>
          <p:cNvSpPr/>
          <p:nvPr/>
        </p:nvSpPr>
        <p:spPr>
          <a:xfrm>
            <a:off x="6019038" y="4325112"/>
            <a:ext cx="2347722" cy="658368"/>
          </a:xfrm>
          <a:prstGeom prst="roundRect">
            <a:avLst>
              <a:gd name="adj" fmla="val 12000"/>
            </a:avLst>
          </a:prstGeom>
          <a:solidFill>
            <a:srgbClr val="FFFFFF"/>
          </a:solidFill>
          <a:ln w="9525">
            <a:solidFill>
              <a:srgbClr val="CFD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019038" y="4398264"/>
            <a:ext cx="45720" cy="512064"/>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65342" y="4325112"/>
            <a:ext cx="2128266" cy="658368"/>
          </a:xfrm>
          <a:prstGeom prst="rect">
            <a:avLst/>
          </a:prstGeom>
          <a:noFill/>
        </p:spPr>
        <p:txBody>
          <a:bodyPr wrap="square" anchor="ctr" lIns="0" rIns="0" tIns="0" bIns="0">
            <a:noAutofit/>
          </a:bodyPr>
          <a:lstStyle/>
          <a:p>
            <a:pPr algn="l">
              <a:lnSpc>
                <a:spcPct val="105000"/>
              </a:lnSpc>
            </a:pPr>
            <a:r>
              <a:rPr sz="1000" b="1" i="0">
                <a:solidFill>
                  <a:srgbClr val="0E2356"/>
                </a:solidFill>
                <a:latin typeface="Outfit"/>
              </a:rPr>
              <a:t>Maturité</a:t>
            </a:r>
          </a:p>
          <a:p>
            <a:pPr algn="l">
              <a:lnSpc>
                <a:spcPct val="115000"/>
              </a:lnSpc>
              <a:spcBef>
                <a:spcPts val="100"/>
              </a:spcBef>
            </a:pPr>
            <a:r>
              <a:rPr sz="800" b="0" i="0">
                <a:solidFill>
                  <a:srgbClr val="586586"/>
                </a:solidFill>
                <a:latin typeface="Outfit"/>
              </a:rPr>
              <a:t>delta par pilier, T0 → réévaluation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E2356"/>
                </a:solidFill>
                <a:latin typeface="Outfit"/>
              </a:rPr>
              <a:t>Annexes</a:t>
            </a:r>
          </a:p>
          <a:p>
            <a:r>
              <a:rPr sz="1050" i="1">
                <a:solidFill>
                  <a:srgbClr val="586586"/>
                </a:solidFill>
                <a:latin typeface="Outfit"/>
              </a:rPr>
              <a:t>Le schéma d'accompagnement de référence et l'export markdown.</a:t>
            </a:r>
          </a:p>
        </p:txBody>
      </p:sp>
      <p:sp>
        <p:nvSpPr>
          <p:cNvPr id="3" name="Text Placeholder 2"/>
          <p:cNvSpPr>
            <a:spLocks noGrp="1"/>
          </p:cNvSpPr>
          <p:nvPr>
            <p:ph type="body" idx="1"/>
          </p:nvPr>
        </p:nvSpPr>
        <p:spPr/>
        <p:txBody>
          <a:bodyPr lIns="0" rIns="0" tIns="0" bIns="0" anchor="ctr"/>
          <a:lstStyle/>
          <a:p>
            <a:pPr algn="ctr" marL="0" indent="0">
              <a:buNone/>
            </a:pPr>
            <a:r>
              <a:rPr sz="1700">
                <a:solidFill>
                  <a:srgbClr val="0E2356"/>
                </a:solidFill>
                <a:latin typeface="Outfit"/>
              </a:rPr>
              <a:t>08</a:t>
            </a:r>
          </a:p>
        </p:txBody>
      </p:sp>
      <p:pic>
        <p:nvPicPr>
          <p:cNvPr id="4" name="Picture 3" descr="dunes_0_960x960.jpg"/>
          <p:cNvPicPr>
            <a:picLocks noChangeAspect="1"/>
          </p:cNvPicPr>
          <p:nvPr/>
        </p:nvPicPr>
        <p:blipFill>
          <a:blip r:embed="rId2"/>
          <a:stretch>
            <a:fillRect/>
          </a:stretch>
        </p:blipFill>
        <p:spPr>
          <a:xfrm>
            <a:off x="1396875" y="1659950"/>
            <a:ext cx="2560500" cy="2560500"/>
          </a:xfrm>
          <a:prstGeom prst="teardrop">
            <a:avLst>
              <a:gd name="adj" fmla="val 100000"/>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ANNEXES   ·   </a:t>
            </a:r>
            <a:r>
              <a:rPr b="1" sz="1200">
                <a:solidFill>
                  <a:srgbClr val="0E2356"/>
                </a:solidFill>
                <a:latin typeface="Outfit"/>
              </a:rPr>
              <a:t>Accompagnement Infra as a Product : transformer une fonction infra en produit interne</a:t>
            </a:r>
          </a:p>
        </p:txBody>
      </p:sp>
      <p:sp>
        <p:nvSpPr>
          <p:cNvPr id="3" name="TextBox 2"/>
          <p:cNvSpPr txBox="1"/>
          <p:nvPr/>
        </p:nvSpPr>
        <p:spPr>
          <a:xfrm>
            <a:off x="562356" y="1051560"/>
            <a:ext cx="7804404" cy="304800"/>
          </a:xfrm>
          <a:prstGeom prst="rect">
            <a:avLst/>
          </a:prstGeom>
          <a:noFill/>
        </p:spPr>
        <p:txBody>
          <a:bodyPr wrap="square" anchor="t" lIns="0" rIns="0" tIns="0" bIns="0">
            <a:noAutofit/>
          </a:bodyPr>
          <a:lstStyle/>
          <a:p>
            <a:pPr algn="l">
              <a:lnSpc>
                <a:spcPct val="120000"/>
              </a:lnSpc>
            </a:pPr>
            <a:r>
              <a:rPr sz="850" b="0" i="1">
                <a:solidFill>
                  <a:srgbClr val="0E2356"/>
                </a:solidFill>
                <a:latin typeface="Outfit"/>
              </a:rPr>
              <a:t>Transformer une fonction infra en produit interne : pensé pour ses utilisateurs, avec parcours, valeur et pilotage — pas un centre de coûts.</a:t>
            </a:r>
          </a:p>
        </p:txBody>
      </p:sp>
      <p:sp>
        <p:nvSpPr>
          <p:cNvPr id="4" name="Rounded Rectangle 3"/>
          <p:cNvSpPr/>
          <p:nvPr/>
        </p:nvSpPr>
        <p:spPr>
          <a:xfrm>
            <a:off x="562356" y="1411224"/>
            <a:ext cx="2331720" cy="474472"/>
          </a:xfrm>
          <a:prstGeom prst="roundRect">
            <a:avLst>
              <a:gd name="adj" fmla="val 10000"/>
            </a:avLst>
          </a:prstGeom>
          <a:solidFill>
            <a:srgbClr val="F2F4F8"/>
          </a:solidFill>
          <a:ln w="1143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8932" y="1433169"/>
            <a:ext cx="2258568" cy="430580"/>
          </a:xfrm>
          <a:prstGeom prst="rect">
            <a:avLst/>
          </a:prstGeom>
          <a:noFill/>
        </p:spPr>
        <p:txBody>
          <a:bodyPr wrap="square" anchor="t" lIns="0" rIns="0" tIns="0" bIns="0">
            <a:noAutofit/>
          </a:bodyPr>
          <a:lstStyle/>
          <a:p>
            <a:pPr algn="l">
              <a:lnSpc>
                <a:spcPct val="105000"/>
              </a:lnSpc>
            </a:pPr>
            <a:r>
              <a:rPr sz="800" b="1" i="0">
                <a:solidFill>
                  <a:srgbClr val="0E2356"/>
                </a:solidFill>
                <a:latin typeface="Outfit"/>
              </a:rPr>
              <a:t>EXTENSION POSSIBLE</a:t>
            </a:r>
          </a:p>
          <a:p>
            <a:pPr algn="l">
              <a:lnSpc>
                <a:spcPct val="115000"/>
              </a:lnSpc>
              <a:spcBef>
                <a:spcPts val="200"/>
              </a:spcBef>
            </a:pPr>
            <a:r>
              <a:rPr sz="800" b="0" i="1">
                <a:solidFill>
                  <a:srgbClr val="586586"/>
                </a:solidFill>
                <a:latin typeface="Outfit"/>
              </a:rPr>
              <a:t>Reconstitution d'incident, si crise.</a:t>
            </a:r>
          </a:p>
        </p:txBody>
      </p:sp>
      <p:sp>
        <p:nvSpPr>
          <p:cNvPr id="6" name="Rounded Rectangle 5"/>
          <p:cNvSpPr/>
          <p:nvPr/>
        </p:nvSpPr>
        <p:spPr>
          <a:xfrm>
            <a:off x="5760720" y="1411224"/>
            <a:ext cx="2606040" cy="474472"/>
          </a:xfrm>
          <a:prstGeom prst="roundRect">
            <a:avLst>
              <a:gd name="adj" fmla="val 10000"/>
            </a:avLst>
          </a:prstGeom>
          <a:solidFill>
            <a:srgbClr val="F2F4F8"/>
          </a:solidFill>
          <a:ln w="1143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97296" y="1433169"/>
            <a:ext cx="2532888" cy="430580"/>
          </a:xfrm>
          <a:prstGeom prst="rect">
            <a:avLst/>
          </a:prstGeom>
          <a:noFill/>
        </p:spPr>
        <p:txBody>
          <a:bodyPr wrap="square" anchor="t" lIns="0" rIns="0" tIns="0" bIns="0">
            <a:noAutofit/>
          </a:bodyPr>
          <a:lstStyle/>
          <a:p>
            <a:pPr algn="l">
              <a:lnSpc>
                <a:spcPct val="105000"/>
              </a:lnSpc>
            </a:pPr>
            <a:r>
              <a:rPr sz="800" b="1" i="0">
                <a:solidFill>
                  <a:srgbClr val="0E2356"/>
                </a:solidFill>
                <a:latin typeface="Outfit"/>
              </a:rPr>
              <a:t>EXTENSION POSSIBLE</a:t>
            </a:r>
          </a:p>
          <a:p>
            <a:pPr algn="l">
              <a:lnSpc>
                <a:spcPct val="115000"/>
              </a:lnSpc>
              <a:spcBef>
                <a:spcPts val="200"/>
              </a:spcBef>
            </a:pPr>
            <a:r>
              <a:rPr sz="800" b="0" i="1">
                <a:solidFill>
                  <a:srgbClr val="586586"/>
                </a:solidFill>
                <a:latin typeface="Outfit"/>
              </a:rPr>
              <a:t>Tri contraintes / habitudes, si sites hétérogènes.</a:t>
            </a:r>
          </a:p>
        </p:txBody>
      </p:sp>
      <p:sp>
        <p:nvSpPr>
          <p:cNvPr id="8" name="TextBox 7"/>
          <p:cNvSpPr txBox="1"/>
          <p:nvPr/>
        </p:nvSpPr>
        <p:spPr>
          <a:xfrm>
            <a:off x="2820009" y="1411224"/>
            <a:ext cx="1691640" cy="128016"/>
          </a:xfrm>
          <a:prstGeom prst="rect">
            <a:avLst/>
          </a:prstGeom>
          <a:noFill/>
        </p:spPr>
        <p:txBody>
          <a:bodyPr wrap="square" anchor="ctr" lIns="0" rIns="0" tIns="0" bIns="0">
            <a:noAutofit/>
          </a:bodyPr>
          <a:lstStyle/>
          <a:p>
            <a:pPr algn="ctr"/>
            <a:r>
              <a:rPr sz="800" b="0" i="1">
                <a:solidFill>
                  <a:srgbClr val="586586"/>
                </a:solidFill>
                <a:latin typeface="Outfit"/>
              </a:rPr>
              <a:t>signal de contexte détecté ?</a:t>
            </a:r>
          </a:p>
        </p:txBody>
      </p:sp>
      <p:sp>
        <p:nvSpPr>
          <p:cNvPr id="9" name="Rounded Rectangle 8"/>
          <p:cNvSpPr/>
          <p:nvPr/>
        </p:nvSpPr>
        <p:spPr>
          <a:xfrm>
            <a:off x="3048609" y="1520951"/>
            <a:ext cx="1234440" cy="155448"/>
          </a:xfrm>
          <a:prstGeom prst="roundRect">
            <a:avLst>
              <a:gd name="adj" fmla="val 35000"/>
            </a:avLst>
          </a:prstGeom>
          <a:solidFill>
            <a:srgbClr val="E7E9EE"/>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4329" y="1520951"/>
            <a:ext cx="1143000" cy="155448"/>
          </a:xfrm>
          <a:prstGeom prst="rect">
            <a:avLst/>
          </a:prstGeom>
          <a:noFill/>
        </p:spPr>
        <p:txBody>
          <a:bodyPr wrap="square" anchor="ctr" lIns="0" rIns="0" tIns="0" bIns="0">
            <a:noAutofit/>
          </a:bodyPr>
          <a:lstStyle/>
          <a:p>
            <a:pPr algn="ctr">
              <a:lnSpc>
                <a:spcPct val="105000"/>
              </a:lnSpc>
            </a:pPr>
            <a:r>
              <a:rPr sz="800" b="1" i="0">
                <a:solidFill>
                  <a:srgbClr val="0E2356"/>
                </a:solidFill>
                <a:latin typeface="Outfit"/>
              </a:rPr>
              <a:t>Contexte léger</a:t>
            </a:r>
          </a:p>
        </p:txBody>
      </p:sp>
      <p:sp>
        <p:nvSpPr>
          <p:cNvPr id="11" name="Rounded Rectangle 10"/>
          <p:cNvSpPr/>
          <p:nvPr/>
        </p:nvSpPr>
        <p:spPr>
          <a:xfrm>
            <a:off x="3048609" y="1694687"/>
            <a:ext cx="1234440" cy="155448"/>
          </a:xfrm>
          <a:prstGeom prst="roundRect">
            <a:avLst>
              <a:gd name="adj" fmla="val 35000"/>
            </a:avLst>
          </a:prstGeom>
          <a:solidFill>
            <a:srgbClr val="E7E9EE"/>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4329" y="1694687"/>
            <a:ext cx="1143000" cy="155448"/>
          </a:xfrm>
          <a:prstGeom prst="rect">
            <a:avLst/>
          </a:prstGeom>
          <a:noFill/>
        </p:spPr>
        <p:txBody>
          <a:bodyPr wrap="square" anchor="ctr" lIns="0" rIns="0" tIns="0" bIns="0">
            <a:noAutofit/>
          </a:bodyPr>
          <a:lstStyle/>
          <a:p>
            <a:pPr algn="ctr">
              <a:lnSpc>
                <a:spcPct val="105000"/>
              </a:lnSpc>
            </a:pPr>
            <a:r>
              <a:rPr sz="800" b="1" i="0">
                <a:solidFill>
                  <a:srgbClr val="0E2356"/>
                </a:solidFill>
                <a:latin typeface="Outfit"/>
              </a:rPr>
              <a:t>Contexte politique</a:t>
            </a:r>
          </a:p>
        </p:txBody>
      </p:sp>
      <p:sp>
        <p:nvSpPr>
          <p:cNvPr id="13" name="TextBox 12"/>
          <p:cNvSpPr txBox="1"/>
          <p:nvPr/>
        </p:nvSpPr>
        <p:spPr>
          <a:xfrm>
            <a:off x="774542" y="1922272"/>
            <a:ext cx="457200" cy="128016"/>
          </a:xfrm>
          <a:prstGeom prst="rect">
            <a:avLst/>
          </a:prstGeom>
          <a:noFill/>
        </p:spPr>
        <p:txBody>
          <a:bodyPr wrap="square" anchor="ctr" lIns="0" rIns="0" tIns="0" bIns="0">
            <a:noAutofit/>
          </a:bodyPr>
          <a:lstStyle/>
          <a:p>
            <a:pPr algn="ctr"/>
            <a:r>
              <a:rPr sz="800" b="1" i="0">
                <a:solidFill>
                  <a:srgbClr val="0E2356"/>
                </a:solidFill>
                <a:latin typeface="Outfit"/>
              </a:rPr>
              <a:t>↓</a:t>
            </a:r>
          </a:p>
        </p:txBody>
      </p:sp>
      <p:sp>
        <p:nvSpPr>
          <p:cNvPr id="14" name="TextBox 13"/>
          <p:cNvSpPr txBox="1"/>
          <p:nvPr/>
        </p:nvSpPr>
        <p:spPr>
          <a:xfrm>
            <a:off x="6274201" y="1922272"/>
            <a:ext cx="457200" cy="128016"/>
          </a:xfrm>
          <a:prstGeom prst="rect">
            <a:avLst/>
          </a:prstGeom>
          <a:noFill/>
        </p:spPr>
        <p:txBody>
          <a:bodyPr wrap="square" anchor="ctr" lIns="0" rIns="0" tIns="0" bIns="0">
            <a:noAutofit/>
          </a:bodyPr>
          <a:lstStyle/>
          <a:p>
            <a:pPr algn="ctr"/>
            <a:r>
              <a:rPr sz="800" b="1" i="0">
                <a:solidFill>
                  <a:srgbClr val="0E2356"/>
                </a:solidFill>
                <a:latin typeface="Outfit"/>
              </a:rPr>
              <a:t>↓</a:t>
            </a:r>
          </a:p>
        </p:txBody>
      </p:sp>
      <p:sp>
        <p:nvSpPr>
          <p:cNvPr id="15" name="Oval 14"/>
          <p:cNvSpPr/>
          <p:nvPr/>
        </p:nvSpPr>
        <p:spPr>
          <a:xfrm>
            <a:off x="562356" y="2013712"/>
            <a:ext cx="1414576" cy="347472"/>
          </a:xfrm>
          <a:prstGeom prst="ellipse">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 y="201371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Premier contact</a:t>
            </a:r>
          </a:p>
        </p:txBody>
      </p:sp>
      <p:sp>
        <p:nvSpPr>
          <p:cNvPr id="17" name="TextBox 16"/>
          <p:cNvSpPr txBox="1"/>
          <p:nvPr/>
        </p:nvSpPr>
        <p:spPr>
          <a:xfrm>
            <a:off x="1976932" y="201371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18" name="Rounded Rectangle 17"/>
          <p:cNvSpPr/>
          <p:nvPr/>
        </p:nvSpPr>
        <p:spPr>
          <a:xfrm>
            <a:off x="2159812" y="201371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6388" y="201371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Cadrage</a:t>
            </a:r>
          </a:p>
          <a:p>
            <a:pPr algn="ctr">
              <a:lnSpc>
                <a:spcPct val="100000"/>
              </a:lnSpc>
              <a:spcBef>
                <a:spcPts val="100"/>
              </a:spcBef>
            </a:pPr>
            <a:r>
              <a:rPr sz="800" b="0" i="1">
                <a:solidFill>
                  <a:srgbClr val="586586"/>
                </a:solidFill>
                <a:latin typeface="Outfit"/>
              </a:rPr>
              <a:t>note de cadrage</a:t>
            </a:r>
          </a:p>
        </p:txBody>
      </p:sp>
      <p:sp>
        <p:nvSpPr>
          <p:cNvPr id="20" name="TextBox 19"/>
          <p:cNvSpPr txBox="1"/>
          <p:nvPr/>
        </p:nvSpPr>
        <p:spPr>
          <a:xfrm>
            <a:off x="3574389" y="201371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21" name="Rounded Rectangle 20"/>
          <p:cNvSpPr/>
          <p:nvPr/>
        </p:nvSpPr>
        <p:spPr>
          <a:xfrm>
            <a:off x="3757269" y="201371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93845" y="201371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Diagnostic</a:t>
            </a:r>
          </a:p>
          <a:p>
            <a:pPr algn="ctr">
              <a:lnSpc>
                <a:spcPct val="100000"/>
              </a:lnSpc>
              <a:spcBef>
                <a:spcPts val="100"/>
              </a:spcBef>
            </a:pPr>
            <a:r>
              <a:rPr sz="800" b="0" i="1">
                <a:solidFill>
                  <a:srgbClr val="586586"/>
                </a:solidFill>
                <a:latin typeface="Outfit"/>
              </a:rPr>
              <a:t>base factuelle partagée</a:t>
            </a:r>
          </a:p>
        </p:txBody>
      </p:sp>
      <p:sp>
        <p:nvSpPr>
          <p:cNvPr id="23" name="TextBox 22"/>
          <p:cNvSpPr txBox="1"/>
          <p:nvPr/>
        </p:nvSpPr>
        <p:spPr>
          <a:xfrm>
            <a:off x="5171846" y="201371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24" name="Rounded Rectangle 23"/>
          <p:cNvSpPr/>
          <p:nvPr/>
        </p:nvSpPr>
        <p:spPr>
          <a:xfrm>
            <a:off x="5354726" y="201371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1302" y="201371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Discovery gaspillages</a:t>
            </a:r>
          </a:p>
          <a:p>
            <a:pPr algn="ctr">
              <a:lnSpc>
                <a:spcPct val="100000"/>
              </a:lnSpc>
              <a:spcBef>
                <a:spcPts val="100"/>
              </a:spcBef>
            </a:pPr>
            <a:r>
              <a:rPr sz="800" b="0" i="1">
                <a:solidFill>
                  <a:srgbClr val="586586"/>
                </a:solidFill>
                <a:latin typeface="Outfit"/>
              </a:rPr>
              <a:t>8 familles</a:t>
            </a:r>
          </a:p>
        </p:txBody>
      </p:sp>
      <p:sp>
        <p:nvSpPr>
          <p:cNvPr id="26" name="TextBox 25"/>
          <p:cNvSpPr txBox="1"/>
          <p:nvPr/>
        </p:nvSpPr>
        <p:spPr>
          <a:xfrm>
            <a:off x="6769303" y="201371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27" name="Rounded Rectangle 26"/>
          <p:cNvSpPr/>
          <p:nvPr/>
        </p:nvSpPr>
        <p:spPr>
          <a:xfrm>
            <a:off x="6952183" y="201371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88759" y="201371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Segmentation / Product Discovery</a:t>
            </a:r>
          </a:p>
        </p:txBody>
      </p:sp>
      <p:sp>
        <p:nvSpPr>
          <p:cNvPr id="29" name="Rounded Rectangle 28"/>
          <p:cNvSpPr/>
          <p:nvPr/>
        </p:nvSpPr>
        <p:spPr>
          <a:xfrm>
            <a:off x="5354726" y="2406904"/>
            <a:ext cx="1414576" cy="405384"/>
          </a:xfrm>
          <a:prstGeom prst="roundRect">
            <a:avLst>
              <a:gd name="adj" fmla="val 35000"/>
            </a:avLst>
          </a:prstGeom>
          <a:solidFill>
            <a:srgbClr val="E7E9EE"/>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00446" y="2406904"/>
            <a:ext cx="1323136" cy="405384"/>
          </a:xfrm>
          <a:prstGeom prst="rect">
            <a:avLst/>
          </a:prstGeom>
          <a:noFill/>
        </p:spPr>
        <p:txBody>
          <a:bodyPr wrap="square" anchor="ctr" lIns="0" rIns="0" tIns="0" bIns="0">
            <a:noAutofit/>
          </a:bodyPr>
          <a:lstStyle/>
          <a:p>
            <a:pPr algn="ctr">
              <a:lnSpc>
                <a:spcPct val="105000"/>
              </a:lnSpc>
            </a:pPr>
            <a:r>
              <a:rPr sz="800" b="1" i="0">
                <a:solidFill>
                  <a:srgbClr val="0E2356"/>
                </a:solidFill>
                <a:latin typeface="Outfit"/>
              </a:rPr>
              <a:t>+ Contradictions structurelles (si contexte politique)</a:t>
            </a:r>
          </a:p>
        </p:txBody>
      </p:sp>
      <p:sp>
        <p:nvSpPr>
          <p:cNvPr id="31" name="Rectangle 30"/>
          <p:cNvSpPr/>
          <p:nvPr/>
        </p:nvSpPr>
        <p:spPr>
          <a:xfrm>
            <a:off x="7650327" y="2361184"/>
            <a:ext cx="18288" cy="505967"/>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60500" y="2867152"/>
            <a:ext cx="6408115" cy="18288"/>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60500" y="2867152"/>
            <a:ext cx="18288" cy="91440"/>
          </a:xfrm>
          <a:prstGeom prst="rect">
            <a:avLst/>
          </a:prstGeom>
          <a:solidFill>
            <a:srgbClr val="CFD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9060" y="2858008"/>
            <a:ext cx="201168" cy="109728"/>
          </a:xfrm>
          <a:prstGeom prst="rect">
            <a:avLst/>
          </a:prstGeom>
          <a:noFill/>
        </p:spPr>
        <p:txBody>
          <a:bodyPr wrap="square" anchor="ctr" lIns="0" rIns="0" tIns="0" bIns="0">
            <a:noAutofit/>
          </a:bodyPr>
          <a:lstStyle/>
          <a:p>
            <a:pPr algn="ctr"/>
            <a:r>
              <a:rPr sz="800" b="1" i="0">
                <a:solidFill>
                  <a:srgbClr val="586586"/>
                </a:solidFill>
                <a:latin typeface="Outfit"/>
              </a:rPr>
              <a:t>▾</a:t>
            </a:r>
          </a:p>
        </p:txBody>
      </p:sp>
      <p:sp>
        <p:nvSpPr>
          <p:cNvPr id="35" name="Rounded Rectangle 34"/>
          <p:cNvSpPr/>
          <p:nvPr/>
        </p:nvSpPr>
        <p:spPr>
          <a:xfrm>
            <a:off x="562356" y="295859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932" y="295859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Product Definition</a:t>
            </a:r>
          </a:p>
          <a:p>
            <a:pPr algn="ctr">
              <a:lnSpc>
                <a:spcPct val="100000"/>
              </a:lnSpc>
              <a:spcBef>
                <a:spcPts val="100"/>
              </a:spcBef>
            </a:pPr>
            <a:r>
              <a:rPr sz="800" b="0" i="1">
                <a:solidFill>
                  <a:srgbClr val="586586"/>
                </a:solidFill>
                <a:latin typeface="Outfit"/>
              </a:rPr>
              <a:t>fiche produit cible</a:t>
            </a:r>
          </a:p>
        </p:txBody>
      </p:sp>
      <p:sp>
        <p:nvSpPr>
          <p:cNvPr id="37" name="TextBox 36"/>
          <p:cNvSpPr txBox="1"/>
          <p:nvPr/>
        </p:nvSpPr>
        <p:spPr>
          <a:xfrm>
            <a:off x="1976932" y="295859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38" name="Rounded Rectangle 37"/>
          <p:cNvSpPr/>
          <p:nvPr/>
        </p:nvSpPr>
        <p:spPr>
          <a:xfrm>
            <a:off x="2159812" y="295859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96388" y="295859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Operating Model</a:t>
            </a:r>
          </a:p>
          <a:p>
            <a:pPr algn="ctr">
              <a:lnSpc>
                <a:spcPct val="100000"/>
              </a:lnSpc>
              <a:spcBef>
                <a:spcPts val="100"/>
              </a:spcBef>
            </a:pPr>
            <a:r>
              <a:rPr sz="800" b="0" i="1">
                <a:solidFill>
                  <a:srgbClr val="586586"/>
                </a:solidFill>
                <a:latin typeface="Outfit"/>
              </a:rPr>
              <a:t>responsabilités + mesure</a:t>
            </a:r>
          </a:p>
        </p:txBody>
      </p:sp>
      <p:sp>
        <p:nvSpPr>
          <p:cNvPr id="40" name="TextBox 39"/>
          <p:cNvSpPr txBox="1"/>
          <p:nvPr/>
        </p:nvSpPr>
        <p:spPr>
          <a:xfrm>
            <a:off x="3574389" y="295859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41" name="Rounded Rectangle 40"/>
          <p:cNvSpPr/>
          <p:nvPr/>
        </p:nvSpPr>
        <p:spPr>
          <a:xfrm>
            <a:off x="3757269" y="295859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3845" y="295859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Adoption / Pilote</a:t>
            </a:r>
          </a:p>
          <a:p>
            <a:pPr algn="ctr">
              <a:lnSpc>
                <a:spcPct val="100000"/>
              </a:lnSpc>
              <a:spcBef>
                <a:spcPts val="100"/>
              </a:spcBef>
            </a:pPr>
            <a:r>
              <a:rPr sz="800" b="0" i="1">
                <a:solidFill>
                  <a:srgbClr val="586586"/>
                </a:solidFill>
                <a:latin typeface="Outfit"/>
              </a:rPr>
              <a:t>bilan avant / après</a:t>
            </a:r>
          </a:p>
        </p:txBody>
      </p:sp>
      <p:sp>
        <p:nvSpPr>
          <p:cNvPr id="43" name="TextBox 42"/>
          <p:cNvSpPr txBox="1"/>
          <p:nvPr/>
        </p:nvSpPr>
        <p:spPr>
          <a:xfrm>
            <a:off x="5171846" y="295859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44" name="Oval 43"/>
          <p:cNvSpPr/>
          <p:nvPr/>
        </p:nvSpPr>
        <p:spPr>
          <a:xfrm>
            <a:off x="5354726" y="2958592"/>
            <a:ext cx="1414576" cy="347472"/>
          </a:xfrm>
          <a:prstGeom prst="ellipse">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1302" y="295859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Mission close</a:t>
            </a:r>
          </a:p>
        </p:txBody>
      </p:sp>
      <p:sp>
        <p:nvSpPr>
          <p:cNvPr id="46" name="TextBox 45"/>
          <p:cNvSpPr txBox="1"/>
          <p:nvPr/>
        </p:nvSpPr>
        <p:spPr>
          <a:xfrm>
            <a:off x="6769303" y="2958592"/>
            <a:ext cx="182880" cy="347472"/>
          </a:xfrm>
          <a:prstGeom prst="rect">
            <a:avLst/>
          </a:prstGeom>
          <a:noFill/>
        </p:spPr>
        <p:txBody>
          <a:bodyPr wrap="square" anchor="ctr" lIns="0" rIns="0" tIns="0" bIns="0">
            <a:noAutofit/>
          </a:bodyPr>
          <a:lstStyle/>
          <a:p>
            <a:pPr algn="ctr"/>
            <a:r>
              <a:rPr sz="1000" b="1" i="0">
                <a:solidFill>
                  <a:srgbClr val="586586"/>
                </a:solidFill>
                <a:latin typeface="Outfit"/>
              </a:rPr>
              <a:t>→</a:t>
            </a:r>
          </a:p>
        </p:txBody>
      </p:sp>
      <p:sp>
        <p:nvSpPr>
          <p:cNvPr id="47" name="Rounded Rectangle 46"/>
          <p:cNvSpPr/>
          <p:nvPr/>
        </p:nvSpPr>
        <p:spPr>
          <a:xfrm>
            <a:off x="6952183" y="2958592"/>
            <a:ext cx="1414576" cy="347472"/>
          </a:xfrm>
          <a:prstGeom prst="roundRect">
            <a:avLst>
              <a:gd name="adj" fmla="val 14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88759" y="2958592"/>
            <a:ext cx="1341424" cy="347472"/>
          </a:xfrm>
          <a:prstGeom prst="rect">
            <a:avLst/>
          </a:prstGeom>
          <a:noFill/>
        </p:spPr>
        <p:txBody>
          <a:bodyPr wrap="square" anchor="ctr" lIns="0" rIns="0" tIns="0" bIns="0">
            <a:noAutofit/>
          </a:bodyPr>
          <a:lstStyle/>
          <a:p>
            <a:pPr algn="ctr">
              <a:lnSpc>
                <a:spcPct val="100000"/>
              </a:lnSpc>
            </a:pPr>
            <a:r>
              <a:rPr sz="800" b="1" i="0">
                <a:solidFill>
                  <a:srgbClr val="0E2356"/>
                </a:solidFill>
                <a:latin typeface="Outfit"/>
              </a:rPr>
              <a:t>Retour d'expérience</a:t>
            </a:r>
          </a:p>
          <a:p>
            <a:pPr algn="ctr">
              <a:lnSpc>
                <a:spcPct val="100000"/>
              </a:lnSpc>
              <a:spcBef>
                <a:spcPts val="100"/>
              </a:spcBef>
            </a:pPr>
            <a:r>
              <a:rPr sz="800" b="0" i="1">
                <a:solidFill>
                  <a:srgbClr val="586586"/>
                </a:solidFill>
                <a:latin typeface="Outfit"/>
              </a:rPr>
              <a:t>vers la bibliothèque partagée</a:t>
            </a:r>
          </a:p>
        </p:txBody>
      </p:sp>
      <p:sp>
        <p:nvSpPr>
          <p:cNvPr id="49" name="Rounded Rectangle 48"/>
          <p:cNvSpPr/>
          <p:nvPr/>
        </p:nvSpPr>
        <p:spPr>
          <a:xfrm>
            <a:off x="3757269" y="3351783"/>
            <a:ext cx="1414576" cy="405384"/>
          </a:xfrm>
          <a:prstGeom prst="roundRect">
            <a:avLst>
              <a:gd name="adj" fmla="val 35000"/>
            </a:avLst>
          </a:prstGeom>
          <a:solidFill>
            <a:srgbClr val="E7E9EE"/>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802989" y="3351783"/>
            <a:ext cx="1323136" cy="405384"/>
          </a:xfrm>
          <a:prstGeom prst="rect">
            <a:avLst/>
          </a:prstGeom>
          <a:noFill/>
        </p:spPr>
        <p:txBody>
          <a:bodyPr wrap="square" anchor="ctr" lIns="0" rIns="0" tIns="0" bIns="0">
            <a:noAutofit/>
          </a:bodyPr>
          <a:lstStyle/>
          <a:p>
            <a:pPr algn="ctr">
              <a:lnSpc>
                <a:spcPct val="105000"/>
              </a:lnSpc>
            </a:pPr>
            <a:r>
              <a:rPr sz="800" b="1" i="0">
                <a:solidFill>
                  <a:srgbClr val="0E2356"/>
                </a:solidFill>
                <a:latin typeface="Outfit"/>
              </a:rPr>
              <a:t>+ Dispositif de revue (si contexte politique)</a:t>
            </a:r>
          </a:p>
        </p:txBody>
      </p:sp>
      <p:sp>
        <p:nvSpPr>
          <p:cNvPr id="51" name="Rounded Rectangle 50"/>
          <p:cNvSpPr/>
          <p:nvPr/>
        </p:nvSpPr>
        <p:spPr>
          <a:xfrm>
            <a:off x="562356" y="3802887"/>
            <a:ext cx="7804404" cy="352552"/>
          </a:xfrm>
          <a:prstGeom prst="roundRect">
            <a:avLst>
              <a:gd name="adj" fmla="val 10000"/>
            </a:avLst>
          </a:prstGeom>
          <a:solidFill>
            <a:srgbClr val="F2F4F8"/>
          </a:solidFill>
          <a:ln w="1143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932" y="3824833"/>
            <a:ext cx="7731252" cy="308660"/>
          </a:xfrm>
          <a:prstGeom prst="rect">
            <a:avLst/>
          </a:prstGeom>
          <a:noFill/>
        </p:spPr>
        <p:txBody>
          <a:bodyPr wrap="square" anchor="t" lIns="0" rIns="0" tIns="0" bIns="0">
            <a:noAutofit/>
          </a:bodyPr>
          <a:lstStyle/>
          <a:p>
            <a:pPr algn="l">
              <a:lnSpc>
                <a:spcPct val="105000"/>
              </a:lnSpc>
            </a:pPr>
            <a:r>
              <a:rPr sz="800" b="1" i="0">
                <a:solidFill>
                  <a:srgbClr val="0E2356"/>
                </a:solidFill>
                <a:latin typeface="Outfit"/>
              </a:rPr>
              <a:t>CHECKLIST GOUVERNANCE IA — TRANSVERSE</a:t>
            </a:r>
          </a:p>
          <a:p>
            <a:pPr algn="l">
              <a:lnSpc>
                <a:spcPct val="115000"/>
              </a:lnSpc>
              <a:spcBef>
                <a:spcPts val="200"/>
              </a:spcBef>
            </a:pPr>
            <a:r>
              <a:rPr sz="800" b="0" i="1">
                <a:solidFill>
                  <a:srgbClr val="586586"/>
                </a:solidFill>
                <a:latin typeface="Outfit"/>
              </a:rPr>
              <a:t>Mobilisable dès qu'un usage IA est identifié, à tout moment.</a:t>
            </a:r>
          </a:p>
        </p:txBody>
      </p:sp>
      <p:sp>
        <p:nvSpPr>
          <p:cNvPr id="53" name="Rounded Rectangle 52"/>
          <p:cNvSpPr/>
          <p:nvPr/>
        </p:nvSpPr>
        <p:spPr>
          <a:xfrm>
            <a:off x="562356" y="4173727"/>
            <a:ext cx="128016" cy="128016"/>
          </a:xfrm>
          <a:prstGeom prst="roundRect">
            <a:avLst>
              <a:gd name="adj" fmla="val 30000"/>
            </a:avLst>
          </a:prstGeom>
          <a:solidFill>
            <a:srgbClr val="DCE6F5"/>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5236" y="4155439"/>
            <a:ext cx="2331720" cy="173736"/>
          </a:xfrm>
          <a:prstGeom prst="rect">
            <a:avLst/>
          </a:prstGeom>
          <a:noFill/>
        </p:spPr>
        <p:txBody>
          <a:bodyPr wrap="square" anchor="ctr" lIns="0" rIns="0" tIns="0" bIns="0">
            <a:noAutofit/>
          </a:bodyPr>
          <a:lstStyle/>
          <a:p>
            <a:pPr algn="l"/>
            <a:r>
              <a:rPr sz="800" b="0" i="0">
                <a:solidFill>
                  <a:srgbClr val="586586"/>
                </a:solidFill>
                <a:latin typeface="Outfit"/>
              </a:rPr>
              <a:t>mouvement du socle (toujours présent)</a:t>
            </a:r>
          </a:p>
        </p:txBody>
      </p:sp>
      <p:sp>
        <p:nvSpPr>
          <p:cNvPr id="55" name="Rounded Rectangle 54"/>
          <p:cNvSpPr/>
          <p:nvPr/>
        </p:nvSpPr>
        <p:spPr>
          <a:xfrm>
            <a:off x="3186684" y="4173727"/>
            <a:ext cx="128016" cy="128016"/>
          </a:xfrm>
          <a:prstGeom prst="roundRect">
            <a:avLst>
              <a:gd name="adj" fmla="val 30000"/>
            </a:avLst>
          </a:prstGeom>
          <a:solidFill>
            <a:srgbClr val="E7E9EE"/>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69564" y="4155439"/>
            <a:ext cx="2331720" cy="173736"/>
          </a:xfrm>
          <a:prstGeom prst="rect">
            <a:avLst/>
          </a:prstGeom>
          <a:noFill/>
        </p:spPr>
        <p:txBody>
          <a:bodyPr wrap="square" anchor="ctr" lIns="0" rIns="0" tIns="0" bIns="0">
            <a:noAutofit/>
          </a:bodyPr>
          <a:lstStyle/>
          <a:p>
            <a:pPr algn="l"/>
            <a:r>
              <a:rPr sz="800" b="0" i="0">
                <a:solidFill>
                  <a:srgbClr val="586586"/>
                </a:solidFill>
                <a:latin typeface="Outfit"/>
              </a:rPr>
              <a:t>variante ou section conditionnée au contexte</a:t>
            </a:r>
          </a:p>
        </p:txBody>
      </p:sp>
      <p:sp>
        <p:nvSpPr>
          <p:cNvPr id="57" name="Rounded Rectangle 56"/>
          <p:cNvSpPr/>
          <p:nvPr/>
        </p:nvSpPr>
        <p:spPr>
          <a:xfrm>
            <a:off x="5811012" y="4173727"/>
            <a:ext cx="128016" cy="128016"/>
          </a:xfrm>
          <a:prstGeom prst="roundRect">
            <a:avLst>
              <a:gd name="adj" fmla="val 30000"/>
            </a:avLst>
          </a:prstGeom>
          <a:solidFill>
            <a:srgbClr val="F2F4F8"/>
          </a:solidFill>
          <a:ln w="11430">
            <a:solidFill>
              <a:srgbClr val="0E235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93892" y="4155439"/>
            <a:ext cx="2331720" cy="173736"/>
          </a:xfrm>
          <a:prstGeom prst="rect">
            <a:avLst/>
          </a:prstGeom>
          <a:noFill/>
        </p:spPr>
        <p:txBody>
          <a:bodyPr wrap="square" anchor="ctr" lIns="0" rIns="0" tIns="0" bIns="0">
            <a:noAutofit/>
          </a:bodyPr>
          <a:lstStyle/>
          <a:p>
            <a:pPr algn="l"/>
            <a:r>
              <a:rPr sz="800" b="0" i="0">
                <a:solidFill>
                  <a:srgbClr val="586586"/>
                </a:solidFill>
                <a:latin typeface="Outfit"/>
              </a:rPr>
              <a:t>mécanisme additif (extension, checklist transverse)</a:t>
            </a:r>
          </a:p>
        </p:txBody>
      </p:sp>
      <p:sp>
        <p:nvSpPr>
          <p:cNvPr id="59" name="Rounded Rectangle 58"/>
          <p:cNvSpPr/>
          <p:nvPr/>
        </p:nvSpPr>
        <p:spPr>
          <a:xfrm>
            <a:off x="562356" y="4432363"/>
            <a:ext cx="7804404" cy="551116"/>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62356" y="4432363"/>
            <a:ext cx="64008" cy="551116"/>
          </a:xfrm>
          <a:prstGeom prst="roundRect">
            <a:avLst>
              <a:gd name="adj" fmla="val 50000"/>
            </a:avLst>
          </a:prstGeom>
          <a:solidFill>
            <a:srgbClr val="00D2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1812" y="4432363"/>
            <a:ext cx="7402068" cy="551116"/>
          </a:xfrm>
          <a:prstGeom prst="rect">
            <a:avLst/>
          </a:prstGeom>
          <a:noFill/>
        </p:spPr>
        <p:txBody>
          <a:bodyPr wrap="square" anchor="ctr" lIns="0" rIns="0" tIns="0" bIns="0">
            <a:spAutoFit/>
          </a:bodyPr>
          <a:lstStyle/>
          <a:p>
            <a:pPr algn="l">
              <a:lnSpc>
                <a:spcPct val="115000"/>
              </a:lnSpc>
            </a:pPr>
            <a:r>
              <a:rPr sz="800" b="1" i="0">
                <a:solidFill>
                  <a:srgbClr val="8891B3"/>
                </a:solidFill>
                <a:latin typeface="Outfit"/>
              </a:rPr>
              <a:t>LA THÈSE   </a:t>
            </a:r>
            <a:r>
              <a:rPr sz="850" b="1" i="0">
                <a:solidFill>
                  <a:srgbClr val="FFFFFF"/>
                </a:solidFill>
                <a:latin typeface="Outfit"/>
              </a:rPr>
              <a:t>« Réussir une transformation Infra as a Product, ce n'est pas "mettre des PO dans l'infra". C'est concevoir, opérer et faire adopter une plateforme interne comme un produit, en équilibrant delivery, robustesse du RUN et valeur perçue par les utilisateurs internes.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b="1" sz="1200">
                <a:solidFill>
                  <a:srgbClr val="0E2356"/>
                </a:solidFill>
                <a:latin typeface="Outfit"/>
              </a:rPr>
              <a:t>ANNEXES   ·   </a:t>
            </a:r>
            <a:r>
              <a:rPr b="1" sz="1200">
                <a:solidFill>
                  <a:srgbClr val="0E2356"/>
                </a:solidFill>
                <a:latin typeface="Outfit"/>
              </a:rPr>
              <a:t>Export markdown — agentic ou documentation, selon le contexte client (piste à valider)</a:t>
            </a:r>
          </a:p>
        </p:txBody>
      </p:sp>
      <p:sp>
        <p:nvSpPr>
          <p:cNvPr id="3" name="Rounded Rectangle 2"/>
          <p:cNvSpPr/>
          <p:nvPr/>
        </p:nvSpPr>
        <p:spPr>
          <a:xfrm>
            <a:off x="6263640" y="1051560"/>
            <a:ext cx="2103120" cy="384048"/>
          </a:xfrm>
          <a:prstGeom prst="roundRect">
            <a:avLst>
              <a:gd name="adj" fmla="val 18000"/>
            </a:avLst>
          </a:prstGeom>
          <a:solidFill>
            <a:srgbClr val="FFFFFF"/>
          </a:solidFill>
          <a:ln w="12700">
            <a:solidFill>
              <a:srgbClr val="0E23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73368" y="1051560"/>
            <a:ext cx="1883663" cy="384048"/>
          </a:xfrm>
          <a:prstGeom prst="rect">
            <a:avLst/>
          </a:prstGeom>
          <a:noFill/>
        </p:spPr>
        <p:txBody>
          <a:bodyPr wrap="square" anchor="ctr" lIns="0" rIns="0" tIns="0" bIns="0">
            <a:noAutofit/>
          </a:bodyPr>
          <a:lstStyle/>
          <a:p>
            <a:pPr algn="l">
              <a:lnSpc>
                <a:spcPct val="110000"/>
              </a:lnSpc>
            </a:pPr>
            <a:r>
              <a:rPr sz="800" b="1" i="0">
                <a:solidFill>
                  <a:srgbClr val="0E2356"/>
                </a:solidFill>
                <a:latin typeface="Outfit"/>
              </a:rPr>
              <a:t>DÉPLOIEMENT AGENTIC</a:t>
            </a:r>
          </a:p>
          <a:p>
            <a:pPr algn="l">
              <a:spcBef>
                <a:spcPts val="100"/>
              </a:spcBef>
            </a:pPr>
            <a:r>
              <a:rPr sz="800" b="0" i="1">
                <a:solidFill>
                  <a:srgbClr val="586586"/>
                </a:solidFill>
                <a:latin typeface="Outfit"/>
              </a:rPr>
              <a:t>cf. les trois niveaux d'ambition</a:t>
            </a:r>
          </a:p>
        </p:txBody>
      </p:sp>
      <p:sp>
        <p:nvSpPr>
          <p:cNvPr id="5" name="TextBox 4"/>
          <p:cNvSpPr txBox="1"/>
          <p:nvPr/>
        </p:nvSpPr>
        <p:spPr>
          <a:xfrm>
            <a:off x="562356" y="1051560"/>
            <a:ext cx="5518404" cy="457200"/>
          </a:xfrm>
          <a:prstGeom prst="rect">
            <a:avLst/>
          </a:prstGeom>
          <a:noFill/>
        </p:spPr>
        <p:txBody>
          <a:bodyPr wrap="square" anchor="t" lIns="0" rIns="0" tIns="0" bIns="0">
            <a:noAutofit/>
          </a:bodyPr>
          <a:lstStyle/>
          <a:p>
            <a:pPr algn="l">
              <a:lnSpc>
                <a:spcPct val="120000"/>
              </a:lnSpc>
            </a:pPr>
            <a:r>
              <a:rPr sz="800" b="0" i="1">
                <a:solidFill>
                  <a:srgbClr val="586586"/>
                </a:solidFill>
                <a:latin typeface="Outfit"/>
              </a:rPr>
              <a:t>Pas un 5e deck PPT : un livrable markdown pour l'équipe qui exécute (versionnable, committable) — les 4 decks du chapitre La démarche restent pour sponsor et comité de pilotage.</a:t>
            </a:r>
          </a:p>
        </p:txBody>
      </p:sp>
      <p:sp>
        <p:nvSpPr>
          <p:cNvPr id="6" name="Rounded Rectangle 5"/>
          <p:cNvSpPr/>
          <p:nvPr/>
        </p:nvSpPr>
        <p:spPr>
          <a:xfrm>
            <a:off x="562356" y="1554480"/>
            <a:ext cx="3810762" cy="1417320"/>
          </a:xfrm>
          <a:prstGeom prst="roundRect">
            <a:avLst>
              <a:gd name="adj" fmla="val 6000"/>
            </a:avLst>
          </a:prstGeom>
          <a:solidFill>
            <a:srgbClr val="FFFFFF"/>
          </a:solidFill>
          <a:ln w="9525">
            <a:solidFill>
              <a:srgbClr val="E6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2356" y="1554480"/>
            <a:ext cx="64008" cy="1417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 y="1682495"/>
            <a:ext cx="3445002" cy="274320"/>
          </a:xfrm>
          <a:prstGeom prst="rect">
            <a:avLst/>
          </a:prstGeom>
          <a:noFill/>
        </p:spPr>
        <p:txBody>
          <a:bodyPr wrap="square" anchor="t" lIns="0" rIns="0" tIns="0" bIns="0">
            <a:noAutofit/>
          </a:bodyPr>
          <a:lstStyle/>
          <a:p>
            <a:pPr algn="l"/>
            <a:r>
              <a:rPr sz="1400" b="1" i="0">
                <a:solidFill>
                  <a:srgbClr val="0E2356"/>
                </a:solidFill>
                <a:latin typeface="Outfit"/>
              </a:rPr>
              <a:t>DOCUMENTATION-FIRST</a:t>
            </a:r>
          </a:p>
        </p:txBody>
      </p:sp>
      <p:sp>
        <p:nvSpPr>
          <p:cNvPr id="9" name="TextBox 8"/>
          <p:cNvSpPr txBox="1"/>
          <p:nvPr/>
        </p:nvSpPr>
        <p:spPr>
          <a:xfrm>
            <a:off x="745236" y="2011680"/>
            <a:ext cx="3445002" cy="502920"/>
          </a:xfrm>
          <a:prstGeom prst="rect">
            <a:avLst/>
          </a:prstGeom>
          <a:noFill/>
        </p:spPr>
        <p:txBody>
          <a:bodyPr wrap="square" anchor="t" lIns="0" rIns="0" tIns="0" bIns="0">
            <a:noAutofit/>
          </a:bodyPr>
          <a:lstStyle/>
          <a:p>
            <a:pPr algn="l"/>
            <a:r>
              <a:rPr sz="900" b="1" i="0">
                <a:solidFill>
                  <a:srgbClr val="586586"/>
                </a:solidFill>
                <a:latin typeface="Outfit"/>
              </a:rPr>
              <a:t>QUAND</a:t>
            </a:r>
          </a:p>
          <a:p>
            <a:pPr algn="l">
              <a:lnSpc>
                <a:spcPct val="120000"/>
              </a:lnSpc>
              <a:spcBef>
                <a:spcPts val="200"/>
              </a:spcBef>
            </a:pPr>
            <a:r>
              <a:rPr sz="800" b="0" i="0">
                <a:solidFill>
                  <a:srgbClr val="0E2356"/>
                </a:solidFill>
                <a:latin typeface="Outfit"/>
              </a:rPr>
              <a:t>Agentic Readiness [0]-[1], données D3-D4 sans LLM local, ou score de gaspillage faible.</a:t>
            </a:r>
          </a:p>
        </p:txBody>
      </p:sp>
      <p:sp>
        <p:nvSpPr>
          <p:cNvPr id="10" name="TextBox 9"/>
          <p:cNvSpPr txBox="1"/>
          <p:nvPr/>
        </p:nvSpPr>
        <p:spPr>
          <a:xfrm>
            <a:off x="745236" y="2542032"/>
            <a:ext cx="3445002" cy="365760"/>
          </a:xfrm>
          <a:prstGeom prst="rect">
            <a:avLst/>
          </a:prstGeom>
          <a:noFill/>
        </p:spPr>
        <p:txBody>
          <a:bodyPr wrap="square" anchor="t" lIns="0" rIns="0" tIns="0" bIns="0">
            <a:noAutofit/>
          </a:bodyPr>
          <a:lstStyle/>
          <a:p>
            <a:pPr algn="l"/>
            <a:r>
              <a:rPr sz="800" b="1" i="0">
                <a:solidFill>
                  <a:srgbClr val="586586"/>
                </a:solidFill>
                <a:latin typeface="Outfit"/>
              </a:rPr>
              <a:t>LIVRABLE · OWNER</a:t>
            </a:r>
          </a:p>
          <a:p>
            <a:pPr algn="l">
              <a:spcBef>
                <a:spcPts val="200"/>
              </a:spcBef>
            </a:pPr>
            <a:r>
              <a:rPr sz="800" b="1" i="0">
                <a:solidFill>
                  <a:srgbClr val="0E2356"/>
                </a:solidFill>
                <a:latin typeface="Outfit"/>
              </a:rPr>
              <a:t>Runbook du processus — plan d'adoption</a:t>
            </a:r>
          </a:p>
        </p:txBody>
      </p:sp>
      <p:sp>
        <p:nvSpPr>
          <p:cNvPr id="11" name="Rounded Rectangle 10"/>
          <p:cNvSpPr/>
          <p:nvPr/>
        </p:nvSpPr>
        <p:spPr>
          <a:xfrm>
            <a:off x="4555998" y="1554480"/>
            <a:ext cx="3810762" cy="1417320"/>
          </a:xfrm>
          <a:prstGeom prst="roundRect">
            <a:avLst>
              <a:gd name="adj" fmla="val 6000"/>
            </a:avLst>
          </a:prstGeom>
          <a:solidFill>
            <a:srgbClr val="FFFFFF"/>
          </a:solidFill>
          <a:ln w="9525">
            <a:solidFill>
              <a:srgbClr val="E6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5998" y="1554480"/>
            <a:ext cx="64008" cy="1417320"/>
          </a:xfrm>
          <a:prstGeom prst="roundRect">
            <a:avLst>
              <a:gd name="adj" fmla="val 50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8878" y="1682495"/>
            <a:ext cx="3445002" cy="274320"/>
          </a:xfrm>
          <a:prstGeom prst="rect">
            <a:avLst/>
          </a:prstGeom>
          <a:noFill/>
        </p:spPr>
        <p:txBody>
          <a:bodyPr wrap="square" anchor="t" lIns="0" rIns="0" tIns="0" bIns="0">
            <a:noAutofit/>
          </a:bodyPr>
          <a:lstStyle/>
          <a:p>
            <a:pPr algn="l"/>
            <a:r>
              <a:rPr sz="1400" b="1" i="0">
                <a:solidFill>
                  <a:srgbClr val="0E2356"/>
                </a:solidFill>
                <a:latin typeface="Outfit"/>
              </a:rPr>
              <a:t>AGENTIC-IMPLEMENTATION</a:t>
            </a:r>
          </a:p>
        </p:txBody>
      </p:sp>
      <p:sp>
        <p:nvSpPr>
          <p:cNvPr id="14" name="TextBox 13"/>
          <p:cNvSpPr txBox="1"/>
          <p:nvPr/>
        </p:nvSpPr>
        <p:spPr>
          <a:xfrm>
            <a:off x="4738878" y="2011680"/>
            <a:ext cx="3445002" cy="502920"/>
          </a:xfrm>
          <a:prstGeom prst="rect">
            <a:avLst/>
          </a:prstGeom>
          <a:noFill/>
        </p:spPr>
        <p:txBody>
          <a:bodyPr wrap="square" anchor="t" lIns="0" rIns="0" tIns="0" bIns="0">
            <a:noAutofit/>
          </a:bodyPr>
          <a:lstStyle/>
          <a:p>
            <a:pPr algn="l"/>
            <a:r>
              <a:rPr sz="900" b="1" i="0">
                <a:solidFill>
                  <a:srgbClr val="586586"/>
                </a:solidFill>
                <a:latin typeface="Outfit"/>
              </a:rPr>
              <a:t>QUAND</a:t>
            </a:r>
          </a:p>
          <a:p>
            <a:pPr algn="l">
              <a:lnSpc>
                <a:spcPct val="120000"/>
              </a:lnSpc>
              <a:spcBef>
                <a:spcPts val="200"/>
              </a:spcBef>
            </a:pPr>
            <a:r>
              <a:rPr sz="800" b="0" i="0">
                <a:solidFill>
                  <a:srgbClr val="0E2356"/>
                </a:solidFill>
                <a:latin typeface="Outfit"/>
              </a:rPr>
              <a:t>Agentic Readiness [2]-[3], données D0-D2 (ou D3-D4 avec LLM local), score positif.</a:t>
            </a:r>
          </a:p>
        </p:txBody>
      </p:sp>
      <p:sp>
        <p:nvSpPr>
          <p:cNvPr id="15" name="TextBox 14"/>
          <p:cNvSpPr txBox="1"/>
          <p:nvPr/>
        </p:nvSpPr>
        <p:spPr>
          <a:xfrm>
            <a:off x="4738878" y="2542032"/>
            <a:ext cx="3445002" cy="365760"/>
          </a:xfrm>
          <a:prstGeom prst="rect">
            <a:avLst/>
          </a:prstGeom>
          <a:noFill/>
        </p:spPr>
        <p:txBody>
          <a:bodyPr wrap="square" anchor="t" lIns="0" rIns="0" tIns="0" bIns="0">
            <a:noAutofit/>
          </a:bodyPr>
          <a:lstStyle/>
          <a:p>
            <a:pPr algn="l"/>
            <a:r>
              <a:rPr sz="800" b="1" i="0">
                <a:solidFill>
                  <a:srgbClr val="586586"/>
                </a:solidFill>
                <a:latin typeface="Outfit"/>
              </a:rPr>
              <a:t>LIVRABLE · OWNER</a:t>
            </a:r>
          </a:p>
          <a:p>
            <a:pPr algn="l">
              <a:spcBef>
                <a:spcPts val="200"/>
              </a:spcBef>
            </a:pPr>
            <a:r>
              <a:rPr sz="800" b="1" i="0">
                <a:solidFill>
                  <a:srgbClr val="0E2356"/>
                </a:solidFill>
                <a:latin typeface="Outfit"/>
              </a:rPr>
              <a:t>Plan d'implémentation agentic — opportunités agentic</a:t>
            </a:r>
          </a:p>
        </p:txBody>
      </p:sp>
      <p:sp>
        <p:nvSpPr>
          <p:cNvPr id="16" name="Rounded Rectangle 15"/>
          <p:cNvSpPr/>
          <p:nvPr/>
        </p:nvSpPr>
        <p:spPr>
          <a:xfrm>
            <a:off x="562356" y="3108960"/>
            <a:ext cx="2479548" cy="502920"/>
          </a:xfrm>
          <a:prstGeom prst="roundRect">
            <a:avLst>
              <a:gd name="adj" fmla="val 10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 y="3163824"/>
            <a:ext cx="2260092" cy="393192"/>
          </a:xfrm>
          <a:prstGeom prst="rect">
            <a:avLst/>
          </a:prstGeom>
          <a:noFill/>
        </p:spPr>
        <p:txBody>
          <a:bodyPr wrap="square" anchor="t" lIns="0" rIns="0" tIns="0" bIns="0">
            <a:noAutofit/>
          </a:bodyPr>
          <a:lstStyle/>
          <a:p>
            <a:pPr algn="l"/>
            <a:r>
              <a:rPr sz="800" b="1" i="0">
                <a:solidFill>
                  <a:srgbClr val="0E2356"/>
                </a:solidFill>
                <a:latin typeface="Outfit"/>
              </a:rPr>
              <a:t>PILIER AGENTIC READINESS</a:t>
            </a:r>
          </a:p>
          <a:p>
            <a:pPr algn="l">
              <a:lnSpc>
                <a:spcPct val="115000"/>
              </a:lnSpc>
              <a:spcBef>
                <a:spcPts val="200"/>
              </a:spcBef>
            </a:pPr>
            <a:r>
              <a:rPr sz="800" b="0" i="0">
                <a:solidFill>
                  <a:srgbClr val="586586"/>
                </a:solidFill>
                <a:latin typeface="Outfit"/>
              </a:rPr>
              <a:t>[0-1] → documentation · [2-3] → agentic</a:t>
            </a:r>
          </a:p>
        </p:txBody>
      </p:sp>
      <p:sp>
        <p:nvSpPr>
          <p:cNvPr id="18" name="Rounded Rectangle 17"/>
          <p:cNvSpPr/>
          <p:nvPr/>
        </p:nvSpPr>
        <p:spPr>
          <a:xfrm>
            <a:off x="3224783" y="3108960"/>
            <a:ext cx="2479548" cy="502920"/>
          </a:xfrm>
          <a:prstGeom prst="roundRect">
            <a:avLst>
              <a:gd name="adj" fmla="val 10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4512" y="3163824"/>
            <a:ext cx="2260092" cy="393192"/>
          </a:xfrm>
          <a:prstGeom prst="rect">
            <a:avLst/>
          </a:prstGeom>
          <a:noFill/>
        </p:spPr>
        <p:txBody>
          <a:bodyPr wrap="square" anchor="t" lIns="0" rIns="0" tIns="0" bIns="0">
            <a:noAutofit/>
          </a:bodyPr>
          <a:lstStyle/>
          <a:p>
            <a:pPr algn="l"/>
            <a:r>
              <a:rPr sz="800" b="1" i="0">
                <a:solidFill>
                  <a:srgbClr val="0E2356"/>
                </a:solidFill>
                <a:latin typeface="Outfit"/>
              </a:rPr>
              <a:t>DONNÉES (GATE IA)</a:t>
            </a:r>
          </a:p>
          <a:p>
            <a:pPr algn="l">
              <a:lnSpc>
                <a:spcPct val="115000"/>
              </a:lnSpc>
              <a:spcBef>
                <a:spcPts val="200"/>
              </a:spcBef>
            </a:pPr>
            <a:r>
              <a:rPr sz="800" b="0" i="0">
                <a:solidFill>
                  <a:srgbClr val="586586"/>
                </a:solidFill>
                <a:latin typeface="Outfit"/>
              </a:rPr>
              <a:t>D3-D4 sans LLM local → doc · D0-D2 → agentic</a:t>
            </a:r>
          </a:p>
        </p:txBody>
      </p:sp>
      <p:sp>
        <p:nvSpPr>
          <p:cNvPr id="20" name="Rounded Rectangle 19"/>
          <p:cNvSpPr/>
          <p:nvPr/>
        </p:nvSpPr>
        <p:spPr>
          <a:xfrm>
            <a:off x="5887212" y="3108960"/>
            <a:ext cx="2479548" cy="502920"/>
          </a:xfrm>
          <a:prstGeom prst="roundRect">
            <a:avLst>
              <a:gd name="adj" fmla="val 10000"/>
            </a:avLst>
          </a:prstGeom>
          <a:solidFill>
            <a:srgbClr val="E7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96940" y="3163824"/>
            <a:ext cx="2260092" cy="393192"/>
          </a:xfrm>
          <a:prstGeom prst="rect">
            <a:avLst/>
          </a:prstGeom>
          <a:noFill/>
        </p:spPr>
        <p:txBody>
          <a:bodyPr wrap="square" anchor="t" lIns="0" rIns="0" tIns="0" bIns="0">
            <a:noAutofit/>
          </a:bodyPr>
          <a:lstStyle/>
          <a:p>
            <a:pPr algn="l"/>
            <a:r>
              <a:rPr sz="800" b="1" i="0">
                <a:solidFill>
                  <a:srgbClr val="0E2356"/>
                </a:solidFill>
                <a:latin typeface="Outfit"/>
              </a:rPr>
              <a:t>SCORE DE GASPILLAGE</a:t>
            </a:r>
          </a:p>
          <a:p>
            <a:pPr algn="l">
              <a:lnSpc>
                <a:spcPct val="115000"/>
              </a:lnSpc>
              <a:spcBef>
                <a:spcPts val="200"/>
              </a:spcBef>
            </a:pPr>
            <a:r>
              <a:rPr sz="800" b="0" i="0">
                <a:solidFill>
                  <a:srgbClr val="586586"/>
                </a:solidFill>
                <a:latin typeface="Outfit"/>
              </a:rPr>
              <a:t>faible/négatif → doc · positif → agentic</a:t>
            </a:r>
          </a:p>
        </p:txBody>
      </p:sp>
      <p:sp>
        <p:nvSpPr>
          <p:cNvPr id="22" name="Rounded Rectangle 21"/>
          <p:cNvSpPr/>
          <p:nvPr/>
        </p:nvSpPr>
        <p:spPr>
          <a:xfrm>
            <a:off x="562356" y="3749040"/>
            <a:ext cx="7804404" cy="960120"/>
          </a:xfrm>
          <a:prstGeom prst="roundRect">
            <a:avLst>
              <a:gd name="adj" fmla="val 8000"/>
            </a:avLst>
          </a:prstGeom>
          <a:solidFill>
            <a:srgbClr val="0E23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 y="3749040"/>
            <a:ext cx="7402068" cy="960120"/>
          </a:xfrm>
          <a:prstGeom prst="rect">
            <a:avLst/>
          </a:prstGeom>
          <a:noFill/>
        </p:spPr>
        <p:txBody>
          <a:bodyPr wrap="square" anchor="ctr" lIns="0" rIns="0" tIns="0" bIns="0">
            <a:noAutofit/>
          </a:bodyPr>
          <a:lstStyle/>
          <a:p>
            <a:pPr algn="l"/>
            <a:r>
              <a:rPr sz="900" b="1" i="0">
                <a:solidFill>
                  <a:srgbClr val="FFFFFF"/>
                </a:solidFill>
                <a:latin typeface="Outfit"/>
              </a:rPr>
              <a:t>Pas un aller simple</a:t>
            </a:r>
          </a:p>
          <a:p>
            <a:pPr algn="l">
              <a:lnSpc>
                <a:spcPct val="125000"/>
              </a:lnSpc>
              <a:spcBef>
                <a:spcPts val="400"/>
              </a:spcBef>
            </a:pPr>
            <a:r>
              <a:rPr sz="800" b="0" i="0">
                <a:solidFill>
                  <a:srgbClr val="C7CBE0"/>
                </a:solidFill>
                <a:latin typeface="Outfit"/>
              </a:rPr>
              <a:t>À chaque boucle de réévaluation, le même fichier est amendé — jamais dupliqué — sur le modèle du registre de risques IA : un client documentation-first peut basculer en agentic si son Agentic Readiness progresse, et inversement en cas de perte de compétence avérée.</a:t>
            </a:r>
          </a:p>
        </p:txBody>
      </p:sp>
    </p:spTree>
  </p:cSld>
  <p:clrMapOvr>
    <a:masterClrMapping/>
  </p:clrMapOvr>
</p:sld>
</file>

<file path=ppt/theme/theme1.xml><?xml version="1.0" encoding="utf-8"?>
<a:theme xmlns:a="http://schemas.openxmlformats.org/drawingml/2006/main" name="2026 - OCTO">
  <a:themeElements>
    <a:clrScheme name="Custom">
      <a:dk1>
        <a:srgbClr val="0E2356"/>
      </a:dk1>
      <a:lt1>
        <a:srgbClr val="FFFFFF"/>
      </a:lt1>
      <a:dk2>
        <a:srgbClr val="3E4F78"/>
      </a:dk2>
      <a:lt2>
        <a:srgbClr val="586586"/>
      </a:lt2>
      <a:accent1>
        <a:srgbClr val="6E7B9A"/>
      </a:accent1>
      <a:accent2>
        <a:srgbClr val="9FA7BB"/>
      </a:accent2>
      <a:accent3>
        <a:srgbClr val="00D2DD"/>
      </a:accent3>
      <a:accent4>
        <a:srgbClr val="B7BDCC"/>
      </a:accent4>
      <a:accent5>
        <a:srgbClr val="CFD3DD"/>
      </a:accent5>
      <a:accent6>
        <a:srgbClr val="E7E9EE"/>
      </a:accent6>
      <a:hlink>
        <a:srgbClr val="33B5CB"/>
      </a:hlink>
      <a:folHlink>
        <a:srgbClr val="33B5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Custom">
      <a:dk1>
        <a:srgbClr val="0E2356"/>
      </a:dk1>
      <a:lt1>
        <a:srgbClr val="FFFFFF"/>
      </a:lt1>
      <a:dk2>
        <a:srgbClr val="566589"/>
      </a:dk2>
      <a:lt2>
        <a:srgbClr val="8691AA"/>
      </a:lt2>
      <a:accent1>
        <a:srgbClr val="B7BDCC"/>
      </a:accent1>
      <a:accent2>
        <a:srgbClr val="ECEDF3"/>
      </a:accent2>
      <a:accent3>
        <a:srgbClr val="DDF4F8"/>
      </a:accent3>
      <a:accent4>
        <a:srgbClr val="B6E8F0"/>
      </a:accent4>
      <a:accent5>
        <a:srgbClr val="80D7E5"/>
      </a:accent5>
      <a:accent6>
        <a:srgbClr val="00AFCB"/>
      </a:accent6>
      <a:hlink>
        <a:srgbClr val="26BBD3"/>
      </a:hlink>
      <a:folHlink>
        <a:srgbClr val="26BB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429</Words>
  <Application>Microsoft Office PowerPoint</Application>
  <PresentationFormat>On-screen Show (16:9)</PresentationFormat>
  <Paragraphs>76</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Outfit Light</vt:lpstr>
      <vt:lpstr>Century Gothic</vt:lpstr>
      <vt:lpstr>Helvetica Neue Light</vt:lpstr>
      <vt:lpstr>Outfit</vt:lpstr>
      <vt:lpstr>Outfit Medium</vt:lpstr>
      <vt:lpstr>Outfit SemiBold</vt:lpstr>
      <vt:lpstr>2026 - OCTO</vt:lpstr>
      <vt:lpstr>OCTO Technology</vt:lpstr>
      <vt:lpstr>Sommaire</vt:lpstr>
      <vt:lpstr>Contexte</vt:lpstr>
      <vt:lpstr>xxx</vt:lpstr>
      <vt:lpstr>Notre approche</vt:lpstr>
      <vt:lpstr>Notre approche </vt:lpstr>
      <vt:lpstr>Une approche contextualisée pour un premier déploiement aligné </vt:lpstr>
      <vt:lpstr>Planning des interventions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Camus, Claude</cp:lastModifiedBy>
  <cp:revision>1</cp:revision>
  <dcterms:modified xsi:type="dcterms:W3CDTF">2026-06-19T16:03:54Z</dcterms:modified>
</cp:coreProperties>
</file>