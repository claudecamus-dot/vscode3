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  <p:sldId id="265" r:id="rId32"/>
    <p:sldId id="266" r:id="rId33"/>
    <p:sldId id="267" r:id="rId34"/>
    <p:sldId id="268" r:id="rId35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BMAD IAP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Infra as a Product Transformation Pack — synthèse de cadrage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v1.7 · 2026-07-09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STATUT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Draft consolidé v1.7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177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LANGUE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5998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CONFIDENTIALITÉ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Client-data-first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819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SOURCES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VSCode1 · VSCode2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SOMMAIRE   ·   </a:t>
            </a:r>
            <a:r>
              <a:rPr b="1" sz="1700">
                <a:solidFill>
                  <a:srgbClr val="0E2356"/>
                </a:solidFill>
              </a:rPr>
              <a:t>Un cadrage en quatre temps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51560"/>
            <a:ext cx="1813941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234439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C5CC5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7" y="1737360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0E2356"/>
                </a:solidFill>
              </a:rPr>
              <a:t>Cadrage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194560"/>
            <a:ext cx="1484757" cy="2606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86586"/>
                </a:solidFill>
              </a:rPr>
              <a:t>Mission double pilier, doctrine, gate IA, deux échelles de maturité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1051560"/>
            <a:ext cx="1813941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3769" y="1234439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E6B34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3769" y="1737360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0E2356"/>
                </a:solidFill>
              </a:rPr>
              <a:t>Méthode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769" y="2194560"/>
            <a:ext cx="1484757" cy="2606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86586"/>
                </a:solidFill>
              </a:rPr>
              <a:t>Traitement des gaspillages scoré, modèles d'équipe (Team Topologies)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051560"/>
            <a:ext cx="1813941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0590" y="1234439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B3261E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1737360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0E2356"/>
                </a:solidFill>
              </a:rPr>
              <a:t>Exécution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194560"/>
            <a:ext cx="1484757" cy="2606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86586"/>
                </a:solidFill>
              </a:rPr>
              <a:t>11 agents en 3 chaînes de handoff, workflows, schéma de fonctionnement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819" y="1051560"/>
            <a:ext cx="1813941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52819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7411" y="1234439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6A3D9A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7411" y="1737360"/>
            <a:ext cx="148475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0E2356"/>
                </a:solidFill>
              </a:rPr>
              <a:t>Trajectoire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7411" y="2194560"/>
            <a:ext cx="1484757" cy="2606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86586"/>
                </a:solidFill>
              </a:rPr>
              <a:t>Ambition A/B/C, KPIs, roadmap MVP0→6, points ouverts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Une double mission : transformer ET assainir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Cible produit/plateforme : utilisateurs identifiés, valeur, roadmap, engagements de qualité, gouvernance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vision à moyen terme — ce que le sponsor achète.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5998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55998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7166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ASSAINIR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7166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Traitement mesurable des gaspillages : flux, RUN, humain, financier, cognitif, décisionnel, environnemental, 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7166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capacité récupérée qui finance la trajectoire produit.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" y="3291840"/>
            <a:ext cx="780440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86586"/>
                </a:solidFill>
              </a:rPr>
              <a:t>Les deux piliers ne sont ni séquentiels ni optionnels l'un par rapport à l'autre : une cible produit sans traitement du gaspillage manque de capacité pour s'y déployer ; l'inverse reste une réduction de coûts sans 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Efficacité du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4783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6224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Robustesse du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7212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8652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Valeur perçue (utilisateurs internes)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CADRAGE   ·   </a:t>
            </a:r>
            <a:r>
              <a:rPr b="1" sz="1550">
                <a:solidFill>
                  <a:srgbClr val="0E2356"/>
                </a:solidFill>
              </a:rPr>
              <a:t>Les données du client gouvernent le choix du modèle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86586"/>
                </a:solidFill>
              </a:rPr>
              <a:t>Checkpoint toujours humain avant tout usage IA sur données client — iap-ai-data-confidentiality-gate, quel que soit le mode (ADR-006 OpenHub).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63039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D0 ·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9676" y="1463039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Articles publics, docs méthodo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36" y="1463039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externe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121408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5B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" y="2121408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D1 · 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9676" y="2121408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Organisation macro, catalogue anonymisé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3036" y="2121408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recommandée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779776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779776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D2 · Confidentiel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9676" y="277977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Notes d'interview, reporting, portefeuille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3036" y="2779776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ou LLM privé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438144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3438144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D3 · Restreint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9676" y="3438144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Tickets détaillés, logs, CMDB, 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03036" y="3438144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LLM local, contrôles forts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" y="4096511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" y="4096511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D4 ·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676" y="4096511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Secrets de production, données réglementées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3036" y="4096511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Local/on-prem, sans IA générative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Deux échelles de maturité, jamais confondues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IA CLIENT (M0–M4)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17319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17319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6443" y="1417319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Pas d'IA interne utilisable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Méthodo générique, données anonymisées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130552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" y="2130552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443" y="2130552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interne basique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Synthèses internes, pas d'analyse critique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2843784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" y="2843784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6443" y="2843784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privée avec RAG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Diagnostic documentaire,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3557015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" y="3557015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3" y="3557015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Plateforme IA gouvernée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Workflows agentic contrôlés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4270248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427024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443" y="4270248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industrielle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Agents spécialisés à fort volume, contrôle humain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5998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PRODUIT / PLATEFORME (grille VSCode1 V3.2)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5998" y="168249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2030" y="1417319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Équipe Produit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239572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2030" y="2130552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Excellence Technique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1E6B34"/>
                </a:solidFill>
              </a:rPr>
              <a:t>Cœur du périmètre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5998" y="31089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2030" y="2843784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Culture de l'Entreprise Agile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5998" y="3822191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2030" y="3557015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Agilité à l'Échelle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B8860B"/>
                </a:solidFill>
              </a:rPr>
              <a:t>Cœur du périmètre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5998" y="453542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2030" y="4270248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IA, Agentic et Organisation Augmentée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6A3D9A"/>
                </a:solidFill>
              </a:rPr>
              <a:t>Remplace le M0–M4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Le gaspillage, traité comme un objet de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Flux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Attentes, validations multiples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59177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9177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05481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Humain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Experts seniors sur tâches répétitives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5998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5998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2302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RUN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Incidents récurrents, demandes répétées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2819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52819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9123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Financier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Surdimensionnement, ressources non décommissionnées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2356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Cognitif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Trop d'outils, procédures complexes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59177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59177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38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481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Décisionnel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Arbitrages subjectifs, priorisation opaque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5998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55998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2302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Environnemental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Ressources inutilisées, environnements non éteints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2819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2819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9123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Cas d'usage gadget, automatisation sans garde-fous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" y="2688336"/>
            <a:ext cx="7804404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CHAÎNE DE 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1. Détecter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59812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9812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2. Qualifier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57269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7269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3. Quantifier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5472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72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4. Cause racine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52183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52183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5. Pattern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6. Prioriser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59812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59812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7. Expérimenter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57269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7269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8. Mesurer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5472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472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9. Industrialiser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52183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52183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10. Prévenir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2356" y="3785615"/>
            <a:ext cx="7804404" cy="658368"/>
          </a:xfrm>
          <a:prstGeom prst="roundRect">
            <a:avLst>
              <a:gd name="adj" fmla="val 8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" y="3785615"/>
            <a:ext cx="74020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Priorité = (impact × faisabilité) − prudence IA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C7CBE0"/>
                </a:solidFill>
              </a:rPr>
              <a:t>Le score ne remplace pas l'arbitrage humain : il rend la discussion explicite.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650">
                <a:solidFill>
                  <a:srgbClr val="00D2DD"/>
                </a:solidFill>
              </a:rPr>
              <a:t>EXÉCUTION   ·   </a:t>
            </a:r>
            <a:r>
              <a:rPr b="1" sz="1650">
                <a:solidFill>
                  <a:srgbClr val="0E2356"/>
                </a:solidFill>
              </a:rPr>
              <a:t>Onze agents spécialisés, trois chaînes de handoff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2344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8076" y="12344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iap-strategy-lead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59177" y="12344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897" y="12344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iap-platform-product-pm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5998" y="12344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1718" y="12344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iap-operating-model-architect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52819" y="12344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539" y="12344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iap-run-tma-specialist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" y="16916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" y="16916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iap-waste-treatment-lead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177" y="16916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4897" y="16916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iap-platform-architect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55998" y="16916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1718" y="16916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iap-ux-adoption-lead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819" y="16916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539" y="16916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iap-metrics-sre-finops-lead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" y="21488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" y="21488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iap-ai-governance-lead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59177" y="21488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04897" y="21488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iap-change-coach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5998" y="2148839"/>
            <a:ext cx="1813941" cy="365760"/>
          </a:xfrm>
          <a:prstGeom prst="roundRect">
            <a:avLst>
              <a:gd name="adj" fmla="val 30000"/>
            </a:avLst>
          </a:prstGeom>
          <a:solidFill>
            <a:srgbClr val="FD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1718" y="2148839"/>
            <a:ext cx="1722501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iap-risk-reviewer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" y="2807208"/>
            <a:ext cx="7804404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TROIS CHAÎNES SÉQUENTIELLES (+ 2 rôles transverses lecture-seule)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" y="300837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" y="300837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8236" y="3008376"/>
            <a:ext cx="647852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0E2356"/>
                </a:solidFill>
              </a:rPr>
              <a:t>strategy-lead → platform-product-pm → operating-model-architect → ai-governance-lead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2356" y="337413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" y="337413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PRODUIT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8236" y="3374136"/>
            <a:ext cx="647852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0E2356"/>
                </a:solidFill>
              </a:rPr>
              <a:t>platform-product-pm → ux-adoption-lead → metrics-sre-finops-lead → platform-architect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2356" y="37398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" y="373989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RUN / TMA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8236" y="3739896"/>
            <a:ext cx="647852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0E2356"/>
                </a:solidFill>
              </a:rPr>
              <a:t>run-tma-specialist → operating-model-architect → metrics-sre-finops-lead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2356" y="41056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" y="41056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GASPILLAGE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88236" y="4105656"/>
            <a:ext cx="647852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0E2356"/>
                </a:solidFill>
              </a:rPr>
              <a:t>waste-treatment-lead → operating-model-architect &amp; metrics-sre-finops-lead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" y="4507992"/>
            <a:ext cx="780440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1">
                <a:solidFill>
                  <a:srgbClr val="586586"/>
                </a:solidFill>
              </a:rPr>
              <a:t>iap-risk-reviewer (challenge tous les agents avant le deck final) et iap-change-coach (adoption humaine en parallèle) restent transverses.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00">
                <a:solidFill>
                  <a:srgbClr val="00D2DD"/>
                </a:solidFill>
              </a:rPr>
              <a:t>EXÉCUTION   ·   </a:t>
            </a:r>
            <a:r>
              <a:rPr b="1" sz="1500">
                <a:solidFill>
                  <a:srgbClr val="0E2356"/>
                </a:solidFill>
              </a:rPr>
              <a:t>De la collecte à la restitution, un gate IA transversal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371600"/>
            <a:ext cx="7804404" cy="384048"/>
          </a:xfrm>
          <a:prstGeom prst="roundRect">
            <a:avLst>
              <a:gd name="adj" fmla="val 1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3796" y="1371600"/>
            <a:ext cx="762152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GATE IA &amp; CONFIDENTIALITÉ — checkpoint humain non-automatisable, transversal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" y="1938528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2356" y="1938528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" y="2075688"/>
            <a:ext cx="152133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2C5CC5"/>
                </a:solidFill>
              </a:rPr>
              <a:t>COLLECTE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" y="2377440"/>
            <a:ext cx="1521333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0E2356"/>
                </a:solidFill>
              </a:rPr>
              <a:t>Interviews par persona + import ServiceNow/Jira/CMDB si accès (ExternalEvidence)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177" y="1938528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59177" y="1938528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5481" y="2075688"/>
            <a:ext cx="152133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1E6B34"/>
                </a:solidFill>
              </a:rPr>
              <a:t>DIAGNOSTIC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5481" y="2377440"/>
            <a:ext cx="1521333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0E2356"/>
                </a:solidFill>
              </a:rPr>
              <a:t>Synthesis par Thème + GlobalSynthesis + waste-register, tags CONFIRMÉ/DÉDUIT/INCERTAIN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938528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938528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2302" y="2075688"/>
            <a:ext cx="152133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CONCEPTION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302" y="2377440"/>
            <a:ext cx="1521333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0E2356"/>
                </a:solidFill>
              </a:rPr>
              <a:t>Product definition + operating model, ADR nourries par des pilotes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819" y="1938528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52819" y="1938528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9123" y="2075688"/>
            <a:ext cx="152133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B3261E"/>
                </a:solidFill>
              </a:rPr>
              <a:t>RESTITUTION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9123" y="2377440"/>
            <a:ext cx="1521333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0E2356"/>
                </a:solidFill>
              </a:rPr>
              <a:t>Deck exécutif — RecommendationAxis + radar de maturité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" y="3520440"/>
            <a:ext cx="7804404" cy="384048"/>
          </a:xfrm>
          <a:prstGeom prst="roundRect">
            <a:avLst>
              <a:gd name="adj" fmla="val 1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7" y="3520440"/>
            <a:ext cx="74752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0E2356"/>
                </a:solidFill>
              </a:rPr>
              <a:t>iap-risk-reviewer — lecture seule, challenge Product definition / Operating model → Deck exécutif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" y="4032504"/>
            <a:ext cx="7804404" cy="384048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" y="4032504"/>
            <a:ext cx="74752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⟲ Boucle de réévaluation — iap-re-assessment, T+6 à 12 mois, alimente rex-library.md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La cible IAP est une Platform Team — agents IA compris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C5CC5"/>
                </a:solidFill>
              </a:rPr>
              <a:t>Stream-aligned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Flux de valeur métier continu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Équipes applicatives clientes de la plateforme infra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481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1E6B34"/>
                </a:solidFill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5481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Capacités en self-service (X-as-a-Service)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5481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La cible même de la transformation IAP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2302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B8860B"/>
                </a:solidFill>
              </a:rPr>
              <a:t>Enabling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302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Montée en compétence temporaire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302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Posture du coach BMAD IAP — jamais permanente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819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52819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9123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6A3D9A"/>
                </a:solidFill>
              </a:rPr>
              <a:t>Complicated-subsystem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9123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Expertise pointue, compétences rares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123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Un vrai sous-système complexe, pas un produit plateforme classique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" y="2679192"/>
            <a:ext cx="7804404" cy="230428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" y="2770632"/>
            <a:ext cx="7402068" cy="21214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Extension — les agents IA comme coéquipiers, et leur mise en œuvre (v1.7)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00" b="0" i="0">
                <a:solidFill>
                  <a:srgbClr val="0E2356"/>
                </a:solidFill>
              </a:rPr>
              <a:t>Un agent peut être membre d'une Stream-aligned team ou capacité exposée par la Platform Team (4ᵉ mode candidat : Supervision). L'adoption suit la trajectoire Coach → Délégué (assisté → supervisé → délégué) : mandat écrit (ce que l'agent décide seul / ce qui escalade / qui répond de ses erreurs) avant tout palier au-delà de l'assisté — jamais un usage qui dérive à l'implicite.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600">
                <a:solidFill>
                  <a:srgbClr val="00D2DD"/>
                </a:solidFill>
              </a:rPr>
              <a:t>TRAJECTOIRE   ·   </a:t>
            </a:r>
            <a:r>
              <a:rPr b="1" sz="1600">
                <a:solidFill>
                  <a:srgbClr val="0E2356"/>
                </a:solidFill>
              </a:rPr>
              <a:t>Trois niveaux d'ambition, pas un spectre linéaire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2C5CC5"/>
                </a:solidFill>
              </a:rPr>
              <a:t>A · Aide au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Génère un livrable à la demande — aucune initiative propre. Le consultant pilote à 100 %.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État actuel du cadrage (MVP0–MVP5)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4783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24783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7664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8860B"/>
                </a:solidFill>
              </a:rPr>
              <a:t>B · Assistant interactif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664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Guide pas à pas, pose des questions de clarification, signale les incohérences.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7664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Palier intermédiaire, entre MVP5 et MVP6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7212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87212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0092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3261E"/>
                </a:solidFill>
              </a:rPr>
              <a:t>C · Companion connecté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0092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Connecté en direct à ServiceNow/Jira/Confluence/Datadog/CMDB/FinOps, quasi autonome.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0092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= MVP6, non engagé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" y="3319272"/>
            <a:ext cx="7804404" cy="16642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586586"/>
                </a:solidFill>
              </a:rPr>
              <a:t>Monter de A à C n'est pas qu'une question de fonctionnalités : le niveau C suppose un accès direct aux données de production du client — risque sécurité/confidentialité d'un tout autre ordre. Un cabinet peut durablement rester au niveau A ou B par choix de gouvernance, pas seulement par contrainte technique transitoire.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Trois familles de KPIs, à ne jamais confondre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C5CC5"/>
                </a:solidFill>
              </a:rPr>
              <a:t>KPIs de mission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7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Gaspillage traité (capacité RUN récupérée)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produit (self-service)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Fiabilité &amp; coût (MTTR, coût/capacité)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Gouvernance IA (supervision, incidents)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Maturité (delta par pilier, T0→réévaluation)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4783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24783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9376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E6B34"/>
                </a:solidFill>
              </a:rPr>
              <a:t>KPIs d'usage du module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cabinet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9376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Accélération (temps pour un cadrage flash)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Réutilisation (templates vs ad hoc)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Cohérence (écarts détectés par risk-reviewer)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Capitalisation (REX ajoutés)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interne (consultants, missions)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87212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87212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1804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B8860B"/>
                </a:solidFill>
              </a:rPr>
              <a:t>Grille de maturité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Progression dans le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804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Delta par pilier (Excellence Tech., Agilité, IA/Agentic)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Re-assessment T+6–12 mois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Score de priorisation ≠ KPI de résultat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TRAJECTOIRE   ·   </a:t>
            </a:r>
            <a:r>
              <a:rPr b="1" sz="1550">
                <a:solidFill>
                  <a:srgbClr val="0E2356"/>
                </a:solidFill>
              </a:rPr>
              <a:t>Une roadmap en sept MVP, du corpus aux connecteurs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2356" y="2455164"/>
            <a:ext cx="7804404" cy="2743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Décomposer le corpus dans knowledge/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0333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0333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0333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Cœur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0333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iap-intake, product-definition, deck-builder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8311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8311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8311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Gate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8311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Gate confidentialité + templates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46289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6289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6289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Diagnostic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6289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Diagnostic, gaspillages, operating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266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266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266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Spécialisation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266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Playbooks, agentic opportunities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2244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2244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2244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Industrialisation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2244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586586"/>
                </a:solidFill>
              </a:rPr>
              <a:t>QA, REX, templates slides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0222" y="2240280"/>
            <a:ext cx="1036537" cy="457200"/>
          </a:xfrm>
          <a:prstGeom prst="roundRect">
            <a:avLst>
              <a:gd name="adj" fmla="val 25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0222" y="2240280"/>
            <a:ext cx="1036537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586586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0222" y="2807208"/>
            <a:ext cx="103653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Connecteurs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0222" y="3227832"/>
            <a:ext cx="1036537" cy="17556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586586"/>
                </a:solidFill>
              </a:rPr>
              <a:t>« Transformation Companion » — non engagé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400">
                <a:solidFill>
                  <a:srgbClr val="00D2DD"/>
                </a:solidFill>
              </a:rPr>
              <a:t>TRAJECTOIRE   ·   </a:t>
            </a:r>
            <a:r>
              <a:rPr b="1" sz="1400">
                <a:solidFill>
                  <a:srgbClr val="0E2356"/>
                </a:solidFill>
              </a:rPr>
              <a:t>Cinq points ouverts, chacun avec un owner et une échéance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33271"/>
            <a:ext cx="4136334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586586"/>
                </a:solidFill>
              </a:rPr>
              <a:t>POINT OUVERT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35850" y="1033271"/>
            <a:ext cx="2107189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586586"/>
                </a:solidFill>
              </a:rPr>
              <a:t>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0199" y="1033271"/>
            <a:ext cx="12865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586586"/>
                </a:solidFill>
              </a:rPr>
              <a:t>ÉCHÉANCE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" y="1289304"/>
            <a:ext cx="7804404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" y="1289304"/>
            <a:ext cx="399917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0E2356"/>
                </a:solidFill>
              </a:rPr>
              <a:t>Convention de nommage des &lt;client-slug&gt;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35850" y="1289304"/>
            <a:ext cx="2107189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2C5CC5"/>
                </a:solidFill>
              </a:rPr>
              <a:t>iap-intake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0199" y="1289304"/>
            <a:ext cx="128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Avant MVP1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1746504"/>
            <a:ext cx="7804404" cy="38404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" y="1746504"/>
            <a:ext cx="399917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0E2356"/>
                </a:solidFill>
              </a:rPr>
              <a:t>Process de redaction du REX en étape de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5850" y="1746504"/>
            <a:ext cx="2107189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2C5CC5"/>
                </a:solidFill>
              </a:rPr>
              <a:t>iap-ai-governance-lead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0199" y="1746504"/>
            <a:ext cx="128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Avant clôture MVP0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2203704"/>
            <a:ext cx="7804404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" y="2203704"/>
            <a:ext cx="399917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0E2356"/>
                </a:solidFill>
              </a:rPr>
              <a:t>Vecteur d'import de la grille — Excel vs JSON/Markdown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5850" y="2203704"/>
            <a:ext cx="2107189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2C5CC5"/>
                </a:solidFill>
              </a:rPr>
              <a:t>iap-strategy-lead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0199" y="2203704"/>
            <a:ext cx="128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MVP0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" y="2660904"/>
            <a:ext cx="7804404" cy="38404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" y="2660904"/>
            <a:ext cx="399917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0E2356"/>
                </a:solidFill>
              </a:rPr>
              <a:t>Product Discovery découplée — workflow vs sous-étape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5850" y="2660904"/>
            <a:ext cx="2107189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2C5CC5"/>
                </a:solidFill>
              </a:rPr>
              <a:t>iap-platform-product-pm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0199" y="2660904"/>
            <a:ext cx="128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MVP4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" y="3118104"/>
            <a:ext cx="7804404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" y="3118104"/>
            <a:ext cx="399917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0E2356"/>
                </a:solidFill>
              </a:rPr>
              <a:t>Gate dur ou soft sur la relecture qualitative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5850" y="3118104"/>
            <a:ext cx="2107189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2C5CC5"/>
                </a:solidFill>
              </a:rPr>
              <a:t>Direction de cabinet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0199" y="3118104"/>
            <a:ext cx="128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MVP5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" y="3666744"/>
            <a:ext cx="7804404" cy="1316736"/>
          </a:xfrm>
          <a:prstGeom prst="roundRect">
            <a:avLst>
              <a:gd name="adj" fmla="val 8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" y="3666744"/>
            <a:ext cx="7402068" cy="13167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E7E9F2"/>
                </a:solidFill>
              </a:rPr>
              <a:t>Dépendances externes versionnées : Grille VSCode1 (pin V3.2), contrats OpenHub ADR-006/ADR-009 — revue à chaque boucle iap-re-assessment et à chaque MVP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