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2" r:id="rId1"/>
  </p:sldMasterIdLst>
  <p:notesMasterIdLst>
    <p:notesMasterId r:id="rId11"/>
  </p:notesMasterIdLst>
  <p:sldIdLst>
    <p:sldId id="256" r:id="rId10"/>
    <p:sldId id="257" r:id="rId9"/>
    <p:sldId id="258" r:id="rId8"/>
    <p:sldId id="259" r:id="rId7"/>
    <p:sldId id="260" r:id="rId6"/>
    <p:sldId id="261" r:id="rId5"/>
    <p:sldId id="262" r:id="rId4"/>
    <p:sldId id="263" r:id="rId3"/>
    <p:sldId id="264" r:id="rId2"/>
    <p:sldId id="265" r:id="rId32"/>
    <p:sldId id="266" r:id="rId33"/>
    <p:sldId id="267" r:id="rId34"/>
    <p:sldId id="268" r:id="rId35"/>
    <p:sldId id="269" r:id="rId36"/>
    <p:sldId id="270" r:id="rId37"/>
    <p:sldId id="271" r:id="rId38"/>
    <p:sldId id="272" r:id="rId39"/>
    <p:sldId id="273" r:id="rId40"/>
    <p:sldId id="274" r:id="rId41"/>
    <p:sldId id="275" r:id="rId42"/>
    <p:sldId id="276" r:id="rId43"/>
    <p:sldId id="277" r:id="rId44"/>
    <p:sldId id="278" r:id="rId45"/>
    <p:sldId id="279" r:id="rId46"/>
    <p:sldId id="280" r:id="rId47"/>
    <p:sldId id="281" r:id="rId48"/>
    <p:sldId id="282" r:id="rId49"/>
    <p:sldId id="283" r:id="rId50"/>
    <p:sldId id="284" r:id="rId51"/>
    <p:sldId id="285" r:id="rId52"/>
    <p:sldId id="286" r:id="rId53"/>
    <p:sldId id="287" r:id="rId54"/>
    <p:sldId id="288" r:id="rId55"/>
    <p:sldId id="289" r:id="rId56"/>
    <p:sldId id="290" r:id="rId57"/>
    <p:sldId id="291" r:id="rId58"/>
    <p:sldId id="292" r:id="rId59"/>
    <p:sldId id="293" r:id="rId60"/>
    <p:sldId id="294" r:id="rId61"/>
    <p:sldId id="295" r:id="rId62"/>
    <p:sldId id="296" r:id="rId63"/>
    <p:sldId id="297" r:id="rId64"/>
    <p:sldId id="298" r:id="rId65"/>
    <p:sldId id="299" r:id="rId66"/>
    <p:sldId id="300" r:id="rId67"/>
    <p:sldId id="301" r:id="rId68"/>
    <p:sldId id="302" r:id="rId69"/>
    <p:sldId id="303" r:id="rId70"/>
    <p:sldId id="304" r:id="rId71"/>
    <p:sldId id="305" r:id="rId72"/>
    <p:sldId id="306" r:id="rId73"/>
    <p:sldId id="307" r:id="rId74"/>
  </p:sldIdLst>
  <p:sldSz cx="9144000" cy="5143500" type="screen16x9"/>
  <p:notesSz cx="6858000" cy="9144000"/>
  <p:embeddedFontLst>
    <p:embeddedFont>
      <p:font typeface="Century Gothic" panose="020B0502020202020204" pitchFamily="34" charset="0"/>
      <p:regular r:id="rId12"/>
      <p:bold r:id="rId13"/>
      <p:italic r:id="rId14"/>
      <p:boldItalic r:id="rId15"/>
    </p:embeddedFont>
    <p:embeddedFont>
      <p:font typeface="Helvetica Neue Light" panose="020B0604020202020204" charset="0"/>
      <p:regular r:id="rId16"/>
      <p:bold r:id="rId17"/>
      <p:italic r:id="rId18"/>
      <p:boldItalic r:id="rId19"/>
    </p:embeddedFont>
    <p:embeddedFont>
      <p:font typeface="Outfit" panose="020B0604020202020204" charset="0"/>
      <p:regular r:id="rId20"/>
      <p:bold r:id="rId21"/>
    </p:embeddedFont>
    <p:embeddedFont>
      <p:font typeface="Outfit Light" panose="020B0604020202020204" charset="0"/>
      <p:regular r:id="rId22"/>
      <p:bold r:id="rId23"/>
    </p:embeddedFont>
    <p:embeddedFont>
      <p:font typeface="Outfit Medium" panose="020B0604020202020204" charset="0"/>
      <p:regular r:id="rId24"/>
      <p:bold r:id="rId25"/>
    </p:embeddedFont>
    <p:embeddedFont>
      <p:font typeface="Outfit SemiBold" panose="020B0604020202020204" charset="0"/>
      <p:regular r:id="rId26"/>
      <p:bold r:id="rId2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15:clr>
            <a:srgbClr val="A4A3A4"/>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3" d="100"/>
          <a:sy n="93" d="100"/>
        </p:scale>
        <p:origin x="520" y="56"/>
      </p:cViewPr>
      <p:guideLst>
        <p:guide orient="horz"/>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5.xml"/><Relationship Id="rId7" Type="http://schemas.openxmlformats.org/officeDocument/2006/relationships/slide" Target="slides/slide4.xml"/><Relationship Id="rId8" Type="http://schemas.openxmlformats.org/officeDocument/2006/relationships/slide" Target="slides/slide3.xml"/><Relationship Id="rId9" Type="http://schemas.openxmlformats.org/officeDocument/2006/relationships/slide" Target="slides/slide2.xml"/><Relationship Id="rId10" Type="http://schemas.openxmlformats.org/officeDocument/2006/relationships/slide" Target="slides/slide1.xml"/><Relationship Id="rId11" Type="http://schemas.openxmlformats.org/officeDocument/2006/relationships/notesMaster" Target="notesMasters/notesMaster1.xml"/><Relationship Id="rId12" Type="http://schemas.openxmlformats.org/officeDocument/2006/relationships/font" Target="fonts/font1.fntdata"/><Relationship Id="rId13" Type="http://schemas.openxmlformats.org/officeDocument/2006/relationships/font" Target="fonts/font2.fntdata"/><Relationship Id="rId14" Type="http://schemas.openxmlformats.org/officeDocument/2006/relationships/font" Target="fonts/font3.fntdata"/><Relationship Id="rId15" Type="http://schemas.openxmlformats.org/officeDocument/2006/relationships/font" Target="fonts/font4.fntdata"/><Relationship Id="rId16" Type="http://schemas.openxmlformats.org/officeDocument/2006/relationships/font" Target="fonts/font5.fntdata"/><Relationship Id="rId17" Type="http://schemas.openxmlformats.org/officeDocument/2006/relationships/font" Target="fonts/font6.fntdata"/><Relationship Id="rId18" Type="http://schemas.openxmlformats.org/officeDocument/2006/relationships/font" Target="fonts/font7.fntdata"/><Relationship Id="rId19" Type="http://schemas.openxmlformats.org/officeDocument/2006/relationships/font" Target="fonts/font8.fntdata"/><Relationship Id="rId20" Type="http://schemas.openxmlformats.org/officeDocument/2006/relationships/font" Target="fonts/font9.fntdata"/><Relationship Id="rId21" Type="http://schemas.openxmlformats.org/officeDocument/2006/relationships/font" Target="fonts/font10.fntdata"/><Relationship Id="rId22" Type="http://schemas.openxmlformats.org/officeDocument/2006/relationships/font" Target="fonts/font11.fntdata"/><Relationship Id="rId23" Type="http://schemas.openxmlformats.org/officeDocument/2006/relationships/font" Target="fonts/font12.fntdata"/><Relationship Id="rId24" Type="http://schemas.openxmlformats.org/officeDocument/2006/relationships/font" Target="fonts/font13.fntdata"/><Relationship Id="rId25" Type="http://schemas.openxmlformats.org/officeDocument/2006/relationships/font" Target="fonts/font14.fntdata"/><Relationship Id="rId26" Type="http://schemas.openxmlformats.org/officeDocument/2006/relationships/font" Target="fonts/font15.fntdata"/><Relationship Id="rId27" Type="http://schemas.openxmlformats.org/officeDocument/2006/relationships/font" Target="fonts/font16.fntdata"/><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32" Type="http://schemas.openxmlformats.org/officeDocument/2006/relationships/slide" Target="slides/slide10.xml"/><Relationship Id="rId33" Type="http://schemas.openxmlformats.org/officeDocument/2006/relationships/slide" Target="slides/slide11.xml"/><Relationship Id="rId34" Type="http://schemas.openxmlformats.org/officeDocument/2006/relationships/slide" Target="slides/slide12.xml"/><Relationship Id="rId35" Type="http://schemas.openxmlformats.org/officeDocument/2006/relationships/slide" Target="slides/slide13.xml"/><Relationship Id="rId36" Type="http://schemas.openxmlformats.org/officeDocument/2006/relationships/slide" Target="slides/slide14.xml"/><Relationship Id="rId37" Type="http://schemas.openxmlformats.org/officeDocument/2006/relationships/slide" Target="slides/slide15.xml"/><Relationship Id="rId38" Type="http://schemas.openxmlformats.org/officeDocument/2006/relationships/slide" Target="slides/slide16.xml"/><Relationship Id="rId39" Type="http://schemas.openxmlformats.org/officeDocument/2006/relationships/slide" Target="slides/slide17.xml"/><Relationship Id="rId40" Type="http://schemas.openxmlformats.org/officeDocument/2006/relationships/slide" Target="slides/slide18.xml"/><Relationship Id="rId41" Type="http://schemas.openxmlformats.org/officeDocument/2006/relationships/slide" Target="slides/slide19.xml"/><Relationship Id="rId42" Type="http://schemas.openxmlformats.org/officeDocument/2006/relationships/slide" Target="slides/slide20.xml"/><Relationship Id="rId43" Type="http://schemas.openxmlformats.org/officeDocument/2006/relationships/slide" Target="slides/slide21.xml"/><Relationship Id="rId44" Type="http://schemas.openxmlformats.org/officeDocument/2006/relationships/slide" Target="slides/slide22.xml"/><Relationship Id="rId45" Type="http://schemas.openxmlformats.org/officeDocument/2006/relationships/slide" Target="slides/slide23.xml"/><Relationship Id="rId46" Type="http://schemas.openxmlformats.org/officeDocument/2006/relationships/slide" Target="slides/slide24.xml"/><Relationship Id="rId47" Type="http://schemas.openxmlformats.org/officeDocument/2006/relationships/slide" Target="slides/slide25.xml"/><Relationship Id="rId48" Type="http://schemas.openxmlformats.org/officeDocument/2006/relationships/slide" Target="slides/slide26.xml"/><Relationship Id="rId49" Type="http://schemas.openxmlformats.org/officeDocument/2006/relationships/slide" Target="slides/slide27.xml"/><Relationship Id="rId50" Type="http://schemas.openxmlformats.org/officeDocument/2006/relationships/slide" Target="slides/slide28.xml"/><Relationship Id="rId51" Type="http://schemas.openxmlformats.org/officeDocument/2006/relationships/slide" Target="slides/slide29.xml"/><Relationship Id="rId52" Type="http://schemas.openxmlformats.org/officeDocument/2006/relationships/slide" Target="slides/slide30.xml"/><Relationship Id="rId53" Type="http://schemas.openxmlformats.org/officeDocument/2006/relationships/slide" Target="slides/slide31.xml"/><Relationship Id="rId54" Type="http://schemas.openxmlformats.org/officeDocument/2006/relationships/slide" Target="slides/slide32.xml"/><Relationship Id="rId55" Type="http://schemas.openxmlformats.org/officeDocument/2006/relationships/slide" Target="slides/slide33.xml"/><Relationship Id="rId56" Type="http://schemas.openxmlformats.org/officeDocument/2006/relationships/slide" Target="slides/slide34.xml"/><Relationship Id="rId57" Type="http://schemas.openxmlformats.org/officeDocument/2006/relationships/slide" Target="slides/slide35.xml"/><Relationship Id="rId58" Type="http://schemas.openxmlformats.org/officeDocument/2006/relationships/slide" Target="slides/slide36.xml"/><Relationship Id="rId59" Type="http://schemas.openxmlformats.org/officeDocument/2006/relationships/slide" Target="slides/slide37.xml"/><Relationship Id="rId60" Type="http://schemas.openxmlformats.org/officeDocument/2006/relationships/slide" Target="slides/slide38.xml"/><Relationship Id="rId61" Type="http://schemas.openxmlformats.org/officeDocument/2006/relationships/slide" Target="slides/slide39.xml"/><Relationship Id="rId62" Type="http://schemas.openxmlformats.org/officeDocument/2006/relationships/slide" Target="slides/slide40.xml"/><Relationship Id="rId63" Type="http://schemas.openxmlformats.org/officeDocument/2006/relationships/slide" Target="slides/slide41.xml"/><Relationship Id="rId64" Type="http://schemas.openxmlformats.org/officeDocument/2006/relationships/slide" Target="slides/slide42.xml"/><Relationship Id="rId65" Type="http://schemas.openxmlformats.org/officeDocument/2006/relationships/slide" Target="slides/slide43.xml"/><Relationship Id="rId66" Type="http://schemas.openxmlformats.org/officeDocument/2006/relationships/slide" Target="slides/slide44.xml"/><Relationship Id="rId67" Type="http://schemas.openxmlformats.org/officeDocument/2006/relationships/slide" Target="slides/slide45.xml"/><Relationship Id="rId68" Type="http://schemas.openxmlformats.org/officeDocument/2006/relationships/slide" Target="slides/slide46.xml"/><Relationship Id="rId69" Type="http://schemas.openxmlformats.org/officeDocument/2006/relationships/slide" Target="slides/slide47.xml"/><Relationship Id="rId70" Type="http://schemas.openxmlformats.org/officeDocument/2006/relationships/slide" Target="slides/slide48.xml"/><Relationship Id="rId71" Type="http://schemas.openxmlformats.org/officeDocument/2006/relationships/slide" Target="slides/slide49.xml"/><Relationship Id="rId72" Type="http://schemas.openxmlformats.org/officeDocument/2006/relationships/slide" Target="slides/slide50.xml"/><Relationship Id="rId73" Type="http://schemas.openxmlformats.org/officeDocument/2006/relationships/slide" Target="slides/slide51.xml"/><Relationship Id="rId74"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317500" algn="l" rtl="0">
              <a:lnSpc>
                <a:spcPct val="100000"/>
              </a:lnSpc>
              <a:spcBef>
                <a:spcPts val="0"/>
              </a:spcBef>
              <a:spcAft>
                <a:spcPts val="0"/>
              </a:spcAft>
              <a:buClr>
                <a:schemeClr val="accent6"/>
              </a:buClr>
              <a:buSzPts val="1400"/>
              <a:buFont typeface="Century Gothic"/>
              <a:buChar char="๏"/>
              <a:defRPr sz="1400" b="0" i="0" u="none" strike="noStrike" cap="none">
                <a:solidFill>
                  <a:schemeClr val="dk1"/>
                </a:solidFill>
                <a:latin typeface="Century Gothic"/>
                <a:ea typeface="Century Gothic"/>
                <a:cs typeface="Century Gothic"/>
                <a:sym typeface="Century Gothic"/>
              </a:defRPr>
            </a:lvl1pPr>
            <a:lvl2pPr marL="914400" marR="0" lvl="1" indent="-304800" algn="l" rtl="0">
              <a:lnSpc>
                <a:spcPct val="100000"/>
              </a:lnSpc>
              <a:spcBef>
                <a:spcPts val="0"/>
              </a:spcBef>
              <a:spcAft>
                <a:spcPts val="0"/>
              </a:spcAft>
              <a:buClr>
                <a:schemeClr val="accent6"/>
              </a:buClr>
              <a:buSzPts val="1200"/>
              <a:buFont typeface="Century Gothic"/>
              <a:buChar char="&gt;"/>
              <a:defRPr sz="1200" b="0" i="0" u="none" strike="noStrike" cap="none">
                <a:solidFill>
                  <a:schemeClr val="dk1"/>
                </a:solidFill>
                <a:latin typeface="Century Gothic"/>
                <a:ea typeface="Century Gothic"/>
                <a:cs typeface="Century Gothic"/>
                <a:sym typeface="Century Gothic"/>
              </a:defRPr>
            </a:lvl2pPr>
            <a:lvl3pPr marL="1371600" marR="0" lvl="2" indent="-292100" algn="l" rtl="0">
              <a:lnSpc>
                <a:spcPct val="100000"/>
              </a:lnSpc>
              <a:spcBef>
                <a:spcPts val="0"/>
              </a:spcBef>
              <a:spcAft>
                <a:spcPts val="0"/>
              </a:spcAft>
              <a:buClr>
                <a:schemeClr val="accent6"/>
              </a:buClr>
              <a:buSzPts val="1000"/>
              <a:buFont typeface="Century Gothic"/>
              <a:buChar char="+"/>
              <a:defRPr sz="1000" b="0" i="0" u="none" strike="noStrike" cap="none">
                <a:solidFill>
                  <a:schemeClr val="dk1"/>
                </a:solidFill>
                <a:latin typeface="Century Gothic"/>
                <a:ea typeface="Century Gothic"/>
                <a:cs typeface="Century Gothic"/>
                <a:sym typeface="Century Gothic"/>
              </a:defRPr>
            </a:lvl3pPr>
            <a:lvl4pPr marL="1828800" marR="0" lvl="3" indent="-285750" algn="l" rtl="0">
              <a:lnSpc>
                <a:spcPct val="100000"/>
              </a:lnSpc>
              <a:spcBef>
                <a:spcPts val="0"/>
              </a:spcBef>
              <a:spcAft>
                <a:spcPts val="0"/>
              </a:spcAft>
              <a:buClr>
                <a:schemeClr val="accent6"/>
              </a:buClr>
              <a:buSzPts val="900"/>
              <a:buFont typeface="Courier New"/>
              <a:buChar char="o"/>
              <a:defRPr sz="900" b="0" i="0" u="none" strike="noStrike" cap="none">
                <a:solidFill>
                  <a:schemeClr val="dk1"/>
                </a:solidFill>
                <a:latin typeface="Century Gothic"/>
                <a:ea typeface="Century Gothic"/>
                <a:cs typeface="Century Gothic"/>
                <a:sym typeface="Century Gothic"/>
              </a:defRPr>
            </a:lvl4pPr>
            <a:lvl5pPr marL="2286000" marR="0" lvl="4" indent="-279400" algn="l" rtl="0">
              <a:lnSpc>
                <a:spcPct val="100000"/>
              </a:lnSpc>
              <a:spcBef>
                <a:spcPts val="0"/>
              </a:spcBef>
              <a:spcAft>
                <a:spcPts val="0"/>
              </a:spcAft>
              <a:buClr>
                <a:schemeClr val="accent6"/>
              </a:buClr>
              <a:buSzPts val="800"/>
              <a:buFont typeface="Century Gothic"/>
              <a:buChar char="○"/>
              <a:defRPr sz="800" b="0" i="0" u="none" strike="noStrike" cap="none">
                <a:solidFill>
                  <a:schemeClr val="dk1"/>
                </a:solidFill>
                <a:latin typeface="Century Gothic"/>
                <a:ea typeface="Century Gothic"/>
                <a:cs typeface="Century Gothic"/>
                <a:sym typeface="Century Gothic"/>
              </a:defRPr>
            </a:lvl5pPr>
            <a:lvl6pPr marL="2743200" marR="0" lvl="5" indent="-273050" algn="l" rtl="0">
              <a:lnSpc>
                <a:spcPct val="100000"/>
              </a:lnSpc>
              <a:spcBef>
                <a:spcPts val="0"/>
              </a:spcBef>
              <a:spcAft>
                <a:spcPts val="0"/>
              </a:spcAft>
              <a:buClr>
                <a:schemeClr val="accent6"/>
              </a:buClr>
              <a:buSzPts val="700"/>
              <a:buFont typeface="Century Gothic"/>
              <a:buChar char="○"/>
              <a:defRPr sz="700" b="0" i="0" u="none" strike="noStrike" cap="none">
                <a:solidFill>
                  <a:schemeClr val="dk1"/>
                </a:solidFill>
                <a:latin typeface="Century Gothic"/>
                <a:ea typeface="Century Gothic"/>
                <a:cs typeface="Century Gothic"/>
                <a:sym typeface="Century Gothic"/>
              </a:defRPr>
            </a:lvl6pPr>
            <a:lvl7pPr marL="3200400" marR="0" lvl="6" indent="-266700" algn="l" rtl="0">
              <a:lnSpc>
                <a:spcPct val="100000"/>
              </a:lnSpc>
              <a:spcBef>
                <a:spcPts val="0"/>
              </a:spcBef>
              <a:spcAft>
                <a:spcPts val="0"/>
              </a:spcAft>
              <a:buClr>
                <a:schemeClr val="accent6"/>
              </a:buClr>
              <a:buSzPts val="600"/>
              <a:buFont typeface="Century Gothic"/>
              <a:buChar char="○"/>
              <a:defRPr sz="600" b="0" i="0" u="none" strike="noStrike" cap="none">
                <a:solidFill>
                  <a:schemeClr val="dk1"/>
                </a:solidFill>
                <a:latin typeface="Century Gothic"/>
                <a:ea typeface="Century Gothic"/>
                <a:cs typeface="Century Gothic"/>
                <a:sym typeface="Century Gothic"/>
              </a:defRPr>
            </a:lvl7pPr>
            <a:lvl8pPr marL="3657600" marR="0" lvl="7" indent="-266700" algn="l" rtl="0">
              <a:lnSpc>
                <a:spcPct val="100000"/>
              </a:lnSpc>
              <a:spcBef>
                <a:spcPts val="0"/>
              </a:spcBef>
              <a:spcAft>
                <a:spcPts val="0"/>
              </a:spcAft>
              <a:buClr>
                <a:schemeClr val="accent6"/>
              </a:buClr>
              <a:buSzPts val="600"/>
              <a:buFont typeface="Century Gothic"/>
              <a:buChar char="○"/>
              <a:defRPr sz="600" b="0" i="0" u="none" strike="noStrike" cap="none">
                <a:solidFill>
                  <a:schemeClr val="dk1"/>
                </a:solidFill>
                <a:latin typeface="Century Gothic"/>
                <a:ea typeface="Century Gothic"/>
                <a:cs typeface="Century Gothic"/>
                <a:sym typeface="Century Gothic"/>
              </a:defRPr>
            </a:lvl8pPr>
            <a:lvl9pPr marL="4114800" marR="0" lvl="8" indent="-266700" algn="l" rtl="0">
              <a:lnSpc>
                <a:spcPct val="100000"/>
              </a:lnSpc>
              <a:spcBef>
                <a:spcPts val="0"/>
              </a:spcBef>
              <a:spcAft>
                <a:spcPts val="0"/>
              </a:spcAft>
              <a:buClr>
                <a:schemeClr val="accent6"/>
              </a:buClr>
              <a:buSzPts val="600"/>
              <a:buFont typeface="Century Gothic"/>
              <a:buChar char="○"/>
              <a:defRPr sz="600" b="0" i="0" u="none" strike="noStrike" cap="none">
                <a:solidFill>
                  <a:schemeClr val="accent6"/>
                </a:solidFill>
                <a:latin typeface="Century Gothic"/>
                <a:ea typeface="Century Gothic"/>
                <a:cs typeface="Century Gothic"/>
                <a:sym typeface="Century Gothic"/>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06 - Slide vide">
  <p:cSld name="06 - Slide vide">
    <p:bg>
      <p:bgPr>
        <a:solidFill>
          <a:schemeClr val="lt1"/>
        </a:solidFill>
        <a:effectLst/>
      </p:bgPr>
    </p:bg>
    <p:spTree>
      <p:nvGrpSpPr>
        <p:cNvPr id="1" name="Shape 18"/>
        <p:cNvGrpSpPr/>
        <p:nvPr/>
      </p:nvGrpSpPr>
      <p:grpSpPr>
        <a:xfrm>
          <a:off x="0" y="0"/>
          <a:ext cx="0" cy="0"/>
          <a:chOff x="0" y="0"/>
          <a:chExt cx="0" cy="0"/>
        </a:xfrm>
      </p:grpSpPr>
      <p:grpSp>
        <p:nvGrpSpPr>
          <p:cNvPr id="19" name="Google Shape;19;p2"/>
          <p:cNvGrpSpPr/>
          <p:nvPr/>
        </p:nvGrpSpPr>
        <p:grpSpPr>
          <a:xfrm>
            <a:off x="276301" y="292130"/>
            <a:ext cx="170063" cy="166438"/>
            <a:chOff x="6838242" y="518225"/>
            <a:chExt cx="1247708" cy="1221114"/>
          </a:xfrm>
        </p:grpSpPr>
        <p:sp>
          <p:nvSpPr>
            <p:cNvPr id="20" name="Google Shape;20;p2"/>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 name="Google Shape;21;p2"/>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2" name="Google Shape;22;p2"/>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3" name="Google Shape;23;p2"/>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4" name="Google Shape;24;p2"/>
          <p:cNvCxnSpPr>
            <a:stCxn id="25"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6" name="Google Shape;26;p2"/>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7" name="Google Shape;27;p2"/>
          <p:cNvCxnSpPr>
            <a:endCxn id="26"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8" name="Google Shape;28;p2"/>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5" name="Google Shape;25;p2"/>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9" name="Google Shape;29;p2"/>
          <p:cNvCxnSpPr>
            <a:stCxn id="28" idx="2"/>
            <a:endCxn id="26"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30" name="Google Shape;30;p2"/>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01 - Titre, sous-titre et contenu">
  <p:cSld name="01 - Titre, sous-titre et contenu">
    <p:spTree>
      <p:nvGrpSpPr>
        <p:cNvPr id="1" name="Shape 31"/>
        <p:cNvGrpSpPr/>
        <p:nvPr/>
      </p:nvGrpSpPr>
      <p:grpSpPr>
        <a:xfrm>
          <a:off x="0" y="0"/>
          <a:ext cx="0" cy="0"/>
          <a:chOff x="0" y="0"/>
          <a:chExt cx="0" cy="0"/>
        </a:xfrm>
      </p:grpSpPr>
      <p:sp>
        <p:nvSpPr>
          <p:cNvPr id="32" name="Google Shape;32;p3"/>
          <p:cNvSpPr txBox="1">
            <a:spLocks noGrp="1"/>
          </p:cNvSpPr>
          <p:nvPr>
            <p:ph type="body" idx="1"/>
          </p:nvPr>
        </p:nvSpPr>
        <p:spPr>
          <a:xfrm>
            <a:off x="562825" y="1273150"/>
            <a:ext cx="7957800" cy="3596100"/>
          </a:xfrm>
          <a:prstGeom prst="rect">
            <a:avLst/>
          </a:prstGeom>
          <a:noFill/>
          <a:ln>
            <a:noFill/>
          </a:ln>
        </p:spPr>
        <p:txBody>
          <a:bodyPr spcFirstLastPara="1" wrap="square" lIns="0" tIns="0" rIns="0" bIns="0" anchor="ctr" anchorCtr="0">
            <a:norm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3" name="Google Shape;33;p3"/>
          <p:cNvSpPr txBox="1">
            <a:spLocks noGrp="1"/>
          </p:cNvSpPr>
          <p:nvPr>
            <p:ph type="subTitle" idx="2"/>
          </p:nvPr>
        </p:nvSpPr>
        <p:spPr>
          <a:xfrm>
            <a:off x="567950" y="773825"/>
            <a:ext cx="79578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9pPr>
          </a:lstStyle>
          <a:p>
            <a:endParaRPr/>
          </a:p>
        </p:txBody>
      </p:sp>
      <p:sp>
        <p:nvSpPr>
          <p:cNvPr id="34" name="Google Shape;34;p3"/>
          <p:cNvSpPr txBox="1">
            <a:spLocks noGrp="1"/>
          </p:cNvSpPr>
          <p:nvPr>
            <p:ph type="title"/>
          </p:nvPr>
        </p:nvSpPr>
        <p:spPr>
          <a:xfrm>
            <a:off x="562825" y="361400"/>
            <a:ext cx="79578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matchingName="50 - Chapitre [1]">
  <p:cSld name="50 - Chapitre [1]">
    <p:bg>
      <p:bgPr>
        <a:solidFill>
          <a:schemeClr val="lt1"/>
        </a:solidFill>
        <a:effectLst/>
      </p:bgPr>
    </p:bg>
    <p:spTree>
      <p:nvGrpSpPr>
        <p:cNvPr id="1" name="Shape 35"/>
        <p:cNvGrpSpPr/>
        <p:nvPr/>
      </p:nvGrpSpPr>
      <p:grpSpPr>
        <a:xfrm>
          <a:off x="0" y="0"/>
          <a:ext cx="0" cy="0"/>
          <a:chOff x="0" y="0"/>
          <a:chExt cx="0" cy="0"/>
        </a:xfrm>
      </p:grpSpPr>
      <p:sp>
        <p:nvSpPr>
          <p:cNvPr id="36" name="Google Shape;36;p4"/>
          <p:cNvSpPr/>
          <p:nvPr/>
        </p:nvSpPr>
        <p:spPr>
          <a:xfrm>
            <a:off x="1396875" y="1659950"/>
            <a:ext cx="2560500" cy="25605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7" name="Google Shape;37;p4"/>
          <p:cNvSpPr/>
          <p:nvPr/>
        </p:nvSpPr>
        <p:spPr>
          <a:xfrm>
            <a:off x="3457625" y="1226750"/>
            <a:ext cx="499500" cy="433200"/>
          </a:xfrm>
          <a:prstGeom prst="round1Rect">
            <a:avLst>
              <a:gd name="adj" fmla="val 5000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700" b="1" i="0" u="none" strike="noStrike" cap="none">
              <a:solidFill>
                <a:srgbClr val="000000"/>
              </a:solidFill>
              <a:latin typeface="Outfit"/>
              <a:ea typeface="Outfit"/>
              <a:cs typeface="Outfit"/>
              <a:sym typeface="Outfit"/>
            </a:endParaRPr>
          </a:p>
        </p:txBody>
      </p:sp>
      <p:sp>
        <p:nvSpPr>
          <p:cNvPr id="38" name="Google Shape;38;p4"/>
          <p:cNvSpPr txBox="1">
            <a:spLocks noGrp="1"/>
          </p:cNvSpPr>
          <p:nvPr>
            <p:ph type="title"/>
          </p:nvPr>
        </p:nvSpPr>
        <p:spPr>
          <a:xfrm>
            <a:off x="4295825" y="1918050"/>
            <a:ext cx="4164300" cy="1810200"/>
          </a:xfrm>
          <a:prstGeom prst="rect">
            <a:avLst/>
          </a:prstGeom>
          <a:noFill/>
          <a:ln>
            <a:noFill/>
          </a:ln>
        </p:spPr>
        <p:txBody>
          <a:bodyPr spcFirstLastPara="1" wrap="square" lIns="91425" tIns="91425" rIns="91425" bIns="91425" anchor="ctr" anchorCtr="0">
            <a:noAutofit/>
          </a:bodyPr>
          <a:lstStyle>
            <a:lvl1pPr marR="0" lvl="0"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grpSp>
        <p:nvGrpSpPr>
          <p:cNvPr id="39" name="Google Shape;39;p4"/>
          <p:cNvGrpSpPr/>
          <p:nvPr/>
        </p:nvGrpSpPr>
        <p:grpSpPr>
          <a:xfrm>
            <a:off x="3171776" y="1360130"/>
            <a:ext cx="170063" cy="166438"/>
            <a:chOff x="6838242" y="518225"/>
            <a:chExt cx="1247708" cy="1221114"/>
          </a:xfrm>
        </p:grpSpPr>
        <p:sp>
          <p:nvSpPr>
            <p:cNvPr id="40" name="Google Shape;40;p4"/>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41" name="Google Shape;41;p4"/>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42" name="Google Shape;42;p4"/>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43" name="Google Shape;43;p4"/>
          <p:cNvSpPr txBox="1"/>
          <p:nvPr/>
        </p:nvSpPr>
        <p:spPr>
          <a:xfrm>
            <a:off x="84600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44" name="Google Shape;44;p4"/>
          <p:cNvCxnSpPr>
            <a:stCxn id="45" idx="2"/>
          </p:cNvCxnSpPr>
          <p:nvPr/>
        </p:nvCxnSpPr>
        <p:spPr>
          <a:xfrm>
            <a:off x="86768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46" name="Google Shape;46;p4"/>
          <p:cNvSpPr/>
          <p:nvPr/>
        </p:nvSpPr>
        <p:spPr>
          <a:xfrm>
            <a:off x="86635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47" name="Google Shape;47;p4"/>
          <p:cNvCxnSpPr>
            <a:endCxn id="46" idx="2"/>
          </p:cNvCxnSpPr>
          <p:nvPr/>
        </p:nvCxnSpPr>
        <p:spPr>
          <a:xfrm rot="10800000">
            <a:off x="88641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48" name="Google Shape;48;p4"/>
          <p:cNvSpPr/>
          <p:nvPr/>
        </p:nvSpPr>
        <p:spPr>
          <a:xfrm rot="-5400000">
            <a:off x="85760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45" name="Google Shape;45;p4"/>
          <p:cNvSpPr/>
          <p:nvPr/>
        </p:nvSpPr>
        <p:spPr>
          <a:xfrm rot="-5400000" flipH="1">
            <a:off x="85760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49" name="Google Shape;49;p4"/>
          <p:cNvCxnSpPr>
            <a:stCxn id="48" idx="2"/>
            <a:endCxn id="46" idx="0"/>
          </p:cNvCxnSpPr>
          <p:nvPr/>
        </p:nvCxnSpPr>
        <p:spPr>
          <a:xfrm>
            <a:off x="86767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50" name="Google Shape;50;p4"/>
          <p:cNvSpPr/>
          <p:nvPr/>
        </p:nvSpPr>
        <p:spPr>
          <a:xfrm>
            <a:off x="497875" y="5649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51" name="Google Shape;51;p4"/>
          <p:cNvSpPr txBox="1"/>
          <p:nvPr/>
        </p:nvSpPr>
        <p:spPr>
          <a:xfrm rot="-5400000">
            <a:off x="-309195" y="423320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0E2356"/>
                </a:solidFill>
                <a:latin typeface="Outfit Medium"/>
                <a:ea typeface="Outfit Medium"/>
                <a:cs typeface="Outfit Medium"/>
                <a:sym typeface="Outfit Medium"/>
              </a:rPr>
              <a:t>THERE IS A BETTER WAY</a:t>
            </a:r>
            <a:endParaRPr sz="600" i="0" u="none" strike="noStrike" cap="none">
              <a:solidFill>
                <a:srgbClr val="0E2356"/>
              </a:solidFill>
              <a:latin typeface="Outfit Medium"/>
              <a:ea typeface="Outfit Medium"/>
              <a:cs typeface="Outfit Medium"/>
              <a:sym typeface="Outfit Medium"/>
            </a:endParaRPr>
          </a:p>
        </p:txBody>
      </p:sp>
      <p:sp>
        <p:nvSpPr>
          <p:cNvPr id="52" name="Google Shape;52;p4"/>
          <p:cNvSpPr txBox="1"/>
          <p:nvPr/>
        </p:nvSpPr>
        <p:spPr>
          <a:xfrm>
            <a:off x="2277075" y="23278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sp>
        <p:nvSpPr>
          <p:cNvPr id="53" name="Google Shape;53;p4"/>
          <p:cNvSpPr txBox="1">
            <a:spLocks noGrp="1"/>
          </p:cNvSpPr>
          <p:nvPr>
            <p:ph type="body" idx="1"/>
          </p:nvPr>
        </p:nvSpPr>
        <p:spPr>
          <a:xfrm>
            <a:off x="3457650" y="1226600"/>
            <a:ext cx="499500" cy="433200"/>
          </a:xfrm>
          <a:prstGeom prst="rect">
            <a:avLst/>
          </a:prstGeom>
          <a:noFill/>
          <a:ln>
            <a:noFill/>
          </a:ln>
        </p:spPr>
        <p:txBody>
          <a:bodyPr spcFirstLastPara="1" wrap="square" lIns="0" tIns="0" rIns="0" bIns="0" anchor="ctr" anchorCtr="0">
            <a:noAutofit/>
          </a:bodyPr>
          <a:lstStyle>
            <a:lvl1pPr marL="457200" marR="0" lvl="0"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1pPr>
            <a:lvl2pPr marL="914400" marR="0" lvl="1" indent="-317500" algn="ctr"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2pPr>
            <a:lvl3pPr marL="1371600" marR="0" lvl="2"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3pPr>
            <a:lvl4pPr marL="1828800" marR="0" lvl="3" indent="-317500" algn="ctr" rtl="0">
              <a:lnSpc>
                <a:spcPct val="100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4pPr>
            <a:lvl5pPr marL="2286000" marR="0" lvl="4"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5pPr>
            <a:lvl6pPr marL="2743200" marR="0" lvl="5" indent="-317500" algn="ctr"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6pPr>
            <a:lvl7pPr marL="3200400" marR="0" lvl="6"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7pPr>
            <a:lvl8pPr marL="3657600" marR="0" lvl="7" indent="-317500" algn="ctr" rtl="0">
              <a:lnSpc>
                <a:spcPct val="115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8pPr>
            <a:lvl9pPr marL="4114800" marR="0" lvl="8"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9pPr>
          </a:lstStyle>
          <a:p>
            <a:endParaRPr/>
          </a:p>
        </p:txBody>
      </p:sp>
      <p:sp>
        <p:nvSpPr>
          <p:cNvPr id="54" name="Google Shape;54;p4"/>
          <p:cNvSpPr/>
          <p:nvPr/>
        </p:nvSpPr>
        <p:spPr>
          <a:xfrm rot="-5400000">
            <a:off x="3014525" y="1216850"/>
            <a:ext cx="433200" cy="453000"/>
          </a:xfrm>
          <a:prstGeom prst="round2SameRect">
            <a:avLst>
              <a:gd name="adj1" fmla="val 50000"/>
              <a:gd name="adj2" fmla="val 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Tree>
  </p:cSld>
  <p:clrMapOvr>
    <a:masterClrMapping/>
  </p:clrMapOvr>
  <p:extLst>
    <p:ext uri="{DCECCB84-F9BA-43D5-87BE-67443E8EF086}">
      <p15:sldGuideLst xmlns:p15="http://schemas.microsoft.com/office/powerpoint/2012/main">
        <p15:guide id="1" pos="3799">
          <p15:clr>
            <a:srgbClr val="FA7B17"/>
          </p15:clr>
        </p15:guide>
        <p15:guide id="2" pos="5625">
          <p15:clr>
            <a:srgbClr val="FA7B17"/>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02 - Titre et contenu">
  <p:cSld name="02 - Titre et contenu">
    <p:spTree>
      <p:nvGrpSpPr>
        <p:cNvPr id="1" name="Shape 55"/>
        <p:cNvGrpSpPr/>
        <p:nvPr/>
      </p:nvGrpSpPr>
      <p:grpSpPr>
        <a:xfrm>
          <a:off x="0" y="0"/>
          <a:ext cx="0" cy="0"/>
          <a:chOff x="0" y="0"/>
          <a:chExt cx="0" cy="0"/>
        </a:xfrm>
      </p:grpSpPr>
      <p:sp>
        <p:nvSpPr>
          <p:cNvPr id="56" name="Google Shape;56;p5"/>
          <p:cNvSpPr txBox="1">
            <a:spLocks noGrp="1"/>
          </p:cNvSpPr>
          <p:nvPr>
            <p:ph type="body" idx="1"/>
          </p:nvPr>
        </p:nvSpPr>
        <p:spPr>
          <a:xfrm>
            <a:off x="578425" y="817575"/>
            <a:ext cx="7929000" cy="4046700"/>
          </a:xfrm>
          <a:prstGeom prst="rect">
            <a:avLst/>
          </a:prstGeom>
          <a:noFill/>
          <a:ln>
            <a:noFill/>
          </a:ln>
        </p:spPr>
        <p:txBody>
          <a:bodyPr spcFirstLastPara="1" wrap="square" lIns="91425"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57" name="Google Shape;57;p5"/>
          <p:cNvSpPr txBox="1">
            <a:spLocks noGrp="1"/>
          </p:cNvSpPr>
          <p:nvPr>
            <p:ph type="title"/>
          </p:nvPr>
        </p:nvSpPr>
        <p:spPr>
          <a:xfrm>
            <a:off x="562500" y="361400"/>
            <a:ext cx="792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03 - Titre et sous-titre">
  <p:cSld name="03 - Titre et sous-titre">
    <p:spTree>
      <p:nvGrpSpPr>
        <p:cNvPr id="1" name="Shape 58"/>
        <p:cNvGrpSpPr/>
        <p:nvPr/>
      </p:nvGrpSpPr>
      <p:grpSpPr>
        <a:xfrm>
          <a:off x="0" y="0"/>
          <a:ext cx="0" cy="0"/>
          <a:chOff x="0" y="0"/>
          <a:chExt cx="0" cy="0"/>
        </a:xfrm>
      </p:grpSpPr>
      <p:sp>
        <p:nvSpPr>
          <p:cNvPr id="59" name="Google Shape;59;p6"/>
          <p:cNvSpPr txBox="1">
            <a:spLocks noGrp="1"/>
          </p:cNvSpPr>
          <p:nvPr>
            <p:ph type="subTitle" idx="1"/>
          </p:nvPr>
        </p:nvSpPr>
        <p:spPr>
          <a:xfrm>
            <a:off x="571500" y="779175"/>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9pPr>
          </a:lstStyle>
          <a:p>
            <a:endParaRPr/>
          </a:p>
        </p:txBody>
      </p:sp>
      <p:sp>
        <p:nvSpPr>
          <p:cNvPr id="60" name="Google Shape;60;p6"/>
          <p:cNvSpPr txBox="1">
            <a:spLocks noGrp="1"/>
          </p:cNvSpPr>
          <p:nvPr>
            <p:ph type="title"/>
          </p:nvPr>
        </p:nvSpPr>
        <p:spPr>
          <a:xfrm>
            <a:off x="562825" y="361400"/>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04 - Titre seul">
  <p:cSld name="04 - Titre seul">
    <p:spTree>
      <p:nvGrpSpPr>
        <p:cNvPr id="1" name="Shape 61"/>
        <p:cNvGrpSpPr/>
        <p:nvPr/>
      </p:nvGrpSpPr>
      <p:grpSpPr>
        <a:xfrm>
          <a:off x="0" y="0"/>
          <a:ext cx="0" cy="0"/>
          <a:chOff x="0" y="0"/>
          <a:chExt cx="0" cy="0"/>
        </a:xfrm>
      </p:grpSpPr>
      <p:sp>
        <p:nvSpPr>
          <p:cNvPr id="62" name="Google Shape;62;p7"/>
          <p:cNvSpPr txBox="1">
            <a:spLocks noGrp="1"/>
          </p:cNvSpPr>
          <p:nvPr>
            <p:ph type="title"/>
          </p:nvPr>
        </p:nvSpPr>
        <p:spPr>
          <a:xfrm>
            <a:off x="562500" y="361400"/>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05 - Focus">
  <p:cSld name="05 - Focus">
    <p:bg>
      <p:bgPr>
        <a:solidFill>
          <a:schemeClr val="dk2"/>
        </a:solidFill>
        <a:effectLst/>
      </p:bgPr>
    </p:bg>
    <p:spTree>
      <p:nvGrpSpPr>
        <p:cNvPr id="1" name="Shape 63"/>
        <p:cNvGrpSpPr/>
        <p:nvPr/>
      </p:nvGrpSpPr>
      <p:grpSpPr>
        <a:xfrm>
          <a:off x="0" y="0"/>
          <a:ext cx="0" cy="0"/>
          <a:chOff x="0" y="0"/>
          <a:chExt cx="0" cy="0"/>
        </a:xfrm>
      </p:grpSpPr>
      <p:sp>
        <p:nvSpPr>
          <p:cNvPr id="64" name="Google Shape;64;p8"/>
          <p:cNvSpPr/>
          <p:nvPr/>
        </p:nvSpPr>
        <p:spPr>
          <a:xfrm>
            <a:off x="185625" y="210050"/>
            <a:ext cx="190500" cy="175800"/>
          </a:xfrm>
          <a:prstGeom prst="rect">
            <a:avLst/>
          </a:prstGeom>
          <a:solidFill>
            <a:schemeClr val="dk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65" name="Google Shape;65;p8"/>
          <p:cNvSpPr/>
          <p:nvPr/>
        </p:nvSpPr>
        <p:spPr>
          <a:xfrm>
            <a:off x="276300" y="292125"/>
            <a:ext cx="8591400" cy="4571700"/>
          </a:xfrm>
          <a:prstGeom prst="roundRect">
            <a:avLst>
              <a:gd name="adj" fmla="val 3551"/>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66" name="Google Shape;66;p8"/>
          <p:cNvSpPr/>
          <p:nvPr/>
        </p:nvSpPr>
        <p:spPr>
          <a:xfrm rot="-5400000">
            <a:off x="-1143306" y="34836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lt1"/>
                </a:solidFill>
                <a:latin typeface="Outfit Medium"/>
                <a:ea typeface="Outfit Medium"/>
                <a:cs typeface="Outfit Medium"/>
                <a:sym typeface="Outfit Medium"/>
              </a:rPr>
              <a:t>OCTO I PART OF ACCENTURE</a:t>
            </a:r>
            <a:r>
              <a:rPr lang="en-US" sz="500" b="0" i="0" u="none" strike="noStrike" cap="none">
                <a:solidFill>
                  <a:schemeClr val="lt1"/>
                </a:solidFill>
                <a:latin typeface="Outfit"/>
                <a:ea typeface="Outfit"/>
                <a:cs typeface="Outfit"/>
                <a:sym typeface="Outfit"/>
              </a:rPr>
              <a:t>© 202</a:t>
            </a:r>
            <a:r>
              <a:rPr lang="en-US" sz="500">
                <a:solidFill>
                  <a:schemeClr val="lt1"/>
                </a:solidFill>
                <a:latin typeface="Outfit"/>
                <a:ea typeface="Outfit"/>
                <a:cs typeface="Outfit"/>
                <a:sym typeface="Outfit"/>
              </a:rPr>
              <a:t>6</a:t>
            </a:r>
            <a:r>
              <a:rPr lang="en-US" sz="500" b="0" i="0" u="none" strike="noStrike" cap="none">
                <a:solidFill>
                  <a:schemeClr val="lt1"/>
                </a:solidFill>
                <a:latin typeface="Outfit"/>
                <a:ea typeface="Outfit"/>
                <a:cs typeface="Outfit"/>
                <a:sym typeface="Outfit"/>
              </a:rPr>
              <a:t> - All rights reserved</a:t>
            </a:r>
            <a:endParaRPr sz="500" b="0" i="0" u="none" strike="noStrike" cap="none">
              <a:solidFill>
                <a:schemeClr val="lt1"/>
              </a:solidFill>
              <a:latin typeface="Outfit Medium"/>
              <a:ea typeface="Outfit Medium"/>
              <a:cs typeface="Outfit Medium"/>
              <a:sym typeface="Outfit Medium"/>
            </a:endParaRPr>
          </a:p>
        </p:txBody>
      </p:sp>
      <p:sp>
        <p:nvSpPr>
          <p:cNvPr id="67" name="Google Shape;67;p8"/>
          <p:cNvSpPr txBox="1">
            <a:spLocks noGrp="1"/>
          </p:cNvSpPr>
          <p:nvPr>
            <p:ph type="subTitle" idx="1"/>
          </p:nvPr>
        </p:nvSpPr>
        <p:spPr>
          <a:xfrm>
            <a:off x="571500" y="778000"/>
            <a:ext cx="7884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68" name="Google Shape;68;p8"/>
          <p:cNvSpPr txBox="1">
            <a:spLocks noGrp="1"/>
          </p:cNvSpPr>
          <p:nvPr>
            <p:ph type="title"/>
          </p:nvPr>
        </p:nvSpPr>
        <p:spPr>
          <a:xfrm>
            <a:off x="563300" y="361275"/>
            <a:ext cx="7884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9pPr>
          </a:lstStyle>
          <a:p>
            <a:endParaRPr/>
          </a:p>
        </p:txBody>
      </p:sp>
      <p:sp>
        <p:nvSpPr>
          <p:cNvPr id="69" name="Google Shape;69;p8"/>
          <p:cNvSpPr txBox="1">
            <a:spLocks noGrp="1"/>
          </p:cNvSpPr>
          <p:nvPr>
            <p:ph type="body" idx="2"/>
          </p:nvPr>
        </p:nvSpPr>
        <p:spPr>
          <a:xfrm>
            <a:off x="571500" y="1273150"/>
            <a:ext cx="7884000" cy="3590700"/>
          </a:xfrm>
          <a:prstGeom prst="rect">
            <a:avLst/>
          </a:prstGeom>
          <a:noFill/>
          <a:ln>
            <a:noFill/>
          </a:ln>
        </p:spPr>
        <p:txBody>
          <a:bodyPr spcFirstLastPara="1" wrap="square" lIns="0" tIns="180000"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grpSp>
        <p:nvGrpSpPr>
          <p:cNvPr id="70" name="Google Shape;70;p8"/>
          <p:cNvGrpSpPr/>
          <p:nvPr/>
        </p:nvGrpSpPr>
        <p:grpSpPr>
          <a:xfrm>
            <a:off x="89501" y="125680"/>
            <a:ext cx="8793074" cy="4738970"/>
            <a:chOff x="89501" y="125680"/>
            <a:chExt cx="8793074" cy="4738970"/>
          </a:xfrm>
        </p:grpSpPr>
        <p:grpSp>
          <p:nvGrpSpPr>
            <p:cNvPr id="71" name="Google Shape;71;p8"/>
            <p:cNvGrpSpPr/>
            <p:nvPr/>
          </p:nvGrpSpPr>
          <p:grpSpPr>
            <a:xfrm>
              <a:off x="89501" y="125680"/>
              <a:ext cx="170063" cy="166438"/>
              <a:chOff x="6838242" y="518225"/>
              <a:chExt cx="1247708" cy="1221114"/>
            </a:xfrm>
          </p:grpSpPr>
          <p:sp>
            <p:nvSpPr>
              <p:cNvPr id="72" name="Google Shape;72;p8"/>
              <p:cNvSpPr/>
              <p:nvPr/>
            </p:nvSpPr>
            <p:spPr>
              <a:xfrm>
                <a:off x="7870550" y="518225"/>
                <a:ext cx="215400" cy="215400"/>
              </a:xfrm>
              <a:prstGeom prst="ellipse">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73" name="Google Shape;73;p8"/>
              <p:cNvSpPr/>
              <p:nvPr/>
            </p:nvSpPr>
            <p:spPr>
              <a:xfrm>
                <a:off x="6838242" y="539639"/>
                <a:ext cx="1200000" cy="1199700"/>
              </a:xfrm>
              <a:prstGeom prst="donut">
                <a:avLst>
                  <a:gd name="adj" fmla="val 20918"/>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74" name="Google Shape;74;p8"/>
              <p:cNvSpPr/>
              <p:nvPr/>
            </p:nvSpPr>
            <p:spPr>
              <a:xfrm>
                <a:off x="7483200" y="906125"/>
                <a:ext cx="215400" cy="215400"/>
              </a:xfrm>
              <a:prstGeom prst="ellipse">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75" name="Google Shape;75;p8"/>
            <p:cNvSpPr/>
            <p:nvPr/>
          </p:nvSpPr>
          <p:spPr>
            <a:xfrm>
              <a:off x="8441325" y="4438950"/>
              <a:ext cx="425700" cy="4257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76" name="Google Shape;76;p8"/>
            <p:cNvGrpSpPr/>
            <p:nvPr/>
          </p:nvGrpSpPr>
          <p:grpSpPr>
            <a:xfrm>
              <a:off x="8383075" y="4575725"/>
              <a:ext cx="499500" cy="228600"/>
              <a:chOff x="8383075" y="4575725"/>
              <a:chExt cx="499500" cy="228600"/>
            </a:xfrm>
          </p:grpSpPr>
          <p:sp>
            <p:nvSpPr>
              <p:cNvPr id="77" name="Google Shape;77;p8"/>
              <p:cNvSpPr txBox="1"/>
              <p:nvPr/>
            </p:nvSpPr>
            <p:spPr>
              <a:xfrm>
                <a:off x="8383075" y="45757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78" name="Google Shape;78;p8"/>
              <p:cNvCxnSpPr>
                <a:stCxn id="79" idx="2"/>
              </p:cNvCxnSpPr>
              <p:nvPr/>
            </p:nvCxnSpPr>
            <p:spPr>
              <a:xfrm>
                <a:off x="8599834" y="4788444"/>
                <a:ext cx="191400" cy="0"/>
              </a:xfrm>
              <a:prstGeom prst="straightConnector1">
                <a:avLst/>
              </a:prstGeom>
              <a:noFill/>
              <a:ln w="9525" cap="flat" cmpd="sng">
                <a:solidFill>
                  <a:srgbClr val="0E2356"/>
                </a:solidFill>
                <a:prstDash val="solid"/>
                <a:round/>
                <a:headEnd type="none" w="sm" len="sm"/>
                <a:tailEnd type="none" w="sm" len="sm"/>
              </a:ln>
            </p:spPr>
          </p:cxnSp>
          <p:sp>
            <p:nvSpPr>
              <p:cNvPr id="80" name="Google Shape;80;p8"/>
              <p:cNvSpPr/>
              <p:nvPr/>
            </p:nvSpPr>
            <p:spPr>
              <a:xfrm>
                <a:off x="8586528" y="45915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81" name="Google Shape;81;p8"/>
              <p:cNvCxnSpPr>
                <a:endCxn id="80" idx="2"/>
              </p:cNvCxnSpPr>
              <p:nvPr/>
            </p:nvCxnSpPr>
            <p:spPr>
              <a:xfrm rot="10800000">
                <a:off x="8787104" y="4694497"/>
                <a:ext cx="0" cy="98400"/>
              </a:xfrm>
              <a:prstGeom prst="straightConnector1">
                <a:avLst/>
              </a:prstGeom>
              <a:noFill/>
              <a:ln w="9525" cap="flat" cmpd="sng">
                <a:solidFill>
                  <a:srgbClr val="0E2356"/>
                </a:solidFill>
                <a:prstDash val="solid"/>
                <a:round/>
                <a:headEnd type="none" w="sm" len="sm"/>
                <a:tailEnd type="none" w="sm" len="sm"/>
              </a:ln>
            </p:spPr>
          </p:cxnSp>
          <p:sp>
            <p:nvSpPr>
              <p:cNvPr id="82" name="Google Shape;82;p8"/>
              <p:cNvSpPr/>
              <p:nvPr/>
            </p:nvSpPr>
            <p:spPr>
              <a:xfrm rot="-5400000">
                <a:off x="8499018" y="45938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79" name="Google Shape;79;p8"/>
              <p:cNvSpPr/>
              <p:nvPr/>
            </p:nvSpPr>
            <p:spPr>
              <a:xfrm rot="-5400000" flipH="1">
                <a:off x="8499018" y="45899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83" name="Google Shape;83;p8"/>
              <p:cNvCxnSpPr>
                <a:stCxn id="82" idx="2"/>
                <a:endCxn id="80" idx="0"/>
              </p:cNvCxnSpPr>
              <p:nvPr/>
            </p:nvCxnSpPr>
            <p:spPr>
              <a:xfrm>
                <a:off x="8599704" y="4591602"/>
                <a:ext cx="88500" cy="0"/>
              </a:xfrm>
              <a:prstGeom prst="straightConnector1">
                <a:avLst/>
              </a:prstGeom>
              <a:noFill/>
              <a:ln w="9525" cap="flat" cmpd="sng">
                <a:solidFill>
                  <a:srgbClr val="0E2356"/>
                </a:solidFill>
                <a:prstDash val="solid"/>
                <a:round/>
                <a:headEnd type="none" w="sm" len="sm"/>
                <a:tailEnd type="none" w="sm" len="sm"/>
              </a:ln>
            </p:spPr>
          </p:cxnSp>
        </p:gr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matchingName="07 - Slide vide fond foncé">
  <p:cSld name="07 - Slide vide fond foncé">
    <p:bg>
      <p:bgPr>
        <a:solidFill>
          <a:schemeClr val="lt1"/>
        </a:solidFill>
        <a:effectLst/>
      </p:bgPr>
    </p:bg>
    <p:spTree>
      <p:nvGrpSpPr>
        <p:cNvPr id="1" name="Shape 84"/>
        <p:cNvGrpSpPr/>
        <p:nvPr/>
      </p:nvGrpSpPr>
      <p:grpSpPr>
        <a:xfrm>
          <a:off x="0" y="0"/>
          <a:ext cx="0" cy="0"/>
          <a:chOff x="0" y="0"/>
          <a:chExt cx="0" cy="0"/>
        </a:xfrm>
      </p:grpSpPr>
      <p:grpSp>
        <p:nvGrpSpPr>
          <p:cNvPr id="85" name="Google Shape;85;p9"/>
          <p:cNvGrpSpPr/>
          <p:nvPr/>
        </p:nvGrpSpPr>
        <p:grpSpPr>
          <a:xfrm>
            <a:off x="276301" y="292130"/>
            <a:ext cx="170063" cy="166438"/>
            <a:chOff x="6838242" y="518225"/>
            <a:chExt cx="1247708" cy="1221114"/>
          </a:xfrm>
        </p:grpSpPr>
        <p:sp>
          <p:nvSpPr>
            <p:cNvPr id="86" name="Google Shape;86;p9"/>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87" name="Google Shape;87;p9"/>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88" name="Google Shape;88;p9"/>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89" name="Google Shape;89;p9"/>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90" name="Google Shape;90;p9"/>
          <p:cNvCxnSpPr>
            <a:stCxn id="91"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92" name="Google Shape;92;p9"/>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93" name="Google Shape;93;p9"/>
          <p:cNvCxnSpPr>
            <a:endCxn id="92"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94" name="Google Shape;94;p9"/>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91" name="Google Shape;91;p9"/>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95" name="Google Shape;95;p9"/>
          <p:cNvCxnSpPr>
            <a:stCxn id="94" idx="2"/>
            <a:endCxn id="92"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96" name="Google Shape;96;p9"/>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
        <p:nvSpPr>
          <p:cNvPr id="97" name="Google Shape;97;p9"/>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matchingName="40 - Couverture [1]">
  <p:cSld name="40 - Couverture [1]">
    <p:bg>
      <p:bgPr>
        <a:solidFill>
          <a:schemeClr val="lt1"/>
        </a:solidFill>
        <a:effectLst/>
      </p:bgPr>
    </p:bg>
    <p:spTree>
      <p:nvGrpSpPr>
        <p:cNvPr id="1" name="Shape 98"/>
        <p:cNvGrpSpPr/>
        <p:nvPr/>
      </p:nvGrpSpPr>
      <p:grpSpPr>
        <a:xfrm>
          <a:off x="0" y="0"/>
          <a:ext cx="0" cy="0"/>
          <a:chOff x="0" y="0"/>
          <a:chExt cx="0" cy="0"/>
        </a:xfrm>
      </p:grpSpPr>
      <p:pic>
        <p:nvPicPr>
          <p:cNvPr id="99" name="Google Shape;99;p10"/>
          <p:cNvPicPr preferRelativeResize="0"/>
          <p:nvPr/>
        </p:nvPicPr>
        <p:blipFill rotWithShape="1">
          <a:blip r:embed="rId2">
            <a:alphaModFix/>
          </a:blip>
          <a:srcRect/>
          <a:stretch/>
        </p:blipFill>
        <p:spPr>
          <a:xfrm>
            <a:off x="0" y="0"/>
            <a:ext cx="9144000" cy="5143500"/>
          </a:xfrm>
          <a:prstGeom prst="roundRect">
            <a:avLst>
              <a:gd name="adj" fmla="val 0"/>
            </a:avLst>
          </a:prstGeom>
          <a:noFill/>
          <a:ln>
            <a:noFill/>
          </a:ln>
        </p:spPr>
      </p:pic>
      <p:sp>
        <p:nvSpPr>
          <p:cNvPr id="100" name="Google Shape;100;p10"/>
          <p:cNvSpPr txBox="1"/>
          <p:nvPr/>
        </p:nvSpPr>
        <p:spPr>
          <a:xfrm rot="-5400000">
            <a:off x="8220930" y="4230075"/>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600" b="0" i="0" u="none" strike="noStrike" cap="none">
                <a:solidFill>
                  <a:srgbClr val="FFFFFF"/>
                </a:solidFill>
                <a:latin typeface="Outfit Medium"/>
                <a:ea typeface="Outfit Medium"/>
                <a:cs typeface="Outfit Medium"/>
                <a:sym typeface="Outfit Medium"/>
              </a:rPr>
              <a:t>THERE IS A BETTER WAY</a:t>
            </a:r>
            <a:endParaRPr sz="600" b="0" i="0" u="none" strike="noStrike" cap="none">
              <a:solidFill>
                <a:srgbClr val="FFFFFF"/>
              </a:solidFill>
              <a:latin typeface="Outfit Medium"/>
              <a:ea typeface="Outfit Medium"/>
              <a:cs typeface="Outfit Medium"/>
              <a:sym typeface="Outfit Medium"/>
            </a:endParaRPr>
          </a:p>
        </p:txBody>
      </p:sp>
      <p:grpSp>
        <p:nvGrpSpPr>
          <p:cNvPr id="101" name="Google Shape;101;p10"/>
          <p:cNvGrpSpPr/>
          <p:nvPr/>
        </p:nvGrpSpPr>
        <p:grpSpPr>
          <a:xfrm>
            <a:off x="276293" y="292119"/>
            <a:ext cx="345989" cy="338615"/>
            <a:chOff x="6838242" y="518225"/>
            <a:chExt cx="1247708" cy="1221114"/>
          </a:xfrm>
        </p:grpSpPr>
        <p:sp>
          <p:nvSpPr>
            <p:cNvPr id="102" name="Google Shape;102;p10"/>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03" name="Google Shape;103;p10"/>
            <p:cNvSpPr/>
            <p:nvPr/>
          </p:nvSpPr>
          <p:spPr>
            <a:xfrm>
              <a:off x="6838242" y="539639"/>
              <a:ext cx="1200000" cy="1199700"/>
            </a:xfrm>
            <a:prstGeom prst="donut">
              <a:avLst>
                <a:gd name="adj" fmla="val 20918"/>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04" name="Google Shape;104;p10"/>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105" name="Google Shape;105;p10"/>
          <p:cNvSpPr txBox="1"/>
          <p:nvPr/>
        </p:nvSpPr>
        <p:spPr>
          <a:xfrm>
            <a:off x="182043" y="472785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600" b="0" i="0" u="none" strike="noStrike" cap="none">
                <a:solidFill>
                  <a:srgbClr val="FFFFFF"/>
                </a:solidFill>
                <a:latin typeface="Outfit Medium"/>
                <a:ea typeface="Outfit Medium"/>
                <a:cs typeface="Outfit Medium"/>
                <a:sym typeface="Outfit Medium"/>
              </a:rPr>
              <a:t>DIGITAL THINKERS &amp; DOERS</a:t>
            </a:r>
            <a:endParaRPr sz="600" b="0" i="0" u="none" strike="noStrike" cap="none">
              <a:solidFill>
                <a:srgbClr val="FFFFFF"/>
              </a:solidFill>
              <a:latin typeface="Outfit Medium"/>
              <a:ea typeface="Outfit Medium"/>
              <a:cs typeface="Outfit Medium"/>
              <a:sym typeface="Outfit Medium"/>
            </a:endParaRPr>
          </a:p>
        </p:txBody>
      </p:sp>
      <p:sp>
        <p:nvSpPr>
          <p:cNvPr id="106" name="Google Shape;106;p10"/>
          <p:cNvSpPr/>
          <p:nvPr/>
        </p:nvSpPr>
        <p:spPr>
          <a:xfrm>
            <a:off x="3988625" y="36184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107" name="Google Shape;107;p10"/>
          <p:cNvGrpSpPr/>
          <p:nvPr/>
        </p:nvGrpSpPr>
        <p:grpSpPr>
          <a:xfrm>
            <a:off x="1097923" y="1336707"/>
            <a:ext cx="4598402" cy="1873532"/>
            <a:chOff x="2164723" y="1336707"/>
            <a:chExt cx="4598402" cy="1873532"/>
          </a:xfrm>
        </p:grpSpPr>
        <p:cxnSp>
          <p:nvCxnSpPr>
            <p:cNvPr id="108" name="Google Shape;108;p10"/>
            <p:cNvCxnSpPr/>
            <p:nvPr/>
          </p:nvCxnSpPr>
          <p:spPr>
            <a:xfrm>
              <a:off x="3064700" y="3175550"/>
              <a:ext cx="3698100" cy="0"/>
            </a:xfrm>
            <a:prstGeom prst="straightConnector1">
              <a:avLst/>
            </a:prstGeom>
            <a:noFill/>
            <a:ln w="19050" cap="flat" cmpd="sng">
              <a:solidFill>
                <a:srgbClr val="FFFFFF"/>
              </a:solidFill>
              <a:prstDash val="solid"/>
              <a:round/>
              <a:headEnd type="none" w="sm" len="sm"/>
              <a:tailEnd type="none" w="sm" len="sm"/>
            </a:ln>
          </p:spPr>
        </p:cxnSp>
        <p:sp>
          <p:nvSpPr>
            <p:cNvPr id="109" name="Google Shape;109;p10"/>
            <p:cNvSpPr/>
            <p:nvPr/>
          </p:nvSpPr>
          <p:spPr>
            <a:xfrm>
              <a:off x="4924425" y="1371385"/>
              <a:ext cx="1838700" cy="17955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10" name="Google Shape;110;p10"/>
            <p:cNvCxnSpPr>
              <a:endCxn id="109" idx="2"/>
            </p:cNvCxnSpPr>
            <p:nvPr/>
          </p:nvCxnSpPr>
          <p:spPr>
            <a:xfrm rot="10800000">
              <a:off x="6761983" y="2313859"/>
              <a:ext cx="0" cy="861600"/>
            </a:xfrm>
            <a:prstGeom prst="straightConnector1">
              <a:avLst/>
            </a:prstGeom>
            <a:noFill/>
            <a:ln w="19050" cap="flat" cmpd="sng">
              <a:solidFill>
                <a:srgbClr val="FFFFFF"/>
              </a:solidFill>
              <a:prstDash val="solid"/>
              <a:round/>
              <a:headEnd type="none" w="sm" len="sm"/>
              <a:tailEnd type="none" w="sm" len="sm"/>
            </a:ln>
          </p:spPr>
        </p:cxnSp>
        <p:sp>
          <p:nvSpPr>
            <p:cNvPr id="111" name="Google Shape;111;p10"/>
            <p:cNvSpPr/>
            <p:nvPr/>
          </p:nvSpPr>
          <p:spPr>
            <a:xfrm rot="-5399439">
              <a:off x="2143273" y="1392988"/>
              <a:ext cx="1838700" cy="17955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12" name="Google Shape;112;p10"/>
            <p:cNvSpPr/>
            <p:nvPr/>
          </p:nvSpPr>
          <p:spPr>
            <a:xfrm rot="-5400561" flipH="1">
              <a:off x="2143273" y="1358457"/>
              <a:ext cx="1838700" cy="17955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13" name="Google Shape;113;p10"/>
            <p:cNvCxnSpPr>
              <a:stCxn id="111" idx="2"/>
              <a:endCxn id="109" idx="0"/>
            </p:cNvCxnSpPr>
            <p:nvPr/>
          </p:nvCxnSpPr>
          <p:spPr>
            <a:xfrm>
              <a:off x="3065855" y="1371394"/>
              <a:ext cx="2788800" cy="0"/>
            </a:xfrm>
            <a:prstGeom prst="straightConnector1">
              <a:avLst/>
            </a:prstGeom>
            <a:noFill/>
            <a:ln w="19050" cap="flat" cmpd="sng">
              <a:solidFill>
                <a:srgbClr val="FFFFFF"/>
              </a:solidFill>
              <a:prstDash val="solid"/>
              <a:round/>
              <a:headEnd type="none" w="sm" len="sm"/>
              <a:tailEnd type="none" w="sm" len="sm"/>
            </a:ln>
          </p:spPr>
        </p:cxnSp>
      </p:grpSp>
      <p:sp>
        <p:nvSpPr>
          <p:cNvPr id="114" name="Google Shape;114;p10"/>
          <p:cNvSpPr txBox="1"/>
          <p:nvPr/>
        </p:nvSpPr>
        <p:spPr>
          <a:xfrm>
            <a:off x="6997200" y="215900"/>
            <a:ext cx="1966800" cy="2154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650"/>
              <a:buFont typeface="Outfit"/>
              <a:buNone/>
            </a:pPr>
            <a:r>
              <a:rPr lang="en-US" sz="600" b="0" i="0" u="none" strike="noStrike" cap="none">
                <a:solidFill>
                  <a:srgbClr val="FFFFFF"/>
                </a:solidFill>
                <a:latin typeface="Outfit Medium"/>
                <a:ea typeface="Outfit Medium"/>
                <a:cs typeface="Outfit Medium"/>
                <a:sym typeface="Outfit Medium"/>
              </a:rPr>
              <a:t>OCTO TECHNOLOGY I PART OF ACCENTURE</a:t>
            </a:r>
            <a:endParaRPr sz="600" b="0" i="0" u="none" strike="noStrike" cap="none">
              <a:solidFill>
                <a:srgbClr val="FFFFFF"/>
              </a:solidFill>
              <a:latin typeface="Outfit Medium"/>
              <a:ea typeface="Outfit Medium"/>
              <a:cs typeface="Outfit Medium"/>
              <a:sym typeface="Outfit Medium"/>
            </a:endParaRPr>
          </a:p>
        </p:txBody>
      </p:sp>
      <p:pic>
        <p:nvPicPr>
          <p:cNvPr id="115" name="Google Shape;115;p10"/>
          <p:cNvPicPr preferRelativeResize="0"/>
          <p:nvPr/>
        </p:nvPicPr>
        <p:blipFill rotWithShape="1">
          <a:blip r:embed="rId3">
            <a:alphaModFix/>
          </a:blip>
          <a:srcRect t="338" b="338"/>
          <a:stretch/>
        </p:blipFill>
        <p:spPr>
          <a:xfrm>
            <a:off x="5866738" y="2120950"/>
            <a:ext cx="1724025" cy="1257300"/>
          </a:xfrm>
          <a:prstGeom prst="rect">
            <a:avLst/>
          </a:prstGeom>
          <a:noFill/>
          <a:ln>
            <a:noFill/>
          </a:ln>
        </p:spPr>
      </p:pic>
      <p:sp>
        <p:nvSpPr>
          <p:cNvPr id="116" name="Google Shape;116;p10"/>
          <p:cNvSpPr txBox="1">
            <a:spLocks noGrp="1"/>
          </p:cNvSpPr>
          <p:nvPr>
            <p:ph type="title"/>
          </p:nvPr>
        </p:nvSpPr>
        <p:spPr>
          <a:xfrm>
            <a:off x="1657350" y="1619250"/>
            <a:ext cx="3648000" cy="13050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2000"/>
              <a:buFont typeface="Outfit Medium"/>
              <a:buNone/>
              <a:defRPr sz="2000" i="0" u="none" strike="noStrike" cap="none">
                <a:solidFill>
                  <a:schemeClr val="lt1"/>
                </a:solidFill>
                <a:latin typeface="Outfit Medium"/>
                <a:ea typeface="Outfit Medium"/>
                <a:cs typeface="Outfit Medium"/>
                <a:sym typeface="Outfit Medium"/>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117" name="Google Shape;117;p10"/>
          <p:cNvSpPr txBox="1">
            <a:spLocks noGrp="1"/>
          </p:cNvSpPr>
          <p:nvPr>
            <p:ph type="subTitle" idx="1"/>
          </p:nvPr>
        </p:nvSpPr>
        <p:spPr>
          <a:xfrm>
            <a:off x="1657350" y="2668200"/>
            <a:ext cx="3648000" cy="215400"/>
          </a:xfrm>
          <a:prstGeom prst="rect">
            <a:avLst/>
          </a:prstGeom>
          <a:noFill/>
          <a:ln>
            <a:noFill/>
          </a:ln>
        </p:spPr>
        <p:txBody>
          <a:bodyPr spcFirstLastPara="1" wrap="square" lIns="0" tIns="0" rIns="0" bIns="0" anchor="b" anchorCtr="0">
            <a:normAutofit/>
          </a:bodyPr>
          <a:lstStyle>
            <a:lvl1pPr marR="0" lvl="0"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1pPr>
            <a:lvl2pPr marR="0" lvl="1"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2pPr>
            <a:lvl3pPr marR="0" lvl="2"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3pPr>
            <a:lvl4pPr marR="0" lvl="3"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4pPr>
            <a:lvl5pPr marR="0" lvl="4"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5pPr>
            <a:lvl6pPr marR="0" lvl="5"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6pPr>
            <a:lvl7pPr marR="0" lvl="6"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7pPr>
            <a:lvl8pPr marR="0" lvl="7"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8pPr>
            <a:lvl9pPr marR="0" lvl="8"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9pPr>
          </a:lstStyle>
          <a:p>
            <a:endParaRPr/>
          </a:p>
        </p:txBody>
      </p:sp>
      <p:sp>
        <p:nvSpPr>
          <p:cNvPr id="118" name="Google Shape;118;p10"/>
          <p:cNvSpPr/>
          <p:nvPr/>
        </p:nvSpPr>
        <p:spPr>
          <a:xfrm>
            <a:off x="3988625" y="36184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119" name="Google Shape;119;p10"/>
          <p:cNvGrpSpPr/>
          <p:nvPr/>
        </p:nvGrpSpPr>
        <p:grpSpPr>
          <a:xfrm rot="10800000">
            <a:off x="4572194" y="3152705"/>
            <a:ext cx="2605006" cy="616888"/>
            <a:chOff x="2164721" y="1365883"/>
            <a:chExt cx="4598421" cy="1890555"/>
          </a:xfrm>
        </p:grpSpPr>
        <p:cxnSp>
          <p:nvCxnSpPr>
            <p:cNvPr id="120" name="Google Shape;120;p10"/>
            <p:cNvCxnSpPr>
              <a:stCxn id="121" idx="2"/>
            </p:cNvCxnSpPr>
            <p:nvPr/>
          </p:nvCxnSpPr>
          <p:spPr>
            <a:xfrm>
              <a:off x="2699642" y="3175623"/>
              <a:ext cx="4063500" cy="0"/>
            </a:xfrm>
            <a:prstGeom prst="straightConnector1">
              <a:avLst/>
            </a:prstGeom>
            <a:noFill/>
            <a:ln w="19050" cap="flat" cmpd="sng">
              <a:solidFill>
                <a:srgbClr val="FFFFFF"/>
              </a:solidFill>
              <a:prstDash val="solid"/>
              <a:round/>
              <a:headEnd type="none" w="sm" len="sm"/>
              <a:tailEnd type="none" w="sm" len="sm"/>
            </a:ln>
          </p:spPr>
        </p:cxnSp>
        <p:sp>
          <p:nvSpPr>
            <p:cNvPr id="122" name="Google Shape;122;p10"/>
            <p:cNvSpPr/>
            <p:nvPr/>
          </p:nvSpPr>
          <p:spPr>
            <a:xfrm>
              <a:off x="5870124" y="1371373"/>
              <a:ext cx="892800" cy="14763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23" name="Google Shape;123;p10"/>
            <p:cNvCxnSpPr>
              <a:endCxn id="122" idx="2"/>
            </p:cNvCxnSpPr>
            <p:nvPr/>
          </p:nvCxnSpPr>
          <p:spPr>
            <a:xfrm rot="10800000">
              <a:off x="6762341" y="2147223"/>
              <a:ext cx="0" cy="1028700"/>
            </a:xfrm>
            <a:prstGeom prst="straightConnector1">
              <a:avLst/>
            </a:prstGeom>
            <a:noFill/>
            <a:ln w="19050" cap="flat" cmpd="sng">
              <a:solidFill>
                <a:srgbClr val="FFFFFF"/>
              </a:solidFill>
              <a:prstDash val="solid"/>
              <a:round/>
              <a:headEnd type="none" w="sm" len="sm"/>
              <a:tailEnd type="none" w="sm" len="sm"/>
            </a:ln>
          </p:spPr>
        </p:cxnSp>
        <p:sp>
          <p:nvSpPr>
            <p:cNvPr id="124" name="Google Shape;124;p10"/>
            <p:cNvSpPr/>
            <p:nvPr/>
          </p:nvSpPr>
          <p:spPr>
            <a:xfrm rot="-5399453">
              <a:off x="1791865" y="1744138"/>
              <a:ext cx="1885200" cy="11391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21" name="Google Shape;121;p10"/>
            <p:cNvSpPr/>
            <p:nvPr/>
          </p:nvSpPr>
          <p:spPr>
            <a:xfrm rot="-5400570" flipH="1">
              <a:off x="1792271" y="1738633"/>
              <a:ext cx="1809600" cy="10644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25" name="Google Shape;125;p10"/>
            <p:cNvCxnSpPr>
              <a:stCxn id="124" idx="2"/>
              <a:endCxn id="122" idx="0"/>
            </p:cNvCxnSpPr>
            <p:nvPr/>
          </p:nvCxnSpPr>
          <p:spPr>
            <a:xfrm>
              <a:off x="2736435" y="1371094"/>
              <a:ext cx="3585300" cy="300"/>
            </a:xfrm>
            <a:prstGeom prst="straightConnector1">
              <a:avLst/>
            </a:prstGeom>
            <a:noFill/>
            <a:ln w="19050" cap="flat" cmpd="sng">
              <a:solidFill>
                <a:srgbClr val="FFFFFF"/>
              </a:solidFill>
              <a:prstDash val="solid"/>
              <a:round/>
              <a:headEnd type="none" w="sm" len="sm"/>
              <a:tailEnd type="none" w="sm" len="sm"/>
            </a:ln>
          </p:spPr>
        </p:cxnSp>
      </p:grpSp>
      <p:cxnSp>
        <p:nvCxnSpPr>
          <p:cNvPr id="126" name="Google Shape;126;p10"/>
          <p:cNvCxnSpPr/>
          <p:nvPr/>
        </p:nvCxnSpPr>
        <p:spPr>
          <a:xfrm>
            <a:off x="5567313" y="3411150"/>
            <a:ext cx="0" cy="94200"/>
          </a:xfrm>
          <a:prstGeom prst="straightConnector1">
            <a:avLst/>
          </a:prstGeom>
          <a:noFill/>
          <a:ln w="9525" cap="flat" cmpd="sng">
            <a:solidFill>
              <a:srgbClr val="FFFFFF"/>
            </a:solidFill>
            <a:prstDash val="solid"/>
            <a:round/>
            <a:headEnd type="none" w="med" len="med"/>
            <a:tailEnd type="none" w="med" len="med"/>
          </a:ln>
        </p:spPr>
      </p:cxnSp>
      <p:sp>
        <p:nvSpPr>
          <p:cNvPr id="127" name="Google Shape;127;p10"/>
          <p:cNvSpPr txBox="1">
            <a:spLocks noGrp="1"/>
          </p:cNvSpPr>
          <p:nvPr>
            <p:ph type="title" idx="2"/>
          </p:nvPr>
        </p:nvSpPr>
        <p:spPr>
          <a:xfrm>
            <a:off x="4707450" y="3303350"/>
            <a:ext cx="7320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
        <p:nvSpPr>
          <p:cNvPr id="128" name="Google Shape;128;p10"/>
          <p:cNvSpPr txBox="1">
            <a:spLocks noGrp="1"/>
          </p:cNvSpPr>
          <p:nvPr>
            <p:ph type="title" idx="3"/>
          </p:nvPr>
        </p:nvSpPr>
        <p:spPr>
          <a:xfrm>
            <a:off x="5695200" y="3303350"/>
            <a:ext cx="14052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matchingName="41 - Couverture [2]">
  <p:cSld name="41 - Couverture [2]">
    <p:bg>
      <p:bgPr>
        <a:solidFill>
          <a:schemeClr val="dk1"/>
        </a:solidFill>
        <a:effectLst/>
      </p:bgPr>
    </p:bg>
    <p:spTree>
      <p:nvGrpSpPr>
        <p:cNvPr id="1" name="Shape 129"/>
        <p:cNvGrpSpPr/>
        <p:nvPr/>
      </p:nvGrpSpPr>
      <p:grpSpPr>
        <a:xfrm>
          <a:off x="0" y="0"/>
          <a:ext cx="0" cy="0"/>
          <a:chOff x="0" y="0"/>
          <a:chExt cx="0" cy="0"/>
        </a:xfrm>
      </p:grpSpPr>
      <p:sp>
        <p:nvSpPr>
          <p:cNvPr id="130" name="Google Shape;130;p11"/>
          <p:cNvSpPr txBox="1">
            <a:spLocks noGrp="1"/>
          </p:cNvSpPr>
          <p:nvPr>
            <p:ph type="title"/>
          </p:nvPr>
        </p:nvSpPr>
        <p:spPr>
          <a:xfrm>
            <a:off x="2717000" y="1879350"/>
            <a:ext cx="3635400" cy="7743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2000"/>
              <a:buFont typeface="Outfit Medium"/>
              <a:buNone/>
              <a:defRPr sz="2000" i="0" u="none" strike="noStrike" cap="none">
                <a:solidFill>
                  <a:schemeClr val="lt1"/>
                </a:solidFill>
                <a:latin typeface="Outfit Medium"/>
                <a:ea typeface="Outfit Medium"/>
                <a:cs typeface="Outfit Medium"/>
                <a:sym typeface="Outfit Medium"/>
              </a:defRPr>
            </a:lvl1pPr>
            <a:lvl2pPr marR="0" lvl="1"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2pPr>
            <a:lvl3pPr marR="0" lvl="2"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3pPr>
            <a:lvl4pPr marR="0" lvl="3"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4pPr>
            <a:lvl5pPr marR="0" lvl="4"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5pPr>
            <a:lvl6pPr marR="0" lvl="5"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6pPr>
            <a:lvl7pPr marR="0" lvl="6"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7pPr>
            <a:lvl8pPr marR="0" lvl="7"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8pPr>
            <a:lvl9pPr marR="0" lvl="8"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9pPr>
          </a:lstStyle>
          <a:p>
            <a:endParaRPr/>
          </a:p>
        </p:txBody>
      </p:sp>
      <p:sp>
        <p:nvSpPr>
          <p:cNvPr id="131" name="Google Shape;131;p11"/>
          <p:cNvSpPr txBox="1">
            <a:spLocks noGrp="1"/>
          </p:cNvSpPr>
          <p:nvPr>
            <p:ph type="subTitle" idx="1"/>
          </p:nvPr>
        </p:nvSpPr>
        <p:spPr>
          <a:xfrm>
            <a:off x="2717000" y="2590325"/>
            <a:ext cx="3635400" cy="320100"/>
          </a:xfrm>
          <a:prstGeom prst="rect">
            <a:avLst/>
          </a:prstGeom>
          <a:noFill/>
          <a:ln>
            <a:noFill/>
          </a:ln>
        </p:spPr>
        <p:txBody>
          <a:bodyPr spcFirstLastPara="1" wrap="square" lIns="0" tIns="0" rIns="0" bIns="0" anchor="ctr" anchorCtr="0">
            <a:noAutofit/>
          </a:bodyPr>
          <a:lstStyle>
            <a:lvl1pPr marR="0" lvl="0"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1pPr>
            <a:lvl2pPr marR="0" lvl="1"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2pPr>
            <a:lvl3pPr marR="0" lvl="2"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3pPr>
            <a:lvl4pPr marR="0" lvl="3"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4pPr>
            <a:lvl5pPr marR="0" lvl="4"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5pPr>
            <a:lvl6pPr marR="0" lvl="5"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6pPr>
            <a:lvl7pPr marR="0" lvl="6"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7pPr>
            <a:lvl8pPr marR="0" lvl="7"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8pPr>
            <a:lvl9pPr marR="0" lvl="8"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9pPr>
          </a:lstStyle>
          <a:p>
            <a:endParaRPr/>
          </a:p>
        </p:txBody>
      </p:sp>
      <p:sp>
        <p:nvSpPr>
          <p:cNvPr id="132" name="Google Shape;132;p11"/>
          <p:cNvSpPr/>
          <p:nvPr/>
        </p:nvSpPr>
        <p:spPr>
          <a:xfrm>
            <a:off x="3988625" y="36184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 name="Google Shape;133;p11"/>
          <p:cNvGrpSpPr/>
          <p:nvPr/>
        </p:nvGrpSpPr>
        <p:grpSpPr>
          <a:xfrm>
            <a:off x="2164723" y="1336860"/>
            <a:ext cx="4598402" cy="1873225"/>
            <a:chOff x="2164723" y="1336860"/>
            <a:chExt cx="4598402" cy="1873225"/>
          </a:xfrm>
        </p:grpSpPr>
        <p:cxnSp>
          <p:nvCxnSpPr>
            <p:cNvPr id="134" name="Google Shape;134;p11"/>
            <p:cNvCxnSpPr/>
            <p:nvPr/>
          </p:nvCxnSpPr>
          <p:spPr>
            <a:xfrm>
              <a:off x="3064700" y="3175550"/>
              <a:ext cx="3698100" cy="0"/>
            </a:xfrm>
            <a:prstGeom prst="straightConnector1">
              <a:avLst/>
            </a:prstGeom>
            <a:noFill/>
            <a:ln w="19050" cap="flat" cmpd="sng">
              <a:solidFill>
                <a:srgbClr val="FFFFFF"/>
              </a:solidFill>
              <a:prstDash val="solid"/>
              <a:round/>
              <a:headEnd type="none" w="med" len="med"/>
              <a:tailEnd type="none" w="med" len="med"/>
            </a:ln>
          </p:spPr>
        </p:cxnSp>
        <p:sp>
          <p:nvSpPr>
            <p:cNvPr id="135" name="Google Shape;135;p11"/>
            <p:cNvSpPr/>
            <p:nvPr/>
          </p:nvSpPr>
          <p:spPr>
            <a:xfrm>
              <a:off x="4924425" y="1371385"/>
              <a:ext cx="1838700" cy="17955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6" name="Google Shape;136;p11"/>
            <p:cNvCxnSpPr>
              <a:endCxn id="135" idx="2"/>
            </p:cNvCxnSpPr>
            <p:nvPr/>
          </p:nvCxnSpPr>
          <p:spPr>
            <a:xfrm rot="10800000">
              <a:off x="6761983" y="2313858"/>
              <a:ext cx="0" cy="861600"/>
            </a:xfrm>
            <a:prstGeom prst="straightConnector1">
              <a:avLst/>
            </a:prstGeom>
            <a:noFill/>
            <a:ln w="19050" cap="flat" cmpd="sng">
              <a:solidFill>
                <a:srgbClr val="FFFFFF"/>
              </a:solidFill>
              <a:prstDash val="solid"/>
              <a:round/>
              <a:headEnd type="none" w="med" len="med"/>
              <a:tailEnd type="none" w="med" len="med"/>
            </a:ln>
          </p:spPr>
        </p:cxnSp>
        <p:sp>
          <p:nvSpPr>
            <p:cNvPr id="137" name="Google Shape;137;p11"/>
            <p:cNvSpPr/>
            <p:nvPr/>
          </p:nvSpPr>
          <p:spPr>
            <a:xfrm rot="-5399439">
              <a:off x="2143273" y="1392985"/>
              <a:ext cx="1838700" cy="17955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11"/>
            <p:cNvSpPr/>
            <p:nvPr/>
          </p:nvSpPr>
          <p:spPr>
            <a:xfrm rot="-5400561" flipH="1">
              <a:off x="2143273" y="1358460"/>
              <a:ext cx="1838700" cy="17955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9" name="Google Shape;139;p11"/>
            <p:cNvCxnSpPr>
              <a:stCxn id="137" idx="2"/>
              <a:endCxn id="135" idx="0"/>
            </p:cNvCxnSpPr>
            <p:nvPr/>
          </p:nvCxnSpPr>
          <p:spPr>
            <a:xfrm>
              <a:off x="3065855" y="1371390"/>
              <a:ext cx="2788800" cy="0"/>
            </a:xfrm>
            <a:prstGeom prst="straightConnector1">
              <a:avLst/>
            </a:prstGeom>
            <a:noFill/>
            <a:ln w="19050" cap="flat" cmpd="sng">
              <a:solidFill>
                <a:srgbClr val="FFFFFF"/>
              </a:solidFill>
              <a:prstDash val="solid"/>
              <a:round/>
              <a:headEnd type="none" w="med" len="med"/>
              <a:tailEnd type="none" w="med" len="med"/>
            </a:ln>
          </p:spPr>
        </p:cxnSp>
      </p:grpSp>
      <p:sp>
        <p:nvSpPr>
          <p:cNvPr id="140" name="Google Shape;140;p11"/>
          <p:cNvSpPr txBox="1"/>
          <p:nvPr/>
        </p:nvSpPr>
        <p:spPr>
          <a:xfrm rot="-5400000">
            <a:off x="8220930" y="4230075"/>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FFFFFF"/>
                </a:solidFill>
                <a:latin typeface="Outfit Medium"/>
                <a:ea typeface="Outfit Medium"/>
                <a:cs typeface="Outfit Medium"/>
                <a:sym typeface="Outfit Medium"/>
              </a:rPr>
              <a:t>THERE IS A BETTER WAY</a:t>
            </a:r>
            <a:endParaRPr sz="600" i="0" u="none" strike="noStrike" cap="none">
              <a:solidFill>
                <a:srgbClr val="FFFFFF"/>
              </a:solidFill>
              <a:latin typeface="Outfit Medium"/>
              <a:ea typeface="Outfit Medium"/>
              <a:cs typeface="Outfit Medium"/>
              <a:sym typeface="Outfit Medium"/>
            </a:endParaRPr>
          </a:p>
        </p:txBody>
      </p:sp>
      <p:grpSp>
        <p:nvGrpSpPr>
          <p:cNvPr id="141" name="Google Shape;141;p11"/>
          <p:cNvGrpSpPr/>
          <p:nvPr/>
        </p:nvGrpSpPr>
        <p:grpSpPr>
          <a:xfrm>
            <a:off x="276291" y="292119"/>
            <a:ext cx="345989" cy="338615"/>
            <a:chOff x="6838242" y="518225"/>
            <a:chExt cx="1247708" cy="1221114"/>
          </a:xfrm>
        </p:grpSpPr>
        <p:sp>
          <p:nvSpPr>
            <p:cNvPr id="142" name="Google Shape;142;p11"/>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143;p11"/>
            <p:cNvSpPr/>
            <p:nvPr/>
          </p:nvSpPr>
          <p:spPr>
            <a:xfrm>
              <a:off x="6838242" y="539639"/>
              <a:ext cx="1200000" cy="1199700"/>
            </a:xfrm>
            <a:prstGeom prst="donut">
              <a:avLst>
                <a:gd name="adj" fmla="val 20918"/>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11"/>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5" name="Google Shape;145;p11"/>
          <p:cNvSpPr txBox="1"/>
          <p:nvPr/>
        </p:nvSpPr>
        <p:spPr>
          <a:xfrm>
            <a:off x="182043" y="472785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FFFFFF"/>
                </a:solidFill>
                <a:latin typeface="Outfit Medium"/>
                <a:ea typeface="Outfit Medium"/>
                <a:cs typeface="Outfit Medium"/>
                <a:sym typeface="Outfit Medium"/>
              </a:rPr>
              <a:t>DIGITAL THINKERS &amp; DOERS</a:t>
            </a:r>
            <a:endParaRPr sz="600" i="0" u="none" strike="noStrike" cap="none">
              <a:solidFill>
                <a:srgbClr val="FFFFFF"/>
              </a:solidFill>
              <a:latin typeface="Outfit Medium"/>
              <a:ea typeface="Outfit Medium"/>
              <a:cs typeface="Outfit Medium"/>
              <a:sym typeface="Outfit Medium"/>
            </a:endParaRPr>
          </a:p>
        </p:txBody>
      </p:sp>
      <p:sp>
        <p:nvSpPr>
          <p:cNvPr id="146" name="Google Shape;146;p11"/>
          <p:cNvSpPr txBox="1"/>
          <p:nvPr/>
        </p:nvSpPr>
        <p:spPr>
          <a:xfrm>
            <a:off x="6997200" y="215900"/>
            <a:ext cx="1966800" cy="2154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650"/>
              <a:buFont typeface="Century Gothic"/>
              <a:buNone/>
            </a:pPr>
            <a:r>
              <a:rPr lang="en-US" sz="600">
                <a:solidFill>
                  <a:srgbClr val="FFFFFF"/>
                </a:solidFill>
                <a:latin typeface="Outfit Medium"/>
                <a:ea typeface="Outfit Medium"/>
                <a:cs typeface="Outfit Medium"/>
                <a:sym typeface="Outfit Medium"/>
              </a:rPr>
              <a:t>OCTO TECHNOLOGY  I  PART OF ACCENTURE</a:t>
            </a:r>
            <a:endParaRPr sz="600" i="0" u="none" strike="noStrike" cap="none">
              <a:solidFill>
                <a:srgbClr val="FFFFFF"/>
              </a:solidFill>
              <a:latin typeface="Outfit Medium"/>
              <a:ea typeface="Outfit Medium"/>
              <a:cs typeface="Outfit Medium"/>
              <a:sym typeface="Outfit Medium"/>
            </a:endParaRPr>
          </a:p>
        </p:txBody>
      </p:sp>
      <p:grpSp>
        <p:nvGrpSpPr>
          <p:cNvPr id="147" name="Google Shape;147;p11"/>
          <p:cNvGrpSpPr/>
          <p:nvPr/>
        </p:nvGrpSpPr>
        <p:grpSpPr>
          <a:xfrm rot="10800000">
            <a:off x="4572194" y="3152774"/>
            <a:ext cx="2605006" cy="616751"/>
            <a:chOff x="2164721" y="1366095"/>
            <a:chExt cx="4598421" cy="1890134"/>
          </a:xfrm>
        </p:grpSpPr>
        <p:cxnSp>
          <p:nvCxnSpPr>
            <p:cNvPr id="148" name="Google Shape;148;p11"/>
            <p:cNvCxnSpPr>
              <a:stCxn id="149" idx="2"/>
            </p:cNvCxnSpPr>
            <p:nvPr/>
          </p:nvCxnSpPr>
          <p:spPr>
            <a:xfrm>
              <a:off x="2699643" y="3175685"/>
              <a:ext cx="4063500" cy="0"/>
            </a:xfrm>
            <a:prstGeom prst="straightConnector1">
              <a:avLst/>
            </a:prstGeom>
            <a:noFill/>
            <a:ln w="19050" cap="flat" cmpd="sng">
              <a:solidFill>
                <a:srgbClr val="FFFFFF"/>
              </a:solidFill>
              <a:prstDash val="solid"/>
              <a:round/>
              <a:headEnd type="none" w="med" len="med"/>
              <a:tailEnd type="none" w="med" len="med"/>
            </a:ln>
          </p:spPr>
        </p:cxnSp>
        <p:sp>
          <p:nvSpPr>
            <p:cNvPr id="150" name="Google Shape;150;p11"/>
            <p:cNvSpPr/>
            <p:nvPr/>
          </p:nvSpPr>
          <p:spPr>
            <a:xfrm>
              <a:off x="5870124" y="1371373"/>
              <a:ext cx="892800" cy="14763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1" name="Google Shape;151;p11"/>
            <p:cNvCxnSpPr>
              <a:endCxn id="150" idx="2"/>
            </p:cNvCxnSpPr>
            <p:nvPr/>
          </p:nvCxnSpPr>
          <p:spPr>
            <a:xfrm rot="10800000">
              <a:off x="6762342" y="2147223"/>
              <a:ext cx="0" cy="1028700"/>
            </a:xfrm>
            <a:prstGeom prst="straightConnector1">
              <a:avLst/>
            </a:prstGeom>
            <a:noFill/>
            <a:ln w="19050" cap="flat" cmpd="sng">
              <a:solidFill>
                <a:srgbClr val="FFFFFF"/>
              </a:solidFill>
              <a:prstDash val="solid"/>
              <a:round/>
              <a:headEnd type="none" w="med" len="med"/>
              <a:tailEnd type="none" w="med" len="med"/>
            </a:ln>
          </p:spPr>
        </p:cxnSp>
        <p:sp>
          <p:nvSpPr>
            <p:cNvPr id="152" name="Google Shape;152;p11"/>
            <p:cNvSpPr/>
            <p:nvPr/>
          </p:nvSpPr>
          <p:spPr>
            <a:xfrm rot="-5399453">
              <a:off x="1791865" y="1744079"/>
              <a:ext cx="1885200" cy="11391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11"/>
            <p:cNvSpPr/>
            <p:nvPr/>
          </p:nvSpPr>
          <p:spPr>
            <a:xfrm rot="-5400570" flipH="1">
              <a:off x="1792271" y="1738695"/>
              <a:ext cx="1809600" cy="10644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3" name="Google Shape;153;p11"/>
            <p:cNvCxnSpPr>
              <a:stCxn id="152" idx="2"/>
              <a:endCxn id="150" idx="0"/>
            </p:cNvCxnSpPr>
            <p:nvPr/>
          </p:nvCxnSpPr>
          <p:spPr>
            <a:xfrm>
              <a:off x="2736435" y="1371034"/>
              <a:ext cx="3585300" cy="300"/>
            </a:xfrm>
            <a:prstGeom prst="straightConnector1">
              <a:avLst/>
            </a:prstGeom>
            <a:noFill/>
            <a:ln w="19050" cap="flat" cmpd="sng">
              <a:solidFill>
                <a:srgbClr val="FFFFFF"/>
              </a:solidFill>
              <a:prstDash val="solid"/>
              <a:round/>
              <a:headEnd type="none" w="med" len="med"/>
              <a:tailEnd type="none" w="med" len="med"/>
            </a:ln>
          </p:spPr>
        </p:cxnSp>
      </p:grpSp>
      <p:cxnSp>
        <p:nvCxnSpPr>
          <p:cNvPr id="154" name="Google Shape;154;p11"/>
          <p:cNvCxnSpPr/>
          <p:nvPr/>
        </p:nvCxnSpPr>
        <p:spPr>
          <a:xfrm>
            <a:off x="5575700" y="3411150"/>
            <a:ext cx="0" cy="94200"/>
          </a:xfrm>
          <a:prstGeom prst="straightConnector1">
            <a:avLst/>
          </a:prstGeom>
          <a:noFill/>
          <a:ln w="9525" cap="flat" cmpd="sng">
            <a:solidFill>
              <a:srgbClr val="FFFFFF"/>
            </a:solidFill>
            <a:prstDash val="solid"/>
            <a:round/>
            <a:headEnd type="none" w="med" len="med"/>
            <a:tailEnd type="none" w="med" len="med"/>
          </a:ln>
        </p:spPr>
      </p:cxnSp>
      <p:sp>
        <p:nvSpPr>
          <p:cNvPr id="155" name="Google Shape;155;p11"/>
          <p:cNvSpPr txBox="1">
            <a:spLocks noGrp="1"/>
          </p:cNvSpPr>
          <p:nvPr>
            <p:ph type="title" idx="2"/>
          </p:nvPr>
        </p:nvSpPr>
        <p:spPr>
          <a:xfrm>
            <a:off x="4707450" y="3303350"/>
            <a:ext cx="7320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
        <p:nvSpPr>
          <p:cNvPr id="156" name="Google Shape;156;p11"/>
          <p:cNvSpPr txBox="1">
            <a:spLocks noGrp="1"/>
          </p:cNvSpPr>
          <p:nvPr>
            <p:ph type="title" idx="3"/>
          </p:nvPr>
        </p:nvSpPr>
        <p:spPr>
          <a:xfrm>
            <a:off x="5695200" y="3303350"/>
            <a:ext cx="14052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matchingName="51 - Chapitre [2]">
  <p:cSld name="51 - Chapitre [2]">
    <p:bg>
      <p:bgPr>
        <a:solidFill>
          <a:schemeClr val="lt1"/>
        </a:solidFill>
        <a:effectLst/>
      </p:bgPr>
    </p:bg>
    <p:spTree>
      <p:nvGrpSpPr>
        <p:cNvPr id="1" name="Shape 157"/>
        <p:cNvGrpSpPr/>
        <p:nvPr/>
      </p:nvGrpSpPr>
      <p:grpSpPr>
        <a:xfrm>
          <a:off x="0" y="0"/>
          <a:ext cx="0" cy="0"/>
          <a:chOff x="0" y="0"/>
          <a:chExt cx="0" cy="0"/>
        </a:xfrm>
      </p:grpSpPr>
      <p:sp>
        <p:nvSpPr>
          <p:cNvPr id="158" name="Google Shape;158;p12"/>
          <p:cNvSpPr/>
          <p:nvPr/>
        </p:nvSpPr>
        <p:spPr>
          <a:xfrm rot="5400000" flipH="1">
            <a:off x="1344924" y="364825"/>
            <a:ext cx="433200" cy="453000"/>
          </a:xfrm>
          <a:prstGeom prst="round2SameRect">
            <a:avLst>
              <a:gd name="adj1" fmla="val 50000"/>
              <a:gd name="adj2" fmla="val 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159" name="Google Shape;159;p12"/>
          <p:cNvSpPr/>
          <p:nvPr/>
        </p:nvSpPr>
        <p:spPr>
          <a:xfrm flipH="1">
            <a:off x="830825" y="817575"/>
            <a:ext cx="3663300" cy="3816300"/>
          </a:xfrm>
          <a:prstGeom prst="round2DiagRect">
            <a:avLst>
              <a:gd name="adj1" fmla="val 16667"/>
              <a:gd name="adj2" fmla="val 0"/>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60" name="Google Shape;160;p12"/>
          <p:cNvSpPr txBox="1">
            <a:spLocks noGrp="1"/>
          </p:cNvSpPr>
          <p:nvPr>
            <p:ph type="body" idx="1"/>
          </p:nvPr>
        </p:nvSpPr>
        <p:spPr>
          <a:xfrm>
            <a:off x="841248" y="374650"/>
            <a:ext cx="499500" cy="433200"/>
          </a:xfrm>
          <a:prstGeom prst="rect">
            <a:avLst/>
          </a:prstGeom>
          <a:noFill/>
          <a:ln>
            <a:noFill/>
          </a:ln>
        </p:spPr>
        <p:txBody>
          <a:bodyPr spcFirstLastPara="1" wrap="square" lIns="0" tIns="0" rIns="0" bIns="0" anchor="ctr" anchorCtr="0">
            <a:noAutofit/>
          </a:bodyPr>
          <a:lstStyle>
            <a:lvl1pPr marL="457200" marR="0" lvl="0"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1pPr>
            <a:lvl2pPr marL="914400" marR="0" lvl="1" indent="-317500" algn="l"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2pPr>
            <a:lvl3pPr marL="1371600" marR="0" lvl="2"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3pPr>
            <a:lvl4pPr marL="1828800" marR="0" lvl="3" indent="-317500" algn="l" rtl="0">
              <a:lnSpc>
                <a:spcPct val="100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4pPr>
            <a:lvl5pPr marL="2286000" marR="0" lvl="4"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5pPr>
            <a:lvl6pPr marL="2743200" marR="0" lvl="5" indent="-317500" algn="l"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6pPr>
            <a:lvl7pPr marL="3200400" marR="0" lvl="6"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7pPr>
            <a:lvl8pPr marL="3657600" marR="0" lvl="7" indent="-317500" algn="l" rtl="0">
              <a:lnSpc>
                <a:spcPct val="115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8pPr>
            <a:lvl9pPr marL="4114800" marR="0" lvl="8"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9pPr>
          </a:lstStyle>
          <a:p>
            <a:endParaRPr/>
          </a:p>
        </p:txBody>
      </p:sp>
      <p:sp>
        <p:nvSpPr>
          <p:cNvPr id="161" name="Google Shape;161;p12"/>
          <p:cNvSpPr txBox="1">
            <a:spLocks noGrp="1"/>
          </p:cNvSpPr>
          <p:nvPr>
            <p:ph type="title"/>
          </p:nvPr>
        </p:nvSpPr>
        <p:spPr>
          <a:xfrm>
            <a:off x="4699800" y="2685200"/>
            <a:ext cx="4164300" cy="1810200"/>
          </a:xfrm>
          <a:prstGeom prst="rect">
            <a:avLst/>
          </a:prstGeom>
          <a:noFill/>
          <a:ln>
            <a:noFill/>
          </a:ln>
        </p:spPr>
        <p:txBody>
          <a:bodyPr spcFirstLastPara="1" wrap="square" lIns="91425" tIns="91425" rIns="91425" bIns="91425" anchor="ctr" anchorCtr="0">
            <a:normAutofit/>
          </a:bodyPr>
          <a:lstStyle>
            <a:lvl1pPr marR="0" lvl="0"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1pPr>
            <a:lvl2pPr marR="0" lvl="1"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2pPr>
            <a:lvl3pPr marR="0" lvl="2"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3pPr>
            <a:lvl4pPr marR="0" lvl="3"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4pPr>
            <a:lvl5pPr marR="0" lvl="4"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5pPr>
            <a:lvl6pPr marR="0" lvl="5"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6pPr>
            <a:lvl7pPr marR="0" lvl="6"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7pPr>
            <a:lvl8pPr marR="0" lvl="7"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8pPr>
            <a:lvl9pPr marR="0" lvl="8"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9pPr>
          </a:lstStyle>
          <a:p>
            <a:endParaRPr/>
          </a:p>
        </p:txBody>
      </p:sp>
      <p:sp>
        <p:nvSpPr>
          <p:cNvPr id="162" name="Google Shape;162;p12"/>
          <p:cNvSpPr txBox="1"/>
          <p:nvPr/>
        </p:nvSpPr>
        <p:spPr>
          <a:xfrm>
            <a:off x="84600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163" name="Google Shape;163;p12"/>
          <p:cNvCxnSpPr>
            <a:stCxn id="164" idx="2"/>
          </p:cNvCxnSpPr>
          <p:nvPr/>
        </p:nvCxnSpPr>
        <p:spPr>
          <a:xfrm>
            <a:off x="86768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165" name="Google Shape;165;p12"/>
          <p:cNvSpPr/>
          <p:nvPr/>
        </p:nvSpPr>
        <p:spPr>
          <a:xfrm>
            <a:off x="86635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66" name="Google Shape;166;p12"/>
          <p:cNvCxnSpPr>
            <a:endCxn id="165" idx="2"/>
          </p:cNvCxnSpPr>
          <p:nvPr/>
        </p:nvCxnSpPr>
        <p:spPr>
          <a:xfrm rot="10800000">
            <a:off x="88641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167" name="Google Shape;167;p12"/>
          <p:cNvSpPr/>
          <p:nvPr/>
        </p:nvSpPr>
        <p:spPr>
          <a:xfrm rot="-5400000">
            <a:off x="85760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64" name="Google Shape;164;p12"/>
          <p:cNvSpPr/>
          <p:nvPr/>
        </p:nvSpPr>
        <p:spPr>
          <a:xfrm rot="-5400000" flipH="1">
            <a:off x="85760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68" name="Google Shape;168;p12"/>
          <p:cNvCxnSpPr>
            <a:stCxn id="167" idx="2"/>
            <a:endCxn id="165" idx="0"/>
          </p:cNvCxnSpPr>
          <p:nvPr/>
        </p:nvCxnSpPr>
        <p:spPr>
          <a:xfrm>
            <a:off x="86767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169" name="Google Shape;169;p12"/>
          <p:cNvSpPr/>
          <p:nvPr/>
        </p:nvSpPr>
        <p:spPr>
          <a:xfrm>
            <a:off x="497875" y="5649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70" name="Google Shape;170;p12"/>
          <p:cNvSpPr txBox="1"/>
          <p:nvPr/>
        </p:nvSpPr>
        <p:spPr>
          <a:xfrm rot="-5400000">
            <a:off x="-309195" y="423320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0E2356"/>
                </a:solidFill>
                <a:latin typeface="Outfit Medium"/>
                <a:ea typeface="Outfit Medium"/>
                <a:cs typeface="Outfit Medium"/>
                <a:sym typeface="Outfit Medium"/>
              </a:rPr>
              <a:t>THERE IS A BETTER WAY</a:t>
            </a:r>
            <a:endParaRPr sz="600" i="0" u="none" strike="noStrike" cap="none">
              <a:solidFill>
                <a:srgbClr val="0E2356"/>
              </a:solidFill>
              <a:latin typeface="Outfit Medium"/>
              <a:ea typeface="Outfit Medium"/>
              <a:cs typeface="Outfit Medium"/>
              <a:sym typeface="Outfit Medium"/>
            </a:endParaRPr>
          </a:p>
        </p:txBody>
      </p:sp>
      <p:sp>
        <p:nvSpPr>
          <p:cNvPr id="171" name="Google Shape;171;p12"/>
          <p:cNvSpPr txBox="1"/>
          <p:nvPr/>
        </p:nvSpPr>
        <p:spPr>
          <a:xfrm>
            <a:off x="2262425" y="20484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sp>
        <p:nvSpPr>
          <p:cNvPr id="172" name="Google Shape;172;p12"/>
          <p:cNvSpPr/>
          <p:nvPr/>
        </p:nvSpPr>
        <p:spPr>
          <a:xfrm flipH="1">
            <a:off x="841248" y="374725"/>
            <a:ext cx="499500" cy="433200"/>
          </a:xfrm>
          <a:prstGeom prst="round1Rect">
            <a:avLst>
              <a:gd name="adj" fmla="val 5000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700" b="1" i="0" u="none" strike="noStrike" cap="none">
              <a:solidFill>
                <a:srgbClr val="000000"/>
              </a:solidFill>
              <a:latin typeface="Outfit"/>
              <a:ea typeface="Outfit"/>
              <a:cs typeface="Outfit"/>
              <a:sym typeface="Outfit"/>
            </a:endParaRPr>
          </a:p>
        </p:txBody>
      </p:sp>
      <p:grpSp>
        <p:nvGrpSpPr>
          <p:cNvPr id="173" name="Google Shape;173;p12"/>
          <p:cNvGrpSpPr/>
          <p:nvPr/>
        </p:nvGrpSpPr>
        <p:grpSpPr>
          <a:xfrm>
            <a:off x="1450811" y="508105"/>
            <a:ext cx="170063" cy="166438"/>
            <a:chOff x="6838242" y="518225"/>
            <a:chExt cx="1247708" cy="1221114"/>
          </a:xfrm>
        </p:grpSpPr>
        <p:sp>
          <p:nvSpPr>
            <p:cNvPr id="174" name="Google Shape;174;p12"/>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75" name="Google Shape;175;p12"/>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76" name="Google Shape;176;p12"/>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matchingName="59 - There is a better way">
  <p:cSld name="59 - There is a better way">
    <p:bg>
      <p:bgPr>
        <a:solidFill>
          <a:schemeClr val="lt1"/>
        </a:solidFill>
        <a:effectLst/>
      </p:bgPr>
    </p:bg>
    <p:spTree>
      <p:nvGrpSpPr>
        <p:cNvPr id="1" name="Shape 177"/>
        <p:cNvGrpSpPr/>
        <p:nvPr/>
      </p:nvGrpSpPr>
      <p:grpSpPr>
        <a:xfrm>
          <a:off x="0" y="0"/>
          <a:ext cx="0" cy="0"/>
          <a:chOff x="0" y="0"/>
          <a:chExt cx="0" cy="0"/>
        </a:xfrm>
      </p:grpSpPr>
      <p:grpSp>
        <p:nvGrpSpPr>
          <p:cNvPr id="178" name="Google Shape;178;p13"/>
          <p:cNvGrpSpPr/>
          <p:nvPr/>
        </p:nvGrpSpPr>
        <p:grpSpPr>
          <a:xfrm>
            <a:off x="290068" y="235357"/>
            <a:ext cx="345989" cy="338615"/>
            <a:chOff x="6838242" y="518225"/>
            <a:chExt cx="1247708" cy="1221114"/>
          </a:xfrm>
        </p:grpSpPr>
        <p:sp>
          <p:nvSpPr>
            <p:cNvPr id="179" name="Google Shape;179;p13"/>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80" name="Google Shape;180;p13"/>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81" name="Google Shape;181;p13"/>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pic>
        <p:nvPicPr>
          <p:cNvPr id="182" name="Google Shape;182;p13"/>
          <p:cNvPicPr preferRelativeResize="0"/>
          <p:nvPr/>
        </p:nvPicPr>
        <p:blipFill>
          <a:blip r:embed="rId2">
            <a:alphaModFix/>
          </a:blip>
          <a:stretch>
            <a:fillRect/>
          </a:stretch>
        </p:blipFill>
        <p:spPr>
          <a:xfrm>
            <a:off x="3736975" y="3307206"/>
            <a:ext cx="1670077" cy="829069"/>
          </a:xfrm>
          <a:prstGeom prst="rect">
            <a:avLst/>
          </a:prstGeom>
          <a:noFill/>
          <a:ln>
            <a:noFill/>
          </a:ln>
        </p:spPr>
      </p:pic>
      <p:pic>
        <p:nvPicPr>
          <p:cNvPr id="183" name="Google Shape;183;p13"/>
          <p:cNvPicPr preferRelativeResize="0"/>
          <p:nvPr/>
        </p:nvPicPr>
        <p:blipFill rotWithShape="1">
          <a:blip r:embed="rId3">
            <a:alphaModFix/>
          </a:blip>
          <a:srcRect l="17993" t="18848" r="18089" b="13862"/>
          <a:stretch/>
        </p:blipFill>
        <p:spPr>
          <a:xfrm>
            <a:off x="3589050" y="1007225"/>
            <a:ext cx="1965925" cy="2069625"/>
          </a:xfrm>
          <a:prstGeom prst="rect">
            <a:avLst/>
          </a:prstGeom>
          <a:noFill/>
          <a:ln>
            <a:noFill/>
          </a:ln>
        </p:spPr>
      </p:pic>
      <p:sp>
        <p:nvSpPr>
          <p:cNvPr id="184" name="Google Shape;184;p13"/>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matchingName="60 - Titre et visuel">
  <p:cSld name="60 - Titre et visuel">
    <p:bg>
      <p:bgPr>
        <a:solidFill>
          <a:schemeClr val="lt1"/>
        </a:solidFill>
        <a:effectLst/>
      </p:bgPr>
    </p:bg>
    <p:spTree>
      <p:nvGrpSpPr>
        <p:cNvPr id="1" name="Shape 185"/>
        <p:cNvGrpSpPr/>
        <p:nvPr/>
      </p:nvGrpSpPr>
      <p:grpSpPr>
        <a:xfrm>
          <a:off x="0" y="0"/>
          <a:ext cx="0" cy="0"/>
          <a:chOff x="0" y="0"/>
          <a:chExt cx="0" cy="0"/>
        </a:xfrm>
      </p:grpSpPr>
      <p:pic>
        <p:nvPicPr>
          <p:cNvPr id="186" name="Google Shape;186;p14"/>
          <p:cNvPicPr preferRelativeResize="0"/>
          <p:nvPr/>
        </p:nvPicPr>
        <p:blipFill rotWithShape="1">
          <a:blip r:embed="rId2">
            <a:alphaModFix/>
          </a:blip>
          <a:srcRect/>
          <a:stretch/>
        </p:blipFill>
        <p:spPr>
          <a:xfrm>
            <a:off x="57149" y="52400"/>
            <a:ext cx="156325" cy="156600"/>
          </a:xfrm>
          <a:prstGeom prst="rect">
            <a:avLst/>
          </a:prstGeom>
          <a:noFill/>
          <a:ln>
            <a:noFill/>
          </a:ln>
        </p:spPr>
      </p:pic>
      <p:sp>
        <p:nvSpPr>
          <p:cNvPr id="187" name="Google Shape;187;p14"/>
          <p:cNvSpPr txBox="1">
            <a:spLocks noGrp="1"/>
          </p:cNvSpPr>
          <p:nvPr>
            <p:ph type="title"/>
          </p:nvPr>
        </p:nvSpPr>
        <p:spPr>
          <a:xfrm>
            <a:off x="562550" y="382375"/>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188" name="Google Shape;188;p14"/>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189" name="Google Shape;189;p14"/>
          <p:cNvCxnSpPr>
            <a:stCxn id="190"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191" name="Google Shape;191;p14"/>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92" name="Google Shape;192;p14"/>
          <p:cNvCxnSpPr>
            <a:endCxn id="191"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193" name="Google Shape;193;p14"/>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90" name="Google Shape;190;p14"/>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94" name="Google Shape;194;p14"/>
          <p:cNvCxnSpPr>
            <a:stCxn id="193" idx="2"/>
            <a:endCxn id="191"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195" name="Google Shape;195;p14"/>
          <p:cNvSpPr>
            <a:spLocks noGrp="1"/>
          </p:cNvSpPr>
          <p:nvPr>
            <p:ph type="pic" idx="2"/>
          </p:nvPr>
        </p:nvSpPr>
        <p:spPr>
          <a:xfrm>
            <a:off x="528800" y="732450"/>
            <a:ext cx="8019000" cy="4131600"/>
          </a:xfrm>
          <a:prstGeom prst="rect">
            <a:avLst/>
          </a:prstGeom>
          <a:noFill/>
          <a:ln w="9525" cap="flat" cmpd="sng">
            <a:solidFill>
              <a:srgbClr val="000000"/>
            </a:solidFill>
            <a:prstDash val="solid"/>
            <a:round/>
            <a:headEnd type="none" w="sm" len="sm"/>
            <a:tailEnd type="none" w="sm" len="sm"/>
          </a:ln>
        </p:spPr>
      </p:sp>
      <p:sp>
        <p:nvSpPr>
          <p:cNvPr id="196" name="Google Shape;196;p14"/>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matchingName="61 - Titre, sous-titre et visuel">
  <p:cSld name="61 - Titre, sous-titre et visuel">
    <p:bg>
      <p:bgPr>
        <a:solidFill>
          <a:schemeClr val="lt1"/>
        </a:solidFill>
        <a:effectLst/>
      </p:bgPr>
    </p:bg>
    <p:spTree>
      <p:nvGrpSpPr>
        <p:cNvPr id="1" name="Shape 197"/>
        <p:cNvGrpSpPr/>
        <p:nvPr/>
      </p:nvGrpSpPr>
      <p:grpSpPr>
        <a:xfrm>
          <a:off x="0" y="0"/>
          <a:ext cx="0" cy="0"/>
          <a:chOff x="0" y="0"/>
          <a:chExt cx="0" cy="0"/>
        </a:xfrm>
      </p:grpSpPr>
      <p:sp>
        <p:nvSpPr>
          <p:cNvPr id="198" name="Google Shape;198;p15"/>
          <p:cNvSpPr/>
          <p:nvPr/>
        </p:nvSpPr>
        <p:spPr>
          <a:xfrm>
            <a:off x="213475" y="208900"/>
            <a:ext cx="8715600" cy="4728600"/>
          </a:xfrm>
          <a:prstGeom prst="roundRect">
            <a:avLst>
              <a:gd name="adj" fmla="val 1616"/>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pic>
        <p:nvPicPr>
          <p:cNvPr id="199" name="Google Shape;199;p15"/>
          <p:cNvPicPr preferRelativeResize="0"/>
          <p:nvPr/>
        </p:nvPicPr>
        <p:blipFill rotWithShape="1">
          <a:blip r:embed="rId2">
            <a:alphaModFix/>
          </a:blip>
          <a:srcRect/>
          <a:stretch/>
        </p:blipFill>
        <p:spPr>
          <a:xfrm>
            <a:off x="57149" y="52400"/>
            <a:ext cx="156325" cy="156600"/>
          </a:xfrm>
          <a:prstGeom prst="rect">
            <a:avLst/>
          </a:prstGeom>
          <a:noFill/>
          <a:ln>
            <a:noFill/>
          </a:ln>
        </p:spPr>
      </p:pic>
      <p:sp>
        <p:nvSpPr>
          <p:cNvPr id="200" name="Google Shape;200;p15"/>
          <p:cNvSpPr txBox="1"/>
          <p:nvPr/>
        </p:nvSpPr>
        <p:spPr>
          <a:xfrm rot="-5400000">
            <a:off x="8770600" y="2458900"/>
            <a:ext cx="5487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fld id="{00000000-1234-1234-1234-123412341234}" type="slidenum">
              <a:rPr lang="en-US" sz="800" b="0" i="0" u="none" strike="noStrike" cap="none">
                <a:solidFill>
                  <a:schemeClr val="dk1"/>
                </a:solidFill>
                <a:latin typeface="Outfit Light"/>
                <a:ea typeface="Outfit Light"/>
                <a:cs typeface="Outfit Light"/>
                <a:sym typeface="Outfit Light"/>
              </a:rPr>
              <a:t>‹#›</a:t>
            </a:fld>
            <a:endParaRPr sz="800" b="0" i="0" u="none" strike="noStrike" cap="none">
              <a:solidFill>
                <a:schemeClr val="dk1"/>
              </a:solidFill>
              <a:latin typeface="Outfit Light"/>
              <a:ea typeface="Outfit Light"/>
              <a:cs typeface="Outfit Light"/>
              <a:sym typeface="Outfit Light"/>
            </a:endParaRPr>
          </a:p>
        </p:txBody>
      </p:sp>
      <p:sp>
        <p:nvSpPr>
          <p:cNvPr id="201" name="Google Shape;201;p15"/>
          <p:cNvSpPr txBox="1"/>
          <p:nvPr/>
        </p:nvSpPr>
        <p:spPr>
          <a:xfrm rot="-5400000">
            <a:off x="-514095" y="2533275"/>
            <a:ext cx="1236600" cy="215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650"/>
              <a:buFont typeface="Outfit"/>
              <a:buNone/>
            </a:pPr>
            <a:r>
              <a:rPr lang="en-US" sz="650" b="0" i="0" u="none" strike="noStrike" cap="none">
                <a:solidFill>
                  <a:schemeClr val="dk1"/>
                </a:solidFill>
                <a:latin typeface="Outfit"/>
                <a:ea typeface="Outfit"/>
                <a:cs typeface="Outfit"/>
                <a:sym typeface="Outfit"/>
              </a:rPr>
              <a:t>There is a better way</a:t>
            </a:r>
            <a:endParaRPr sz="650" b="0" i="0" u="none" strike="noStrike" cap="none">
              <a:solidFill>
                <a:schemeClr val="dk1"/>
              </a:solidFill>
              <a:latin typeface="Outfit"/>
              <a:ea typeface="Outfit"/>
              <a:cs typeface="Outfit"/>
              <a:sym typeface="Outfit"/>
            </a:endParaRPr>
          </a:p>
        </p:txBody>
      </p:sp>
      <p:sp>
        <p:nvSpPr>
          <p:cNvPr id="202" name="Google Shape;202;p15"/>
          <p:cNvSpPr/>
          <p:nvPr/>
        </p:nvSpPr>
        <p:spPr>
          <a:xfrm>
            <a:off x="6682750" y="4939025"/>
            <a:ext cx="2335200" cy="204600"/>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000000"/>
              </a:buClr>
              <a:buSzPts val="600"/>
              <a:buFont typeface="Outfit"/>
              <a:buNone/>
            </a:pPr>
            <a:r>
              <a:rPr lang="en-US" sz="600" b="0" i="0" u="none" strike="noStrike" cap="none">
                <a:solidFill>
                  <a:schemeClr val="dk1"/>
                </a:solidFill>
                <a:latin typeface="Outfit"/>
                <a:ea typeface="Outfit"/>
                <a:cs typeface="Outfit"/>
                <a:sym typeface="Outfit"/>
              </a:rPr>
              <a:t>OCTO Part of Accenture © 2023- All rights reserved</a:t>
            </a:r>
            <a:endParaRPr sz="600" b="0" i="0" u="none" strike="noStrike" cap="none">
              <a:solidFill>
                <a:schemeClr val="dk1"/>
              </a:solidFill>
              <a:latin typeface="Outfit"/>
              <a:ea typeface="Outfit"/>
              <a:cs typeface="Outfit"/>
              <a:sym typeface="Outfit"/>
            </a:endParaRPr>
          </a:p>
        </p:txBody>
      </p:sp>
      <p:sp>
        <p:nvSpPr>
          <p:cNvPr id="203" name="Google Shape;203;p15"/>
          <p:cNvSpPr txBox="1">
            <a:spLocks noGrp="1"/>
          </p:cNvSpPr>
          <p:nvPr>
            <p:ph type="title"/>
          </p:nvPr>
        </p:nvSpPr>
        <p:spPr>
          <a:xfrm>
            <a:off x="574050" y="361400"/>
            <a:ext cx="80079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204" name="Google Shape;204;p15"/>
          <p:cNvSpPr txBox="1">
            <a:spLocks noGrp="1"/>
          </p:cNvSpPr>
          <p:nvPr>
            <p:ph type="subTitle" idx="1"/>
          </p:nvPr>
        </p:nvSpPr>
        <p:spPr>
          <a:xfrm>
            <a:off x="557250" y="830200"/>
            <a:ext cx="80415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205" name="Google Shape;205;p15"/>
          <p:cNvSpPr>
            <a:spLocks noGrp="1"/>
          </p:cNvSpPr>
          <p:nvPr>
            <p:ph type="pic" idx="2"/>
          </p:nvPr>
        </p:nvSpPr>
        <p:spPr>
          <a:xfrm>
            <a:off x="545225" y="1257950"/>
            <a:ext cx="8041500" cy="3606600"/>
          </a:xfrm>
          <a:prstGeom prst="rect">
            <a:avLst/>
          </a:prstGeom>
          <a:noFill/>
          <a:ln>
            <a:noFill/>
          </a:ln>
        </p:spPr>
      </p:sp>
      <p:sp>
        <p:nvSpPr>
          <p:cNvPr id="206" name="Google Shape;206;p15"/>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matchingName="62 - Visuel seul">
  <p:cSld name="62 - Visuel seul">
    <p:bg>
      <p:bgPr>
        <a:solidFill>
          <a:schemeClr val="lt1"/>
        </a:solidFill>
        <a:effectLst/>
      </p:bgPr>
    </p:bg>
    <p:spTree>
      <p:nvGrpSpPr>
        <p:cNvPr id="1" name="Shape 207"/>
        <p:cNvGrpSpPr/>
        <p:nvPr/>
      </p:nvGrpSpPr>
      <p:grpSpPr>
        <a:xfrm>
          <a:off x="0" y="0"/>
          <a:ext cx="0" cy="0"/>
          <a:chOff x="0" y="0"/>
          <a:chExt cx="0" cy="0"/>
        </a:xfrm>
      </p:grpSpPr>
      <p:pic>
        <p:nvPicPr>
          <p:cNvPr id="208" name="Google Shape;208;p16"/>
          <p:cNvPicPr preferRelativeResize="0"/>
          <p:nvPr/>
        </p:nvPicPr>
        <p:blipFill rotWithShape="1">
          <a:blip r:embed="rId2">
            <a:alphaModFix/>
          </a:blip>
          <a:srcRect/>
          <a:stretch/>
        </p:blipFill>
        <p:spPr>
          <a:xfrm>
            <a:off x="57149" y="52400"/>
            <a:ext cx="156325" cy="156600"/>
          </a:xfrm>
          <a:prstGeom prst="rect">
            <a:avLst/>
          </a:prstGeom>
          <a:noFill/>
          <a:ln>
            <a:noFill/>
          </a:ln>
        </p:spPr>
      </p:pic>
      <p:sp>
        <p:nvSpPr>
          <p:cNvPr id="209" name="Google Shape;209;p16"/>
          <p:cNvSpPr>
            <a:spLocks noGrp="1"/>
          </p:cNvSpPr>
          <p:nvPr>
            <p:ph type="pic" idx="2"/>
          </p:nvPr>
        </p:nvSpPr>
        <p:spPr>
          <a:xfrm>
            <a:off x="3275" y="-23000"/>
            <a:ext cx="9144000" cy="5143500"/>
          </a:xfrm>
          <a:prstGeom prst="rect">
            <a:avLst/>
          </a:prstGeom>
          <a:noFill/>
          <a:ln>
            <a:noFill/>
          </a:ln>
        </p:spPr>
      </p:sp>
      <p:sp>
        <p:nvSpPr>
          <p:cNvPr id="210" name="Google Shape;210;p16"/>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matchingName="63 - Titre, contenu et visuel à droite - cadre blanc">
  <p:cSld name="63 - Titre, contenu et visuel à droite - cadre blanc">
    <p:spTree>
      <p:nvGrpSpPr>
        <p:cNvPr id="1" name="Shape 211"/>
        <p:cNvGrpSpPr/>
        <p:nvPr/>
      </p:nvGrpSpPr>
      <p:grpSpPr>
        <a:xfrm>
          <a:off x="0" y="0"/>
          <a:ext cx="0" cy="0"/>
          <a:chOff x="0" y="0"/>
          <a:chExt cx="0" cy="0"/>
        </a:xfrm>
      </p:grpSpPr>
      <p:grpSp>
        <p:nvGrpSpPr>
          <p:cNvPr id="212" name="Google Shape;212;p17"/>
          <p:cNvGrpSpPr/>
          <p:nvPr/>
        </p:nvGrpSpPr>
        <p:grpSpPr>
          <a:xfrm>
            <a:off x="6270019" y="304800"/>
            <a:ext cx="2593200" cy="3705000"/>
            <a:chOff x="6270019" y="304800"/>
            <a:chExt cx="2593200" cy="3705000"/>
          </a:xfrm>
        </p:grpSpPr>
        <p:sp>
          <p:nvSpPr>
            <p:cNvPr id="213" name="Google Shape;213;p17"/>
            <p:cNvSpPr/>
            <p:nvPr/>
          </p:nvSpPr>
          <p:spPr>
            <a:xfrm>
              <a:off x="6270019"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4" name="Google Shape;214;p17"/>
            <p:cNvSpPr txBox="1"/>
            <p:nvPr/>
          </p:nvSpPr>
          <p:spPr>
            <a:xfrm>
              <a:off x="7110475" y="1593700"/>
              <a:ext cx="800100" cy="1046700"/>
            </a:xfrm>
            <a:prstGeom prst="rect">
              <a:avLst/>
            </a:prstGeom>
            <a:solidFill>
              <a:schemeClr val="accent6"/>
            </a:solid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215" name="Google Shape;215;p17"/>
          <p:cNvGrpSpPr/>
          <p:nvPr/>
        </p:nvGrpSpPr>
        <p:grpSpPr>
          <a:xfrm>
            <a:off x="276303" y="295049"/>
            <a:ext cx="8682472" cy="4585476"/>
            <a:chOff x="276303" y="295049"/>
            <a:chExt cx="8682472" cy="4585476"/>
          </a:xfrm>
        </p:grpSpPr>
        <p:sp>
          <p:nvSpPr>
            <p:cNvPr id="216" name="Google Shape;216;p17"/>
            <p:cNvSpPr/>
            <p:nvPr/>
          </p:nvSpPr>
          <p:spPr>
            <a:xfrm>
              <a:off x="276303" y="295049"/>
              <a:ext cx="163500" cy="1635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7" name="Google Shape;217;p17"/>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18" name="Google Shape;218;p17"/>
            <p:cNvCxnSpPr>
              <a:stCxn id="219"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20" name="Google Shape;220;p17"/>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21" name="Google Shape;221;p17"/>
            <p:cNvCxnSpPr>
              <a:endCxn id="220"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22" name="Google Shape;222;p17"/>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9" name="Google Shape;219;p17"/>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23" name="Google Shape;223;p17"/>
            <p:cNvCxnSpPr>
              <a:stCxn id="222" idx="2"/>
              <a:endCxn id="220"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224" name="Google Shape;224;p17"/>
          <p:cNvSpPr txBox="1">
            <a:spLocks noGrp="1"/>
          </p:cNvSpPr>
          <p:nvPr>
            <p:ph type="body" idx="1"/>
          </p:nvPr>
        </p:nvSpPr>
        <p:spPr>
          <a:xfrm>
            <a:off x="562825" y="817275"/>
            <a:ext cx="5305500" cy="40521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25" name="Google Shape;225;p17"/>
          <p:cNvSpPr txBox="1">
            <a:spLocks noGrp="1"/>
          </p:cNvSpPr>
          <p:nvPr>
            <p:ph type="title"/>
          </p:nvPr>
        </p:nvSpPr>
        <p:spPr>
          <a:xfrm>
            <a:off x="562825" y="357529"/>
            <a:ext cx="53055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grpSp>
        <p:nvGrpSpPr>
          <p:cNvPr id="226" name="Google Shape;226;p17"/>
          <p:cNvGrpSpPr/>
          <p:nvPr/>
        </p:nvGrpSpPr>
        <p:grpSpPr>
          <a:xfrm>
            <a:off x="364209" y="292130"/>
            <a:ext cx="82155" cy="82230"/>
            <a:chOff x="7483200" y="518225"/>
            <a:chExt cx="602750" cy="603300"/>
          </a:xfrm>
        </p:grpSpPr>
        <p:sp>
          <p:nvSpPr>
            <p:cNvPr id="227" name="Google Shape;227;p17"/>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28" name="Google Shape;228;p17"/>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29" name="Google Shape;229;p17"/>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matchingName="64 - Titre, sous-titre, contenu et visuel à droite - cadre blanc">
  <p:cSld name="64 - Titre, sous-titre, contenu et visuel à droite - cadre blanc">
    <p:spTree>
      <p:nvGrpSpPr>
        <p:cNvPr id="1" name="Shape 230"/>
        <p:cNvGrpSpPr/>
        <p:nvPr/>
      </p:nvGrpSpPr>
      <p:grpSpPr>
        <a:xfrm>
          <a:off x="0" y="0"/>
          <a:ext cx="0" cy="0"/>
          <a:chOff x="0" y="0"/>
          <a:chExt cx="0" cy="0"/>
        </a:xfrm>
      </p:grpSpPr>
      <p:grpSp>
        <p:nvGrpSpPr>
          <p:cNvPr id="231" name="Google Shape;231;p18"/>
          <p:cNvGrpSpPr/>
          <p:nvPr/>
        </p:nvGrpSpPr>
        <p:grpSpPr>
          <a:xfrm>
            <a:off x="6270019" y="304800"/>
            <a:ext cx="2593200" cy="3705000"/>
            <a:chOff x="6270019" y="304800"/>
            <a:chExt cx="2593200" cy="3705000"/>
          </a:xfrm>
        </p:grpSpPr>
        <p:sp>
          <p:nvSpPr>
            <p:cNvPr id="232" name="Google Shape;232;p18"/>
            <p:cNvSpPr/>
            <p:nvPr/>
          </p:nvSpPr>
          <p:spPr>
            <a:xfrm>
              <a:off x="6270019"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33" name="Google Shape;233;p18"/>
            <p:cNvSpPr txBox="1"/>
            <p:nvPr/>
          </p:nvSpPr>
          <p:spPr>
            <a:xfrm>
              <a:off x="7110475" y="1593700"/>
              <a:ext cx="800100" cy="1046700"/>
            </a:xfrm>
            <a:prstGeom prst="rect">
              <a:avLst/>
            </a:prstGeom>
            <a:solidFill>
              <a:schemeClr val="accent6"/>
            </a:solid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234" name="Google Shape;234;p18"/>
          <p:cNvGrpSpPr/>
          <p:nvPr/>
        </p:nvGrpSpPr>
        <p:grpSpPr>
          <a:xfrm>
            <a:off x="276303" y="295049"/>
            <a:ext cx="8682472" cy="4585476"/>
            <a:chOff x="276303" y="295049"/>
            <a:chExt cx="8682472" cy="4585476"/>
          </a:xfrm>
        </p:grpSpPr>
        <p:cxnSp>
          <p:nvCxnSpPr>
            <p:cNvPr id="235" name="Google Shape;235;p18"/>
            <p:cNvCxnSpPr>
              <a:stCxn id="236" idx="2"/>
              <a:endCxn id="237"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nvGrpSpPr>
            <p:cNvPr id="238" name="Google Shape;238;p18"/>
            <p:cNvGrpSpPr/>
            <p:nvPr/>
          </p:nvGrpSpPr>
          <p:grpSpPr>
            <a:xfrm>
              <a:off x="276303" y="295049"/>
              <a:ext cx="8682472" cy="4585476"/>
              <a:chOff x="276303" y="295049"/>
              <a:chExt cx="8682472" cy="4585476"/>
            </a:xfrm>
          </p:grpSpPr>
          <p:sp>
            <p:nvSpPr>
              <p:cNvPr id="239" name="Google Shape;239;p18"/>
              <p:cNvSpPr/>
              <p:nvPr/>
            </p:nvSpPr>
            <p:spPr>
              <a:xfrm>
                <a:off x="276303" y="295049"/>
                <a:ext cx="163500" cy="1635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40" name="Google Shape;240;p18"/>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41" name="Google Shape;241;p18"/>
              <p:cNvCxnSpPr>
                <a:stCxn id="242"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37" name="Google Shape;237;p18"/>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43" name="Google Shape;243;p18"/>
              <p:cNvCxnSpPr>
                <a:endCxn id="237"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36" name="Google Shape;236;p18"/>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42" name="Google Shape;242;p18"/>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grpSp>
      <p:sp>
        <p:nvSpPr>
          <p:cNvPr id="244" name="Google Shape;244;p18"/>
          <p:cNvSpPr txBox="1">
            <a:spLocks noGrp="1"/>
          </p:cNvSpPr>
          <p:nvPr>
            <p:ph type="body" idx="1"/>
          </p:nvPr>
        </p:nvSpPr>
        <p:spPr>
          <a:xfrm>
            <a:off x="562800" y="1273200"/>
            <a:ext cx="5305500" cy="3591600"/>
          </a:xfrm>
          <a:prstGeom prst="rect">
            <a:avLst/>
          </a:prstGeom>
          <a:noFill/>
          <a:ln>
            <a:noFill/>
          </a:ln>
        </p:spPr>
        <p:txBody>
          <a:bodyPr spcFirstLastPara="1" wrap="square" lIns="0" tIns="180000" rIns="0"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45" name="Google Shape;245;p18"/>
          <p:cNvSpPr txBox="1">
            <a:spLocks noGrp="1"/>
          </p:cNvSpPr>
          <p:nvPr>
            <p:ph type="subTitle" idx="2"/>
          </p:nvPr>
        </p:nvSpPr>
        <p:spPr>
          <a:xfrm>
            <a:off x="571015" y="778000"/>
            <a:ext cx="5305500" cy="3240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246" name="Google Shape;246;p18"/>
          <p:cNvSpPr txBox="1">
            <a:spLocks noGrp="1"/>
          </p:cNvSpPr>
          <p:nvPr>
            <p:ph type="title"/>
          </p:nvPr>
        </p:nvSpPr>
        <p:spPr>
          <a:xfrm>
            <a:off x="562825" y="361400"/>
            <a:ext cx="53055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grpSp>
        <p:nvGrpSpPr>
          <p:cNvPr id="247" name="Google Shape;247;p18"/>
          <p:cNvGrpSpPr/>
          <p:nvPr/>
        </p:nvGrpSpPr>
        <p:grpSpPr>
          <a:xfrm>
            <a:off x="276301" y="295049"/>
            <a:ext cx="163560" cy="163519"/>
            <a:chOff x="6838242" y="539639"/>
            <a:chExt cx="1200000" cy="1199700"/>
          </a:xfrm>
        </p:grpSpPr>
        <p:sp>
          <p:nvSpPr>
            <p:cNvPr id="248" name="Google Shape;248;p18"/>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49" name="Google Shape;249;p18"/>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50" name="Google Shape;250;p18"/>
          <p:cNvSpPr/>
          <p:nvPr/>
        </p:nvSpPr>
        <p:spPr>
          <a:xfrm>
            <a:off x="417004" y="292130"/>
            <a:ext cx="29400" cy="29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51" name="Google Shape;251;p18"/>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matchingName="65 - Titre, contenu, visuel à droite et bloc conclu - cadre blanc">
  <p:cSld name="65 - Titre, contenu, visuel à droite et bloc conclu - cadre blanc">
    <p:spTree>
      <p:nvGrpSpPr>
        <p:cNvPr id="1" name="Shape 252"/>
        <p:cNvGrpSpPr/>
        <p:nvPr/>
      </p:nvGrpSpPr>
      <p:grpSpPr>
        <a:xfrm>
          <a:off x="0" y="0"/>
          <a:ext cx="0" cy="0"/>
          <a:chOff x="0" y="0"/>
          <a:chExt cx="0" cy="0"/>
        </a:xfrm>
      </p:grpSpPr>
      <p:grpSp>
        <p:nvGrpSpPr>
          <p:cNvPr id="253" name="Google Shape;253;p19"/>
          <p:cNvGrpSpPr/>
          <p:nvPr/>
        </p:nvGrpSpPr>
        <p:grpSpPr>
          <a:xfrm rot="10800000">
            <a:off x="5754900" y="3471525"/>
            <a:ext cx="1392300" cy="1392300"/>
            <a:chOff x="7475475" y="301725"/>
            <a:chExt cx="1392300" cy="1392300"/>
          </a:xfrm>
        </p:grpSpPr>
        <p:sp>
          <p:nvSpPr>
            <p:cNvPr id="254" name="Google Shape;254;p19"/>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55" name="Google Shape;255;p19"/>
            <p:cNvSpPr txBox="1"/>
            <p:nvPr/>
          </p:nvSpPr>
          <p:spPr>
            <a:xfrm rot="10800000">
              <a:off x="7776288" y="55385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256" name="Google Shape;256;p19"/>
          <p:cNvSpPr/>
          <p:nvPr/>
        </p:nvSpPr>
        <p:spPr>
          <a:xfrm>
            <a:off x="6549661" y="30172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257" name="Google Shape;257;p19"/>
          <p:cNvGrpSpPr/>
          <p:nvPr/>
        </p:nvGrpSpPr>
        <p:grpSpPr>
          <a:xfrm>
            <a:off x="276303" y="295049"/>
            <a:ext cx="8682472" cy="4585476"/>
            <a:chOff x="276303" y="295049"/>
            <a:chExt cx="8682472" cy="4585476"/>
          </a:xfrm>
        </p:grpSpPr>
        <p:sp>
          <p:nvSpPr>
            <p:cNvPr id="258" name="Google Shape;258;p19"/>
            <p:cNvSpPr/>
            <p:nvPr/>
          </p:nvSpPr>
          <p:spPr>
            <a:xfrm>
              <a:off x="276303" y="295049"/>
              <a:ext cx="163500" cy="1635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59" name="Google Shape;259;p19"/>
            <p:cNvCxnSpPr>
              <a:stCxn id="260"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61" name="Google Shape;261;p19"/>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62" name="Google Shape;262;p19"/>
            <p:cNvCxnSpPr>
              <a:endCxn id="261"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63" name="Google Shape;263;p19"/>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60" name="Google Shape;260;p19"/>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64" name="Google Shape;264;p19"/>
            <p:cNvCxnSpPr>
              <a:stCxn id="263" idx="2"/>
              <a:endCxn id="261"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265" name="Google Shape;265;p19"/>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grpSp>
      <p:sp>
        <p:nvSpPr>
          <p:cNvPr id="266" name="Google Shape;266;p19"/>
          <p:cNvSpPr txBox="1">
            <a:spLocks noGrp="1"/>
          </p:cNvSpPr>
          <p:nvPr>
            <p:ph type="body" idx="1"/>
          </p:nvPr>
        </p:nvSpPr>
        <p:spPr>
          <a:xfrm>
            <a:off x="562775" y="817275"/>
            <a:ext cx="4790400" cy="40521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67" name="Google Shape;267;p19"/>
          <p:cNvSpPr txBox="1">
            <a:spLocks noGrp="1"/>
          </p:cNvSpPr>
          <p:nvPr>
            <p:ph type="title"/>
          </p:nvPr>
        </p:nvSpPr>
        <p:spPr>
          <a:xfrm>
            <a:off x="562825" y="361375"/>
            <a:ext cx="47904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268" name="Google Shape;268;p19"/>
          <p:cNvSpPr txBox="1">
            <a:spLocks noGrp="1"/>
          </p:cNvSpPr>
          <p:nvPr>
            <p:ph type="body" idx="2"/>
          </p:nvPr>
        </p:nvSpPr>
        <p:spPr>
          <a:xfrm>
            <a:off x="6920978" y="765250"/>
            <a:ext cx="1699500" cy="2085900"/>
          </a:xfrm>
          <a:prstGeom prst="rect">
            <a:avLst/>
          </a:prstGeom>
          <a:noFill/>
          <a:ln>
            <a:noFill/>
          </a:ln>
        </p:spPr>
        <p:txBody>
          <a:bodyPr spcFirstLastPara="1" wrap="square" lIns="0"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cxnSp>
        <p:nvCxnSpPr>
          <p:cNvPr id="269" name="Google Shape;269;p19"/>
          <p:cNvCxnSpPr/>
          <p:nvPr/>
        </p:nvCxnSpPr>
        <p:spPr>
          <a:xfrm>
            <a:off x="8867775" y="434100"/>
            <a:ext cx="0" cy="1588800"/>
          </a:xfrm>
          <a:prstGeom prst="straightConnector1">
            <a:avLst/>
          </a:prstGeom>
          <a:noFill/>
          <a:ln w="9525" cap="flat" cmpd="sng">
            <a:solidFill>
              <a:schemeClr val="dk2"/>
            </a:solidFill>
            <a:prstDash val="solid"/>
            <a:round/>
            <a:headEnd type="none" w="med" len="med"/>
            <a:tailEnd type="none" w="med" len="med"/>
          </a:ln>
        </p:spPr>
      </p:cxnSp>
      <p:sp>
        <p:nvSpPr>
          <p:cNvPr id="270" name="Google Shape;270;p19"/>
          <p:cNvSpPr/>
          <p:nvPr/>
        </p:nvSpPr>
        <p:spPr>
          <a:xfrm>
            <a:off x="417004" y="292130"/>
            <a:ext cx="29400" cy="29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71" name="Google Shape;271;p19"/>
          <p:cNvSpPr/>
          <p:nvPr/>
        </p:nvSpPr>
        <p:spPr>
          <a:xfrm>
            <a:off x="364209" y="345001"/>
            <a:ext cx="29400" cy="29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72" name="Google Shape;272;p19"/>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matchingName="66 - Titre, sous-titre, contenu, visuel à droite et bloc conclu - cadre blanc">
  <p:cSld name="66 - Titre, sous-titre, contenu, visuel à droite et bloc conclu - cadre blanc">
    <p:spTree>
      <p:nvGrpSpPr>
        <p:cNvPr id="1" name="Shape 273"/>
        <p:cNvGrpSpPr/>
        <p:nvPr/>
      </p:nvGrpSpPr>
      <p:grpSpPr>
        <a:xfrm>
          <a:off x="0" y="0"/>
          <a:ext cx="0" cy="0"/>
          <a:chOff x="0" y="0"/>
          <a:chExt cx="0" cy="0"/>
        </a:xfrm>
      </p:grpSpPr>
      <p:sp>
        <p:nvSpPr>
          <p:cNvPr id="274" name="Google Shape;274;p20"/>
          <p:cNvSpPr txBox="1">
            <a:spLocks noGrp="1"/>
          </p:cNvSpPr>
          <p:nvPr>
            <p:ph type="body" idx="1"/>
          </p:nvPr>
        </p:nvSpPr>
        <p:spPr>
          <a:xfrm>
            <a:off x="562825" y="1267800"/>
            <a:ext cx="4790400" cy="35961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75" name="Google Shape;275;p20"/>
          <p:cNvSpPr txBox="1">
            <a:spLocks noGrp="1"/>
          </p:cNvSpPr>
          <p:nvPr>
            <p:ph type="subTitle" idx="2"/>
          </p:nvPr>
        </p:nvSpPr>
        <p:spPr>
          <a:xfrm>
            <a:off x="571015" y="777619"/>
            <a:ext cx="47904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276" name="Google Shape;276;p20"/>
          <p:cNvSpPr txBox="1">
            <a:spLocks noGrp="1"/>
          </p:cNvSpPr>
          <p:nvPr>
            <p:ph type="title"/>
          </p:nvPr>
        </p:nvSpPr>
        <p:spPr>
          <a:xfrm>
            <a:off x="562825" y="367000"/>
            <a:ext cx="4790400" cy="3240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grpSp>
        <p:nvGrpSpPr>
          <p:cNvPr id="277" name="Google Shape;277;p20"/>
          <p:cNvGrpSpPr/>
          <p:nvPr/>
        </p:nvGrpSpPr>
        <p:grpSpPr>
          <a:xfrm>
            <a:off x="276301" y="292130"/>
            <a:ext cx="8682474" cy="4588395"/>
            <a:chOff x="276301" y="292130"/>
            <a:chExt cx="8682474" cy="4588395"/>
          </a:xfrm>
        </p:grpSpPr>
        <p:grpSp>
          <p:nvGrpSpPr>
            <p:cNvPr id="278" name="Google Shape;278;p20"/>
            <p:cNvGrpSpPr/>
            <p:nvPr/>
          </p:nvGrpSpPr>
          <p:grpSpPr>
            <a:xfrm>
              <a:off x="276301" y="292130"/>
              <a:ext cx="170063" cy="166438"/>
              <a:chOff x="6838242" y="518225"/>
              <a:chExt cx="1247708" cy="1221114"/>
            </a:xfrm>
          </p:grpSpPr>
          <p:sp>
            <p:nvSpPr>
              <p:cNvPr id="279" name="Google Shape;279;p20"/>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80" name="Google Shape;280;p20"/>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81" name="Google Shape;281;p20"/>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82" name="Google Shape;282;p20"/>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83" name="Google Shape;283;p20"/>
            <p:cNvCxnSpPr>
              <a:stCxn id="284"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85" name="Google Shape;285;p20"/>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86" name="Google Shape;286;p20"/>
            <p:cNvCxnSpPr>
              <a:endCxn id="285"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87" name="Google Shape;287;p20"/>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84" name="Google Shape;284;p20"/>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88" name="Google Shape;288;p20"/>
            <p:cNvCxnSpPr>
              <a:stCxn id="287" idx="2"/>
              <a:endCxn id="285"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grpSp>
        <p:nvGrpSpPr>
          <p:cNvPr id="289" name="Google Shape;289;p20"/>
          <p:cNvGrpSpPr/>
          <p:nvPr/>
        </p:nvGrpSpPr>
        <p:grpSpPr>
          <a:xfrm rot="10800000">
            <a:off x="5754902" y="3471525"/>
            <a:ext cx="1392300" cy="1392300"/>
            <a:chOff x="7475475" y="301725"/>
            <a:chExt cx="1392300" cy="1392300"/>
          </a:xfrm>
        </p:grpSpPr>
        <p:sp>
          <p:nvSpPr>
            <p:cNvPr id="290" name="Google Shape;290;p20"/>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91" name="Google Shape;291;p20"/>
            <p:cNvSpPr txBox="1"/>
            <p:nvPr/>
          </p:nvSpPr>
          <p:spPr>
            <a:xfrm rot="10800000">
              <a:off x="7776288" y="55385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292" name="Google Shape;292;p20"/>
          <p:cNvSpPr/>
          <p:nvPr/>
        </p:nvSpPr>
        <p:spPr>
          <a:xfrm>
            <a:off x="6543075" y="30172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93" name="Google Shape;293;p20"/>
          <p:cNvSpPr txBox="1">
            <a:spLocks noGrp="1"/>
          </p:cNvSpPr>
          <p:nvPr>
            <p:ph type="body" idx="3"/>
          </p:nvPr>
        </p:nvSpPr>
        <p:spPr>
          <a:xfrm>
            <a:off x="6920975" y="765250"/>
            <a:ext cx="1699500" cy="2085900"/>
          </a:xfrm>
          <a:prstGeom prst="rect">
            <a:avLst/>
          </a:prstGeom>
          <a:noFill/>
          <a:ln>
            <a:noFill/>
          </a:ln>
        </p:spPr>
        <p:txBody>
          <a:bodyPr spcFirstLastPara="1" wrap="square" lIns="0"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cxnSp>
        <p:nvCxnSpPr>
          <p:cNvPr id="294" name="Google Shape;294;p20"/>
          <p:cNvCxnSpPr/>
          <p:nvPr/>
        </p:nvCxnSpPr>
        <p:spPr>
          <a:xfrm>
            <a:off x="8867775" y="434100"/>
            <a:ext cx="0" cy="1588800"/>
          </a:xfrm>
          <a:prstGeom prst="straightConnector1">
            <a:avLst/>
          </a:prstGeom>
          <a:noFill/>
          <a:ln w="9525" cap="flat" cmpd="sng">
            <a:solidFill>
              <a:schemeClr val="dk2"/>
            </a:solidFill>
            <a:prstDash val="solid"/>
            <a:round/>
            <a:headEnd type="none" w="med" len="med"/>
            <a:tailEnd type="none" w="med" len="med"/>
          </a:ln>
        </p:spPr>
      </p:cxnSp>
      <p:sp>
        <p:nvSpPr>
          <p:cNvPr id="295" name="Google Shape;295;p20"/>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matchingName="67 - Titre, contenu et visuel à gauche - cadre blanc">
  <p:cSld name="67 - Titre, contenu et visuel à gauche - cadre blanc">
    <p:spTree>
      <p:nvGrpSpPr>
        <p:cNvPr id="1" name="Shape 296"/>
        <p:cNvGrpSpPr/>
        <p:nvPr/>
      </p:nvGrpSpPr>
      <p:grpSpPr>
        <a:xfrm>
          <a:off x="0" y="0"/>
          <a:ext cx="0" cy="0"/>
          <a:chOff x="0" y="0"/>
          <a:chExt cx="0" cy="0"/>
        </a:xfrm>
      </p:grpSpPr>
      <p:sp>
        <p:nvSpPr>
          <p:cNvPr id="297" name="Google Shape;297;p21"/>
          <p:cNvSpPr txBox="1">
            <a:spLocks noGrp="1"/>
          </p:cNvSpPr>
          <p:nvPr>
            <p:ph type="title"/>
          </p:nvPr>
        </p:nvSpPr>
        <p:spPr>
          <a:xfrm>
            <a:off x="3440825" y="359479"/>
            <a:ext cx="51366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
        <p:nvSpPr>
          <p:cNvPr id="298" name="Google Shape;298;p21"/>
          <p:cNvSpPr txBox="1">
            <a:spLocks noGrp="1"/>
          </p:cNvSpPr>
          <p:nvPr>
            <p:ph type="body" idx="1"/>
          </p:nvPr>
        </p:nvSpPr>
        <p:spPr>
          <a:xfrm>
            <a:off x="3440825" y="817275"/>
            <a:ext cx="5136600" cy="40476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grpSp>
        <p:nvGrpSpPr>
          <p:cNvPr id="299" name="Google Shape;299;p21"/>
          <p:cNvGrpSpPr/>
          <p:nvPr/>
        </p:nvGrpSpPr>
        <p:grpSpPr>
          <a:xfrm>
            <a:off x="571494" y="306825"/>
            <a:ext cx="2593200" cy="3705000"/>
            <a:chOff x="-2696606" y="304800"/>
            <a:chExt cx="2593200" cy="3705000"/>
          </a:xfrm>
        </p:grpSpPr>
        <p:sp>
          <p:nvSpPr>
            <p:cNvPr id="300" name="Google Shape;300;p21"/>
            <p:cNvSpPr/>
            <p:nvPr/>
          </p:nvSpPr>
          <p:spPr>
            <a:xfrm>
              <a:off x="-2696606"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1" name="Google Shape;301;p21"/>
            <p:cNvSpPr txBox="1"/>
            <p:nvPr/>
          </p:nvSpPr>
          <p:spPr>
            <a:xfrm>
              <a:off x="-1856150" y="15937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302" name="Google Shape;302;p21"/>
          <p:cNvGrpSpPr/>
          <p:nvPr/>
        </p:nvGrpSpPr>
        <p:grpSpPr>
          <a:xfrm>
            <a:off x="276301" y="292130"/>
            <a:ext cx="8682474" cy="4588395"/>
            <a:chOff x="276301" y="292130"/>
            <a:chExt cx="8682474" cy="4588395"/>
          </a:xfrm>
        </p:grpSpPr>
        <p:grpSp>
          <p:nvGrpSpPr>
            <p:cNvPr id="303" name="Google Shape;303;p21"/>
            <p:cNvGrpSpPr/>
            <p:nvPr/>
          </p:nvGrpSpPr>
          <p:grpSpPr>
            <a:xfrm>
              <a:off x="276301" y="292130"/>
              <a:ext cx="170063" cy="166438"/>
              <a:chOff x="6838242" y="518225"/>
              <a:chExt cx="1247708" cy="1221114"/>
            </a:xfrm>
          </p:grpSpPr>
          <p:sp>
            <p:nvSpPr>
              <p:cNvPr id="304" name="Google Shape;304;p21"/>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5" name="Google Shape;305;p21"/>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6" name="Google Shape;306;p21"/>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07" name="Google Shape;307;p21"/>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08" name="Google Shape;308;p21"/>
            <p:cNvCxnSpPr>
              <a:stCxn id="309"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10" name="Google Shape;310;p21"/>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11" name="Google Shape;311;p21"/>
            <p:cNvCxnSpPr>
              <a:endCxn id="310"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12" name="Google Shape;312;p21"/>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9" name="Google Shape;309;p21"/>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13" name="Google Shape;313;p21"/>
            <p:cNvCxnSpPr>
              <a:stCxn id="312" idx="2"/>
              <a:endCxn id="310"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14" name="Google Shape;314;p21"/>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matchingName="68 - Titre, sous-titre, contenu et visuel à gauche - cadre blanc">
  <p:cSld name="68 - Titre, sous-titre, contenu et visuel à gauche - cadre blanc">
    <p:spTree>
      <p:nvGrpSpPr>
        <p:cNvPr id="1" name="Shape 315"/>
        <p:cNvGrpSpPr/>
        <p:nvPr/>
      </p:nvGrpSpPr>
      <p:grpSpPr>
        <a:xfrm>
          <a:off x="0" y="0"/>
          <a:ext cx="0" cy="0"/>
          <a:chOff x="0" y="0"/>
          <a:chExt cx="0" cy="0"/>
        </a:xfrm>
      </p:grpSpPr>
      <p:sp>
        <p:nvSpPr>
          <p:cNvPr id="316" name="Google Shape;316;p22"/>
          <p:cNvSpPr/>
          <p:nvPr/>
        </p:nvSpPr>
        <p:spPr>
          <a:xfrm rot="5400000" flipH="1">
            <a:off x="4143250" y="131125"/>
            <a:ext cx="4709400" cy="4865400"/>
          </a:xfrm>
          <a:prstGeom prst="round2SameRect">
            <a:avLst>
              <a:gd name="adj1" fmla="val 1367"/>
              <a:gd name="adj2" fmla="val 0"/>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17" name="Google Shape;317;p22"/>
          <p:cNvSpPr txBox="1">
            <a:spLocks noGrp="1"/>
          </p:cNvSpPr>
          <p:nvPr>
            <p:ph type="subTitle" idx="1"/>
          </p:nvPr>
        </p:nvSpPr>
        <p:spPr>
          <a:xfrm>
            <a:off x="3442450" y="779144"/>
            <a:ext cx="5139300" cy="3042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18" name="Google Shape;318;p22"/>
          <p:cNvSpPr txBox="1">
            <a:spLocks noGrp="1"/>
          </p:cNvSpPr>
          <p:nvPr>
            <p:ph type="body" idx="2"/>
          </p:nvPr>
        </p:nvSpPr>
        <p:spPr>
          <a:xfrm>
            <a:off x="3438150" y="1271025"/>
            <a:ext cx="5139300" cy="35937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19" name="Google Shape;319;p22"/>
          <p:cNvSpPr txBox="1">
            <a:spLocks noGrp="1"/>
          </p:cNvSpPr>
          <p:nvPr>
            <p:ph type="title"/>
          </p:nvPr>
        </p:nvSpPr>
        <p:spPr>
          <a:xfrm>
            <a:off x="3438150" y="358969"/>
            <a:ext cx="51393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grpSp>
        <p:nvGrpSpPr>
          <p:cNvPr id="320" name="Google Shape;320;p22"/>
          <p:cNvGrpSpPr/>
          <p:nvPr/>
        </p:nvGrpSpPr>
        <p:grpSpPr>
          <a:xfrm>
            <a:off x="571494" y="306825"/>
            <a:ext cx="2593200" cy="3705000"/>
            <a:chOff x="-2696606" y="304800"/>
            <a:chExt cx="2593200" cy="3705000"/>
          </a:xfrm>
        </p:grpSpPr>
        <p:sp>
          <p:nvSpPr>
            <p:cNvPr id="321" name="Google Shape;321;p22"/>
            <p:cNvSpPr/>
            <p:nvPr/>
          </p:nvSpPr>
          <p:spPr>
            <a:xfrm>
              <a:off x="-2696606"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22" name="Google Shape;322;p22"/>
            <p:cNvSpPr txBox="1"/>
            <p:nvPr/>
          </p:nvSpPr>
          <p:spPr>
            <a:xfrm>
              <a:off x="-1856150" y="15937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323" name="Google Shape;323;p22"/>
          <p:cNvGrpSpPr/>
          <p:nvPr/>
        </p:nvGrpSpPr>
        <p:grpSpPr>
          <a:xfrm>
            <a:off x="276301" y="292130"/>
            <a:ext cx="8682474" cy="4588395"/>
            <a:chOff x="276301" y="292130"/>
            <a:chExt cx="8682474" cy="4588395"/>
          </a:xfrm>
        </p:grpSpPr>
        <p:grpSp>
          <p:nvGrpSpPr>
            <p:cNvPr id="324" name="Google Shape;324;p22"/>
            <p:cNvGrpSpPr/>
            <p:nvPr/>
          </p:nvGrpSpPr>
          <p:grpSpPr>
            <a:xfrm>
              <a:off x="276301" y="292130"/>
              <a:ext cx="170063" cy="166438"/>
              <a:chOff x="6838242" y="518225"/>
              <a:chExt cx="1247708" cy="1221114"/>
            </a:xfrm>
          </p:grpSpPr>
          <p:sp>
            <p:nvSpPr>
              <p:cNvPr id="325" name="Google Shape;325;p22"/>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26" name="Google Shape;326;p22"/>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27" name="Google Shape;327;p22"/>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28" name="Google Shape;328;p22"/>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29" name="Google Shape;329;p22"/>
            <p:cNvCxnSpPr>
              <a:stCxn id="330"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31" name="Google Shape;331;p22"/>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32" name="Google Shape;332;p22"/>
            <p:cNvCxnSpPr>
              <a:endCxn id="331"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33" name="Google Shape;333;p22"/>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30" name="Google Shape;330;p22"/>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34" name="Google Shape;334;p22"/>
            <p:cNvCxnSpPr>
              <a:stCxn id="333" idx="2"/>
              <a:endCxn id="331"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35" name="Google Shape;335;p22"/>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matchingName="69 - Titre, contenu, visuel à gauche et bloc conclu - cadre blanc">
  <p:cSld name="69 - Titre, contenu, visuel à gauche et bloc conclu - cadre blanc">
    <p:spTree>
      <p:nvGrpSpPr>
        <p:cNvPr id="1" name="Shape 336"/>
        <p:cNvGrpSpPr/>
        <p:nvPr/>
      </p:nvGrpSpPr>
      <p:grpSpPr>
        <a:xfrm>
          <a:off x="0" y="0"/>
          <a:ext cx="0" cy="0"/>
          <a:chOff x="0" y="0"/>
          <a:chExt cx="0" cy="0"/>
        </a:xfrm>
      </p:grpSpPr>
      <p:grpSp>
        <p:nvGrpSpPr>
          <p:cNvPr id="337" name="Google Shape;337;p23"/>
          <p:cNvGrpSpPr/>
          <p:nvPr/>
        </p:nvGrpSpPr>
        <p:grpSpPr>
          <a:xfrm>
            <a:off x="276301" y="292130"/>
            <a:ext cx="8682474" cy="4588395"/>
            <a:chOff x="276301" y="292130"/>
            <a:chExt cx="8682474" cy="4588395"/>
          </a:xfrm>
        </p:grpSpPr>
        <p:grpSp>
          <p:nvGrpSpPr>
            <p:cNvPr id="338" name="Google Shape;338;p23"/>
            <p:cNvGrpSpPr/>
            <p:nvPr/>
          </p:nvGrpSpPr>
          <p:grpSpPr>
            <a:xfrm>
              <a:off x="276301" y="292130"/>
              <a:ext cx="170063" cy="166438"/>
              <a:chOff x="6838242" y="518225"/>
              <a:chExt cx="1247708" cy="1221114"/>
            </a:xfrm>
          </p:grpSpPr>
          <p:sp>
            <p:nvSpPr>
              <p:cNvPr id="339" name="Google Shape;339;p23"/>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40" name="Google Shape;340;p23"/>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41" name="Google Shape;341;p23"/>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42" name="Google Shape;342;p23"/>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43" name="Google Shape;343;p23"/>
            <p:cNvCxnSpPr>
              <a:stCxn id="344"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45" name="Google Shape;345;p23"/>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46" name="Google Shape;346;p23"/>
            <p:cNvCxnSpPr>
              <a:endCxn id="345"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47" name="Google Shape;347;p23"/>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44" name="Google Shape;344;p23"/>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48" name="Google Shape;348;p23"/>
            <p:cNvCxnSpPr>
              <a:stCxn id="347" idx="2"/>
              <a:endCxn id="345"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49" name="Google Shape;349;p23"/>
          <p:cNvSpPr txBox="1">
            <a:spLocks noGrp="1"/>
          </p:cNvSpPr>
          <p:nvPr>
            <p:ph type="title"/>
          </p:nvPr>
        </p:nvSpPr>
        <p:spPr>
          <a:xfrm>
            <a:off x="3932050" y="354600"/>
            <a:ext cx="4588200" cy="328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grpSp>
        <p:nvGrpSpPr>
          <p:cNvPr id="350" name="Google Shape;350;p23"/>
          <p:cNvGrpSpPr/>
          <p:nvPr/>
        </p:nvGrpSpPr>
        <p:grpSpPr>
          <a:xfrm rot="10800000">
            <a:off x="420900" y="3471525"/>
            <a:ext cx="1392300" cy="1392300"/>
            <a:chOff x="7475475" y="301725"/>
            <a:chExt cx="1392300" cy="1392300"/>
          </a:xfrm>
        </p:grpSpPr>
        <p:sp>
          <p:nvSpPr>
            <p:cNvPr id="351" name="Google Shape;351;p23"/>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52" name="Google Shape;352;p23"/>
            <p:cNvSpPr txBox="1"/>
            <p:nvPr/>
          </p:nvSpPr>
          <p:spPr>
            <a:xfrm rot="10800000">
              <a:off x="7776275" y="553855"/>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353" name="Google Shape;353;p23"/>
          <p:cNvSpPr txBox="1">
            <a:spLocks noGrp="1"/>
          </p:cNvSpPr>
          <p:nvPr>
            <p:ph type="body" idx="1"/>
          </p:nvPr>
        </p:nvSpPr>
        <p:spPr>
          <a:xfrm>
            <a:off x="1511925" y="817275"/>
            <a:ext cx="1719000" cy="2085600"/>
          </a:xfrm>
          <a:prstGeom prst="rect">
            <a:avLst/>
          </a:prstGeom>
          <a:noFill/>
          <a:ln>
            <a:noFill/>
          </a:ln>
        </p:spPr>
        <p:txBody>
          <a:bodyPr spcFirstLastPara="1" wrap="square" lIns="0"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54" name="Google Shape;354;p23"/>
          <p:cNvSpPr txBox="1">
            <a:spLocks noGrp="1"/>
          </p:cNvSpPr>
          <p:nvPr>
            <p:ph type="body" idx="2"/>
          </p:nvPr>
        </p:nvSpPr>
        <p:spPr>
          <a:xfrm>
            <a:off x="3932200" y="817275"/>
            <a:ext cx="4588200" cy="40467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55" name="Google Shape;355;p23"/>
          <p:cNvSpPr/>
          <p:nvPr/>
        </p:nvSpPr>
        <p:spPr>
          <a:xfrm>
            <a:off x="1209075" y="30172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56" name="Google Shape;356;p23"/>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matchingName="70 - Titre, sous-titre, contenu, visuel à gauche et bloc conclu - cadre blanc">
  <p:cSld name="70 - Titre, sous-titre, contenu, visuel à gauche et bloc conclu - cadre blanc">
    <p:spTree>
      <p:nvGrpSpPr>
        <p:cNvPr id="1" name="Shape 357"/>
        <p:cNvGrpSpPr/>
        <p:nvPr/>
      </p:nvGrpSpPr>
      <p:grpSpPr>
        <a:xfrm>
          <a:off x="0" y="0"/>
          <a:ext cx="0" cy="0"/>
          <a:chOff x="0" y="0"/>
          <a:chExt cx="0" cy="0"/>
        </a:xfrm>
      </p:grpSpPr>
      <p:grpSp>
        <p:nvGrpSpPr>
          <p:cNvPr id="358" name="Google Shape;358;p24"/>
          <p:cNvGrpSpPr/>
          <p:nvPr/>
        </p:nvGrpSpPr>
        <p:grpSpPr>
          <a:xfrm>
            <a:off x="276301" y="292130"/>
            <a:ext cx="8682474" cy="4588395"/>
            <a:chOff x="276301" y="292130"/>
            <a:chExt cx="8682474" cy="4588395"/>
          </a:xfrm>
        </p:grpSpPr>
        <p:grpSp>
          <p:nvGrpSpPr>
            <p:cNvPr id="359" name="Google Shape;359;p24"/>
            <p:cNvGrpSpPr/>
            <p:nvPr/>
          </p:nvGrpSpPr>
          <p:grpSpPr>
            <a:xfrm>
              <a:off x="276301" y="292130"/>
              <a:ext cx="170063" cy="166438"/>
              <a:chOff x="6838242" y="518225"/>
              <a:chExt cx="1247708" cy="1221114"/>
            </a:xfrm>
          </p:grpSpPr>
          <p:sp>
            <p:nvSpPr>
              <p:cNvPr id="360" name="Google Shape;360;p24"/>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61" name="Google Shape;361;p24"/>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62" name="Google Shape;362;p24"/>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63" name="Google Shape;363;p24"/>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64" name="Google Shape;364;p24"/>
            <p:cNvCxnSpPr>
              <a:stCxn id="365"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66" name="Google Shape;366;p24"/>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67" name="Google Shape;367;p24"/>
            <p:cNvCxnSpPr>
              <a:endCxn id="366"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68" name="Google Shape;368;p24"/>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65" name="Google Shape;365;p24"/>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69" name="Google Shape;369;p24"/>
            <p:cNvCxnSpPr>
              <a:stCxn id="368" idx="2"/>
              <a:endCxn id="366"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70" name="Google Shape;370;p24"/>
          <p:cNvSpPr txBox="1">
            <a:spLocks noGrp="1"/>
          </p:cNvSpPr>
          <p:nvPr>
            <p:ph type="body" idx="1"/>
          </p:nvPr>
        </p:nvSpPr>
        <p:spPr>
          <a:xfrm>
            <a:off x="3943350" y="1271025"/>
            <a:ext cx="4564200" cy="35928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71" name="Google Shape;371;p24"/>
          <p:cNvSpPr txBox="1">
            <a:spLocks noGrp="1"/>
          </p:cNvSpPr>
          <p:nvPr>
            <p:ph type="subTitle" idx="2"/>
          </p:nvPr>
        </p:nvSpPr>
        <p:spPr>
          <a:xfrm>
            <a:off x="3935150" y="770950"/>
            <a:ext cx="4564200" cy="3441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72" name="Google Shape;372;p24"/>
          <p:cNvSpPr txBox="1">
            <a:spLocks noGrp="1"/>
          </p:cNvSpPr>
          <p:nvPr>
            <p:ph type="title"/>
          </p:nvPr>
        </p:nvSpPr>
        <p:spPr>
          <a:xfrm>
            <a:off x="3935150" y="348725"/>
            <a:ext cx="4564200" cy="3441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grpSp>
        <p:nvGrpSpPr>
          <p:cNvPr id="373" name="Google Shape;373;p24"/>
          <p:cNvGrpSpPr/>
          <p:nvPr/>
        </p:nvGrpSpPr>
        <p:grpSpPr>
          <a:xfrm rot="10800000">
            <a:off x="420900" y="3471800"/>
            <a:ext cx="1392300" cy="1392300"/>
            <a:chOff x="7475475" y="301725"/>
            <a:chExt cx="1392300" cy="1392300"/>
          </a:xfrm>
        </p:grpSpPr>
        <p:sp>
          <p:nvSpPr>
            <p:cNvPr id="374" name="Google Shape;374;p24"/>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75" name="Google Shape;375;p24"/>
            <p:cNvSpPr txBox="1"/>
            <p:nvPr/>
          </p:nvSpPr>
          <p:spPr>
            <a:xfrm rot="10800000">
              <a:off x="7776288" y="55385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376" name="Google Shape;376;p24"/>
          <p:cNvSpPr/>
          <p:nvPr/>
        </p:nvSpPr>
        <p:spPr>
          <a:xfrm>
            <a:off x="1209075" y="30031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77" name="Google Shape;377;p24"/>
          <p:cNvSpPr txBox="1">
            <a:spLocks noGrp="1"/>
          </p:cNvSpPr>
          <p:nvPr>
            <p:ph type="body" idx="3"/>
          </p:nvPr>
        </p:nvSpPr>
        <p:spPr>
          <a:xfrm>
            <a:off x="1511925" y="812385"/>
            <a:ext cx="1719000" cy="2082300"/>
          </a:xfrm>
          <a:prstGeom prst="rect">
            <a:avLst/>
          </a:prstGeom>
          <a:noFill/>
          <a:ln>
            <a:noFill/>
          </a:ln>
        </p:spPr>
        <p:txBody>
          <a:bodyPr spcFirstLastPara="1" wrap="square" lIns="0" tIns="91425" rIns="91425" bIns="91425" anchor="ctr" anchorCtr="0">
            <a:noAutofit/>
          </a:bodyPr>
          <a:lstStyle>
            <a:lvl1pPr marL="457200" marR="0" lvl="0" indent="-228600" algn="l" rtl="0">
              <a:lnSpc>
                <a:spcPct val="115000"/>
              </a:lnSpc>
              <a:spcBef>
                <a:spcPts val="0"/>
              </a:spcBef>
              <a:spcAft>
                <a:spcPts val="0"/>
              </a:spcAft>
              <a:buClr>
                <a:schemeClr val="accent3"/>
              </a:buClr>
              <a:buSzPts val="1200"/>
              <a:buFont typeface="Outfit"/>
              <a:buNone/>
              <a:defRPr sz="1200" b="1"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accent3"/>
              </a:buClr>
              <a:buSzPts val="1200"/>
              <a:buFont typeface="Outfit"/>
              <a:buNone/>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Font typeface="Outfit"/>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Font typeface="Outfit"/>
              <a:buNone/>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Font typeface="Outfit"/>
              <a:buNone/>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78" name="Google Shape;378;p24"/>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90 - Table des matières [2]">
  <p:cSld name="90 - Table des matières [2]">
    <p:spTree>
      <p:nvGrpSpPr>
        <p:cNvPr id="1" name="Shape 379"/>
        <p:cNvGrpSpPr/>
        <p:nvPr/>
      </p:nvGrpSpPr>
      <p:grpSpPr>
        <a:xfrm>
          <a:off x="0" y="0"/>
          <a:ext cx="0" cy="0"/>
          <a:chOff x="0" y="0"/>
          <a:chExt cx="0" cy="0"/>
        </a:xfrm>
      </p:grpSpPr>
      <p:sp>
        <p:nvSpPr>
          <p:cNvPr id="380" name="Google Shape;380;p25"/>
          <p:cNvSpPr txBox="1">
            <a:spLocks noGrp="1"/>
          </p:cNvSpPr>
          <p:nvPr>
            <p:ph type="title"/>
          </p:nvPr>
        </p:nvSpPr>
        <p:spPr>
          <a:xfrm>
            <a:off x="829600" y="1260303"/>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81" name="Google Shape;381;p25"/>
          <p:cNvSpPr txBox="1">
            <a:spLocks noGrp="1"/>
          </p:cNvSpPr>
          <p:nvPr>
            <p:ph type="body" idx="1"/>
          </p:nvPr>
        </p:nvSpPr>
        <p:spPr>
          <a:xfrm>
            <a:off x="2236850" y="2248633"/>
            <a:ext cx="2335200" cy="788100"/>
          </a:xfrm>
          <a:prstGeom prst="rect">
            <a:avLst/>
          </a:prstGeom>
          <a:noFill/>
          <a:ln>
            <a:noFill/>
          </a:ln>
        </p:spPr>
        <p:txBody>
          <a:bodyPr spcFirstLastPara="1" wrap="square" lIns="0" tIns="0" rIns="0" bIns="0" anchor="ctr" anchorCtr="0">
            <a:norm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82" name="Google Shape;382;p25"/>
          <p:cNvSpPr txBox="1">
            <a:spLocks noGrp="1"/>
          </p:cNvSpPr>
          <p:nvPr>
            <p:ph type="body" idx="2"/>
          </p:nvPr>
        </p:nvSpPr>
        <p:spPr>
          <a:xfrm>
            <a:off x="6210950" y="2248625"/>
            <a:ext cx="2335200" cy="788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83" name="Google Shape;383;p25"/>
          <p:cNvSpPr/>
          <p:nvPr/>
        </p:nvSpPr>
        <p:spPr>
          <a:xfrm>
            <a:off x="1106400" y="22486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84" name="Google Shape;384;p25"/>
          <p:cNvSpPr txBox="1"/>
          <p:nvPr/>
        </p:nvSpPr>
        <p:spPr>
          <a:xfrm>
            <a:off x="1086263" y="2254176"/>
            <a:ext cx="808200" cy="8082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01</a:t>
            </a:r>
            <a:endParaRPr sz="2000" b="0" i="0" u="none" strike="noStrike" cap="none">
              <a:solidFill>
                <a:schemeClr val="dk1"/>
              </a:solidFill>
              <a:latin typeface="Outfit"/>
              <a:ea typeface="Outfit"/>
              <a:cs typeface="Outfit"/>
              <a:sym typeface="Outfit"/>
            </a:endParaRPr>
          </a:p>
        </p:txBody>
      </p:sp>
      <p:sp>
        <p:nvSpPr>
          <p:cNvPr id="385" name="Google Shape;385;p25"/>
          <p:cNvSpPr/>
          <p:nvPr/>
        </p:nvSpPr>
        <p:spPr>
          <a:xfrm>
            <a:off x="5192425" y="2286425"/>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86" name="Google Shape;386;p25"/>
          <p:cNvSpPr txBox="1"/>
          <p:nvPr/>
        </p:nvSpPr>
        <p:spPr>
          <a:xfrm>
            <a:off x="5160164" y="2254177"/>
            <a:ext cx="852600" cy="852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02</a:t>
            </a:r>
            <a:endParaRPr sz="2000" b="0" i="0" u="none" strike="noStrike" cap="none">
              <a:solidFill>
                <a:schemeClr val="dk1"/>
              </a:solidFill>
              <a:latin typeface="Outfit"/>
              <a:ea typeface="Outfit"/>
              <a:cs typeface="Outfit"/>
              <a:sym typeface="Outfit"/>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91 - Table des matières [3]">
  <p:cSld name="91 - Table des matières [3]">
    <p:spTree>
      <p:nvGrpSpPr>
        <p:cNvPr id="1" name="Shape 387"/>
        <p:cNvGrpSpPr/>
        <p:nvPr/>
      </p:nvGrpSpPr>
      <p:grpSpPr>
        <a:xfrm>
          <a:off x="0" y="0"/>
          <a:ext cx="0" cy="0"/>
          <a:chOff x="0" y="0"/>
          <a:chExt cx="0" cy="0"/>
        </a:xfrm>
      </p:grpSpPr>
      <p:sp>
        <p:nvSpPr>
          <p:cNvPr id="388" name="Google Shape;388;p26"/>
          <p:cNvSpPr txBox="1">
            <a:spLocks noGrp="1"/>
          </p:cNvSpPr>
          <p:nvPr>
            <p:ph type="title"/>
          </p:nvPr>
        </p:nvSpPr>
        <p:spPr>
          <a:xfrm>
            <a:off x="829600" y="126357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89" name="Google Shape;389;p26"/>
          <p:cNvSpPr txBox="1">
            <a:spLocks noGrp="1"/>
          </p:cNvSpPr>
          <p:nvPr>
            <p:ph type="body" idx="1"/>
          </p:nvPr>
        </p:nvSpPr>
        <p:spPr>
          <a:xfrm>
            <a:off x="1172550" y="2689025"/>
            <a:ext cx="2269800" cy="1778400"/>
          </a:xfrm>
          <a:prstGeom prst="rect">
            <a:avLst/>
          </a:prstGeom>
          <a:noFill/>
          <a:ln>
            <a:noFill/>
          </a:ln>
        </p:spPr>
        <p:txBody>
          <a:bodyPr spcFirstLastPara="1" wrap="square" lIns="0" tIns="0" rIns="0" bIns="0"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90" name="Google Shape;390;p26"/>
          <p:cNvSpPr txBox="1">
            <a:spLocks noGrp="1"/>
          </p:cNvSpPr>
          <p:nvPr>
            <p:ph type="body" idx="2"/>
          </p:nvPr>
        </p:nvSpPr>
        <p:spPr>
          <a:xfrm>
            <a:off x="3666975" y="2711825"/>
            <a:ext cx="2269800" cy="1778400"/>
          </a:xfrm>
          <a:prstGeom prst="rect">
            <a:avLst/>
          </a:prstGeom>
          <a:noFill/>
          <a:ln>
            <a:noFill/>
          </a:ln>
        </p:spPr>
        <p:txBody>
          <a:bodyPr spcFirstLastPara="1" wrap="square" lIns="0" tIns="0" rIns="0" bIns="0"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91" name="Google Shape;391;p26"/>
          <p:cNvSpPr txBox="1">
            <a:spLocks noGrp="1"/>
          </p:cNvSpPr>
          <p:nvPr>
            <p:ph type="body" idx="3"/>
          </p:nvPr>
        </p:nvSpPr>
        <p:spPr>
          <a:xfrm>
            <a:off x="6260400" y="2711825"/>
            <a:ext cx="2317200" cy="1778400"/>
          </a:xfrm>
          <a:prstGeom prst="rect">
            <a:avLst/>
          </a:prstGeom>
          <a:noFill/>
          <a:ln>
            <a:noFill/>
          </a:ln>
        </p:spPr>
        <p:txBody>
          <a:bodyPr spcFirstLastPara="1" wrap="square" lIns="0" tIns="0" rIns="0" bIns="0"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92" name="Google Shape;392;p26"/>
          <p:cNvSpPr/>
          <p:nvPr/>
        </p:nvSpPr>
        <p:spPr>
          <a:xfrm rot="10800000">
            <a:off x="3666963" y="17790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93" name="Google Shape;393;p26"/>
          <p:cNvSpPr/>
          <p:nvPr/>
        </p:nvSpPr>
        <p:spPr>
          <a:xfrm rot="10800000">
            <a:off x="1172550" y="17790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94" name="Google Shape;394;p26"/>
          <p:cNvSpPr/>
          <p:nvPr/>
        </p:nvSpPr>
        <p:spPr>
          <a:xfrm rot="10800000">
            <a:off x="6260388" y="17790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95" name="Google Shape;395;p26"/>
          <p:cNvSpPr txBox="1"/>
          <p:nvPr/>
        </p:nvSpPr>
        <p:spPr>
          <a:xfrm>
            <a:off x="1164446" y="1799383"/>
            <a:ext cx="804600" cy="804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01</a:t>
            </a:r>
            <a:endParaRPr sz="2000" b="0" i="0" u="none" strike="noStrike" cap="none">
              <a:solidFill>
                <a:schemeClr val="dk1"/>
              </a:solidFill>
              <a:latin typeface="Outfit"/>
              <a:ea typeface="Outfit"/>
              <a:cs typeface="Outfit"/>
              <a:sym typeface="Outfit"/>
            </a:endParaRPr>
          </a:p>
        </p:txBody>
      </p:sp>
      <p:sp>
        <p:nvSpPr>
          <p:cNvPr id="396" name="Google Shape;396;p26"/>
          <p:cNvSpPr txBox="1"/>
          <p:nvPr/>
        </p:nvSpPr>
        <p:spPr>
          <a:xfrm>
            <a:off x="3650472" y="1799373"/>
            <a:ext cx="804600" cy="804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02</a:t>
            </a:r>
            <a:endParaRPr sz="2000" b="0" i="0" u="none" strike="noStrike" cap="none">
              <a:solidFill>
                <a:schemeClr val="dk1"/>
              </a:solidFill>
              <a:latin typeface="Outfit"/>
              <a:ea typeface="Outfit"/>
              <a:cs typeface="Outfit"/>
              <a:sym typeface="Outfit"/>
            </a:endParaRPr>
          </a:p>
        </p:txBody>
      </p:sp>
      <p:sp>
        <p:nvSpPr>
          <p:cNvPr id="397" name="Google Shape;397;p26"/>
          <p:cNvSpPr txBox="1"/>
          <p:nvPr/>
        </p:nvSpPr>
        <p:spPr>
          <a:xfrm>
            <a:off x="6243911" y="1799374"/>
            <a:ext cx="804600" cy="804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03</a:t>
            </a:r>
            <a:endParaRPr sz="2000" b="0" i="0" u="none" strike="noStrike" cap="none">
              <a:solidFill>
                <a:schemeClr val="dk1"/>
              </a:solidFill>
              <a:latin typeface="Outfit"/>
              <a:ea typeface="Outfit"/>
              <a:cs typeface="Outfit"/>
              <a:sym typeface="Outfit"/>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92 - Table des matières [4]">
  <p:cSld name="92 - Table des matières [4]">
    <p:spTree>
      <p:nvGrpSpPr>
        <p:cNvPr id="1" name="Shape 398"/>
        <p:cNvGrpSpPr/>
        <p:nvPr/>
      </p:nvGrpSpPr>
      <p:grpSpPr>
        <a:xfrm>
          <a:off x="0" y="0"/>
          <a:ext cx="0" cy="0"/>
          <a:chOff x="0" y="0"/>
          <a:chExt cx="0" cy="0"/>
        </a:xfrm>
      </p:grpSpPr>
      <p:sp>
        <p:nvSpPr>
          <p:cNvPr id="399" name="Google Shape;399;p27"/>
          <p:cNvSpPr txBox="1">
            <a:spLocks noGrp="1"/>
          </p:cNvSpPr>
          <p:nvPr>
            <p:ph type="title"/>
          </p:nvPr>
        </p:nvSpPr>
        <p:spPr>
          <a:xfrm>
            <a:off x="829600" y="1260303"/>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00" name="Google Shape;400;p27"/>
          <p:cNvSpPr txBox="1">
            <a:spLocks noGrp="1"/>
          </p:cNvSpPr>
          <p:nvPr>
            <p:ph type="body" idx="1"/>
          </p:nvPr>
        </p:nvSpPr>
        <p:spPr>
          <a:xfrm>
            <a:off x="1681525" y="17380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1" name="Google Shape;401;p27"/>
          <p:cNvSpPr txBox="1">
            <a:spLocks noGrp="1"/>
          </p:cNvSpPr>
          <p:nvPr>
            <p:ph type="body" idx="2"/>
          </p:nvPr>
        </p:nvSpPr>
        <p:spPr>
          <a:xfrm>
            <a:off x="1681500" y="30141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2" name="Google Shape;402;p27"/>
          <p:cNvSpPr txBox="1">
            <a:spLocks noGrp="1"/>
          </p:cNvSpPr>
          <p:nvPr>
            <p:ph type="body" idx="3"/>
          </p:nvPr>
        </p:nvSpPr>
        <p:spPr>
          <a:xfrm>
            <a:off x="5619625" y="173812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3" name="Google Shape;403;p27"/>
          <p:cNvSpPr txBox="1">
            <a:spLocks noGrp="1"/>
          </p:cNvSpPr>
          <p:nvPr>
            <p:ph type="body" idx="4"/>
          </p:nvPr>
        </p:nvSpPr>
        <p:spPr>
          <a:xfrm>
            <a:off x="5619750" y="301417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4" name="Google Shape;404;p27"/>
          <p:cNvSpPr/>
          <p:nvPr/>
        </p:nvSpPr>
        <p:spPr>
          <a:xfrm rot="5400000">
            <a:off x="4767525" y="2951177"/>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5" name="Google Shape;405;p27"/>
          <p:cNvSpPr/>
          <p:nvPr/>
        </p:nvSpPr>
        <p:spPr>
          <a:xfrm rot="5400000">
            <a:off x="4767525" y="172202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6" name="Google Shape;406;p27"/>
          <p:cNvSpPr/>
          <p:nvPr/>
        </p:nvSpPr>
        <p:spPr>
          <a:xfrm rot="5400000">
            <a:off x="867525" y="2980796"/>
            <a:ext cx="671700" cy="6717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7" name="Google Shape;407;p27"/>
          <p:cNvSpPr/>
          <p:nvPr/>
        </p:nvSpPr>
        <p:spPr>
          <a:xfrm rot="5400000">
            <a:off x="867525" y="1722025"/>
            <a:ext cx="671700" cy="6717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8" name="Google Shape;408;p27"/>
          <p:cNvSpPr txBox="1"/>
          <p:nvPr/>
        </p:nvSpPr>
        <p:spPr>
          <a:xfrm>
            <a:off x="967623" y="1866129"/>
            <a:ext cx="462300" cy="4518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1" i="0" u="none" strike="noStrike" cap="none">
              <a:solidFill>
                <a:srgbClr val="0E2356"/>
              </a:solidFill>
              <a:latin typeface="Outfit"/>
              <a:ea typeface="Outfit"/>
              <a:cs typeface="Outfit"/>
              <a:sym typeface="Outfit"/>
            </a:endParaRPr>
          </a:p>
        </p:txBody>
      </p:sp>
      <p:sp>
        <p:nvSpPr>
          <p:cNvPr id="409" name="Google Shape;409;p27"/>
          <p:cNvSpPr txBox="1"/>
          <p:nvPr/>
        </p:nvSpPr>
        <p:spPr>
          <a:xfrm>
            <a:off x="967623" y="3116186"/>
            <a:ext cx="462300" cy="4518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1" i="0" u="none" strike="noStrike" cap="none">
              <a:solidFill>
                <a:srgbClr val="0E2356"/>
              </a:solidFill>
              <a:latin typeface="Outfit"/>
              <a:ea typeface="Outfit"/>
              <a:cs typeface="Outfit"/>
              <a:sym typeface="Outfit"/>
            </a:endParaRPr>
          </a:p>
        </p:txBody>
      </p:sp>
      <p:sp>
        <p:nvSpPr>
          <p:cNvPr id="410" name="Google Shape;410;p27"/>
          <p:cNvSpPr txBox="1"/>
          <p:nvPr/>
        </p:nvSpPr>
        <p:spPr>
          <a:xfrm>
            <a:off x="4869747" y="1851848"/>
            <a:ext cx="4515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1" i="0" u="none" strike="noStrike" cap="none">
              <a:solidFill>
                <a:srgbClr val="0E2356"/>
              </a:solidFill>
              <a:latin typeface="Outfit"/>
              <a:ea typeface="Outfit"/>
              <a:cs typeface="Outfit"/>
              <a:sym typeface="Outfit"/>
            </a:endParaRPr>
          </a:p>
        </p:txBody>
      </p:sp>
      <p:sp>
        <p:nvSpPr>
          <p:cNvPr id="411" name="Google Shape;411;p27"/>
          <p:cNvSpPr txBox="1"/>
          <p:nvPr/>
        </p:nvSpPr>
        <p:spPr>
          <a:xfrm>
            <a:off x="4869747" y="3072492"/>
            <a:ext cx="4515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1"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93 - Table des matières [5]">
  <p:cSld name="93 - Table des matières [5]">
    <p:spTree>
      <p:nvGrpSpPr>
        <p:cNvPr id="1" name="Shape 412"/>
        <p:cNvGrpSpPr/>
        <p:nvPr/>
      </p:nvGrpSpPr>
      <p:grpSpPr>
        <a:xfrm>
          <a:off x="0" y="0"/>
          <a:ext cx="0" cy="0"/>
          <a:chOff x="0" y="0"/>
          <a:chExt cx="0" cy="0"/>
        </a:xfrm>
      </p:grpSpPr>
      <p:sp>
        <p:nvSpPr>
          <p:cNvPr id="413" name="Google Shape;413;p28"/>
          <p:cNvSpPr txBox="1">
            <a:spLocks noGrp="1"/>
          </p:cNvSpPr>
          <p:nvPr>
            <p:ph type="title"/>
          </p:nvPr>
        </p:nvSpPr>
        <p:spPr>
          <a:xfrm>
            <a:off x="829600" y="113937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14" name="Google Shape;414;p28"/>
          <p:cNvSpPr txBox="1">
            <a:spLocks noGrp="1"/>
          </p:cNvSpPr>
          <p:nvPr>
            <p:ph type="body" idx="1"/>
          </p:nvPr>
        </p:nvSpPr>
        <p:spPr>
          <a:xfrm>
            <a:off x="1681525" y="16510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5" name="Google Shape;415;p28"/>
          <p:cNvSpPr txBox="1">
            <a:spLocks noGrp="1"/>
          </p:cNvSpPr>
          <p:nvPr>
            <p:ph type="body" idx="2"/>
          </p:nvPr>
        </p:nvSpPr>
        <p:spPr>
          <a:xfrm>
            <a:off x="1681525" y="2447225"/>
            <a:ext cx="27903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6" name="Google Shape;416;p28"/>
          <p:cNvSpPr txBox="1">
            <a:spLocks noGrp="1"/>
          </p:cNvSpPr>
          <p:nvPr>
            <p:ph type="body" idx="3"/>
          </p:nvPr>
        </p:nvSpPr>
        <p:spPr>
          <a:xfrm>
            <a:off x="1681525" y="32436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7" name="Google Shape;417;p28"/>
          <p:cNvSpPr txBox="1">
            <a:spLocks noGrp="1"/>
          </p:cNvSpPr>
          <p:nvPr>
            <p:ph type="body" idx="4"/>
          </p:nvPr>
        </p:nvSpPr>
        <p:spPr>
          <a:xfrm>
            <a:off x="5619625" y="1650825"/>
            <a:ext cx="2958000" cy="656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8" name="Google Shape;418;p28"/>
          <p:cNvSpPr txBox="1">
            <a:spLocks noGrp="1"/>
          </p:cNvSpPr>
          <p:nvPr>
            <p:ph type="body" idx="5"/>
          </p:nvPr>
        </p:nvSpPr>
        <p:spPr>
          <a:xfrm>
            <a:off x="5619625" y="244757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9" name="Google Shape;419;p28"/>
          <p:cNvSpPr/>
          <p:nvPr/>
        </p:nvSpPr>
        <p:spPr>
          <a:xfrm rot="5400000">
            <a:off x="883425" y="165087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0" name="Google Shape;420;p28"/>
          <p:cNvSpPr/>
          <p:nvPr/>
        </p:nvSpPr>
        <p:spPr>
          <a:xfrm rot="5400000">
            <a:off x="883425" y="2447222"/>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1" name="Google Shape;421;p28"/>
          <p:cNvSpPr/>
          <p:nvPr/>
        </p:nvSpPr>
        <p:spPr>
          <a:xfrm rot="5400000">
            <a:off x="883425" y="3243569"/>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2" name="Google Shape;422;p28"/>
          <p:cNvSpPr/>
          <p:nvPr/>
        </p:nvSpPr>
        <p:spPr>
          <a:xfrm rot="5400000">
            <a:off x="4767525" y="1651025"/>
            <a:ext cx="6561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3" name="Google Shape;423;p28"/>
          <p:cNvSpPr/>
          <p:nvPr/>
        </p:nvSpPr>
        <p:spPr>
          <a:xfrm rot="5400000">
            <a:off x="4767525" y="2447566"/>
            <a:ext cx="6561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4" name="Google Shape;424;p28"/>
          <p:cNvSpPr txBox="1"/>
          <p:nvPr/>
        </p:nvSpPr>
        <p:spPr>
          <a:xfrm>
            <a:off x="985647" y="1787397"/>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25" name="Google Shape;425;p28"/>
          <p:cNvSpPr txBox="1"/>
          <p:nvPr/>
        </p:nvSpPr>
        <p:spPr>
          <a:xfrm>
            <a:off x="985647" y="2587947"/>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426" name="Google Shape;426;p28"/>
          <p:cNvSpPr txBox="1"/>
          <p:nvPr/>
        </p:nvSpPr>
        <p:spPr>
          <a:xfrm>
            <a:off x="985647" y="3388496"/>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27" name="Google Shape;427;p28"/>
          <p:cNvSpPr txBox="1"/>
          <p:nvPr/>
        </p:nvSpPr>
        <p:spPr>
          <a:xfrm>
            <a:off x="4869767" y="1787431"/>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28" name="Google Shape;428;p28"/>
          <p:cNvSpPr txBox="1"/>
          <p:nvPr/>
        </p:nvSpPr>
        <p:spPr>
          <a:xfrm>
            <a:off x="4867105" y="2563728"/>
            <a:ext cx="439500" cy="429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94 - Table des matières [6]">
  <p:cSld name="94 - Table des matières [6]">
    <p:spTree>
      <p:nvGrpSpPr>
        <p:cNvPr id="1" name="Shape 429"/>
        <p:cNvGrpSpPr/>
        <p:nvPr/>
      </p:nvGrpSpPr>
      <p:grpSpPr>
        <a:xfrm>
          <a:off x="0" y="0"/>
          <a:ext cx="0" cy="0"/>
          <a:chOff x="0" y="0"/>
          <a:chExt cx="0" cy="0"/>
        </a:xfrm>
      </p:grpSpPr>
      <p:sp>
        <p:nvSpPr>
          <p:cNvPr id="430" name="Google Shape;430;p29"/>
          <p:cNvSpPr txBox="1">
            <a:spLocks noGrp="1"/>
          </p:cNvSpPr>
          <p:nvPr>
            <p:ph type="title"/>
          </p:nvPr>
        </p:nvSpPr>
        <p:spPr>
          <a:xfrm>
            <a:off x="829600" y="103217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31" name="Google Shape;431;p29"/>
          <p:cNvSpPr txBox="1">
            <a:spLocks noGrp="1"/>
          </p:cNvSpPr>
          <p:nvPr>
            <p:ph type="body" idx="1"/>
          </p:nvPr>
        </p:nvSpPr>
        <p:spPr>
          <a:xfrm>
            <a:off x="1747225" y="1650775"/>
            <a:ext cx="28905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2" name="Google Shape;432;p29"/>
          <p:cNvSpPr txBox="1">
            <a:spLocks noGrp="1"/>
          </p:cNvSpPr>
          <p:nvPr>
            <p:ph type="body" idx="2"/>
          </p:nvPr>
        </p:nvSpPr>
        <p:spPr>
          <a:xfrm>
            <a:off x="1747225" y="2447225"/>
            <a:ext cx="28905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3" name="Google Shape;433;p29"/>
          <p:cNvSpPr txBox="1">
            <a:spLocks noGrp="1"/>
          </p:cNvSpPr>
          <p:nvPr>
            <p:ph type="body" idx="3"/>
          </p:nvPr>
        </p:nvSpPr>
        <p:spPr>
          <a:xfrm>
            <a:off x="1747225" y="3243675"/>
            <a:ext cx="28905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4" name="Google Shape;434;p29"/>
          <p:cNvSpPr txBox="1">
            <a:spLocks noGrp="1"/>
          </p:cNvSpPr>
          <p:nvPr>
            <p:ph type="body" idx="4"/>
          </p:nvPr>
        </p:nvSpPr>
        <p:spPr>
          <a:xfrm>
            <a:off x="5685325" y="165082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5" name="Google Shape;435;p29"/>
          <p:cNvSpPr txBox="1">
            <a:spLocks noGrp="1"/>
          </p:cNvSpPr>
          <p:nvPr>
            <p:ph type="body" idx="5"/>
          </p:nvPr>
        </p:nvSpPr>
        <p:spPr>
          <a:xfrm>
            <a:off x="5685325" y="244727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6" name="Google Shape;436;p29"/>
          <p:cNvSpPr txBox="1">
            <a:spLocks noGrp="1"/>
          </p:cNvSpPr>
          <p:nvPr>
            <p:ph type="body" idx="6"/>
          </p:nvPr>
        </p:nvSpPr>
        <p:spPr>
          <a:xfrm>
            <a:off x="5685325" y="324372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7" name="Google Shape;437;p29"/>
          <p:cNvSpPr/>
          <p:nvPr/>
        </p:nvSpPr>
        <p:spPr>
          <a:xfrm rot="5400000">
            <a:off x="4767525" y="3243573"/>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38" name="Google Shape;438;p29"/>
          <p:cNvSpPr/>
          <p:nvPr/>
        </p:nvSpPr>
        <p:spPr>
          <a:xfrm rot="5400000">
            <a:off x="883425" y="165087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39" name="Google Shape;439;p29"/>
          <p:cNvSpPr/>
          <p:nvPr/>
        </p:nvSpPr>
        <p:spPr>
          <a:xfrm rot="5400000">
            <a:off x="883425" y="2447224"/>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0" name="Google Shape;440;p29"/>
          <p:cNvSpPr/>
          <p:nvPr/>
        </p:nvSpPr>
        <p:spPr>
          <a:xfrm rot="5400000">
            <a:off x="883425" y="3243573"/>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1" name="Google Shape;441;p29"/>
          <p:cNvSpPr/>
          <p:nvPr/>
        </p:nvSpPr>
        <p:spPr>
          <a:xfrm rot="5400000">
            <a:off x="4767525" y="165087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2" name="Google Shape;442;p29"/>
          <p:cNvSpPr/>
          <p:nvPr/>
        </p:nvSpPr>
        <p:spPr>
          <a:xfrm rot="5400000">
            <a:off x="4767525" y="2447224"/>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3" name="Google Shape;443;p29"/>
          <p:cNvSpPr txBox="1"/>
          <p:nvPr/>
        </p:nvSpPr>
        <p:spPr>
          <a:xfrm>
            <a:off x="985647" y="1787398"/>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44" name="Google Shape;444;p29"/>
          <p:cNvSpPr txBox="1"/>
          <p:nvPr/>
        </p:nvSpPr>
        <p:spPr>
          <a:xfrm>
            <a:off x="985647" y="2554581"/>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1" i="0" u="none" strike="noStrike" cap="none">
              <a:solidFill>
                <a:srgbClr val="0E2356"/>
              </a:solidFill>
              <a:latin typeface="Outfit"/>
              <a:ea typeface="Outfit"/>
              <a:cs typeface="Outfit"/>
              <a:sym typeface="Outfit"/>
            </a:endParaRPr>
          </a:p>
        </p:txBody>
      </p:sp>
      <p:sp>
        <p:nvSpPr>
          <p:cNvPr id="445" name="Google Shape;445;p29"/>
          <p:cNvSpPr txBox="1"/>
          <p:nvPr/>
        </p:nvSpPr>
        <p:spPr>
          <a:xfrm>
            <a:off x="985647" y="3355132"/>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46" name="Google Shape;446;p29"/>
          <p:cNvSpPr txBox="1"/>
          <p:nvPr/>
        </p:nvSpPr>
        <p:spPr>
          <a:xfrm>
            <a:off x="4868853" y="1787398"/>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47" name="Google Shape;447;p29"/>
          <p:cNvSpPr txBox="1"/>
          <p:nvPr/>
        </p:nvSpPr>
        <p:spPr>
          <a:xfrm>
            <a:off x="4868853" y="2554580"/>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448" name="Google Shape;448;p29"/>
          <p:cNvSpPr txBox="1"/>
          <p:nvPr/>
        </p:nvSpPr>
        <p:spPr>
          <a:xfrm>
            <a:off x="4868853" y="3355132"/>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95 - Table des matières [7]">
  <p:cSld name="95 - Table des matières [7]">
    <p:spTree>
      <p:nvGrpSpPr>
        <p:cNvPr id="1" name="Shape 449"/>
        <p:cNvGrpSpPr/>
        <p:nvPr/>
      </p:nvGrpSpPr>
      <p:grpSpPr>
        <a:xfrm>
          <a:off x="0" y="0"/>
          <a:ext cx="0" cy="0"/>
          <a:chOff x="0" y="0"/>
          <a:chExt cx="0" cy="0"/>
        </a:xfrm>
      </p:grpSpPr>
      <p:sp>
        <p:nvSpPr>
          <p:cNvPr id="450" name="Google Shape;450;p30"/>
          <p:cNvSpPr txBox="1">
            <a:spLocks noGrp="1"/>
          </p:cNvSpPr>
          <p:nvPr>
            <p:ph type="title"/>
          </p:nvPr>
        </p:nvSpPr>
        <p:spPr>
          <a:xfrm>
            <a:off x="829600" y="891150"/>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51" name="Google Shape;451;p30"/>
          <p:cNvSpPr txBox="1">
            <a:spLocks noGrp="1"/>
          </p:cNvSpPr>
          <p:nvPr>
            <p:ph type="body" idx="1"/>
          </p:nvPr>
        </p:nvSpPr>
        <p:spPr>
          <a:xfrm>
            <a:off x="1678225" y="139775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2" name="Google Shape;452;p30"/>
          <p:cNvSpPr txBox="1">
            <a:spLocks noGrp="1"/>
          </p:cNvSpPr>
          <p:nvPr>
            <p:ph type="body" idx="2"/>
          </p:nvPr>
        </p:nvSpPr>
        <p:spPr>
          <a:xfrm>
            <a:off x="1678225" y="211860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3" name="Google Shape;453;p30"/>
          <p:cNvSpPr txBox="1">
            <a:spLocks noGrp="1"/>
          </p:cNvSpPr>
          <p:nvPr>
            <p:ph type="body" idx="3"/>
          </p:nvPr>
        </p:nvSpPr>
        <p:spPr>
          <a:xfrm>
            <a:off x="1678225" y="285205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4" name="Google Shape;454;p30"/>
          <p:cNvSpPr txBox="1">
            <a:spLocks noGrp="1"/>
          </p:cNvSpPr>
          <p:nvPr>
            <p:ph type="body" idx="4"/>
          </p:nvPr>
        </p:nvSpPr>
        <p:spPr>
          <a:xfrm>
            <a:off x="1678125" y="357680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5" name="Google Shape;455;p30"/>
          <p:cNvSpPr txBox="1">
            <a:spLocks noGrp="1"/>
          </p:cNvSpPr>
          <p:nvPr>
            <p:ph type="body" idx="5"/>
          </p:nvPr>
        </p:nvSpPr>
        <p:spPr>
          <a:xfrm>
            <a:off x="5619625" y="1385200"/>
            <a:ext cx="29208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6" name="Google Shape;456;p30"/>
          <p:cNvSpPr txBox="1">
            <a:spLocks noGrp="1"/>
          </p:cNvSpPr>
          <p:nvPr>
            <p:ph type="body" idx="6"/>
          </p:nvPr>
        </p:nvSpPr>
        <p:spPr>
          <a:xfrm>
            <a:off x="5619625" y="2101550"/>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7" name="Google Shape;457;p30"/>
          <p:cNvSpPr txBox="1">
            <a:spLocks noGrp="1"/>
          </p:cNvSpPr>
          <p:nvPr>
            <p:ph type="body" idx="7"/>
          </p:nvPr>
        </p:nvSpPr>
        <p:spPr>
          <a:xfrm>
            <a:off x="5619625" y="2852100"/>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8" name="Google Shape;458;p30"/>
          <p:cNvSpPr/>
          <p:nvPr/>
        </p:nvSpPr>
        <p:spPr>
          <a:xfrm rot="5400000">
            <a:off x="47888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59" name="Google Shape;459;p30"/>
          <p:cNvSpPr/>
          <p:nvPr/>
        </p:nvSpPr>
        <p:spPr>
          <a:xfrm rot="5400000">
            <a:off x="47888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0" name="Google Shape;460;p30"/>
          <p:cNvSpPr/>
          <p:nvPr/>
        </p:nvSpPr>
        <p:spPr>
          <a:xfrm rot="5400000">
            <a:off x="47888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1" name="Google Shape;461;p30"/>
          <p:cNvSpPr/>
          <p:nvPr/>
        </p:nvSpPr>
        <p:spPr>
          <a:xfrm rot="5400000">
            <a:off x="883425" y="35769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2" name="Google Shape;462;p30"/>
          <p:cNvSpPr/>
          <p:nvPr/>
        </p:nvSpPr>
        <p:spPr>
          <a:xfrm rot="5400000">
            <a:off x="8834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3" name="Google Shape;463;p30"/>
          <p:cNvSpPr/>
          <p:nvPr/>
        </p:nvSpPr>
        <p:spPr>
          <a:xfrm rot="5400000">
            <a:off x="8834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4" name="Google Shape;464;p30"/>
          <p:cNvSpPr/>
          <p:nvPr/>
        </p:nvSpPr>
        <p:spPr>
          <a:xfrm rot="5400000">
            <a:off x="8834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5" name="Google Shape;465;p30"/>
          <p:cNvSpPr txBox="1"/>
          <p:nvPr/>
        </p:nvSpPr>
        <p:spPr>
          <a:xfrm>
            <a:off x="908769" y="14481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66" name="Google Shape;466;p30"/>
          <p:cNvSpPr txBox="1"/>
          <p:nvPr/>
        </p:nvSpPr>
        <p:spPr>
          <a:xfrm>
            <a:off x="908769" y="21816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467" name="Google Shape;467;p30"/>
          <p:cNvSpPr txBox="1"/>
          <p:nvPr/>
        </p:nvSpPr>
        <p:spPr>
          <a:xfrm>
            <a:off x="908769" y="29151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68" name="Google Shape;468;p30"/>
          <p:cNvSpPr txBox="1"/>
          <p:nvPr/>
        </p:nvSpPr>
        <p:spPr>
          <a:xfrm>
            <a:off x="908769" y="36485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69" name="Google Shape;469;p30"/>
          <p:cNvSpPr txBox="1"/>
          <p:nvPr/>
        </p:nvSpPr>
        <p:spPr>
          <a:xfrm>
            <a:off x="4814169" y="14482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470" name="Google Shape;470;p30"/>
          <p:cNvSpPr txBox="1"/>
          <p:nvPr/>
        </p:nvSpPr>
        <p:spPr>
          <a:xfrm>
            <a:off x="4814169" y="2181664"/>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471" name="Google Shape;471;p30"/>
          <p:cNvSpPr txBox="1"/>
          <p:nvPr/>
        </p:nvSpPr>
        <p:spPr>
          <a:xfrm>
            <a:off x="4814169" y="29151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96 - Table des matières [8]">
  <p:cSld name="96 - Table des matières [8]">
    <p:spTree>
      <p:nvGrpSpPr>
        <p:cNvPr id="1" name="Shape 472"/>
        <p:cNvGrpSpPr/>
        <p:nvPr/>
      </p:nvGrpSpPr>
      <p:grpSpPr>
        <a:xfrm>
          <a:off x="0" y="0"/>
          <a:ext cx="0" cy="0"/>
          <a:chOff x="0" y="0"/>
          <a:chExt cx="0" cy="0"/>
        </a:xfrm>
      </p:grpSpPr>
      <p:sp>
        <p:nvSpPr>
          <p:cNvPr id="473" name="Google Shape;473;p31"/>
          <p:cNvSpPr txBox="1">
            <a:spLocks noGrp="1"/>
          </p:cNvSpPr>
          <p:nvPr>
            <p:ph type="title"/>
          </p:nvPr>
        </p:nvSpPr>
        <p:spPr>
          <a:xfrm>
            <a:off x="829600" y="89702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74" name="Google Shape;474;p31"/>
          <p:cNvSpPr txBox="1">
            <a:spLocks noGrp="1"/>
          </p:cNvSpPr>
          <p:nvPr>
            <p:ph type="body" idx="1"/>
          </p:nvPr>
        </p:nvSpPr>
        <p:spPr>
          <a:xfrm>
            <a:off x="1681525" y="139775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5" name="Google Shape;475;p31"/>
          <p:cNvSpPr txBox="1">
            <a:spLocks noGrp="1"/>
          </p:cNvSpPr>
          <p:nvPr>
            <p:ph type="body" idx="2"/>
          </p:nvPr>
        </p:nvSpPr>
        <p:spPr>
          <a:xfrm>
            <a:off x="1681525" y="212070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6" name="Google Shape;476;p31"/>
          <p:cNvSpPr txBox="1">
            <a:spLocks noGrp="1"/>
          </p:cNvSpPr>
          <p:nvPr>
            <p:ph type="body" idx="3"/>
          </p:nvPr>
        </p:nvSpPr>
        <p:spPr>
          <a:xfrm>
            <a:off x="1681525" y="285205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7" name="Google Shape;477;p31"/>
          <p:cNvSpPr txBox="1">
            <a:spLocks noGrp="1"/>
          </p:cNvSpPr>
          <p:nvPr>
            <p:ph type="body" idx="4"/>
          </p:nvPr>
        </p:nvSpPr>
        <p:spPr>
          <a:xfrm>
            <a:off x="1681525" y="358550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8" name="Google Shape;478;p31"/>
          <p:cNvSpPr txBox="1">
            <a:spLocks noGrp="1"/>
          </p:cNvSpPr>
          <p:nvPr>
            <p:ph type="body" idx="5"/>
          </p:nvPr>
        </p:nvSpPr>
        <p:spPr>
          <a:xfrm>
            <a:off x="5619625" y="139780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9" name="Google Shape;479;p31"/>
          <p:cNvSpPr txBox="1">
            <a:spLocks noGrp="1"/>
          </p:cNvSpPr>
          <p:nvPr>
            <p:ph type="body" idx="6"/>
          </p:nvPr>
        </p:nvSpPr>
        <p:spPr>
          <a:xfrm>
            <a:off x="5619625" y="212075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80" name="Google Shape;480;p31"/>
          <p:cNvSpPr txBox="1">
            <a:spLocks noGrp="1"/>
          </p:cNvSpPr>
          <p:nvPr>
            <p:ph type="body" idx="7"/>
          </p:nvPr>
        </p:nvSpPr>
        <p:spPr>
          <a:xfrm>
            <a:off x="5619625" y="284340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81" name="Google Shape;481;p31"/>
          <p:cNvSpPr txBox="1">
            <a:spLocks noGrp="1"/>
          </p:cNvSpPr>
          <p:nvPr>
            <p:ph type="body" idx="8"/>
          </p:nvPr>
        </p:nvSpPr>
        <p:spPr>
          <a:xfrm>
            <a:off x="5619625" y="356635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82" name="Google Shape;482;p31"/>
          <p:cNvSpPr/>
          <p:nvPr/>
        </p:nvSpPr>
        <p:spPr>
          <a:xfrm rot="5400000">
            <a:off x="47888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3" name="Google Shape;483;p31"/>
          <p:cNvSpPr/>
          <p:nvPr/>
        </p:nvSpPr>
        <p:spPr>
          <a:xfrm rot="5400000">
            <a:off x="47888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4" name="Google Shape;484;p31"/>
          <p:cNvSpPr/>
          <p:nvPr/>
        </p:nvSpPr>
        <p:spPr>
          <a:xfrm rot="5400000">
            <a:off x="47888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5" name="Google Shape;485;p31"/>
          <p:cNvSpPr/>
          <p:nvPr/>
        </p:nvSpPr>
        <p:spPr>
          <a:xfrm rot="5400000">
            <a:off x="883425" y="35769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6" name="Google Shape;486;p31"/>
          <p:cNvSpPr/>
          <p:nvPr/>
        </p:nvSpPr>
        <p:spPr>
          <a:xfrm rot="5400000">
            <a:off x="8834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7" name="Google Shape;487;p31"/>
          <p:cNvSpPr/>
          <p:nvPr/>
        </p:nvSpPr>
        <p:spPr>
          <a:xfrm rot="5400000">
            <a:off x="8834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8" name="Google Shape;488;p31"/>
          <p:cNvSpPr/>
          <p:nvPr/>
        </p:nvSpPr>
        <p:spPr>
          <a:xfrm rot="5400000">
            <a:off x="8834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9" name="Google Shape;489;p31"/>
          <p:cNvSpPr txBox="1"/>
          <p:nvPr/>
        </p:nvSpPr>
        <p:spPr>
          <a:xfrm>
            <a:off x="908769" y="14481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90" name="Google Shape;490;p31"/>
          <p:cNvSpPr txBox="1"/>
          <p:nvPr/>
        </p:nvSpPr>
        <p:spPr>
          <a:xfrm>
            <a:off x="908769" y="21816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491" name="Google Shape;491;p31"/>
          <p:cNvSpPr txBox="1"/>
          <p:nvPr/>
        </p:nvSpPr>
        <p:spPr>
          <a:xfrm>
            <a:off x="908769" y="29151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92" name="Google Shape;492;p31"/>
          <p:cNvSpPr txBox="1"/>
          <p:nvPr/>
        </p:nvSpPr>
        <p:spPr>
          <a:xfrm>
            <a:off x="908769" y="36485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93" name="Google Shape;493;p31"/>
          <p:cNvSpPr txBox="1"/>
          <p:nvPr/>
        </p:nvSpPr>
        <p:spPr>
          <a:xfrm>
            <a:off x="4814169" y="14482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494" name="Google Shape;494;p31"/>
          <p:cNvSpPr txBox="1"/>
          <p:nvPr/>
        </p:nvSpPr>
        <p:spPr>
          <a:xfrm>
            <a:off x="4814169" y="2181664"/>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495" name="Google Shape;495;p31"/>
          <p:cNvSpPr txBox="1"/>
          <p:nvPr/>
        </p:nvSpPr>
        <p:spPr>
          <a:xfrm>
            <a:off x="4814169" y="29151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
        <p:nvSpPr>
          <p:cNvPr id="496" name="Google Shape;496;p31"/>
          <p:cNvSpPr/>
          <p:nvPr/>
        </p:nvSpPr>
        <p:spPr>
          <a:xfrm rot="5400000">
            <a:off x="4788825" y="356642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97" name="Google Shape;497;p31"/>
          <p:cNvSpPr txBox="1"/>
          <p:nvPr/>
        </p:nvSpPr>
        <p:spPr>
          <a:xfrm>
            <a:off x="4814169" y="3638040"/>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08</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97 - Table des matières [9]">
  <p:cSld name="97 - Table des matières [9]">
    <p:spTree>
      <p:nvGrpSpPr>
        <p:cNvPr id="1" name="Shape 498"/>
        <p:cNvGrpSpPr/>
        <p:nvPr/>
      </p:nvGrpSpPr>
      <p:grpSpPr>
        <a:xfrm>
          <a:off x="0" y="0"/>
          <a:ext cx="0" cy="0"/>
          <a:chOff x="0" y="0"/>
          <a:chExt cx="0" cy="0"/>
        </a:xfrm>
      </p:grpSpPr>
      <p:sp>
        <p:nvSpPr>
          <p:cNvPr id="499" name="Google Shape;499;p32"/>
          <p:cNvSpPr txBox="1">
            <a:spLocks noGrp="1"/>
          </p:cNvSpPr>
          <p:nvPr>
            <p:ph type="title"/>
          </p:nvPr>
        </p:nvSpPr>
        <p:spPr>
          <a:xfrm>
            <a:off x="564931" y="362212"/>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500" name="Google Shape;500;p32"/>
          <p:cNvSpPr txBox="1">
            <a:spLocks noGrp="1"/>
          </p:cNvSpPr>
          <p:nvPr>
            <p:ph type="body" idx="1"/>
          </p:nvPr>
        </p:nvSpPr>
        <p:spPr>
          <a:xfrm>
            <a:off x="1681525" y="1122425"/>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1" name="Google Shape;501;p32"/>
          <p:cNvSpPr txBox="1">
            <a:spLocks noGrp="1"/>
          </p:cNvSpPr>
          <p:nvPr>
            <p:ph type="body" idx="2"/>
          </p:nvPr>
        </p:nvSpPr>
        <p:spPr>
          <a:xfrm>
            <a:off x="1681525" y="1819575"/>
            <a:ext cx="28149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2" name="Google Shape;502;p32"/>
          <p:cNvSpPr txBox="1">
            <a:spLocks noGrp="1"/>
          </p:cNvSpPr>
          <p:nvPr>
            <p:ph type="body" idx="3"/>
          </p:nvPr>
        </p:nvSpPr>
        <p:spPr>
          <a:xfrm>
            <a:off x="1681525" y="2490025"/>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3" name="Google Shape;503;p32"/>
          <p:cNvSpPr txBox="1">
            <a:spLocks noGrp="1"/>
          </p:cNvSpPr>
          <p:nvPr>
            <p:ph type="body" idx="4"/>
          </p:nvPr>
        </p:nvSpPr>
        <p:spPr>
          <a:xfrm>
            <a:off x="1681525" y="3286475"/>
            <a:ext cx="28149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4" name="Google Shape;504;p32"/>
          <p:cNvSpPr txBox="1">
            <a:spLocks noGrp="1"/>
          </p:cNvSpPr>
          <p:nvPr>
            <p:ph type="body" idx="5"/>
          </p:nvPr>
        </p:nvSpPr>
        <p:spPr>
          <a:xfrm>
            <a:off x="1681525" y="3978875"/>
            <a:ext cx="28149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5" name="Google Shape;505;p32"/>
          <p:cNvSpPr txBox="1">
            <a:spLocks noGrp="1"/>
          </p:cNvSpPr>
          <p:nvPr>
            <p:ph type="body" idx="6"/>
          </p:nvPr>
        </p:nvSpPr>
        <p:spPr>
          <a:xfrm>
            <a:off x="5619625" y="107717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6" name="Google Shape;506;p32"/>
          <p:cNvSpPr txBox="1">
            <a:spLocks noGrp="1"/>
          </p:cNvSpPr>
          <p:nvPr>
            <p:ph type="body" idx="7"/>
          </p:nvPr>
        </p:nvSpPr>
        <p:spPr>
          <a:xfrm>
            <a:off x="5619625" y="181062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7" name="Google Shape;507;p32"/>
          <p:cNvSpPr txBox="1">
            <a:spLocks noGrp="1"/>
          </p:cNvSpPr>
          <p:nvPr>
            <p:ph type="body" idx="8"/>
          </p:nvPr>
        </p:nvSpPr>
        <p:spPr>
          <a:xfrm>
            <a:off x="5619625" y="260707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8" name="Google Shape;508;p32"/>
          <p:cNvSpPr txBox="1">
            <a:spLocks noGrp="1"/>
          </p:cNvSpPr>
          <p:nvPr>
            <p:ph type="body" idx="9"/>
          </p:nvPr>
        </p:nvSpPr>
        <p:spPr>
          <a:xfrm>
            <a:off x="5619625" y="321452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9" name="Google Shape;509;p32"/>
          <p:cNvSpPr/>
          <p:nvPr/>
        </p:nvSpPr>
        <p:spPr>
          <a:xfrm rot="5400000">
            <a:off x="883425" y="39970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0" name="Google Shape;510;p32"/>
          <p:cNvSpPr/>
          <p:nvPr/>
        </p:nvSpPr>
        <p:spPr>
          <a:xfrm rot="5400000">
            <a:off x="4788825" y="108853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1" name="Google Shape;511;p32"/>
          <p:cNvSpPr/>
          <p:nvPr/>
        </p:nvSpPr>
        <p:spPr>
          <a:xfrm rot="5400000">
            <a:off x="4788825" y="1811462"/>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2" name="Google Shape;512;p32"/>
          <p:cNvSpPr/>
          <p:nvPr/>
        </p:nvSpPr>
        <p:spPr>
          <a:xfrm rot="5400000">
            <a:off x="883425" y="32721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3" name="Google Shape;513;p32"/>
          <p:cNvSpPr/>
          <p:nvPr/>
        </p:nvSpPr>
        <p:spPr>
          <a:xfrm rot="5400000">
            <a:off x="883425" y="18157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4" name="Google Shape;514;p32"/>
          <p:cNvSpPr/>
          <p:nvPr/>
        </p:nvSpPr>
        <p:spPr>
          <a:xfrm rot="5400000">
            <a:off x="883425" y="25387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5" name="Google Shape;515;p32"/>
          <p:cNvSpPr/>
          <p:nvPr/>
        </p:nvSpPr>
        <p:spPr>
          <a:xfrm rot="5400000">
            <a:off x="883425" y="10928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6" name="Google Shape;516;p32"/>
          <p:cNvSpPr txBox="1"/>
          <p:nvPr/>
        </p:nvSpPr>
        <p:spPr>
          <a:xfrm>
            <a:off x="908769" y="11433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517" name="Google Shape;517;p32"/>
          <p:cNvSpPr txBox="1"/>
          <p:nvPr/>
        </p:nvSpPr>
        <p:spPr>
          <a:xfrm>
            <a:off x="908769" y="18768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518" name="Google Shape;518;p32"/>
          <p:cNvSpPr txBox="1"/>
          <p:nvPr/>
        </p:nvSpPr>
        <p:spPr>
          <a:xfrm>
            <a:off x="908769" y="26103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519" name="Google Shape;519;p32"/>
          <p:cNvSpPr txBox="1"/>
          <p:nvPr/>
        </p:nvSpPr>
        <p:spPr>
          <a:xfrm>
            <a:off x="908769" y="33437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520" name="Google Shape;520;p32"/>
          <p:cNvSpPr txBox="1"/>
          <p:nvPr/>
        </p:nvSpPr>
        <p:spPr>
          <a:xfrm>
            <a:off x="908769" y="404756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521" name="Google Shape;521;p32"/>
          <p:cNvSpPr txBox="1"/>
          <p:nvPr/>
        </p:nvSpPr>
        <p:spPr>
          <a:xfrm>
            <a:off x="4814169" y="114962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522" name="Google Shape;522;p32"/>
          <p:cNvSpPr txBox="1"/>
          <p:nvPr/>
        </p:nvSpPr>
        <p:spPr>
          <a:xfrm>
            <a:off x="4814169" y="188307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
        <p:nvSpPr>
          <p:cNvPr id="523" name="Google Shape;523;p32"/>
          <p:cNvSpPr/>
          <p:nvPr/>
        </p:nvSpPr>
        <p:spPr>
          <a:xfrm rot="5400000">
            <a:off x="4788825" y="253438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24" name="Google Shape;524;p32"/>
          <p:cNvSpPr txBox="1"/>
          <p:nvPr/>
        </p:nvSpPr>
        <p:spPr>
          <a:xfrm>
            <a:off x="4814169" y="26060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08</a:t>
            </a:r>
            <a:endParaRPr sz="1700" b="0" i="0" u="none" strike="noStrike" cap="none">
              <a:solidFill>
                <a:srgbClr val="0E2356"/>
              </a:solidFill>
              <a:latin typeface="Outfit"/>
              <a:ea typeface="Outfit"/>
              <a:cs typeface="Outfit"/>
              <a:sym typeface="Outfit"/>
            </a:endParaRPr>
          </a:p>
        </p:txBody>
      </p:sp>
      <p:sp>
        <p:nvSpPr>
          <p:cNvPr id="525" name="Google Shape;525;p32"/>
          <p:cNvSpPr/>
          <p:nvPr/>
        </p:nvSpPr>
        <p:spPr>
          <a:xfrm rot="5400000">
            <a:off x="4788825" y="325733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26" name="Google Shape;526;p32"/>
          <p:cNvSpPr txBox="1"/>
          <p:nvPr/>
        </p:nvSpPr>
        <p:spPr>
          <a:xfrm>
            <a:off x="4814169" y="33289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09</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98 - Table des matières [10]">
  <p:cSld name="98 - Table des matières [10]">
    <p:spTree>
      <p:nvGrpSpPr>
        <p:cNvPr id="1" name="Shape 527"/>
        <p:cNvGrpSpPr/>
        <p:nvPr/>
      </p:nvGrpSpPr>
      <p:grpSpPr>
        <a:xfrm>
          <a:off x="0" y="0"/>
          <a:ext cx="0" cy="0"/>
          <a:chOff x="0" y="0"/>
          <a:chExt cx="0" cy="0"/>
        </a:xfrm>
      </p:grpSpPr>
      <p:sp>
        <p:nvSpPr>
          <p:cNvPr id="528" name="Google Shape;528;p33"/>
          <p:cNvSpPr txBox="1">
            <a:spLocks noGrp="1"/>
          </p:cNvSpPr>
          <p:nvPr>
            <p:ph type="title"/>
          </p:nvPr>
        </p:nvSpPr>
        <p:spPr>
          <a:xfrm>
            <a:off x="564931" y="362212"/>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529" name="Google Shape;529;p33"/>
          <p:cNvSpPr txBox="1">
            <a:spLocks noGrp="1"/>
          </p:cNvSpPr>
          <p:nvPr>
            <p:ph type="body" idx="1"/>
          </p:nvPr>
        </p:nvSpPr>
        <p:spPr>
          <a:xfrm>
            <a:off x="1678225" y="1122425"/>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0" name="Google Shape;530;p33"/>
          <p:cNvSpPr txBox="1">
            <a:spLocks noGrp="1"/>
          </p:cNvSpPr>
          <p:nvPr>
            <p:ph type="body" idx="2"/>
          </p:nvPr>
        </p:nvSpPr>
        <p:spPr>
          <a:xfrm>
            <a:off x="1678225" y="1819575"/>
            <a:ext cx="28182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1" name="Google Shape;531;p33"/>
          <p:cNvSpPr txBox="1">
            <a:spLocks noGrp="1"/>
          </p:cNvSpPr>
          <p:nvPr>
            <p:ph type="body" idx="3"/>
          </p:nvPr>
        </p:nvSpPr>
        <p:spPr>
          <a:xfrm>
            <a:off x="1678225" y="2553025"/>
            <a:ext cx="28182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2" name="Google Shape;532;p33"/>
          <p:cNvSpPr txBox="1">
            <a:spLocks noGrp="1"/>
          </p:cNvSpPr>
          <p:nvPr>
            <p:ph type="body" idx="4"/>
          </p:nvPr>
        </p:nvSpPr>
        <p:spPr>
          <a:xfrm>
            <a:off x="1678125" y="3286475"/>
            <a:ext cx="28182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3" name="Google Shape;533;p33"/>
          <p:cNvSpPr txBox="1">
            <a:spLocks noGrp="1"/>
          </p:cNvSpPr>
          <p:nvPr>
            <p:ph type="body" idx="5"/>
          </p:nvPr>
        </p:nvSpPr>
        <p:spPr>
          <a:xfrm>
            <a:off x="1681525" y="4015175"/>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4" name="Google Shape;534;p33"/>
          <p:cNvSpPr txBox="1">
            <a:spLocks noGrp="1"/>
          </p:cNvSpPr>
          <p:nvPr>
            <p:ph type="body" idx="6"/>
          </p:nvPr>
        </p:nvSpPr>
        <p:spPr>
          <a:xfrm>
            <a:off x="5619625" y="114017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5" name="Google Shape;535;p33"/>
          <p:cNvSpPr txBox="1">
            <a:spLocks noGrp="1"/>
          </p:cNvSpPr>
          <p:nvPr>
            <p:ph type="body" idx="7"/>
          </p:nvPr>
        </p:nvSpPr>
        <p:spPr>
          <a:xfrm>
            <a:off x="5619625" y="187362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6" name="Google Shape;536;p33"/>
          <p:cNvSpPr txBox="1">
            <a:spLocks noGrp="1"/>
          </p:cNvSpPr>
          <p:nvPr>
            <p:ph type="body" idx="8"/>
          </p:nvPr>
        </p:nvSpPr>
        <p:spPr>
          <a:xfrm>
            <a:off x="5619625" y="254407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7" name="Google Shape;537;p33"/>
          <p:cNvSpPr txBox="1">
            <a:spLocks noGrp="1"/>
          </p:cNvSpPr>
          <p:nvPr>
            <p:ph type="body" idx="9"/>
          </p:nvPr>
        </p:nvSpPr>
        <p:spPr>
          <a:xfrm>
            <a:off x="5619625" y="334052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8" name="Google Shape;538;p33"/>
          <p:cNvSpPr txBox="1">
            <a:spLocks noGrp="1"/>
          </p:cNvSpPr>
          <p:nvPr>
            <p:ph type="body" idx="13"/>
          </p:nvPr>
        </p:nvSpPr>
        <p:spPr>
          <a:xfrm>
            <a:off x="5619625" y="403292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9" name="Google Shape;539;p33"/>
          <p:cNvSpPr/>
          <p:nvPr/>
        </p:nvSpPr>
        <p:spPr>
          <a:xfrm rot="5400000">
            <a:off x="883425" y="39970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0" name="Google Shape;540;p33"/>
          <p:cNvSpPr/>
          <p:nvPr/>
        </p:nvSpPr>
        <p:spPr>
          <a:xfrm rot="5400000">
            <a:off x="4788825" y="108853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1" name="Google Shape;541;p33"/>
          <p:cNvSpPr/>
          <p:nvPr/>
        </p:nvSpPr>
        <p:spPr>
          <a:xfrm rot="5400000">
            <a:off x="4788825" y="1811462"/>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2" name="Google Shape;542;p33"/>
          <p:cNvSpPr/>
          <p:nvPr/>
        </p:nvSpPr>
        <p:spPr>
          <a:xfrm rot="5400000">
            <a:off x="883425" y="32721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3" name="Google Shape;543;p33"/>
          <p:cNvSpPr/>
          <p:nvPr/>
        </p:nvSpPr>
        <p:spPr>
          <a:xfrm rot="5400000">
            <a:off x="883425" y="18157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4" name="Google Shape;544;p33"/>
          <p:cNvSpPr/>
          <p:nvPr/>
        </p:nvSpPr>
        <p:spPr>
          <a:xfrm rot="5400000">
            <a:off x="883425" y="25387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5" name="Google Shape;545;p33"/>
          <p:cNvSpPr/>
          <p:nvPr/>
        </p:nvSpPr>
        <p:spPr>
          <a:xfrm rot="5400000">
            <a:off x="883425" y="10928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6" name="Google Shape;546;p33"/>
          <p:cNvSpPr txBox="1"/>
          <p:nvPr/>
        </p:nvSpPr>
        <p:spPr>
          <a:xfrm>
            <a:off x="908769" y="11433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547" name="Google Shape;547;p33"/>
          <p:cNvSpPr txBox="1"/>
          <p:nvPr/>
        </p:nvSpPr>
        <p:spPr>
          <a:xfrm>
            <a:off x="908769" y="18768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548" name="Google Shape;548;p33"/>
          <p:cNvSpPr txBox="1"/>
          <p:nvPr/>
        </p:nvSpPr>
        <p:spPr>
          <a:xfrm>
            <a:off x="908769" y="26103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549" name="Google Shape;549;p33"/>
          <p:cNvSpPr txBox="1"/>
          <p:nvPr/>
        </p:nvSpPr>
        <p:spPr>
          <a:xfrm>
            <a:off x="908769" y="33437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550" name="Google Shape;550;p33"/>
          <p:cNvSpPr txBox="1"/>
          <p:nvPr/>
        </p:nvSpPr>
        <p:spPr>
          <a:xfrm>
            <a:off x="908769" y="404756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551" name="Google Shape;551;p33"/>
          <p:cNvSpPr txBox="1"/>
          <p:nvPr/>
        </p:nvSpPr>
        <p:spPr>
          <a:xfrm>
            <a:off x="4814169" y="114962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552" name="Google Shape;552;p33"/>
          <p:cNvSpPr txBox="1"/>
          <p:nvPr/>
        </p:nvSpPr>
        <p:spPr>
          <a:xfrm>
            <a:off x="4814169" y="188307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
        <p:nvSpPr>
          <p:cNvPr id="553" name="Google Shape;553;p33"/>
          <p:cNvSpPr/>
          <p:nvPr/>
        </p:nvSpPr>
        <p:spPr>
          <a:xfrm rot="5400000">
            <a:off x="4788825" y="253438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54" name="Google Shape;554;p33"/>
          <p:cNvSpPr txBox="1"/>
          <p:nvPr/>
        </p:nvSpPr>
        <p:spPr>
          <a:xfrm>
            <a:off x="4814169" y="26060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08</a:t>
            </a:r>
            <a:endParaRPr sz="1700" b="0" i="0" u="none" strike="noStrike" cap="none">
              <a:solidFill>
                <a:srgbClr val="0E2356"/>
              </a:solidFill>
              <a:latin typeface="Outfit"/>
              <a:ea typeface="Outfit"/>
              <a:cs typeface="Outfit"/>
              <a:sym typeface="Outfit"/>
            </a:endParaRPr>
          </a:p>
        </p:txBody>
      </p:sp>
      <p:sp>
        <p:nvSpPr>
          <p:cNvPr id="555" name="Google Shape;555;p33"/>
          <p:cNvSpPr/>
          <p:nvPr/>
        </p:nvSpPr>
        <p:spPr>
          <a:xfrm rot="5400000">
            <a:off x="4788825" y="326138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56" name="Google Shape;556;p33"/>
          <p:cNvSpPr txBox="1"/>
          <p:nvPr/>
        </p:nvSpPr>
        <p:spPr>
          <a:xfrm>
            <a:off x="4814169" y="33330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09</a:t>
            </a:r>
            <a:endParaRPr sz="1700" b="0" i="0" u="none" strike="noStrike" cap="none">
              <a:solidFill>
                <a:srgbClr val="0E2356"/>
              </a:solidFill>
              <a:latin typeface="Outfit"/>
              <a:ea typeface="Outfit"/>
              <a:cs typeface="Outfit"/>
              <a:sym typeface="Outfit"/>
            </a:endParaRPr>
          </a:p>
        </p:txBody>
      </p:sp>
      <p:sp>
        <p:nvSpPr>
          <p:cNvPr id="557" name="Google Shape;557;p33"/>
          <p:cNvSpPr/>
          <p:nvPr/>
        </p:nvSpPr>
        <p:spPr>
          <a:xfrm rot="5400000">
            <a:off x="4788825" y="39970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58" name="Google Shape;558;p33"/>
          <p:cNvSpPr txBox="1"/>
          <p:nvPr/>
        </p:nvSpPr>
        <p:spPr>
          <a:xfrm>
            <a:off x="4814169" y="404756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10</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99 - Table des matières [all]">
  <p:cSld name="99 - Table des matières [all]">
    <p:spTree>
      <p:nvGrpSpPr>
        <p:cNvPr id="1" name="Shape 559"/>
        <p:cNvGrpSpPr/>
        <p:nvPr/>
      </p:nvGrpSpPr>
      <p:grpSpPr>
        <a:xfrm>
          <a:off x="0" y="0"/>
          <a:ext cx="0" cy="0"/>
          <a:chOff x="0" y="0"/>
          <a:chExt cx="0" cy="0"/>
        </a:xfrm>
      </p:grpSpPr>
      <p:sp>
        <p:nvSpPr>
          <p:cNvPr id="560" name="Google Shape;560;p34"/>
          <p:cNvSpPr txBox="1">
            <a:spLocks noGrp="1"/>
          </p:cNvSpPr>
          <p:nvPr>
            <p:ph type="title"/>
          </p:nvPr>
        </p:nvSpPr>
        <p:spPr>
          <a:xfrm>
            <a:off x="564931" y="360737"/>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9pPr>
          </a:lstStyle>
          <a:p>
            <a:endParaRPr/>
          </a:p>
        </p:txBody>
      </p:sp>
      <p:sp>
        <p:nvSpPr>
          <p:cNvPr id="561" name="Google Shape;561;p34"/>
          <p:cNvSpPr txBox="1">
            <a:spLocks noGrp="1"/>
          </p:cNvSpPr>
          <p:nvPr>
            <p:ph type="body" idx="1"/>
          </p:nvPr>
        </p:nvSpPr>
        <p:spPr>
          <a:xfrm>
            <a:off x="571500" y="803050"/>
            <a:ext cx="7053000" cy="4077600"/>
          </a:xfrm>
          <a:prstGeom prst="rect">
            <a:avLst/>
          </a:prstGeom>
          <a:noFill/>
          <a:ln>
            <a:noFill/>
          </a:ln>
        </p:spPr>
        <p:txBody>
          <a:bodyPr spcFirstLastPara="1" wrap="square" lIns="91425" tIns="91425" rIns="91425" bIns="91425"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62" name="Google Shape;562;p34"/>
          <p:cNvSpPr txBox="1">
            <a:spLocks noGrp="1"/>
          </p:cNvSpPr>
          <p:nvPr>
            <p:ph type="body" idx="2"/>
          </p:nvPr>
        </p:nvSpPr>
        <p:spPr>
          <a:xfrm>
            <a:off x="7624600" y="803050"/>
            <a:ext cx="1016100" cy="4077600"/>
          </a:xfrm>
          <a:prstGeom prst="rect">
            <a:avLst/>
          </a:prstGeom>
          <a:noFill/>
          <a:ln>
            <a:noFill/>
          </a:ln>
        </p:spPr>
        <p:txBody>
          <a:bodyPr spcFirstLastPara="1" wrap="square" lIns="91425" tIns="91425" rIns="91425" bIns="91425"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03 - Titre et sous-titre 2">
  <p:cSld name="03 - Titre et sous-titre_1_2">
    <p:spTree>
      <p:nvGrpSpPr>
        <p:cNvPr id="1" name="Shape 563"/>
        <p:cNvGrpSpPr/>
        <p:nvPr/>
      </p:nvGrpSpPr>
      <p:grpSpPr>
        <a:xfrm>
          <a:off x="0" y="0"/>
          <a:ext cx="0" cy="0"/>
          <a:chOff x="0" y="0"/>
          <a:chExt cx="0" cy="0"/>
        </a:xfrm>
      </p:grpSpPr>
      <p:sp>
        <p:nvSpPr>
          <p:cNvPr id="564" name="Google Shape;564;p35"/>
          <p:cNvSpPr txBox="1">
            <a:spLocks noGrp="1"/>
          </p:cNvSpPr>
          <p:nvPr>
            <p:ph type="subTitle" idx="1"/>
          </p:nvPr>
        </p:nvSpPr>
        <p:spPr>
          <a:xfrm>
            <a:off x="571500" y="779171"/>
            <a:ext cx="8041500" cy="370800"/>
          </a:xfrm>
          <a:prstGeom prst="rect">
            <a:avLst/>
          </a:prstGeom>
          <a:noFill/>
          <a:ln>
            <a:noFill/>
          </a:ln>
        </p:spPr>
        <p:txBody>
          <a:bodyPr spcFirstLastPara="1" wrap="square" lIns="0" tIns="0" rIns="0" bIns="0" anchor="t" anchorCtr="0">
            <a:normAutofit/>
          </a:bodyPr>
          <a:lstStyle>
            <a:lvl1pPr marR="0" lvl="0"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2pPr>
            <a:lvl3pPr marR="0" lvl="2"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3pPr>
            <a:lvl4pPr marR="0" lvl="3"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4pPr>
            <a:lvl5pPr marR="0" lvl="4"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5pPr>
            <a:lvl6pPr marR="0" lvl="5"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6pPr>
            <a:lvl7pPr marR="0" lvl="6"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7pPr>
            <a:lvl8pPr marR="0" lvl="7"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8pPr>
            <a:lvl9pPr marR="0" lvl="8"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9pPr>
          </a:lstStyle>
          <a:p>
            <a:endParaRPr/>
          </a:p>
        </p:txBody>
      </p:sp>
      <p:sp>
        <p:nvSpPr>
          <p:cNvPr id="565" name="Google Shape;565;p35"/>
          <p:cNvSpPr txBox="1">
            <a:spLocks noGrp="1"/>
          </p:cNvSpPr>
          <p:nvPr>
            <p:ph type="title"/>
          </p:nvPr>
        </p:nvSpPr>
        <p:spPr>
          <a:xfrm>
            <a:off x="562825" y="361400"/>
            <a:ext cx="8019000" cy="370800"/>
          </a:xfrm>
          <a:prstGeom prst="rect">
            <a:avLst/>
          </a:prstGeom>
          <a:noFill/>
          <a:ln>
            <a:noFill/>
          </a:ln>
        </p:spPr>
        <p:txBody>
          <a:bodyPr spcFirstLastPara="1" wrap="square" lIns="0" tIns="0" rIns="0" bIns="0" anchor="t" anchorCtr="0">
            <a:normAutofit/>
          </a:bodyPr>
          <a:lstStyle>
            <a:lvl1pPr marR="0" lvl="0" algn="l">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grpSp>
        <p:nvGrpSpPr>
          <p:cNvPr id="6" name="Google Shape;6;p1"/>
          <p:cNvGrpSpPr/>
          <p:nvPr/>
        </p:nvGrpSpPr>
        <p:grpSpPr>
          <a:xfrm>
            <a:off x="276301" y="292130"/>
            <a:ext cx="170063" cy="166438"/>
            <a:chOff x="6838242" y="518225"/>
            <a:chExt cx="1247708" cy="1221114"/>
          </a:xfrm>
        </p:grpSpPr>
        <p:sp>
          <p:nvSpPr>
            <p:cNvPr id="7" name="Google Shape;7;p1"/>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8" name="Google Shape;8;p1"/>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9" name="Google Shape;9;p1"/>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10" name="Google Shape;10;p1"/>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11" name="Google Shape;11;p1"/>
          <p:cNvCxnSpPr>
            <a:stCxn id="12"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13" name="Google Shape;13;p1"/>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4" name="Google Shape;14;p1"/>
          <p:cNvCxnSpPr>
            <a:endCxn id="13"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15" name="Google Shape;15;p1"/>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2" name="Google Shape;12;p1"/>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6" name="Google Shape;16;p1"/>
          <p:cNvCxnSpPr>
            <a:stCxn id="15" idx="2"/>
            <a:endCxn id="13"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17" name="Google Shape;17;p1"/>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1796">
          <p15:clr>
            <a:srgbClr val="EA4335"/>
          </p15:clr>
        </p15:guide>
        <p15:guide id="2" pos="2880">
          <p15:clr>
            <a:srgbClr val="EA4335"/>
          </p15:clr>
        </p15:guide>
        <p15:guide id="3" orient="horz" pos="3064">
          <p15:clr>
            <a:srgbClr val="EA4335"/>
          </p15:clr>
        </p15:guide>
        <p15:guide id="4" orient="horz" pos="236">
          <p15:clr>
            <a:srgbClr val="EA4335"/>
          </p15:clr>
        </p15:guide>
        <p15:guide id="5" pos="360">
          <p15:clr>
            <a:srgbClr val="EA4335"/>
          </p15:clr>
        </p15:guide>
        <p15:guide id="6" pos="5403">
          <p15:clr>
            <a:srgbClr val="EA4335"/>
          </p15:clr>
        </p15:guide>
        <p15:guide id="7" orient="horz" pos="515">
          <p15:clr>
            <a:srgbClr val="E46962"/>
          </p15:clr>
        </p15:guide>
        <p15:guide id="8" orient="horz" pos="802">
          <p15:clr>
            <a:srgbClr val="E46962"/>
          </p15:clr>
        </p15:guide>
        <p15:guide id="9" pos="3697">
          <p15:clr>
            <a:srgbClr val="E46962"/>
          </p15:clr>
        </p15:guide>
        <p15:guide id="10" pos="2168">
          <p15:clr>
            <a:srgbClr val="E46962"/>
          </p15:clr>
        </p15:guide>
        <p15:guide id="11" pos="3372">
          <p15:clr>
            <a:srgbClr val="E46962"/>
          </p15:clr>
        </p15:guide>
        <p15:guide id="12" pos="2484">
          <p15:clr>
            <a:srgbClr val="E46962"/>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7.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Outfit"/>
              </a:rPr>
              <a:t>BMAD IAP</a:t>
            </a:r>
          </a:p>
        </p:txBody>
      </p:sp>
      <p:sp>
        <p:nvSpPr>
          <p:cNvPr id="3" name="Subtitle 2"/>
          <p:cNvSpPr>
            <a:spLocks noGrp="1"/>
          </p:cNvSpPr>
          <p:nvPr>
            <p:ph type="subTitle" idx="1"/>
          </p:nvPr>
        </p:nvSpPr>
        <p:spPr/>
        <p:txBody>
          <a:bodyPr/>
          <a:lstStyle/>
          <a:p>
            <a:r>
              <a:rPr>
                <a:latin typeface="Outfit"/>
              </a:rPr>
              <a:t>Infra as a Product Transformation Pack — synthèse de cadrage</a:t>
            </a:r>
          </a:p>
        </p:txBody>
      </p:sp>
      <p:sp>
        <p:nvSpPr>
          <p:cNvPr id="4" name="Title 3"/>
          <p:cNvSpPr>
            <a:spLocks noGrp="1"/>
          </p:cNvSpPr>
          <p:nvPr>
            <p:ph type="title" idx="2"/>
          </p:nvPr>
        </p:nvSpPr>
        <p:spPr/>
        <p:txBody>
          <a:bodyPr/>
          <a:lstStyle/>
          <a:p>
            <a:r>
              <a:rPr>
                <a:latin typeface="Outfit"/>
              </a:rPr>
              <a:t>OCTO Technology</a:t>
            </a:r>
          </a:p>
        </p:txBody>
      </p:sp>
      <p:sp>
        <p:nvSpPr>
          <p:cNvPr id="5" name="Title 4"/>
          <p:cNvSpPr>
            <a:spLocks noGrp="1"/>
          </p:cNvSpPr>
          <p:nvPr>
            <p:ph type="title" idx="3"/>
          </p:nvPr>
        </p:nvSpPr>
        <p:spPr/>
        <p:txBody>
          <a:bodyPr/>
          <a:lstStyle/>
          <a:p>
            <a:r>
              <a:rPr>
                <a:latin typeface="Outfit"/>
              </a:rPr>
              <a:t>v2.34 · 2026-09-11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Exec summary</a:t>
            </a:r>
          </a:p>
          <a:p>
            <a:r>
              <a:rPr sz="1050" i="1">
                <a:solidFill>
                  <a:srgbClr val="586586"/>
                </a:solidFill>
                <a:latin typeface="Outfit"/>
              </a:rPr>
              <a:t>La démarche infra en quatre temps — ce qu'on fait dans l'organisation et sur la plateforme, sans prérequis d'IA — et ce qui la rend nécessaire.</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01</a:t>
            </a:r>
          </a:p>
        </p:txBody>
      </p:sp>
      <p:pic>
        <p:nvPicPr>
          <p:cNvPr id="4" name="Picture 3" descr="wheatfield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EXECUTIVE SUMMARY   ·   </a:t>
            </a:r>
            <a:r>
              <a:rPr b="1" sz="1200">
                <a:solidFill>
                  <a:srgbClr val="0E2356"/>
                </a:solidFill>
                <a:latin typeface="Outfit"/>
              </a:rPr>
              <a:t>Du pourquoi à la preuve : une transformation cadrée de bout en bout</a:t>
            </a:r>
          </a:p>
        </p:txBody>
      </p:sp>
      <p:sp>
        <p:nvSpPr>
          <p:cNvPr id="3" name="TextBox 2"/>
          <p:cNvSpPr txBox="1"/>
          <p:nvPr/>
        </p:nvSpPr>
        <p:spPr>
          <a:xfrm>
            <a:off x="562356" y="1051560"/>
            <a:ext cx="7804404" cy="566928"/>
          </a:xfrm>
          <a:prstGeom prst="rect">
            <a:avLst/>
          </a:prstGeom>
          <a:noFill/>
        </p:spPr>
        <p:txBody>
          <a:bodyPr wrap="square" anchor="t" lIns="0" rIns="0" tIns="0" bIns="0">
            <a:noAutofit/>
          </a:bodyPr>
          <a:lstStyle/>
          <a:p>
            <a:pPr algn="l">
              <a:lnSpc>
                <a:spcPct val="130000"/>
              </a:lnSpc>
            </a:pPr>
            <a:r>
              <a:rPr sz="1050" b="0" i="1">
                <a:solidFill>
                  <a:srgbClr val="0E2356"/>
                </a:solidFill>
                <a:latin typeface="Outfit"/>
              </a:rPr>
              <a:t>Transformer l'infrastructure en plateforme opérée comme un produit, ET traiter structurellement le gaspillage qui l'en empêche — le deck suit le fil : l'offre, pourquoi, qui, quoi, comment, avec quoi, la preuve.</a:t>
            </a:r>
          </a:p>
        </p:txBody>
      </p:sp>
      <p:sp>
        <p:nvSpPr>
          <p:cNvPr id="4" name="Rounded Rectangle 3"/>
          <p:cNvSpPr/>
          <p:nvPr/>
        </p:nvSpPr>
        <p:spPr>
          <a:xfrm>
            <a:off x="489204" y="1746504"/>
            <a:ext cx="7950708" cy="3204464"/>
          </a:xfrm>
          <a:prstGeom prst="roundRect">
            <a:avLst>
              <a:gd name="adj" fmla="val 6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892807"/>
            <a:ext cx="1414576" cy="2911856"/>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8660" y="2020824"/>
            <a:ext cx="1121968" cy="219456"/>
          </a:xfrm>
          <a:prstGeom prst="rect">
            <a:avLst/>
          </a:prstGeom>
          <a:noFill/>
        </p:spPr>
        <p:txBody>
          <a:bodyPr wrap="square" anchor="t" lIns="0" rIns="0" tIns="0" bIns="0">
            <a:noAutofit/>
          </a:bodyPr>
          <a:lstStyle/>
          <a:p>
            <a:pPr algn="l"/>
            <a:r>
              <a:rPr sz="800" b="1" i="0">
                <a:solidFill>
                  <a:srgbClr val="8FD6DB"/>
                </a:solidFill>
                <a:latin typeface="Outfit"/>
              </a:rPr>
              <a:t>OFFRE</a:t>
            </a:r>
          </a:p>
        </p:txBody>
      </p:sp>
      <p:sp>
        <p:nvSpPr>
          <p:cNvPr id="7" name="TextBox 6"/>
          <p:cNvSpPr txBox="1"/>
          <p:nvPr/>
        </p:nvSpPr>
        <p:spPr>
          <a:xfrm>
            <a:off x="708660" y="2240279"/>
            <a:ext cx="1121968" cy="603503"/>
          </a:xfrm>
          <a:prstGeom prst="rect">
            <a:avLst/>
          </a:prstGeom>
          <a:noFill/>
        </p:spPr>
        <p:txBody>
          <a:bodyPr wrap="square" anchor="t" lIns="0" rIns="0" tIns="0" bIns="0">
            <a:noAutofit/>
          </a:bodyPr>
          <a:lstStyle/>
          <a:p>
            <a:pPr algn="l">
              <a:lnSpc>
                <a:spcPct val="120000"/>
              </a:lnSpc>
            </a:pPr>
            <a:r>
              <a:rPr sz="900" b="1" i="0">
                <a:solidFill>
                  <a:srgbClr val="FFFFFF"/>
                </a:solidFill>
                <a:latin typeface="Outfit"/>
              </a:rPr>
              <a:t>Une démarche infra en quatre temps, sans prérequis d'IA.</a:t>
            </a:r>
          </a:p>
        </p:txBody>
      </p:sp>
      <p:sp>
        <p:nvSpPr>
          <p:cNvPr id="8" name="TextBox 7"/>
          <p:cNvSpPr txBox="1"/>
          <p:nvPr/>
        </p:nvSpPr>
        <p:spPr>
          <a:xfrm>
            <a:off x="708660" y="2935223"/>
            <a:ext cx="1121968" cy="1375664"/>
          </a:xfrm>
          <a:prstGeom prst="rect">
            <a:avLst/>
          </a:prstGeom>
          <a:noFill/>
        </p:spPr>
        <p:txBody>
          <a:bodyPr wrap="square" anchor="t" lIns="0" rIns="0" tIns="0" bIns="0">
            <a:noAutofit/>
          </a:bodyPr>
          <a:lstStyle/>
          <a:p>
            <a:pPr algn="l">
              <a:lnSpc>
                <a:spcPct val="130000"/>
              </a:lnSpc>
            </a:pPr>
            <a:r>
              <a:rPr sz="800" b="0" i="0">
                <a:solidFill>
                  <a:srgbClr val="C7CBE0"/>
                </a:solidFill>
                <a:latin typeface="Outfit"/>
              </a:rPr>
              <a:t>Ce qu'on fait dans l'organisation et sur la plateforme à chaque temps ; l'agentic accélère le consultant, en option chez le client.</a:t>
            </a:r>
          </a:p>
        </p:txBody>
      </p:sp>
      <p:sp>
        <p:nvSpPr>
          <p:cNvPr id="9" name="TextBox 8"/>
          <p:cNvSpPr txBox="1"/>
          <p:nvPr/>
        </p:nvSpPr>
        <p:spPr>
          <a:xfrm>
            <a:off x="708660" y="4457192"/>
            <a:ext cx="1121968" cy="237744"/>
          </a:xfrm>
          <a:prstGeom prst="rect">
            <a:avLst/>
          </a:prstGeom>
          <a:noFill/>
        </p:spPr>
        <p:txBody>
          <a:bodyPr wrap="square" anchor="b" lIns="0" rIns="0" tIns="0" bIns="0">
            <a:noAutofit/>
          </a:bodyPr>
          <a:lstStyle/>
          <a:p>
            <a:pPr algn="l"/>
            <a:r>
              <a:rPr sz="750" b="1" i="0">
                <a:solidFill>
                  <a:srgbClr val="8FD6DB"/>
                </a:solidFill>
                <a:latin typeface="Outfit"/>
              </a:rPr>
              <a:t>Exec summary</a:t>
            </a:r>
          </a:p>
        </p:txBody>
      </p:sp>
      <p:sp>
        <p:nvSpPr>
          <p:cNvPr id="10" name="TextBox 9"/>
          <p:cNvSpPr txBox="1"/>
          <p:nvPr/>
        </p:nvSpPr>
        <p:spPr>
          <a:xfrm>
            <a:off x="1958644" y="3239008"/>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11" name="Rounded Rectangle 10"/>
          <p:cNvSpPr/>
          <p:nvPr/>
        </p:nvSpPr>
        <p:spPr>
          <a:xfrm>
            <a:off x="2159812" y="1892807"/>
            <a:ext cx="1414576" cy="2911856"/>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306116" y="2020824"/>
            <a:ext cx="1121968" cy="219456"/>
          </a:xfrm>
          <a:prstGeom prst="rect">
            <a:avLst/>
          </a:prstGeom>
          <a:noFill/>
        </p:spPr>
        <p:txBody>
          <a:bodyPr wrap="square" anchor="t" lIns="0" rIns="0" tIns="0" bIns="0">
            <a:noAutofit/>
          </a:bodyPr>
          <a:lstStyle/>
          <a:p>
            <a:pPr algn="l"/>
            <a:r>
              <a:rPr sz="800" b="1" i="0">
                <a:solidFill>
                  <a:srgbClr val="0E2356"/>
                </a:solidFill>
                <a:latin typeface="Outfit"/>
              </a:rPr>
              <a:t>POURQUOI</a:t>
            </a:r>
          </a:p>
        </p:txBody>
      </p:sp>
      <p:sp>
        <p:nvSpPr>
          <p:cNvPr id="13" name="TextBox 12"/>
          <p:cNvSpPr txBox="1"/>
          <p:nvPr/>
        </p:nvSpPr>
        <p:spPr>
          <a:xfrm>
            <a:off x="2306116" y="2240279"/>
            <a:ext cx="1121968" cy="603503"/>
          </a:xfrm>
          <a:prstGeom prst="rect">
            <a:avLst/>
          </a:prstGeom>
          <a:noFill/>
        </p:spPr>
        <p:txBody>
          <a:bodyPr wrap="square" anchor="t" lIns="0" rIns="0" tIns="0" bIns="0">
            <a:noAutofit/>
          </a:bodyPr>
          <a:lstStyle/>
          <a:p>
            <a:pPr algn="l">
              <a:lnSpc>
                <a:spcPct val="120000"/>
              </a:lnSpc>
            </a:pPr>
            <a:r>
              <a:rPr sz="900" b="1" i="0">
                <a:solidFill>
                  <a:srgbClr val="0E2356"/>
                </a:solidFill>
                <a:latin typeface="Outfit"/>
              </a:rPr>
              <a:t>L'infra subie coûte de plus en plus cher.</a:t>
            </a:r>
          </a:p>
        </p:txBody>
      </p:sp>
      <p:sp>
        <p:nvSpPr>
          <p:cNvPr id="14" name="TextBox 13"/>
          <p:cNvSpPr txBox="1"/>
          <p:nvPr/>
        </p:nvSpPr>
        <p:spPr>
          <a:xfrm>
            <a:off x="2306116" y="2935223"/>
            <a:ext cx="1121968" cy="1375664"/>
          </a:xfrm>
          <a:prstGeom prst="rect">
            <a:avLst/>
          </a:prstGeom>
          <a:noFill/>
        </p:spPr>
        <p:txBody>
          <a:bodyPr wrap="square" anchor="t" lIns="0" rIns="0" tIns="0" bIns="0">
            <a:noAutofit/>
          </a:bodyPr>
          <a:lstStyle/>
          <a:p>
            <a:pPr algn="l">
              <a:lnSpc>
                <a:spcPct val="130000"/>
              </a:lnSpc>
            </a:pPr>
            <a:r>
              <a:rPr sz="800" b="0" i="0">
                <a:solidFill>
                  <a:srgbClr val="586586"/>
                </a:solidFill>
                <a:latin typeface="Outfit"/>
              </a:rPr>
              <a:t>Trois déclencheurs, quatre personas interrogés séparément, des douleurs mesurables plutôt que des plaintes.</a:t>
            </a:r>
          </a:p>
        </p:txBody>
      </p:sp>
      <p:sp>
        <p:nvSpPr>
          <p:cNvPr id="15" name="TextBox 14"/>
          <p:cNvSpPr txBox="1"/>
          <p:nvPr/>
        </p:nvSpPr>
        <p:spPr>
          <a:xfrm>
            <a:off x="2306116" y="4457192"/>
            <a:ext cx="1121968" cy="237744"/>
          </a:xfrm>
          <a:prstGeom prst="rect">
            <a:avLst/>
          </a:prstGeom>
          <a:noFill/>
        </p:spPr>
        <p:txBody>
          <a:bodyPr wrap="square" anchor="b" lIns="0" rIns="0" tIns="0" bIns="0">
            <a:noAutofit/>
          </a:bodyPr>
          <a:lstStyle/>
          <a:p>
            <a:pPr algn="l"/>
            <a:r>
              <a:rPr sz="750" b="1" i="0">
                <a:solidFill>
                  <a:srgbClr val="0E2356"/>
                </a:solidFill>
                <a:latin typeface="Outfit"/>
              </a:rPr>
              <a:t>Contexte → Besoins &amp; douleurs</a:t>
            </a:r>
          </a:p>
        </p:txBody>
      </p:sp>
      <p:sp>
        <p:nvSpPr>
          <p:cNvPr id="16" name="TextBox 15"/>
          <p:cNvSpPr txBox="1"/>
          <p:nvPr/>
        </p:nvSpPr>
        <p:spPr>
          <a:xfrm>
            <a:off x="3556101" y="3239008"/>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17" name="Rounded Rectangle 16"/>
          <p:cNvSpPr/>
          <p:nvPr/>
        </p:nvSpPr>
        <p:spPr>
          <a:xfrm>
            <a:off x="3757269" y="1892807"/>
            <a:ext cx="1414576" cy="2911856"/>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03573" y="2020824"/>
            <a:ext cx="1121968" cy="219456"/>
          </a:xfrm>
          <a:prstGeom prst="rect">
            <a:avLst/>
          </a:prstGeom>
          <a:noFill/>
        </p:spPr>
        <p:txBody>
          <a:bodyPr wrap="square" anchor="t" lIns="0" rIns="0" tIns="0" bIns="0">
            <a:noAutofit/>
          </a:bodyPr>
          <a:lstStyle/>
          <a:p>
            <a:pPr algn="l"/>
            <a:r>
              <a:rPr sz="800" b="1" i="0">
                <a:solidFill>
                  <a:srgbClr val="0E2356"/>
                </a:solidFill>
                <a:latin typeface="Outfit"/>
              </a:rPr>
              <a:t>QUOI</a:t>
            </a:r>
          </a:p>
        </p:txBody>
      </p:sp>
      <p:sp>
        <p:nvSpPr>
          <p:cNvPr id="19" name="TextBox 18"/>
          <p:cNvSpPr txBox="1"/>
          <p:nvPr/>
        </p:nvSpPr>
        <p:spPr>
          <a:xfrm>
            <a:off x="3903573" y="2240279"/>
            <a:ext cx="1121968" cy="603503"/>
          </a:xfrm>
          <a:prstGeom prst="rect">
            <a:avLst/>
          </a:prstGeom>
          <a:noFill/>
        </p:spPr>
        <p:txBody>
          <a:bodyPr wrap="square" anchor="t" lIns="0" rIns="0" tIns="0" bIns="0">
            <a:noAutofit/>
          </a:bodyPr>
          <a:lstStyle/>
          <a:p>
            <a:pPr algn="l">
              <a:lnSpc>
                <a:spcPct val="120000"/>
              </a:lnSpc>
            </a:pPr>
            <a:r>
              <a:rPr sz="900" b="1" i="0">
                <a:solidFill>
                  <a:srgbClr val="0E2356"/>
                </a:solidFill>
                <a:latin typeface="Outfit"/>
              </a:rPr>
              <a:t>Traiter l'infra comme un produit — et assainir.</a:t>
            </a:r>
          </a:p>
        </p:txBody>
      </p:sp>
      <p:sp>
        <p:nvSpPr>
          <p:cNvPr id="20" name="TextBox 19"/>
          <p:cNvSpPr txBox="1"/>
          <p:nvPr/>
        </p:nvSpPr>
        <p:spPr>
          <a:xfrm>
            <a:off x="3903573" y="2935223"/>
            <a:ext cx="1121968" cy="1375664"/>
          </a:xfrm>
          <a:prstGeom prst="rect">
            <a:avLst/>
          </a:prstGeom>
          <a:noFill/>
        </p:spPr>
        <p:txBody>
          <a:bodyPr wrap="square" anchor="t" lIns="0" rIns="0" tIns="0" bIns="0">
            <a:noAutofit/>
          </a:bodyPr>
          <a:lstStyle/>
          <a:p>
            <a:pPr algn="l">
              <a:lnSpc>
                <a:spcPct val="130000"/>
              </a:lnSpc>
            </a:pPr>
            <a:r>
              <a:rPr sz="800" b="0" i="0">
                <a:solidFill>
                  <a:srgbClr val="586586"/>
                </a:solidFill>
                <a:latin typeface="Outfit"/>
              </a:rPr>
              <a:t>Double mission, méthode scorée (impact × faisabilité − prudence IA), IA sous gate : jamais la réponse à un problème d'abord organisationnel.</a:t>
            </a:r>
          </a:p>
        </p:txBody>
      </p:sp>
      <p:sp>
        <p:nvSpPr>
          <p:cNvPr id="21" name="TextBox 20"/>
          <p:cNvSpPr txBox="1"/>
          <p:nvPr/>
        </p:nvSpPr>
        <p:spPr>
          <a:xfrm>
            <a:off x="3903573" y="4457192"/>
            <a:ext cx="1121968" cy="237744"/>
          </a:xfrm>
          <a:prstGeom prst="rect">
            <a:avLst/>
          </a:prstGeom>
          <a:noFill/>
        </p:spPr>
        <p:txBody>
          <a:bodyPr wrap="square" anchor="b" lIns="0" rIns="0" tIns="0" bIns="0">
            <a:noAutofit/>
          </a:bodyPr>
          <a:lstStyle/>
          <a:p>
            <a:pPr algn="l"/>
            <a:r>
              <a:rPr sz="750" b="1" i="0">
                <a:solidFill>
                  <a:srgbClr val="0E2356"/>
                </a:solidFill>
                <a:latin typeface="Outfit"/>
              </a:rPr>
              <a:t>Proposition → IA</a:t>
            </a:r>
          </a:p>
        </p:txBody>
      </p:sp>
      <p:sp>
        <p:nvSpPr>
          <p:cNvPr id="22" name="TextBox 21"/>
          <p:cNvSpPr txBox="1"/>
          <p:nvPr/>
        </p:nvSpPr>
        <p:spPr>
          <a:xfrm>
            <a:off x="5153558" y="3239008"/>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23" name="Rounded Rectangle 22"/>
          <p:cNvSpPr/>
          <p:nvPr/>
        </p:nvSpPr>
        <p:spPr>
          <a:xfrm>
            <a:off x="5354726" y="1892807"/>
            <a:ext cx="1414576" cy="2911856"/>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501030" y="2020824"/>
            <a:ext cx="1121968" cy="219456"/>
          </a:xfrm>
          <a:prstGeom prst="rect">
            <a:avLst/>
          </a:prstGeom>
          <a:noFill/>
        </p:spPr>
        <p:txBody>
          <a:bodyPr wrap="square" anchor="t" lIns="0" rIns="0" tIns="0" bIns="0">
            <a:noAutofit/>
          </a:bodyPr>
          <a:lstStyle/>
          <a:p>
            <a:pPr algn="l"/>
            <a:r>
              <a:rPr sz="800" b="1" i="0">
                <a:solidFill>
                  <a:srgbClr val="0E2356"/>
                </a:solidFill>
                <a:latin typeface="Outfit"/>
              </a:rPr>
              <a:t>COMMENT</a:t>
            </a:r>
          </a:p>
        </p:txBody>
      </p:sp>
      <p:sp>
        <p:nvSpPr>
          <p:cNvPr id="25" name="TextBox 24"/>
          <p:cNvSpPr txBox="1"/>
          <p:nvPr/>
        </p:nvSpPr>
        <p:spPr>
          <a:xfrm>
            <a:off x="5501030" y="2240279"/>
            <a:ext cx="1121968" cy="603503"/>
          </a:xfrm>
          <a:prstGeom prst="rect">
            <a:avLst/>
          </a:prstGeom>
          <a:noFill/>
        </p:spPr>
        <p:txBody>
          <a:bodyPr wrap="square" anchor="t" lIns="0" rIns="0" tIns="0" bIns="0">
            <a:noAutofit/>
          </a:bodyPr>
          <a:lstStyle/>
          <a:p>
            <a:pPr algn="l">
              <a:lnSpc>
                <a:spcPct val="120000"/>
              </a:lnSpc>
            </a:pPr>
            <a:r>
              <a:rPr sz="900" b="1" i="0">
                <a:solidFill>
                  <a:srgbClr val="0E2356"/>
                </a:solidFill>
                <a:latin typeface="Outfit"/>
              </a:rPr>
              <a:t>Trois temps et une boucle, personnes comprises.</a:t>
            </a:r>
          </a:p>
        </p:txBody>
      </p:sp>
      <p:sp>
        <p:nvSpPr>
          <p:cNvPr id="26" name="TextBox 25"/>
          <p:cNvSpPr txBox="1"/>
          <p:nvPr/>
        </p:nvSpPr>
        <p:spPr>
          <a:xfrm>
            <a:off x="5501030" y="2935223"/>
            <a:ext cx="1121968" cy="1375664"/>
          </a:xfrm>
          <a:prstGeom prst="rect">
            <a:avLst/>
          </a:prstGeom>
          <a:noFill/>
        </p:spPr>
        <p:txBody>
          <a:bodyPr wrap="square" anchor="t" lIns="0" rIns="0" tIns="0" bIns="0">
            <a:noAutofit/>
          </a:bodyPr>
          <a:lstStyle/>
          <a:p>
            <a:pPr algn="l">
              <a:lnSpc>
                <a:spcPct val="130000"/>
              </a:lnSpc>
            </a:pPr>
            <a:r>
              <a:rPr sz="800" b="0" i="0">
                <a:solidFill>
                  <a:srgbClr val="586586"/>
                </a:solidFill>
                <a:latin typeface="Outfit"/>
              </a:rPr>
              <a:t>Démarche ①②③⟲ avec son fil humain de bout en bout ; l'outillage IAP au service de la démarche — jamais l'inverse.</a:t>
            </a:r>
          </a:p>
        </p:txBody>
      </p:sp>
      <p:sp>
        <p:nvSpPr>
          <p:cNvPr id="27" name="TextBox 26"/>
          <p:cNvSpPr txBox="1"/>
          <p:nvPr/>
        </p:nvSpPr>
        <p:spPr>
          <a:xfrm>
            <a:off x="5501030" y="4457192"/>
            <a:ext cx="1121968" cy="237744"/>
          </a:xfrm>
          <a:prstGeom prst="rect">
            <a:avLst/>
          </a:prstGeom>
          <a:noFill/>
        </p:spPr>
        <p:txBody>
          <a:bodyPr wrap="square" anchor="b" lIns="0" rIns="0" tIns="0" bIns="0">
            <a:noAutofit/>
          </a:bodyPr>
          <a:lstStyle/>
          <a:p>
            <a:pPr algn="l"/>
            <a:r>
              <a:rPr sz="750" b="1" i="0">
                <a:solidFill>
                  <a:srgbClr val="0E2356"/>
                </a:solidFill>
                <a:latin typeface="Outfit"/>
              </a:rPr>
              <a:t>Démarche → Outillage IAP</a:t>
            </a:r>
          </a:p>
        </p:txBody>
      </p:sp>
      <p:sp>
        <p:nvSpPr>
          <p:cNvPr id="28" name="TextBox 27"/>
          <p:cNvSpPr txBox="1"/>
          <p:nvPr/>
        </p:nvSpPr>
        <p:spPr>
          <a:xfrm>
            <a:off x="6751015" y="3239008"/>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29" name="Rounded Rectangle 28"/>
          <p:cNvSpPr/>
          <p:nvPr/>
        </p:nvSpPr>
        <p:spPr>
          <a:xfrm>
            <a:off x="6952183" y="1892807"/>
            <a:ext cx="1414576" cy="2911856"/>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98487" y="2020824"/>
            <a:ext cx="1121968" cy="219456"/>
          </a:xfrm>
          <a:prstGeom prst="rect">
            <a:avLst/>
          </a:prstGeom>
          <a:noFill/>
        </p:spPr>
        <p:txBody>
          <a:bodyPr wrap="square" anchor="t" lIns="0" rIns="0" tIns="0" bIns="0">
            <a:noAutofit/>
          </a:bodyPr>
          <a:lstStyle/>
          <a:p>
            <a:pPr algn="l"/>
            <a:r>
              <a:rPr sz="800" b="1" i="0">
                <a:solidFill>
                  <a:srgbClr val="8FD6DB"/>
                </a:solidFill>
                <a:latin typeface="Outfit"/>
              </a:rPr>
              <a:t>RÉSULTAT</a:t>
            </a:r>
          </a:p>
        </p:txBody>
      </p:sp>
      <p:sp>
        <p:nvSpPr>
          <p:cNvPr id="31" name="TextBox 30"/>
          <p:cNvSpPr txBox="1"/>
          <p:nvPr/>
        </p:nvSpPr>
        <p:spPr>
          <a:xfrm>
            <a:off x="7098487" y="2240279"/>
            <a:ext cx="1121968" cy="603503"/>
          </a:xfrm>
          <a:prstGeom prst="rect">
            <a:avLst/>
          </a:prstGeom>
          <a:noFill/>
        </p:spPr>
        <p:txBody>
          <a:bodyPr wrap="square" anchor="t" lIns="0" rIns="0" tIns="0" bIns="0">
            <a:noAutofit/>
          </a:bodyPr>
          <a:lstStyle/>
          <a:p>
            <a:pPr algn="l">
              <a:lnSpc>
                <a:spcPct val="120000"/>
              </a:lnSpc>
            </a:pPr>
            <a:r>
              <a:rPr sz="900" b="1" i="0">
                <a:solidFill>
                  <a:srgbClr val="FFFFFF"/>
                </a:solidFill>
                <a:latin typeface="Outfit"/>
              </a:rPr>
              <a:t>Le delta instrumenté T0 → réévaluation.</a:t>
            </a:r>
          </a:p>
        </p:txBody>
      </p:sp>
      <p:sp>
        <p:nvSpPr>
          <p:cNvPr id="32" name="TextBox 31"/>
          <p:cNvSpPr txBox="1"/>
          <p:nvPr/>
        </p:nvSpPr>
        <p:spPr>
          <a:xfrm>
            <a:off x="7098487" y="2935223"/>
            <a:ext cx="1121968" cy="1375664"/>
          </a:xfrm>
          <a:prstGeom prst="rect">
            <a:avLst/>
          </a:prstGeom>
          <a:noFill/>
        </p:spPr>
        <p:txBody>
          <a:bodyPr wrap="square" anchor="t" lIns="0" rIns="0" tIns="0" bIns="0">
            <a:noAutofit/>
          </a:bodyPr>
          <a:lstStyle/>
          <a:p>
            <a:pPr algn="l">
              <a:lnSpc>
                <a:spcPct val="130000"/>
              </a:lnSpc>
            </a:pPr>
            <a:r>
              <a:rPr sz="800" b="0" i="0">
                <a:solidFill>
                  <a:srgbClr val="C7CBE0"/>
                </a:solidFill>
                <a:latin typeface="Outfit"/>
              </a:rPr>
              <a:t>Trois familles de KPIs, même instrument aux deux instants — la preuve, pas une opinion.</a:t>
            </a:r>
          </a:p>
        </p:txBody>
      </p:sp>
      <p:sp>
        <p:nvSpPr>
          <p:cNvPr id="33" name="TextBox 32"/>
          <p:cNvSpPr txBox="1"/>
          <p:nvPr/>
        </p:nvSpPr>
        <p:spPr>
          <a:xfrm>
            <a:off x="7098487" y="4457192"/>
            <a:ext cx="1121968" cy="237744"/>
          </a:xfrm>
          <a:prstGeom prst="rect">
            <a:avLst/>
          </a:prstGeom>
          <a:noFill/>
        </p:spPr>
        <p:txBody>
          <a:bodyPr wrap="square" anchor="b" lIns="0" rIns="0" tIns="0" bIns="0">
            <a:noAutofit/>
          </a:bodyPr>
          <a:lstStyle/>
          <a:p>
            <a:pPr algn="l"/>
            <a:r>
              <a:rPr sz="750" b="1" i="0">
                <a:solidFill>
                  <a:srgbClr val="8FD6DB"/>
                </a:solidFill>
                <a:latin typeface="Outfit"/>
              </a:rPr>
              <a:t>KPI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EXEC SUMMARY   ·   </a:t>
            </a:r>
            <a:r>
              <a:rPr b="1" sz="1200">
                <a:solidFill>
                  <a:srgbClr val="0E2356"/>
                </a:solidFill>
                <a:latin typeface="Outfit"/>
              </a:rPr>
              <a:t>Reprendre la main sur l'infra en quatre temps — organisation et plateforme, sans prérequis d'IA</a:t>
            </a:r>
          </a:p>
        </p:txBody>
      </p:sp>
      <p:sp>
        <p:nvSpPr>
          <p:cNvPr id="3" name="TextBox 2"/>
          <p:cNvSpPr txBox="1"/>
          <p:nvPr/>
        </p:nvSpPr>
        <p:spPr>
          <a:xfrm>
            <a:off x="347472" y="777240"/>
            <a:ext cx="8449055" cy="128016"/>
          </a:xfrm>
          <a:prstGeom prst="rect">
            <a:avLst/>
          </a:prstGeom>
          <a:noFill/>
        </p:spPr>
        <p:txBody>
          <a:bodyPr wrap="square" anchor="t" lIns="0" rIns="0" tIns="0" bIns="0">
            <a:noAutofit/>
          </a:bodyPr>
          <a:lstStyle/>
          <a:p>
            <a:pPr algn="l"/>
            <a:r>
              <a:rPr sz="650" b="1" i="0">
                <a:solidFill>
                  <a:srgbClr val="586586"/>
                </a:solidFill>
                <a:latin typeface="Outfit"/>
              </a:rPr>
              <a:t>CE QUE CE TERRAIN IMPOSE</a:t>
            </a:r>
          </a:p>
        </p:txBody>
      </p:sp>
      <p:sp>
        <p:nvSpPr>
          <p:cNvPr id="4" name="Rounded Rectangle 3"/>
          <p:cNvSpPr/>
          <p:nvPr/>
        </p:nvSpPr>
        <p:spPr>
          <a:xfrm>
            <a:off x="347472" y="905256"/>
            <a:ext cx="2731007" cy="382016"/>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75488" y="905256"/>
            <a:ext cx="2474975" cy="382016"/>
          </a:xfrm>
          <a:prstGeom prst="rect">
            <a:avLst/>
          </a:prstGeom>
          <a:noFill/>
        </p:spPr>
        <p:txBody>
          <a:bodyPr wrap="square" anchor="ctr" lIns="0" rIns="0" tIns="0" bIns="0">
            <a:noAutofit/>
          </a:bodyPr>
          <a:lstStyle/>
          <a:p>
            <a:pPr algn="l">
              <a:lnSpc>
                <a:spcPct val="125000"/>
              </a:lnSpc>
            </a:pPr>
            <a:r>
              <a:rPr sz="800" b="0" i="0">
                <a:solidFill>
                  <a:srgbClr val="0E2356"/>
                </a:solidFill>
                <a:latin typeface="Outfit"/>
              </a:rPr>
              <a:t>Un RUN qui ne s'arrête jamais et puise dans les experts du BUILD.</a:t>
            </a:r>
          </a:p>
        </p:txBody>
      </p:sp>
      <p:sp>
        <p:nvSpPr>
          <p:cNvPr id="6" name="Rounded Rectangle 5"/>
          <p:cNvSpPr/>
          <p:nvPr/>
        </p:nvSpPr>
        <p:spPr>
          <a:xfrm>
            <a:off x="3206495" y="905256"/>
            <a:ext cx="2731007" cy="382016"/>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34512" y="905256"/>
            <a:ext cx="2474975" cy="382016"/>
          </a:xfrm>
          <a:prstGeom prst="rect">
            <a:avLst/>
          </a:prstGeom>
          <a:noFill/>
        </p:spPr>
        <p:txBody>
          <a:bodyPr wrap="square" anchor="ctr" lIns="0" rIns="0" tIns="0" bIns="0">
            <a:noAutofit/>
          </a:bodyPr>
          <a:lstStyle/>
          <a:p>
            <a:pPr algn="l">
              <a:lnSpc>
                <a:spcPct val="125000"/>
              </a:lnSpc>
            </a:pPr>
            <a:r>
              <a:rPr sz="800" b="0" i="0">
                <a:solidFill>
                  <a:srgbClr val="0E2356"/>
                </a:solidFill>
                <a:latin typeface="Outfit"/>
              </a:rPr>
              <a:t>Une infra transverse que personne ne porte en propre.</a:t>
            </a:r>
          </a:p>
        </p:txBody>
      </p:sp>
      <p:sp>
        <p:nvSpPr>
          <p:cNvPr id="8" name="Rounded Rectangle 7"/>
          <p:cNvSpPr/>
          <p:nvPr/>
        </p:nvSpPr>
        <p:spPr>
          <a:xfrm>
            <a:off x="6065520" y="905256"/>
            <a:ext cx="2731007" cy="382016"/>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93535" y="905256"/>
            <a:ext cx="2474975" cy="382016"/>
          </a:xfrm>
          <a:prstGeom prst="rect">
            <a:avLst/>
          </a:prstGeom>
          <a:noFill/>
        </p:spPr>
        <p:txBody>
          <a:bodyPr wrap="square" anchor="ctr" lIns="0" rIns="0" tIns="0" bIns="0">
            <a:noAutofit/>
          </a:bodyPr>
          <a:lstStyle/>
          <a:p>
            <a:pPr algn="l">
              <a:lnSpc>
                <a:spcPct val="125000"/>
              </a:lnSpc>
            </a:pPr>
            <a:r>
              <a:rPr sz="800" b="0" i="0">
                <a:solidFill>
                  <a:srgbClr val="0E2356"/>
                </a:solidFill>
                <a:latin typeface="Outfit"/>
              </a:rPr>
              <a:t>Un guichet sursollicité, sans self-service.</a:t>
            </a:r>
          </a:p>
        </p:txBody>
      </p:sp>
      <p:sp>
        <p:nvSpPr>
          <p:cNvPr id="10" name="Rounded Rectangle 9"/>
          <p:cNvSpPr/>
          <p:nvPr/>
        </p:nvSpPr>
        <p:spPr>
          <a:xfrm>
            <a:off x="347472" y="1406525"/>
            <a:ext cx="1616659" cy="2527808"/>
          </a:xfrm>
          <a:prstGeom prst="roundRect">
            <a:avLst>
              <a:gd name="adj" fmla="val 8000"/>
            </a:avLst>
          </a:prstGeom>
          <a:solidFill>
            <a:srgbClr val="FFFFFF"/>
          </a:solidFill>
          <a:ln w="1397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395971" y="1744853"/>
            <a:ext cx="1519659" cy="305816"/>
          </a:xfrm>
          <a:prstGeom prst="chevron">
            <a:avLst/>
          </a:prstGeom>
          <a:solidFill>
            <a:srgbClr val="FFFFFF"/>
          </a:solidFill>
          <a:ln w="1397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7119" y="1744853"/>
            <a:ext cx="1437363" cy="305816"/>
          </a:xfrm>
          <a:prstGeom prst="rect">
            <a:avLst/>
          </a:prstGeom>
          <a:noFill/>
        </p:spPr>
        <p:txBody>
          <a:bodyPr wrap="square" anchor="ctr" lIns="0" rIns="0" tIns="0" bIns="0">
            <a:noAutofit/>
          </a:bodyPr>
          <a:lstStyle/>
          <a:p>
            <a:pPr algn="ctr">
              <a:lnSpc>
                <a:spcPct val="105000"/>
              </a:lnSpc>
            </a:pPr>
            <a:r>
              <a:rPr sz="800" b="1" i="0">
                <a:solidFill>
                  <a:srgbClr val="0E2356"/>
                </a:solidFill>
                <a:latin typeface="Outfit"/>
              </a:rPr>
              <a:t>Assessment flash</a:t>
            </a:r>
          </a:p>
        </p:txBody>
      </p:sp>
      <p:sp>
        <p:nvSpPr>
          <p:cNvPr id="13" name="Rounded Rectangle 12"/>
          <p:cNvSpPr/>
          <p:nvPr/>
        </p:nvSpPr>
        <p:spPr>
          <a:xfrm>
            <a:off x="972921" y="1424813"/>
            <a:ext cx="365760" cy="36576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2921" y="1424813"/>
            <a:ext cx="365760" cy="365760"/>
          </a:xfrm>
          <a:prstGeom prst="rect">
            <a:avLst/>
          </a:prstGeom>
          <a:noFill/>
        </p:spPr>
        <p:txBody>
          <a:bodyPr wrap="square" anchor="ctr" lIns="0" rIns="0" tIns="0" bIns="0">
            <a:noAutofit/>
          </a:bodyPr>
          <a:lstStyle/>
          <a:p>
            <a:pPr algn="ctr"/>
            <a:r>
              <a:rPr sz="1200" b="1" i="0">
                <a:solidFill>
                  <a:srgbClr val="FFFFFF"/>
                </a:solidFill>
                <a:latin typeface="Arial"/>
              </a:rPr>
              <a:t>①</a:t>
            </a:r>
          </a:p>
        </p:txBody>
      </p:sp>
      <p:sp>
        <p:nvSpPr>
          <p:cNvPr id="15" name="Rounded Rectangle 14"/>
          <p:cNvSpPr/>
          <p:nvPr/>
        </p:nvSpPr>
        <p:spPr>
          <a:xfrm>
            <a:off x="716889" y="2105533"/>
            <a:ext cx="877824" cy="1828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6889" y="2105533"/>
            <a:ext cx="877824" cy="182880"/>
          </a:xfrm>
          <a:prstGeom prst="rect">
            <a:avLst/>
          </a:prstGeom>
          <a:noFill/>
        </p:spPr>
        <p:txBody>
          <a:bodyPr wrap="square" anchor="ctr" lIns="0" rIns="0" tIns="0" bIns="0">
            <a:noAutofit/>
          </a:bodyPr>
          <a:lstStyle/>
          <a:p>
            <a:pPr algn="ctr"/>
            <a:r>
              <a:rPr sz="750" b="1" i="0">
                <a:solidFill>
                  <a:srgbClr val="FFFFFF"/>
                </a:solidFill>
                <a:latin typeface="Outfit"/>
              </a:rPr>
              <a:t>1–2 sem.</a:t>
            </a:r>
          </a:p>
        </p:txBody>
      </p:sp>
      <p:sp>
        <p:nvSpPr>
          <p:cNvPr id="17" name="TextBox 16"/>
          <p:cNvSpPr txBox="1"/>
          <p:nvPr/>
        </p:nvSpPr>
        <p:spPr>
          <a:xfrm>
            <a:off x="393192" y="2379853"/>
            <a:ext cx="1525219" cy="118872"/>
          </a:xfrm>
          <a:prstGeom prst="rect">
            <a:avLst/>
          </a:prstGeom>
          <a:noFill/>
        </p:spPr>
        <p:txBody>
          <a:bodyPr wrap="square" anchor="t" lIns="0" rIns="0" tIns="0" bIns="0">
            <a:noAutofit/>
          </a:bodyPr>
          <a:lstStyle/>
          <a:p>
            <a:pPr algn="l"/>
            <a:r>
              <a:rPr sz="650" b="1" i="0">
                <a:solidFill>
                  <a:srgbClr val="586586"/>
                </a:solidFill>
                <a:latin typeface="Outfit"/>
              </a:rPr>
              <a:t>ORGANISATION</a:t>
            </a:r>
          </a:p>
        </p:txBody>
      </p:sp>
      <p:sp>
        <p:nvSpPr>
          <p:cNvPr id="18" name="TextBox 17"/>
          <p:cNvSpPr txBox="1"/>
          <p:nvPr/>
        </p:nvSpPr>
        <p:spPr>
          <a:xfrm>
            <a:off x="393192" y="2498725"/>
            <a:ext cx="1525219" cy="393192"/>
          </a:xfrm>
          <a:prstGeom prst="rect">
            <a:avLst/>
          </a:prstGeom>
          <a:noFill/>
        </p:spPr>
        <p:txBody>
          <a:bodyPr wrap="square" anchor="t" lIns="0" rIns="0" tIns="0" bIns="0">
            <a:spAutoFit/>
          </a:bodyPr>
          <a:lstStyle/>
          <a:p>
            <a:pPr algn="l">
              <a:lnSpc>
                <a:spcPct val="120000"/>
              </a:lnSpc>
            </a:pPr>
            <a:r>
              <a:rPr sz="800" b="1" i="0">
                <a:solidFill>
                  <a:srgbClr val="0E2356"/>
                </a:solidFill>
                <a:latin typeface="Outfit"/>
              </a:rPr>
              <a:t>Diagnostiquer</a:t>
            </a:r>
            <a:r>
              <a:rPr sz="800" b="0" i="0">
                <a:solidFill>
                  <a:srgbClr val="0E2356"/>
                </a:solidFill>
                <a:latin typeface="Outfit"/>
              </a:rPr>
              <a:t> et restituer avec les parties prenantes.</a:t>
            </a:r>
          </a:p>
        </p:txBody>
      </p:sp>
      <p:sp>
        <p:nvSpPr>
          <p:cNvPr id="19" name="TextBox 18"/>
          <p:cNvSpPr txBox="1"/>
          <p:nvPr/>
        </p:nvSpPr>
        <p:spPr>
          <a:xfrm>
            <a:off x="393192" y="2965069"/>
            <a:ext cx="1525219" cy="118872"/>
          </a:xfrm>
          <a:prstGeom prst="rect">
            <a:avLst/>
          </a:prstGeom>
          <a:noFill/>
        </p:spPr>
        <p:txBody>
          <a:bodyPr wrap="square" anchor="t" lIns="0" rIns="0" tIns="0" bIns="0">
            <a:noAutofit/>
          </a:bodyPr>
          <a:lstStyle/>
          <a:p>
            <a:pPr algn="l"/>
            <a:r>
              <a:rPr sz="650" b="1" i="0">
                <a:solidFill>
                  <a:srgbClr val="586586"/>
                </a:solidFill>
                <a:latin typeface="Outfit"/>
              </a:rPr>
              <a:t>INFRA</a:t>
            </a:r>
          </a:p>
        </p:txBody>
      </p:sp>
      <p:sp>
        <p:nvSpPr>
          <p:cNvPr id="20" name="TextBox 19"/>
          <p:cNvSpPr txBox="1"/>
          <p:nvPr/>
        </p:nvSpPr>
        <p:spPr>
          <a:xfrm>
            <a:off x="393192" y="3083941"/>
            <a:ext cx="1525219" cy="393192"/>
          </a:xfrm>
          <a:prstGeom prst="rect">
            <a:avLst/>
          </a:prstGeom>
          <a:noFill/>
        </p:spPr>
        <p:txBody>
          <a:bodyPr wrap="square" anchor="t" lIns="0" rIns="0" tIns="0" bIns="0">
            <a:spAutoFit/>
          </a:bodyPr>
          <a:lstStyle/>
          <a:p>
            <a:pPr algn="l">
              <a:lnSpc>
                <a:spcPct val="120000"/>
              </a:lnSpc>
            </a:pPr>
            <a:r>
              <a:rPr sz="800" b="1" i="0">
                <a:solidFill>
                  <a:srgbClr val="0E2356"/>
                </a:solidFill>
                <a:latin typeface="Outfit"/>
              </a:rPr>
              <a:t>Cartographier</a:t>
            </a:r>
            <a:r>
              <a:rPr sz="800" b="0" i="0">
                <a:solidFill>
                  <a:srgbClr val="0E2356"/>
                </a:solidFill>
                <a:latin typeface="Outfit"/>
              </a:rPr>
              <a:t> la dette, les risques et les licences en tension.</a:t>
            </a:r>
          </a:p>
        </p:txBody>
      </p:sp>
      <p:sp>
        <p:nvSpPr>
          <p:cNvPr id="21" name="Rectangle 20"/>
          <p:cNvSpPr/>
          <p:nvPr/>
        </p:nvSpPr>
        <p:spPr>
          <a:xfrm>
            <a:off x="393192" y="3541141"/>
            <a:ext cx="1525219"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3192" y="3596005"/>
            <a:ext cx="1525219" cy="256032"/>
          </a:xfrm>
          <a:prstGeom prst="rect">
            <a:avLst/>
          </a:prstGeom>
          <a:noFill/>
        </p:spPr>
        <p:txBody>
          <a:bodyPr wrap="square" anchor="t" lIns="0" rIns="0" tIns="0" bIns="0">
            <a:spAutoFit/>
          </a:bodyPr>
          <a:lstStyle/>
          <a:p>
            <a:pPr algn="l">
              <a:lnSpc>
                <a:spcPct val="120000"/>
              </a:lnSpc>
            </a:pPr>
            <a:r>
              <a:rPr sz="750" b="0" i="0">
                <a:solidFill>
                  <a:srgbClr val="586586"/>
                </a:solidFill>
                <a:latin typeface="Outfit"/>
              </a:rPr>
              <a:t>Livrable : </a:t>
            </a:r>
            <a:r>
              <a:rPr sz="750" b="1" i="0">
                <a:solidFill>
                  <a:srgbClr val="0E2356"/>
                </a:solidFill>
                <a:latin typeface="Outfit"/>
              </a:rPr>
              <a:t>Deck exécutif de restitution.</a:t>
            </a:r>
          </a:p>
        </p:txBody>
      </p:sp>
      <p:sp>
        <p:nvSpPr>
          <p:cNvPr id="23" name="Rounded Rectangle 22"/>
          <p:cNvSpPr/>
          <p:nvPr/>
        </p:nvSpPr>
        <p:spPr>
          <a:xfrm>
            <a:off x="2055571" y="1406525"/>
            <a:ext cx="1616659" cy="2527808"/>
          </a:xfrm>
          <a:prstGeom prst="roundRect">
            <a:avLst>
              <a:gd name="adj" fmla="val 8000"/>
            </a:avLst>
          </a:prstGeom>
          <a:solidFill>
            <a:srgbClr val="FFFFFF"/>
          </a:solidFill>
          <a:ln w="13970">
            <a:solidFill>
              <a:srgbClr val="5865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Chevron 23"/>
          <p:cNvSpPr/>
          <p:nvPr/>
        </p:nvSpPr>
        <p:spPr>
          <a:xfrm>
            <a:off x="2104070" y="1744853"/>
            <a:ext cx="1519659" cy="305816"/>
          </a:xfrm>
          <a:prstGeom prst="chevron">
            <a:avLst/>
          </a:prstGeom>
          <a:solidFill>
            <a:srgbClr val="FFFFFF"/>
          </a:solidFill>
          <a:ln w="1397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145218" y="1744853"/>
            <a:ext cx="1437363" cy="305816"/>
          </a:xfrm>
          <a:prstGeom prst="rect">
            <a:avLst/>
          </a:prstGeom>
          <a:noFill/>
        </p:spPr>
        <p:txBody>
          <a:bodyPr wrap="square" anchor="ctr" lIns="0" rIns="0" tIns="0" bIns="0">
            <a:noAutofit/>
          </a:bodyPr>
          <a:lstStyle/>
          <a:p>
            <a:pPr algn="ctr">
              <a:lnSpc>
                <a:spcPct val="105000"/>
              </a:lnSpc>
            </a:pPr>
            <a:r>
              <a:rPr sz="800" b="1" i="0">
                <a:solidFill>
                  <a:srgbClr val="586586"/>
                </a:solidFill>
                <a:latin typeface="Outfit"/>
              </a:rPr>
              <a:t>Constitution du TOM — optionnel</a:t>
            </a:r>
          </a:p>
        </p:txBody>
      </p:sp>
      <p:sp>
        <p:nvSpPr>
          <p:cNvPr id="26" name="Rounded Rectangle 25"/>
          <p:cNvSpPr/>
          <p:nvPr/>
        </p:nvSpPr>
        <p:spPr>
          <a:xfrm>
            <a:off x="2681020" y="1424813"/>
            <a:ext cx="365760" cy="365760"/>
          </a:xfrm>
          <a:prstGeom prst="roundRect">
            <a:avLst>
              <a:gd name="adj" fmla="val 50000"/>
            </a:avLst>
          </a:prstGeom>
          <a:solidFill>
            <a:srgbClr val="E7E9EE"/>
          </a:solidFill>
          <a:ln w="15240">
            <a:solidFill>
              <a:srgbClr val="5865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681020" y="1424813"/>
            <a:ext cx="365760" cy="365760"/>
          </a:xfrm>
          <a:prstGeom prst="rect">
            <a:avLst/>
          </a:prstGeom>
          <a:noFill/>
        </p:spPr>
        <p:txBody>
          <a:bodyPr wrap="square" anchor="ctr" lIns="0" rIns="0" tIns="0" bIns="0">
            <a:noAutofit/>
          </a:bodyPr>
          <a:lstStyle/>
          <a:p>
            <a:pPr algn="ctr"/>
            <a:r>
              <a:rPr sz="1200" b="0" i="0">
                <a:solidFill>
                  <a:srgbClr val="586586"/>
                </a:solidFill>
                <a:latin typeface="Outfit"/>
              </a:rPr>
              <a:t>+</a:t>
            </a:r>
          </a:p>
        </p:txBody>
      </p:sp>
      <p:sp>
        <p:nvSpPr>
          <p:cNvPr id="28" name="Rounded Rectangle 27"/>
          <p:cNvSpPr/>
          <p:nvPr/>
        </p:nvSpPr>
        <p:spPr>
          <a:xfrm>
            <a:off x="2424988" y="2105533"/>
            <a:ext cx="877824" cy="182880"/>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424988" y="2105533"/>
            <a:ext cx="877824" cy="182880"/>
          </a:xfrm>
          <a:prstGeom prst="rect">
            <a:avLst/>
          </a:prstGeom>
          <a:noFill/>
        </p:spPr>
        <p:txBody>
          <a:bodyPr wrap="square" anchor="ctr" lIns="0" rIns="0" tIns="0" bIns="0">
            <a:noAutofit/>
          </a:bodyPr>
          <a:lstStyle/>
          <a:p>
            <a:pPr algn="ctr"/>
            <a:r>
              <a:rPr sz="750" b="1" i="0">
                <a:solidFill>
                  <a:srgbClr val="FFFFFF"/>
                </a:solidFill>
                <a:latin typeface="Outfit"/>
              </a:rPr>
              <a:t>3–4 sem.</a:t>
            </a:r>
          </a:p>
        </p:txBody>
      </p:sp>
      <p:sp>
        <p:nvSpPr>
          <p:cNvPr id="30" name="TextBox 29"/>
          <p:cNvSpPr txBox="1"/>
          <p:nvPr/>
        </p:nvSpPr>
        <p:spPr>
          <a:xfrm>
            <a:off x="2101291" y="2379853"/>
            <a:ext cx="1525219" cy="118872"/>
          </a:xfrm>
          <a:prstGeom prst="rect">
            <a:avLst/>
          </a:prstGeom>
          <a:noFill/>
        </p:spPr>
        <p:txBody>
          <a:bodyPr wrap="square" anchor="t" lIns="0" rIns="0" tIns="0" bIns="0">
            <a:noAutofit/>
          </a:bodyPr>
          <a:lstStyle/>
          <a:p>
            <a:pPr algn="l"/>
            <a:r>
              <a:rPr sz="650" b="1" i="0">
                <a:solidFill>
                  <a:srgbClr val="586586"/>
                </a:solidFill>
                <a:latin typeface="Outfit"/>
              </a:rPr>
              <a:t>ORGANISATION</a:t>
            </a:r>
          </a:p>
        </p:txBody>
      </p:sp>
      <p:sp>
        <p:nvSpPr>
          <p:cNvPr id="31" name="TextBox 30"/>
          <p:cNvSpPr txBox="1"/>
          <p:nvPr/>
        </p:nvSpPr>
        <p:spPr>
          <a:xfrm>
            <a:off x="2101291" y="2498725"/>
            <a:ext cx="1525219" cy="393192"/>
          </a:xfrm>
          <a:prstGeom prst="rect">
            <a:avLst/>
          </a:prstGeom>
          <a:noFill/>
        </p:spPr>
        <p:txBody>
          <a:bodyPr wrap="square" anchor="t" lIns="0" rIns="0" tIns="0" bIns="0">
            <a:spAutoFit/>
          </a:bodyPr>
          <a:lstStyle/>
          <a:p>
            <a:pPr algn="l">
              <a:lnSpc>
                <a:spcPct val="120000"/>
              </a:lnSpc>
            </a:pPr>
            <a:r>
              <a:rPr sz="800" b="1" i="0">
                <a:solidFill>
                  <a:srgbClr val="586586"/>
                </a:solidFill>
                <a:latin typeface="Outfit"/>
              </a:rPr>
              <a:t>Formaliser</a:t>
            </a:r>
            <a:r>
              <a:rPr sz="800" b="0" i="0">
                <a:solidFill>
                  <a:srgbClr val="586586"/>
                </a:solidFill>
                <a:latin typeface="Outfit"/>
              </a:rPr>
              <a:t> le Target Operating Model : rôles et gouvernance.</a:t>
            </a:r>
          </a:p>
        </p:txBody>
      </p:sp>
      <p:sp>
        <p:nvSpPr>
          <p:cNvPr id="32" name="TextBox 31"/>
          <p:cNvSpPr txBox="1"/>
          <p:nvPr/>
        </p:nvSpPr>
        <p:spPr>
          <a:xfrm>
            <a:off x="2101291" y="2965069"/>
            <a:ext cx="1525219" cy="118872"/>
          </a:xfrm>
          <a:prstGeom prst="rect">
            <a:avLst/>
          </a:prstGeom>
          <a:noFill/>
        </p:spPr>
        <p:txBody>
          <a:bodyPr wrap="square" anchor="t" lIns="0" rIns="0" tIns="0" bIns="0">
            <a:noAutofit/>
          </a:bodyPr>
          <a:lstStyle/>
          <a:p>
            <a:pPr algn="l"/>
            <a:r>
              <a:rPr sz="650" b="1" i="0">
                <a:solidFill>
                  <a:srgbClr val="586586"/>
                </a:solidFill>
                <a:latin typeface="Outfit"/>
              </a:rPr>
              <a:t>INFRA</a:t>
            </a:r>
          </a:p>
        </p:txBody>
      </p:sp>
      <p:sp>
        <p:nvSpPr>
          <p:cNvPr id="33" name="TextBox 32"/>
          <p:cNvSpPr txBox="1"/>
          <p:nvPr/>
        </p:nvSpPr>
        <p:spPr>
          <a:xfrm>
            <a:off x="2101291" y="3083941"/>
            <a:ext cx="1525219" cy="393192"/>
          </a:xfrm>
          <a:prstGeom prst="rect">
            <a:avLst/>
          </a:prstGeom>
          <a:noFill/>
        </p:spPr>
        <p:txBody>
          <a:bodyPr wrap="square" anchor="t" lIns="0" rIns="0" tIns="0" bIns="0">
            <a:spAutoFit/>
          </a:bodyPr>
          <a:lstStyle/>
          <a:p>
            <a:pPr algn="l">
              <a:lnSpc>
                <a:spcPct val="120000"/>
              </a:lnSpc>
            </a:pPr>
            <a:r>
              <a:rPr sz="800" b="1" i="0">
                <a:solidFill>
                  <a:srgbClr val="586586"/>
                </a:solidFill>
                <a:latin typeface="Outfit"/>
              </a:rPr>
              <a:t>Poser</a:t>
            </a:r>
            <a:r>
              <a:rPr sz="800" b="0" i="0">
                <a:solidFill>
                  <a:srgbClr val="586586"/>
                </a:solidFill>
                <a:latin typeface="Outfit"/>
              </a:rPr>
              <a:t> le référentiel de standards et d'outillage à tenir.</a:t>
            </a:r>
          </a:p>
        </p:txBody>
      </p:sp>
      <p:sp>
        <p:nvSpPr>
          <p:cNvPr id="34" name="Rectangle 33"/>
          <p:cNvSpPr/>
          <p:nvPr/>
        </p:nvSpPr>
        <p:spPr>
          <a:xfrm>
            <a:off x="2101291" y="3541141"/>
            <a:ext cx="1525219"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101291" y="3596005"/>
            <a:ext cx="1525219" cy="256032"/>
          </a:xfrm>
          <a:prstGeom prst="rect">
            <a:avLst/>
          </a:prstGeom>
          <a:noFill/>
        </p:spPr>
        <p:txBody>
          <a:bodyPr wrap="square" anchor="t" lIns="0" rIns="0" tIns="0" bIns="0">
            <a:spAutoFit/>
          </a:bodyPr>
          <a:lstStyle/>
          <a:p>
            <a:pPr algn="l">
              <a:lnSpc>
                <a:spcPct val="120000"/>
              </a:lnSpc>
            </a:pPr>
            <a:r>
              <a:rPr sz="750" b="0" i="0">
                <a:solidFill>
                  <a:srgbClr val="586586"/>
                </a:solidFill>
                <a:latin typeface="Outfit"/>
              </a:rPr>
              <a:t>Livrable : </a:t>
            </a:r>
            <a:r>
              <a:rPr sz="750" b="1" i="0">
                <a:solidFill>
                  <a:srgbClr val="586586"/>
                </a:solidFill>
                <a:latin typeface="Outfit"/>
              </a:rPr>
              <a:t>TOM et roadmap de déploiement.</a:t>
            </a:r>
          </a:p>
        </p:txBody>
      </p:sp>
      <p:sp>
        <p:nvSpPr>
          <p:cNvPr id="36" name="Rounded Rectangle 35"/>
          <p:cNvSpPr/>
          <p:nvPr/>
        </p:nvSpPr>
        <p:spPr>
          <a:xfrm>
            <a:off x="3763670" y="1406525"/>
            <a:ext cx="1616659" cy="2527808"/>
          </a:xfrm>
          <a:prstGeom prst="roundRect">
            <a:avLst>
              <a:gd name="adj" fmla="val 8000"/>
            </a:avLst>
          </a:prstGeom>
          <a:solidFill>
            <a:srgbClr val="FFFFFF"/>
          </a:solidFill>
          <a:ln w="1397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Chevron 36"/>
          <p:cNvSpPr/>
          <p:nvPr/>
        </p:nvSpPr>
        <p:spPr>
          <a:xfrm>
            <a:off x="3812170" y="1744853"/>
            <a:ext cx="1519659" cy="305816"/>
          </a:xfrm>
          <a:prstGeom prst="chevron">
            <a:avLst/>
          </a:prstGeom>
          <a:solidFill>
            <a:srgbClr val="FFFFFF"/>
          </a:solidFill>
          <a:ln w="1397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853318" y="1744853"/>
            <a:ext cx="1437363" cy="305816"/>
          </a:xfrm>
          <a:prstGeom prst="rect">
            <a:avLst/>
          </a:prstGeom>
          <a:noFill/>
        </p:spPr>
        <p:txBody>
          <a:bodyPr wrap="square" anchor="ctr" lIns="0" rIns="0" tIns="0" bIns="0">
            <a:noAutofit/>
          </a:bodyPr>
          <a:lstStyle/>
          <a:p>
            <a:pPr algn="ctr">
              <a:lnSpc>
                <a:spcPct val="105000"/>
              </a:lnSpc>
            </a:pPr>
            <a:r>
              <a:rPr sz="800" b="1" i="0">
                <a:solidFill>
                  <a:srgbClr val="0E2356"/>
                </a:solidFill>
                <a:latin typeface="Outfit"/>
              </a:rPr>
              <a:t>Premier déploiement</a:t>
            </a:r>
          </a:p>
        </p:txBody>
      </p:sp>
      <p:sp>
        <p:nvSpPr>
          <p:cNvPr id="39" name="Rounded Rectangle 38"/>
          <p:cNvSpPr/>
          <p:nvPr/>
        </p:nvSpPr>
        <p:spPr>
          <a:xfrm>
            <a:off x="4389119" y="1424813"/>
            <a:ext cx="365760" cy="36576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389119" y="1424813"/>
            <a:ext cx="365760" cy="365760"/>
          </a:xfrm>
          <a:prstGeom prst="rect">
            <a:avLst/>
          </a:prstGeom>
          <a:noFill/>
        </p:spPr>
        <p:txBody>
          <a:bodyPr wrap="square" anchor="ctr" lIns="0" rIns="0" tIns="0" bIns="0">
            <a:noAutofit/>
          </a:bodyPr>
          <a:lstStyle/>
          <a:p>
            <a:pPr algn="ctr"/>
            <a:r>
              <a:rPr sz="1200" b="1" i="0">
                <a:solidFill>
                  <a:srgbClr val="FFFFFF"/>
                </a:solidFill>
                <a:latin typeface="Arial"/>
              </a:rPr>
              <a:t>②</a:t>
            </a:r>
          </a:p>
        </p:txBody>
      </p:sp>
      <p:sp>
        <p:nvSpPr>
          <p:cNvPr id="41" name="Rounded Rectangle 40"/>
          <p:cNvSpPr/>
          <p:nvPr/>
        </p:nvSpPr>
        <p:spPr>
          <a:xfrm>
            <a:off x="4133087" y="2105533"/>
            <a:ext cx="877824" cy="1828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33087" y="2105533"/>
            <a:ext cx="877824" cy="182880"/>
          </a:xfrm>
          <a:prstGeom prst="rect">
            <a:avLst/>
          </a:prstGeom>
          <a:noFill/>
        </p:spPr>
        <p:txBody>
          <a:bodyPr wrap="square" anchor="ctr" lIns="0" rIns="0" tIns="0" bIns="0">
            <a:noAutofit/>
          </a:bodyPr>
          <a:lstStyle/>
          <a:p>
            <a:pPr algn="ctr"/>
            <a:r>
              <a:rPr sz="750" b="1" i="0">
                <a:solidFill>
                  <a:srgbClr val="FFFFFF"/>
                </a:solidFill>
                <a:latin typeface="Outfit"/>
              </a:rPr>
              <a:t>4–5 sem.</a:t>
            </a:r>
          </a:p>
        </p:txBody>
      </p:sp>
      <p:sp>
        <p:nvSpPr>
          <p:cNvPr id="43" name="TextBox 42"/>
          <p:cNvSpPr txBox="1"/>
          <p:nvPr/>
        </p:nvSpPr>
        <p:spPr>
          <a:xfrm>
            <a:off x="3809390" y="2379853"/>
            <a:ext cx="1525219" cy="118872"/>
          </a:xfrm>
          <a:prstGeom prst="rect">
            <a:avLst/>
          </a:prstGeom>
          <a:noFill/>
        </p:spPr>
        <p:txBody>
          <a:bodyPr wrap="square" anchor="t" lIns="0" rIns="0" tIns="0" bIns="0">
            <a:noAutofit/>
          </a:bodyPr>
          <a:lstStyle/>
          <a:p>
            <a:pPr algn="l"/>
            <a:r>
              <a:rPr sz="650" b="1" i="0">
                <a:solidFill>
                  <a:srgbClr val="586586"/>
                </a:solidFill>
                <a:latin typeface="Outfit"/>
              </a:rPr>
              <a:t>ORGANISATION</a:t>
            </a:r>
          </a:p>
        </p:txBody>
      </p:sp>
      <p:sp>
        <p:nvSpPr>
          <p:cNvPr id="44" name="TextBox 43"/>
          <p:cNvSpPr txBox="1"/>
          <p:nvPr/>
        </p:nvSpPr>
        <p:spPr>
          <a:xfrm>
            <a:off x="3809390" y="2498725"/>
            <a:ext cx="1525219" cy="393192"/>
          </a:xfrm>
          <a:prstGeom prst="rect">
            <a:avLst/>
          </a:prstGeom>
          <a:noFill/>
        </p:spPr>
        <p:txBody>
          <a:bodyPr wrap="square" anchor="t" lIns="0" rIns="0" tIns="0" bIns="0">
            <a:spAutoFit/>
          </a:bodyPr>
          <a:lstStyle/>
          <a:p>
            <a:pPr algn="l">
              <a:lnSpc>
                <a:spcPct val="120000"/>
              </a:lnSpc>
            </a:pPr>
            <a:r>
              <a:rPr sz="800" b="1" i="0">
                <a:solidFill>
                  <a:srgbClr val="0E2356"/>
                </a:solidFill>
                <a:latin typeface="Outfit"/>
              </a:rPr>
              <a:t>Embarquer</a:t>
            </a:r>
            <a:r>
              <a:rPr sz="800" b="0" i="0">
                <a:solidFill>
                  <a:srgbClr val="0E2356"/>
                </a:solidFill>
                <a:latin typeface="Outfit"/>
              </a:rPr>
              <a:t> des équipes pilotes volontaires et prouver la valeur.</a:t>
            </a:r>
          </a:p>
        </p:txBody>
      </p:sp>
      <p:sp>
        <p:nvSpPr>
          <p:cNvPr id="45" name="TextBox 44"/>
          <p:cNvSpPr txBox="1"/>
          <p:nvPr/>
        </p:nvSpPr>
        <p:spPr>
          <a:xfrm>
            <a:off x="3809390" y="2965069"/>
            <a:ext cx="1525219" cy="118872"/>
          </a:xfrm>
          <a:prstGeom prst="rect">
            <a:avLst/>
          </a:prstGeom>
          <a:noFill/>
        </p:spPr>
        <p:txBody>
          <a:bodyPr wrap="square" anchor="t" lIns="0" rIns="0" tIns="0" bIns="0">
            <a:noAutofit/>
          </a:bodyPr>
          <a:lstStyle/>
          <a:p>
            <a:pPr algn="l"/>
            <a:r>
              <a:rPr sz="650" b="1" i="0">
                <a:solidFill>
                  <a:srgbClr val="586586"/>
                </a:solidFill>
                <a:latin typeface="Outfit"/>
              </a:rPr>
              <a:t>INFRA</a:t>
            </a:r>
          </a:p>
        </p:txBody>
      </p:sp>
      <p:sp>
        <p:nvSpPr>
          <p:cNvPr id="46" name="TextBox 45"/>
          <p:cNvSpPr txBox="1"/>
          <p:nvPr/>
        </p:nvSpPr>
        <p:spPr>
          <a:xfrm>
            <a:off x="3809390" y="3083941"/>
            <a:ext cx="1525219" cy="393192"/>
          </a:xfrm>
          <a:prstGeom prst="rect">
            <a:avLst/>
          </a:prstGeom>
          <a:noFill/>
        </p:spPr>
        <p:txBody>
          <a:bodyPr wrap="square" anchor="t" lIns="0" rIns="0" tIns="0" bIns="0">
            <a:spAutoFit/>
          </a:bodyPr>
          <a:lstStyle/>
          <a:p>
            <a:pPr algn="l">
              <a:lnSpc>
                <a:spcPct val="120000"/>
              </a:lnSpc>
            </a:pPr>
            <a:r>
              <a:rPr sz="800" b="1" i="0">
                <a:solidFill>
                  <a:srgbClr val="0E2356"/>
                </a:solidFill>
                <a:latin typeface="Outfit"/>
              </a:rPr>
              <a:t>Décommissionner</a:t>
            </a:r>
            <a:r>
              <a:rPr sz="800" b="0" i="0">
                <a:solidFill>
                  <a:srgbClr val="0E2356"/>
                </a:solidFill>
                <a:latin typeface="Outfit"/>
              </a:rPr>
              <a:t> ce qui peut l'être, observer ce qui reste.</a:t>
            </a:r>
          </a:p>
        </p:txBody>
      </p:sp>
      <p:sp>
        <p:nvSpPr>
          <p:cNvPr id="47" name="Rectangle 46"/>
          <p:cNvSpPr/>
          <p:nvPr/>
        </p:nvSpPr>
        <p:spPr>
          <a:xfrm>
            <a:off x="3809390" y="3541141"/>
            <a:ext cx="1525219"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809390" y="3596005"/>
            <a:ext cx="1525219" cy="256032"/>
          </a:xfrm>
          <a:prstGeom prst="rect">
            <a:avLst/>
          </a:prstGeom>
          <a:noFill/>
        </p:spPr>
        <p:txBody>
          <a:bodyPr wrap="square" anchor="t" lIns="0" rIns="0" tIns="0" bIns="0">
            <a:spAutoFit/>
          </a:bodyPr>
          <a:lstStyle/>
          <a:p>
            <a:pPr algn="l">
              <a:lnSpc>
                <a:spcPct val="120000"/>
              </a:lnSpc>
            </a:pPr>
            <a:r>
              <a:rPr sz="750" b="0" i="0">
                <a:solidFill>
                  <a:srgbClr val="586586"/>
                </a:solidFill>
                <a:latin typeface="Outfit"/>
              </a:rPr>
              <a:t>Livrable : </a:t>
            </a:r>
            <a:r>
              <a:rPr sz="750" b="1" i="0">
                <a:solidFill>
                  <a:srgbClr val="0E2356"/>
                </a:solidFill>
                <a:latin typeface="Outfit"/>
              </a:rPr>
              <a:t>Évaluation du déploiement pilote.</a:t>
            </a:r>
          </a:p>
        </p:txBody>
      </p:sp>
      <p:sp>
        <p:nvSpPr>
          <p:cNvPr id="49" name="Rounded Rectangle 48"/>
          <p:cNvSpPr/>
          <p:nvPr/>
        </p:nvSpPr>
        <p:spPr>
          <a:xfrm>
            <a:off x="5471769" y="1406525"/>
            <a:ext cx="1616659" cy="2527808"/>
          </a:xfrm>
          <a:prstGeom prst="roundRect">
            <a:avLst>
              <a:gd name="adj" fmla="val 8000"/>
            </a:avLst>
          </a:prstGeom>
          <a:solidFill>
            <a:srgbClr val="FFFFFF"/>
          </a:solidFill>
          <a:ln w="1397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Chevron 49"/>
          <p:cNvSpPr/>
          <p:nvPr/>
        </p:nvSpPr>
        <p:spPr>
          <a:xfrm>
            <a:off x="5520269" y="1744853"/>
            <a:ext cx="1519659" cy="305816"/>
          </a:xfrm>
          <a:prstGeom prst="chevron">
            <a:avLst/>
          </a:prstGeom>
          <a:solidFill>
            <a:srgbClr val="FFFFFF"/>
          </a:solidFill>
          <a:ln w="1397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561417" y="1744853"/>
            <a:ext cx="1437363" cy="305816"/>
          </a:xfrm>
          <a:prstGeom prst="rect">
            <a:avLst/>
          </a:prstGeom>
          <a:noFill/>
        </p:spPr>
        <p:txBody>
          <a:bodyPr wrap="square" anchor="ctr" lIns="0" rIns="0" tIns="0" bIns="0">
            <a:noAutofit/>
          </a:bodyPr>
          <a:lstStyle/>
          <a:p>
            <a:pPr algn="ctr">
              <a:lnSpc>
                <a:spcPct val="105000"/>
              </a:lnSpc>
            </a:pPr>
            <a:r>
              <a:rPr sz="800" b="1" i="0">
                <a:solidFill>
                  <a:srgbClr val="0E2356"/>
                </a:solidFill>
                <a:latin typeface="Outfit"/>
              </a:rPr>
              <a:t>Implémentation itérative</a:t>
            </a:r>
          </a:p>
        </p:txBody>
      </p:sp>
      <p:sp>
        <p:nvSpPr>
          <p:cNvPr id="52" name="Rounded Rectangle 51"/>
          <p:cNvSpPr/>
          <p:nvPr/>
        </p:nvSpPr>
        <p:spPr>
          <a:xfrm>
            <a:off x="6097219" y="1424813"/>
            <a:ext cx="365760" cy="36576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097219" y="1424813"/>
            <a:ext cx="365760" cy="365760"/>
          </a:xfrm>
          <a:prstGeom prst="rect">
            <a:avLst/>
          </a:prstGeom>
          <a:noFill/>
        </p:spPr>
        <p:txBody>
          <a:bodyPr wrap="square" anchor="ctr" lIns="0" rIns="0" tIns="0" bIns="0">
            <a:noAutofit/>
          </a:bodyPr>
          <a:lstStyle/>
          <a:p>
            <a:pPr algn="ctr"/>
            <a:r>
              <a:rPr sz="1200" b="1" i="0">
                <a:solidFill>
                  <a:srgbClr val="FFFFFF"/>
                </a:solidFill>
                <a:latin typeface="Arial"/>
              </a:rPr>
              <a:t>③</a:t>
            </a:r>
          </a:p>
        </p:txBody>
      </p:sp>
      <p:sp>
        <p:nvSpPr>
          <p:cNvPr id="54" name="Rounded Rectangle 53"/>
          <p:cNvSpPr/>
          <p:nvPr/>
        </p:nvSpPr>
        <p:spPr>
          <a:xfrm>
            <a:off x="5841187" y="2105533"/>
            <a:ext cx="877824" cy="1828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841187" y="2105533"/>
            <a:ext cx="877824" cy="182880"/>
          </a:xfrm>
          <a:prstGeom prst="rect">
            <a:avLst/>
          </a:prstGeom>
          <a:noFill/>
        </p:spPr>
        <p:txBody>
          <a:bodyPr wrap="square" anchor="ctr" lIns="0" rIns="0" tIns="0" bIns="0">
            <a:noAutofit/>
          </a:bodyPr>
          <a:lstStyle/>
          <a:p>
            <a:pPr algn="ctr"/>
            <a:r>
              <a:rPr sz="750" b="1" i="0">
                <a:solidFill>
                  <a:srgbClr val="FFFFFF"/>
                </a:solidFill>
                <a:latin typeface="Outfit"/>
              </a:rPr>
              <a:t>→ T+6-12 mois</a:t>
            </a:r>
          </a:p>
        </p:txBody>
      </p:sp>
      <p:sp>
        <p:nvSpPr>
          <p:cNvPr id="56" name="TextBox 55"/>
          <p:cNvSpPr txBox="1"/>
          <p:nvPr/>
        </p:nvSpPr>
        <p:spPr>
          <a:xfrm>
            <a:off x="5517489" y="2379853"/>
            <a:ext cx="1525219" cy="118872"/>
          </a:xfrm>
          <a:prstGeom prst="rect">
            <a:avLst/>
          </a:prstGeom>
          <a:noFill/>
        </p:spPr>
        <p:txBody>
          <a:bodyPr wrap="square" anchor="t" lIns="0" rIns="0" tIns="0" bIns="0">
            <a:noAutofit/>
          </a:bodyPr>
          <a:lstStyle/>
          <a:p>
            <a:pPr algn="l"/>
            <a:r>
              <a:rPr sz="650" b="1" i="0">
                <a:solidFill>
                  <a:srgbClr val="586586"/>
                </a:solidFill>
                <a:latin typeface="Outfit"/>
              </a:rPr>
              <a:t>ORGANISATION</a:t>
            </a:r>
          </a:p>
        </p:txBody>
      </p:sp>
      <p:sp>
        <p:nvSpPr>
          <p:cNvPr id="57" name="TextBox 56"/>
          <p:cNvSpPr txBox="1"/>
          <p:nvPr/>
        </p:nvSpPr>
        <p:spPr>
          <a:xfrm>
            <a:off x="5517489" y="2498725"/>
            <a:ext cx="1525219" cy="393192"/>
          </a:xfrm>
          <a:prstGeom prst="rect">
            <a:avLst/>
          </a:prstGeom>
          <a:noFill/>
        </p:spPr>
        <p:txBody>
          <a:bodyPr wrap="square" anchor="t" lIns="0" rIns="0" tIns="0" bIns="0">
            <a:spAutoFit/>
          </a:bodyPr>
          <a:lstStyle/>
          <a:p>
            <a:pPr algn="l">
              <a:lnSpc>
                <a:spcPct val="120000"/>
              </a:lnSpc>
            </a:pPr>
            <a:r>
              <a:rPr sz="800" b="1" i="0">
                <a:solidFill>
                  <a:srgbClr val="0E2356"/>
                </a:solidFill>
                <a:latin typeface="Outfit"/>
              </a:rPr>
              <a:t>Généraliser</a:t>
            </a:r>
            <a:r>
              <a:rPr sz="800" b="0" i="0">
                <a:solidFill>
                  <a:srgbClr val="0E2356"/>
                </a:solidFill>
                <a:latin typeface="Outfit"/>
              </a:rPr>
              <a:t> équipe par équipe, en passant de coach à délégué.</a:t>
            </a:r>
          </a:p>
        </p:txBody>
      </p:sp>
      <p:sp>
        <p:nvSpPr>
          <p:cNvPr id="58" name="TextBox 57"/>
          <p:cNvSpPr txBox="1"/>
          <p:nvPr/>
        </p:nvSpPr>
        <p:spPr>
          <a:xfrm>
            <a:off x="5517489" y="2965069"/>
            <a:ext cx="1525219" cy="118872"/>
          </a:xfrm>
          <a:prstGeom prst="rect">
            <a:avLst/>
          </a:prstGeom>
          <a:noFill/>
        </p:spPr>
        <p:txBody>
          <a:bodyPr wrap="square" anchor="t" lIns="0" rIns="0" tIns="0" bIns="0">
            <a:noAutofit/>
          </a:bodyPr>
          <a:lstStyle/>
          <a:p>
            <a:pPr algn="l"/>
            <a:r>
              <a:rPr sz="650" b="1" i="0">
                <a:solidFill>
                  <a:srgbClr val="586586"/>
                </a:solidFill>
                <a:latin typeface="Outfit"/>
              </a:rPr>
              <a:t>INFRA</a:t>
            </a:r>
          </a:p>
        </p:txBody>
      </p:sp>
      <p:sp>
        <p:nvSpPr>
          <p:cNvPr id="59" name="TextBox 58"/>
          <p:cNvSpPr txBox="1"/>
          <p:nvPr/>
        </p:nvSpPr>
        <p:spPr>
          <a:xfrm>
            <a:off x="5517489" y="3083941"/>
            <a:ext cx="1525219" cy="393192"/>
          </a:xfrm>
          <a:prstGeom prst="rect">
            <a:avLst/>
          </a:prstGeom>
          <a:noFill/>
        </p:spPr>
        <p:txBody>
          <a:bodyPr wrap="square" anchor="t" lIns="0" rIns="0" tIns="0" bIns="0">
            <a:spAutoFit/>
          </a:bodyPr>
          <a:lstStyle/>
          <a:p>
            <a:pPr algn="l">
              <a:lnSpc>
                <a:spcPct val="120000"/>
              </a:lnSpc>
            </a:pPr>
            <a:r>
              <a:rPr sz="800" b="1" i="0">
                <a:solidFill>
                  <a:srgbClr val="0E2356"/>
                </a:solidFill>
                <a:latin typeface="Outfit"/>
              </a:rPr>
              <a:t>Standardiser</a:t>
            </a:r>
            <a:r>
              <a:rPr sz="800" b="0" i="0">
                <a:solidFill>
                  <a:srgbClr val="0E2356"/>
                </a:solidFill>
                <a:latin typeface="Outfit"/>
              </a:rPr>
              <a:t> et outiller : CI/CD et infra as code par défaut.</a:t>
            </a:r>
          </a:p>
        </p:txBody>
      </p:sp>
      <p:sp>
        <p:nvSpPr>
          <p:cNvPr id="60" name="Rectangle 59"/>
          <p:cNvSpPr/>
          <p:nvPr/>
        </p:nvSpPr>
        <p:spPr>
          <a:xfrm>
            <a:off x="5517489" y="3541141"/>
            <a:ext cx="1525219"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517489" y="3596005"/>
            <a:ext cx="1525219" cy="256032"/>
          </a:xfrm>
          <a:prstGeom prst="rect">
            <a:avLst/>
          </a:prstGeom>
          <a:noFill/>
        </p:spPr>
        <p:txBody>
          <a:bodyPr wrap="square" anchor="t" lIns="0" rIns="0" tIns="0" bIns="0">
            <a:spAutoFit/>
          </a:bodyPr>
          <a:lstStyle/>
          <a:p>
            <a:pPr algn="l">
              <a:lnSpc>
                <a:spcPct val="120000"/>
              </a:lnSpc>
            </a:pPr>
            <a:r>
              <a:rPr sz="750" b="0" i="0">
                <a:solidFill>
                  <a:srgbClr val="586586"/>
                </a:solidFill>
                <a:latin typeface="Outfit"/>
              </a:rPr>
              <a:t>Livrable : </a:t>
            </a:r>
            <a:r>
              <a:rPr sz="750" b="1" i="0">
                <a:solidFill>
                  <a:srgbClr val="0E2356"/>
                </a:solidFill>
                <a:latin typeface="Outfit"/>
              </a:rPr>
              <a:t>Deck de comité de pilotage.</a:t>
            </a:r>
          </a:p>
        </p:txBody>
      </p:sp>
      <p:sp>
        <p:nvSpPr>
          <p:cNvPr id="62" name="Rounded Rectangle 61"/>
          <p:cNvSpPr/>
          <p:nvPr/>
        </p:nvSpPr>
        <p:spPr>
          <a:xfrm>
            <a:off x="7179868" y="1406525"/>
            <a:ext cx="1616659" cy="2527808"/>
          </a:xfrm>
          <a:prstGeom prst="roundRect">
            <a:avLst>
              <a:gd name="adj" fmla="val 8000"/>
            </a:avLst>
          </a:prstGeom>
          <a:solidFill>
            <a:srgbClr val="FFFFFF"/>
          </a:solidFill>
          <a:ln w="1397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Chevron 62"/>
          <p:cNvSpPr/>
          <p:nvPr/>
        </p:nvSpPr>
        <p:spPr>
          <a:xfrm>
            <a:off x="7228368" y="1744853"/>
            <a:ext cx="1519659" cy="305816"/>
          </a:xfrm>
          <a:prstGeom prst="chevron">
            <a:avLst/>
          </a:prstGeom>
          <a:solidFill>
            <a:srgbClr val="FFFFFF"/>
          </a:solidFill>
          <a:ln w="1397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269516" y="1744853"/>
            <a:ext cx="1437363" cy="305816"/>
          </a:xfrm>
          <a:prstGeom prst="rect">
            <a:avLst/>
          </a:prstGeom>
          <a:noFill/>
        </p:spPr>
        <p:txBody>
          <a:bodyPr wrap="square" anchor="ctr" lIns="0" rIns="0" tIns="0" bIns="0">
            <a:noAutofit/>
          </a:bodyPr>
          <a:lstStyle/>
          <a:p>
            <a:pPr algn="ctr">
              <a:lnSpc>
                <a:spcPct val="105000"/>
              </a:lnSpc>
            </a:pPr>
            <a:r>
              <a:rPr sz="800" b="1" i="0">
                <a:solidFill>
                  <a:srgbClr val="0E2356"/>
                </a:solidFill>
                <a:latin typeface="Outfit"/>
              </a:rPr>
              <a:t>Boucle de réévaluation</a:t>
            </a:r>
          </a:p>
        </p:txBody>
      </p:sp>
      <p:sp>
        <p:nvSpPr>
          <p:cNvPr id="65" name="Rounded Rectangle 64"/>
          <p:cNvSpPr/>
          <p:nvPr/>
        </p:nvSpPr>
        <p:spPr>
          <a:xfrm>
            <a:off x="7805318" y="1424813"/>
            <a:ext cx="365760" cy="36576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805318" y="1424813"/>
            <a:ext cx="365760" cy="365760"/>
          </a:xfrm>
          <a:prstGeom prst="rect">
            <a:avLst/>
          </a:prstGeom>
          <a:noFill/>
        </p:spPr>
        <p:txBody>
          <a:bodyPr wrap="square" anchor="ctr" lIns="0" rIns="0" tIns="0" bIns="0">
            <a:noAutofit/>
          </a:bodyPr>
          <a:lstStyle/>
          <a:p>
            <a:pPr algn="ctr"/>
            <a:r>
              <a:rPr sz="1200" b="0" i="0">
                <a:solidFill>
                  <a:srgbClr val="0E2356"/>
                </a:solidFill>
                <a:latin typeface="Arial"/>
              </a:rPr>
              <a:t>⟲</a:t>
            </a:r>
          </a:p>
        </p:txBody>
      </p:sp>
      <p:sp>
        <p:nvSpPr>
          <p:cNvPr id="67" name="Rounded Rectangle 66"/>
          <p:cNvSpPr/>
          <p:nvPr/>
        </p:nvSpPr>
        <p:spPr>
          <a:xfrm>
            <a:off x="7549286" y="2105533"/>
            <a:ext cx="877824" cy="18288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549286" y="2105533"/>
            <a:ext cx="877824" cy="182880"/>
          </a:xfrm>
          <a:prstGeom prst="rect">
            <a:avLst/>
          </a:prstGeom>
          <a:noFill/>
        </p:spPr>
        <p:txBody>
          <a:bodyPr wrap="square" anchor="ctr" lIns="0" rIns="0" tIns="0" bIns="0">
            <a:noAutofit/>
          </a:bodyPr>
          <a:lstStyle/>
          <a:p>
            <a:pPr algn="ctr"/>
            <a:r>
              <a:rPr sz="750" b="1" i="0">
                <a:solidFill>
                  <a:srgbClr val="0E2356"/>
                </a:solidFill>
                <a:latin typeface="Outfit"/>
              </a:rPr>
              <a:t>T+6-12 mois</a:t>
            </a:r>
          </a:p>
        </p:txBody>
      </p:sp>
      <p:sp>
        <p:nvSpPr>
          <p:cNvPr id="69" name="TextBox 68"/>
          <p:cNvSpPr txBox="1"/>
          <p:nvPr/>
        </p:nvSpPr>
        <p:spPr>
          <a:xfrm>
            <a:off x="7225588" y="2379853"/>
            <a:ext cx="1525219" cy="118872"/>
          </a:xfrm>
          <a:prstGeom prst="rect">
            <a:avLst/>
          </a:prstGeom>
          <a:noFill/>
        </p:spPr>
        <p:txBody>
          <a:bodyPr wrap="square" anchor="t" lIns="0" rIns="0" tIns="0" bIns="0">
            <a:noAutofit/>
          </a:bodyPr>
          <a:lstStyle/>
          <a:p>
            <a:pPr algn="l"/>
            <a:r>
              <a:rPr sz="650" b="1" i="0">
                <a:solidFill>
                  <a:srgbClr val="586586"/>
                </a:solidFill>
                <a:latin typeface="Outfit"/>
              </a:rPr>
              <a:t>ORGANISATION</a:t>
            </a:r>
          </a:p>
        </p:txBody>
      </p:sp>
      <p:sp>
        <p:nvSpPr>
          <p:cNvPr id="70" name="TextBox 69"/>
          <p:cNvSpPr txBox="1"/>
          <p:nvPr/>
        </p:nvSpPr>
        <p:spPr>
          <a:xfrm>
            <a:off x="7225588" y="2498725"/>
            <a:ext cx="1525219" cy="393192"/>
          </a:xfrm>
          <a:prstGeom prst="rect">
            <a:avLst/>
          </a:prstGeom>
          <a:noFill/>
        </p:spPr>
        <p:txBody>
          <a:bodyPr wrap="square" anchor="t" lIns="0" rIns="0" tIns="0" bIns="0">
            <a:spAutoFit/>
          </a:bodyPr>
          <a:lstStyle/>
          <a:p>
            <a:pPr algn="l">
              <a:lnSpc>
                <a:spcPct val="120000"/>
              </a:lnSpc>
            </a:pPr>
            <a:r>
              <a:rPr sz="800" b="1" i="0">
                <a:solidFill>
                  <a:srgbClr val="0E2356"/>
                </a:solidFill>
                <a:latin typeface="Outfit"/>
              </a:rPr>
              <a:t>Rejouer</a:t>
            </a:r>
            <a:r>
              <a:rPr sz="800" b="0" i="0">
                <a:solidFill>
                  <a:srgbClr val="0E2356"/>
                </a:solidFill>
                <a:latin typeface="Outfit"/>
              </a:rPr>
              <a:t> le diagnostic au même instrument qu'à T0.</a:t>
            </a:r>
          </a:p>
        </p:txBody>
      </p:sp>
      <p:sp>
        <p:nvSpPr>
          <p:cNvPr id="71" name="TextBox 70"/>
          <p:cNvSpPr txBox="1"/>
          <p:nvPr/>
        </p:nvSpPr>
        <p:spPr>
          <a:xfrm>
            <a:off x="7225588" y="2965069"/>
            <a:ext cx="1525219" cy="118872"/>
          </a:xfrm>
          <a:prstGeom prst="rect">
            <a:avLst/>
          </a:prstGeom>
          <a:noFill/>
        </p:spPr>
        <p:txBody>
          <a:bodyPr wrap="square" anchor="t" lIns="0" rIns="0" tIns="0" bIns="0">
            <a:noAutofit/>
          </a:bodyPr>
          <a:lstStyle/>
          <a:p>
            <a:pPr algn="l"/>
            <a:r>
              <a:rPr sz="650" b="1" i="0">
                <a:solidFill>
                  <a:srgbClr val="586586"/>
                </a:solidFill>
                <a:latin typeface="Outfit"/>
              </a:rPr>
              <a:t>INFRA</a:t>
            </a:r>
          </a:p>
        </p:txBody>
      </p:sp>
      <p:sp>
        <p:nvSpPr>
          <p:cNvPr id="72" name="TextBox 71"/>
          <p:cNvSpPr txBox="1"/>
          <p:nvPr/>
        </p:nvSpPr>
        <p:spPr>
          <a:xfrm>
            <a:off x="7225588" y="3083941"/>
            <a:ext cx="1525219" cy="393192"/>
          </a:xfrm>
          <a:prstGeom prst="rect">
            <a:avLst/>
          </a:prstGeom>
          <a:noFill/>
        </p:spPr>
        <p:txBody>
          <a:bodyPr wrap="square" anchor="t" lIns="0" rIns="0" tIns="0" bIns="0">
            <a:spAutoFit/>
          </a:bodyPr>
          <a:lstStyle/>
          <a:p>
            <a:pPr algn="l">
              <a:lnSpc>
                <a:spcPct val="120000"/>
              </a:lnSpc>
            </a:pPr>
            <a:r>
              <a:rPr sz="800" b="1" i="0">
                <a:solidFill>
                  <a:srgbClr val="0E2356"/>
                </a:solidFill>
                <a:latin typeface="Outfit"/>
              </a:rPr>
              <a:t>Mesurer</a:t>
            </a:r>
            <a:r>
              <a:rPr sz="800" b="0" i="0">
                <a:solidFill>
                  <a:srgbClr val="0E2356"/>
                </a:solidFill>
                <a:latin typeface="Outfit"/>
              </a:rPr>
              <a:t> la dette technique et les KPI d'infra.</a:t>
            </a:r>
          </a:p>
        </p:txBody>
      </p:sp>
      <p:sp>
        <p:nvSpPr>
          <p:cNvPr id="73" name="Rectangle 72"/>
          <p:cNvSpPr/>
          <p:nvPr/>
        </p:nvSpPr>
        <p:spPr>
          <a:xfrm>
            <a:off x="7225588" y="3541141"/>
            <a:ext cx="1525219"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225588" y="3596005"/>
            <a:ext cx="1525219" cy="256032"/>
          </a:xfrm>
          <a:prstGeom prst="rect">
            <a:avLst/>
          </a:prstGeom>
          <a:noFill/>
        </p:spPr>
        <p:txBody>
          <a:bodyPr wrap="square" anchor="t" lIns="0" rIns="0" tIns="0" bIns="0">
            <a:spAutoFit/>
          </a:bodyPr>
          <a:lstStyle/>
          <a:p>
            <a:pPr algn="l">
              <a:lnSpc>
                <a:spcPct val="120000"/>
              </a:lnSpc>
            </a:pPr>
            <a:r>
              <a:rPr sz="750" b="0" i="0">
                <a:solidFill>
                  <a:srgbClr val="586586"/>
                </a:solidFill>
                <a:latin typeface="Outfit"/>
              </a:rPr>
              <a:t>Livrable : </a:t>
            </a:r>
            <a:r>
              <a:rPr sz="750" b="1" i="0">
                <a:solidFill>
                  <a:srgbClr val="0E2356"/>
                </a:solidFill>
                <a:latin typeface="Outfit"/>
              </a:rPr>
              <a:t>Deck de bilan et de ré-évaluation.</a:t>
            </a:r>
          </a:p>
        </p:txBody>
      </p:sp>
      <p:sp>
        <p:nvSpPr>
          <p:cNvPr id="75" name="Rounded Rectangle 74"/>
          <p:cNvSpPr/>
          <p:nvPr/>
        </p:nvSpPr>
        <p:spPr>
          <a:xfrm>
            <a:off x="347472" y="4035298"/>
            <a:ext cx="4142231" cy="527177"/>
          </a:xfrm>
          <a:prstGeom prst="roundRect">
            <a:avLst>
              <a:gd name="adj" fmla="val 7000"/>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Gear 6 75"/>
          <p:cNvSpPr/>
          <p:nvPr/>
        </p:nvSpPr>
        <p:spPr>
          <a:xfrm>
            <a:off x="457200" y="4207446"/>
            <a:ext cx="182880" cy="182880"/>
          </a:xfrm>
          <a:prstGeom prst="gear6">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731520" y="4076446"/>
            <a:ext cx="3648455" cy="444881"/>
          </a:xfrm>
          <a:prstGeom prst="rect">
            <a:avLst/>
          </a:prstGeom>
          <a:noFill/>
        </p:spPr>
        <p:txBody>
          <a:bodyPr wrap="square" anchor="ctr" lIns="0" rIns="0" tIns="0" bIns="0">
            <a:noAutofit/>
          </a:bodyPr>
          <a:lstStyle/>
          <a:p>
            <a:pPr algn="l">
              <a:lnSpc>
                <a:spcPct val="110000"/>
              </a:lnSpc>
            </a:pPr>
            <a:r>
              <a:rPr sz="700" b="1" i="0">
                <a:solidFill>
                  <a:srgbClr val="586586"/>
                </a:solidFill>
                <a:latin typeface="Outfit"/>
              </a:rPr>
              <a:t>CÔTÉ CONSULTANT — LE MODULE BMAD IAP</a:t>
            </a:r>
          </a:p>
          <a:p>
            <a:pPr algn="l">
              <a:lnSpc>
                <a:spcPct val="125000"/>
              </a:lnSpc>
              <a:spcBef>
                <a:spcPts val="300"/>
              </a:spcBef>
            </a:pPr>
            <a:r>
              <a:rPr sz="700" b="0" i="0">
                <a:solidFill>
                  <a:srgbClr val="586586"/>
                </a:solidFill>
                <a:latin typeface="Outfit"/>
              </a:rPr>
              <a:t>Il outille chaque temps sur notre poste et sort les livrables plus vite — rien ne s'installe chez le client.</a:t>
            </a:r>
          </a:p>
        </p:txBody>
      </p:sp>
      <p:sp>
        <p:nvSpPr>
          <p:cNvPr id="78" name="Rounded Rectangle 77"/>
          <p:cNvSpPr/>
          <p:nvPr/>
        </p:nvSpPr>
        <p:spPr>
          <a:xfrm>
            <a:off x="4654295" y="4035298"/>
            <a:ext cx="4142231" cy="527177"/>
          </a:xfrm>
          <a:prstGeom prst="roundRect">
            <a:avLst>
              <a:gd name="adj" fmla="val 7000"/>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entagon 78"/>
          <p:cNvSpPr/>
          <p:nvPr/>
        </p:nvSpPr>
        <p:spPr>
          <a:xfrm>
            <a:off x="4764023" y="4207446"/>
            <a:ext cx="182880" cy="182880"/>
          </a:xfrm>
          <a:prstGeom prst="homePlate">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5038343" y="4076446"/>
            <a:ext cx="3648455" cy="444881"/>
          </a:xfrm>
          <a:prstGeom prst="rect">
            <a:avLst/>
          </a:prstGeom>
          <a:noFill/>
        </p:spPr>
        <p:txBody>
          <a:bodyPr wrap="square" anchor="ctr" lIns="0" rIns="0" tIns="0" bIns="0">
            <a:noAutofit/>
          </a:bodyPr>
          <a:lstStyle/>
          <a:p>
            <a:pPr algn="l">
              <a:lnSpc>
                <a:spcPct val="110000"/>
              </a:lnSpc>
            </a:pPr>
            <a:r>
              <a:rPr sz="700" b="1" i="0">
                <a:solidFill>
                  <a:srgbClr val="586586"/>
                </a:solidFill>
                <a:latin typeface="Outfit"/>
              </a:rPr>
              <a:t>CHEZ LE CLIENT — UNE OPTION, PAS UN PRÉREQUIS</a:t>
            </a:r>
          </a:p>
          <a:p>
            <a:pPr algn="l">
              <a:lnSpc>
                <a:spcPct val="125000"/>
              </a:lnSpc>
              <a:spcBef>
                <a:spcPts val="300"/>
              </a:spcBef>
            </a:pPr>
            <a:r>
              <a:rPr sz="700" b="0" i="0">
                <a:solidFill>
                  <a:srgbClr val="586586"/>
                </a:solidFill>
                <a:latin typeface="Outfit"/>
              </a:rPr>
              <a:t>Déployer des agents (triage, FinOps, documentaire) reste une décision distincte, sous gate IA.</a:t>
            </a:r>
          </a:p>
        </p:txBody>
      </p:sp>
      <p:sp>
        <p:nvSpPr>
          <p:cNvPr id="81" name="Rounded Rectangle 80"/>
          <p:cNvSpPr/>
          <p:nvPr/>
        </p:nvSpPr>
        <p:spPr>
          <a:xfrm>
            <a:off x="347472" y="4626864"/>
            <a:ext cx="8065007" cy="457200"/>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75488" y="4645152"/>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83" name="TextBox 82"/>
          <p:cNvSpPr txBox="1"/>
          <p:nvPr/>
        </p:nvSpPr>
        <p:spPr>
          <a:xfrm>
            <a:off x="530352" y="4626864"/>
            <a:ext cx="7699247" cy="457200"/>
          </a:xfrm>
          <a:prstGeom prst="rect">
            <a:avLst/>
          </a:prstGeom>
          <a:noFill/>
        </p:spPr>
        <p:txBody>
          <a:bodyPr wrap="square" anchor="ctr" lIns="0" rIns="0" tIns="0" bIns="0">
            <a:spAutoFit/>
          </a:bodyPr>
          <a:lstStyle/>
          <a:p>
            <a:pPr algn="ctr"/>
            <a:r>
              <a:rPr sz="1200" b="1" i="0">
                <a:solidFill>
                  <a:srgbClr val="FFFFFF"/>
                </a:solidFill>
                <a:latin typeface="Outfit"/>
              </a:rPr>
              <a:t>Aucun de ces temps ne requiert l'IA : l'agentic accélère, il ne remplace ni la démarche ni le consultant.</a:t>
            </a:r>
            <a:r>
              <a:rPr sz="1200" b="1" i="0">
                <a:solidFill>
                  <a:srgbClr val="00D2DD"/>
                </a:solidFill>
                <a:latin typeface="Outfit"/>
              </a:rPr>
              <a:t>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a:solidFill>
                  <a:srgbClr val="0E2356"/>
                </a:solidFill>
                <a:latin typeface="Outfit"/>
              </a:rPr>
              <a:t>Le risque n'est pas de manquer d'outils : c'est de traiter le mauvais problème</a:t>
            </a:r>
          </a:p>
        </p:txBody>
      </p:sp>
      <p:sp>
        <p:nvSpPr>
          <p:cNvPr id="4" name="Rectangle 3"/>
          <p:cNvSpPr/>
          <p:nvPr/>
        </p:nvSpPr>
        <p:spPr>
          <a:xfrm>
            <a:off x="708660" y="1793367"/>
            <a:ext cx="18288" cy="2443734"/>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19556" y="1280160"/>
            <a:ext cx="5042916" cy="1026414"/>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19556" y="1280160"/>
            <a:ext cx="64008" cy="102641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20724" y="1399031"/>
            <a:ext cx="4677156" cy="182880"/>
          </a:xfrm>
          <a:prstGeom prst="rect">
            <a:avLst/>
          </a:prstGeom>
          <a:noFill/>
        </p:spPr>
        <p:txBody>
          <a:bodyPr wrap="square" anchor="t" lIns="0" rIns="0" tIns="0" bIns="0">
            <a:noAutofit/>
          </a:bodyPr>
          <a:lstStyle/>
          <a:p>
            <a:pPr algn="l"/>
            <a:r>
              <a:rPr sz="800" b="1" i="0">
                <a:solidFill>
                  <a:srgbClr val="0E2356"/>
                </a:solidFill>
                <a:latin typeface="Outfit"/>
              </a:rPr>
              <a:t>LE CONSTAT</a:t>
            </a:r>
          </a:p>
        </p:txBody>
      </p:sp>
      <p:sp>
        <p:nvSpPr>
          <p:cNvPr id="8" name="TextBox 7"/>
          <p:cNvSpPr txBox="1"/>
          <p:nvPr/>
        </p:nvSpPr>
        <p:spPr>
          <a:xfrm>
            <a:off x="1220724" y="1581911"/>
            <a:ext cx="4677156" cy="356615"/>
          </a:xfrm>
          <a:prstGeom prst="rect">
            <a:avLst/>
          </a:prstGeom>
          <a:noFill/>
        </p:spPr>
        <p:txBody>
          <a:bodyPr wrap="square" anchor="t" lIns="0" rIns="0" tIns="0" bIns="0">
            <a:noAutofit/>
          </a:bodyPr>
          <a:lstStyle/>
          <a:p>
            <a:pPr algn="l">
              <a:lnSpc>
                <a:spcPct val="120000"/>
              </a:lnSpc>
            </a:pPr>
            <a:r>
              <a:rPr sz="1050" b="1" i="0">
                <a:solidFill>
                  <a:srgbClr val="0E2356"/>
                </a:solidFill>
                <a:latin typeface="Outfit"/>
              </a:rPr>
              <a:t>Une infrastructure guichet ou centre de coûts subit la demande au lieu de la piloter.</a:t>
            </a:r>
          </a:p>
        </p:txBody>
      </p:sp>
      <p:sp>
        <p:nvSpPr>
          <p:cNvPr id="9" name="TextBox 8"/>
          <p:cNvSpPr txBox="1"/>
          <p:nvPr/>
        </p:nvSpPr>
        <p:spPr>
          <a:xfrm>
            <a:off x="1220724" y="2002535"/>
            <a:ext cx="4677156" cy="185166"/>
          </a:xfrm>
          <a:prstGeom prst="rect">
            <a:avLst/>
          </a:prstGeom>
          <a:noFill/>
        </p:spPr>
        <p:txBody>
          <a:bodyPr wrap="square" anchor="t" lIns="0" rIns="0" tIns="0" bIns="0">
            <a:noAutofit/>
          </a:bodyPr>
          <a:lstStyle/>
          <a:p>
            <a:pPr algn="l">
              <a:lnSpc>
                <a:spcPct val="130000"/>
              </a:lnSpc>
            </a:pPr>
            <a:r>
              <a:rPr sz="900" b="0" i="0">
                <a:solidFill>
                  <a:srgbClr val="586586"/>
                </a:solidFill>
                <a:latin typeface="Outfit"/>
              </a:rPr>
              <a:t>Ni utilisateurs identifiés, ni feuille de route, ni levier d'adoption.</a:t>
            </a:r>
          </a:p>
        </p:txBody>
      </p:sp>
      <p:sp>
        <p:nvSpPr>
          <p:cNvPr id="10" name="Rounded Rectangle 9"/>
          <p:cNvSpPr/>
          <p:nvPr/>
        </p:nvSpPr>
        <p:spPr>
          <a:xfrm>
            <a:off x="562356" y="1637919"/>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2356" y="1637919"/>
            <a:ext cx="310896" cy="310896"/>
          </a:xfrm>
          <a:prstGeom prst="rect">
            <a:avLst/>
          </a:prstGeom>
          <a:noFill/>
        </p:spPr>
        <p:txBody>
          <a:bodyPr wrap="square" anchor="ctr" lIns="0" rIns="0" tIns="0" bIns="0">
            <a:noAutofit/>
          </a:bodyPr>
          <a:lstStyle/>
          <a:p>
            <a:pPr algn="ctr"/>
            <a:r>
              <a:rPr sz="1100" b="1" i="0">
                <a:solidFill>
                  <a:srgbClr val="FFFFFF"/>
                </a:solidFill>
                <a:latin typeface="Outfit"/>
              </a:rPr>
              <a:t>1</a:t>
            </a:r>
          </a:p>
        </p:txBody>
      </p:sp>
      <p:sp>
        <p:nvSpPr>
          <p:cNvPr id="12" name="Rounded Rectangle 11"/>
          <p:cNvSpPr/>
          <p:nvPr/>
        </p:nvSpPr>
        <p:spPr>
          <a:xfrm>
            <a:off x="1019556" y="2507741"/>
            <a:ext cx="5042916" cy="1014983"/>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19556" y="2507741"/>
            <a:ext cx="64008" cy="1014983"/>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20724" y="2626613"/>
            <a:ext cx="4677156" cy="182880"/>
          </a:xfrm>
          <a:prstGeom prst="rect">
            <a:avLst/>
          </a:prstGeom>
          <a:noFill/>
        </p:spPr>
        <p:txBody>
          <a:bodyPr wrap="square" anchor="t" lIns="0" rIns="0" tIns="0" bIns="0">
            <a:noAutofit/>
          </a:bodyPr>
          <a:lstStyle/>
          <a:p>
            <a:pPr algn="l"/>
            <a:r>
              <a:rPr sz="800" b="1" i="0">
                <a:solidFill>
                  <a:srgbClr val="0E2356"/>
                </a:solidFill>
                <a:latin typeface="Outfit"/>
              </a:rPr>
              <a:t>CE QUE ÇA COÛTE</a:t>
            </a:r>
          </a:p>
        </p:txBody>
      </p:sp>
      <p:sp>
        <p:nvSpPr>
          <p:cNvPr id="15" name="TextBox 14"/>
          <p:cNvSpPr txBox="1"/>
          <p:nvPr/>
        </p:nvSpPr>
        <p:spPr>
          <a:xfrm>
            <a:off x="1220724" y="2809494"/>
            <a:ext cx="4677156" cy="196596"/>
          </a:xfrm>
          <a:prstGeom prst="rect">
            <a:avLst/>
          </a:prstGeom>
          <a:noFill/>
        </p:spPr>
        <p:txBody>
          <a:bodyPr wrap="square" anchor="t" lIns="0" rIns="0" tIns="0" bIns="0">
            <a:noAutofit/>
          </a:bodyPr>
          <a:lstStyle/>
          <a:p>
            <a:pPr algn="l">
              <a:lnSpc>
                <a:spcPct val="120000"/>
              </a:lnSpc>
            </a:pPr>
            <a:r>
              <a:rPr sz="1050" b="1" i="0">
                <a:solidFill>
                  <a:srgbClr val="0E2356"/>
                </a:solidFill>
                <a:latin typeface="Outfit"/>
              </a:rPr>
              <a:t>La capacité disponible part en gaspillage.</a:t>
            </a:r>
          </a:p>
        </p:txBody>
      </p:sp>
      <p:sp>
        <p:nvSpPr>
          <p:cNvPr id="16" name="TextBox 15"/>
          <p:cNvSpPr txBox="1"/>
          <p:nvPr/>
        </p:nvSpPr>
        <p:spPr>
          <a:xfrm>
            <a:off x="1220724" y="3070097"/>
            <a:ext cx="4677156" cy="333756"/>
          </a:xfrm>
          <a:prstGeom prst="rect">
            <a:avLst/>
          </a:prstGeom>
          <a:noFill/>
        </p:spPr>
        <p:txBody>
          <a:bodyPr wrap="square" anchor="t" lIns="0" rIns="0" tIns="0" bIns="0">
            <a:noAutofit/>
          </a:bodyPr>
          <a:lstStyle/>
          <a:p>
            <a:pPr algn="l">
              <a:lnSpc>
                <a:spcPct val="130000"/>
              </a:lnSpc>
            </a:pPr>
            <a:r>
              <a:rPr sz="900" b="0" i="0">
                <a:solidFill>
                  <a:srgbClr val="586586"/>
                </a:solidFill>
                <a:latin typeface="Outfit"/>
              </a:rPr>
              <a:t>RUN subi (l'exploitation quotidienne), ressources orphelines, seniors sur du répétitif — et le réflexe « plus d'outils » ou « mettons de l'IA » aggrave le mal.</a:t>
            </a:r>
          </a:p>
        </p:txBody>
      </p:sp>
      <p:sp>
        <p:nvSpPr>
          <p:cNvPr id="17" name="Rounded Rectangle 16"/>
          <p:cNvSpPr/>
          <p:nvPr/>
        </p:nvSpPr>
        <p:spPr>
          <a:xfrm>
            <a:off x="562356" y="2859785"/>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2356" y="2859785"/>
            <a:ext cx="310896" cy="310896"/>
          </a:xfrm>
          <a:prstGeom prst="rect">
            <a:avLst/>
          </a:prstGeom>
          <a:noFill/>
        </p:spPr>
        <p:txBody>
          <a:bodyPr wrap="square" anchor="ctr" lIns="0" rIns="0" tIns="0" bIns="0">
            <a:noAutofit/>
          </a:bodyPr>
          <a:lstStyle/>
          <a:p>
            <a:pPr algn="ctr"/>
            <a:r>
              <a:rPr sz="1100" b="1" i="0">
                <a:solidFill>
                  <a:srgbClr val="FFFFFF"/>
                </a:solidFill>
                <a:latin typeface="Outfit"/>
              </a:rPr>
              <a:t>2</a:t>
            </a:r>
          </a:p>
        </p:txBody>
      </p:sp>
      <p:sp>
        <p:nvSpPr>
          <p:cNvPr id="19" name="Rounded Rectangle 18"/>
          <p:cNvSpPr/>
          <p:nvPr/>
        </p:nvSpPr>
        <p:spPr>
          <a:xfrm>
            <a:off x="1019556" y="3723894"/>
            <a:ext cx="5042916" cy="1026414"/>
          </a:xfrm>
          <a:prstGeom prst="roundRect">
            <a:avLst>
              <a:gd name="adj" fmla="val 6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9556" y="3723894"/>
            <a:ext cx="64008" cy="1026414"/>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20724" y="3842765"/>
            <a:ext cx="4677156" cy="182880"/>
          </a:xfrm>
          <a:prstGeom prst="rect">
            <a:avLst/>
          </a:prstGeom>
          <a:noFill/>
        </p:spPr>
        <p:txBody>
          <a:bodyPr wrap="square" anchor="t" lIns="0" rIns="0" tIns="0" bIns="0">
            <a:noAutofit/>
          </a:bodyPr>
          <a:lstStyle/>
          <a:p>
            <a:pPr algn="l"/>
            <a:r>
              <a:rPr sz="800" b="1" i="0">
                <a:solidFill>
                  <a:srgbClr val="8FD6DB"/>
                </a:solidFill>
                <a:latin typeface="Outfit"/>
              </a:rPr>
              <a:t>CE QU'UN BON DIAGNOSTIC EXIGE</a:t>
            </a:r>
          </a:p>
        </p:txBody>
      </p:sp>
      <p:sp>
        <p:nvSpPr>
          <p:cNvPr id="22" name="TextBox 21"/>
          <p:cNvSpPr txBox="1"/>
          <p:nvPr/>
        </p:nvSpPr>
        <p:spPr>
          <a:xfrm>
            <a:off x="1220724" y="4025646"/>
            <a:ext cx="4677156" cy="356615"/>
          </a:xfrm>
          <a:prstGeom prst="rect">
            <a:avLst/>
          </a:prstGeom>
          <a:noFill/>
        </p:spPr>
        <p:txBody>
          <a:bodyPr wrap="square" anchor="t" lIns="0" rIns="0" tIns="0" bIns="0">
            <a:noAutofit/>
          </a:bodyPr>
          <a:lstStyle/>
          <a:p>
            <a:pPr algn="l">
              <a:lnSpc>
                <a:spcPct val="120000"/>
              </a:lnSpc>
            </a:pPr>
            <a:r>
              <a:rPr sz="1050" b="1" i="0">
                <a:solidFill>
                  <a:srgbClr val="FFFFFF"/>
                </a:solidFill>
                <a:latin typeface="Outfit"/>
              </a:rPr>
              <a:t>Partir des utilisateurs réels et de leurs douleurs — pas d'une réponse toute faite.</a:t>
            </a:r>
          </a:p>
        </p:txBody>
      </p:sp>
      <p:sp>
        <p:nvSpPr>
          <p:cNvPr id="23" name="TextBox 22"/>
          <p:cNvSpPr txBox="1"/>
          <p:nvPr/>
        </p:nvSpPr>
        <p:spPr>
          <a:xfrm>
            <a:off x="1220724" y="4446270"/>
            <a:ext cx="4677156" cy="185166"/>
          </a:xfrm>
          <a:prstGeom prst="rect">
            <a:avLst/>
          </a:prstGeom>
          <a:noFill/>
        </p:spPr>
        <p:txBody>
          <a:bodyPr wrap="square" anchor="t" lIns="0" rIns="0" tIns="0" bIns="0">
            <a:noAutofit/>
          </a:bodyPr>
          <a:lstStyle/>
          <a:p>
            <a:pPr algn="l">
              <a:lnSpc>
                <a:spcPct val="130000"/>
              </a:lnSpc>
            </a:pPr>
            <a:r>
              <a:rPr sz="900" b="0" i="0">
                <a:solidFill>
                  <a:srgbClr val="C7CBE0"/>
                </a:solidFill>
                <a:latin typeface="Outfit"/>
              </a:rPr>
              <a:t>Le fil que déroulent tous les chapitres qui suivent.</a:t>
            </a:r>
          </a:p>
        </p:txBody>
      </p:sp>
      <p:sp>
        <p:nvSpPr>
          <p:cNvPr id="24" name="Rounded Rectangle 23"/>
          <p:cNvSpPr/>
          <p:nvPr/>
        </p:nvSpPr>
        <p:spPr>
          <a:xfrm>
            <a:off x="562356" y="4081653"/>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2356" y="4081653"/>
            <a:ext cx="310896" cy="310896"/>
          </a:xfrm>
          <a:prstGeom prst="rect">
            <a:avLst/>
          </a:prstGeom>
          <a:noFill/>
        </p:spPr>
        <p:txBody>
          <a:bodyPr wrap="square" anchor="ctr" lIns="0" rIns="0" tIns="0" bIns="0">
            <a:noAutofit/>
          </a:bodyPr>
          <a:lstStyle/>
          <a:p>
            <a:pPr algn="ctr"/>
            <a:r>
              <a:rPr sz="1100" b="1" i="0">
                <a:solidFill>
                  <a:srgbClr val="FFFFFF"/>
                </a:solidFill>
                <a:latin typeface="Outfit"/>
              </a:rPr>
              <a:t>3</a:t>
            </a:r>
          </a:p>
        </p:txBody>
      </p:sp>
      <p:pic>
        <p:nvPicPr>
          <p:cNvPr id="26" name="Picture 25" descr="sunset_1_960x1372.jpg"/>
          <p:cNvPicPr>
            <a:picLocks noChangeAspect="1"/>
          </p:cNvPicPr>
          <p:nvPr/>
        </p:nvPicPr>
        <p:blipFill>
          <a:blip r:embed="rId2"/>
          <a:stretch>
            <a:fillRect/>
          </a:stretch>
        </p:blipFill>
        <p:spPr>
          <a:xfrm>
            <a:off x="6270019" y="304800"/>
            <a:ext cx="2593200" cy="3705000"/>
          </a:xfrm>
          <a:prstGeom prst="round2DiagRect">
            <a:avLst>
              <a:gd name="adj1" fmla="val 50000"/>
              <a:gd name="adj2" fmla="val 0"/>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Contexte</a:t>
            </a:r>
          </a:p>
          <a:p>
            <a:r>
              <a:rPr sz="1050" i="1">
                <a:solidFill>
                  <a:srgbClr val="586586"/>
                </a:solidFill>
                <a:latin typeface="Outfit"/>
              </a:rPr>
              <a:t>La double mission, et pourquoi cette transformation a du sens pour un client infra maintenant.</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02</a:t>
            </a:r>
          </a:p>
        </p:txBody>
      </p:sp>
      <p:pic>
        <p:nvPicPr>
          <p:cNvPr id="4" name="Picture 3" descr="mountains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CONTEXTE   ·   </a:t>
            </a:r>
            <a:r>
              <a:rPr b="1" sz="1700">
                <a:solidFill>
                  <a:srgbClr val="0E2356"/>
                </a:solidFill>
                <a:latin typeface="Outfit"/>
              </a:rPr>
              <a:t>Une double mission : transformer ET assainir</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Deux piliers ni séquentiels ni optionnels : une cible produit sans traitement du gaspillage manque de capacité pour s'y déployer ; l'inverse reste une réduction de coûts sans vision.</a:t>
            </a:r>
          </a:p>
        </p:txBody>
      </p:sp>
      <p:sp>
        <p:nvSpPr>
          <p:cNvPr id="4" name="Rounded Rectangle 3"/>
          <p:cNvSpPr/>
          <p:nvPr/>
        </p:nvSpPr>
        <p:spPr>
          <a:xfrm>
            <a:off x="562356" y="1618488"/>
            <a:ext cx="3810762" cy="178308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618488"/>
            <a:ext cx="64008" cy="17830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3524" y="1783080"/>
            <a:ext cx="3408426" cy="274320"/>
          </a:xfrm>
          <a:prstGeom prst="rect">
            <a:avLst/>
          </a:prstGeom>
          <a:noFill/>
        </p:spPr>
        <p:txBody>
          <a:bodyPr wrap="square" anchor="t" lIns="0" rIns="0" tIns="0" bIns="0">
            <a:noAutofit/>
          </a:bodyPr>
          <a:lstStyle/>
          <a:p>
            <a:pPr algn="l"/>
            <a:r>
              <a:rPr sz="1400" b="1" i="0">
                <a:solidFill>
                  <a:srgbClr val="0E2356"/>
                </a:solidFill>
                <a:latin typeface="Outfit"/>
              </a:rPr>
              <a:t>TRANSFORMER</a:t>
            </a:r>
          </a:p>
        </p:txBody>
      </p:sp>
      <p:sp>
        <p:nvSpPr>
          <p:cNvPr id="7" name="TextBox 6"/>
          <p:cNvSpPr txBox="1"/>
          <p:nvPr/>
        </p:nvSpPr>
        <p:spPr>
          <a:xfrm>
            <a:off x="763524" y="2148840"/>
            <a:ext cx="3408426" cy="566928"/>
          </a:xfrm>
          <a:prstGeom prst="rect">
            <a:avLst/>
          </a:prstGeom>
          <a:noFill/>
        </p:spPr>
        <p:txBody>
          <a:bodyPr wrap="square" anchor="t" lIns="0" rIns="0" tIns="0" bIns="0">
            <a:noAutofit/>
          </a:bodyPr>
          <a:lstStyle/>
          <a:p>
            <a:pPr algn="l"/>
            <a:r>
              <a:rPr sz="900" b="1" i="0">
                <a:solidFill>
                  <a:srgbClr val="586586"/>
                </a:solidFill>
                <a:latin typeface="Outfit"/>
              </a:rPr>
              <a:t>CE QU'IL VISE</a:t>
            </a:r>
          </a:p>
          <a:p>
            <a:pPr algn="l">
              <a:lnSpc>
                <a:spcPct val="125000"/>
              </a:lnSpc>
              <a:spcBef>
                <a:spcPts val="200"/>
              </a:spcBef>
            </a:pPr>
            <a:r>
              <a:rPr sz="900" b="0" i="0">
                <a:solidFill>
                  <a:srgbClr val="0E2356"/>
                </a:solidFill>
                <a:latin typeface="Outfit"/>
              </a:rPr>
              <a:t>Cible produit/plateforme : utilisateurs identifiés, valeur, roadmap, engagements de qualité, gouvernance lisible.</a:t>
            </a:r>
          </a:p>
        </p:txBody>
      </p:sp>
      <p:sp>
        <p:nvSpPr>
          <p:cNvPr id="8" name="TextBox 7"/>
          <p:cNvSpPr txBox="1"/>
          <p:nvPr/>
        </p:nvSpPr>
        <p:spPr>
          <a:xfrm>
            <a:off x="763524" y="2788920"/>
            <a:ext cx="3408426" cy="530352"/>
          </a:xfrm>
          <a:prstGeom prst="rect">
            <a:avLst/>
          </a:prstGeom>
          <a:noFill/>
        </p:spPr>
        <p:txBody>
          <a:bodyPr wrap="square" anchor="t" lIns="0" rIns="0" tIns="0" bIns="0">
            <a:noAutofit/>
          </a:bodyPr>
          <a:lstStyle/>
          <a:p>
            <a:pPr algn="l"/>
            <a:r>
              <a:rPr sz="900" b="1" i="0">
                <a:solidFill>
                  <a:srgbClr val="586586"/>
                </a:solidFill>
                <a:latin typeface="Outfit"/>
              </a:rPr>
              <a:t>CE QU'IL FINANCE</a:t>
            </a:r>
          </a:p>
          <a:p>
            <a:pPr algn="l">
              <a:lnSpc>
                <a:spcPct val="125000"/>
              </a:lnSpc>
              <a:spcBef>
                <a:spcPts val="200"/>
              </a:spcBef>
            </a:pPr>
            <a:r>
              <a:rPr sz="900" b="0" i="0">
                <a:solidFill>
                  <a:srgbClr val="0E2356"/>
                </a:solidFill>
                <a:latin typeface="Outfit"/>
              </a:rPr>
              <a:t>La vision à moyen terme — ce que le sponsor achète.</a:t>
            </a:r>
          </a:p>
        </p:txBody>
      </p:sp>
      <p:sp>
        <p:nvSpPr>
          <p:cNvPr id="9" name="Rounded Rectangle 8"/>
          <p:cNvSpPr/>
          <p:nvPr/>
        </p:nvSpPr>
        <p:spPr>
          <a:xfrm>
            <a:off x="4555998" y="1618488"/>
            <a:ext cx="3810762" cy="178308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555998" y="1618488"/>
            <a:ext cx="64008" cy="17830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7166" y="1783080"/>
            <a:ext cx="3408426" cy="274320"/>
          </a:xfrm>
          <a:prstGeom prst="rect">
            <a:avLst/>
          </a:prstGeom>
          <a:noFill/>
        </p:spPr>
        <p:txBody>
          <a:bodyPr wrap="square" anchor="t" lIns="0" rIns="0" tIns="0" bIns="0">
            <a:noAutofit/>
          </a:bodyPr>
          <a:lstStyle/>
          <a:p>
            <a:pPr algn="l"/>
            <a:r>
              <a:rPr sz="1400" b="1" i="0">
                <a:solidFill>
                  <a:srgbClr val="0E2356"/>
                </a:solidFill>
                <a:latin typeface="Outfit"/>
              </a:rPr>
              <a:t>ASSAINIR</a:t>
            </a:r>
          </a:p>
        </p:txBody>
      </p:sp>
      <p:sp>
        <p:nvSpPr>
          <p:cNvPr id="12" name="TextBox 11"/>
          <p:cNvSpPr txBox="1"/>
          <p:nvPr/>
        </p:nvSpPr>
        <p:spPr>
          <a:xfrm>
            <a:off x="4757166" y="2148840"/>
            <a:ext cx="3408426" cy="566928"/>
          </a:xfrm>
          <a:prstGeom prst="rect">
            <a:avLst/>
          </a:prstGeom>
          <a:noFill/>
        </p:spPr>
        <p:txBody>
          <a:bodyPr wrap="square" anchor="t" lIns="0" rIns="0" tIns="0" bIns="0">
            <a:noAutofit/>
          </a:bodyPr>
          <a:lstStyle/>
          <a:p>
            <a:pPr algn="l"/>
            <a:r>
              <a:rPr sz="900" b="1" i="0">
                <a:solidFill>
                  <a:srgbClr val="586586"/>
                </a:solidFill>
                <a:latin typeface="Outfit"/>
              </a:rPr>
              <a:t>CE QU'IL VISE</a:t>
            </a:r>
          </a:p>
          <a:p>
            <a:pPr algn="l">
              <a:lnSpc>
                <a:spcPct val="125000"/>
              </a:lnSpc>
              <a:spcBef>
                <a:spcPts val="200"/>
              </a:spcBef>
            </a:pPr>
            <a:r>
              <a:rPr sz="900" b="0" i="0">
                <a:solidFill>
                  <a:srgbClr val="0E2356"/>
                </a:solidFill>
                <a:latin typeface="Outfit"/>
              </a:rPr>
              <a:t>Traitement mesurable des gaspillages : flux, RUN, humain, financier, cognitif, décisionnel, environnemental, IA.</a:t>
            </a:r>
          </a:p>
        </p:txBody>
      </p:sp>
      <p:sp>
        <p:nvSpPr>
          <p:cNvPr id="13" name="TextBox 12"/>
          <p:cNvSpPr txBox="1"/>
          <p:nvPr/>
        </p:nvSpPr>
        <p:spPr>
          <a:xfrm>
            <a:off x="4757166" y="2788920"/>
            <a:ext cx="3408426" cy="530352"/>
          </a:xfrm>
          <a:prstGeom prst="rect">
            <a:avLst/>
          </a:prstGeom>
          <a:noFill/>
        </p:spPr>
        <p:txBody>
          <a:bodyPr wrap="square" anchor="t" lIns="0" rIns="0" tIns="0" bIns="0">
            <a:noAutofit/>
          </a:bodyPr>
          <a:lstStyle/>
          <a:p>
            <a:pPr algn="l"/>
            <a:r>
              <a:rPr sz="900" b="1" i="0">
                <a:solidFill>
                  <a:srgbClr val="586586"/>
                </a:solidFill>
                <a:latin typeface="Outfit"/>
              </a:rPr>
              <a:t>CE QU'IL FINANCE</a:t>
            </a:r>
          </a:p>
          <a:p>
            <a:pPr algn="l">
              <a:lnSpc>
                <a:spcPct val="125000"/>
              </a:lnSpc>
              <a:spcBef>
                <a:spcPts val="200"/>
              </a:spcBef>
            </a:pPr>
            <a:r>
              <a:rPr sz="900" b="0" i="0">
                <a:solidFill>
                  <a:srgbClr val="0E2356"/>
                </a:solidFill>
                <a:latin typeface="Outfit"/>
              </a:rPr>
              <a:t>La capacité récupérée finance la trajectoire produit — hypothèse à prouver, qui suppose une réallocation budgétaire côté client.</a:t>
            </a:r>
          </a:p>
        </p:txBody>
      </p:sp>
      <p:sp>
        <p:nvSpPr>
          <p:cNvPr id="14" name="TextBox 13"/>
          <p:cNvSpPr txBox="1"/>
          <p:nvPr/>
        </p:nvSpPr>
        <p:spPr>
          <a:xfrm>
            <a:off x="562356" y="3602736"/>
            <a:ext cx="7804404" cy="201168"/>
          </a:xfrm>
          <a:prstGeom prst="rect">
            <a:avLst/>
          </a:prstGeom>
          <a:noFill/>
        </p:spPr>
        <p:txBody>
          <a:bodyPr wrap="square" anchor="t" lIns="0" rIns="0" tIns="0" bIns="0">
            <a:noAutofit/>
          </a:bodyPr>
          <a:lstStyle/>
          <a:p>
            <a:pPr algn="l"/>
            <a:r>
              <a:rPr sz="750" b="1" i="0">
                <a:solidFill>
                  <a:srgbClr val="586586"/>
                </a:solidFill>
                <a:latin typeface="Outfit"/>
              </a:rPr>
              <a:t>L'ÉQUILIBRE QUE LA DOUBLE MISSION TIENT EN PERMANENCE</a:t>
            </a:r>
          </a:p>
        </p:txBody>
      </p:sp>
      <p:sp>
        <p:nvSpPr>
          <p:cNvPr id="15" name="Rounded Rectangle 14"/>
          <p:cNvSpPr/>
          <p:nvPr/>
        </p:nvSpPr>
        <p:spPr>
          <a:xfrm>
            <a:off x="562356" y="3840480"/>
            <a:ext cx="2479548" cy="566928"/>
          </a:xfrm>
          <a:prstGeom prst="roundRect">
            <a:avLst>
              <a:gd name="adj" fmla="val 12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 y="3840480"/>
            <a:ext cx="2296667" cy="566928"/>
          </a:xfrm>
          <a:prstGeom prst="rect">
            <a:avLst/>
          </a:prstGeom>
          <a:noFill/>
        </p:spPr>
        <p:txBody>
          <a:bodyPr wrap="square" anchor="ctr" lIns="0" rIns="0" tIns="0" bIns="0">
            <a:noAutofit/>
          </a:bodyPr>
          <a:lstStyle/>
          <a:p>
            <a:pPr algn="ctr"/>
            <a:r>
              <a:rPr sz="900" b="1" i="0">
                <a:solidFill>
                  <a:srgbClr val="0E2356"/>
                </a:solidFill>
                <a:latin typeface="Outfit"/>
              </a:rPr>
              <a:t>Efficacité du delivery</a:t>
            </a:r>
          </a:p>
        </p:txBody>
      </p:sp>
      <p:sp>
        <p:nvSpPr>
          <p:cNvPr id="17" name="Rounded Rectangle 16"/>
          <p:cNvSpPr/>
          <p:nvPr/>
        </p:nvSpPr>
        <p:spPr>
          <a:xfrm>
            <a:off x="3224783" y="3840480"/>
            <a:ext cx="2479548" cy="566928"/>
          </a:xfrm>
          <a:prstGeom prst="roundRect">
            <a:avLst>
              <a:gd name="adj" fmla="val 12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16224" y="3840480"/>
            <a:ext cx="2296667" cy="566928"/>
          </a:xfrm>
          <a:prstGeom prst="rect">
            <a:avLst/>
          </a:prstGeom>
          <a:noFill/>
        </p:spPr>
        <p:txBody>
          <a:bodyPr wrap="square" anchor="ctr" lIns="0" rIns="0" tIns="0" bIns="0">
            <a:noAutofit/>
          </a:bodyPr>
          <a:lstStyle/>
          <a:p>
            <a:pPr algn="ctr"/>
            <a:r>
              <a:rPr sz="900" b="1" i="0">
                <a:solidFill>
                  <a:srgbClr val="0E2356"/>
                </a:solidFill>
                <a:latin typeface="Outfit"/>
              </a:rPr>
              <a:t>Robustesse du RUN</a:t>
            </a:r>
          </a:p>
        </p:txBody>
      </p:sp>
      <p:sp>
        <p:nvSpPr>
          <p:cNvPr id="19" name="Rounded Rectangle 18"/>
          <p:cNvSpPr/>
          <p:nvPr/>
        </p:nvSpPr>
        <p:spPr>
          <a:xfrm>
            <a:off x="5887212" y="3840480"/>
            <a:ext cx="2479548" cy="566928"/>
          </a:xfrm>
          <a:prstGeom prst="roundRect">
            <a:avLst>
              <a:gd name="adj" fmla="val 12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78652" y="3840480"/>
            <a:ext cx="2296667" cy="566928"/>
          </a:xfrm>
          <a:prstGeom prst="rect">
            <a:avLst/>
          </a:prstGeom>
          <a:noFill/>
        </p:spPr>
        <p:txBody>
          <a:bodyPr wrap="square" anchor="ctr" lIns="0" rIns="0" tIns="0" bIns="0">
            <a:noAutofit/>
          </a:bodyPr>
          <a:lstStyle/>
          <a:p>
            <a:pPr algn="ctr"/>
            <a:r>
              <a:rPr sz="900" b="1" i="0">
                <a:solidFill>
                  <a:srgbClr val="0E2356"/>
                </a:solidFill>
                <a:latin typeface="Outfit"/>
              </a:rPr>
              <a:t>Valeur perçue (utilisateurs internes)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CONTEXTE   ·   </a:t>
            </a:r>
            <a:r>
              <a:rPr b="1" sz="1250">
                <a:solidFill>
                  <a:srgbClr val="0E2356"/>
                </a:solidFill>
                <a:latin typeface="Outfit"/>
              </a:rPr>
              <a:t>Pourquoi cette transformation, pour un client infra — et maintenant</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Trois bascules rendent l'Infra-as-a-Product pertinente — et urgente — pour un client dont l'infrastructure est encore vécue comme un centre de coûts et un guichet.</a:t>
            </a:r>
          </a:p>
        </p:txBody>
      </p:sp>
      <p:sp>
        <p:nvSpPr>
          <p:cNvPr id="4" name="Rounded Rectangle 3"/>
          <p:cNvSpPr/>
          <p:nvPr/>
        </p:nvSpPr>
        <p:spPr>
          <a:xfrm>
            <a:off x="562356" y="1645920"/>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645920"/>
            <a:ext cx="420624" cy="420624"/>
          </a:xfrm>
          <a:prstGeom prst="rect">
            <a:avLst/>
          </a:prstGeom>
          <a:noFill/>
        </p:spPr>
        <p:txBody>
          <a:bodyPr wrap="square" anchor="ctr" lIns="0" rIns="0" tIns="0" bIns="0">
            <a:noAutofit/>
          </a:bodyPr>
          <a:lstStyle/>
          <a:p>
            <a:pPr algn="ctr"/>
            <a:r>
              <a:rPr sz="1500" b="1" i="0">
                <a:solidFill>
                  <a:srgbClr val="FFFFFF"/>
                </a:solidFill>
                <a:latin typeface="Outfit"/>
              </a:rPr>
              <a:t>1</a:t>
            </a:r>
          </a:p>
        </p:txBody>
      </p:sp>
      <p:sp>
        <p:nvSpPr>
          <p:cNvPr id="6" name="Rounded Rectangle 5"/>
          <p:cNvSpPr/>
          <p:nvPr/>
        </p:nvSpPr>
        <p:spPr>
          <a:xfrm>
            <a:off x="762609" y="2066544"/>
            <a:ext cx="20116" cy="14630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2356" y="2258568"/>
            <a:ext cx="2479548" cy="109601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L'infra subie n'est plus tenable</a:t>
            </a:r>
          </a:p>
          <a:p>
            <a:pPr algn="l">
              <a:lnSpc>
                <a:spcPct val="125000"/>
              </a:lnSpc>
              <a:spcBef>
                <a:spcPts val="800"/>
              </a:spcBef>
            </a:pPr>
            <a:r>
              <a:rPr sz="900" b="0" i="0">
                <a:solidFill>
                  <a:srgbClr val="0E2356"/>
                </a:solidFill>
                <a:latin typeface="Outfit"/>
              </a:rPr>
              <a:t>RUN subi, experts seniors drainés sur du répétitif, gaspillage cloud non maîtrisé, plateforme contournée : le coût du statu quo ne cesse de monter.</a:t>
            </a:r>
          </a:p>
        </p:txBody>
      </p:sp>
      <p:sp>
        <p:nvSpPr>
          <p:cNvPr id="8" name="Rounded Rectangle 7"/>
          <p:cNvSpPr/>
          <p:nvPr/>
        </p:nvSpPr>
        <p:spPr>
          <a:xfrm>
            <a:off x="3224783" y="1645920"/>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24783" y="1645920"/>
            <a:ext cx="420624" cy="420624"/>
          </a:xfrm>
          <a:prstGeom prst="rect">
            <a:avLst/>
          </a:prstGeom>
          <a:noFill/>
        </p:spPr>
        <p:txBody>
          <a:bodyPr wrap="square" anchor="ctr" lIns="0" rIns="0" tIns="0" bIns="0">
            <a:noAutofit/>
          </a:bodyPr>
          <a:lstStyle/>
          <a:p>
            <a:pPr algn="ctr"/>
            <a:r>
              <a:rPr sz="1500" b="1" i="0">
                <a:solidFill>
                  <a:srgbClr val="FFFFFF"/>
                </a:solidFill>
                <a:latin typeface="Outfit"/>
              </a:rPr>
              <a:t>2</a:t>
            </a:r>
          </a:p>
        </p:txBody>
      </p:sp>
      <p:sp>
        <p:nvSpPr>
          <p:cNvPr id="10" name="Rounded Rectangle 9"/>
          <p:cNvSpPr/>
          <p:nvPr/>
        </p:nvSpPr>
        <p:spPr>
          <a:xfrm>
            <a:off x="3425037" y="2066544"/>
            <a:ext cx="20116" cy="14630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24783" y="2258568"/>
            <a:ext cx="2479548" cy="109601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Le modèle produit/plateforme est prouvé</a:t>
            </a:r>
          </a:p>
          <a:p>
            <a:pPr algn="l">
              <a:lnSpc>
                <a:spcPct val="125000"/>
              </a:lnSpc>
              <a:spcBef>
                <a:spcPts val="800"/>
              </a:spcBef>
            </a:pPr>
            <a:r>
              <a:rPr sz="900" b="0" i="0">
                <a:solidFill>
                  <a:srgbClr val="0E2356"/>
                </a:solidFill>
                <a:latin typeface="Outfit"/>
              </a:rPr>
              <a:t>Devenu un standard — mais Gartner : 80 % de grandes organisations avec platform team en 2026, moins de 30 % de gains mesurables. C'est cet écart qu'Assainir adresse.</a:t>
            </a:r>
          </a:p>
        </p:txBody>
      </p:sp>
      <p:sp>
        <p:nvSpPr>
          <p:cNvPr id="12" name="Rounded Rectangle 11"/>
          <p:cNvSpPr/>
          <p:nvPr/>
        </p:nvSpPr>
        <p:spPr>
          <a:xfrm>
            <a:off x="5887212" y="1645920"/>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87212" y="1645920"/>
            <a:ext cx="420624" cy="420624"/>
          </a:xfrm>
          <a:prstGeom prst="rect">
            <a:avLst/>
          </a:prstGeom>
          <a:noFill/>
        </p:spPr>
        <p:txBody>
          <a:bodyPr wrap="square" anchor="ctr" lIns="0" rIns="0" tIns="0" bIns="0">
            <a:noAutofit/>
          </a:bodyPr>
          <a:lstStyle/>
          <a:p>
            <a:pPr algn="ctr"/>
            <a:r>
              <a:rPr sz="1500" b="1" i="0">
                <a:solidFill>
                  <a:srgbClr val="FFFFFF"/>
                </a:solidFill>
                <a:latin typeface="Outfit"/>
              </a:rPr>
              <a:t>3</a:t>
            </a:r>
          </a:p>
        </p:txBody>
      </p:sp>
      <p:sp>
        <p:nvSpPr>
          <p:cNvPr id="14" name="Rounded Rectangle 13"/>
          <p:cNvSpPr/>
          <p:nvPr/>
        </p:nvSpPr>
        <p:spPr>
          <a:xfrm>
            <a:off x="6087465" y="2066544"/>
            <a:ext cx="20116" cy="14630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87212" y="2258568"/>
            <a:ext cx="2479548" cy="109601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L'IA rebat les cartes — l'organisation d'abord</a:t>
            </a:r>
          </a:p>
          <a:p>
            <a:pPr algn="l">
              <a:lnSpc>
                <a:spcPct val="125000"/>
              </a:lnSpc>
              <a:spcBef>
                <a:spcPts val="800"/>
              </a:spcBef>
            </a:pPr>
            <a:r>
              <a:rPr sz="900" b="0" i="0">
                <a:solidFill>
                  <a:srgbClr val="0E2356"/>
                </a:solidFill>
                <a:latin typeface="Outfit"/>
              </a:rPr>
              <a:t>L'IA amplifie une organisation mûre, jamais l'inverse. S'y préparer maintenant (doctrine confidentialité-first) évite de la subir plus tard.</a:t>
            </a:r>
          </a:p>
        </p:txBody>
      </p:sp>
      <p:sp>
        <p:nvSpPr>
          <p:cNvPr id="16" name="Rounded Rectangle 15"/>
          <p:cNvSpPr/>
          <p:nvPr/>
        </p:nvSpPr>
        <p:spPr>
          <a:xfrm>
            <a:off x="562356" y="3647186"/>
            <a:ext cx="7804404" cy="658368"/>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62356" y="3647186"/>
            <a:ext cx="73152" cy="6583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 y="3647186"/>
            <a:ext cx="7383779" cy="658368"/>
          </a:xfrm>
          <a:prstGeom prst="rect">
            <a:avLst/>
          </a:prstGeom>
          <a:noFill/>
        </p:spPr>
        <p:txBody>
          <a:bodyPr wrap="square" anchor="ctr" lIns="0" rIns="0" tIns="0" bIns="0">
            <a:noAutofit/>
          </a:bodyPr>
          <a:lstStyle/>
          <a:p>
            <a:pPr algn="l">
              <a:lnSpc>
                <a:spcPct val="105000"/>
              </a:lnSpc>
            </a:pPr>
            <a:r>
              <a:rPr sz="850" b="1" i="0">
                <a:solidFill>
                  <a:srgbClr val="0E2356"/>
                </a:solidFill>
                <a:latin typeface="Outfit"/>
              </a:rPr>
              <a:t>Et surtout — nos deux missions répondent trait pour trait aux deux douleurs du client.</a:t>
            </a:r>
          </a:p>
          <a:p>
            <a:pPr algn="l">
              <a:lnSpc>
                <a:spcPct val="115000"/>
              </a:lnSpc>
              <a:spcBef>
                <a:spcPts val="200"/>
              </a:spcBef>
            </a:pPr>
            <a:r>
              <a:rPr sz="800" b="0" i="0">
                <a:solidFill>
                  <a:srgbClr val="586586"/>
                </a:solidFill>
                <a:latin typeface="Outfit"/>
              </a:rPr>
              <a:t>Subir le RUN → TRANSFORMER (cible produit/plateforme) ; le gaspillage → ASSAINIR (capacité récupérée à réinvestir dans la trajectoire — sous réserve d'une réallocation côté client).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CONTEXTE   ·   </a:t>
            </a:r>
            <a:r>
              <a:rPr b="1" sz="1250">
                <a:solidFill>
                  <a:srgbClr val="0E2356"/>
                </a:solidFill>
                <a:latin typeface="Outfit"/>
              </a:rPr>
              <a:t>Le sponsor est la DSI — l'offre se gagne contre quatre achats partiels</a:t>
            </a:r>
          </a:p>
        </p:txBody>
      </p:sp>
      <p:sp>
        <p:nvSpPr>
          <p:cNvPr id="3" name="TextBox 2"/>
          <p:cNvSpPr txBox="1"/>
          <p:nvPr/>
        </p:nvSpPr>
        <p:spPr>
          <a:xfrm>
            <a:off x="562356" y="1051560"/>
            <a:ext cx="7804404" cy="622046"/>
          </a:xfrm>
          <a:prstGeom prst="rect">
            <a:avLst/>
          </a:prstGeom>
          <a:noFill/>
        </p:spPr>
        <p:txBody>
          <a:bodyPr wrap="square" anchor="t" lIns="0" rIns="0" tIns="0" bIns="0">
            <a:noAutofit/>
          </a:bodyPr>
          <a:lstStyle/>
          <a:p>
            <a:pPr algn="l">
              <a:lnSpc>
                <a:spcPct val="125000"/>
              </a:lnSpc>
            </a:pPr>
            <a:r>
              <a:rPr sz="950" b="0" i="1">
                <a:solidFill>
                  <a:srgbClr val="0E2356"/>
                </a:solidFill>
                <a:latin typeface="Outfit"/>
              </a:rPr>
              <a:t>Sponsor qualifié : DSI (direction des systèmes d'information) ou direction infrastructure, sur une ligne budgétaire transformation — jamais le budget RUN (exploitation courante).</a:t>
            </a:r>
          </a:p>
          <a:p>
            <a:pPr algn="l">
              <a:lnSpc>
                <a:spcPct val="125000"/>
              </a:lnSpc>
              <a:spcBef>
                <a:spcPts val="300"/>
              </a:spcBef>
            </a:pPr>
            <a:r>
              <a:rPr sz="750" b="0" i="0">
                <a:solidFill>
                  <a:srgbClr val="586586"/>
                </a:solidFill>
                <a:latin typeface="Outfit"/>
              </a:rPr>
              <a:t>La modernisation infra recule face à la cyber dans les priorités budgétaires 2026 (baromètre Abraxio) : le langage de vente est « récupérer de la capacité humaine rare », pas « moderniser l'infra ».</a:t>
            </a:r>
          </a:p>
        </p:txBody>
      </p:sp>
      <p:sp>
        <p:nvSpPr>
          <p:cNvPr id="4" name="Round Diagonal Corner Rectangle 3"/>
          <p:cNvSpPr/>
          <p:nvPr/>
        </p:nvSpPr>
        <p:spPr>
          <a:xfrm>
            <a:off x="562356" y="1821179"/>
            <a:ext cx="1813941" cy="2046224"/>
          </a:xfrm>
          <a:prstGeom prst="round2DiagRect">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08076" y="2725991"/>
            <a:ext cx="1722501" cy="1095692"/>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1228" y="1885187"/>
            <a:ext cx="1576197" cy="840803"/>
          </a:xfrm>
          <a:prstGeom prst="rect">
            <a:avLst/>
          </a:prstGeom>
          <a:noFill/>
        </p:spPr>
        <p:txBody>
          <a:bodyPr wrap="square" anchor="t" lIns="0" rIns="0" tIns="0" bIns="0">
            <a:noAutofit/>
          </a:bodyPr>
          <a:lstStyle/>
          <a:p>
            <a:pPr algn="l"/>
            <a:r>
              <a:rPr sz="600" b="1" i="0">
                <a:solidFill>
                  <a:srgbClr val="586586"/>
                </a:solidFill>
                <a:latin typeface="Outfit"/>
              </a:rPr>
              <a:t>ACHAT ALTERNATIF</a:t>
            </a:r>
          </a:p>
          <a:p>
            <a:pPr algn="l">
              <a:lnSpc>
                <a:spcPct val="105000"/>
              </a:lnSpc>
              <a:spcBef>
                <a:spcPts val="300"/>
              </a:spcBef>
            </a:pPr>
            <a:r>
              <a:rPr sz="850" b="1" i="0">
                <a:solidFill>
                  <a:srgbClr val="0E2356"/>
                </a:solidFill>
                <a:latin typeface="Outfit"/>
              </a:rPr>
              <a:t>Ne rien faire</a:t>
            </a:r>
          </a:p>
          <a:p>
            <a:pPr algn="l">
              <a:lnSpc>
                <a:spcPct val="120000"/>
              </a:lnSpc>
              <a:spcBef>
                <a:spcPts val="400"/>
              </a:spcBef>
            </a:pPr>
            <a:r>
              <a:rPr sz="730" b="0" i="0">
                <a:solidFill>
                  <a:srgbClr val="0E2356"/>
                </a:solidFill>
                <a:latin typeface="Outfit"/>
              </a:rPr>
              <a:t>Zéro coût apparent.</a:t>
            </a:r>
          </a:p>
        </p:txBody>
      </p:sp>
      <p:sp>
        <p:nvSpPr>
          <p:cNvPr id="7" name="TextBox 6"/>
          <p:cNvSpPr txBox="1"/>
          <p:nvPr/>
        </p:nvSpPr>
        <p:spPr>
          <a:xfrm>
            <a:off x="681228" y="2799143"/>
            <a:ext cx="1576197" cy="1068260"/>
          </a:xfrm>
          <a:prstGeom prst="rect">
            <a:avLst/>
          </a:prstGeom>
          <a:noFill/>
        </p:spPr>
        <p:txBody>
          <a:bodyPr wrap="square" anchor="t" lIns="0" rIns="0" tIns="0" bIns="0">
            <a:noAutofit/>
          </a:bodyPr>
          <a:lstStyle/>
          <a:p>
            <a:pPr algn="l"/>
            <a:r>
              <a:rPr sz="600" b="1" i="0">
                <a:solidFill>
                  <a:srgbClr val="8891B3"/>
                </a:solidFill>
                <a:latin typeface="Outfit"/>
              </a:rPr>
              <a:t>RÉPONSE IAP</a:t>
            </a:r>
          </a:p>
          <a:p>
            <a:pPr algn="l">
              <a:lnSpc>
                <a:spcPct val="110000"/>
              </a:lnSpc>
              <a:spcBef>
                <a:spcPts val="300"/>
              </a:spcBef>
            </a:pPr>
            <a:r>
              <a:rPr sz="750" b="1" i="0">
                <a:solidFill>
                  <a:srgbClr val="00D2DD"/>
                </a:solidFill>
                <a:latin typeface="Outfit"/>
              </a:rPr>
              <a:t>Le coût du statu quo monte</a:t>
            </a:r>
          </a:p>
          <a:p>
            <a:pPr algn="l">
              <a:lnSpc>
                <a:spcPct val="120000"/>
              </a:lnSpc>
              <a:spcBef>
                <a:spcPts val="300"/>
              </a:spcBef>
            </a:pPr>
            <a:r>
              <a:rPr sz="730" b="0" i="0">
                <a:solidFill>
                  <a:srgbClr val="FFFFFF"/>
                </a:solidFill>
                <a:latin typeface="Outfit"/>
              </a:rPr>
              <a:t>C'est lui que l'Assessment flash chiffre (déclencheur ①).</a:t>
            </a:r>
          </a:p>
        </p:txBody>
      </p:sp>
      <p:sp>
        <p:nvSpPr>
          <p:cNvPr id="8" name="Round Diagonal Corner Rectangle 7"/>
          <p:cNvSpPr/>
          <p:nvPr/>
        </p:nvSpPr>
        <p:spPr>
          <a:xfrm>
            <a:off x="2559177" y="1821179"/>
            <a:ext cx="1813941" cy="2046224"/>
          </a:xfrm>
          <a:prstGeom prst="round2DiagRect">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604897" y="2725991"/>
            <a:ext cx="1722501" cy="1095692"/>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78049" y="1885187"/>
            <a:ext cx="1576197" cy="840803"/>
          </a:xfrm>
          <a:prstGeom prst="rect">
            <a:avLst/>
          </a:prstGeom>
          <a:noFill/>
        </p:spPr>
        <p:txBody>
          <a:bodyPr wrap="square" anchor="t" lIns="0" rIns="0" tIns="0" bIns="0">
            <a:noAutofit/>
          </a:bodyPr>
          <a:lstStyle/>
          <a:p>
            <a:pPr algn="l"/>
            <a:r>
              <a:rPr sz="600" b="1" i="0">
                <a:solidFill>
                  <a:srgbClr val="586586"/>
                </a:solidFill>
                <a:latin typeface="Outfit"/>
              </a:rPr>
              <a:t>ACHAT ALTERNATIF</a:t>
            </a:r>
          </a:p>
          <a:p>
            <a:pPr algn="l">
              <a:lnSpc>
                <a:spcPct val="105000"/>
              </a:lnSpc>
              <a:spcBef>
                <a:spcPts val="300"/>
              </a:spcBef>
            </a:pPr>
            <a:r>
              <a:rPr sz="850" b="1" i="0">
                <a:solidFill>
                  <a:srgbClr val="0E2356"/>
                </a:solidFill>
                <a:latin typeface="Outfit"/>
              </a:rPr>
              <a:t>FinOps outillé seul</a:t>
            </a:r>
          </a:p>
          <a:p>
            <a:pPr algn="l">
              <a:lnSpc>
                <a:spcPct val="120000"/>
              </a:lnSpc>
              <a:spcBef>
                <a:spcPts val="400"/>
              </a:spcBef>
            </a:pPr>
            <a:r>
              <a:rPr sz="730" b="0" i="0">
                <a:solidFill>
                  <a:srgbClr val="0E2356"/>
                </a:solidFill>
                <a:latin typeface="Outfit"/>
              </a:rPr>
              <a:t>Mesure le gaspillage : marché mature, gaspillage cloud estimé à 29 % (Flexera).</a:t>
            </a:r>
          </a:p>
        </p:txBody>
      </p:sp>
      <p:sp>
        <p:nvSpPr>
          <p:cNvPr id="11" name="TextBox 10"/>
          <p:cNvSpPr txBox="1"/>
          <p:nvPr/>
        </p:nvSpPr>
        <p:spPr>
          <a:xfrm>
            <a:off x="2678049" y="2799143"/>
            <a:ext cx="1576197" cy="1068260"/>
          </a:xfrm>
          <a:prstGeom prst="rect">
            <a:avLst/>
          </a:prstGeom>
          <a:noFill/>
        </p:spPr>
        <p:txBody>
          <a:bodyPr wrap="square" anchor="t" lIns="0" rIns="0" tIns="0" bIns="0">
            <a:noAutofit/>
          </a:bodyPr>
          <a:lstStyle/>
          <a:p>
            <a:pPr algn="l"/>
            <a:r>
              <a:rPr sz="600" b="1" i="0">
                <a:solidFill>
                  <a:srgbClr val="8891B3"/>
                </a:solidFill>
                <a:latin typeface="Outfit"/>
              </a:rPr>
              <a:t>RÉPONSE IAP</a:t>
            </a:r>
          </a:p>
          <a:p>
            <a:pPr algn="l">
              <a:lnSpc>
                <a:spcPct val="110000"/>
              </a:lnSpc>
              <a:spcBef>
                <a:spcPts val="300"/>
              </a:spcBef>
            </a:pPr>
            <a:r>
              <a:rPr sz="750" b="1" i="0">
                <a:solidFill>
                  <a:srgbClr val="00D2DD"/>
                </a:solidFill>
                <a:latin typeface="Outfit"/>
              </a:rPr>
              <a:t>Ni cible produit, ni réallocation</a:t>
            </a:r>
          </a:p>
          <a:p>
            <a:pPr algn="l">
              <a:lnSpc>
                <a:spcPct val="120000"/>
              </a:lnSpc>
              <a:spcBef>
                <a:spcPts val="300"/>
              </a:spcBef>
            </a:pPr>
            <a:r>
              <a:rPr sz="730" b="0" i="0">
                <a:solidFill>
                  <a:srgbClr val="FFFFFF"/>
                </a:solidFill>
                <a:latin typeface="Outfit"/>
              </a:rPr>
              <a:t>IAP se place en aval : le chiffre devient une capacité produit gouvernée, pas seulement une économie.</a:t>
            </a:r>
          </a:p>
        </p:txBody>
      </p:sp>
      <p:sp>
        <p:nvSpPr>
          <p:cNvPr id="12" name="Round Diagonal Corner Rectangle 11"/>
          <p:cNvSpPr/>
          <p:nvPr/>
        </p:nvSpPr>
        <p:spPr>
          <a:xfrm>
            <a:off x="4555998" y="1821179"/>
            <a:ext cx="1813941" cy="2046224"/>
          </a:xfrm>
          <a:prstGeom prst="round2DiagRect">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01718" y="2725991"/>
            <a:ext cx="1722501" cy="1095692"/>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74870" y="1885187"/>
            <a:ext cx="1576197" cy="840803"/>
          </a:xfrm>
          <a:prstGeom prst="rect">
            <a:avLst/>
          </a:prstGeom>
          <a:noFill/>
        </p:spPr>
        <p:txBody>
          <a:bodyPr wrap="square" anchor="t" lIns="0" rIns="0" tIns="0" bIns="0">
            <a:noAutofit/>
          </a:bodyPr>
          <a:lstStyle/>
          <a:p>
            <a:pPr algn="l"/>
            <a:r>
              <a:rPr sz="600" b="1" i="0">
                <a:solidFill>
                  <a:srgbClr val="586586"/>
                </a:solidFill>
                <a:latin typeface="Outfit"/>
              </a:rPr>
              <a:t>ACHAT ALTERNATIF</a:t>
            </a:r>
          </a:p>
          <a:p>
            <a:pPr algn="l">
              <a:lnSpc>
                <a:spcPct val="105000"/>
              </a:lnSpc>
              <a:spcBef>
                <a:spcPts val="300"/>
              </a:spcBef>
            </a:pPr>
            <a:r>
              <a:rPr sz="850" b="1" i="0">
                <a:solidFill>
                  <a:srgbClr val="0E2356"/>
                </a:solidFill>
                <a:latin typeface="Outfit"/>
              </a:rPr>
              <a:t>Platform engineering pur</a:t>
            </a:r>
          </a:p>
          <a:p>
            <a:pPr algn="l">
              <a:lnSpc>
                <a:spcPct val="120000"/>
              </a:lnSpc>
              <a:spcBef>
                <a:spcPts val="400"/>
              </a:spcBef>
            </a:pPr>
            <a:r>
              <a:rPr sz="730" b="0" i="0">
                <a:solidFill>
                  <a:srgbClr val="0E2356"/>
                </a:solidFill>
                <a:latin typeface="Outfit"/>
              </a:rPr>
              <a:t>La cible produit/plateforme, un modèle devenu standard.</a:t>
            </a:r>
          </a:p>
        </p:txBody>
      </p:sp>
      <p:sp>
        <p:nvSpPr>
          <p:cNvPr id="15" name="TextBox 14"/>
          <p:cNvSpPr txBox="1"/>
          <p:nvPr/>
        </p:nvSpPr>
        <p:spPr>
          <a:xfrm>
            <a:off x="4674870" y="2799143"/>
            <a:ext cx="1576197" cy="1068260"/>
          </a:xfrm>
          <a:prstGeom prst="rect">
            <a:avLst/>
          </a:prstGeom>
          <a:noFill/>
        </p:spPr>
        <p:txBody>
          <a:bodyPr wrap="square" anchor="t" lIns="0" rIns="0" tIns="0" bIns="0">
            <a:noAutofit/>
          </a:bodyPr>
          <a:lstStyle/>
          <a:p>
            <a:pPr algn="l"/>
            <a:r>
              <a:rPr sz="600" b="1" i="0">
                <a:solidFill>
                  <a:srgbClr val="8891B3"/>
                </a:solidFill>
                <a:latin typeface="Outfit"/>
              </a:rPr>
              <a:t>RÉPONSE IAP</a:t>
            </a:r>
          </a:p>
          <a:p>
            <a:pPr algn="l">
              <a:lnSpc>
                <a:spcPct val="110000"/>
              </a:lnSpc>
              <a:spcBef>
                <a:spcPts val="300"/>
              </a:spcBef>
            </a:pPr>
            <a:r>
              <a:rPr sz="750" b="1" i="0">
                <a:solidFill>
                  <a:srgbClr val="00D2DD"/>
                </a:solidFill>
                <a:latin typeface="Outfit"/>
              </a:rPr>
              <a:t>La cible sans le financement</a:t>
            </a:r>
          </a:p>
          <a:p>
            <a:pPr algn="l">
              <a:lnSpc>
                <a:spcPct val="120000"/>
              </a:lnSpc>
              <a:spcBef>
                <a:spcPts val="300"/>
              </a:spcBef>
            </a:pPr>
            <a:r>
              <a:rPr sz="730" b="0" i="0">
                <a:solidFill>
                  <a:srgbClr val="FFFFFF"/>
                </a:solidFill>
                <a:latin typeface="Outfit"/>
              </a:rPr>
              <a:t>Reproduit l'écart 80/30 déjà posé au déclencheur ② : 80 % de platform teams en 2026, moins de 30 % de gains mesurables (Gartner).</a:t>
            </a:r>
          </a:p>
        </p:txBody>
      </p:sp>
      <p:sp>
        <p:nvSpPr>
          <p:cNvPr id="16" name="Round Diagonal Corner Rectangle 15"/>
          <p:cNvSpPr/>
          <p:nvPr/>
        </p:nvSpPr>
        <p:spPr>
          <a:xfrm>
            <a:off x="6552819" y="1821179"/>
            <a:ext cx="1813941" cy="2046224"/>
          </a:xfrm>
          <a:prstGeom prst="round2DiagRect">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598539" y="2725991"/>
            <a:ext cx="1722501" cy="1095692"/>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1691" y="1885187"/>
            <a:ext cx="1576197" cy="840803"/>
          </a:xfrm>
          <a:prstGeom prst="rect">
            <a:avLst/>
          </a:prstGeom>
          <a:noFill/>
        </p:spPr>
        <p:txBody>
          <a:bodyPr wrap="square" anchor="t" lIns="0" rIns="0" tIns="0" bIns="0">
            <a:noAutofit/>
          </a:bodyPr>
          <a:lstStyle/>
          <a:p>
            <a:pPr algn="l"/>
            <a:r>
              <a:rPr sz="600" b="1" i="0">
                <a:solidFill>
                  <a:srgbClr val="586586"/>
                </a:solidFill>
                <a:latin typeface="Outfit"/>
              </a:rPr>
              <a:t>ACHAT ALTERNATIF</a:t>
            </a:r>
          </a:p>
          <a:p>
            <a:pPr algn="l">
              <a:lnSpc>
                <a:spcPct val="105000"/>
              </a:lnSpc>
              <a:spcBef>
                <a:spcPts val="300"/>
              </a:spcBef>
            </a:pPr>
            <a:r>
              <a:rPr sz="850" b="1" i="0">
                <a:solidFill>
                  <a:srgbClr val="0E2356"/>
                </a:solidFill>
                <a:latin typeface="Outfit"/>
              </a:rPr>
              <a:t>AIOps / agentic outillé</a:t>
            </a:r>
          </a:p>
          <a:p>
            <a:pPr algn="l">
              <a:lnSpc>
                <a:spcPct val="120000"/>
              </a:lnSpc>
              <a:spcBef>
                <a:spcPts val="400"/>
              </a:spcBef>
            </a:pPr>
            <a:r>
              <a:rPr sz="730" b="0" i="0">
                <a:solidFill>
                  <a:srgbClr val="0E2356"/>
                </a:solidFill>
                <a:latin typeface="Outfit"/>
              </a:rPr>
              <a:t>Time-to-value court (ServiceNow, Datadog).</a:t>
            </a:r>
          </a:p>
        </p:txBody>
      </p:sp>
      <p:sp>
        <p:nvSpPr>
          <p:cNvPr id="19" name="TextBox 18"/>
          <p:cNvSpPr txBox="1"/>
          <p:nvPr/>
        </p:nvSpPr>
        <p:spPr>
          <a:xfrm>
            <a:off x="6671691" y="2799143"/>
            <a:ext cx="1576197" cy="1068260"/>
          </a:xfrm>
          <a:prstGeom prst="rect">
            <a:avLst/>
          </a:prstGeom>
          <a:noFill/>
        </p:spPr>
        <p:txBody>
          <a:bodyPr wrap="square" anchor="t" lIns="0" rIns="0" tIns="0" bIns="0">
            <a:noAutofit/>
          </a:bodyPr>
          <a:lstStyle/>
          <a:p>
            <a:pPr algn="l"/>
            <a:r>
              <a:rPr sz="600" b="1" i="0">
                <a:solidFill>
                  <a:srgbClr val="8891B3"/>
                </a:solidFill>
                <a:latin typeface="Outfit"/>
              </a:rPr>
              <a:t>RÉPONSE IAP</a:t>
            </a:r>
          </a:p>
          <a:p>
            <a:pPr algn="l">
              <a:lnSpc>
                <a:spcPct val="110000"/>
              </a:lnSpc>
              <a:spcBef>
                <a:spcPts val="300"/>
              </a:spcBef>
            </a:pPr>
            <a:r>
              <a:rPr sz="750" b="1" i="0">
                <a:solidFill>
                  <a:srgbClr val="00D2DD"/>
                </a:solidFill>
                <a:latin typeface="Outfit"/>
              </a:rPr>
              <a:t>Automatise le RUN sans transformer</a:t>
            </a:r>
          </a:p>
          <a:p>
            <a:pPr algn="l">
              <a:lnSpc>
                <a:spcPct val="120000"/>
              </a:lnSpc>
              <a:spcBef>
                <a:spcPts val="300"/>
              </a:spcBef>
            </a:pPr>
            <a:r>
              <a:rPr sz="730" b="0" i="0">
                <a:solidFill>
                  <a:srgbClr val="FFFFFF"/>
                </a:solidFill>
                <a:latin typeface="Outfit"/>
              </a:rPr>
              <a:t>Plus de 40 % des projets agentic seront abandonnés d'ici 2027 (Gartner, juin 2025).</a:t>
            </a:r>
          </a:p>
        </p:txBody>
      </p:sp>
      <p:sp>
        <p:nvSpPr>
          <p:cNvPr id="20" name="Rounded Rectangle 19"/>
          <p:cNvSpPr/>
          <p:nvPr/>
        </p:nvSpPr>
        <p:spPr>
          <a:xfrm>
            <a:off x="562356" y="4033266"/>
            <a:ext cx="3810762" cy="950213"/>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0372" y="4142994"/>
            <a:ext cx="3554730" cy="730757"/>
          </a:xfrm>
          <a:prstGeom prst="rect">
            <a:avLst/>
          </a:prstGeom>
          <a:noFill/>
        </p:spPr>
        <p:txBody>
          <a:bodyPr wrap="square" anchor="t" lIns="0" rIns="0" tIns="0" bIns="0">
            <a:noAutofit/>
          </a:bodyPr>
          <a:lstStyle/>
          <a:p>
            <a:pPr algn="l"/>
            <a:r>
              <a:rPr sz="700" b="1" i="0">
                <a:solidFill>
                  <a:srgbClr val="586586"/>
                </a:solidFill>
                <a:latin typeface="Outfit"/>
              </a:rPr>
              <a:t>CE QUE LES QUATRE ALTERNATIVES N'ONT PAS</a:t>
            </a:r>
          </a:p>
          <a:p>
            <a:pPr algn="l">
              <a:lnSpc>
                <a:spcPct val="125000"/>
              </a:lnSpc>
              <a:spcBef>
                <a:spcPts val="300"/>
              </a:spcBef>
            </a:pPr>
            <a:r>
              <a:rPr sz="700" b="0" i="0">
                <a:solidFill>
                  <a:srgbClr val="0E2356"/>
                </a:solidFill>
                <a:latin typeface="Outfit"/>
              </a:rPr>
              <a:t>L'étiquette « Infrastructure as a Product » est déjà prise — Thoughtworks (conseil), Itential (plateforme). Le différenciateur n'est pas le nom mais le couplage produit + gaspillage + doctrine IA, angle mort commun des quatre.</a:t>
            </a:r>
          </a:p>
        </p:txBody>
      </p:sp>
      <p:sp>
        <p:nvSpPr>
          <p:cNvPr id="22" name="Rounded Rectangle 21"/>
          <p:cNvSpPr/>
          <p:nvPr/>
        </p:nvSpPr>
        <p:spPr>
          <a:xfrm>
            <a:off x="4555998" y="4033266"/>
            <a:ext cx="3810762" cy="950213"/>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4014" y="4142994"/>
            <a:ext cx="3554730" cy="730757"/>
          </a:xfrm>
          <a:prstGeom prst="rect">
            <a:avLst/>
          </a:prstGeom>
          <a:noFill/>
        </p:spPr>
        <p:txBody>
          <a:bodyPr wrap="square" anchor="t" lIns="0" rIns="0" tIns="0" bIns="0">
            <a:noAutofit/>
          </a:bodyPr>
          <a:lstStyle/>
          <a:p>
            <a:pPr algn="l"/>
            <a:r>
              <a:rPr sz="700" b="1" i="0">
                <a:solidFill>
                  <a:srgbClr val="8891B3"/>
                </a:solidFill>
                <a:latin typeface="Outfit"/>
              </a:rPr>
              <a:t>LA RÉPONSE AU « JE NE VEUX QUE LA BAISSE DE COÛTS »</a:t>
            </a:r>
          </a:p>
          <a:p>
            <a:pPr algn="l">
              <a:lnSpc>
                <a:spcPct val="125000"/>
              </a:lnSpc>
              <a:spcBef>
                <a:spcPts val="300"/>
              </a:spcBef>
            </a:pPr>
            <a:r>
              <a:rPr sz="700" b="0" i="0">
                <a:solidFill>
                  <a:srgbClr val="FFFFFF"/>
                </a:solidFill>
                <a:latin typeface="Outfit"/>
              </a:rPr>
              <a:t>Une mission flash d'entrée — intake, gate confidentialité, pilote court — puis la trajectoire ; jamais l'assainissement seul. Sous pression IA, un cas d'usage sur données publiques est packagé dès l'intake : « celui-ci, tout de suite, sous gate » (chapitre IA).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Spécificités de l'infra</a:t>
            </a:r>
          </a:p>
          <a:p>
            <a:r>
              <a:rPr sz="1050" i="1">
                <a:solidFill>
                  <a:srgbClr val="586586"/>
                </a:solidFill>
                <a:latin typeface="Outfit"/>
              </a:rPr>
              <a:t>Le RUN comme régime permanent, une infra transverse que personne ne porte en propre — et ce que ça change à la façon de la traiter.</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03</a:t>
            </a:r>
          </a:p>
        </p:txBody>
      </p:sp>
      <p:pic>
        <p:nvPicPr>
          <p:cNvPr id="4" name="Picture 3" descr="riverdelta_5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SPÉCIFICITÉS DE L'INFRA   ·   </a:t>
            </a:r>
            <a:r>
              <a:rPr b="1" sz="1200">
                <a:solidFill>
                  <a:srgbClr val="0E2356"/>
                </a:solidFill>
                <a:latin typeface="Outfit"/>
              </a:rPr>
              <a:t>D'un guichet sursollicité à une infra as a product — l'IA rend ce virage nécessaire.</a:t>
            </a:r>
          </a:p>
        </p:txBody>
      </p:sp>
      <p:sp>
        <p:nvSpPr>
          <p:cNvPr id="3" name="Rounded Rectangle 2"/>
          <p:cNvSpPr/>
          <p:nvPr/>
        </p:nvSpPr>
        <p:spPr>
          <a:xfrm>
            <a:off x="562356" y="1069848"/>
            <a:ext cx="3627882" cy="1184529"/>
          </a:xfrm>
          <a:prstGeom prst="roundRect">
            <a:avLst>
              <a:gd name="adj" fmla="val 13000"/>
            </a:avLst>
          </a:prstGeom>
          <a:solidFill>
            <a:srgbClr val="FFFFFF"/>
          </a:solidFill>
          <a:ln w="1651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7804" y="1225295"/>
            <a:ext cx="3316986" cy="362711"/>
          </a:xfrm>
          <a:prstGeom prst="rect">
            <a:avLst/>
          </a:prstGeom>
          <a:noFill/>
        </p:spPr>
        <p:txBody>
          <a:bodyPr wrap="square" anchor="t" lIns="0" rIns="0" tIns="0" bIns="0">
            <a:noAutofit/>
          </a:bodyPr>
          <a:lstStyle/>
          <a:p>
            <a:pPr algn="ctr">
              <a:lnSpc>
                <a:spcPct val="115000"/>
              </a:lnSpc>
            </a:pPr>
            <a:r>
              <a:rPr sz="1100" b="1" i="0">
                <a:solidFill>
                  <a:srgbClr val="0E2356"/>
                </a:solidFill>
                <a:latin typeface="Outfit"/>
              </a:rPr>
              <a:t>Sortir de la sursollicitation et du guichet</a:t>
            </a:r>
          </a:p>
        </p:txBody>
      </p:sp>
      <p:sp>
        <p:nvSpPr>
          <p:cNvPr id="5" name="TextBox 4"/>
          <p:cNvSpPr txBox="1"/>
          <p:nvPr/>
        </p:nvSpPr>
        <p:spPr>
          <a:xfrm>
            <a:off x="717804" y="1642871"/>
            <a:ext cx="3316986" cy="456057"/>
          </a:xfrm>
          <a:prstGeom prst="rect">
            <a:avLst/>
          </a:prstGeom>
          <a:noFill/>
        </p:spPr>
        <p:txBody>
          <a:bodyPr wrap="square" anchor="t" lIns="0" rIns="0" tIns="0" bIns="0">
            <a:spAutoFit/>
          </a:bodyPr>
          <a:lstStyle/>
          <a:p>
            <a:pPr algn="ctr">
              <a:lnSpc>
                <a:spcPct val="125000"/>
              </a:lnSpc>
            </a:pPr>
            <a:r>
              <a:rPr sz="900" b="0" i="1">
                <a:solidFill>
                  <a:srgbClr val="586586"/>
                </a:solidFill>
                <a:latin typeface="Outfit"/>
              </a:rPr>
              <a:t>Des équipiers qui font trop de choses, sont engorgés — </a:t>
            </a:r>
            <a:r>
              <a:rPr sz="900" b="1" i="0">
                <a:solidFill>
                  <a:srgbClr val="0E2356"/>
                </a:solidFill>
                <a:latin typeface="Outfit"/>
              </a:rPr>
              <a:t>décommissionnement jamais fait, trop de RUN au quotidien.</a:t>
            </a:r>
          </a:p>
        </p:txBody>
      </p:sp>
      <p:sp>
        <p:nvSpPr>
          <p:cNvPr id="6" name="Chevron 5"/>
          <p:cNvSpPr/>
          <p:nvPr/>
        </p:nvSpPr>
        <p:spPr>
          <a:xfrm>
            <a:off x="4267047" y="1365980"/>
            <a:ext cx="395020" cy="592264"/>
          </a:xfrm>
          <a:prstGeom prst="chevron">
            <a:avLst/>
          </a:prstGeom>
          <a:solidFill>
            <a:srgbClr val="FFFFFF"/>
          </a:solidFill>
          <a:ln w="1778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38878" y="1069848"/>
            <a:ext cx="3627882" cy="1184529"/>
          </a:xfrm>
          <a:prstGeom prst="roundRect">
            <a:avLst>
              <a:gd name="adj" fmla="val 13000"/>
            </a:avLst>
          </a:prstGeom>
          <a:solidFill>
            <a:srgbClr val="FFFFFF"/>
          </a:solidFill>
          <a:ln w="1651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94326" y="1069848"/>
            <a:ext cx="3316986" cy="1184529"/>
          </a:xfrm>
          <a:prstGeom prst="rect">
            <a:avLst/>
          </a:prstGeom>
          <a:noFill/>
        </p:spPr>
        <p:txBody>
          <a:bodyPr wrap="square" anchor="ctr" lIns="0" rIns="0" tIns="0" bIns="0">
            <a:noAutofit/>
          </a:bodyPr>
          <a:lstStyle/>
          <a:p>
            <a:pPr algn="ctr">
              <a:lnSpc>
                <a:spcPct val="115000"/>
              </a:lnSpc>
            </a:pPr>
            <a:r>
              <a:rPr sz="1100" b="1" i="0">
                <a:solidFill>
                  <a:srgbClr val="0E2356"/>
                </a:solidFill>
                <a:latin typeface="Outfit"/>
              </a:rPr>
              <a:t>Assainir et travailler le gaspillage</a:t>
            </a:r>
          </a:p>
        </p:txBody>
      </p:sp>
      <p:sp>
        <p:nvSpPr>
          <p:cNvPr id="9" name="Rounded Rectangle 8"/>
          <p:cNvSpPr/>
          <p:nvPr/>
        </p:nvSpPr>
        <p:spPr>
          <a:xfrm>
            <a:off x="562356" y="2327529"/>
            <a:ext cx="3627882" cy="646176"/>
          </a:xfrm>
          <a:prstGeom prst="roundRect">
            <a:avLst>
              <a:gd name="adj" fmla="val 50000"/>
            </a:avLst>
          </a:prstGeom>
          <a:solidFill>
            <a:srgbClr val="FFFFFF"/>
          </a:solidFill>
          <a:ln w="1651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7804" y="2327529"/>
            <a:ext cx="3316986" cy="646176"/>
          </a:xfrm>
          <a:prstGeom prst="rect">
            <a:avLst/>
          </a:prstGeom>
          <a:noFill/>
        </p:spPr>
        <p:txBody>
          <a:bodyPr wrap="square" anchor="ctr" lIns="0" rIns="0" tIns="0" bIns="0">
            <a:noAutofit/>
          </a:bodyPr>
          <a:lstStyle/>
          <a:p>
            <a:pPr algn="ctr">
              <a:lnSpc>
                <a:spcPct val="115000"/>
              </a:lnSpc>
            </a:pPr>
            <a:r>
              <a:rPr sz="1100" b="1" i="0">
                <a:solidFill>
                  <a:srgbClr val="0E2356"/>
                </a:solidFill>
                <a:latin typeface="Outfit"/>
              </a:rPr>
              <a:t>Mieux servir les utilisateurs, avec une approche as a service</a:t>
            </a:r>
          </a:p>
        </p:txBody>
      </p:sp>
      <p:sp>
        <p:nvSpPr>
          <p:cNvPr id="11" name="Chevron 10"/>
          <p:cNvSpPr/>
          <p:nvPr/>
        </p:nvSpPr>
        <p:spPr>
          <a:xfrm>
            <a:off x="4267047" y="2489073"/>
            <a:ext cx="395020" cy="323088"/>
          </a:xfrm>
          <a:prstGeom prst="chevron">
            <a:avLst/>
          </a:prstGeom>
          <a:solidFill>
            <a:srgbClr val="FFFFFF"/>
          </a:solidFill>
          <a:ln w="1778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738878" y="2327529"/>
            <a:ext cx="3627882" cy="646176"/>
          </a:xfrm>
          <a:prstGeom prst="roundRect">
            <a:avLst>
              <a:gd name="adj" fmla="val 50000"/>
            </a:avLst>
          </a:prstGeom>
          <a:solidFill>
            <a:srgbClr val="FFFFFF"/>
          </a:solidFill>
          <a:ln w="1651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94326" y="2327529"/>
            <a:ext cx="3316986" cy="646176"/>
          </a:xfrm>
          <a:prstGeom prst="rect">
            <a:avLst/>
          </a:prstGeom>
          <a:noFill/>
        </p:spPr>
        <p:txBody>
          <a:bodyPr wrap="square" anchor="ctr" lIns="0" rIns="0" tIns="0" bIns="0">
            <a:noAutofit/>
          </a:bodyPr>
          <a:lstStyle/>
          <a:p>
            <a:pPr algn="ctr">
              <a:lnSpc>
                <a:spcPct val="115000"/>
              </a:lnSpc>
            </a:pPr>
            <a:r>
              <a:rPr sz="1100" b="1" i="0">
                <a:solidFill>
                  <a:srgbClr val="0E2356"/>
                </a:solidFill>
                <a:latin typeface="Outfit"/>
              </a:rPr>
              <a:t>Une infra plus recentrée sur ces utilisateurs</a:t>
            </a:r>
          </a:p>
        </p:txBody>
      </p:sp>
      <p:sp>
        <p:nvSpPr>
          <p:cNvPr id="14" name="TextBox 13"/>
          <p:cNvSpPr txBox="1"/>
          <p:nvPr/>
        </p:nvSpPr>
        <p:spPr>
          <a:xfrm>
            <a:off x="562356" y="3065145"/>
            <a:ext cx="7804404" cy="118872"/>
          </a:xfrm>
          <a:prstGeom prst="rect">
            <a:avLst/>
          </a:prstGeom>
          <a:noFill/>
        </p:spPr>
        <p:txBody>
          <a:bodyPr wrap="square" anchor="t" lIns="0" rIns="0" tIns="0" bIns="0">
            <a:noAutofit/>
          </a:bodyPr>
          <a:lstStyle/>
          <a:p>
            <a:pPr algn="l"/>
            <a:r>
              <a:rPr sz="800" b="1" i="0">
                <a:solidFill>
                  <a:srgbClr val="0E2356"/>
                </a:solidFill>
                <a:latin typeface="Outfit"/>
              </a:rPr>
              <a:t>AVEC L'ARRIVÉE DE L'IA</a:t>
            </a:r>
          </a:p>
        </p:txBody>
      </p:sp>
      <p:sp>
        <p:nvSpPr>
          <p:cNvPr id="15" name="Rounded Rectangle 14"/>
          <p:cNvSpPr/>
          <p:nvPr/>
        </p:nvSpPr>
        <p:spPr>
          <a:xfrm>
            <a:off x="772668" y="3449193"/>
            <a:ext cx="7594092" cy="906017"/>
          </a:xfrm>
          <a:prstGeom prst="roundRect">
            <a:avLst>
              <a:gd name="adj" fmla="val 9000"/>
            </a:avLst>
          </a:prstGeom>
          <a:solidFill>
            <a:srgbClr val="FFFFFF"/>
          </a:solidFill>
          <a:ln w="17780">
            <a:solidFill>
              <a:srgbClr val="3E4F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3836" y="3705224"/>
            <a:ext cx="7191755" cy="172212"/>
          </a:xfrm>
          <a:prstGeom prst="rect">
            <a:avLst/>
          </a:prstGeom>
          <a:noFill/>
        </p:spPr>
        <p:txBody>
          <a:bodyPr wrap="square" anchor="t" lIns="0" rIns="0" tIns="0" bIns="0">
            <a:noAutofit/>
          </a:bodyPr>
          <a:lstStyle/>
          <a:p>
            <a:pPr algn="l"/>
            <a:r>
              <a:rPr sz="950" b="1" i="0">
                <a:solidFill>
                  <a:srgbClr val="3E4F78"/>
                </a:solidFill>
                <a:latin typeface="Outfit"/>
              </a:rPr>
              <a:t>UNE SURSOLLICITATION EXACERBÉE</a:t>
            </a:r>
          </a:p>
        </p:txBody>
      </p:sp>
      <p:sp>
        <p:nvSpPr>
          <p:cNvPr id="17" name="TextBox 16"/>
          <p:cNvSpPr txBox="1"/>
          <p:nvPr/>
        </p:nvSpPr>
        <p:spPr>
          <a:xfrm>
            <a:off x="973836" y="3923156"/>
            <a:ext cx="7191755" cy="313182"/>
          </a:xfrm>
          <a:prstGeom prst="rect">
            <a:avLst/>
          </a:prstGeom>
          <a:noFill/>
        </p:spPr>
        <p:txBody>
          <a:bodyPr wrap="square" anchor="t" lIns="0" rIns="0" tIns="0" bIns="0">
            <a:spAutoFit/>
          </a:bodyPr>
          <a:lstStyle/>
          <a:p>
            <a:pPr algn="l">
              <a:lnSpc>
                <a:spcPct val="125000"/>
              </a:lnSpc>
            </a:pPr>
            <a:r>
              <a:rPr sz="900" b="0" i="0">
                <a:solidFill>
                  <a:srgbClr val="0E2356"/>
                </a:solidFill>
                <a:latin typeface="Outfit"/>
              </a:rPr>
              <a:t>Trop de demandes, des équipes engorgées — la même pression que le guichet d'hier, </a:t>
            </a:r>
            <a:r>
              <a:rPr sz="900" b="1" i="0">
                <a:solidFill>
                  <a:srgbClr val="3E4F78"/>
                </a:solidFill>
                <a:latin typeface="Outfit"/>
              </a:rPr>
              <a:t>amplifiée par l'IA plutôt que résolue par elle.</a:t>
            </a:r>
          </a:p>
        </p:txBody>
      </p:sp>
      <p:sp>
        <p:nvSpPr>
          <p:cNvPr id="18" name="Rounded Rectangle 17"/>
          <p:cNvSpPr/>
          <p:nvPr/>
        </p:nvSpPr>
        <p:spPr>
          <a:xfrm>
            <a:off x="562356" y="3238881"/>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2356" y="3238881"/>
            <a:ext cx="420624" cy="420624"/>
          </a:xfrm>
          <a:prstGeom prst="rect">
            <a:avLst/>
          </a:prstGeom>
          <a:noFill/>
        </p:spPr>
        <p:txBody>
          <a:bodyPr wrap="square" anchor="ctr" lIns="0" rIns="0" tIns="0" bIns="0">
            <a:noAutofit/>
          </a:bodyPr>
          <a:lstStyle/>
          <a:p>
            <a:pPr algn="ctr"/>
            <a:r>
              <a:rPr sz="1100" b="1" i="0">
                <a:solidFill>
                  <a:srgbClr val="FFFFFF"/>
                </a:solidFill>
                <a:latin typeface="Outfit"/>
              </a:rPr>
              <a:t>IA</a:t>
            </a:r>
          </a:p>
        </p:txBody>
      </p:sp>
      <p:sp>
        <p:nvSpPr>
          <p:cNvPr id="20" name="Rounded Rectangle 19"/>
          <p:cNvSpPr/>
          <p:nvPr/>
        </p:nvSpPr>
        <p:spPr>
          <a:xfrm>
            <a:off x="562356" y="4489704"/>
            <a:ext cx="7804404" cy="49377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0372" y="4507992"/>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22" name="TextBox 21"/>
          <p:cNvSpPr txBox="1"/>
          <p:nvPr/>
        </p:nvSpPr>
        <p:spPr>
          <a:xfrm>
            <a:off x="745236" y="4489704"/>
            <a:ext cx="7438644" cy="493776"/>
          </a:xfrm>
          <a:prstGeom prst="rect">
            <a:avLst/>
          </a:prstGeom>
          <a:noFill/>
        </p:spPr>
        <p:txBody>
          <a:bodyPr wrap="square" anchor="ctr" lIns="0" rIns="0" tIns="0" bIns="0">
            <a:spAutoFit/>
          </a:bodyPr>
          <a:lstStyle/>
          <a:p>
            <a:pPr algn="ctr"/>
            <a:r>
              <a:rPr sz="1200" b="1" i="0">
                <a:solidFill>
                  <a:srgbClr val="FFFFFF"/>
                </a:solidFill>
                <a:latin typeface="Outfit"/>
              </a:rPr>
              <a:t>L'objectif : infra as a product.</a:t>
            </a:r>
            <a:r>
              <a:rPr sz="1200" b="1" i="0">
                <a:solidFill>
                  <a:srgbClr val="00D2DD"/>
                </a:solidFill>
                <a:latin typeface="Outfit"/>
              </a:rPr>
              <a:t>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SPÉCIFICITÉS DE L'INFRA   ·   </a:t>
            </a:r>
            <a:r>
              <a:rPr b="1" sz="1200">
                <a:solidFill>
                  <a:srgbClr val="0E2356"/>
                </a:solidFill>
                <a:latin typeface="Outfit"/>
              </a:rPr>
              <a:t>Le RUN n'est pas une phase du projet : c'est un régime permanent, et c'est ce qui le rend impossible à traiter comme du BUILD</a:t>
            </a:r>
          </a:p>
        </p:txBody>
      </p:sp>
      <p:sp>
        <p:nvSpPr>
          <p:cNvPr id="3" name="Rounded Rectangle 2"/>
          <p:cNvSpPr/>
          <p:nvPr/>
        </p:nvSpPr>
        <p:spPr>
          <a:xfrm>
            <a:off x="1254442" y="1325880"/>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2356" y="1325880"/>
            <a:ext cx="1841373" cy="457200"/>
          </a:xfrm>
          <a:prstGeom prst="rect">
            <a:avLst/>
          </a:prstGeom>
          <a:noFill/>
        </p:spPr>
        <p:txBody>
          <a:bodyPr wrap="square" anchor="ctr" lIns="0" rIns="0" tIns="0" bIns="0">
            <a:noAutofit/>
          </a:bodyPr>
          <a:lstStyle/>
          <a:p>
            <a:pPr algn="ctr"/>
            <a:r>
              <a:rPr sz="1300" b="1" i="0">
                <a:solidFill>
                  <a:srgbClr val="FFFFFF"/>
                </a:solidFill>
                <a:latin typeface="Outfit"/>
              </a:rPr>
              <a:t>1</a:t>
            </a:r>
          </a:p>
        </p:txBody>
      </p:sp>
      <p:sp>
        <p:nvSpPr>
          <p:cNvPr id="5" name="Rectangle 4"/>
          <p:cNvSpPr/>
          <p:nvPr/>
        </p:nvSpPr>
        <p:spPr>
          <a:xfrm>
            <a:off x="1472984" y="1783080"/>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2356" y="1929384"/>
            <a:ext cx="1841373" cy="304800"/>
          </a:xfrm>
          <a:prstGeom prst="rect">
            <a:avLst/>
          </a:prstGeom>
          <a:noFill/>
        </p:spPr>
        <p:txBody>
          <a:bodyPr wrap="square" anchor="t" lIns="0" rIns="0" tIns="0" bIns="0">
            <a:noAutofit/>
          </a:bodyPr>
          <a:lstStyle/>
          <a:p>
            <a:pPr algn="ctr">
              <a:lnSpc>
                <a:spcPct val="120000"/>
              </a:lnSpc>
            </a:pPr>
            <a:r>
              <a:rPr sz="850" b="1" i="0">
                <a:solidFill>
                  <a:srgbClr val="0E2356"/>
                </a:solidFill>
                <a:latin typeface="Outfit"/>
              </a:rPr>
              <a:t>Il ne s'arrête jamais</a:t>
            </a:r>
          </a:p>
        </p:txBody>
      </p:sp>
      <p:sp>
        <p:nvSpPr>
          <p:cNvPr id="7" name="TextBox 6"/>
          <p:cNvSpPr txBox="1"/>
          <p:nvPr/>
        </p:nvSpPr>
        <p:spPr>
          <a:xfrm>
            <a:off x="617220" y="2270760"/>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Un projet se termine, le RUN non. L'astreinte, la veille et le maintien en condition sont un coût fixe qu'aucune fin de phase ne libère.</a:t>
            </a:r>
          </a:p>
        </p:txBody>
      </p:sp>
      <p:sp>
        <p:nvSpPr>
          <p:cNvPr id="8" name="TextBox 7"/>
          <p:cNvSpPr txBox="1"/>
          <p:nvPr/>
        </p:nvSpPr>
        <p:spPr>
          <a:xfrm>
            <a:off x="617220" y="3398901"/>
            <a:ext cx="1731644" cy="128016"/>
          </a:xfrm>
          <a:prstGeom prst="rect">
            <a:avLst/>
          </a:prstGeom>
          <a:noFill/>
        </p:spPr>
        <p:txBody>
          <a:bodyPr wrap="square" anchor="t" lIns="0" rIns="0" tIns="0" bIns="0">
            <a:noAutofit/>
          </a:bodyPr>
          <a:lstStyle/>
          <a:p>
            <a:pPr algn="l"/>
            <a:r>
              <a:rPr sz="650" b="1" i="0">
                <a:solidFill>
                  <a:srgbClr val="586586"/>
                </a:solidFill>
                <a:latin typeface="Outfit"/>
              </a:rPr>
              <a:t>CE QUI LE REND INVISIBLE</a:t>
            </a:r>
          </a:p>
        </p:txBody>
      </p:sp>
      <p:sp>
        <p:nvSpPr>
          <p:cNvPr id="9" name="TextBox 8"/>
          <p:cNvSpPr txBox="1"/>
          <p:nvPr/>
        </p:nvSpPr>
        <p:spPr>
          <a:xfrm>
            <a:off x="617220" y="3545205"/>
            <a:ext cx="1731644" cy="28041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Aucune date de fin ne le fait retomber</a:t>
            </a:r>
          </a:p>
        </p:txBody>
      </p:sp>
      <p:sp>
        <p:nvSpPr>
          <p:cNvPr id="10" name="Rounded Rectangle 9"/>
          <p:cNvSpPr/>
          <p:nvPr/>
        </p:nvSpPr>
        <p:spPr>
          <a:xfrm>
            <a:off x="3242119" y="1325880"/>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50033" y="1325880"/>
            <a:ext cx="1841373" cy="457200"/>
          </a:xfrm>
          <a:prstGeom prst="rect">
            <a:avLst/>
          </a:prstGeom>
          <a:noFill/>
        </p:spPr>
        <p:txBody>
          <a:bodyPr wrap="square" anchor="ctr" lIns="0" rIns="0" tIns="0" bIns="0">
            <a:noAutofit/>
          </a:bodyPr>
          <a:lstStyle/>
          <a:p>
            <a:pPr algn="ctr"/>
            <a:r>
              <a:rPr sz="1300" b="1" i="0">
                <a:solidFill>
                  <a:srgbClr val="FFFFFF"/>
                </a:solidFill>
                <a:latin typeface="Outfit"/>
              </a:rPr>
              <a:t>2</a:t>
            </a:r>
          </a:p>
        </p:txBody>
      </p:sp>
      <p:sp>
        <p:nvSpPr>
          <p:cNvPr id="12" name="Rectangle 11"/>
          <p:cNvSpPr/>
          <p:nvPr/>
        </p:nvSpPr>
        <p:spPr>
          <a:xfrm>
            <a:off x="3460661" y="1783080"/>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50033" y="1929384"/>
            <a:ext cx="1841373" cy="304800"/>
          </a:xfrm>
          <a:prstGeom prst="rect">
            <a:avLst/>
          </a:prstGeom>
          <a:noFill/>
        </p:spPr>
        <p:txBody>
          <a:bodyPr wrap="square" anchor="t" lIns="0" rIns="0" tIns="0" bIns="0">
            <a:noAutofit/>
          </a:bodyPr>
          <a:lstStyle/>
          <a:p>
            <a:pPr algn="ctr">
              <a:lnSpc>
                <a:spcPct val="120000"/>
              </a:lnSpc>
            </a:pPr>
            <a:r>
              <a:rPr sz="850" b="1" i="0">
                <a:solidFill>
                  <a:srgbClr val="0E2356"/>
                </a:solidFill>
                <a:latin typeface="Outfit"/>
              </a:rPr>
              <a:t>Sa charge arrive de l'extérieur</a:t>
            </a:r>
          </a:p>
        </p:txBody>
      </p:sp>
      <p:sp>
        <p:nvSpPr>
          <p:cNvPr id="14" name="TextBox 13"/>
          <p:cNvSpPr txBox="1"/>
          <p:nvPr/>
        </p:nvSpPr>
        <p:spPr>
          <a:xfrm>
            <a:off x="2604897" y="2270760"/>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Elle n'est pas planifiée : elle est déclenchée par les incidents, les demandes et les obsolescences. On subit le rythme au lieu de le choisir.</a:t>
            </a:r>
          </a:p>
        </p:txBody>
      </p:sp>
      <p:sp>
        <p:nvSpPr>
          <p:cNvPr id="15" name="TextBox 14"/>
          <p:cNvSpPr txBox="1"/>
          <p:nvPr/>
        </p:nvSpPr>
        <p:spPr>
          <a:xfrm>
            <a:off x="2604897" y="3398901"/>
            <a:ext cx="1731644" cy="128016"/>
          </a:xfrm>
          <a:prstGeom prst="rect">
            <a:avLst/>
          </a:prstGeom>
          <a:noFill/>
        </p:spPr>
        <p:txBody>
          <a:bodyPr wrap="square" anchor="t" lIns="0" rIns="0" tIns="0" bIns="0">
            <a:noAutofit/>
          </a:bodyPr>
          <a:lstStyle/>
          <a:p>
            <a:pPr algn="l"/>
            <a:r>
              <a:rPr sz="650" b="1" i="0">
                <a:solidFill>
                  <a:srgbClr val="586586"/>
                </a:solidFill>
                <a:latin typeface="Outfit"/>
              </a:rPr>
              <a:t>CE QUI LE REND INVISIBLE</a:t>
            </a:r>
          </a:p>
        </p:txBody>
      </p:sp>
      <p:sp>
        <p:nvSpPr>
          <p:cNvPr id="16" name="TextBox 15"/>
          <p:cNvSpPr txBox="1"/>
          <p:nvPr/>
        </p:nvSpPr>
        <p:spPr>
          <a:xfrm>
            <a:off x="2604897" y="3545205"/>
            <a:ext cx="1731644" cy="28041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Le carnet se remplit sans arbitrage</a:t>
            </a:r>
          </a:p>
        </p:txBody>
      </p:sp>
      <p:sp>
        <p:nvSpPr>
          <p:cNvPr id="17" name="Rounded Rectangle 16"/>
          <p:cNvSpPr/>
          <p:nvPr/>
        </p:nvSpPr>
        <p:spPr>
          <a:xfrm>
            <a:off x="5229796" y="1325880"/>
            <a:ext cx="457200" cy="45720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7710" y="1325880"/>
            <a:ext cx="1841373" cy="457200"/>
          </a:xfrm>
          <a:prstGeom prst="rect">
            <a:avLst/>
          </a:prstGeom>
          <a:noFill/>
        </p:spPr>
        <p:txBody>
          <a:bodyPr wrap="square" anchor="ctr" lIns="0" rIns="0" tIns="0" bIns="0">
            <a:noAutofit/>
          </a:bodyPr>
          <a:lstStyle/>
          <a:p>
            <a:pPr algn="ctr"/>
            <a:r>
              <a:rPr sz="1300" b="1" i="0">
                <a:solidFill>
                  <a:srgbClr val="0E2356"/>
                </a:solidFill>
                <a:latin typeface="Outfit"/>
              </a:rPr>
              <a:t>3</a:t>
            </a:r>
          </a:p>
        </p:txBody>
      </p:sp>
      <p:sp>
        <p:nvSpPr>
          <p:cNvPr id="19" name="Rectangle 18"/>
          <p:cNvSpPr/>
          <p:nvPr/>
        </p:nvSpPr>
        <p:spPr>
          <a:xfrm>
            <a:off x="5448338" y="1783080"/>
            <a:ext cx="20116" cy="146304"/>
          </a:xfrm>
          <a:prstGeom prst="rect">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37710" y="1929384"/>
            <a:ext cx="1841373" cy="304800"/>
          </a:xfrm>
          <a:prstGeom prst="rect">
            <a:avLst/>
          </a:prstGeom>
          <a:noFill/>
        </p:spPr>
        <p:txBody>
          <a:bodyPr wrap="square" anchor="t" lIns="0" rIns="0" tIns="0" bIns="0">
            <a:noAutofit/>
          </a:bodyPr>
          <a:lstStyle/>
          <a:p>
            <a:pPr algn="ctr">
              <a:lnSpc>
                <a:spcPct val="120000"/>
              </a:lnSpc>
            </a:pPr>
            <a:r>
              <a:rPr sz="850" b="1" i="0">
                <a:solidFill>
                  <a:srgbClr val="0E2356"/>
                </a:solidFill>
                <a:latin typeface="Outfit"/>
              </a:rPr>
              <a:t>Il puise dans les MÊMES experts que le BUILD</a:t>
            </a:r>
          </a:p>
        </p:txBody>
      </p:sp>
      <p:sp>
        <p:nvSpPr>
          <p:cNvPr id="21" name="TextBox 20"/>
          <p:cNvSpPr txBox="1"/>
          <p:nvPr/>
        </p:nvSpPr>
        <p:spPr>
          <a:xfrm>
            <a:off x="4592574" y="2270760"/>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Les seniors capables de tenir la production sont ceux qui construisent. À chaque conflit, l'incident du jour gagne contre le chantier de fond.</a:t>
            </a:r>
          </a:p>
        </p:txBody>
      </p:sp>
      <p:sp>
        <p:nvSpPr>
          <p:cNvPr id="22" name="TextBox 21"/>
          <p:cNvSpPr txBox="1"/>
          <p:nvPr/>
        </p:nvSpPr>
        <p:spPr>
          <a:xfrm>
            <a:off x="4592574" y="3398901"/>
            <a:ext cx="1731644" cy="128016"/>
          </a:xfrm>
          <a:prstGeom prst="rect">
            <a:avLst/>
          </a:prstGeom>
          <a:noFill/>
        </p:spPr>
        <p:txBody>
          <a:bodyPr wrap="square" anchor="t" lIns="0" rIns="0" tIns="0" bIns="0">
            <a:noAutofit/>
          </a:bodyPr>
          <a:lstStyle/>
          <a:p>
            <a:pPr algn="l"/>
            <a:r>
              <a:rPr sz="650" b="1" i="0">
                <a:solidFill>
                  <a:srgbClr val="586586"/>
                </a:solidFill>
                <a:latin typeface="Outfit"/>
              </a:rPr>
              <a:t>CE QUI LE REND INVISIBLE</a:t>
            </a:r>
          </a:p>
        </p:txBody>
      </p:sp>
      <p:sp>
        <p:nvSpPr>
          <p:cNvPr id="23" name="TextBox 22"/>
          <p:cNvSpPr txBox="1"/>
          <p:nvPr/>
        </p:nvSpPr>
        <p:spPr>
          <a:xfrm>
            <a:off x="4592574" y="3545205"/>
            <a:ext cx="1731644" cy="28041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Le BUILD paie, toujours dans le même sens</a:t>
            </a:r>
          </a:p>
        </p:txBody>
      </p:sp>
      <p:sp>
        <p:nvSpPr>
          <p:cNvPr id="24" name="Rounded Rectangle 23"/>
          <p:cNvSpPr/>
          <p:nvPr/>
        </p:nvSpPr>
        <p:spPr>
          <a:xfrm>
            <a:off x="7217473" y="1325880"/>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25387" y="1325880"/>
            <a:ext cx="1841373" cy="457200"/>
          </a:xfrm>
          <a:prstGeom prst="rect">
            <a:avLst/>
          </a:prstGeom>
          <a:noFill/>
        </p:spPr>
        <p:txBody>
          <a:bodyPr wrap="square" anchor="ctr" lIns="0" rIns="0" tIns="0" bIns="0">
            <a:noAutofit/>
          </a:bodyPr>
          <a:lstStyle/>
          <a:p>
            <a:pPr algn="ctr"/>
            <a:r>
              <a:rPr sz="1300" b="1" i="0">
                <a:solidFill>
                  <a:srgbClr val="FFFFFF"/>
                </a:solidFill>
                <a:latin typeface="Outfit"/>
              </a:rPr>
              <a:t>4</a:t>
            </a:r>
          </a:p>
        </p:txBody>
      </p:sp>
      <p:sp>
        <p:nvSpPr>
          <p:cNvPr id="26" name="Rectangle 25"/>
          <p:cNvSpPr/>
          <p:nvPr/>
        </p:nvSpPr>
        <p:spPr>
          <a:xfrm>
            <a:off x="7436015" y="1783080"/>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25387" y="1929384"/>
            <a:ext cx="1841373" cy="304800"/>
          </a:xfrm>
          <a:prstGeom prst="rect">
            <a:avLst/>
          </a:prstGeom>
          <a:noFill/>
        </p:spPr>
        <p:txBody>
          <a:bodyPr wrap="square" anchor="t" lIns="0" rIns="0" tIns="0" bIns="0">
            <a:noAutofit/>
          </a:bodyPr>
          <a:lstStyle/>
          <a:p>
            <a:pPr algn="ctr">
              <a:lnSpc>
                <a:spcPct val="120000"/>
              </a:lnSpc>
            </a:pPr>
            <a:r>
              <a:rPr sz="850" b="1" i="0">
                <a:solidFill>
                  <a:srgbClr val="0E2356"/>
                </a:solidFill>
                <a:latin typeface="Outfit"/>
              </a:rPr>
              <a:t>Sa dette ne se voit pas le jour où on la crée</a:t>
            </a:r>
          </a:p>
        </p:txBody>
      </p:sp>
      <p:sp>
        <p:nvSpPr>
          <p:cNvPr id="28" name="TextBox 27"/>
          <p:cNvSpPr txBox="1"/>
          <p:nvPr/>
        </p:nvSpPr>
        <p:spPr>
          <a:xfrm>
            <a:off x="6580251" y="2270760"/>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Ne pas décommissionner, ne pas documenter, ne pas automatiser ne casse rien aujourd'hui. Le coût se paie plus tard, et ailleurs.</a:t>
            </a:r>
          </a:p>
        </p:txBody>
      </p:sp>
      <p:sp>
        <p:nvSpPr>
          <p:cNvPr id="29" name="TextBox 28"/>
          <p:cNvSpPr txBox="1"/>
          <p:nvPr/>
        </p:nvSpPr>
        <p:spPr>
          <a:xfrm>
            <a:off x="6580251" y="3398901"/>
            <a:ext cx="1731644" cy="128016"/>
          </a:xfrm>
          <a:prstGeom prst="rect">
            <a:avLst/>
          </a:prstGeom>
          <a:noFill/>
        </p:spPr>
        <p:txBody>
          <a:bodyPr wrap="square" anchor="t" lIns="0" rIns="0" tIns="0" bIns="0">
            <a:noAutofit/>
          </a:bodyPr>
          <a:lstStyle/>
          <a:p>
            <a:pPr algn="l"/>
            <a:r>
              <a:rPr sz="650" b="1" i="0">
                <a:solidFill>
                  <a:srgbClr val="586586"/>
                </a:solidFill>
                <a:latin typeface="Outfit"/>
              </a:rPr>
              <a:t>CE QUI LE REND INVISIBLE</a:t>
            </a:r>
          </a:p>
        </p:txBody>
      </p:sp>
      <p:sp>
        <p:nvSpPr>
          <p:cNvPr id="30" name="TextBox 29"/>
          <p:cNvSpPr txBox="1"/>
          <p:nvPr/>
        </p:nvSpPr>
        <p:spPr>
          <a:xfrm>
            <a:off x="6580251" y="3545205"/>
            <a:ext cx="1731644" cy="28041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Rien ne tombe le jour de l'arbitrage</a:t>
            </a:r>
          </a:p>
        </p:txBody>
      </p:sp>
      <p:sp>
        <p:nvSpPr>
          <p:cNvPr id="31" name="Rounded Rectangle 30"/>
          <p:cNvSpPr/>
          <p:nvPr/>
        </p:nvSpPr>
        <p:spPr>
          <a:xfrm>
            <a:off x="562356" y="4489704"/>
            <a:ext cx="7804404" cy="49377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0372" y="4507992"/>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33" name="TextBox 32"/>
          <p:cNvSpPr txBox="1"/>
          <p:nvPr/>
        </p:nvSpPr>
        <p:spPr>
          <a:xfrm>
            <a:off x="745236" y="4489704"/>
            <a:ext cx="7438644" cy="493776"/>
          </a:xfrm>
          <a:prstGeom prst="rect">
            <a:avLst/>
          </a:prstGeom>
          <a:noFill/>
        </p:spPr>
        <p:txBody>
          <a:bodyPr wrap="square" anchor="ctr" lIns="0" rIns="0" tIns="0" bIns="0">
            <a:spAutoFit/>
          </a:bodyPr>
          <a:lstStyle/>
          <a:p>
            <a:pPr algn="ctr"/>
            <a:r>
              <a:rPr sz="1200" b="1" i="0">
                <a:solidFill>
                  <a:srgbClr val="FFFFFF"/>
                </a:solidFill>
                <a:latin typeface="Outfit"/>
              </a:rPr>
              <a:t>Traiter le RUN comme un projet, c'est le perdre à chaque arbitrage.</a:t>
            </a:r>
            <a:r>
              <a:rPr sz="1200" b="1" i="0">
                <a:solidFill>
                  <a:srgbClr val="00D2DD"/>
                </a:solidFill>
                <a:latin typeface="Outfit"/>
              </a:rPr>
              <a:t>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SPÉCIFICITÉS DE L'INFRA   ·   </a:t>
            </a:r>
            <a:r>
              <a:rPr b="1" sz="1200">
                <a:solidFill>
                  <a:srgbClr val="0E2356"/>
                </a:solidFill>
                <a:latin typeface="Outfit"/>
              </a:rPr>
              <a:t>L'infra sert toutes les équipes et n'appartient à aucune — c'est ce qui rend son gaspillage orphelin</a:t>
            </a:r>
          </a:p>
        </p:txBody>
      </p:sp>
      <p:sp>
        <p:nvSpPr>
          <p:cNvPr id="3" name="TextBox 2"/>
          <p:cNvSpPr txBox="1"/>
          <p:nvPr/>
        </p:nvSpPr>
        <p:spPr>
          <a:xfrm>
            <a:off x="562356" y="1033271"/>
            <a:ext cx="7804404" cy="164592"/>
          </a:xfrm>
          <a:prstGeom prst="rect">
            <a:avLst/>
          </a:prstGeom>
          <a:noFill/>
        </p:spPr>
        <p:txBody>
          <a:bodyPr wrap="square" anchor="t" lIns="0" rIns="0" tIns="0" bIns="0">
            <a:noAutofit/>
          </a:bodyPr>
          <a:lstStyle/>
          <a:p>
            <a:pPr algn="l"/>
            <a:r>
              <a:rPr sz="800" b="1" i="0">
                <a:solidFill>
                  <a:srgbClr val="586586"/>
                </a:solidFill>
                <a:latin typeface="Outfit"/>
              </a:rPr>
              <a:t>CE QUE L'INFRA SERT</a:t>
            </a:r>
          </a:p>
        </p:txBody>
      </p:sp>
      <p:sp>
        <p:nvSpPr>
          <p:cNvPr id="4" name="Rounded Rectangle 3"/>
          <p:cNvSpPr/>
          <p:nvPr/>
        </p:nvSpPr>
        <p:spPr>
          <a:xfrm>
            <a:off x="562356" y="1271016"/>
            <a:ext cx="1841373" cy="124764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72084" y="1380743"/>
            <a:ext cx="1621917" cy="310896"/>
          </a:xfrm>
          <a:prstGeom prst="rect">
            <a:avLst/>
          </a:prstGeom>
          <a:noFill/>
        </p:spPr>
        <p:txBody>
          <a:bodyPr wrap="square" anchor="t" lIns="0" rIns="0" tIns="0" bIns="0">
            <a:noAutofit/>
          </a:bodyPr>
          <a:lstStyle/>
          <a:p>
            <a:pPr algn="l">
              <a:lnSpc>
                <a:spcPct val="115000"/>
              </a:lnSpc>
            </a:pPr>
            <a:r>
              <a:rPr sz="900" b="1" i="0">
                <a:solidFill>
                  <a:srgbClr val="0E2356"/>
                </a:solidFill>
                <a:latin typeface="Outfit"/>
              </a:rPr>
              <a:t>Équipes produit</a:t>
            </a:r>
          </a:p>
        </p:txBody>
      </p:sp>
      <p:sp>
        <p:nvSpPr>
          <p:cNvPr id="6" name="TextBox 5"/>
          <p:cNvSpPr txBox="1"/>
          <p:nvPr/>
        </p:nvSpPr>
        <p:spPr>
          <a:xfrm>
            <a:off x="672084" y="1737359"/>
            <a:ext cx="1621917" cy="671576"/>
          </a:xfrm>
          <a:prstGeom prst="rect">
            <a:avLst/>
          </a:prstGeom>
          <a:noFill/>
        </p:spPr>
        <p:txBody>
          <a:bodyPr wrap="square" anchor="t" lIns="0" rIns="0" tIns="0" bIns="0">
            <a:noAutofit/>
          </a:bodyPr>
          <a:lstStyle/>
          <a:p>
            <a:pPr algn="l">
              <a:lnSpc>
                <a:spcPct val="125000"/>
              </a:lnSpc>
            </a:pPr>
            <a:r>
              <a:rPr sz="800" b="0" i="0">
                <a:solidFill>
                  <a:srgbClr val="586586"/>
                </a:solidFill>
                <a:latin typeface="Outfit"/>
              </a:rPr>
              <a:t>Livrent de la valeur métier — l'infra est un moyen, jamais leur sujet.</a:t>
            </a:r>
          </a:p>
        </p:txBody>
      </p:sp>
      <p:sp>
        <p:nvSpPr>
          <p:cNvPr id="7" name="Rounded Rectangle 6"/>
          <p:cNvSpPr/>
          <p:nvPr/>
        </p:nvSpPr>
        <p:spPr>
          <a:xfrm>
            <a:off x="2550033" y="1271016"/>
            <a:ext cx="1841373" cy="124764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659761" y="1380743"/>
            <a:ext cx="1621917" cy="310896"/>
          </a:xfrm>
          <a:prstGeom prst="rect">
            <a:avLst/>
          </a:prstGeom>
          <a:noFill/>
        </p:spPr>
        <p:txBody>
          <a:bodyPr wrap="square" anchor="t" lIns="0" rIns="0" tIns="0" bIns="0">
            <a:noAutofit/>
          </a:bodyPr>
          <a:lstStyle/>
          <a:p>
            <a:pPr algn="l">
              <a:lnSpc>
                <a:spcPct val="115000"/>
              </a:lnSpc>
            </a:pPr>
            <a:r>
              <a:rPr sz="900" b="1" i="0">
                <a:solidFill>
                  <a:srgbClr val="0E2356"/>
                </a:solidFill>
                <a:latin typeface="Outfit"/>
              </a:rPr>
              <a:t>Équipes applicatives</a:t>
            </a:r>
          </a:p>
        </p:txBody>
      </p:sp>
      <p:sp>
        <p:nvSpPr>
          <p:cNvPr id="9" name="TextBox 8"/>
          <p:cNvSpPr txBox="1"/>
          <p:nvPr/>
        </p:nvSpPr>
        <p:spPr>
          <a:xfrm>
            <a:off x="2659761" y="1737359"/>
            <a:ext cx="1621917" cy="671576"/>
          </a:xfrm>
          <a:prstGeom prst="rect">
            <a:avLst/>
          </a:prstGeom>
          <a:noFill/>
        </p:spPr>
        <p:txBody>
          <a:bodyPr wrap="square" anchor="t" lIns="0" rIns="0" tIns="0" bIns="0">
            <a:noAutofit/>
          </a:bodyPr>
          <a:lstStyle/>
          <a:p>
            <a:pPr algn="l">
              <a:lnSpc>
                <a:spcPct val="125000"/>
              </a:lnSpc>
            </a:pPr>
            <a:r>
              <a:rPr sz="800" b="0" i="0">
                <a:solidFill>
                  <a:srgbClr val="586586"/>
                </a:solidFill>
                <a:latin typeface="Outfit"/>
              </a:rPr>
              <a:t>Consomment la plateforme, ou la contournent si elle freine.</a:t>
            </a:r>
          </a:p>
        </p:txBody>
      </p:sp>
      <p:sp>
        <p:nvSpPr>
          <p:cNvPr id="10" name="Rounded Rectangle 9"/>
          <p:cNvSpPr/>
          <p:nvPr/>
        </p:nvSpPr>
        <p:spPr>
          <a:xfrm>
            <a:off x="4537710" y="1271016"/>
            <a:ext cx="1841373" cy="124764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7438" y="1380743"/>
            <a:ext cx="1621917" cy="310896"/>
          </a:xfrm>
          <a:prstGeom prst="rect">
            <a:avLst/>
          </a:prstGeom>
          <a:noFill/>
        </p:spPr>
        <p:txBody>
          <a:bodyPr wrap="square" anchor="t" lIns="0" rIns="0" tIns="0" bIns="0">
            <a:noAutofit/>
          </a:bodyPr>
          <a:lstStyle/>
          <a:p>
            <a:pPr algn="l">
              <a:lnSpc>
                <a:spcPct val="115000"/>
              </a:lnSpc>
            </a:pPr>
            <a:r>
              <a:rPr sz="900" b="1" i="0">
                <a:solidFill>
                  <a:srgbClr val="0E2356"/>
                </a:solidFill>
                <a:latin typeface="Outfit"/>
              </a:rPr>
              <a:t>Sécurité, conformité &amp; résilience</a:t>
            </a:r>
          </a:p>
        </p:txBody>
      </p:sp>
      <p:sp>
        <p:nvSpPr>
          <p:cNvPr id="12" name="TextBox 11"/>
          <p:cNvSpPr txBox="1"/>
          <p:nvPr/>
        </p:nvSpPr>
        <p:spPr>
          <a:xfrm>
            <a:off x="4647438" y="1737359"/>
            <a:ext cx="1621917" cy="671576"/>
          </a:xfrm>
          <a:prstGeom prst="rect">
            <a:avLst/>
          </a:prstGeom>
          <a:noFill/>
        </p:spPr>
        <p:txBody>
          <a:bodyPr wrap="square" anchor="t" lIns="0" rIns="0" tIns="0" bIns="0">
            <a:noAutofit/>
          </a:bodyPr>
          <a:lstStyle/>
          <a:p>
            <a:pPr algn="l">
              <a:lnSpc>
                <a:spcPct val="125000"/>
              </a:lnSpc>
            </a:pPr>
            <a:r>
              <a:rPr sz="800" b="0" i="0">
                <a:solidFill>
                  <a:srgbClr val="586586"/>
                </a:solidFill>
                <a:latin typeface="Outfit"/>
              </a:rPr>
              <a:t>Exigences transverses que personne ne budgète — l'offre s'y arrime, ne les remplace pas (cf. chapitre Démarche).</a:t>
            </a:r>
          </a:p>
        </p:txBody>
      </p:sp>
      <p:sp>
        <p:nvSpPr>
          <p:cNvPr id="13" name="Rounded Rectangle 12"/>
          <p:cNvSpPr/>
          <p:nvPr/>
        </p:nvSpPr>
        <p:spPr>
          <a:xfrm>
            <a:off x="6525387" y="1271016"/>
            <a:ext cx="1841373" cy="124764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35115" y="1380743"/>
            <a:ext cx="1621917" cy="310896"/>
          </a:xfrm>
          <a:prstGeom prst="rect">
            <a:avLst/>
          </a:prstGeom>
          <a:noFill/>
        </p:spPr>
        <p:txBody>
          <a:bodyPr wrap="square" anchor="t" lIns="0" rIns="0" tIns="0" bIns="0">
            <a:noAutofit/>
          </a:bodyPr>
          <a:lstStyle/>
          <a:p>
            <a:pPr algn="l">
              <a:lnSpc>
                <a:spcPct val="115000"/>
              </a:lnSpc>
            </a:pPr>
            <a:r>
              <a:rPr sz="900" b="1" i="0">
                <a:solidFill>
                  <a:srgbClr val="0E2356"/>
                </a:solidFill>
                <a:latin typeface="Outfit"/>
              </a:rPr>
              <a:t>Direction</a:t>
            </a:r>
          </a:p>
        </p:txBody>
      </p:sp>
      <p:sp>
        <p:nvSpPr>
          <p:cNvPr id="15" name="TextBox 14"/>
          <p:cNvSpPr txBox="1"/>
          <p:nvPr/>
        </p:nvSpPr>
        <p:spPr>
          <a:xfrm>
            <a:off x="6635115" y="1737359"/>
            <a:ext cx="1621917" cy="671576"/>
          </a:xfrm>
          <a:prstGeom prst="rect">
            <a:avLst/>
          </a:prstGeom>
          <a:noFill/>
        </p:spPr>
        <p:txBody>
          <a:bodyPr wrap="square" anchor="t" lIns="0" rIns="0" tIns="0" bIns="0">
            <a:noAutofit/>
          </a:bodyPr>
          <a:lstStyle/>
          <a:p>
            <a:pPr algn="l">
              <a:lnSpc>
                <a:spcPct val="125000"/>
              </a:lnSpc>
            </a:pPr>
            <a:r>
              <a:rPr sz="800" b="0" i="0">
                <a:solidFill>
                  <a:srgbClr val="586586"/>
                </a:solidFill>
                <a:latin typeface="Outfit"/>
              </a:rPr>
              <a:t>Voit une ligne de coût, pas les arbitrages qui la produisent.</a:t>
            </a:r>
          </a:p>
        </p:txBody>
      </p:sp>
      <p:sp>
        <p:nvSpPr>
          <p:cNvPr id="16" name="Rounded Rectangle 15"/>
          <p:cNvSpPr/>
          <p:nvPr/>
        </p:nvSpPr>
        <p:spPr>
          <a:xfrm>
            <a:off x="562356" y="2664968"/>
            <a:ext cx="7804404" cy="384048"/>
          </a:xfrm>
          <a:prstGeom prst="roundRect">
            <a:avLst>
              <a:gd name="adj" fmla="val 9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2356" y="2664968"/>
            <a:ext cx="7804404" cy="384048"/>
          </a:xfrm>
          <a:prstGeom prst="rect">
            <a:avLst/>
          </a:prstGeom>
          <a:noFill/>
        </p:spPr>
        <p:txBody>
          <a:bodyPr wrap="square" anchor="ctr" lIns="0" rIns="0" tIns="0" bIns="0">
            <a:noAutofit/>
          </a:bodyPr>
          <a:lstStyle/>
          <a:p>
            <a:pPr algn="ctr"/>
            <a:r>
              <a:rPr sz="1000" b="1" i="0">
                <a:solidFill>
                  <a:srgbClr val="FFFFFF"/>
                </a:solidFill>
                <a:latin typeface="Outfit"/>
              </a:rPr>
              <a:t>UNE SEULE INFRA, SOUS TOUTES CES ÉQUIPES</a:t>
            </a:r>
          </a:p>
        </p:txBody>
      </p:sp>
      <p:sp>
        <p:nvSpPr>
          <p:cNvPr id="18" name="Rounded Rectangle 17"/>
          <p:cNvSpPr/>
          <p:nvPr/>
        </p:nvSpPr>
        <p:spPr>
          <a:xfrm>
            <a:off x="562356" y="3195320"/>
            <a:ext cx="3819906" cy="776020"/>
          </a:xfrm>
          <a:prstGeom prst="roundRect">
            <a:avLst>
              <a:gd name="adj" fmla="val 9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53796" y="3250184"/>
            <a:ext cx="41148" cy="666292"/>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0100" y="3283102"/>
            <a:ext cx="3472434" cy="146304"/>
          </a:xfrm>
          <a:prstGeom prst="rect">
            <a:avLst/>
          </a:prstGeom>
          <a:noFill/>
        </p:spPr>
        <p:txBody>
          <a:bodyPr wrap="square" anchor="t" lIns="0" rIns="0" tIns="0" bIns="0">
            <a:noAutofit/>
          </a:bodyPr>
          <a:lstStyle/>
          <a:p>
            <a:pPr algn="l"/>
            <a:r>
              <a:rPr sz="800" b="1" i="0">
                <a:solidFill>
                  <a:srgbClr val="0E2356"/>
                </a:solidFill>
                <a:latin typeface="Outfit"/>
              </a:rPr>
              <a:t>PERSONNE NE PORTE LE COÛT</a:t>
            </a:r>
          </a:p>
        </p:txBody>
      </p:sp>
      <p:sp>
        <p:nvSpPr>
          <p:cNvPr id="21" name="TextBox 20"/>
          <p:cNvSpPr txBox="1"/>
          <p:nvPr/>
        </p:nvSpPr>
        <p:spPr>
          <a:xfrm>
            <a:off x="800100" y="3465982"/>
            <a:ext cx="3472434"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Le gaspillage d'infra est mutualisé : il ne pèse sur le budget d'aucune équipe en particulier, donc aucune n'a de raison propre de le réduire.</a:t>
            </a:r>
          </a:p>
        </p:txBody>
      </p:sp>
      <p:sp>
        <p:nvSpPr>
          <p:cNvPr id="22" name="Rounded Rectangle 21"/>
          <p:cNvSpPr/>
          <p:nvPr/>
        </p:nvSpPr>
        <p:spPr>
          <a:xfrm>
            <a:off x="4546854" y="3195320"/>
            <a:ext cx="3819906" cy="776020"/>
          </a:xfrm>
          <a:prstGeom prst="roundRect">
            <a:avLst>
              <a:gd name="adj" fmla="val 9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638294" y="3250184"/>
            <a:ext cx="41148" cy="666292"/>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84598" y="3283102"/>
            <a:ext cx="3472434" cy="146304"/>
          </a:xfrm>
          <a:prstGeom prst="rect">
            <a:avLst/>
          </a:prstGeom>
          <a:noFill/>
        </p:spPr>
        <p:txBody>
          <a:bodyPr wrap="square" anchor="t" lIns="0" rIns="0" tIns="0" bIns="0">
            <a:noAutofit/>
          </a:bodyPr>
          <a:lstStyle/>
          <a:p>
            <a:pPr algn="l"/>
            <a:r>
              <a:rPr sz="800" b="1" i="0">
                <a:solidFill>
                  <a:srgbClr val="0E2356"/>
                </a:solidFill>
                <a:latin typeface="Outfit"/>
              </a:rPr>
              <a:t>PERSONNE N'ARBITRE SEUL</a:t>
            </a:r>
          </a:p>
        </p:txBody>
      </p:sp>
      <p:sp>
        <p:nvSpPr>
          <p:cNvPr id="25" name="TextBox 24"/>
          <p:cNvSpPr txBox="1"/>
          <p:nvPr/>
        </p:nvSpPr>
        <p:spPr>
          <a:xfrm>
            <a:off x="4784598" y="3465982"/>
            <a:ext cx="3472434"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Décommissionner, standardiser ou fermer un service touche tous les consommateurs à la fois — la décision ne peut pas être prise dans un seul couloir.</a:t>
            </a:r>
          </a:p>
        </p:txBody>
      </p:sp>
      <p:sp>
        <p:nvSpPr>
          <p:cNvPr id="26" name="Rounded Rectangle 25"/>
          <p:cNvSpPr/>
          <p:nvPr/>
        </p:nvSpPr>
        <p:spPr>
          <a:xfrm>
            <a:off x="562356" y="4489704"/>
            <a:ext cx="7804404" cy="49377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0372" y="4507992"/>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28" name="TextBox 27"/>
          <p:cNvSpPr txBox="1"/>
          <p:nvPr/>
        </p:nvSpPr>
        <p:spPr>
          <a:xfrm>
            <a:off x="745236" y="4489704"/>
            <a:ext cx="7438644" cy="493776"/>
          </a:xfrm>
          <a:prstGeom prst="rect">
            <a:avLst/>
          </a:prstGeom>
          <a:noFill/>
        </p:spPr>
        <p:txBody>
          <a:bodyPr wrap="square" anchor="ctr" lIns="0" rIns="0" tIns="0" bIns="0">
            <a:spAutoFit/>
          </a:bodyPr>
          <a:lstStyle/>
          <a:p>
            <a:pPr algn="ctr"/>
            <a:r>
              <a:rPr sz="1200" b="1" i="0">
                <a:solidFill>
                  <a:srgbClr val="FFFFFF"/>
                </a:solidFill>
                <a:latin typeface="Outfit"/>
              </a:rPr>
              <a:t>Un gaspillage que personne ne porte, personne ne le réduit.</a:t>
            </a:r>
            <a:r>
              <a:rPr sz="1200" b="1" i="0">
                <a:solidFill>
                  <a:srgbClr val="00D2DD"/>
                </a:solidFill>
                <a:latin typeface="Outfit"/>
              </a:rPr>
              <a:t>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SPÉCIFICITÉS DE L'INFRA   ·   </a:t>
            </a:r>
            <a:r>
              <a:rPr b="1" sz="1200">
                <a:solidFill>
                  <a:srgbClr val="0E2356"/>
                </a:solidFill>
                <a:latin typeface="Outfit"/>
              </a:rPr>
              <a:t>Ce que change l'infra as a product, concrètement — un exemple avant/après.</a:t>
            </a:r>
          </a:p>
        </p:txBody>
      </p:sp>
      <p:sp>
        <p:nvSpPr>
          <p:cNvPr id="3" name="Rounded Rectangle 2"/>
          <p:cNvSpPr/>
          <p:nvPr/>
        </p:nvSpPr>
        <p:spPr>
          <a:xfrm>
            <a:off x="562356" y="822045"/>
            <a:ext cx="3490722" cy="3017520"/>
          </a:xfrm>
          <a:prstGeom prst="roundRect">
            <a:avLst>
              <a:gd name="adj" fmla="val 9000"/>
            </a:avLst>
          </a:prstGeom>
          <a:solidFill>
            <a:srgbClr val="FFFFFF"/>
          </a:solidFill>
          <a:ln w="1651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26947" y="968349"/>
            <a:ext cx="960120" cy="274320"/>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7" y="968349"/>
            <a:ext cx="960120" cy="274320"/>
          </a:xfrm>
          <a:prstGeom prst="rect">
            <a:avLst/>
          </a:prstGeom>
          <a:noFill/>
        </p:spPr>
        <p:txBody>
          <a:bodyPr wrap="square" anchor="ctr" lIns="0" rIns="0" tIns="0" bIns="0">
            <a:noAutofit/>
          </a:bodyPr>
          <a:lstStyle/>
          <a:p>
            <a:pPr algn="ctr"/>
            <a:r>
              <a:rPr sz="1100" b="1" i="0">
                <a:solidFill>
                  <a:srgbClr val="FFFFFF"/>
                </a:solidFill>
                <a:latin typeface="Outfit"/>
              </a:rPr>
              <a:t>AVANT</a:t>
            </a:r>
          </a:p>
        </p:txBody>
      </p:sp>
      <p:sp>
        <p:nvSpPr>
          <p:cNvPr id="6" name="TextBox 5"/>
          <p:cNvSpPr txBox="1"/>
          <p:nvPr/>
        </p:nvSpPr>
        <p:spPr>
          <a:xfrm>
            <a:off x="781812" y="1425549"/>
            <a:ext cx="3051810" cy="2194560"/>
          </a:xfrm>
          <a:prstGeom prst="rect">
            <a:avLst/>
          </a:prstGeom>
          <a:noFill/>
        </p:spPr>
        <p:txBody>
          <a:bodyPr wrap="square" anchor="ctr" lIns="0" rIns="0" tIns="0" bIns="0">
            <a:spAutoFit/>
          </a:bodyPr>
          <a:lstStyle/>
          <a:p>
            <a:pPr algn="l">
              <a:lnSpc>
                <a:spcPct val="120000"/>
              </a:lnSpc>
              <a:spcBef>
                <a:spcPts val="0"/>
              </a:spcBef>
            </a:pPr>
            <a:r>
              <a:rPr sz="900" b="0" i="0">
                <a:solidFill>
                  <a:srgbClr val="586586"/>
                </a:solidFill>
                <a:latin typeface="Outfit"/>
              </a:rPr>
              <a:t>—  </a:t>
            </a:r>
            <a:r>
              <a:rPr sz="900" b="1" i="0">
                <a:solidFill>
                  <a:srgbClr val="0E2356"/>
                </a:solidFill>
                <a:latin typeface="Outfit"/>
              </a:rPr>
              <a:t>Guichet de tickets</a:t>
            </a:r>
            <a:r>
              <a:rPr sz="900" b="0" i="0">
                <a:solidFill>
                  <a:srgbClr val="586586"/>
                </a:solidFill>
                <a:latin typeface="Outfit"/>
              </a:rPr>
              <a:t> — personne n'est propriétaire du service.</a:t>
            </a:r>
          </a:p>
          <a:p>
            <a:pPr algn="l">
              <a:lnSpc>
                <a:spcPct val="120000"/>
              </a:lnSpc>
              <a:spcBef>
                <a:spcPts val="700"/>
              </a:spcBef>
            </a:pPr>
            <a:r>
              <a:rPr sz="900" b="0" i="0">
                <a:solidFill>
                  <a:srgbClr val="586586"/>
                </a:solidFill>
                <a:latin typeface="Outfit"/>
              </a:rPr>
              <a:t>—  </a:t>
            </a:r>
            <a:r>
              <a:rPr sz="900" b="1" i="0">
                <a:solidFill>
                  <a:srgbClr val="0E2356"/>
                </a:solidFill>
                <a:latin typeface="Outfit"/>
              </a:rPr>
              <a:t>Le triage du RUN trop long</a:t>
            </a:r>
            <a:r>
              <a:rPr sz="900" b="0" i="0">
                <a:solidFill>
                  <a:srgbClr val="586586"/>
                </a:solidFill>
                <a:latin typeface="Outfit"/>
              </a:rPr>
              <a:t>, traité au fil de l'eau.</a:t>
            </a:r>
          </a:p>
          <a:p>
            <a:pPr algn="l">
              <a:lnSpc>
                <a:spcPct val="120000"/>
              </a:lnSpc>
              <a:spcBef>
                <a:spcPts val="700"/>
              </a:spcBef>
            </a:pPr>
            <a:r>
              <a:rPr sz="900" b="0" i="0">
                <a:solidFill>
                  <a:srgbClr val="586586"/>
                </a:solidFill>
                <a:latin typeface="Outfit"/>
              </a:rPr>
              <a:t>—  </a:t>
            </a:r>
            <a:r>
              <a:rPr sz="900" b="1" i="0">
                <a:solidFill>
                  <a:srgbClr val="0E2356"/>
                </a:solidFill>
                <a:latin typeface="Outfit"/>
              </a:rPr>
              <a:t>Backlog invisible</a:t>
            </a:r>
            <a:r>
              <a:rPr sz="900" b="0" i="0">
                <a:solidFill>
                  <a:srgbClr val="586586"/>
                </a:solidFill>
                <a:latin typeface="Outfit"/>
              </a:rPr>
              <a:t>, aucun indicateur de pilotage.</a:t>
            </a:r>
          </a:p>
          <a:p>
            <a:pPr algn="l">
              <a:lnSpc>
                <a:spcPct val="120000"/>
              </a:lnSpc>
              <a:spcBef>
                <a:spcPts val="700"/>
              </a:spcBef>
            </a:pPr>
            <a:r>
              <a:rPr sz="900" b="0" i="0">
                <a:solidFill>
                  <a:srgbClr val="586586"/>
                </a:solidFill>
                <a:latin typeface="Outfit"/>
              </a:rPr>
              <a:t>—  </a:t>
            </a:r>
            <a:r>
              <a:rPr sz="900" b="1" i="0">
                <a:solidFill>
                  <a:srgbClr val="0E2356"/>
                </a:solidFill>
                <a:latin typeface="Outfit"/>
              </a:rPr>
              <a:t>Plein de projets lancés, peu d'indicateurs</a:t>
            </a:r>
            <a:r>
              <a:rPr sz="900" b="0" i="0">
                <a:solidFill>
                  <a:srgbClr val="586586"/>
                </a:solidFill>
                <a:latin typeface="Outfit"/>
              </a:rPr>
              <a:t>, du contrôle et du reporting à tous les niveaux.</a:t>
            </a:r>
          </a:p>
          <a:p>
            <a:pPr algn="l">
              <a:lnSpc>
                <a:spcPct val="120000"/>
              </a:lnSpc>
              <a:spcBef>
                <a:spcPts val="700"/>
              </a:spcBef>
            </a:pPr>
            <a:r>
              <a:rPr sz="900" b="0" i="0">
                <a:solidFill>
                  <a:srgbClr val="586586"/>
                </a:solidFill>
                <a:latin typeface="Outfit"/>
              </a:rPr>
              <a:t>—  </a:t>
            </a:r>
            <a:r>
              <a:rPr sz="900" b="1" i="0">
                <a:solidFill>
                  <a:srgbClr val="0E2356"/>
                </a:solidFill>
                <a:latin typeface="Outfit"/>
              </a:rPr>
              <a:t>Un pilotage dans la douleur</a:t>
            </a:r>
            <a:r>
              <a:rPr sz="900" b="0" i="0">
                <a:solidFill>
                  <a:srgbClr val="586586"/>
                </a:solidFill>
                <a:latin typeface="Outfit"/>
              </a:rPr>
              <a:t>, on prend tout et l'on ne sait plus comment bien prioriser les bons sujets à réaliser avec trop peu de capacité à faire.</a:t>
            </a:r>
          </a:p>
        </p:txBody>
      </p:sp>
      <p:sp>
        <p:nvSpPr>
          <p:cNvPr id="7" name="Right Arrow 6"/>
          <p:cNvSpPr/>
          <p:nvPr/>
        </p:nvSpPr>
        <p:spPr>
          <a:xfrm>
            <a:off x="4181094" y="1727301"/>
            <a:ext cx="566928" cy="1207008"/>
          </a:xfrm>
          <a:prstGeom prst="rightArrow">
            <a:avLst/>
          </a:prstGeom>
          <a:solidFill>
            <a:srgbClr val="FFFFFF"/>
          </a:solidFill>
          <a:ln w="28575">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876038" y="822045"/>
            <a:ext cx="3490722" cy="3017520"/>
          </a:xfrm>
          <a:prstGeom prst="roundRect">
            <a:avLst>
              <a:gd name="adj" fmla="val 9000"/>
            </a:avLst>
          </a:prstGeom>
          <a:solidFill>
            <a:srgbClr val="FFFFFF"/>
          </a:solidFill>
          <a:ln w="2032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040630" y="968349"/>
            <a:ext cx="2331720" cy="2743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40630" y="968349"/>
            <a:ext cx="2331720" cy="274320"/>
          </a:xfrm>
          <a:prstGeom prst="rect">
            <a:avLst/>
          </a:prstGeom>
          <a:noFill/>
        </p:spPr>
        <p:txBody>
          <a:bodyPr wrap="square" anchor="ctr" lIns="0" rIns="0" tIns="0" bIns="0">
            <a:noAutofit/>
          </a:bodyPr>
          <a:lstStyle/>
          <a:p>
            <a:pPr algn="ctr"/>
            <a:r>
              <a:rPr sz="1000" b="1" i="0">
                <a:solidFill>
                  <a:srgbClr val="0E2356"/>
                </a:solidFill>
                <a:latin typeface="Outfit"/>
              </a:rPr>
              <a:t>APRÈS — démarche + agentique</a:t>
            </a:r>
          </a:p>
        </p:txBody>
      </p:sp>
      <p:sp>
        <p:nvSpPr>
          <p:cNvPr id="11" name="TextBox 10"/>
          <p:cNvSpPr txBox="1"/>
          <p:nvPr/>
        </p:nvSpPr>
        <p:spPr>
          <a:xfrm>
            <a:off x="5095494" y="1425549"/>
            <a:ext cx="3051810" cy="2194560"/>
          </a:xfrm>
          <a:prstGeom prst="rect">
            <a:avLst/>
          </a:prstGeom>
          <a:noFill/>
        </p:spPr>
        <p:txBody>
          <a:bodyPr wrap="square" anchor="ctr" lIns="0" rIns="0" tIns="0" bIns="0">
            <a:spAutoFit/>
          </a:bodyPr>
          <a:lstStyle/>
          <a:p>
            <a:pPr algn="l">
              <a:lnSpc>
                <a:spcPct val="120000"/>
              </a:lnSpc>
              <a:spcBef>
                <a:spcPts val="0"/>
              </a:spcBef>
            </a:pPr>
            <a:r>
              <a:rPr sz="900" b="1" i="0">
                <a:solidFill>
                  <a:srgbClr val="00D2DD"/>
                </a:solidFill>
                <a:latin typeface="Outfit"/>
              </a:rPr>
              <a:t>✓  </a:t>
            </a:r>
            <a:r>
              <a:rPr sz="900" b="1" i="0">
                <a:solidFill>
                  <a:srgbClr val="0E2356"/>
                </a:solidFill>
                <a:latin typeface="Outfit"/>
              </a:rPr>
              <a:t>Un propriétaire produit et un pilotage serein</a:t>
            </a:r>
            <a:r>
              <a:rPr sz="900" b="0" i="0">
                <a:solidFill>
                  <a:srgbClr val="0E2356"/>
                </a:solidFill>
                <a:latin typeface="Outfit"/>
              </a:rPr>
              <a:t>, une roadmap, des indicateurs de pilotage.</a:t>
            </a:r>
          </a:p>
          <a:p>
            <a:pPr algn="l">
              <a:lnSpc>
                <a:spcPct val="120000"/>
              </a:lnSpc>
              <a:spcBef>
                <a:spcPts val="600"/>
              </a:spcBef>
            </a:pPr>
            <a:r>
              <a:rPr sz="900" b="1" i="0">
                <a:solidFill>
                  <a:srgbClr val="00D2DD"/>
                </a:solidFill>
                <a:latin typeface="Outfit"/>
              </a:rPr>
              <a:t>✓  </a:t>
            </a:r>
            <a:r>
              <a:rPr sz="900" b="1" i="0">
                <a:solidFill>
                  <a:srgbClr val="0E2356"/>
                </a:solidFill>
                <a:latin typeface="Outfit"/>
              </a:rPr>
              <a:t>Temps de triage du RUN fortement réduit</a:t>
            </a:r>
            <a:r>
              <a:rPr sz="900" b="0" i="0">
                <a:solidFill>
                  <a:srgbClr val="0E2356"/>
                </a:solidFill>
                <a:latin typeface="Outfit"/>
              </a:rPr>
              <a:t> — capacité RUN récupérée.</a:t>
            </a:r>
          </a:p>
          <a:p>
            <a:pPr algn="l">
              <a:lnSpc>
                <a:spcPct val="120000"/>
              </a:lnSpc>
              <a:spcBef>
                <a:spcPts val="600"/>
              </a:spcBef>
            </a:pPr>
            <a:r>
              <a:rPr sz="900" b="1" i="0">
                <a:solidFill>
                  <a:srgbClr val="00D2DD"/>
                </a:solidFill>
                <a:latin typeface="Outfit"/>
              </a:rPr>
              <a:t>✓  </a:t>
            </a:r>
            <a:r>
              <a:rPr sz="900" b="1" i="0">
                <a:solidFill>
                  <a:srgbClr val="0E2356"/>
                </a:solidFill>
                <a:latin typeface="Outfit"/>
              </a:rPr>
              <a:t>Backlog visible</a:t>
            </a:r>
            <a:r>
              <a:rPr sz="900" b="0" i="0">
                <a:solidFill>
                  <a:srgbClr val="0E2356"/>
                </a:solidFill>
                <a:latin typeface="Outfit"/>
              </a:rPr>
              <a:t>, priorisé, mesuré dans le temps.</a:t>
            </a:r>
          </a:p>
          <a:p>
            <a:pPr algn="l">
              <a:lnSpc>
                <a:spcPct val="120000"/>
              </a:lnSpc>
              <a:spcBef>
                <a:spcPts val="600"/>
              </a:spcBef>
            </a:pPr>
            <a:r>
              <a:rPr sz="900" b="1" i="0">
                <a:solidFill>
                  <a:srgbClr val="00D2DD"/>
                </a:solidFill>
                <a:latin typeface="Outfit"/>
              </a:rPr>
              <a:t>✓  </a:t>
            </a:r>
            <a:r>
              <a:rPr sz="900" b="1" i="0">
                <a:solidFill>
                  <a:srgbClr val="0E2356"/>
                </a:solidFill>
                <a:latin typeface="Outfit"/>
              </a:rPr>
              <a:t>Process explicite, rôles définis</a:t>
            </a:r>
            <a:r>
              <a:rPr sz="900" b="0" i="0">
                <a:solidFill>
                  <a:srgbClr val="0E2356"/>
                </a:solidFill>
                <a:latin typeface="Outfit"/>
              </a:rPr>
              <a:t> — piste retenue : agentique-implementation.</a:t>
            </a:r>
          </a:p>
          <a:p>
            <a:pPr algn="l">
              <a:lnSpc>
                <a:spcPct val="120000"/>
              </a:lnSpc>
              <a:spcBef>
                <a:spcPts val="600"/>
              </a:spcBef>
            </a:pPr>
            <a:r>
              <a:rPr sz="900" b="1" i="0">
                <a:solidFill>
                  <a:srgbClr val="00D2DD"/>
                </a:solidFill>
                <a:latin typeface="Outfit"/>
              </a:rPr>
              <a:t>✓  </a:t>
            </a:r>
            <a:r>
              <a:rPr sz="900" b="1" i="0">
                <a:solidFill>
                  <a:srgbClr val="0E2356"/>
                </a:solidFill>
                <a:latin typeface="Outfit"/>
              </a:rPr>
              <a:t>Des évolutions tech</a:t>
            </a:r>
            <a:r>
              <a:rPr sz="900" b="0" i="0">
                <a:solidFill>
                  <a:srgbClr val="0E2356"/>
                </a:solidFill>
                <a:latin typeface="Outfit"/>
              </a:rPr>
              <a:t> qui sont possibles et atteignables.</a:t>
            </a:r>
          </a:p>
        </p:txBody>
      </p:sp>
      <p:sp>
        <p:nvSpPr>
          <p:cNvPr id="12" name="Rounded Rectangle 11"/>
          <p:cNvSpPr/>
          <p:nvPr/>
        </p:nvSpPr>
        <p:spPr>
          <a:xfrm>
            <a:off x="562356" y="4123944"/>
            <a:ext cx="7804404" cy="85953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0372" y="4142231"/>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14" name="TextBox 13"/>
          <p:cNvSpPr txBox="1"/>
          <p:nvPr/>
        </p:nvSpPr>
        <p:spPr>
          <a:xfrm>
            <a:off x="745236" y="4123944"/>
            <a:ext cx="7438644" cy="859536"/>
          </a:xfrm>
          <a:prstGeom prst="rect">
            <a:avLst/>
          </a:prstGeom>
          <a:noFill/>
        </p:spPr>
        <p:txBody>
          <a:bodyPr wrap="square" anchor="ctr" lIns="0" rIns="0" tIns="0" bIns="0">
            <a:spAutoFit/>
          </a:bodyPr>
          <a:lstStyle/>
          <a:p>
            <a:pPr algn="ctr"/>
            <a:r>
              <a:rPr sz="1200" b="1" i="0">
                <a:solidFill>
                  <a:srgbClr val="FFFFFF"/>
                </a:solidFill>
                <a:latin typeface="Outfit"/>
              </a:rPr>
              <a:t>Infra as a product, concrètement : le retour à une maîtrise de faire les bonnes choses au bon moment, un backlog piloté, des résultats concrets — dans notre approche l'agentique accélère la démarche, il ne la remplace pas.</a:t>
            </a:r>
            <a:r>
              <a:rPr sz="1200" b="1" i="0">
                <a:solidFill>
                  <a:srgbClr val="00D2DD"/>
                </a:solidFill>
                <a:latin typeface="Outfit"/>
              </a:rPr>
              <a:t>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Personas</a:t>
            </a:r>
          </a:p>
          <a:p>
            <a:r>
              <a:rPr sz="1050" i="1">
                <a:solidFill>
                  <a:srgbClr val="586586"/>
                </a:solidFill>
                <a:latin typeface="Outfit"/>
              </a:rPr>
              <a:t>Quatre parties prenantes interrogées séparément — leurs voix, leurs postures, les tensions.</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04</a:t>
            </a:r>
          </a:p>
        </p:txBody>
      </p:sp>
      <p:pic>
        <p:nvPicPr>
          <p:cNvPr id="4" name="Picture 3" descr="forest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PERSONAS   ·   </a:t>
            </a:r>
            <a:r>
              <a:rPr b="1" sz="1200">
                <a:solidFill>
                  <a:srgbClr val="0E2356"/>
                </a:solidFill>
                <a:latin typeface="Outfit"/>
              </a:rPr>
              <a:t>Quatre parties prenantes interrogées séparément — leur voix, leur posture</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Product Discovery fusionnée dans iap-product-definition en MVP1 — mais chaque partie prenante répond à la même trame, pour révéler convergences ET divergences plutôt qu'un diagnostic monolithique.</a:t>
            </a:r>
          </a:p>
        </p:txBody>
      </p:sp>
      <p:sp>
        <p:nvSpPr>
          <p:cNvPr id="4" name="Rounded Rectangle 3"/>
          <p:cNvSpPr/>
          <p:nvPr/>
        </p:nvSpPr>
        <p:spPr>
          <a:xfrm>
            <a:off x="562356" y="1618488"/>
            <a:ext cx="3810762" cy="160020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618488"/>
            <a:ext cx="64008" cy="160020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9244" y="1755648"/>
            <a:ext cx="3380994" cy="1078992"/>
          </a:xfrm>
          <a:prstGeom prst="rect">
            <a:avLst/>
          </a:prstGeom>
          <a:noFill/>
        </p:spPr>
        <p:txBody>
          <a:bodyPr wrap="square" anchor="t" lIns="0" rIns="0" tIns="0" bIns="0">
            <a:noAutofit/>
          </a:bodyPr>
          <a:lstStyle/>
          <a:p>
            <a:pPr algn="l">
              <a:lnSpc>
                <a:spcPct val="100000"/>
              </a:lnSpc>
            </a:pPr>
            <a:r>
              <a:rPr sz="900" b="1" i="0">
                <a:solidFill>
                  <a:srgbClr val="0E2356"/>
                </a:solidFill>
                <a:latin typeface="Outfit"/>
              </a:rPr>
              <a:t>Infra &amp; RUN</a:t>
            </a:r>
          </a:p>
          <a:p>
            <a:pPr algn="l">
              <a:lnSpc>
                <a:spcPct val="110000"/>
              </a:lnSpc>
              <a:spcBef>
                <a:spcPts val="100"/>
              </a:spcBef>
            </a:pPr>
            <a:r>
              <a:rPr sz="800" b="0" i="0">
                <a:solidFill>
                  <a:srgbClr val="586586"/>
                </a:solidFill>
                <a:latin typeface="Outfit"/>
              </a:rPr>
              <a:t>Tient l'exploitation, subit les astreintes.</a:t>
            </a:r>
          </a:p>
          <a:p>
            <a:pPr algn="l">
              <a:lnSpc>
                <a:spcPct val="110000"/>
              </a:lnSpc>
              <a:spcBef>
                <a:spcPts val="500"/>
              </a:spcBef>
            </a:pPr>
            <a:r>
              <a:rPr sz="800" b="0" i="1">
                <a:solidFill>
                  <a:srgbClr val="0E2356"/>
                </a:solidFill>
                <a:latin typeface="Outfit"/>
              </a:rPr>
              <a:t>« Opérable sans sacrifier le delivery ? »</a:t>
            </a:r>
          </a:p>
          <a:p>
            <a:pPr algn="l">
              <a:lnSpc>
                <a:spcPct val="110000"/>
              </a:lnSpc>
              <a:spcBef>
                <a:spcPts val="600"/>
              </a:spcBef>
            </a:pPr>
            <a:r>
              <a:rPr sz="800" b="0" i="0">
                <a:solidFill>
                  <a:srgbClr val="586586"/>
                </a:solidFill>
                <a:latin typeface="Outfit"/>
              </a:rPr>
              <a:t>Subit — Experts seniors mobilisés sur du répétitif.</a:t>
            </a:r>
          </a:p>
          <a:p>
            <a:pPr algn="l">
              <a:lnSpc>
                <a:spcPct val="110000"/>
              </a:lnSpc>
              <a:spcBef>
                <a:spcPts val="300"/>
              </a:spcBef>
            </a:pPr>
            <a:r>
              <a:rPr sz="800" b="0" i="0">
                <a:solidFill>
                  <a:srgbClr val="0E2356"/>
                </a:solidFill>
                <a:latin typeface="Outfit"/>
              </a:rPr>
              <a:t>Vise — Capacité récupérée, RUN maîtrisé.</a:t>
            </a:r>
          </a:p>
        </p:txBody>
      </p:sp>
      <p:sp>
        <p:nvSpPr>
          <p:cNvPr id="7" name="Rounded Rectangle 6"/>
          <p:cNvSpPr/>
          <p:nvPr/>
        </p:nvSpPr>
        <p:spPr>
          <a:xfrm>
            <a:off x="3092958" y="2871215"/>
            <a:ext cx="109728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92958" y="2871215"/>
            <a:ext cx="1097280" cy="219456"/>
          </a:xfrm>
          <a:prstGeom prst="rect">
            <a:avLst/>
          </a:prstGeom>
          <a:noFill/>
        </p:spPr>
        <p:txBody>
          <a:bodyPr wrap="square" anchor="ctr" lIns="0" rIns="0" tIns="0" bIns="0">
            <a:noAutofit/>
          </a:bodyPr>
          <a:lstStyle/>
          <a:p>
            <a:pPr algn="ctr"/>
            <a:r>
              <a:rPr sz="650" b="1" i="0">
                <a:solidFill>
                  <a:srgbClr val="FFFFFF"/>
                </a:solidFill>
                <a:latin typeface="Outfit"/>
              </a:rPr>
              <a:t>VIGILANT</a:t>
            </a:r>
          </a:p>
        </p:txBody>
      </p:sp>
      <p:sp>
        <p:nvSpPr>
          <p:cNvPr id="9" name="Rounded Rectangle 8"/>
          <p:cNvSpPr/>
          <p:nvPr/>
        </p:nvSpPr>
        <p:spPr>
          <a:xfrm>
            <a:off x="4555998" y="1618488"/>
            <a:ext cx="3810762" cy="160020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555998" y="1618488"/>
            <a:ext cx="64008" cy="1600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02886" y="1755648"/>
            <a:ext cx="3380994" cy="1078992"/>
          </a:xfrm>
          <a:prstGeom prst="rect">
            <a:avLst/>
          </a:prstGeom>
          <a:noFill/>
        </p:spPr>
        <p:txBody>
          <a:bodyPr wrap="square" anchor="t" lIns="0" rIns="0" tIns="0" bIns="0">
            <a:noAutofit/>
          </a:bodyPr>
          <a:lstStyle/>
          <a:p>
            <a:pPr algn="l">
              <a:lnSpc>
                <a:spcPct val="100000"/>
              </a:lnSpc>
            </a:pPr>
            <a:r>
              <a:rPr sz="900" b="1" i="0">
                <a:solidFill>
                  <a:srgbClr val="0E2356"/>
                </a:solidFill>
                <a:latin typeface="Outfit"/>
              </a:rPr>
              <a:t>Utilisateur applicatif</a:t>
            </a:r>
          </a:p>
          <a:p>
            <a:pPr algn="l">
              <a:lnSpc>
                <a:spcPct val="110000"/>
              </a:lnSpc>
              <a:spcBef>
                <a:spcPts val="100"/>
              </a:spcBef>
            </a:pPr>
            <a:r>
              <a:rPr sz="800" b="0" i="0">
                <a:solidFill>
                  <a:srgbClr val="586586"/>
                </a:solidFill>
                <a:latin typeface="Outfit"/>
              </a:rPr>
              <a:t>Consomme la plateforme — ou la contourne.</a:t>
            </a:r>
          </a:p>
          <a:p>
            <a:pPr algn="l">
              <a:lnSpc>
                <a:spcPct val="110000"/>
              </a:lnSpc>
              <a:spcBef>
                <a:spcPts val="500"/>
              </a:spcBef>
            </a:pPr>
            <a:r>
              <a:rPr sz="800" b="0" i="1">
                <a:solidFill>
                  <a:srgbClr val="0E2356"/>
                </a:solidFill>
                <a:latin typeface="Outfit"/>
              </a:rPr>
              <a:t>« Pourquoi adopterais-je la plateforme ? »</a:t>
            </a:r>
          </a:p>
          <a:p>
            <a:pPr algn="l">
              <a:lnSpc>
                <a:spcPct val="110000"/>
              </a:lnSpc>
              <a:spcBef>
                <a:spcPts val="600"/>
              </a:spcBef>
            </a:pPr>
            <a:r>
              <a:rPr sz="800" b="0" i="0">
                <a:solidFill>
                  <a:srgbClr val="586586"/>
                </a:solidFill>
                <a:latin typeface="Outfit"/>
              </a:rPr>
              <a:t>Subit — Guichet unique, contournement plus rapide.</a:t>
            </a:r>
          </a:p>
          <a:p>
            <a:pPr algn="l">
              <a:lnSpc>
                <a:spcPct val="110000"/>
              </a:lnSpc>
              <a:spcBef>
                <a:spcPts val="300"/>
              </a:spcBef>
            </a:pPr>
            <a:r>
              <a:rPr sz="800" b="0" i="0">
                <a:solidFill>
                  <a:srgbClr val="0E2356"/>
                </a:solidFill>
                <a:latin typeface="Outfit"/>
              </a:rPr>
              <a:t>Vise — Un self-service adopté par choix.</a:t>
            </a:r>
          </a:p>
        </p:txBody>
      </p:sp>
      <p:sp>
        <p:nvSpPr>
          <p:cNvPr id="12" name="Rounded Rectangle 11"/>
          <p:cNvSpPr/>
          <p:nvPr/>
        </p:nvSpPr>
        <p:spPr>
          <a:xfrm>
            <a:off x="7086600" y="2871215"/>
            <a:ext cx="109728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86600" y="2871215"/>
            <a:ext cx="1097280" cy="219456"/>
          </a:xfrm>
          <a:prstGeom prst="rect">
            <a:avLst/>
          </a:prstGeom>
          <a:noFill/>
        </p:spPr>
        <p:txBody>
          <a:bodyPr wrap="square" anchor="ctr" lIns="0" rIns="0" tIns="0" bIns="0">
            <a:noAutofit/>
          </a:bodyPr>
          <a:lstStyle/>
          <a:p>
            <a:pPr algn="ctr"/>
            <a:r>
              <a:rPr sz="650" b="1" i="0">
                <a:solidFill>
                  <a:srgbClr val="FFFFFF"/>
                </a:solidFill>
                <a:latin typeface="Outfit"/>
              </a:rPr>
              <a:t>SCEPTIQUE</a:t>
            </a:r>
          </a:p>
        </p:txBody>
      </p:sp>
      <p:sp>
        <p:nvSpPr>
          <p:cNvPr id="14" name="Rounded Rectangle 13"/>
          <p:cNvSpPr/>
          <p:nvPr/>
        </p:nvSpPr>
        <p:spPr>
          <a:xfrm>
            <a:off x="562356" y="3383280"/>
            <a:ext cx="3810762" cy="160020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62356" y="3383280"/>
            <a:ext cx="64008" cy="1600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9244" y="3520440"/>
            <a:ext cx="3380994" cy="1078992"/>
          </a:xfrm>
          <a:prstGeom prst="rect">
            <a:avLst/>
          </a:prstGeom>
          <a:noFill/>
        </p:spPr>
        <p:txBody>
          <a:bodyPr wrap="square" anchor="t" lIns="0" rIns="0" tIns="0" bIns="0">
            <a:noAutofit/>
          </a:bodyPr>
          <a:lstStyle/>
          <a:p>
            <a:pPr algn="l">
              <a:lnSpc>
                <a:spcPct val="100000"/>
              </a:lnSpc>
            </a:pPr>
            <a:r>
              <a:rPr sz="900" b="1" i="0">
                <a:solidFill>
                  <a:srgbClr val="0E2356"/>
                </a:solidFill>
                <a:latin typeface="Outfit"/>
              </a:rPr>
              <a:t>Management</a:t>
            </a:r>
          </a:p>
          <a:p>
            <a:pPr algn="l">
              <a:lnSpc>
                <a:spcPct val="110000"/>
              </a:lnSpc>
              <a:spcBef>
                <a:spcPts val="100"/>
              </a:spcBef>
            </a:pPr>
            <a:r>
              <a:rPr sz="800" b="0" i="0">
                <a:solidFill>
                  <a:srgbClr val="586586"/>
                </a:solidFill>
                <a:latin typeface="Outfit"/>
              </a:rPr>
              <a:t>Expert devenu manager, pilote à vue.</a:t>
            </a:r>
          </a:p>
          <a:p>
            <a:pPr algn="l">
              <a:lnSpc>
                <a:spcPct val="110000"/>
              </a:lnSpc>
              <a:spcBef>
                <a:spcPts val="500"/>
              </a:spcBef>
            </a:pPr>
            <a:r>
              <a:rPr sz="800" b="0" i="1">
                <a:solidFill>
                  <a:srgbClr val="0E2356"/>
                </a:solidFill>
                <a:latin typeface="Outfit"/>
              </a:rPr>
              <a:t>« Comment piloter avec un signal fiable ? »</a:t>
            </a:r>
          </a:p>
          <a:p>
            <a:pPr algn="l">
              <a:lnSpc>
                <a:spcPct val="110000"/>
              </a:lnSpc>
              <a:spcBef>
                <a:spcPts val="600"/>
              </a:spcBef>
            </a:pPr>
            <a:r>
              <a:rPr sz="800" b="0" i="0">
                <a:solidFill>
                  <a:srgbClr val="586586"/>
                </a:solidFill>
                <a:latin typeface="Outfit"/>
              </a:rPr>
              <a:t>Subit — Reporting-miroir et micromanagement.</a:t>
            </a:r>
          </a:p>
          <a:p>
            <a:pPr algn="l">
              <a:lnSpc>
                <a:spcPct val="110000"/>
              </a:lnSpc>
              <a:spcBef>
                <a:spcPts val="300"/>
              </a:spcBef>
            </a:pPr>
            <a:r>
              <a:rPr sz="800" b="0" i="0">
                <a:solidFill>
                  <a:srgbClr val="0E2356"/>
                </a:solidFill>
                <a:latin typeface="Outfit"/>
              </a:rPr>
              <a:t>Vise — Un signal de flux de confiance.</a:t>
            </a:r>
          </a:p>
        </p:txBody>
      </p:sp>
      <p:sp>
        <p:nvSpPr>
          <p:cNvPr id="17" name="Rounded Rectangle 16"/>
          <p:cNvSpPr/>
          <p:nvPr/>
        </p:nvSpPr>
        <p:spPr>
          <a:xfrm>
            <a:off x="3092958" y="4636008"/>
            <a:ext cx="109728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092958" y="4636008"/>
            <a:ext cx="1097280" cy="219456"/>
          </a:xfrm>
          <a:prstGeom prst="rect">
            <a:avLst/>
          </a:prstGeom>
          <a:noFill/>
        </p:spPr>
        <p:txBody>
          <a:bodyPr wrap="square" anchor="ctr" lIns="0" rIns="0" tIns="0" bIns="0">
            <a:noAutofit/>
          </a:bodyPr>
          <a:lstStyle/>
          <a:p>
            <a:pPr algn="ctr"/>
            <a:r>
              <a:rPr sz="650" b="1" i="0">
                <a:solidFill>
                  <a:srgbClr val="FFFFFF"/>
                </a:solidFill>
                <a:latin typeface="Outfit"/>
              </a:rPr>
              <a:t>ALLIÉ</a:t>
            </a:r>
          </a:p>
        </p:txBody>
      </p:sp>
      <p:sp>
        <p:nvSpPr>
          <p:cNvPr id="19" name="Rounded Rectangle 18"/>
          <p:cNvSpPr/>
          <p:nvPr/>
        </p:nvSpPr>
        <p:spPr>
          <a:xfrm>
            <a:off x="4555998" y="3383280"/>
            <a:ext cx="3810762" cy="160020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555998" y="3383280"/>
            <a:ext cx="64008" cy="1600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02886" y="3520440"/>
            <a:ext cx="3380994" cy="1078992"/>
          </a:xfrm>
          <a:prstGeom prst="rect">
            <a:avLst/>
          </a:prstGeom>
          <a:noFill/>
        </p:spPr>
        <p:txBody>
          <a:bodyPr wrap="square" anchor="t" lIns="0" rIns="0" tIns="0" bIns="0">
            <a:noAutofit/>
          </a:bodyPr>
          <a:lstStyle/>
          <a:p>
            <a:pPr algn="l">
              <a:lnSpc>
                <a:spcPct val="100000"/>
              </a:lnSpc>
            </a:pPr>
            <a:r>
              <a:rPr sz="900" b="1" i="0">
                <a:solidFill>
                  <a:srgbClr val="0E2356"/>
                </a:solidFill>
                <a:latin typeface="Outfit"/>
              </a:rPr>
              <a:t>Sponsor</a:t>
            </a:r>
          </a:p>
          <a:p>
            <a:pPr algn="l">
              <a:lnSpc>
                <a:spcPct val="110000"/>
              </a:lnSpc>
              <a:spcBef>
                <a:spcPts val="100"/>
              </a:spcBef>
            </a:pPr>
            <a:r>
              <a:rPr sz="800" b="0" i="0">
                <a:solidFill>
                  <a:srgbClr val="586586"/>
                </a:solidFill>
                <a:latin typeface="Outfit"/>
              </a:rPr>
              <a:t>Porte le budget et la promesse business.</a:t>
            </a:r>
          </a:p>
          <a:p>
            <a:pPr algn="l">
              <a:lnSpc>
                <a:spcPct val="110000"/>
              </a:lnSpc>
              <a:spcBef>
                <a:spcPts val="500"/>
              </a:spcBef>
            </a:pPr>
            <a:r>
              <a:rPr sz="800" b="0" i="1">
                <a:solidFill>
                  <a:srgbClr val="0E2356"/>
                </a:solidFill>
                <a:latin typeface="Outfit"/>
              </a:rPr>
              <a:t>« Quel problème business règle-t-on ? »</a:t>
            </a:r>
          </a:p>
          <a:p>
            <a:pPr algn="l">
              <a:lnSpc>
                <a:spcPct val="110000"/>
              </a:lnSpc>
              <a:spcBef>
                <a:spcPts val="600"/>
              </a:spcBef>
            </a:pPr>
            <a:r>
              <a:rPr sz="800" b="0" i="0">
                <a:solidFill>
                  <a:srgbClr val="586586"/>
                </a:solidFill>
                <a:latin typeface="Outfit"/>
              </a:rPr>
              <a:t>Subit — Craint une transformation cosmétique.</a:t>
            </a:r>
          </a:p>
          <a:p>
            <a:pPr algn="l">
              <a:lnSpc>
                <a:spcPct val="110000"/>
              </a:lnSpc>
              <a:spcBef>
                <a:spcPts val="300"/>
              </a:spcBef>
            </a:pPr>
            <a:r>
              <a:rPr sz="800" b="0" i="0">
                <a:solidFill>
                  <a:srgbClr val="0E2356"/>
                </a:solidFill>
                <a:latin typeface="Outfit"/>
              </a:rPr>
              <a:t>Vise — Problème business réglé, KPIs de mission.</a:t>
            </a:r>
          </a:p>
        </p:txBody>
      </p:sp>
      <p:sp>
        <p:nvSpPr>
          <p:cNvPr id="22" name="Rounded Rectangle 21"/>
          <p:cNvSpPr/>
          <p:nvPr/>
        </p:nvSpPr>
        <p:spPr>
          <a:xfrm>
            <a:off x="7086600" y="4636008"/>
            <a:ext cx="109728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86600" y="4636008"/>
            <a:ext cx="1097280" cy="219456"/>
          </a:xfrm>
          <a:prstGeom prst="rect">
            <a:avLst/>
          </a:prstGeom>
          <a:noFill/>
        </p:spPr>
        <p:txBody>
          <a:bodyPr wrap="square" anchor="ctr" lIns="0" rIns="0" tIns="0" bIns="0">
            <a:noAutofit/>
          </a:bodyPr>
          <a:lstStyle/>
          <a:p>
            <a:pPr algn="ctr"/>
            <a:r>
              <a:rPr sz="650" b="1" i="0">
                <a:solidFill>
                  <a:srgbClr val="FFFFFF"/>
                </a:solidFill>
                <a:latin typeface="Outfit"/>
              </a:rPr>
              <a:t>ALLIÉ EXIGEANT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PERSONAS   ·   </a:t>
            </a:r>
            <a:r>
              <a:rPr b="1" sz="1200">
                <a:solidFill>
                  <a:srgbClr val="0E2356"/>
                </a:solidFill>
                <a:latin typeface="Outfit"/>
              </a:rPr>
              <a:t>Interroger chaque persona séparément révèle des tensions qu'un diagnostic fusionné lisserait</a:t>
            </a:r>
          </a:p>
        </p:txBody>
      </p:sp>
      <p:sp>
        <p:nvSpPr>
          <p:cNvPr id="3" name="Rounded Rectangle 2"/>
          <p:cNvSpPr/>
          <p:nvPr/>
        </p:nvSpPr>
        <p:spPr>
          <a:xfrm>
            <a:off x="562356" y="1143000"/>
            <a:ext cx="7804404" cy="617220"/>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2356" y="1143000"/>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451610"/>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5236" y="1216152"/>
            <a:ext cx="2468880" cy="470916"/>
          </a:xfrm>
          <a:prstGeom prst="rect">
            <a:avLst/>
          </a:prstGeom>
          <a:noFill/>
        </p:spPr>
        <p:txBody>
          <a:bodyPr wrap="square" anchor="ctr" lIns="0" rIns="0" tIns="0" bIns="0">
            <a:noAutofit/>
          </a:bodyPr>
          <a:lstStyle/>
          <a:p>
            <a:pPr algn="l">
              <a:lnSpc>
                <a:spcPct val="100000"/>
              </a:lnSpc>
            </a:pPr>
            <a:r>
              <a:rPr sz="900" b="1" i="0">
                <a:solidFill>
                  <a:srgbClr val="0E2356"/>
                </a:solidFill>
                <a:latin typeface="Outfit"/>
              </a:rPr>
              <a:t>Management</a:t>
            </a:r>
          </a:p>
          <a:p>
            <a:pPr algn="l">
              <a:spcBef>
                <a:spcPts val="300"/>
              </a:spcBef>
              <a:spcAft>
                <a:spcPts val="300"/>
              </a:spcAft>
            </a:pPr>
            <a:r>
              <a:rPr sz="700" b="0" i="1">
                <a:solidFill>
                  <a:srgbClr val="586586"/>
                </a:solidFill>
                <a:latin typeface="Outfit"/>
              </a:rPr>
              <a:t>en tension avec</a:t>
            </a:r>
          </a:p>
          <a:p>
            <a:pPr algn="l">
              <a:lnSpc>
                <a:spcPct val="100000"/>
              </a:lnSpc>
            </a:pPr>
            <a:r>
              <a:rPr sz="900" b="1" i="0">
                <a:solidFill>
                  <a:srgbClr val="0E2356"/>
                </a:solidFill>
                <a:latin typeface="Outfit"/>
              </a:rPr>
              <a:t>Infra &amp; RUN</a:t>
            </a:r>
          </a:p>
        </p:txBody>
      </p:sp>
      <p:sp>
        <p:nvSpPr>
          <p:cNvPr id="7" name="TextBox 6"/>
          <p:cNvSpPr txBox="1"/>
          <p:nvPr/>
        </p:nvSpPr>
        <p:spPr>
          <a:xfrm>
            <a:off x="3442716" y="1216152"/>
            <a:ext cx="4786883" cy="470916"/>
          </a:xfrm>
          <a:prstGeom prst="rect">
            <a:avLst/>
          </a:prstGeom>
          <a:noFill/>
        </p:spPr>
        <p:txBody>
          <a:bodyPr wrap="square" anchor="ctr" lIns="0" rIns="0" tIns="0" bIns="0">
            <a:noAutofit/>
          </a:bodyPr>
          <a:lstStyle/>
          <a:p>
            <a:pPr algn="l">
              <a:lnSpc>
                <a:spcPct val="120000"/>
              </a:lnSpc>
            </a:pPr>
            <a:r>
              <a:rPr sz="800" b="0" i="0">
                <a:solidFill>
                  <a:srgbClr val="0E2356"/>
                </a:solidFill>
                <a:latin typeface="Outfit"/>
              </a:rPr>
              <a:t>Le même métrique de flux, lu « signal de pilotage de confiance » d'un côté, « surveillance » de l'autre.</a:t>
            </a:r>
          </a:p>
        </p:txBody>
      </p:sp>
      <p:sp>
        <p:nvSpPr>
          <p:cNvPr id="8" name="Rounded Rectangle 7"/>
          <p:cNvSpPr/>
          <p:nvPr/>
        </p:nvSpPr>
        <p:spPr>
          <a:xfrm>
            <a:off x="562356" y="1869948"/>
            <a:ext cx="7804404" cy="617220"/>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62356" y="1869948"/>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62356" y="2178558"/>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5236" y="1943100"/>
            <a:ext cx="2468880" cy="470916"/>
          </a:xfrm>
          <a:prstGeom prst="rect">
            <a:avLst/>
          </a:prstGeom>
          <a:noFill/>
        </p:spPr>
        <p:txBody>
          <a:bodyPr wrap="square" anchor="ctr" lIns="0" rIns="0" tIns="0" bIns="0">
            <a:noAutofit/>
          </a:bodyPr>
          <a:lstStyle/>
          <a:p>
            <a:pPr algn="l">
              <a:lnSpc>
                <a:spcPct val="100000"/>
              </a:lnSpc>
            </a:pPr>
            <a:r>
              <a:rPr sz="900" b="1" i="0">
                <a:solidFill>
                  <a:srgbClr val="0E2356"/>
                </a:solidFill>
                <a:latin typeface="Outfit"/>
              </a:rPr>
              <a:t>Sponsor</a:t>
            </a:r>
          </a:p>
          <a:p>
            <a:pPr algn="l">
              <a:spcBef>
                <a:spcPts val="300"/>
              </a:spcBef>
              <a:spcAft>
                <a:spcPts val="300"/>
              </a:spcAft>
            </a:pPr>
            <a:r>
              <a:rPr sz="700" b="0" i="1">
                <a:solidFill>
                  <a:srgbClr val="586586"/>
                </a:solidFill>
                <a:latin typeface="Outfit"/>
              </a:rPr>
              <a:t>en tension avec</a:t>
            </a:r>
          </a:p>
          <a:p>
            <a:pPr algn="l">
              <a:lnSpc>
                <a:spcPct val="100000"/>
              </a:lnSpc>
            </a:pPr>
            <a:r>
              <a:rPr sz="900" b="1" i="0">
                <a:solidFill>
                  <a:srgbClr val="0E2356"/>
                </a:solidFill>
                <a:latin typeface="Outfit"/>
              </a:rPr>
              <a:t>Infra &amp; RUN</a:t>
            </a:r>
          </a:p>
        </p:txBody>
      </p:sp>
      <p:sp>
        <p:nvSpPr>
          <p:cNvPr id="12" name="TextBox 11"/>
          <p:cNvSpPr txBox="1"/>
          <p:nvPr/>
        </p:nvSpPr>
        <p:spPr>
          <a:xfrm>
            <a:off x="3442716" y="1943100"/>
            <a:ext cx="4786883" cy="470916"/>
          </a:xfrm>
          <a:prstGeom prst="rect">
            <a:avLst/>
          </a:prstGeom>
          <a:noFill/>
        </p:spPr>
        <p:txBody>
          <a:bodyPr wrap="square" anchor="ctr" lIns="0" rIns="0" tIns="0" bIns="0">
            <a:noAutofit/>
          </a:bodyPr>
          <a:lstStyle/>
          <a:p>
            <a:pPr algn="l">
              <a:lnSpc>
                <a:spcPct val="120000"/>
              </a:lnSpc>
            </a:pPr>
            <a:r>
              <a:rPr sz="800" b="0" i="0">
                <a:solidFill>
                  <a:srgbClr val="0E2356"/>
                </a:solidFill>
                <a:latin typeface="Outfit"/>
              </a:rPr>
              <a:t>Horizon : valeur business rapide et visible d'un côté, soulagement durable et structurel du RUN de l'autre.</a:t>
            </a:r>
          </a:p>
        </p:txBody>
      </p:sp>
      <p:sp>
        <p:nvSpPr>
          <p:cNvPr id="13" name="Rounded Rectangle 12"/>
          <p:cNvSpPr/>
          <p:nvPr/>
        </p:nvSpPr>
        <p:spPr>
          <a:xfrm>
            <a:off x="562356" y="2596896"/>
            <a:ext cx="7804404" cy="617220"/>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2356" y="2596896"/>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62356" y="2905506"/>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5236" y="2670048"/>
            <a:ext cx="2468880" cy="470916"/>
          </a:xfrm>
          <a:prstGeom prst="rect">
            <a:avLst/>
          </a:prstGeom>
          <a:noFill/>
        </p:spPr>
        <p:txBody>
          <a:bodyPr wrap="square" anchor="ctr" lIns="0" rIns="0" tIns="0" bIns="0">
            <a:noAutofit/>
          </a:bodyPr>
          <a:lstStyle/>
          <a:p>
            <a:pPr algn="l">
              <a:lnSpc>
                <a:spcPct val="100000"/>
              </a:lnSpc>
            </a:pPr>
            <a:r>
              <a:rPr sz="900" b="1" i="0">
                <a:solidFill>
                  <a:srgbClr val="0E2356"/>
                </a:solidFill>
                <a:latin typeface="Outfit"/>
              </a:rPr>
              <a:t>Utilisateur applicatif</a:t>
            </a:r>
          </a:p>
          <a:p>
            <a:pPr algn="l">
              <a:spcBef>
                <a:spcPts val="300"/>
              </a:spcBef>
              <a:spcAft>
                <a:spcPts val="300"/>
              </a:spcAft>
            </a:pPr>
            <a:r>
              <a:rPr sz="700" b="0" i="1">
                <a:solidFill>
                  <a:srgbClr val="586586"/>
                </a:solidFill>
                <a:latin typeface="Outfit"/>
              </a:rPr>
              <a:t>en tension avec</a:t>
            </a:r>
          </a:p>
          <a:p>
            <a:pPr algn="l">
              <a:lnSpc>
                <a:spcPct val="100000"/>
              </a:lnSpc>
            </a:pPr>
            <a:r>
              <a:rPr sz="900" b="1" i="0">
                <a:solidFill>
                  <a:srgbClr val="0E2356"/>
                </a:solidFill>
                <a:latin typeface="Outfit"/>
              </a:rPr>
              <a:t>Infra &amp; RUN</a:t>
            </a:r>
          </a:p>
        </p:txBody>
      </p:sp>
      <p:sp>
        <p:nvSpPr>
          <p:cNvPr id="17" name="TextBox 16"/>
          <p:cNvSpPr txBox="1"/>
          <p:nvPr/>
        </p:nvSpPr>
        <p:spPr>
          <a:xfrm>
            <a:off x="3442716" y="2670048"/>
            <a:ext cx="4786883" cy="470916"/>
          </a:xfrm>
          <a:prstGeom prst="rect">
            <a:avLst/>
          </a:prstGeom>
          <a:noFill/>
        </p:spPr>
        <p:txBody>
          <a:bodyPr wrap="square" anchor="ctr" lIns="0" rIns="0" tIns="0" bIns="0">
            <a:noAutofit/>
          </a:bodyPr>
          <a:lstStyle/>
          <a:p>
            <a:pPr algn="l">
              <a:lnSpc>
                <a:spcPct val="120000"/>
              </a:lnSpc>
            </a:pPr>
            <a:r>
              <a:rPr sz="800" b="0" i="0">
                <a:solidFill>
                  <a:srgbClr val="0E2356"/>
                </a:solidFill>
                <a:latin typeface="Outfit"/>
              </a:rPr>
              <a:t>Self-service adopté par choix face à l'opérabilité sans sacrifier le delivery : qui absorbe le coût du self-service ?</a:t>
            </a:r>
          </a:p>
        </p:txBody>
      </p:sp>
      <p:sp>
        <p:nvSpPr>
          <p:cNvPr id="18" name="Rounded Rectangle 17"/>
          <p:cNvSpPr/>
          <p:nvPr/>
        </p:nvSpPr>
        <p:spPr>
          <a:xfrm>
            <a:off x="562356" y="3323844"/>
            <a:ext cx="7804404" cy="617220"/>
          </a:xfrm>
          <a:prstGeom prst="roundRect">
            <a:avLst>
              <a:gd name="adj" fmla="val 8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62356" y="3323844"/>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62356" y="3632454"/>
            <a:ext cx="54864" cy="30861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5236" y="3396996"/>
            <a:ext cx="2468880" cy="470916"/>
          </a:xfrm>
          <a:prstGeom prst="rect">
            <a:avLst/>
          </a:prstGeom>
          <a:noFill/>
        </p:spPr>
        <p:txBody>
          <a:bodyPr wrap="square" anchor="ctr" lIns="0" rIns="0" tIns="0" bIns="0">
            <a:noAutofit/>
          </a:bodyPr>
          <a:lstStyle/>
          <a:p>
            <a:pPr algn="l">
              <a:lnSpc>
                <a:spcPct val="100000"/>
              </a:lnSpc>
            </a:pPr>
            <a:r>
              <a:rPr sz="900" b="1" i="0">
                <a:solidFill>
                  <a:srgbClr val="0E2356"/>
                </a:solidFill>
                <a:latin typeface="Outfit"/>
              </a:rPr>
              <a:t>Sponsor</a:t>
            </a:r>
          </a:p>
          <a:p>
            <a:pPr algn="l">
              <a:spcBef>
                <a:spcPts val="300"/>
              </a:spcBef>
              <a:spcAft>
                <a:spcPts val="300"/>
              </a:spcAft>
            </a:pPr>
            <a:r>
              <a:rPr sz="700" b="0" i="1">
                <a:solidFill>
                  <a:srgbClr val="586586"/>
                </a:solidFill>
                <a:latin typeface="Outfit"/>
              </a:rPr>
              <a:t>en tension avec</a:t>
            </a:r>
          </a:p>
          <a:p>
            <a:pPr algn="l">
              <a:lnSpc>
                <a:spcPct val="100000"/>
              </a:lnSpc>
            </a:pPr>
            <a:r>
              <a:rPr sz="900" b="1" i="0">
                <a:solidFill>
                  <a:srgbClr val="0E2356"/>
                </a:solidFill>
                <a:latin typeface="Outfit"/>
              </a:rPr>
              <a:t>RSSI</a:t>
            </a:r>
          </a:p>
          <a:p>
            <a:pPr algn="l">
              <a:spcBef>
                <a:spcPts val="300"/>
              </a:spcBef>
            </a:pPr>
            <a:r>
              <a:rPr sz="650" b="1" i="0">
                <a:solidFill>
                  <a:srgbClr val="0E2356"/>
                </a:solidFill>
                <a:latin typeface="Outfit"/>
              </a:rPr>
              <a:t>ANGLE MORT</a:t>
            </a:r>
          </a:p>
        </p:txBody>
      </p:sp>
      <p:sp>
        <p:nvSpPr>
          <p:cNvPr id="22" name="TextBox 21"/>
          <p:cNvSpPr txBox="1"/>
          <p:nvPr/>
        </p:nvSpPr>
        <p:spPr>
          <a:xfrm>
            <a:off x="3442716" y="3396996"/>
            <a:ext cx="4786883" cy="470916"/>
          </a:xfrm>
          <a:prstGeom prst="rect">
            <a:avLst/>
          </a:prstGeom>
          <a:noFill/>
        </p:spPr>
        <p:txBody>
          <a:bodyPr wrap="square" anchor="ctr" lIns="0" rIns="0" tIns="0" bIns="0">
            <a:noAutofit/>
          </a:bodyPr>
          <a:lstStyle/>
          <a:p>
            <a:pPr algn="l">
              <a:lnSpc>
                <a:spcPct val="120000"/>
              </a:lnSpc>
            </a:pPr>
            <a:r>
              <a:rPr sz="800" b="0" i="0">
                <a:solidFill>
                  <a:srgbClr val="0E2356"/>
                </a:solidFill>
                <a:latin typeface="Outfit"/>
              </a:rPr>
              <a:t>Vitesse de démonstration face au gate confidentialité, bloquant sur donnée client.</a:t>
            </a:r>
          </a:p>
        </p:txBody>
      </p:sp>
      <p:sp>
        <p:nvSpPr>
          <p:cNvPr id="23" name="Rounded Rectangle 22"/>
          <p:cNvSpPr/>
          <p:nvPr/>
        </p:nvSpPr>
        <p:spPr>
          <a:xfrm>
            <a:off x="562356" y="4069080"/>
            <a:ext cx="7804404" cy="512064"/>
          </a:xfrm>
          <a:prstGeom prst="roundRect">
            <a:avLst>
              <a:gd name="adj" fmla="val 12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62356" y="4069080"/>
            <a:ext cx="64008" cy="51206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0100" y="4069080"/>
            <a:ext cx="7420356" cy="512064"/>
          </a:xfrm>
          <a:prstGeom prst="rect">
            <a:avLst/>
          </a:prstGeom>
          <a:noFill/>
        </p:spPr>
        <p:txBody>
          <a:bodyPr wrap="square" anchor="ctr" lIns="0" rIns="0" tIns="0" bIns="0">
            <a:noAutofit/>
          </a:bodyPr>
          <a:lstStyle/>
          <a:p>
            <a:pPr algn="l">
              <a:lnSpc>
                <a:spcPct val="105000"/>
              </a:lnSpc>
            </a:pPr>
            <a:r>
              <a:rPr sz="850" b="1" i="0">
                <a:solidFill>
                  <a:srgbClr val="0E2356"/>
                </a:solidFill>
                <a:latin typeface="Outfit"/>
              </a:rPr>
              <a:t>Ces tensions ne se tranchent pas — on les tient des deux bouts.</a:t>
            </a:r>
          </a:p>
          <a:p>
            <a:pPr algn="l">
              <a:lnSpc>
                <a:spcPct val="110000"/>
              </a:lnSpc>
              <a:spcBef>
                <a:spcPts val="200"/>
              </a:spcBef>
            </a:pPr>
            <a:r>
              <a:rPr sz="800" b="0" i="0">
                <a:solidFill>
                  <a:srgbClr val="0E2356"/>
                </a:solidFill>
                <a:latin typeface="Outfit"/>
              </a:rPr>
              <a:t>La méthode (ch. Proposition) : la métrique de flux = signal partagé, le gate confidentialité = non négociable.</a:t>
            </a:r>
          </a:p>
        </p:txBody>
      </p:sp>
      <p:sp>
        <p:nvSpPr>
          <p:cNvPr id="26" name="TextBox 25"/>
          <p:cNvSpPr txBox="1"/>
          <p:nvPr/>
        </p:nvSpPr>
        <p:spPr>
          <a:xfrm>
            <a:off x="562356" y="4672583"/>
            <a:ext cx="7804404" cy="310896"/>
          </a:xfrm>
          <a:prstGeom prst="rect">
            <a:avLst/>
          </a:prstGeom>
          <a:noFill/>
        </p:spPr>
        <p:txBody>
          <a:bodyPr wrap="square" anchor="t" lIns="0" rIns="0" tIns="0" bIns="0">
            <a:noAutofit/>
          </a:bodyPr>
          <a:lstStyle/>
          <a:p>
            <a:pPr algn="l">
              <a:lnSpc>
                <a:spcPct val="115000"/>
              </a:lnSpc>
            </a:pPr>
            <a:r>
              <a:rPr sz="750" b="0" i="1">
                <a:solidFill>
                  <a:srgbClr val="586586"/>
                </a:solidFill>
                <a:latin typeface="Outfit"/>
              </a:rPr>
              <a:t>Angles morts, non interrogés à ce stade : le client métier consommateur des services, le RSSI (porteur du gate), le junior / nouvel arrivant.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Besoins &amp; douleurs</a:t>
            </a:r>
          </a:p>
          <a:p>
            <a:r>
              <a:rPr sz="1050" i="1">
                <a:solidFill>
                  <a:srgbClr val="586586"/>
                </a:solidFill>
                <a:latin typeface="Outfit"/>
              </a:rPr>
              <a:t>Les douleurs approfondies et mesurables, et les 8 familles de gaspillage qui les rangent.</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05</a:t>
            </a:r>
          </a:p>
        </p:txBody>
      </p:sp>
      <p:pic>
        <p:nvPicPr>
          <p:cNvPr id="4" name="Picture 3" descr="ocean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BESOINS &amp; DOULEURS   ·   </a:t>
            </a:r>
            <a:r>
              <a:rPr b="1" sz="1200">
                <a:solidFill>
                  <a:srgbClr val="0E2356"/>
                </a:solidFill>
                <a:latin typeface="Outfit"/>
              </a:rPr>
              <a:t>Les douleurs des clients infra : mesurables, pas des plaintes</a:t>
            </a:r>
          </a:p>
        </p:txBody>
      </p:sp>
      <p:sp>
        <p:nvSpPr>
          <p:cNvPr id="3" name="TextBox 2"/>
          <p:cNvSpPr txBox="1"/>
          <p:nvPr/>
        </p:nvSpPr>
        <p:spPr>
          <a:xfrm>
            <a:off x="562356" y="1051560"/>
            <a:ext cx="7804404" cy="36576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Chaque douleur appartient à un persona et se range dans une famille de gaspillage — c'est ce qui la rend traitable plutôt que subie.</a:t>
            </a:r>
          </a:p>
        </p:txBody>
      </p:sp>
      <p:sp>
        <p:nvSpPr>
          <p:cNvPr id="4" name="Rounded Rectangle 3"/>
          <p:cNvSpPr/>
          <p:nvPr/>
        </p:nvSpPr>
        <p:spPr>
          <a:xfrm>
            <a:off x="1254442" y="1453895"/>
            <a:ext cx="457200" cy="45720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1</a:t>
            </a:r>
          </a:p>
        </p:txBody>
      </p:sp>
      <p:sp>
        <p:nvSpPr>
          <p:cNvPr id="6" name="Rectangle 5"/>
          <p:cNvSpPr/>
          <p:nvPr/>
        </p:nvSpPr>
        <p:spPr>
          <a:xfrm>
            <a:off x="1472984" y="1911095"/>
            <a:ext cx="20116" cy="146304"/>
          </a:xfrm>
          <a:prstGeom prst="rect">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2356"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Infra &amp; RUN</a:t>
            </a:r>
          </a:p>
        </p:txBody>
      </p:sp>
      <p:sp>
        <p:nvSpPr>
          <p:cNvPr id="8" name="TextBox 7"/>
          <p:cNvSpPr txBox="1"/>
          <p:nvPr/>
        </p:nvSpPr>
        <p:spPr>
          <a:xfrm>
            <a:off x="617220"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RUN subi : les mêmes incidents reviennent et mobilisent les experts seniors, le BUILD est sacrifié à l'astreinte.</a:t>
            </a:r>
          </a:p>
        </p:txBody>
      </p:sp>
      <p:sp>
        <p:nvSpPr>
          <p:cNvPr id="9" name="TextBox 8"/>
          <p:cNvSpPr txBox="1"/>
          <p:nvPr/>
        </p:nvSpPr>
        <p:spPr>
          <a:xfrm>
            <a:off x="617220" y="3496437"/>
            <a:ext cx="1731644" cy="128016"/>
          </a:xfrm>
          <a:prstGeom prst="rect">
            <a:avLst/>
          </a:prstGeom>
          <a:noFill/>
        </p:spPr>
        <p:txBody>
          <a:bodyPr wrap="square" anchor="t" lIns="0" rIns="0" tIns="0" bIns="0">
            <a:noAutofit/>
          </a:bodyPr>
          <a:lstStyle/>
          <a:p>
            <a:pPr algn="l"/>
            <a:r>
              <a:rPr sz="650" b="1" i="0">
                <a:solidFill>
                  <a:srgbClr val="586586"/>
                </a:solidFill>
                <a:latin typeface="Outfit"/>
              </a:rPr>
              <a:t>SIGNAL / MESURE</a:t>
            </a:r>
          </a:p>
        </p:txBody>
      </p:sp>
      <p:sp>
        <p:nvSpPr>
          <p:cNvPr id="10" name="TextBox 9"/>
          <p:cNvSpPr txBox="1"/>
          <p:nvPr/>
        </p:nvSpPr>
        <p:spPr>
          <a:xfrm>
            <a:off x="617220"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Tickets récurrents/mois, part du temps en RUN non maîtrisé.</a:t>
            </a:r>
          </a:p>
        </p:txBody>
      </p:sp>
      <p:sp>
        <p:nvSpPr>
          <p:cNvPr id="11" name="Rounded Rectangle 10"/>
          <p:cNvSpPr/>
          <p:nvPr/>
        </p:nvSpPr>
        <p:spPr>
          <a:xfrm>
            <a:off x="617220"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 y="4173093"/>
            <a:ext cx="1731644" cy="274320"/>
          </a:xfrm>
          <a:prstGeom prst="rect">
            <a:avLst/>
          </a:prstGeom>
          <a:noFill/>
        </p:spPr>
        <p:txBody>
          <a:bodyPr wrap="square" anchor="ctr" lIns="0" rIns="0" tIns="0" bIns="0">
            <a:noAutofit/>
          </a:bodyPr>
          <a:lstStyle/>
          <a:p>
            <a:pPr algn="ctr"/>
            <a:r>
              <a:rPr sz="700" b="1" i="0">
                <a:solidFill>
                  <a:srgbClr val="FFFFFF"/>
                </a:solidFill>
                <a:latin typeface="Outfit"/>
              </a:rPr>
              <a:t>RUN · Humain</a:t>
            </a:r>
          </a:p>
        </p:txBody>
      </p:sp>
      <p:sp>
        <p:nvSpPr>
          <p:cNvPr id="13" name="Rounded Rectangle 12"/>
          <p:cNvSpPr/>
          <p:nvPr/>
        </p:nvSpPr>
        <p:spPr>
          <a:xfrm>
            <a:off x="3242119" y="1453895"/>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50033"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2</a:t>
            </a:r>
          </a:p>
        </p:txBody>
      </p:sp>
      <p:sp>
        <p:nvSpPr>
          <p:cNvPr id="15" name="Rectangle 14"/>
          <p:cNvSpPr/>
          <p:nvPr/>
        </p:nvSpPr>
        <p:spPr>
          <a:xfrm>
            <a:off x="3460661" y="1911095"/>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50033"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Utilisateur applicatif</a:t>
            </a:r>
          </a:p>
        </p:txBody>
      </p:sp>
      <p:sp>
        <p:nvSpPr>
          <p:cNvPr id="17" name="TextBox 16"/>
          <p:cNvSpPr txBox="1"/>
          <p:nvPr/>
        </p:nvSpPr>
        <p:spPr>
          <a:xfrm>
            <a:off x="2604897"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Aucun self-service ni parcours conçu : tout passe par un guichet, le contournement (shadow IT) va plus vite que la demande officielle.</a:t>
            </a:r>
          </a:p>
        </p:txBody>
      </p:sp>
      <p:sp>
        <p:nvSpPr>
          <p:cNvPr id="18" name="TextBox 17"/>
          <p:cNvSpPr txBox="1"/>
          <p:nvPr/>
        </p:nvSpPr>
        <p:spPr>
          <a:xfrm>
            <a:off x="2604897" y="3496437"/>
            <a:ext cx="1731644" cy="128016"/>
          </a:xfrm>
          <a:prstGeom prst="rect">
            <a:avLst/>
          </a:prstGeom>
          <a:noFill/>
        </p:spPr>
        <p:txBody>
          <a:bodyPr wrap="square" anchor="t" lIns="0" rIns="0" tIns="0" bIns="0">
            <a:noAutofit/>
          </a:bodyPr>
          <a:lstStyle/>
          <a:p>
            <a:pPr algn="l"/>
            <a:r>
              <a:rPr sz="650" b="1" i="0">
                <a:solidFill>
                  <a:srgbClr val="586586"/>
                </a:solidFill>
                <a:latin typeface="Outfit"/>
              </a:rPr>
              <a:t>SIGNAL / MESURE</a:t>
            </a:r>
          </a:p>
        </p:txBody>
      </p:sp>
      <p:sp>
        <p:nvSpPr>
          <p:cNvPr id="19" name="TextBox 18"/>
          <p:cNvSpPr txBox="1"/>
          <p:nvPr/>
        </p:nvSpPr>
        <p:spPr>
          <a:xfrm>
            <a:off x="2604897"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Taux de contournement, délai de mise à disposition.</a:t>
            </a:r>
          </a:p>
        </p:txBody>
      </p:sp>
      <p:sp>
        <p:nvSpPr>
          <p:cNvPr id="20" name="Rounded Rectangle 19"/>
          <p:cNvSpPr/>
          <p:nvPr/>
        </p:nvSpPr>
        <p:spPr>
          <a:xfrm>
            <a:off x="2604897"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604897" y="4173093"/>
            <a:ext cx="1731644" cy="274320"/>
          </a:xfrm>
          <a:prstGeom prst="rect">
            <a:avLst/>
          </a:prstGeom>
          <a:noFill/>
        </p:spPr>
        <p:txBody>
          <a:bodyPr wrap="square" anchor="ctr" lIns="0" rIns="0" tIns="0" bIns="0">
            <a:noAutofit/>
          </a:bodyPr>
          <a:lstStyle/>
          <a:p>
            <a:pPr algn="ctr"/>
            <a:r>
              <a:rPr sz="700" b="1" i="0">
                <a:solidFill>
                  <a:srgbClr val="FFFFFF"/>
                </a:solidFill>
                <a:latin typeface="Outfit"/>
              </a:rPr>
              <a:t>Flux · Cognitif</a:t>
            </a:r>
          </a:p>
        </p:txBody>
      </p:sp>
      <p:sp>
        <p:nvSpPr>
          <p:cNvPr id="22" name="Rounded Rectangle 21"/>
          <p:cNvSpPr/>
          <p:nvPr/>
        </p:nvSpPr>
        <p:spPr>
          <a:xfrm>
            <a:off x="5229796" y="1453895"/>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37710"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3</a:t>
            </a:r>
          </a:p>
        </p:txBody>
      </p:sp>
      <p:sp>
        <p:nvSpPr>
          <p:cNvPr id="24" name="Rectangle 23"/>
          <p:cNvSpPr/>
          <p:nvPr/>
        </p:nvSpPr>
        <p:spPr>
          <a:xfrm>
            <a:off x="5448338" y="1911095"/>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37710"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Management</a:t>
            </a:r>
          </a:p>
        </p:txBody>
      </p:sp>
      <p:sp>
        <p:nvSpPr>
          <p:cNvPr id="26" name="TextBox 25"/>
          <p:cNvSpPr txBox="1"/>
          <p:nvPr/>
        </p:nvSpPr>
        <p:spPr>
          <a:xfrm>
            <a:off x="4592574"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 Expert devenu manager malgré lui » : reporting miroir et micromanagement compensatoire, faute de signal fiable sur le flux.</a:t>
            </a:r>
          </a:p>
        </p:txBody>
      </p:sp>
      <p:sp>
        <p:nvSpPr>
          <p:cNvPr id="27" name="TextBox 26"/>
          <p:cNvSpPr txBox="1"/>
          <p:nvPr/>
        </p:nvSpPr>
        <p:spPr>
          <a:xfrm>
            <a:off x="4592574" y="3496437"/>
            <a:ext cx="1731644" cy="128016"/>
          </a:xfrm>
          <a:prstGeom prst="rect">
            <a:avLst/>
          </a:prstGeom>
          <a:noFill/>
        </p:spPr>
        <p:txBody>
          <a:bodyPr wrap="square" anchor="t" lIns="0" rIns="0" tIns="0" bIns="0">
            <a:noAutofit/>
          </a:bodyPr>
          <a:lstStyle/>
          <a:p>
            <a:pPr algn="l"/>
            <a:r>
              <a:rPr sz="650" b="1" i="0">
                <a:solidFill>
                  <a:srgbClr val="586586"/>
                </a:solidFill>
                <a:latin typeface="Outfit"/>
              </a:rPr>
              <a:t>SIGNAL / MESURE</a:t>
            </a:r>
          </a:p>
        </p:txBody>
      </p:sp>
      <p:sp>
        <p:nvSpPr>
          <p:cNvPr id="28" name="TextBox 27"/>
          <p:cNvSpPr txBox="1"/>
          <p:nvPr/>
        </p:nvSpPr>
        <p:spPr>
          <a:xfrm>
            <a:off x="4592574"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Ratio temps reporting / temps résolution d'obstacles.</a:t>
            </a:r>
          </a:p>
        </p:txBody>
      </p:sp>
      <p:sp>
        <p:nvSpPr>
          <p:cNvPr id="29" name="Rounded Rectangle 28"/>
          <p:cNvSpPr/>
          <p:nvPr/>
        </p:nvSpPr>
        <p:spPr>
          <a:xfrm>
            <a:off x="4592574"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92574" y="4173093"/>
            <a:ext cx="1731644" cy="274320"/>
          </a:xfrm>
          <a:prstGeom prst="rect">
            <a:avLst/>
          </a:prstGeom>
          <a:noFill/>
        </p:spPr>
        <p:txBody>
          <a:bodyPr wrap="square" anchor="ctr" lIns="0" rIns="0" tIns="0" bIns="0">
            <a:noAutofit/>
          </a:bodyPr>
          <a:lstStyle/>
          <a:p>
            <a:pPr algn="ctr"/>
            <a:r>
              <a:rPr sz="700" b="1" i="0">
                <a:solidFill>
                  <a:srgbClr val="FFFFFF"/>
                </a:solidFill>
                <a:latin typeface="Outfit"/>
              </a:rPr>
              <a:t>Décisionnel · Humain</a:t>
            </a:r>
          </a:p>
        </p:txBody>
      </p:sp>
      <p:sp>
        <p:nvSpPr>
          <p:cNvPr id="31" name="Rounded Rectangle 30"/>
          <p:cNvSpPr/>
          <p:nvPr/>
        </p:nvSpPr>
        <p:spPr>
          <a:xfrm>
            <a:off x="7217473" y="1453895"/>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25387"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4</a:t>
            </a:r>
          </a:p>
        </p:txBody>
      </p:sp>
      <p:sp>
        <p:nvSpPr>
          <p:cNvPr id="33" name="Rectangle 32"/>
          <p:cNvSpPr/>
          <p:nvPr/>
        </p:nvSpPr>
        <p:spPr>
          <a:xfrm>
            <a:off x="7436015" y="1911095"/>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25387"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Sponsor</a:t>
            </a:r>
          </a:p>
        </p:txBody>
      </p:sp>
      <p:sp>
        <p:nvSpPr>
          <p:cNvPr id="35" name="TextBox 34"/>
          <p:cNvSpPr txBox="1"/>
          <p:nvPr/>
        </p:nvSpPr>
        <p:spPr>
          <a:xfrm>
            <a:off x="6580251"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Pression à « mettre de l'IA » sans cas d'usage, peur d'une transformation cosmétique : beaucoup d'activité, peu de valeur démontrée.</a:t>
            </a:r>
          </a:p>
        </p:txBody>
      </p:sp>
      <p:sp>
        <p:nvSpPr>
          <p:cNvPr id="36" name="TextBox 35"/>
          <p:cNvSpPr txBox="1"/>
          <p:nvPr/>
        </p:nvSpPr>
        <p:spPr>
          <a:xfrm>
            <a:off x="6580251" y="3496437"/>
            <a:ext cx="1731644" cy="128016"/>
          </a:xfrm>
          <a:prstGeom prst="rect">
            <a:avLst/>
          </a:prstGeom>
          <a:noFill/>
        </p:spPr>
        <p:txBody>
          <a:bodyPr wrap="square" anchor="t" lIns="0" rIns="0" tIns="0" bIns="0">
            <a:noAutofit/>
          </a:bodyPr>
          <a:lstStyle/>
          <a:p>
            <a:pPr algn="l"/>
            <a:r>
              <a:rPr sz="650" b="1" i="0">
                <a:solidFill>
                  <a:srgbClr val="586586"/>
                </a:solidFill>
                <a:latin typeface="Outfit"/>
              </a:rPr>
              <a:t>SIGNAL / MESURE</a:t>
            </a:r>
          </a:p>
        </p:txBody>
      </p:sp>
      <p:sp>
        <p:nvSpPr>
          <p:cNvPr id="37" name="TextBox 36"/>
          <p:cNvSpPr txBox="1"/>
          <p:nvPr/>
        </p:nvSpPr>
        <p:spPr>
          <a:xfrm>
            <a:off x="6580251"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Valeur / capacité récupérée démontrée vs promise.</a:t>
            </a:r>
          </a:p>
        </p:txBody>
      </p:sp>
      <p:sp>
        <p:nvSpPr>
          <p:cNvPr id="38" name="Rounded Rectangle 37"/>
          <p:cNvSpPr/>
          <p:nvPr/>
        </p:nvSpPr>
        <p:spPr>
          <a:xfrm>
            <a:off x="6580251"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0251" y="4173093"/>
            <a:ext cx="1731644" cy="274320"/>
          </a:xfrm>
          <a:prstGeom prst="rect">
            <a:avLst/>
          </a:prstGeom>
          <a:noFill/>
        </p:spPr>
        <p:txBody>
          <a:bodyPr wrap="square" anchor="ctr" lIns="0" rIns="0" tIns="0" bIns="0">
            <a:noAutofit/>
          </a:bodyPr>
          <a:lstStyle/>
          <a:p>
            <a:pPr algn="ctr"/>
            <a:r>
              <a:rPr sz="700" b="1" i="0">
                <a:solidFill>
                  <a:srgbClr val="FFFFFF"/>
                </a:solidFill>
                <a:latin typeface="Outfit"/>
              </a:rPr>
              <a:t>Décisionnel · IA (gadget)</a:t>
            </a:r>
          </a:p>
        </p:txBody>
      </p:sp>
      <p:sp>
        <p:nvSpPr>
          <p:cNvPr id="40" name="Rounded Rectangle 39"/>
          <p:cNvSpPr/>
          <p:nvPr/>
        </p:nvSpPr>
        <p:spPr>
          <a:xfrm>
            <a:off x="562356" y="4612004"/>
            <a:ext cx="7804404" cy="371475"/>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562356" y="4612004"/>
            <a:ext cx="64008" cy="371475"/>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0100" y="4612004"/>
            <a:ext cx="7347204" cy="371475"/>
          </a:xfrm>
          <a:prstGeom prst="rect">
            <a:avLst/>
          </a:prstGeom>
          <a:noFill/>
        </p:spPr>
        <p:txBody>
          <a:bodyPr wrap="square" anchor="ctr" lIns="0" rIns="0" tIns="0" bIns="0">
            <a:noAutofit/>
          </a:bodyPr>
          <a:lstStyle/>
          <a:p>
            <a:pPr algn="l">
              <a:lnSpc>
                <a:spcPct val="115000"/>
              </a:lnSpc>
            </a:pPr>
            <a:r>
              <a:rPr sz="900" b="1" i="0">
                <a:solidFill>
                  <a:srgbClr val="0E2356"/>
                </a:solidFill>
                <a:latin typeface="Outfit"/>
              </a:rPr>
              <a:t>Ces 4 douleurs se rangent en 8 familles de gaspillage → slide suivante.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BESOINS &amp; DOULEURS   ·   </a:t>
            </a:r>
            <a:r>
              <a:rPr b="1" sz="1200">
                <a:solidFill>
                  <a:srgbClr val="0E2356"/>
                </a:solidFill>
                <a:latin typeface="Outfit"/>
              </a:rPr>
              <a:t>Les 8 familles de gaspillage — le langage commun qui rend les douleurs traitables</a:t>
            </a:r>
          </a:p>
        </p:txBody>
      </p:sp>
      <p:sp>
        <p:nvSpPr>
          <p:cNvPr id="3" name="TextBox 2"/>
          <p:cNvSpPr txBox="1"/>
          <p:nvPr/>
        </p:nvSpPr>
        <p:spPr>
          <a:xfrm>
            <a:off x="562356" y="1051560"/>
            <a:ext cx="7804404" cy="384048"/>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Nommer la famille, c'est déjà pouvoir la détecter, la quantifier et la prioriser (méthode de traitement → chapitre Proposition).</a:t>
            </a:r>
          </a:p>
        </p:txBody>
      </p:sp>
      <p:sp>
        <p:nvSpPr>
          <p:cNvPr id="4" name="Rounded Rectangle 3"/>
          <p:cNvSpPr/>
          <p:nvPr/>
        </p:nvSpPr>
        <p:spPr>
          <a:xfrm>
            <a:off x="562356" y="1554480"/>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554480"/>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5236" y="1609344"/>
            <a:ext cx="3499866" cy="651510"/>
          </a:xfrm>
          <a:prstGeom prst="rect">
            <a:avLst/>
          </a:prstGeom>
          <a:noFill/>
        </p:spPr>
        <p:txBody>
          <a:bodyPr wrap="square" anchor="ctr" lIns="0" rIns="0" tIns="0" bIns="0">
            <a:noAutofit/>
          </a:bodyPr>
          <a:lstStyle/>
          <a:p>
            <a:pPr algn="l"/>
            <a:r>
              <a:rPr sz="1050" b="1" i="0">
                <a:solidFill>
                  <a:srgbClr val="0E2356"/>
                </a:solidFill>
                <a:latin typeface="Outfit"/>
              </a:rPr>
              <a:t>1. Flux</a:t>
            </a:r>
          </a:p>
          <a:p>
            <a:pPr algn="l">
              <a:lnSpc>
                <a:spcPct val="110000"/>
              </a:lnSpc>
              <a:spcBef>
                <a:spcPts val="200"/>
              </a:spcBef>
            </a:pPr>
            <a:r>
              <a:rPr sz="800" b="0" i="0">
                <a:solidFill>
                  <a:srgbClr val="586586"/>
                </a:solidFill>
                <a:latin typeface="Outfit"/>
              </a:rPr>
              <a:t>Attentes, validations multiples</a:t>
            </a:r>
          </a:p>
        </p:txBody>
      </p:sp>
      <p:sp>
        <p:nvSpPr>
          <p:cNvPr id="7" name="Rounded Rectangle 6"/>
          <p:cNvSpPr/>
          <p:nvPr/>
        </p:nvSpPr>
        <p:spPr>
          <a:xfrm>
            <a:off x="4555998" y="1554480"/>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55998" y="1554480"/>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38878" y="1609344"/>
            <a:ext cx="3499866" cy="651510"/>
          </a:xfrm>
          <a:prstGeom prst="rect">
            <a:avLst/>
          </a:prstGeom>
          <a:noFill/>
        </p:spPr>
        <p:txBody>
          <a:bodyPr wrap="square" anchor="ctr" lIns="0" rIns="0" tIns="0" bIns="0">
            <a:noAutofit/>
          </a:bodyPr>
          <a:lstStyle/>
          <a:p>
            <a:pPr algn="l"/>
            <a:r>
              <a:rPr sz="1050" b="1" i="0">
                <a:solidFill>
                  <a:srgbClr val="0E2356"/>
                </a:solidFill>
                <a:latin typeface="Outfit"/>
              </a:rPr>
              <a:t>2. Humain</a:t>
            </a:r>
          </a:p>
          <a:p>
            <a:pPr algn="l">
              <a:lnSpc>
                <a:spcPct val="110000"/>
              </a:lnSpc>
              <a:spcBef>
                <a:spcPts val="200"/>
              </a:spcBef>
            </a:pPr>
            <a:r>
              <a:rPr sz="800" b="0" i="0">
                <a:solidFill>
                  <a:srgbClr val="586586"/>
                </a:solidFill>
                <a:latin typeface="Outfit"/>
              </a:rPr>
              <a:t>Experts seniors sur tâches répétitives</a:t>
            </a:r>
          </a:p>
        </p:txBody>
      </p:sp>
      <p:sp>
        <p:nvSpPr>
          <p:cNvPr id="10" name="Rounded Rectangle 9"/>
          <p:cNvSpPr/>
          <p:nvPr/>
        </p:nvSpPr>
        <p:spPr>
          <a:xfrm>
            <a:off x="562356" y="2443734"/>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62356" y="2443734"/>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 y="2498598"/>
            <a:ext cx="3499866" cy="651510"/>
          </a:xfrm>
          <a:prstGeom prst="rect">
            <a:avLst/>
          </a:prstGeom>
          <a:noFill/>
        </p:spPr>
        <p:txBody>
          <a:bodyPr wrap="square" anchor="ctr" lIns="0" rIns="0" tIns="0" bIns="0">
            <a:noAutofit/>
          </a:bodyPr>
          <a:lstStyle/>
          <a:p>
            <a:pPr algn="l"/>
            <a:r>
              <a:rPr sz="1050" b="1" i="0">
                <a:solidFill>
                  <a:srgbClr val="0E2356"/>
                </a:solidFill>
                <a:latin typeface="Outfit"/>
              </a:rPr>
              <a:t>3. RUN</a:t>
            </a:r>
          </a:p>
          <a:p>
            <a:pPr algn="l">
              <a:lnSpc>
                <a:spcPct val="110000"/>
              </a:lnSpc>
              <a:spcBef>
                <a:spcPts val="200"/>
              </a:spcBef>
            </a:pPr>
            <a:r>
              <a:rPr sz="800" b="0" i="0">
                <a:solidFill>
                  <a:srgbClr val="586586"/>
                </a:solidFill>
                <a:latin typeface="Outfit"/>
              </a:rPr>
              <a:t>Incidents récurrents, demandes répétées</a:t>
            </a:r>
          </a:p>
        </p:txBody>
      </p:sp>
      <p:sp>
        <p:nvSpPr>
          <p:cNvPr id="13" name="Rounded Rectangle 12"/>
          <p:cNvSpPr/>
          <p:nvPr/>
        </p:nvSpPr>
        <p:spPr>
          <a:xfrm>
            <a:off x="4555998" y="2443734"/>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55998" y="2443734"/>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38878" y="2498598"/>
            <a:ext cx="3499866" cy="651510"/>
          </a:xfrm>
          <a:prstGeom prst="rect">
            <a:avLst/>
          </a:prstGeom>
          <a:noFill/>
        </p:spPr>
        <p:txBody>
          <a:bodyPr wrap="square" anchor="ctr" lIns="0" rIns="0" tIns="0" bIns="0">
            <a:noAutofit/>
          </a:bodyPr>
          <a:lstStyle/>
          <a:p>
            <a:pPr algn="l"/>
            <a:r>
              <a:rPr sz="1050" b="1" i="0">
                <a:solidFill>
                  <a:srgbClr val="0E2356"/>
                </a:solidFill>
                <a:latin typeface="Outfit"/>
              </a:rPr>
              <a:t>4. Financier</a:t>
            </a:r>
          </a:p>
          <a:p>
            <a:pPr algn="l">
              <a:lnSpc>
                <a:spcPct val="110000"/>
              </a:lnSpc>
              <a:spcBef>
                <a:spcPts val="200"/>
              </a:spcBef>
            </a:pPr>
            <a:r>
              <a:rPr sz="800" b="0" i="0">
                <a:solidFill>
                  <a:srgbClr val="586586"/>
                </a:solidFill>
                <a:latin typeface="Outfit"/>
              </a:rPr>
              <a:t>Surdimensionnement, ressources non décommissionnées</a:t>
            </a:r>
          </a:p>
        </p:txBody>
      </p:sp>
      <p:sp>
        <p:nvSpPr>
          <p:cNvPr id="16" name="Rounded Rectangle 15"/>
          <p:cNvSpPr/>
          <p:nvPr/>
        </p:nvSpPr>
        <p:spPr>
          <a:xfrm>
            <a:off x="562356" y="3332988"/>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62356" y="3332988"/>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 y="3387852"/>
            <a:ext cx="3499866" cy="651510"/>
          </a:xfrm>
          <a:prstGeom prst="rect">
            <a:avLst/>
          </a:prstGeom>
          <a:noFill/>
        </p:spPr>
        <p:txBody>
          <a:bodyPr wrap="square" anchor="ctr" lIns="0" rIns="0" tIns="0" bIns="0">
            <a:noAutofit/>
          </a:bodyPr>
          <a:lstStyle/>
          <a:p>
            <a:pPr algn="l"/>
            <a:r>
              <a:rPr sz="1050" b="1" i="0">
                <a:solidFill>
                  <a:srgbClr val="0E2356"/>
                </a:solidFill>
                <a:latin typeface="Outfit"/>
              </a:rPr>
              <a:t>5. Cognitif</a:t>
            </a:r>
          </a:p>
          <a:p>
            <a:pPr algn="l">
              <a:lnSpc>
                <a:spcPct val="110000"/>
              </a:lnSpc>
              <a:spcBef>
                <a:spcPts val="200"/>
              </a:spcBef>
            </a:pPr>
            <a:r>
              <a:rPr sz="800" b="0" i="0">
                <a:solidFill>
                  <a:srgbClr val="586586"/>
                </a:solidFill>
                <a:latin typeface="Outfit"/>
              </a:rPr>
              <a:t>Trop d'outils, procédures complexes</a:t>
            </a:r>
          </a:p>
        </p:txBody>
      </p:sp>
      <p:sp>
        <p:nvSpPr>
          <p:cNvPr id="19" name="Rounded Rectangle 18"/>
          <p:cNvSpPr/>
          <p:nvPr/>
        </p:nvSpPr>
        <p:spPr>
          <a:xfrm>
            <a:off x="4555998" y="3332988"/>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555998" y="3332988"/>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38878" y="3387852"/>
            <a:ext cx="3499866" cy="651510"/>
          </a:xfrm>
          <a:prstGeom prst="rect">
            <a:avLst/>
          </a:prstGeom>
          <a:noFill/>
        </p:spPr>
        <p:txBody>
          <a:bodyPr wrap="square" anchor="ctr" lIns="0" rIns="0" tIns="0" bIns="0">
            <a:noAutofit/>
          </a:bodyPr>
          <a:lstStyle/>
          <a:p>
            <a:pPr algn="l"/>
            <a:r>
              <a:rPr sz="1050" b="1" i="0">
                <a:solidFill>
                  <a:srgbClr val="0E2356"/>
                </a:solidFill>
                <a:latin typeface="Outfit"/>
              </a:rPr>
              <a:t>6. Décisionnel</a:t>
            </a:r>
          </a:p>
          <a:p>
            <a:pPr algn="l">
              <a:lnSpc>
                <a:spcPct val="110000"/>
              </a:lnSpc>
              <a:spcBef>
                <a:spcPts val="200"/>
              </a:spcBef>
            </a:pPr>
            <a:r>
              <a:rPr sz="800" b="0" i="0">
                <a:solidFill>
                  <a:srgbClr val="586586"/>
                </a:solidFill>
                <a:latin typeface="Outfit"/>
              </a:rPr>
              <a:t>Arbitrages subjectifs, priorisation opaque</a:t>
            </a:r>
          </a:p>
        </p:txBody>
      </p:sp>
      <p:sp>
        <p:nvSpPr>
          <p:cNvPr id="22" name="Rounded Rectangle 21"/>
          <p:cNvSpPr/>
          <p:nvPr/>
        </p:nvSpPr>
        <p:spPr>
          <a:xfrm>
            <a:off x="562356" y="4222242"/>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62356" y="4222242"/>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 y="4277105"/>
            <a:ext cx="3499866" cy="651510"/>
          </a:xfrm>
          <a:prstGeom prst="rect">
            <a:avLst/>
          </a:prstGeom>
          <a:noFill/>
        </p:spPr>
        <p:txBody>
          <a:bodyPr wrap="square" anchor="ctr" lIns="0" rIns="0" tIns="0" bIns="0">
            <a:noAutofit/>
          </a:bodyPr>
          <a:lstStyle/>
          <a:p>
            <a:pPr algn="l"/>
            <a:r>
              <a:rPr sz="1050" b="1" i="0">
                <a:solidFill>
                  <a:srgbClr val="0E2356"/>
                </a:solidFill>
                <a:latin typeface="Outfit"/>
              </a:rPr>
              <a:t>7. Environnemental</a:t>
            </a:r>
          </a:p>
          <a:p>
            <a:pPr algn="l">
              <a:lnSpc>
                <a:spcPct val="110000"/>
              </a:lnSpc>
              <a:spcBef>
                <a:spcPts val="200"/>
              </a:spcBef>
            </a:pPr>
            <a:r>
              <a:rPr sz="800" b="0" i="0">
                <a:solidFill>
                  <a:srgbClr val="586586"/>
                </a:solidFill>
                <a:latin typeface="Outfit"/>
              </a:rPr>
              <a:t>Ressources inutilisées, environnements non éteints</a:t>
            </a:r>
          </a:p>
        </p:txBody>
      </p:sp>
      <p:sp>
        <p:nvSpPr>
          <p:cNvPr id="25" name="Rounded Rectangle 24"/>
          <p:cNvSpPr/>
          <p:nvPr/>
        </p:nvSpPr>
        <p:spPr>
          <a:xfrm>
            <a:off x="4555998" y="4222242"/>
            <a:ext cx="3810762" cy="761238"/>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4555998" y="4222242"/>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38878" y="4277105"/>
            <a:ext cx="3499866" cy="651510"/>
          </a:xfrm>
          <a:prstGeom prst="rect">
            <a:avLst/>
          </a:prstGeom>
          <a:noFill/>
        </p:spPr>
        <p:txBody>
          <a:bodyPr wrap="square" anchor="ctr" lIns="0" rIns="0" tIns="0" bIns="0">
            <a:noAutofit/>
          </a:bodyPr>
          <a:lstStyle/>
          <a:p>
            <a:pPr algn="l"/>
            <a:r>
              <a:rPr sz="1050" b="1" i="0">
                <a:solidFill>
                  <a:srgbClr val="FFFFFF"/>
                </a:solidFill>
                <a:latin typeface="Outfit"/>
              </a:rPr>
              <a:t>8. IA</a:t>
            </a:r>
          </a:p>
          <a:p>
            <a:pPr algn="l">
              <a:lnSpc>
                <a:spcPct val="110000"/>
              </a:lnSpc>
              <a:spcBef>
                <a:spcPts val="200"/>
              </a:spcBef>
            </a:pPr>
            <a:r>
              <a:rPr sz="800" b="0" i="0">
                <a:solidFill>
                  <a:srgbClr val="C7CBE0"/>
                </a:solidFill>
                <a:latin typeface="Outfit"/>
              </a:rPr>
              <a:t>Cas d'usage gadget, automatisation sans garde-fous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Proposition</a:t>
            </a:r>
          </a:p>
          <a:p>
            <a:r>
              <a:rPr sz="1050" i="1">
                <a:solidFill>
                  <a:srgbClr val="586586"/>
                </a:solidFill>
                <a:latin typeface="Outfit"/>
              </a:rPr>
              <a:t>Traiter l'infra comme un produit : la thèse, la méthode scorée et l'organisation cible.</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06</a:t>
            </a:r>
          </a:p>
        </p:txBody>
      </p:sp>
      <p:pic>
        <p:nvPicPr>
          <p:cNvPr id="4" name="Picture 3" descr="dunes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PROPOSITION   ·   </a:t>
            </a:r>
            <a:r>
              <a:rPr b="1" sz="1200">
                <a:solidFill>
                  <a:srgbClr val="0E2356"/>
                </a:solidFill>
                <a:latin typeface="Outfit"/>
              </a:rPr>
              <a:t>Pourquoi « Infrastructure as a Product » — le socle de la proposition</a:t>
            </a:r>
          </a:p>
        </p:txBody>
      </p:sp>
      <p:sp>
        <p:nvSpPr>
          <p:cNvPr id="3" name="Rounded Rectangle 2"/>
          <p:cNvSpPr/>
          <p:nvPr/>
        </p:nvSpPr>
        <p:spPr>
          <a:xfrm>
            <a:off x="562356" y="1051560"/>
            <a:ext cx="7804404" cy="86868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2356" y="1051560"/>
            <a:ext cx="73152" cy="8686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36676" y="1051560"/>
            <a:ext cx="7347204" cy="868680"/>
          </a:xfrm>
          <a:prstGeom prst="rect">
            <a:avLst/>
          </a:prstGeom>
          <a:noFill/>
        </p:spPr>
        <p:txBody>
          <a:bodyPr wrap="square" anchor="ctr" lIns="0" rIns="0" tIns="0" bIns="0">
            <a:noAutofit/>
          </a:bodyPr>
          <a:lstStyle/>
          <a:p>
            <a:pPr algn="l">
              <a:lnSpc>
                <a:spcPct val="105000"/>
              </a:lnSpc>
            </a:pPr>
            <a:r>
              <a:rPr sz="1400" b="1" i="0">
                <a:solidFill>
                  <a:srgbClr val="0E2356"/>
                </a:solidFill>
                <a:latin typeface="Outfit"/>
              </a:rPr>
              <a:t>Traiter l'infrastructure comme un produit, pas comme un guichet de tickets.</a:t>
            </a:r>
          </a:p>
          <a:p>
            <a:pPr algn="l">
              <a:lnSpc>
                <a:spcPct val="115000"/>
              </a:lnSpc>
              <a:spcBef>
                <a:spcPts val="400"/>
              </a:spcBef>
            </a:pPr>
            <a:r>
              <a:rPr sz="900" b="0" i="0">
                <a:solidFill>
                  <a:srgbClr val="586586"/>
                </a:solidFill>
                <a:latin typeface="Outfit"/>
              </a:rPr>
              <a:t>Un produit a des utilisateurs, un cycle de vie et une valeur mesurée — trois bascules qui répondent directement aux personas et à leurs douleurs.</a:t>
            </a:r>
          </a:p>
        </p:txBody>
      </p:sp>
      <p:sp>
        <p:nvSpPr>
          <p:cNvPr id="6" name="Rounded Rectangle 5"/>
          <p:cNvSpPr/>
          <p:nvPr/>
        </p:nvSpPr>
        <p:spPr>
          <a:xfrm>
            <a:off x="562356" y="2468879"/>
            <a:ext cx="7804404" cy="2514600"/>
          </a:xfrm>
          <a:prstGeom prst="roundRect">
            <a:avLst>
              <a:gd name="adj" fmla="val 5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716786" y="2066543"/>
            <a:ext cx="292608"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2356" y="2066543"/>
            <a:ext cx="2601468" cy="292608"/>
          </a:xfrm>
          <a:prstGeom prst="rect">
            <a:avLst/>
          </a:prstGeom>
          <a:noFill/>
        </p:spPr>
        <p:txBody>
          <a:bodyPr wrap="square" anchor="ctr" lIns="0" rIns="0" tIns="0" bIns="0">
            <a:noAutofit/>
          </a:bodyPr>
          <a:lstStyle/>
          <a:p>
            <a:pPr algn="ctr"/>
            <a:r>
              <a:rPr sz="1000" b="1" i="0">
                <a:solidFill>
                  <a:srgbClr val="FFFFFF"/>
                </a:solidFill>
                <a:latin typeface="Outfit"/>
              </a:rPr>
              <a:t>1</a:t>
            </a:r>
          </a:p>
        </p:txBody>
      </p:sp>
      <p:sp>
        <p:nvSpPr>
          <p:cNvPr id="9" name="Rectangle 8"/>
          <p:cNvSpPr/>
          <p:nvPr/>
        </p:nvSpPr>
        <p:spPr>
          <a:xfrm>
            <a:off x="1853031" y="2359151"/>
            <a:ext cx="20116" cy="109728"/>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1812" y="2907220"/>
            <a:ext cx="2162556" cy="310896"/>
          </a:xfrm>
          <a:prstGeom prst="rect">
            <a:avLst/>
          </a:prstGeom>
          <a:noFill/>
        </p:spPr>
        <p:txBody>
          <a:bodyPr wrap="square" anchor="t" lIns="0" rIns="0" tIns="0" bIns="0">
            <a:noAutofit/>
          </a:bodyPr>
          <a:lstStyle/>
          <a:p>
            <a:pPr algn="l">
              <a:lnSpc>
                <a:spcPct val="110000"/>
              </a:lnSpc>
            </a:pPr>
            <a:r>
              <a:rPr sz="1050" b="1" i="0">
                <a:solidFill>
                  <a:srgbClr val="0E2356"/>
                </a:solidFill>
                <a:latin typeface="Outfit"/>
              </a:rPr>
              <a:t>Des utilisateurs, pas des tickets</a:t>
            </a:r>
          </a:p>
        </p:txBody>
      </p:sp>
      <p:sp>
        <p:nvSpPr>
          <p:cNvPr id="11" name="TextBox 10"/>
          <p:cNvSpPr txBox="1"/>
          <p:nvPr/>
        </p:nvSpPr>
        <p:spPr>
          <a:xfrm>
            <a:off x="781812" y="3263836"/>
            <a:ext cx="2162556" cy="75095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On conçoit l'adoption — self-service, onboarding, parcours — au lieu de subir un guichet que le contournement rend inutile.</a:t>
            </a:r>
          </a:p>
        </p:txBody>
      </p:sp>
      <p:sp>
        <p:nvSpPr>
          <p:cNvPr id="12" name="TextBox 11"/>
          <p:cNvSpPr txBox="1"/>
          <p:nvPr/>
        </p:nvSpPr>
        <p:spPr>
          <a:xfrm>
            <a:off x="781812" y="4161091"/>
            <a:ext cx="2162556" cy="128016"/>
          </a:xfrm>
          <a:prstGeom prst="rect">
            <a:avLst/>
          </a:prstGeom>
          <a:noFill/>
        </p:spPr>
        <p:txBody>
          <a:bodyPr wrap="square" anchor="t" lIns="0" rIns="0" tIns="0" bIns="0">
            <a:noAutofit/>
          </a:bodyPr>
          <a:lstStyle/>
          <a:p>
            <a:pPr algn="l"/>
            <a:r>
              <a:rPr sz="650" b="1" i="0">
                <a:solidFill>
                  <a:srgbClr val="586586"/>
                </a:solidFill>
                <a:latin typeface="Outfit"/>
              </a:rPr>
              <a:t>RÉPOND À</a:t>
            </a:r>
          </a:p>
        </p:txBody>
      </p:sp>
      <p:sp>
        <p:nvSpPr>
          <p:cNvPr id="13" name="Rounded Rectangle 12"/>
          <p:cNvSpPr/>
          <p:nvPr/>
        </p:nvSpPr>
        <p:spPr>
          <a:xfrm>
            <a:off x="781812" y="4307395"/>
            <a:ext cx="2162556"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1812" y="4307395"/>
            <a:ext cx="2162556" cy="237744"/>
          </a:xfrm>
          <a:prstGeom prst="rect">
            <a:avLst/>
          </a:prstGeom>
          <a:noFill/>
        </p:spPr>
        <p:txBody>
          <a:bodyPr wrap="square" anchor="ctr" lIns="0" rIns="0" tIns="0" bIns="0">
            <a:noAutofit/>
          </a:bodyPr>
          <a:lstStyle/>
          <a:p>
            <a:pPr algn="ctr"/>
            <a:r>
              <a:rPr sz="800" b="1" i="0">
                <a:solidFill>
                  <a:srgbClr val="FFFFFF"/>
                </a:solidFill>
                <a:latin typeface="Outfit"/>
              </a:rPr>
              <a:t>l'Utilisateur applicatif</a:t>
            </a:r>
          </a:p>
        </p:txBody>
      </p:sp>
      <p:sp>
        <p:nvSpPr>
          <p:cNvPr id="15" name="Rounded Rectangle 14"/>
          <p:cNvSpPr/>
          <p:nvPr/>
        </p:nvSpPr>
        <p:spPr>
          <a:xfrm>
            <a:off x="4318254" y="2066543"/>
            <a:ext cx="292608"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63824" y="2066543"/>
            <a:ext cx="2601468" cy="292608"/>
          </a:xfrm>
          <a:prstGeom prst="rect">
            <a:avLst/>
          </a:prstGeom>
          <a:noFill/>
        </p:spPr>
        <p:txBody>
          <a:bodyPr wrap="square" anchor="ctr" lIns="0" rIns="0" tIns="0" bIns="0">
            <a:noAutofit/>
          </a:bodyPr>
          <a:lstStyle/>
          <a:p>
            <a:pPr algn="ctr"/>
            <a:r>
              <a:rPr sz="1000" b="1" i="0">
                <a:solidFill>
                  <a:srgbClr val="FFFFFF"/>
                </a:solidFill>
                <a:latin typeface="Outfit"/>
              </a:rPr>
              <a:t>2</a:t>
            </a:r>
          </a:p>
        </p:txBody>
      </p:sp>
      <p:sp>
        <p:nvSpPr>
          <p:cNvPr id="17" name="Rectangle 16"/>
          <p:cNvSpPr/>
          <p:nvPr/>
        </p:nvSpPr>
        <p:spPr>
          <a:xfrm>
            <a:off x="4454499" y="2359151"/>
            <a:ext cx="20116" cy="109728"/>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163824" y="2615184"/>
            <a:ext cx="10972" cy="222199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83280" y="2907220"/>
            <a:ext cx="2162556" cy="310896"/>
          </a:xfrm>
          <a:prstGeom prst="rect">
            <a:avLst/>
          </a:prstGeom>
          <a:noFill/>
        </p:spPr>
        <p:txBody>
          <a:bodyPr wrap="square" anchor="t" lIns="0" rIns="0" tIns="0" bIns="0">
            <a:noAutofit/>
          </a:bodyPr>
          <a:lstStyle/>
          <a:p>
            <a:pPr algn="l">
              <a:lnSpc>
                <a:spcPct val="110000"/>
              </a:lnSpc>
            </a:pPr>
            <a:r>
              <a:rPr sz="1050" b="1" i="0">
                <a:solidFill>
                  <a:srgbClr val="0E2356"/>
                </a:solidFill>
                <a:latin typeface="Outfit"/>
              </a:rPr>
              <a:t>Un cycle de vie, une équipe qui en répond</a:t>
            </a:r>
          </a:p>
        </p:txBody>
      </p:sp>
      <p:sp>
        <p:nvSpPr>
          <p:cNvPr id="20" name="TextBox 19"/>
          <p:cNvSpPr txBox="1"/>
          <p:nvPr/>
        </p:nvSpPr>
        <p:spPr>
          <a:xfrm>
            <a:off x="3383280" y="3263836"/>
            <a:ext cx="2162556" cy="75095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Le produit a un propriétaire, une roadmap et une dette gérée : on sort du RUN subi et on récupère de la capacité.</a:t>
            </a:r>
          </a:p>
        </p:txBody>
      </p:sp>
      <p:sp>
        <p:nvSpPr>
          <p:cNvPr id="21" name="TextBox 20"/>
          <p:cNvSpPr txBox="1"/>
          <p:nvPr/>
        </p:nvSpPr>
        <p:spPr>
          <a:xfrm>
            <a:off x="3383280" y="4161091"/>
            <a:ext cx="2162556" cy="128016"/>
          </a:xfrm>
          <a:prstGeom prst="rect">
            <a:avLst/>
          </a:prstGeom>
          <a:noFill/>
        </p:spPr>
        <p:txBody>
          <a:bodyPr wrap="square" anchor="t" lIns="0" rIns="0" tIns="0" bIns="0">
            <a:noAutofit/>
          </a:bodyPr>
          <a:lstStyle/>
          <a:p>
            <a:pPr algn="l"/>
            <a:r>
              <a:rPr sz="650" b="1" i="0">
                <a:solidFill>
                  <a:srgbClr val="586586"/>
                </a:solidFill>
                <a:latin typeface="Outfit"/>
              </a:rPr>
              <a:t>RÉPOND À</a:t>
            </a:r>
          </a:p>
        </p:txBody>
      </p:sp>
      <p:sp>
        <p:nvSpPr>
          <p:cNvPr id="22" name="Rounded Rectangle 21"/>
          <p:cNvSpPr/>
          <p:nvPr/>
        </p:nvSpPr>
        <p:spPr>
          <a:xfrm>
            <a:off x="3383280" y="4307395"/>
            <a:ext cx="2162556"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83280" y="4307395"/>
            <a:ext cx="2162556" cy="237744"/>
          </a:xfrm>
          <a:prstGeom prst="rect">
            <a:avLst/>
          </a:prstGeom>
          <a:noFill/>
        </p:spPr>
        <p:txBody>
          <a:bodyPr wrap="square" anchor="ctr" lIns="0" rIns="0" tIns="0" bIns="0">
            <a:noAutofit/>
          </a:bodyPr>
          <a:lstStyle/>
          <a:p>
            <a:pPr algn="ctr"/>
            <a:r>
              <a:rPr sz="800" b="1" i="0">
                <a:solidFill>
                  <a:srgbClr val="FFFFFF"/>
                </a:solidFill>
                <a:latin typeface="Outfit"/>
              </a:rPr>
              <a:t>Infra &amp; RUN</a:t>
            </a:r>
          </a:p>
        </p:txBody>
      </p:sp>
      <p:sp>
        <p:nvSpPr>
          <p:cNvPr id="24" name="Rounded Rectangle 23"/>
          <p:cNvSpPr/>
          <p:nvPr/>
        </p:nvSpPr>
        <p:spPr>
          <a:xfrm>
            <a:off x="6919722" y="2066543"/>
            <a:ext cx="292608"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765292" y="2066543"/>
            <a:ext cx="2601468" cy="292608"/>
          </a:xfrm>
          <a:prstGeom prst="rect">
            <a:avLst/>
          </a:prstGeom>
          <a:noFill/>
        </p:spPr>
        <p:txBody>
          <a:bodyPr wrap="square" anchor="ctr" lIns="0" rIns="0" tIns="0" bIns="0">
            <a:noAutofit/>
          </a:bodyPr>
          <a:lstStyle/>
          <a:p>
            <a:pPr algn="ctr"/>
            <a:r>
              <a:rPr sz="1000" b="1" i="0">
                <a:solidFill>
                  <a:srgbClr val="FFFFFF"/>
                </a:solidFill>
                <a:latin typeface="Outfit"/>
              </a:rPr>
              <a:t>3</a:t>
            </a:r>
          </a:p>
        </p:txBody>
      </p:sp>
      <p:sp>
        <p:nvSpPr>
          <p:cNvPr id="26" name="Rectangle 25"/>
          <p:cNvSpPr/>
          <p:nvPr/>
        </p:nvSpPr>
        <p:spPr>
          <a:xfrm>
            <a:off x="7055967" y="2359151"/>
            <a:ext cx="20116" cy="109728"/>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765292" y="2615184"/>
            <a:ext cx="10972" cy="222199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84748" y="2907220"/>
            <a:ext cx="2162556" cy="310896"/>
          </a:xfrm>
          <a:prstGeom prst="rect">
            <a:avLst/>
          </a:prstGeom>
          <a:noFill/>
        </p:spPr>
        <p:txBody>
          <a:bodyPr wrap="square" anchor="t" lIns="0" rIns="0" tIns="0" bIns="0">
            <a:noAutofit/>
          </a:bodyPr>
          <a:lstStyle/>
          <a:p>
            <a:pPr algn="l">
              <a:lnSpc>
                <a:spcPct val="110000"/>
              </a:lnSpc>
            </a:pPr>
            <a:r>
              <a:rPr sz="1050" b="1" i="0">
                <a:solidFill>
                  <a:srgbClr val="0E2356"/>
                </a:solidFill>
                <a:latin typeface="Outfit"/>
              </a:rPr>
              <a:t>Un pilotage par la valeur</a:t>
            </a:r>
          </a:p>
        </p:txBody>
      </p:sp>
      <p:sp>
        <p:nvSpPr>
          <p:cNvPr id="29" name="TextBox 28"/>
          <p:cNvSpPr txBox="1"/>
          <p:nvPr/>
        </p:nvSpPr>
        <p:spPr>
          <a:xfrm>
            <a:off x="5984748" y="3263836"/>
            <a:ext cx="2162556" cy="75095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On mesure l'usage et la valeur produite, pas l'activité : un signal de flux fiable, des KPIs de mission — pas du reporting-miroir.</a:t>
            </a:r>
          </a:p>
        </p:txBody>
      </p:sp>
      <p:sp>
        <p:nvSpPr>
          <p:cNvPr id="30" name="TextBox 29"/>
          <p:cNvSpPr txBox="1"/>
          <p:nvPr/>
        </p:nvSpPr>
        <p:spPr>
          <a:xfrm>
            <a:off x="5984748" y="4161091"/>
            <a:ext cx="2162556" cy="128016"/>
          </a:xfrm>
          <a:prstGeom prst="rect">
            <a:avLst/>
          </a:prstGeom>
          <a:noFill/>
        </p:spPr>
        <p:txBody>
          <a:bodyPr wrap="square" anchor="t" lIns="0" rIns="0" tIns="0" bIns="0">
            <a:noAutofit/>
          </a:bodyPr>
          <a:lstStyle/>
          <a:p>
            <a:pPr algn="l"/>
            <a:r>
              <a:rPr sz="650" b="1" i="0">
                <a:solidFill>
                  <a:srgbClr val="586586"/>
                </a:solidFill>
                <a:latin typeface="Outfit"/>
              </a:rPr>
              <a:t>RÉPOND À</a:t>
            </a:r>
          </a:p>
        </p:txBody>
      </p:sp>
      <p:sp>
        <p:nvSpPr>
          <p:cNvPr id="31" name="Rounded Rectangle 30"/>
          <p:cNvSpPr/>
          <p:nvPr/>
        </p:nvSpPr>
        <p:spPr>
          <a:xfrm>
            <a:off x="5984748" y="4307395"/>
            <a:ext cx="2162556"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84748" y="4307395"/>
            <a:ext cx="2162556" cy="237744"/>
          </a:xfrm>
          <a:prstGeom prst="rect">
            <a:avLst/>
          </a:prstGeom>
          <a:noFill/>
        </p:spPr>
        <p:txBody>
          <a:bodyPr wrap="square" anchor="ctr" lIns="0" rIns="0" tIns="0" bIns="0">
            <a:noAutofit/>
          </a:bodyPr>
          <a:lstStyle/>
          <a:p>
            <a:pPr algn="ctr"/>
            <a:r>
              <a:rPr sz="800" b="1" i="0">
                <a:solidFill>
                  <a:srgbClr val="FFFFFF"/>
                </a:solidFill>
                <a:latin typeface="Outfit"/>
              </a:rPr>
              <a:t>Management &amp; Sponsor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PROPOSITION   ·   </a:t>
            </a:r>
            <a:r>
              <a:rPr b="1" sz="1250">
                <a:solidFill>
                  <a:srgbClr val="0E2356"/>
                </a:solidFill>
                <a:latin typeface="Outfit"/>
              </a:rPr>
              <a:t>Du gaspillage au backlog priorisé : chaîne de traitement + score</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Chaque famille de gaspillage (chapitre précédent) passe par la même chaîne de traitement, puis reçoit un score explicite qui la classe dans un backlog priorisé — jamais un tri à l'intuition.</a:t>
            </a:r>
          </a:p>
        </p:txBody>
      </p:sp>
      <p:sp>
        <p:nvSpPr>
          <p:cNvPr id="4" name="TextBox 3"/>
          <p:cNvSpPr txBox="1"/>
          <p:nvPr/>
        </p:nvSpPr>
        <p:spPr>
          <a:xfrm>
            <a:off x="562356" y="1645919"/>
            <a:ext cx="7804404" cy="219456"/>
          </a:xfrm>
          <a:prstGeom prst="rect">
            <a:avLst/>
          </a:prstGeom>
          <a:noFill/>
        </p:spPr>
        <p:txBody>
          <a:bodyPr wrap="square" anchor="t" lIns="0" rIns="0" tIns="0" bIns="0">
            <a:noAutofit/>
          </a:bodyPr>
          <a:lstStyle/>
          <a:p>
            <a:pPr algn="l"/>
            <a:r>
              <a:rPr sz="800" b="1" i="0">
                <a:solidFill>
                  <a:srgbClr val="586586"/>
                </a:solidFill>
                <a:latin typeface="Outfit"/>
              </a:rPr>
              <a:t>CHAÎNE DE TRAITEMENT — de la détection à la prévention</a:t>
            </a:r>
          </a:p>
        </p:txBody>
      </p:sp>
      <p:sp>
        <p:nvSpPr>
          <p:cNvPr id="5" name="Rectangle 4"/>
          <p:cNvSpPr/>
          <p:nvPr/>
        </p:nvSpPr>
        <p:spPr>
          <a:xfrm>
            <a:off x="1271847" y="2093976"/>
            <a:ext cx="5675930" cy="182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125543"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25543"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1</a:t>
            </a:r>
          </a:p>
        </p:txBody>
      </p:sp>
      <p:sp>
        <p:nvSpPr>
          <p:cNvPr id="8" name="TextBox 7"/>
          <p:cNvSpPr txBox="1"/>
          <p:nvPr/>
        </p:nvSpPr>
        <p:spPr>
          <a:xfrm>
            <a:off x="562356"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Détecter</a:t>
            </a:r>
          </a:p>
        </p:txBody>
      </p:sp>
      <p:sp>
        <p:nvSpPr>
          <p:cNvPr id="9" name="Rounded Rectangle 8"/>
          <p:cNvSpPr/>
          <p:nvPr/>
        </p:nvSpPr>
        <p:spPr>
          <a:xfrm>
            <a:off x="2544525"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44525"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2</a:t>
            </a:r>
          </a:p>
        </p:txBody>
      </p:sp>
      <p:sp>
        <p:nvSpPr>
          <p:cNvPr id="11" name="TextBox 10"/>
          <p:cNvSpPr txBox="1"/>
          <p:nvPr/>
        </p:nvSpPr>
        <p:spPr>
          <a:xfrm>
            <a:off x="1981338"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Qualifier</a:t>
            </a:r>
          </a:p>
        </p:txBody>
      </p:sp>
      <p:sp>
        <p:nvSpPr>
          <p:cNvPr id="12" name="Rounded Rectangle 11"/>
          <p:cNvSpPr/>
          <p:nvPr/>
        </p:nvSpPr>
        <p:spPr>
          <a:xfrm>
            <a:off x="3963508"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963508"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3</a:t>
            </a:r>
          </a:p>
        </p:txBody>
      </p:sp>
      <p:sp>
        <p:nvSpPr>
          <p:cNvPr id="14" name="TextBox 13"/>
          <p:cNvSpPr txBox="1"/>
          <p:nvPr/>
        </p:nvSpPr>
        <p:spPr>
          <a:xfrm>
            <a:off x="3400321"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Quantifier</a:t>
            </a:r>
          </a:p>
        </p:txBody>
      </p:sp>
      <p:sp>
        <p:nvSpPr>
          <p:cNvPr id="15" name="Rounded Rectangle 14"/>
          <p:cNvSpPr/>
          <p:nvPr/>
        </p:nvSpPr>
        <p:spPr>
          <a:xfrm>
            <a:off x="5382490"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82490"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4</a:t>
            </a:r>
          </a:p>
        </p:txBody>
      </p:sp>
      <p:sp>
        <p:nvSpPr>
          <p:cNvPr id="17" name="TextBox 16"/>
          <p:cNvSpPr txBox="1"/>
          <p:nvPr/>
        </p:nvSpPr>
        <p:spPr>
          <a:xfrm>
            <a:off x="4819303"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Cause racine</a:t>
            </a:r>
          </a:p>
        </p:txBody>
      </p:sp>
      <p:sp>
        <p:nvSpPr>
          <p:cNvPr id="18" name="Rounded Rectangle 17"/>
          <p:cNvSpPr/>
          <p:nvPr/>
        </p:nvSpPr>
        <p:spPr>
          <a:xfrm>
            <a:off x="6801473"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1473"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5</a:t>
            </a:r>
          </a:p>
        </p:txBody>
      </p:sp>
      <p:sp>
        <p:nvSpPr>
          <p:cNvPr id="20" name="TextBox 19"/>
          <p:cNvSpPr txBox="1"/>
          <p:nvPr/>
        </p:nvSpPr>
        <p:spPr>
          <a:xfrm>
            <a:off x="6238286"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Pattern</a:t>
            </a:r>
          </a:p>
        </p:txBody>
      </p:sp>
      <p:sp>
        <p:nvSpPr>
          <p:cNvPr id="21" name="Rectangle 20"/>
          <p:cNvSpPr/>
          <p:nvPr/>
        </p:nvSpPr>
        <p:spPr>
          <a:xfrm>
            <a:off x="1981338" y="2752344"/>
            <a:ext cx="5675930" cy="182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835034" y="2615183"/>
            <a:ext cx="292608"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35034" y="2615183"/>
            <a:ext cx="292608" cy="292608"/>
          </a:xfrm>
          <a:prstGeom prst="rect">
            <a:avLst/>
          </a:prstGeom>
          <a:noFill/>
        </p:spPr>
        <p:txBody>
          <a:bodyPr wrap="square" anchor="ctr" lIns="0" rIns="0" tIns="0" bIns="0">
            <a:noAutofit/>
          </a:bodyPr>
          <a:lstStyle/>
          <a:p>
            <a:pPr algn="ctr"/>
            <a:r>
              <a:rPr sz="800" b="1" i="0">
                <a:solidFill>
                  <a:srgbClr val="FFFFFF"/>
                </a:solidFill>
                <a:latin typeface="Outfit"/>
              </a:rPr>
              <a:t>6</a:t>
            </a:r>
          </a:p>
        </p:txBody>
      </p:sp>
      <p:sp>
        <p:nvSpPr>
          <p:cNvPr id="24" name="TextBox 23"/>
          <p:cNvSpPr txBox="1"/>
          <p:nvPr/>
        </p:nvSpPr>
        <p:spPr>
          <a:xfrm>
            <a:off x="1271847"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Prioriser</a:t>
            </a:r>
          </a:p>
        </p:txBody>
      </p:sp>
      <p:sp>
        <p:nvSpPr>
          <p:cNvPr id="25" name="Rounded Rectangle 24"/>
          <p:cNvSpPr/>
          <p:nvPr/>
        </p:nvSpPr>
        <p:spPr>
          <a:xfrm>
            <a:off x="3254017" y="2615183"/>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54017" y="2615183"/>
            <a:ext cx="292608" cy="292608"/>
          </a:xfrm>
          <a:prstGeom prst="rect">
            <a:avLst/>
          </a:prstGeom>
          <a:noFill/>
        </p:spPr>
        <p:txBody>
          <a:bodyPr wrap="square" anchor="ctr" lIns="0" rIns="0" tIns="0" bIns="0">
            <a:noAutofit/>
          </a:bodyPr>
          <a:lstStyle/>
          <a:p>
            <a:pPr algn="ctr"/>
            <a:r>
              <a:rPr sz="800" b="1" i="0">
                <a:solidFill>
                  <a:srgbClr val="0E2356"/>
                </a:solidFill>
                <a:latin typeface="Outfit"/>
              </a:rPr>
              <a:t>7</a:t>
            </a:r>
          </a:p>
        </p:txBody>
      </p:sp>
      <p:sp>
        <p:nvSpPr>
          <p:cNvPr id="27" name="TextBox 26"/>
          <p:cNvSpPr txBox="1"/>
          <p:nvPr/>
        </p:nvSpPr>
        <p:spPr>
          <a:xfrm>
            <a:off x="2690829"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Expérimenter</a:t>
            </a:r>
          </a:p>
        </p:txBody>
      </p:sp>
      <p:sp>
        <p:nvSpPr>
          <p:cNvPr id="28" name="Rounded Rectangle 27"/>
          <p:cNvSpPr/>
          <p:nvPr/>
        </p:nvSpPr>
        <p:spPr>
          <a:xfrm>
            <a:off x="4672999" y="2615183"/>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72999" y="2615183"/>
            <a:ext cx="292608" cy="292608"/>
          </a:xfrm>
          <a:prstGeom prst="rect">
            <a:avLst/>
          </a:prstGeom>
          <a:noFill/>
        </p:spPr>
        <p:txBody>
          <a:bodyPr wrap="square" anchor="ctr" lIns="0" rIns="0" tIns="0" bIns="0">
            <a:noAutofit/>
          </a:bodyPr>
          <a:lstStyle/>
          <a:p>
            <a:pPr algn="ctr"/>
            <a:r>
              <a:rPr sz="800" b="1" i="0">
                <a:solidFill>
                  <a:srgbClr val="0E2356"/>
                </a:solidFill>
                <a:latin typeface="Outfit"/>
              </a:rPr>
              <a:t>8</a:t>
            </a:r>
          </a:p>
        </p:txBody>
      </p:sp>
      <p:sp>
        <p:nvSpPr>
          <p:cNvPr id="30" name="TextBox 29"/>
          <p:cNvSpPr txBox="1"/>
          <p:nvPr/>
        </p:nvSpPr>
        <p:spPr>
          <a:xfrm>
            <a:off x="4109812"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Mesurer</a:t>
            </a:r>
          </a:p>
        </p:txBody>
      </p:sp>
      <p:sp>
        <p:nvSpPr>
          <p:cNvPr id="31" name="Rounded Rectangle 30"/>
          <p:cNvSpPr/>
          <p:nvPr/>
        </p:nvSpPr>
        <p:spPr>
          <a:xfrm>
            <a:off x="6091982" y="2615183"/>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91982" y="2615183"/>
            <a:ext cx="292608" cy="292608"/>
          </a:xfrm>
          <a:prstGeom prst="rect">
            <a:avLst/>
          </a:prstGeom>
          <a:noFill/>
        </p:spPr>
        <p:txBody>
          <a:bodyPr wrap="square" anchor="ctr" lIns="0" rIns="0" tIns="0" bIns="0">
            <a:noAutofit/>
          </a:bodyPr>
          <a:lstStyle/>
          <a:p>
            <a:pPr algn="ctr"/>
            <a:r>
              <a:rPr sz="800" b="1" i="0">
                <a:solidFill>
                  <a:srgbClr val="0E2356"/>
                </a:solidFill>
                <a:latin typeface="Outfit"/>
              </a:rPr>
              <a:t>9</a:t>
            </a:r>
          </a:p>
        </p:txBody>
      </p:sp>
      <p:sp>
        <p:nvSpPr>
          <p:cNvPr id="33" name="TextBox 32"/>
          <p:cNvSpPr txBox="1"/>
          <p:nvPr/>
        </p:nvSpPr>
        <p:spPr>
          <a:xfrm>
            <a:off x="5528794"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Industrialiser</a:t>
            </a:r>
          </a:p>
        </p:txBody>
      </p:sp>
      <p:sp>
        <p:nvSpPr>
          <p:cNvPr id="34" name="Rounded Rectangle 33"/>
          <p:cNvSpPr/>
          <p:nvPr/>
        </p:nvSpPr>
        <p:spPr>
          <a:xfrm>
            <a:off x="7510964" y="2615183"/>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510964" y="2615183"/>
            <a:ext cx="292608" cy="292608"/>
          </a:xfrm>
          <a:prstGeom prst="rect">
            <a:avLst/>
          </a:prstGeom>
          <a:noFill/>
        </p:spPr>
        <p:txBody>
          <a:bodyPr wrap="square" anchor="ctr" lIns="0" rIns="0" tIns="0" bIns="0">
            <a:noAutofit/>
          </a:bodyPr>
          <a:lstStyle/>
          <a:p>
            <a:pPr algn="ctr"/>
            <a:r>
              <a:rPr sz="800" b="1" i="0">
                <a:solidFill>
                  <a:srgbClr val="0E2356"/>
                </a:solidFill>
                <a:latin typeface="Outfit"/>
              </a:rPr>
              <a:t>10</a:t>
            </a:r>
          </a:p>
        </p:txBody>
      </p:sp>
      <p:sp>
        <p:nvSpPr>
          <p:cNvPr id="36" name="TextBox 35"/>
          <p:cNvSpPr txBox="1"/>
          <p:nvPr/>
        </p:nvSpPr>
        <p:spPr>
          <a:xfrm>
            <a:off x="6947777"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Prévenir</a:t>
            </a:r>
          </a:p>
        </p:txBody>
      </p:sp>
      <p:sp>
        <p:nvSpPr>
          <p:cNvPr id="37" name="Rounded Rectangle 36"/>
          <p:cNvSpPr/>
          <p:nvPr/>
        </p:nvSpPr>
        <p:spPr>
          <a:xfrm>
            <a:off x="562356" y="3456432"/>
            <a:ext cx="7804404" cy="1417320"/>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63524" y="3456432"/>
            <a:ext cx="3627882" cy="1417320"/>
          </a:xfrm>
          <a:prstGeom prst="rect">
            <a:avLst/>
          </a:prstGeom>
          <a:noFill/>
        </p:spPr>
        <p:txBody>
          <a:bodyPr wrap="square" anchor="ctr" lIns="0" rIns="0" tIns="0" bIns="0">
            <a:noAutofit/>
          </a:bodyPr>
          <a:lstStyle/>
          <a:p>
            <a:pPr algn="l">
              <a:lnSpc>
                <a:spcPct val="115000"/>
              </a:lnSpc>
            </a:pPr>
            <a:r>
              <a:rPr sz="1050" b="1" i="0">
                <a:solidFill>
                  <a:srgbClr val="FFFFFF"/>
                </a:solidFill>
                <a:latin typeface="Outfit"/>
              </a:rPr>
              <a:t>Priorité = (impact × faisabilité) − prudence IA</a:t>
            </a:r>
          </a:p>
          <a:p>
            <a:pPr algn="l">
              <a:lnSpc>
                <a:spcPct val="120000"/>
              </a:lnSpc>
              <a:spcBef>
                <a:spcPts val="400"/>
              </a:spcBef>
            </a:pPr>
            <a:r>
              <a:rPr sz="800" b="0" i="0">
                <a:solidFill>
                  <a:srgbClr val="C7CBE0"/>
                </a:solidFill>
                <a:latin typeface="Outfit"/>
              </a:rPr>
              <a:t>Support de discussion ORDINAL, pas une métrique calculée : à lire en paliers (fort / moyen / faible), jamais comme un nombre exact. Il rend la discussion explicite et classe les candidats — il ne remplace pas l'arbitrage humain.</a:t>
            </a:r>
          </a:p>
        </p:txBody>
      </p:sp>
      <p:sp>
        <p:nvSpPr>
          <p:cNvPr id="39" name="TextBox 38"/>
          <p:cNvSpPr txBox="1"/>
          <p:nvPr/>
        </p:nvSpPr>
        <p:spPr>
          <a:xfrm>
            <a:off x="4464558" y="3566160"/>
            <a:ext cx="3765041" cy="164592"/>
          </a:xfrm>
          <a:prstGeom prst="rect">
            <a:avLst/>
          </a:prstGeom>
          <a:noFill/>
        </p:spPr>
        <p:txBody>
          <a:bodyPr wrap="square" anchor="t" lIns="0" rIns="0" tIns="0" bIns="0">
            <a:noAutofit/>
          </a:bodyPr>
          <a:lstStyle/>
          <a:p>
            <a:pPr algn="l"/>
            <a:r>
              <a:rPr sz="700" b="1" i="0">
                <a:solidFill>
                  <a:srgbClr val="8891B3"/>
                </a:solidFill>
                <a:latin typeface="Outfit"/>
              </a:rPr>
              <a:t>SCORE ILLUSTRATIF · ORDINAL</a:t>
            </a:r>
          </a:p>
        </p:txBody>
      </p:sp>
      <p:sp>
        <p:nvSpPr>
          <p:cNvPr id="40" name="TextBox 39"/>
          <p:cNvSpPr txBox="1"/>
          <p:nvPr/>
        </p:nvSpPr>
        <p:spPr>
          <a:xfrm>
            <a:off x="4464558" y="3803904"/>
            <a:ext cx="1097280" cy="326136"/>
          </a:xfrm>
          <a:prstGeom prst="rect">
            <a:avLst/>
          </a:prstGeom>
          <a:noFill/>
        </p:spPr>
        <p:txBody>
          <a:bodyPr wrap="square" anchor="ctr" lIns="0" rIns="0" tIns="0" bIns="0">
            <a:noAutofit/>
          </a:bodyPr>
          <a:lstStyle/>
          <a:p>
            <a:pPr algn="l"/>
            <a:r>
              <a:rPr sz="700" b="0" i="0">
                <a:solidFill>
                  <a:srgbClr val="C7CBE0"/>
                </a:solidFill>
                <a:latin typeface="Outfit"/>
              </a:rPr>
              <a:t>Impact</a:t>
            </a:r>
          </a:p>
        </p:txBody>
      </p:sp>
      <p:sp>
        <p:nvSpPr>
          <p:cNvPr id="41" name="Rounded Rectangle 40"/>
          <p:cNvSpPr/>
          <p:nvPr/>
        </p:nvSpPr>
        <p:spPr>
          <a:xfrm>
            <a:off x="5607558" y="3902964"/>
            <a:ext cx="128016" cy="12801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5790438" y="3902964"/>
            <a:ext cx="128016" cy="12801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5973318" y="3902964"/>
            <a:ext cx="128016" cy="12801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156198" y="3902964"/>
            <a:ext cx="128016" cy="12801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6339078" y="3902964"/>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464558" y="4130040"/>
            <a:ext cx="1097280" cy="326136"/>
          </a:xfrm>
          <a:prstGeom prst="rect">
            <a:avLst/>
          </a:prstGeom>
          <a:noFill/>
        </p:spPr>
        <p:txBody>
          <a:bodyPr wrap="square" anchor="ctr" lIns="0" rIns="0" tIns="0" bIns="0">
            <a:noAutofit/>
          </a:bodyPr>
          <a:lstStyle/>
          <a:p>
            <a:pPr algn="l"/>
            <a:r>
              <a:rPr sz="700" b="0" i="0">
                <a:solidFill>
                  <a:srgbClr val="C7CBE0"/>
                </a:solidFill>
                <a:latin typeface="Outfit"/>
              </a:rPr>
              <a:t>Faisabilité</a:t>
            </a:r>
          </a:p>
        </p:txBody>
      </p:sp>
      <p:sp>
        <p:nvSpPr>
          <p:cNvPr id="47" name="Rounded Rectangle 46"/>
          <p:cNvSpPr/>
          <p:nvPr/>
        </p:nvSpPr>
        <p:spPr>
          <a:xfrm>
            <a:off x="5607558" y="4229100"/>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5790438" y="4229100"/>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5973318" y="4229100"/>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6156198" y="4229100"/>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6339078" y="4229100"/>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464558" y="4456176"/>
            <a:ext cx="1097280" cy="326136"/>
          </a:xfrm>
          <a:prstGeom prst="rect">
            <a:avLst/>
          </a:prstGeom>
          <a:noFill/>
        </p:spPr>
        <p:txBody>
          <a:bodyPr wrap="square" anchor="ctr" lIns="0" rIns="0" tIns="0" bIns="0">
            <a:noAutofit/>
          </a:bodyPr>
          <a:lstStyle/>
          <a:p>
            <a:pPr algn="l"/>
            <a:r>
              <a:rPr sz="700" b="0" i="0">
                <a:solidFill>
                  <a:srgbClr val="C7CBE0"/>
                </a:solidFill>
                <a:latin typeface="Outfit"/>
              </a:rPr>
              <a:t>Prudence IA</a:t>
            </a:r>
          </a:p>
        </p:txBody>
      </p:sp>
      <p:sp>
        <p:nvSpPr>
          <p:cNvPr id="53" name="Rounded Rectangle 52"/>
          <p:cNvSpPr/>
          <p:nvPr/>
        </p:nvSpPr>
        <p:spPr>
          <a:xfrm>
            <a:off x="5607558" y="4555236"/>
            <a:ext cx="128016" cy="128016"/>
          </a:xfrm>
          <a:prstGeom prst="roundRect">
            <a:avLst>
              <a:gd name="adj" fmla="val 50000"/>
            </a:avLst>
          </a:prstGeom>
          <a:solidFill>
            <a:srgbClr val="9FA7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5790438" y="4555236"/>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5973318" y="4555236"/>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6156198" y="4555236"/>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339078" y="4555236"/>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PROPOSITION   ·   </a:t>
            </a:r>
            <a:r>
              <a:rPr b="1" sz="1200">
                <a:solidFill>
                  <a:srgbClr val="0E2356"/>
                </a:solidFill>
                <a:latin typeface="Outfit"/>
              </a:rPr>
              <a:t>Un gaspillage partagé se traite à deux — sinon il retourne à personne</a:t>
            </a:r>
          </a:p>
        </p:txBody>
      </p:sp>
      <p:sp>
        <p:nvSpPr>
          <p:cNvPr id="3" name="TextBox 2"/>
          <p:cNvSpPr txBox="1"/>
          <p:nvPr/>
        </p:nvSpPr>
        <p:spPr>
          <a:xfrm>
            <a:off x="562356" y="1033271"/>
            <a:ext cx="7804404" cy="369950"/>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Cette chaîne se joue AVEC le client, moment par moment. Sans décision partagée, une économie qui ne pèse sur aucun budget d'équipe ne trouve pas de porteur.</a:t>
            </a:r>
          </a:p>
        </p:txBody>
      </p:sp>
      <p:sp>
        <p:nvSpPr>
          <p:cNvPr id="4" name="Rounded Rectangle 3"/>
          <p:cNvSpPr/>
          <p:nvPr/>
        </p:nvSpPr>
        <p:spPr>
          <a:xfrm>
            <a:off x="562356" y="1458087"/>
            <a:ext cx="2491740"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458087"/>
            <a:ext cx="2491740" cy="310896"/>
          </a:xfrm>
          <a:prstGeom prst="rect">
            <a:avLst/>
          </a:prstGeom>
          <a:noFill/>
        </p:spPr>
        <p:txBody>
          <a:bodyPr wrap="square" anchor="ctr" lIns="0" rIns="0" tIns="0" bIns="0">
            <a:noAutofit/>
          </a:bodyPr>
          <a:lstStyle/>
          <a:p>
            <a:pPr algn="ctr"/>
            <a:r>
              <a:rPr sz="950" b="1" i="0">
                <a:solidFill>
                  <a:srgbClr val="FFFFFF"/>
                </a:solidFill>
                <a:latin typeface="Outfit"/>
              </a:rPr>
              <a:t>1.  Objectiver ensemble</a:t>
            </a:r>
          </a:p>
        </p:txBody>
      </p:sp>
      <p:sp>
        <p:nvSpPr>
          <p:cNvPr id="6" name="TextBox 5"/>
          <p:cNvSpPr txBox="1"/>
          <p:nvPr/>
        </p:nvSpPr>
        <p:spPr>
          <a:xfrm>
            <a:off x="562356" y="1814703"/>
            <a:ext cx="2491740" cy="146304"/>
          </a:xfrm>
          <a:prstGeom prst="rect">
            <a:avLst/>
          </a:prstGeom>
          <a:noFill/>
        </p:spPr>
        <p:txBody>
          <a:bodyPr wrap="square" anchor="t" lIns="0" rIns="0" tIns="0" bIns="0">
            <a:noAutofit/>
          </a:bodyPr>
          <a:lstStyle/>
          <a:p>
            <a:pPr algn="ctr"/>
            <a:r>
              <a:rPr sz="700" b="1" i="0">
                <a:solidFill>
                  <a:srgbClr val="586586"/>
                </a:solidFill>
                <a:latin typeface="Outfit"/>
              </a:rPr>
              <a:t>Détecter → Quantifier</a:t>
            </a:r>
          </a:p>
        </p:txBody>
      </p:sp>
      <p:sp>
        <p:nvSpPr>
          <p:cNvPr id="7" name="Rounded Rectangle 6"/>
          <p:cNvSpPr/>
          <p:nvPr/>
        </p:nvSpPr>
        <p:spPr>
          <a:xfrm>
            <a:off x="562356" y="2015871"/>
            <a:ext cx="2491740" cy="217352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1228" y="2134743"/>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CLIENT</a:t>
            </a:r>
          </a:p>
        </p:txBody>
      </p:sp>
      <p:sp>
        <p:nvSpPr>
          <p:cNvPr id="9" name="TextBox 8"/>
          <p:cNvSpPr txBox="1"/>
          <p:nvPr/>
        </p:nvSpPr>
        <p:spPr>
          <a:xfrm>
            <a:off x="681228" y="2258187"/>
            <a:ext cx="2253996"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Ouvre ses données — CMDB, facturation, tickets — et nomme ce qui le gêne vraiment, au-delà de ce qui se mesure facilement.</a:t>
            </a:r>
          </a:p>
        </p:txBody>
      </p:sp>
      <p:sp>
        <p:nvSpPr>
          <p:cNvPr id="10" name="TextBox 9"/>
          <p:cNvSpPr txBox="1"/>
          <p:nvPr/>
        </p:nvSpPr>
        <p:spPr>
          <a:xfrm>
            <a:off x="681228" y="2866771"/>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OCTO</a:t>
            </a:r>
          </a:p>
        </p:txBody>
      </p:sp>
      <p:sp>
        <p:nvSpPr>
          <p:cNvPr id="11" name="TextBox 10"/>
          <p:cNvSpPr txBox="1"/>
          <p:nvPr/>
        </p:nvSpPr>
        <p:spPr>
          <a:xfrm>
            <a:off x="681228" y="2990215"/>
            <a:ext cx="2253996"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Apporte la grille des 8 familles et la méthode de quantification, sans présumer du résultat.</a:t>
            </a:r>
          </a:p>
        </p:txBody>
      </p:sp>
      <p:sp>
        <p:nvSpPr>
          <p:cNvPr id="12" name="Rounded Rectangle 11"/>
          <p:cNvSpPr/>
          <p:nvPr/>
        </p:nvSpPr>
        <p:spPr>
          <a:xfrm>
            <a:off x="626364" y="3490087"/>
            <a:ext cx="2363724" cy="580440"/>
          </a:xfrm>
          <a:prstGeom prst="roundRect">
            <a:avLst>
              <a:gd name="adj" fmla="val 7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90372" y="3549522"/>
            <a:ext cx="41148" cy="46156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8388" y="3573297"/>
            <a:ext cx="2107691" cy="123444"/>
          </a:xfrm>
          <a:prstGeom prst="rect">
            <a:avLst/>
          </a:prstGeom>
          <a:noFill/>
        </p:spPr>
        <p:txBody>
          <a:bodyPr wrap="square" anchor="t" lIns="0" rIns="0" tIns="0" bIns="0">
            <a:noAutofit/>
          </a:bodyPr>
          <a:lstStyle/>
          <a:p>
            <a:pPr algn="l"/>
            <a:r>
              <a:rPr sz="650" b="1" i="0">
                <a:solidFill>
                  <a:srgbClr val="0E2356"/>
                </a:solidFill>
                <a:latin typeface="Outfit"/>
              </a:rPr>
              <a:t>TRANCHÉ ENSEMBLE</a:t>
            </a:r>
          </a:p>
        </p:txBody>
      </p:sp>
      <p:sp>
        <p:nvSpPr>
          <p:cNvPr id="15" name="TextBox 14"/>
          <p:cNvSpPr txBox="1"/>
          <p:nvPr/>
        </p:nvSpPr>
        <p:spPr>
          <a:xfrm>
            <a:off x="818388" y="3696741"/>
            <a:ext cx="2107691" cy="290576"/>
          </a:xfrm>
          <a:prstGeom prst="rect">
            <a:avLst/>
          </a:prstGeom>
          <a:noFill/>
        </p:spPr>
        <p:txBody>
          <a:bodyPr wrap="square" anchor="t" lIns="0" rIns="0" tIns="0" bIns="0">
            <a:noAutofit/>
          </a:bodyPr>
          <a:lstStyle/>
          <a:p>
            <a:pPr algn="l">
              <a:lnSpc>
                <a:spcPct val="125000"/>
              </a:lnSpc>
            </a:pPr>
            <a:r>
              <a:rPr sz="800" b="1" i="0">
                <a:solidFill>
                  <a:srgbClr val="0E2356"/>
                </a:solidFill>
                <a:latin typeface="Outfit"/>
              </a:rPr>
              <a:t>Le périmètre mesuré, et ce qu'on accepte d'appeler gaspillage.</a:t>
            </a:r>
          </a:p>
        </p:txBody>
      </p:sp>
      <p:sp>
        <p:nvSpPr>
          <p:cNvPr id="16" name="Rounded Rectangle 15"/>
          <p:cNvSpPr/>
          <p:nvPr/>
        </p:nvSpPr>
        <p:spPr>
          <a:xfrm>
            <a:off x="3218688" y="1458087"/>
            <a:ext cx="2491740"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18688" y="1458087"/>
            <a:ext cx="2491740" cy="310896"/>
          </a:xfrm>
          <a:prstGeom prst="rect">
            <a:avLst/>
          </a:prstGeom>
          <a:noFill/>
        </p:spPr>
        <p:txBody>
          <a:bodyPr wrap="square" anchor="ctr" lIns="0" rIns="0" tIns="0" bIns="0">
            <a:noAutofit/>
          </a:bodyPr>
          <a:lstStyle/>
          <a:p>
            <a:pPr algn="ctr"/>
            <a:r>
              <a:rPr sz="950" b="1" i="0">
                <a:solidFill>
                  <a:srgbClr val="FFFFFF"/>
                </a:solidFill>
                <a:latin typeface="Outfit"/>
              </a:rPr>
              <a:t>2.  Décider ensemble</a:t>
            </a:r>
          </a:p>
        </p:txBody>
      </p:sp>
      <p:sp>
        <p:nvSpPr>
          <p:cNvPr id="18" name="TextBox 17"/>
          <p:cNvSpPr txBox="1"/>
          <p:nvPr/>
        </p:nvSpPr>
        <p:spPr>
          <a:xfrm>
            <a:off x="3218688" y="1814703"/>
            <a:ext cx="2491740" cy="146304"/>
          </a:xfrm>
          <a:prstGeom prst="rect">
            <a:avLst/>
          </a:prstGeom>
          <a:noFill/>
        </p:spPr>
        <p:txBody>
          <a:bodyPr wrap="square" anchor="t" lIns="0" rIns="0" tIns="0" bIns="0">
            <a:noAutofit/>
          </a:bodyPr>
          <a:lstStyle/>
          <a:p>
            <a:pPr algn="ctr"/>
            <a:r>
              <a:rPr sz="700" b="1" i="0">
                <a:solidFill>
                  <a:srgbClr val="586586"/>
                </a:solidFill>
                <a:latin typeface="Outfit"/>
              </a:rPr>
              <a:t>Cause racine → Prioriser</a:t>
            </a:r>
          </a:p>
        </p:txBody>
      </p:sp>
      <p:sp>
        <p:nvSpPr>
          <p:cNvPr id="19" name="Rounded Rectangle 18"/>
          <p:cNvSpPr/>
          <p:nvPr/>
        </p:nvSpPr>
        <p:spPr>
          <a:xfrm>
            <a:off x="3218688" y="2015871"/>
            <a:ext cx="2491740" cy="217352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37560" y="2134743"/>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CLIENT</a:t>
            </a:r>
          </a:p>
        </p:txBody>
      </p:sp>
      <p:sp>
        <p:nvSpPr>
          <p:cNvPr id="21" name="TextBox 20"/>
          <p:cNvSpPr txBox="1"/>
          <p:nvPr/>
        </p:nvSpPr>
        <p:spPr>
          <a:xfrm>
            <a:off x="3337560" y="2258187"/>
            <a:ext cx="2253996"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Arbitre entre ses équipes ce qu'aucune ne peut trancher seule : fermer un service, standardiser, décommissionner.</a:t>
            </a:r>
          </a:p>
        </p:txBody>
      </p:sp>
      <p:sp>
        <p:nvSpPr>
          <p:cNvPr id="22" name="TextBox 21"/>
          <p:cNvSpPr txBox="1"/>
          <p:nvPr/>
        </p:nvSpPr>
        <p:spPr>
          <a:xfrm>
            <a:off x="3337560" y="2866771"/>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OCTO</a:t>
            </a:r>
          </a:p>
        </p:txBody>
      </p:sp>
      <p:sp>
        <p:nvSpPr>
          <p:cNvPr id="23" name="TextBox 22"/>
          <p:cNvSpPr txBox="1"/>
          <p:nvPr/>
        </p:nvSpPr>
        <p:spPr>
          <a:xfrm>
            <a:off x="3337560" y="2990215"/>
            <a:ext cx="2253996"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Instruit les causes racines et propose le score — une proposition argumentée, jamais un verdict.</a:t>
            </a:r>
          </a:p>
        </p:txBody>
      </p:sp>
      <p:sp>
        <p:nvSpPr>
          <p:cNvPr id="24" name="Rounded Rectangle 23"/>
          <p:cNvSpPr/>
          <p:nvPr/>
        </p:nvSpPr>
        <p:spPr>
          <a:xfrm>
            <a:off x="3282696" y="3490087"/>
            <a:ext cx="2363724" cy="580440"/>
          </a:xfrm>
          <a:prstGeom prst="roundRect">
            <a:avLst>
              <a:gd name="adj" fmla="val 7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3346704" y="3549522"/>
            <a:ext cx="41148" cy="46156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474720" y="3573297"/>
            <a:ext cx="2107691" cy="123444"/>
          </a:xfrm>
          <a:prstGeom prst="rect">
            <a:avLst/>
          </a:prstGeom>
          <a:noFill/>
        </p:spPr>
        <p:txBody>
          <a:bodyPr wrap="square" anchor="t" lIns="0" rIns="0" tIns="0" bIns="0">
            <a:noAutofit/>
          </a:bodyPr>
          <a:lstStyle/>
          <a:p>
            <a:pPr algn="l"/>
            <a:r>
              <a:rPr sz="650" b="1" i="0">
                <a:solidFill>
                  <a:srgbClr val="0E2356"/>
                </a:solidFill>
                <a:latin typeface="Outfit"/>
              </a:rPr>
              <a:t>TRANCHÉ ENSEMBLE</a:t>
            </a:r>
          </a:p>
        </p:txBody>
      </p:sp>
      <p:sp>
        <p:nvSpPr>
          <p:cNvPr id="27" name="TextBox 26"/>
          <p:cNvSpPr txBox="1"/>
          <p:nvPr/>
        </p:nvSpPr>
        <p:spPr>
          <a:xfrm>
            <a:off x="3474720" y="3696741"/>
            <a:ext cx="2107691" cy="290576"/>
          </a:xfrm>
          <a:prstGeom prst="rect">
            <a:avLst/>
          </a:prstGeom>
          <a:noFill/>
        </p:spPr>
        <p:txBody>
          <a:bodyPr wrap="square" anchor="t" lIns="0" rIns="0" tIns="0" bIns="0">
            <a:noAutofit/>
          </a:bodyPr>
          <a:lstStyle/>
          <a:p>
            <a:pPr algn="l">
              <a:lnSpc>
                <a:spcPct val="125000"/>
              </a:lnSpc>
            </a:pPr>
            <a:r>
              <a:rPr sz="800" b="1" i="0">
                <a:solidFill>
                  <a:srgbClr val="0E2356"/>
                </a:solidFill>
                <a:latin typeface="Outfit"/>
              </a:rPr>
              <a:t>Le backlog priorisé et, pour chaque ligne, le porteur nommé.</a:t>
            </a:r>
          </a:p>
        </p:txBody>
      </p:sp>
      <p:sp>
        <p:nvSpPr>
          <p:cNvPr id="28" name="Rounded Rectangle 27"/>
          <p:cNvSpPr/>
          <p:nvPr/>
        </p:nvSpPr>
        <p:spPr>
          <a:xfrm>
            <a:off x="5875020" y="1458087"/>
            <a:ext cx="2491740"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75020" y="1458087"/>
            <a:ext cx="2491740" cy="310896"/>
          </a:xfrm>
          <a:prstGeom prst="rect">
            <a:avLst/>
          </a:prstGeom>
          <a:noFill/>
        </p:spPr>
        <p:txBody>
          <a:bodyPr wrap="square" anchor="ctr" lIns="0" rIns="0" tIns="0" bIns="0">
            <a:noAutofit/>
          </a:bodyPr>
          <a:lstStyle/>
          <a:p>
            <a:pPr algn="ctr"/>
            <a:r>
              <a:rPr sz="950" b="1" i="0">
                <a:solidFill>
                  <a:srgbClr val="FFFFFF"/>
                </a:solidFill>
                <a:latin typeface="Outfit"/>
              </a:rPr>
              <a:t>3.  Tenir dans la durée</a:t>
            </a:r>
          </a:p>
        </p:txBody>
      </p:sp>
      <p:sp>
        <p:nvSpPr>
          <p:cNvPr id="30" name="TextBox 29"/>
          <p:cNvSpPr txBox="1"/>
          <p:nvPr/>
        </p:nvSpPr>
        <p:spPr>
          <a:xfrm>
            <a:off x="5875020" y="1814703"/>
            <a:ext cx="2491740" cy="146304"/>
          </a:xfrm>
          <a:prstGeom prst="rect">
            <a:avLst/>
          </a:prstGeom>
          <a:noFill/>
        </p:spPr>
        <p:txBody>
          <a:bodyPr wrap="square" anchor="t" lIns="0" rIns="0" tIns="0" bIns="0">
            <a:noAutofit/>
          </a:bodyPr>
          <a:lstStyle/>
          <a:p>
            <a:pPr algn="ctr"/>
            <a:r>
              <a:rPr sz="700" b="1" i="0">
                <a:solidFill>
                  <a:srgbClr val="586586"/>
                </a:solidFill>
                <a:latin typeface="Outfit"/>
              </a:rPr>
              <a:t>Expérimenter → Prévenir</a:t>
            </a:r>
          </a:p>
        </p:txBody>
      </p:sp>
      <p:sp>
        <p:nvSpPr>
          <p:cNvPr id="31" name="Rounded Rectangle 30"/>
          <p:cNvSpPr/>
          <p:nvPr/>
        </p:nvSpPr>
        <p:spPr>
          <a:xfrm>
            <a:off x="5875020" y="2015871"/>
            <a:ext cx="2491740" cy="217352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93892" y="2134743"/>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CLIENT</a:t>
            </a:r>
          </a:p>
        </p:txBody>
      </p:sp>
      <p:sp>
        <p:nvSpPr>
          <p:cNvPr id="33" name="TextBox 32"/>
          <p:cNvSpPr txBox="1"/>
          <p:nvPr/>
        </p:nvSpPr>
        <p:spPr>
          <a:xfrm>
            <a:off x="5993892" y="2258187"/>
            <a:ext cx="2253996"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Porte les expérimentations dans ses équipes et libère le temps qu'elles demandent.</a:t>
            </a:r>
          </a:p>
        </p:txBody>
      </p:sp>
      <p:sp>
        <p:nvSpPr>
          <p:cNvPr id="34" name="TextBox 33"/>
          <p:cNvSpPr txBox="1"/>
          <p:nvPr/>
        </p:nvSpPr>
        <p:spPr>
          <a:xfrm>
            <a:off x="5993892" y="2866771"/>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OCTO</a:t>
            </a:r>
          </a:p>
        </p:txBody>
      </p:sp>
      <p:sp>
        <p:nvSpPr>
          <p:cNvPr id="35" name="TextBox 34"/>
          <p:cNvSpPr txBox="1"/>
          <p:nvPr/>
        </p:nvSpPr>
        <p:spPr>
          <a:xfrm>
            <a:off x="5993892" y="2990215"/>
            <a:ext cx="2253996"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Outille, mesure le delta réel et industrialise ce qui a marché.</a:t>
            </a:r>
          </a:p>
        </p:txBody>
      </p:sp>
      <p:sp>
        <p:nvSpPr>
          <p:cNvPr id="36" name="Rounded Rectangle 35"/>
          <p:cNvSpPr/>
          <p:nvPr/>
        </p:nvSpPr>
        <p:spPr>
          <a:xfrm>
            <a:off x="5939028" y="3490087"/>
            <a:ext cx="2363724" cy="580440"/>
          </a:xfrm>
          <a:prstGeom prst="roundRect">
            <a:avLst>
              <a:gd name="adj" fmla="val 7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003036" y="3549522"/>
            <a:ext cx="41148" cy="46156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31052" y="3573297"/>
            <a:ext cx="2107691" cy="123444"/>
          </a:xfrm>
          <a:prstGeom prst="rect">
            <a:avLst/>
          </a:prstGeom>
          <a:noFill/>
        </p:spPr>
        <p:txBody>
          <a:bodyPr wrap="square" anchor="t" lIns="0" rIns="0" tIns="0" bIns="0">
            <a:noAutofit/>
          </a:bodyPr>
          <a:lstStyle/>
          <a:p>
            <a:pPr algn="l"/>
            <a:r>
              <a:rPr sz="650" b="1" i="0">
                <a:solidFill>
                  <a:srgbClr val="0E2356"/>
                </a:solidFill>
                <a:latin typeface="Outfit"/>
              </a:rPr>
              <a:t>TRANCHÉ ENSEMBLE</a:t>
            </a:r>
          </a:p>
        </p:txBody>
      </p:sp>
      <p:sp>
        <p:nvSpPr>
          <p:cNvPr id="39" name="TextBox 38"/>
          <p:cNvSpPr txBox="1"/>
          <p:nvPr/>
        </p:nvSpPr>
        <p:spPr>
          <a:xfrm>
            <a:off x="6131052" y="3696741"/>
            <a:ext cx="2107691" cy="290576"/>
          </a:xfrm>
          <a:prstGeom prst="rect">
            <a:avLst/>
          </a:prstGeom>
          <a:noFill/>
        </p:spPr>
        <p:txBody>
          <a:bodyPr wrap="square" anchor="t" lIns="0" rIns="0" tIns="0" bIns="0">
            <a:noAutofit/>
          </a:bodyPr>
          <a:lstStyle/>
          <a:p>
            <a:pPr algn="l">
              <a:lnSpc>
                <a:spcPct val="125000"/>
              </a:lnSpc>
            </a:pPr>
            <a:r>
              <a:rPr sz="800" b="1" i="0">
                <a:solidFill>
                  <a:srgbClr val="0E2356"/>
                </a:solidFill>
                <a:latin typeface="Outfit"/>
              </a:rPr>
              <a:t>Le seuil au-delà duquel on généralise — ou on arrête.</a:t>
            </a:r>
          </a:p>
        </p:txBody>
      </p:sp>
      <p:sp>
        <p:nvSpPr>
          <p:cNvPr id="40" name="Rounded Rectangle 39"/>
          <p:cNvSpPr/>
          <p:nvPr/>
        </p:nvSpPr>
        <p:spPr>
          <a:xfrm>
            <a:off x="562356" y="4306824"/>
            <a:ext cx="7804404" cy="67665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90372" y="4325112"/>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42" name="TextBox 41"/>
          <p:cNvSpPr txBox="1"/>
          <p:nvPr/>
        </p:nvSpPr>
        <p:spPr>
          <a:xfrm>
            <a:off x="745236" y="4306824"/>
            <a:ext cx="7438644" cy="676656"/>
          </a:xfrm>
          <a:prstGeom prst="rect">
            <a:avLst/>
          </a:prstGeom>
          <a:noFill/>
        </p:spPr>
        <p:txBody>
          <a:bodyPr wrap="square" anchor="ctr" lIns="0" rIns="0" tIns="0" bIns="0">
            <a:spAutoFit/>
          </a:bodyPr>
          <a:lstStyle/>
          <a:p>
            <a:pPr algn="ctr"/>
            <a:r>
              <a:rPr sz="1200" b="1" i="0">
                <a:solidFill>
                  <a:srgbClr val="FFFFFF"/>
                </a:solidFill>
                <a:latin typeface="Outfit"/>
              </a:rPr>
              <a:t>Ce qui change depuis le chapitre Spécificités de l'infra : le gaspillage cesse d'être orphelin — il a un porteur nommé et un objectif partagé.</a:t>
            </a:r>
            <a:r>
              <a:rPr sz="1200" b="1" i="0">
                <a:solidFill>
                  <a:srgbClr val="00D2DD"/>
                </a:solidFill>
                <a:latin typeface="Outfit"/>
              </a:rPr>
              <a:t>  •</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450">
                <a:solidFill>
                  <a:srgbClr val="0E2356"/>
                </a:solidFill>
                <a:latin typeface="Outfit"/>
              </a:rPr>
              <a:t>PROPOSITION   ·   </a:t>
            </a:r>
            <a:r>
              <a:rPr b="1" sz="1450">
                <a:solidFill>
                  <a:srgbClr val="0E2356"/>
                </a:solidFill>
                <a:latin typeface="Outfit"/>
              </a:rPr>
              <a:t>La cible IAP est une Platform Team — agents IA compris</a:t>
            </a:r>
          </a:p>
        </p:txBody>
      </p:sp>
      <p:sp>
        <p:nvSpPr>
          <p:cNvPr id="3" name="TextBox 2"/>
          <p:cNvSpPr txBox="1"/>
          <p:nvPr/>
        </p:nvSpPr>
        <p:spPr>
          <a:xfrm>
            <a:off x="562356" y="1051560"/>
            <a:ext cx="7804404" cy="237744"/>
          </a:xfrm>
          <a:prstGeom prst="rect">
            <a:avLst/>
          </a:prstGeom>
          <a:noFill/>
        </p:spPr>
        <p:txBody>
          <a:bodyPr wrap="square" anchor="t" lIns="0" rIns="0" tIns="0" bIns="0">
            <a:noAutofit/>
          </a:bodyPr>
          <a:lstStyle/>
          <a:p>
            <a:pPr algn="l">
              <a:lnSpc>
                <a:spcPct val="115000"/>
              </a:lnSpc>
            </a:pPr>
            <a:r>
              <a:rPr sz="800" b="0" i="1">
                <a:solidFill>
                  <a:srgbClr val="586586"/>
                </a:solidFill>
                <a:latin typeface="Outfit"/>
              </a:rPr>
              <a:t>Team Topologies décrit 4 archétypes reliés entre eux, pas des silos : les 3 autres s'articulent tous autour de la Platform Team.</a:t>
            </a:r>
          </a:p>
        </p:txBody>
      </p:sp>
      <p:sp>
        <p:nvSpPr>
          <p:cNvPr id="4" name="Rounded Rectangle 3"/>
          <p:cNvSpPr/>
          <p:nvPr/>
        </p:nvSpPr>
        <p:spPr>
          <a:xfrm>
            <a:off x="562356" y="1380743"/>
            <a:ext cx="2479548" cy="84124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380743"/>
            <a:ext cx="64008" cy="8412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90372" y="1380743"/>
            <a:ext cx="2223516" cy="841248"/>
          </a:xfrm>
          <a:prstGeom prst="rect">
            <a:avLst/>
          </a:prstGeom>
          <a:noFill/>
        </p:spPr>
        <p:txBody>
          <a:bodyPr wrap="square" anchor="ctr" lIns="0" rIns="0" tIns="0" bIns="0">
            <a:noAutofit/>
          </a:bodyPr>
          <a:lstStyle/>
          <a:p>
            <a:pPr algn="l">
              <a:lnSpc>
                <a:spcPct val="110000"/>
              </a:lnSpc>
            </a:pPr>
            <a:r>
              <a:rPr sz="850" b="1" i="0">
                <a:solidFill>
                  <a:srgbClr val="0E2356"/>
                </a:solidFill>
                <a:latin typeface="Outfit"/>
              </a:rPr>
              <a:t>Stream-aligned</a:t>
            </a:r>
          </a:p>
          <a:p>
            <a:pPr algn="l">
              <a:lnSpc>
                <a:spcPct val="110000"/>
              </a:lnSpc>
              <a:spcBef>
                <a:spcPts val="300"/>
              </a:spcBef>
            </a:pPr>
            <a:r>
              <a:rPr sz="750" b="0" i="0">
                <a:solidFill>
                  <a:srgbClr val="0E2356"/>
                </a:solidFill>
                <a:latin typeface="Outfit"/>
              </a:rPr>
              <a:t>Flux de valeur métier continu</a:t>
            </a:r>
          </a:p>
          <a:p>
            <a:pPr algn="l">
              <a:lnSpc>
                <a:spcPct val="110000"/>
              </a:lnSpc>
              <a:spcBef>
                <a:spcPts val="300"/>
              </a:spcBef>
            </a:pPr>
            <a:r>
              <a:rPr sz="700" b="0" i="1">
                <a:solidFill>
                  <a:srgbClr val="586586"/>
                </a:solidFill>
                <a:latin typeface="Outfit"/>
              </a:rPr>
              <a:t>Équipes applicatives clientes de la plateforme infra</a:t>
            </a:r>
          </a:p>
        </p:txBody>
      </p:sp>
      <p:sp>
        <p:nvSpPr>
          <p:cNvPr id="7" name="Rounded Rectangle 6"/>
          <p:cNvSpPr/>
          <p:nvPr/>
        </p:nvSpPr>
        <p:spPr>
          <a:xfrm>
            <a:off x="3224783" y="1380743"/>
            <a:ext cx="2479548" cy="84124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224783" y="1380743"/>
            <a:ext cx="64008" cy="8412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52800" y="1380743"/>
            <a:ext cx="2223516" cy="841248"/>
          </a:xfrm>
          <a:prstGeom prst="rect">
            <a:avLst/>
          </a:prstGeom>
          <a:noFill/>
        </p:spPr>
        <p:txBody>
          <a:bodyPr wrap="square" anchor="ctr" lIns="0" rIns="0" tIns="0" bIns="0">
            <a:noAutofit/>
          </a:bodyPr>
          <a:lstStyle/>
          <a:p>
            <a:pPr algn="l">
              <a:lnSpc>
                <a:spcPct val="110000"/>
              </a:lnSpc>
            </a:pPr>
            <a:r>
              <a:rPr sz="850" b="1" i="0">
                <a:solidFill>
                  <a:srgbClr val="0E2356"/>
                </a:solidFill>
                <a:latin typeface="Outfit"/>
              </a:rPr>
              <a:t>Enabling</a:t>
            </a:r>
          </a:p>
          <a:p>
            <a:pPr algn="l">
              <a:lnSpc>
                <a:spcPct val="110000"/>
              </a:lnSpc>
              <a:spcBef>
                <a:spcPts val="300"/>
              </a:spcBef>
            </a:pPr>
            <a:r>
              <a:rPr sz="750" b="0" i="0">
                <a:solidFill>
                  <a:srgbClr val="0E2356"/>
                </a:solidFill>
                <a:latin typeface="Outfit"/>
              </a:rPr>
              <a:t>Montée en compétence temporaire</a:t>
            </a:r>
          </a:p>
          <a:p>
            <a:pPr algn="l">
              <a:lnSpc>
                <a:spcPct val="110000"/>
              </a:lnSpc>
              <a:spcBef>
                <a:spcPts val="300"/>
              </a:spcBef>
            </a:pPr>
            <a:r>
              <a:rPr sz="700" b="0" i="1">
                <a:solidFill>
                  <a:srgbClr val="586586"/>
                </a:solidFill>
                <a:latin typeface="Outfit"/>
              </a:rPr>
              <a:t>Posture du coach BMAD IAP — jamais permanente</a:t>
            </a:r>
          </a:p>
        </p:txBody>
      </p:sp>
      <p:sp>
        <p:nvSpPr>
          <p:cNvPr id="10" name="Rounded Rectangle 9"/>
          <p:cNvSpPr/>
          <p:nvPr/>
        </p:nvSpPr>
        <p:spPr>
          <a:xfrm>
            <a:off x="5887212" y="1380743"/>
            <a:ext cx="2479548" cy="84124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887212" y="1380743"/>
            <a:ext cx="64008" cy="8412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15228" y="1380743"/>
            <a:ext cx="2223516" cy="841248"/>
          </a:xfrm>
          <a:prstGeom prst="rect">
            <a:avLst/>
          </a:prstGeom>
          <a:noFill/>
        </p:spPr>
        <p:txBody>
          <a:bodyPr wrap="square" anchor="ctr" lIns="0" rIns="0" tIns="0" bIns="0">
            <a:noAutofit/>
          </a:bodyPr>
          <a:lstStyle/>
          <a:p>
            <a:pPr algn="l">
              <a:lnSpc>
                <a:spcPct val="110000"/>
              </a:lnSpc>
            </a:pPr>
            <a:r>
              <a:rPr sz="850" b="1" i="0">
                <a:solidFill>
                  <a:srgbClr val="0E2356"/>
                </a:solidFill>
                <a:latin typeface="Outfit"/>
              </a:rPr>
              <a:t>Complicated-subsystem</a:t>
            </a:r>
          </a:p>
          <a:p>
            <a:pPr algn="l">
              <a:lnSpc>
                <a:spcPct val="110000"/>
              </a:lnSpc>
              <a:spcBef>
                <a:spcPts val="300"/>
              </a:spcBef>
            </a:pPr>
            <a:r>
              <a:rPr sz="750" b="0" i="0">
                <a:solidFill>
                  <a:srgbClr val="0E2356"/>
                </a:solidFill>
                <a:latin typeface="Outfit"/>
              </a:rPr>
              <a:t>Expertise pointue, compétences rares</a:t>
            </a:r>
          </a:p>
          <a:p>
            <a:pPr algn="l">
              <a:lnSpc>
                <a:spcPct val="110000"/>
              </a:lnSpc>
              <a:spcBef>
                <a:spcPts val="300"/>
              </a:spcBef>
            </a:pPr>
            <a:r>
              <a:rPr sz="700" b="0" i="1">
                <a:solidFill>
                  <a:srgbClr val="586586"/>
                </a:solidFill>
                <a:latin typeface="Outfit"/>
              </a:rPr>
              <a:t>Un vrai sous-système complexe, pas un produit plateforme classique</a:t>
            </a:r>
          </a:p>
        </p:txBody>
      </p:sp>
      <p:sp>
        <p:nvSpPr>
          <p:cNvPr id="13" name="Rectangle 12"/>
          <p:cNvSpPr/>
          <p:nvPr/>
        </p:nvSpPr>
        <p:spPr>
          <a:xfrm>
            <a:off x="1802130" y="2340864"/>
            <a:ext cx="5324856" cy="182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792071" y="2221991"/>
            <a:ext cx="20116" cy="12801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770126" y="2318003"/>
            <a:ext cx="64008" cy="64008"/>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54499" y="2221991"/>
            <a:ext cx="20116" cy="12801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32553" y="2318003"/>
            <a:ext cx="64008" cy="64008"/>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16927" y="2221991"/>
            <a:ext cx="20116" cy="12801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094982" y="2318003"/>
            <a:ext cx="64008" cy="64008"/>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51756" y="2350008"/>
            <a:ext cx="25603" cy="292608"/>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81678" y="2496311"/>
            <a:ext cx="365760" cy="146304"/>
          </a:xfrm>
          <a:prstGeom prst="rect">
            <a:avLst/>
          </a:prstGeom>
          <a:noFill/>
        </p:spPr>
        <p:txBody>
          <a:bodyPr wrap="square" anchor="ctr" lIns="0" rIns="0" tIns="0" bIns="0">
            <a:noAutofit/>
          </a:bodyPr>
          <a:lstStyle/>
          <a:p>
            <a:pPr algn="ctr"/>
            <a:r>
              <a:rPr sz="900" b="1" i="0">
                <a:solidFill>
                  <a:srgbClr val="0E2356"/>
                </a:solidFill>
                <a:latin typeface="Outfit"/>
              </a:rPr>
              <a:t>▾</a:t>
            </a:r>
          </a:p>
        </p:txBody>
      </p:sp>
      <p:sp>
        <p:nvSpPr>
          <p:cNvPr id="22" name="Rounded Rectangle 21"/>
          <p:cNvSpPr/>
          <p:nvPr/>
        </p:nvSpPr>
        <p:spPr>
          <a:xfrm>
            <a:off x="2818638" y="2642615"/>
            <a:ext cx="3291840" cy="914400"/>
          </a:xfrm>
          <a:prstGeom prst="roundRect">
            <a:avLst>
              <a:gd name="adj" fmla="val 9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92958" y="2642615"/>
            <a:ext cx="2743200" cy="914400"/>
          </a:xfrm>
          <a:prstGeom prst="rect">
            <a:avLst/>
          </a:prstGeom>
          <a:noFill/>
        </p:spPr>
        <p:txBody>
          <a:bodyPr wrap="square" anchor="ctr" lIns="0" rIns="0" tIns="0" bIns="0">
            <a:noAutofit/>
          </a:bodyPr>
          <a:lstStyle/>
          <a:p>
            <a:pPr algn="l">
              <a:lnSpc>
                <a:spcPct val="105000"/>
              </a:lnSpc>
            </a:pPr>
            <a:r>
              <a:rPr sz="1100" b="1" i="0">
                <a:solidFill>
                  <a:srgbClr val="FFFFFF"/>
                </a:solidFill>
                <a:latin typeface="Outfit"/>
              </a:rPr>
              <a:t>PLATFORM</a:t>
            </a:r>
          </a:p>
          <a:p>
            <a:pPr algn="l">
              <a:lnSpc>
                <a:spcPct val="115000"/>
              </a:lnSpc>
              <a:spcBef>
                <a:spcPts val="400"/>
              </a:spcBef>
            </a:pPr>
            <a:r>
              <a:rPr sz="850" b="0" i="0">
                <a:solidFill>
                  <a:srgbClr val="FFFFFF"/>
                </a:solidFill>
                <a:latin typeface="Outfit"/>
              </a:rPr>
              <a:t>Capacités en self-service (X-as-a-Service)</a:t>
            </a:r>
          </a:p>
          <a:p>
            <a:pPr algn="l">
              <a:lnSpc>
                <a:spcPct val="115000"/>
              </a:lnSpc>
              <a:spcBef>
                <a:spcPts val="400"/>
              </a:spcBef>
            </a:pPr>
            <a:r>
              <a:rPr sz="800" b="1" i="0">
                <a:solidFill>
                  <a:srgbClr val="FFFFFF"/>
                </a:solidFill>
                <a:latin typeface="Outfit"/>
              </a:rPr>
              <a:t>La cible même de la transformation IAP</a:t>
            </a:r>
          </a:p>
        </p:txBody>
      </p:sp>
      <p:sp>
        <p:nvSpPr>
          <p:cNvPr id="24" name="Rounded Rectangle 23"/>
          <p:cNvSpPr/>
          <p:nvPr/>
        </p:nvSpPr>
        <p:spPr>
          <a:xfrm>
            <a:off x="562356" y="3703320"/>
            <a:ext cx="7804404" cy="128016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3524" y="3703320"/>
            <a:ext cx="7402068" cy="1280160"/>
          </a:xfrm>
          <a:prstGeom prst="rect">
            <a:avLst/>
          </a:prstGeom>
          <a:noFill/>
        </p:spPr>
        <p:txBody>
          <a:bodyPr wrap="square" anchor="ctr" lIns="0" rIns="0" tIns="0" bIns="0">
            <a:noAutofit/>
          </a:bodyPr>
          <a:lstStyle/>
          <a:p>
            <a:pPr algn="l"/>
            <a:r>
              <a:rPr sz="900" b="1" i="0">
                <a:solidFill>
                  <a:srgbClr val="0E2356"/>
                </a:solidFill>
                <a:latin typeface="Outfit"/>
              </a:rPr>
              <a:t>Extension — les agents IA comme coéquipiers, et leur mise en œuvre (v1.7)</a:t>
            </a:r>
          </a:p>
          <a:p>
            <a:pPr algn="l">
              <a:lnSpc>
                <a:spcPct val="125000"/>
              </a:lnSpc>
              <a:spcBef>
                <a:spcPts val="300"/>
              </a:spcBef>
            </a:pPr>
            <a:r>
              <a:rPr sz="800" b="0" i="0">
                <a:solidFill>
                  <a:srgbClr val="0E2356"/>
                </a:solidFill>
                <a:latin typeface="Outfit"/>
              </a:rPr>
              <a:t>Un agent peut être membre d'une Stream-aligned team ou capacité exposée par la Platform Team. Aux 3 modes d'interaction Team Topologies — Collaboration, X-as-a-Service, Facilitating — s'ajoute un 4e candidat : Supervision. L'adoption suit la trajectoire Coach → Délégué (assisté → supervisé → délégué) : mandat écrit (ce que l'agent décide seul / ce qui escalade / qui répond de ses erreurs) avant tout palier au-delà de l'assisté — jamais un usage qui dérive à l'implicite.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IA</a:t>
            </a:r>
          </a:p>
          <a:p>
            <a:r>
              <a:rPr sz="1050" i="1">
                <a:solidFill>
                  <a:srgbClr val="586586"/>
                </a:solidFill>
                <a:latin typeface="Outfit"/>
              </a:rPr>
              <a:t>L'IA au service de la réponse : le gate confidentialité, la prudence, les agents candidats, l'export.</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07</a:t>
            </a:r>
          </a:p>
        </p:txBody>
      </p:sp>
      <p:pic>
        <p:nvPicPr>
          <p:cNvPr id="4" name="Picture 3" descr="nightsky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IA   ·   </a:t>
            </a:r>
            <a:r>
              <a:rPr b="1" sz="1700">
                <a:solidFill>
                  <a:srgbClr val="0E2356"/>
                </a:solidFill>
                <a:latin typeface="Outfit"/>
              </a:rPr>
              <a:t>Les données du client gouvernent le choix du modèle IA</a:t>
            </a:r>
          </a:p>
        </p:txBody>
      </p:sp>
      <p:sp>
        <p:nvSpPr>
          <p:cNvPr id="3" name="TextBox 2"/>
          <p:cNvSpPr txBox="1"/>
          <p:nvPr/>
        </p:nvSpPr>
        <p:spPr>
          <a:xfrm>
            <a:off x="562356" y="1051560"/>
            <a:ext cx="7804404" cy="320040"/>
          </a:xfrm>
          <a:prstGeom prst="rect">
            <a:avLst/>
          </a:prstGeom>
          <a:noFill/>
        </p:spPr>
        <p:txBody>
          <a:bodyPr wrap="square" anchor="t" lIns="0" rIns="0" tIns="0" bIns="0">
            <a:noAutofit/>
          </a:bodyPr>
          <a:lstStyle/>
          <a:p>
            <a:pPr algn="l">
              <a:lnSpc>
                <a:spcPct val="120000"/>
              </a:lnSpc>
            </a:pPr>
            <a:r>
              <a:rPr sz="900" b="0" i="0">
                <a:solidFill>
                  <a:srgbClr val="586586"/>
                </a:solidFill>
                <a:latin typeface="Outfit"/>
              </a:rPr>
              <a:t>Checkpoint toujours humain avant tout usage IA sur données client — iap-ai-data-confidentiality-gate, quel que soit le mode d'exécution retenu.</a:t>
            </a:r>
          </a:p>
        </p:txBody>
      </p:sp>
      <p:sp>
        <p:nvSpPr>
          <p:cNvPr id="4" name="Rounded Rectangle 3"/>
          <p:cNvSpPr/>
          <p:nvPr/>
        </p:nvSpPr>
        <p:spPr>
          <a:xfrm>
            <a:off x="562356" y="1463039"/>
            <a:ext cx="1234440" cy="566928"/>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463039"/>
            <a:ext cx="1234440" cy="566928"/>
          </a:xfrm>
          <a:prstGeom prst="rect">
            <a:avLst/>
          </a:prstGeom>
          <a:noFill/>
        </p:spPr>
        <p:txBody>
          <a:bodyPr wrap="square" anchor="ctr" lIns="0" rIns="0" tIns="0" bIns="0">
            <a:noAutofit/>
          </a:bodyPr>
          <a:lstStyle/>
          <a:p>
            <a:pPr algn="ctr"/>
            <a:r>
              <a:rPr sz="900" b="1" i="0">
                <a:solidFill>
                  <a:srgbClr val="FFFFFF"/>
                </a:solidFill>
                <a:latin typeface="Outfit"/>
              </a:rPr>
              <a:t>D0 · Public</a:t>
            </a:r>
          </a:p>
        </p:txBody>
      </p:sp>
      <p:sp>
        <p:nvSpPr>
          <p:cNvPr id="6" name="TextBox 5"/>
          <p:cNvSpPr txBox="1"/>
          <p:nvPr/>
        </p:nvSpPr>
        <p:spPr>
          <a:xfrm>
            <a:off x="1979676" y="1463039"/>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Articles publics, docs méthodo</a:t>
            </a:r>
          </a:p>
        </p:txBody>
      </p:sp>
      <p:sp>
        <p:nvSpPr>
          <p:cNvPr id="7" name="TextBox 6"/>
          <p:cNvSpPr txBox="1"/>
          <p:nvPr/>
        </p:nvSpPr>
        <p:spPr>
          <a:xfrm>
            <a:off x="6003036" y="1463039"/>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IA externe possible</a:t>
            </a:r>
          </a:p>
        </p:txBody>
      </p:sp>
      <p:sp>
        <p:nvSpPr>
          <p:cNvPr id="8" name="Rounded Rectangle 7"/>
          <p:cNvSpPr/>
          <p:nvPr/>
        </p:nvSpPr>
        <p:spPr>
          <a:xfrm>
            <a:off x="562356" y="2121408"/>
            <a:ext cx="1234440" cy="566928"/>
          </a:xfrm>
          <a:prstGeom prst="roundRect">
            <a:avLst>
              <a:gd name="adj" fmla="val 50000"/>
            </a:avLst>
          </a:prstGeom>
          <a:solidFill>
            <a:srgbClr val="4A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2356" y="2121408"/>
            <a:ext cx="1234440" cy="566928"/>
          </a:xfrm>
          <a:prstGeom prst="rect">
            <a:avLst/>
          </a:prstGeom>
          <a:noFill/>
        </p:spPr>
        <p:txBody>
          <a:bodyPr wrap="square" anchor="ctr" lIns="0" rIns="0" tIns="0" bIns="0">
            <a:noAutofit/>
          </a:bodyPr>
          <a:lstStyle/>
          <a:p>
            <a:pPr algn="ctr"/>
            <a:r>
              <a:rPr sz="900" b="1" i="0">
                <a:solidFill>
                  <a:srgbClr val="FFFFFF"/>
                </a:solidFill>
                <a:latin typeface="Outfit"/>
              </a:rPr>
              <a:t>D1 · Interne</a:t>
            </a:r>
          </a:p>
        </p:txBody>
      </p:sp>
      <p:sp>
        <p:nvSpPr>
          <p:cNvPr id="10" name="TextBox 9"/>
          <p:cNvSpPr txBox="1"/>
          <p:nvPr/>
        </p:nvSpPr>
        <p:spPr>
          <a:xfrm>
            <a:off x="1979676" y="2121408"/>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Organisation macro, catalogue anonymisé</a:t>
            </a:r>
          </a:p>
        </p:txBody>
      </p:sp>
      <p:sp>
        <p:nvSpPr>
          <p:cNvPr id="11" name="TextBox 10"/>
          <p:cNvSpPr txBox="1"/>
          <p:nvPr/>
        </p:nvSpPr>
        <p:spPr>
          <a:xfrm>
            <a:off x="6003036" y="2121408"/>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IA client recommandée</a:t>
            </a:r>
          </a:p>
        </p:txBody>
      </p:sp>
      <p:sp>
        <p:nvSpPr>
          <p:cNvPr id="12" name="Rounded Rectangle 11"/>
          <p:cNvSpPr/>
          <p:nvPr/>
        </p:nvSpPr>
        <p:spPr>
          <a:xfrm>
            <a:off x="562356" y="2779776"/>
            <a:ext cx="1234440" cy="566928"/>
          </a:xfrm>
          <a:prstGeom prst="roundRect">
            <a:avLst>
              <a:gd name="adj" fmla="val 50000"/>
            </a:avLst>
          </a:prstGeom>
          <a:solidFill>
            <a:srgbClr val="3E4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2356" y="2779776"/>
            <a:ext cx="1234440" cy="566928"/>
          </a:xfrm>
          <a:prstGeom prst="rect">
            <a:avLst/>
          </a:prstGeom>
          <a:noFill/>
        </p:spPr>
        <p:txBody>
          <a:bodyPr wrap="square" anchor="ctr" lIns="0" rIns="0" tIns="0" bIns="0">
            <a:noAutofit/>
          </a:bodyPr>
          <a:lstStyle/>
          <a:p>
            <a:pPr algn="ctr"/>
            <a:r>
              <a:rPr sz="900" b="1" i="0">
                <a:solidFill>
                  <a:srgbClr val="FFFFFF"/>
                </a:solidFill>
                <a:latin typeface="Outfit"/>
              </a:rPr>
              <a:t>D2 · Confidentiel</a:t>
            </a:r>
          </a:p>
        </p:txBody>
      </p:sp>
      <p:sp>
        <p:nvSpPr>
          <p:cNvPr id="14" name="TextBox 13"/>
          <p:cNvSpPr txBox="1"/>
          <p:nvPr/>
        </p:nvSpPr>
        <p:spPr>
          <a:xfrm>
            <a:off x="1979676" y="2779776"/>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Notes d'interview, reporting, portefeuille</a:t>
            </a:r>
          </a:p>
        </p:txBody>
      </p:sp>
      <p:sp>
        <p:nvSpPr>
          <p:cNvPr id="15" name="TextBox 14"/>
          <p:cNvSpPr txBox="1"/>
          <p:nvPr/>
        </p:nvSpPr>
        <p:spPr>
          <a:xfrm>
            <a:off x="6003036" y="2779776"/>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IA client ou LLM privé</a:t>
            </a:r>
          </a:p>
        </p:txBody>
      </p:sp>
      <p:sp>
        <p:nvSpPr>
          <p:cNvPr id="16" name="Rounded Rectangle 15"/>
          <p:cNvSpPr/>
          <p:nvPr/>
        </p:nvSpPr>
        <p:spPr>
          <a:xfrm>
            <a:off x="562356" y="3438144"/>
            <a:ext cx="1234440" cy="566928"/>
          </a:xfrm>
          <a:prstGeom prst="roundRect">
            <a:avLst>
              <a:gd name="adj" fmla="val 50000"/>
            </a:avLst>
          </a:prstGeom>
          <a:solidFill>
            <a:srgbClr val="263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2356" y="3438144"/>
            <a:ext cx="1234440" cy="566928"/>
          </a:xfrm>
          <a:prstGeom prst="rect">
            <a:avLst/>
          </a:prstGeom>
          <a:noFill/>
        </p:spPr>
        <p:txBody>
          <a:bodyPr wrap="square" anchor="ctr" lIns="0" rIns="0" tIns="0" bIns="0">
            <a:noAutofit/>
          </a:bodyPr>
          <a:lstStyle/>
          <a:p>
            <a:pPr algn="ctr"/>
            <a:r>
              <a:rPr sz="900" b="1" i="0">
                <a:solidFill>
                  <a:srgbClr val="FFFFFF"/>
                </a:solidFill>
                <a:latin typeface="Outfit"/>
              </a:rPr>
              <a:t>D3 · Restreint</a:t>
            </a:r>
          </a:p>
        </p:txBody>
      </p:sp>
      <p:sp>
        <p:nvSpPr>
          <p:cNvPr id="18" name="TextBox 17"/>
          <p:cNvSpPr txBox="1"/>
          <p:nvPr/>
        </p:nvSpPr>
        <p:spPr>
          <a:xfrm>
            <a:off x="1979676" y="3438144"/>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Tickets détaillés, logs, CMDB, IAM</a:t>
            </a:r>
          </a:p>
        </p:txBody>
      </p:sp>
      <p:sp>
        <p:nvSpPr>
          <p:cNvPr id="19" name="TextBox 18"/>
          <p:cNvSpPr txBox="1"/>
          <p:nvPr/>
        </p:nvSpPr>
        <p:spPr>
          <a:xfrm>
            <a:off x="6003036" y="3438144"/>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LLM local, contrôles forts</a:t>
            </a:r>
          </a:p>
        </p:txBody>
      </p:sp>
      <p:sp>
        <p:nvSpPr>
          <p:cNvPr id="20" name="Rounded Rectangle 19"/>
          <p:cNvSpPr/>
          <p:nvPr/>
        </p:nvSpPr>
        <p:spPr>
          <a:xfrm>
            <a:off x="562356" y="4096511"/>
            <a:ext cx="1234440" cy="5669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2356" y="4096511"/>
            <a:ext cx="1234440" cy="566928"/>
          </a:xfrm>
          <a:prstGeom prst="rect">
            <a:avLst/>
          </a:prstGeom>
          <a:noFill/>
        </p:spPr>
        <p:txBody>
          <a:bodyPr wrap="square" anchor="ctr" lIns="0" rIns="0" tIns="0" bIns="0">
            <a:noAutofit/>
          </a:bodyPr>
          <a:lstStyle/>
          <a:p>
            <a:pPr algn="ctr"/>
            <a:r>
              <a:rPr sz="900" b="1" i="0">
                <a:solidFill>
                  <a:srgbClr val="FFFFFF"/>
                </a:solidFill>
                <a:latin typeface="Outfit"/>
              </a:rPr>
              <a:t>D4 · Critique</a:t>
            </a:r>
          </a:p>
        </p:txBody>
      </p:sp>
      <p:sp>
        <p:nvSpPr>
          <p:cNvPr id="22" name="TextBox 21"/>
          <p:cNvSpPr txBox="1"/>
          <p:nvPr/>
        </p:nvSpPr>
        <p:spPr>
          <a:xfrm>
            <a:off x="1979676" y="4096511"/>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Secrets de production, données réglementées</a:t>
            </a:r>
          </a:p>
        </p:txBody>
      </p:sp>
      <p:sp>
        <p:nvSpPr>
          <p:cNvPr id="23" name="TextBox 22"/>
          <p:cNvSpPr txBox="1"/>
          <p:nvPr/>
        </p:nvSpPr>
        <p:spPr>
          <a:xfrm>
            <a:off x="6003036" y="4096511"/>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Local/on-prem, sans IA générative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IA   ·   </a:t>
            </a:r>
            <a:r>
              <a:rPr b="1" sz="1700">
                <a:solidFill>
                  <a:srgbClr val="0E2356"/>
                </a:solidFill>
                <a:latin typeface="Outfit"/>
              </a:rPr>
              <a:t>La prudence IA est un frein chiffré, pas un veto</a:t>
            </a:r>
          </a:p>
        </p:txBody>
      </p:sp>
      <p:sp>
        <p:nvSpPr>
          <p:cNvPr id="3" name="TextBox 2"/>
          <p:cNvSpPr txBox="1"/>
          <p:nvPr/>
        </p:nvSpPr>
        <p:spPr>
          <a:xfrm>
            <a:off x="562356" y="1051560"/>
            <a:ext cx="7804404" cy="365760"/>
          </a:xfrm>
          <a:prstGeom prst="rect">
            <a:avLst/>
          </a:prstGeom>
          <a:noFill/>
        </p:spPr>
        <p:txBody>
          <a:bodyPr wrap="square" anchor="t" lIns="0" rIns="0" tIns="0" bIns="0">
            <a:noAutofit/>
          </a:bodyPr>
          <a:lstStyle/>
          <a:p>
            <a:pPr algn="l">
              <a:lnSpc>
                <a:spcPct val="120000"/>
              </a:lnSpc>
            </a:pPr>
            <a:r>
              <a:rPr sz="1050" b="1" i="0">
                <a:solidFill>
                  <a:srgbClr val="0E2356"/>
                </a:solidFill>
                <a:latin typeface="Outfit"/>
              </a:rPr>
              <a:t>Prudence IA = confidentialité + besoin de supervision + criticité de la décision</a:t>
            </a:r>
          </a:p>
        </p:txBody>
      </p:sp>
      <p:sp>
        <p:nvSpPr>
          <p:cNvPr id="4" name="Rounded Rectangle 3"/>
          <p:cNvSpPr/>
          <p:nvPr/>
        </p:nvSpPr>
        <p:spPr>
          <a:xfrm>
            <a:off x="562356" y="1746504"/>
            <a:ext cx="7804404" cy="1330960"/>
          </a:xfrm>
          <a:prstGeom prst="roundRect">
            <a:avLst>
              <a:gd name="adj" fmla="val 6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671066" y="1554480"/>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71066" y="1554480"/>
            <a:ext cx="384048" cy="384048"/>
          </a:xfrm>
          <a:prstGeom prst="rect">
            <a:avLst/>
          </a:prstGeom>
          <a:noFill/>
        </p:spPr>
        <p:txBody>
          <a:bodyPr wrap="square" anchor="ctr" lIns="0" rIns="0" tIns="0" bIns="0">
            <a:noAutofit/>
          </a:bodyPr>
          <a:lstStyle/>
          <a:p>
            <a:pPr algn="ctr"/>
            <a:r>
              <a:rPr sz="1300" b="1" i="0">
                <a:solidFill>
                  <a:srgbClr val="FFFFFF"/>
                </a:solidFill>
                <a:latin typeface="Outfit"/>
              </a:rPr>
              <a:t>1</a:t>
            </a:r>
          </a:p>
        </p:txBody>
      </p:sp>
      <p:sp>
        <p:nvSpPr>
          <p:cNvPr id="7" name="TextBox 6"/>
          <p:cNvSpPr txBox="1"/>
          <p:nvPr/>
        </p:nvSpPr>
        <p:spPr>
          <a:xfrm>
            <a:off x="708660" y="2029968"/>
            <a:ext cx="2308860" cy="329184"/>
          </a:xfrm>
          <a:prstGeom prst="rect">
            <a:avLst/>
          </a:prstGeom>
          <a:noFill/>
        </p:spPr>
        <p:txBody>
          <a:bodyPr wrap="square" anchor="t" lIns="0" rIns="0" tIns="0" bIns="0">
            <a:noAutofit/>
          </a:bodyPr>
          <a:lstStyle/>
          <a:p>
            <a:pPr algn="ctr">
              <a:lnSpc>
                <a:spcPct val="110000"/>
              </a:lnSpc>
            </a:pPr>
            <a:r>
              <a:rPr sz="800" b="1" i="0">
                <a:solidFill>
                  <a:srgbClr val="0E2356"/>
                </a:solidFill>
                <a:latin typeface="Outfit"/>
              </a:rPr>
              <a:t>CONFIDENTIALITÉ</a:t>
            </a:r>
          </a:p>
        </p:txBody>
      </p:sp>
      <p:sp>
        <p:nvSpPr>
          <p:cNvPr id="8" name="TextBox 7"/>
          <p:cNvSpPr txBox="1"/>
          <p:nvPr/>
        </p:nvSpPr>
        <p:spPr>
          <a:xfrm>
            <a:off x="708660" y="2377440"/>
            <a:ext cx="2308860"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Reprend directement la classification du gate IA (D0-D4, slide précédente) — plus la donnée est sensible, plus le score monte.</a:t>
            </a:r>
          </a:p>
        </p:txBody>
      </p:sp>
      <p:sp>
        <p:nvSpPr>
          <p:cNvPr id="9" name="Rectangle 8"/>
          <p:cNvSpPr/>
          <p:nvPr/>
        </p:nvSpPr>
        <p:spPr>
          <a:xfrm>
            <a:off x="3163824" y="1874519"/>
            <a:ext cx="10972" cy="107492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9232" y="1536192"/>
            <a:ext cx="329184" cy="420623"/>
          </a:xfrm>
          <a:prstGeom prst="rect">
            <a:avLst/>
          </a:prstGeom>
          <a:noFill/>
        </p:spPr>
        <p:txBody>
          <a:bodyPr wrap="square" anchor="ctr" lIns="0" rIns="0" tIns="0" bIns="0">
            <a:noAutofit/>
          </a:bodyPr>
          <a:lstStyle/>
          <a:p>
            <a:pPr algn="ctr"/>
            <a:r>
              <a:rPr sz="1600" b="1" i="0">
                <a:solidFill>
                  <a:srgbClr val="586586"/>
                </a:solidFill>
                <a:latin typeface="Outfit"/>
              </a:rPr>
              <a:t>+</a:t>
            </a:r>
          </a:p>
        </p:txBody>
      </p:sp>
      <p:sp>
        <p:nvSpPr>
          <p:cNvPr id="11" name="Rounded Rectangle 10"/>
          <p:cNvSpPr/>
          <p:nvPr/>
        </p:nvSpPr>
        <p:spPr>
          <a:xfrm>
            <a:off x="4272534" y="1554480"/>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72534" y="1554480"/>
            <a:ext cx="384048" cy="384048"/>
          </a:xfrm>
          <a:prstGeom prst="rect">
            <a:avLst/>
          </a:prstGeom>
          <a:noFill/>
        </p:spPr>
        <p:txBody>
          <a:bodyPr wrap="square" anchor="ctr" lIns="0" rIns="0" tIns="0" bIns="0">
            <a:noAutofit/>
          </a:bodyPr>
          <a:lstStyle/>
          <a:p>
            <a:pPr algn="ctr"/>
            <a:r>
              <a:rPr sz="1300" b="1" i="0">
                <a:solidFill>
                  <a:srgbClr val="FFFFFF"/>
                </a:solidFill>
                <a:latin typeface="Outfit"/>
              </a:rPr>
              <a:t>2</a:t>
            </a:r>
          </a:p>
        </p:txBody>
      </p:sp>
      <p:sp>
        <p:nvSpPr>
          <p:cNvPr id="13" name="TextBox 12"/>
          <p:cNvSpPr txBox="1"/>
          <p:nvPr/>
        </p:nvSpPr>
        <p:spPr>
          <a:xfrm>
            <a:off x="3310128" y="2029968"/>
            <a:ext cx="2308860" cy="329184"/>
          </a:xfrm>
          <a:prstGeom prst="rect">
            <a:avLst/>
          </a:prstGeom>
          <a:noFill/>
        </p:spPr>
        <p:txBody>
          <a:bodyPr wrap="square" anchor="t" lIns="0" rIns="0" tIns="0" bIns="0">
            <a:noAutofit/>
          </a:bodyPr>
          <a:lstStyle/>
          <a:p>
            <a:pPr algn="ctr">
              <a:lnSpc>
                <a:spcPct val="110000"/>
              </a:lnSpc>
            </a:pPr>
            <a:r>
              <a:rPr sz="800" b="1" i="0">
                <a:solidFill>
                  <a:srgbClr val="0E2356"/>
                </a:solidFill>
                <a:latin typeface="Outfit"/>
              </a:rPr>
              <a:t>BESOIN DE SUPERVISION</a:t>
            </a:r>
          </a:p>
        </p:txBody>
      </p:sp>
      <p:sp>
        <p:nvSpPr>
          <p:cNvPr id="14" name="TextBox 13"/>
          <p:cNvSpPr txBox="1"/>
          <p:nvPr/>
        </p:nvSpPr>
        <p:spPr>
          <a:xfrm>
            <a:off x="3310128" y="2377440"/>
            <a:ext cx="2308860"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Le palier d'adoption visé (assisté / supervisé / délégué) — un agent encore au stade assisté pèse plus lourd qu'un agent déjà éprouvé.</a:t>
            </a:r>
          </a:p>
        </p:txBody>
      </p:sp>
      <p:sp>
        <p:nvSpPr>
          <p:cNvPr id="15" name="Rectangle 14"/>
          <p:cNvSpPr/>
          <p:nvPr/>
        </p:nvSpPr>
        <p:spPr>
          <a:xfrm>
            <a:off x="5765292" y="1874519"/>
            <a:ext cx="10972" cy="107492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00700" y="1536192"/>
            <a:ext cx="329184" cy="420623"/>
          </a:xfrm>
          <a:prstGeom prst="rect">
            <a:avLst/>
          </a:prstGeom>
          <a:noFill/>
        </p:spPr>
        <p:txBody>
          <a:bodyPr wrap="square" anchor="ctr" lIns="0" rIns="0" tIns="0" bIns="0">
            <a:noAutofit/>
          </a:bodyPr>
          <a:lstStyle/>
          <a:p>
            <a:pPr algn="ctr"/>
            <a:r>
              <a:rPr sz="1600" b="1" i="0">
                <a:solidFill>
                  <a:srgbClr val="586586"/>
                </a:solidFill>
                <a:latin typeface="Outfit"/>
              </a:rPr>
              <a:t>+</a:t>
            </a:r>
          </a:p>
        </p:txBody>
      </p:sp>
      <p:sp>
        <p:nvSpPr>
          <p:cNvPr id="17" name="Rounded Rectangle 16"/>
          <p:cNvSpPr/>
          <p:nvPr/>
        </p:nvSpPr>
        <p:spPr>
          <a:xfrm>
            <a:off x="6874002" y="1554480"/>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74002" y="1554480"/>
            <a:ext cx="384048" cy="384048"/>
          </a:xfrm>
          <a:prstGeom prst="rect">
            <a:avLst/>
          </a:prstGeom>
          <a:noFill/>
        </p:spPr>
        <p:txBody>
          <a:bodyPr wrap="square" anchor="ctr" lIns="0" rIns="0" tIns="0" bIns="0">
            <a:noAutofit/>
          </a:bodyPr>
          <a:lstStyle/>
          <a:p>
            <a:pPr algn="ctr"/>
            <a:r>
              <a:rPr sz="1300" b="1" i="0">
                <a:solidFill>
                  <a:srgbClr val="FFFFFF"/>
                </a:solidFill>
                <a:latin typeface="Outfit"/>
              </a:rPr>
              <a:t>3</a:t>
            </a:r>
          </a:p>
        </p:txBody>
      </p:sp>
      <p:sp>
        <p:nvSpPr>
          <p:cNvPr id="19" name="TextBox 18"/>
          <p:cNvSpPr txBox="1"/>
          <p:nvPr/>
        </p:nvSpPr>
        <p:spPr>
          <a:xfrm>
            <a:off x="5911596" y="2029968"/>
            <a:ext cx="2308860" cy="329184"/>
          </a:xfrm>
          <a:prstGeom prst="rect">
            <a:avLst/>
          </a:prstGeom>
          <a:noFill/>
        </p:spPr>
        <p:txBody>
          <a:bodyPr wrap="square" anchor="t" lIns="0" rIns="0" tIns="0" bIns="0">
            <a:noAutofit/>
          </a:bodyPr>
          <a:lstStyle/>
          <a:p>
            <a:pPr algn="ctr">
              <a:lnSpc>
                <a:spcPct val="110000"/>
              </a:lnSpc>
            </a:pPr>
            <a:r>
              <a:rPr sz="800" b="1" i="0">
                <a:solidFill>
                  <a:srgbClr val="0E2356"/>
                </a:solidFill>
                <a:latin typeface="Outfit"/>
              </a:rPr>
              <a:t>CRITICITÉ DE LA DÉCISION</a:t>
            </a:r>
          </a:p>
        </p:txBody>
      </p:sp>
      <p:sp>
        <p:nvSpPr>
          <p:cNvPr id="20" name="TextBox 19"/>
          <p:cNvSpPr txBox="1"/>
          <p:nvPr/>
        </p:nvSpPr>
        <p:spPr>
          <a:xfrm>
            <a:off x="5911596" y="2377440"/>
            <a:ext cx="2308860"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L'impact d'une erreur si l'agent se trompe seul — une recommandation réversible pèse moins qu'une décision irréversible.</a:t>
            </a:r>
          </a:p>
        </p:txBody>
      </p:sp>
      <p:sp>
        <p:nvSpPr>
          <p:cNvPr id="21" name="Rounded Rectangle 20"/>
          <p:cNvSpPr/>
          <p:nvPr/>
        </p:nvSpPr>
        <p:spPr>
          <a:xfrm>
            <a:off x="3230118" y="3205480"/>
            <a:ext cx="2468880"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30118" y="3205480"/>
            <a:ext cx="2468880" cy="292608"/>
          </a:xfrm>
          <a:prstGeom prst="rect">
            <a:avLst/>
          </a:prstGeom>
          <a:noFill/>
        </p:spPr>
        <p:txBody>
          <a:bodyPr wrap="square" anchor="ctr" lIns="0" rIns="0" tIns="0" bIns="0">
            <a:noAutofit/>
          </a:bodyPr>
          <a:lstStyle/>
          <a:p>
            <a:pPr algn="ctr"/>
            <a:r>
              <a:rPr sz="850" b="1" i="0">
                <a:solidFill>
                  <a:srgbClr val="FFFFFF"/>
                </a:solidFill>
                <a:latin typeface="Outfit"/>
              </a:rPr>
              <a:t>=  SCORE DE PRUDENCE IA</a:t>
            </a:r>
          </a:p>
        </p:txBody>
      </p:sp>
      <p:sp>
        <p:nvSpPr>
          <p:cNvPr id="23" name="Rounded Rectangle 22"/>
          <p:cNvSpPr/>
          <p:nvPr/>
        </p:nvSpPr>
        <p:spPr>
          <a:xfrm>
            <a:off x="562356" y="3626104"/>
            <a:ext cx="7804404" cy="946912"/>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3524" y="3626104"/>
            <a:ext cx="7402068" cy="946912"/>
          </a:xfrm>
          <a:prstGeom prst="rect">
            <a:avLst/>
          </a:prstGeom>
          <a:noFill/>
        </p:spPr>
        <p:txBody>
          <a:bodyPr wrap="square" anchor="ctr" lIns="0" rIns="0" tIns="0" bIns="0">
            <a:noAutofit/>
          </a:bodyPr>
          <a:lstStyle/>
          <a:p>
            <a:pPr algn="l"/>
            <a:r>
              <a:rPr sz="900" b="1" i="0">
                <a:solidFill>
                  <a:srgbClr val="FFFFFF"/>
                </a:solidFill>
                <a:latin typeface="Outfit"/>
              </a:rPr>
              <a:t>Un frein, pas un veto automatique</a:t>
            </a:r>
          </a:p>
          <a:p>
            <a:pPr algn="l">
              <a:lnSpc>
                <a:spcPct val="125000"/>
              </a:lnSpc>
              <a:spcBef>
                <a:spcPts val="300"/>
              </a:spcBef>
            </a:pPr>
            <a:r>
              <a:rPr sz="800" b="0" i="0">
                <a:solidFill>
                  <a:srgbClr val="C7CBE0"/>
                </a:solidFill>
                <a:latin typeface="Outfit"/>
              </a:rPr>
              <a:t>Le score est SOUSTRAIT de impact × faisabilité — un candidat facile et à fort impact peut quand même être écarté si sa prudence IA est trop haute. Le score ne remplace pas l'arbitrage humain : il le rend explicite. Avancer malgré un score élevé reste possible, mais se documente comme une décision à part entière (même discipline que la dérogation du gate DevOps).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350">
                <a:solidFill>
                  <a:srgbClr val="0E2356"/>
                </a:solidFill>
                <a:latin typeface="Outfit"/>
              </a:rPr>
              <a:t>IA   ·   </a:t>
            </a:r>
            <a:r>
              <a:rPr b="1" sz="1350">
                <a:solidFill>
                  <a:srgbClr val="0E2356"/>
                </a:solidFill>
                <a:latin typeface="Outfit"/>
              </a:rPr>
              <a:t>Un agent de triage peut absorber le gaspillage RUN le plus répétitif</a:t>
            </a:r>
          </a:p>
        </p:txBody>
      </p:sp>
      <p:sp>
        <p:nvSpPr>
          <p:cNvPr id="3" name="Gear 6 2"/>
          <p:cNvSpPr/>
          <p:nvPr/>
        </p:nvSpPr>
        <p:spPr>
          <a:xfrm>
            <a:off x="562356" y="1051560"/>
            <a:ext cx="365760" cy="365760"/>
          </a:xfrm>
          <a:prstGeom prst="gear6">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74420" y="1051560"/>
            <a:ext cx="5006340" cy="365760"/>
          </a:xfrm>
          <a:prstGeom prst="rect">
            <a:avLst/>
          </a:prstGeom>
          <a:noFill/>
        </p:spPr>
        <p:txBody>
          <a:bodyPr wrap="square" anchor="ctr" lIns="0" rIns="0" tIns="0" bIns="0">
            <a:noAutofit/>
          </a:bodyPr>
          <a:lstStyle/>
          <a:p>
            <a:pPr algn="l"/>
            <a:r>
              <a:rPr sz="1400" b="1" i="0">
                <a:solidFill>
                  <a:srgbClr val="0E2356"/>
                </a:solidFill>
                <a:latin typeface="Outfit"/>
              </a:rPr>
              <a:t>Agent de triage de tickets</a:t>
            </a:r>
          </a:p>
          <a:p>
            <a:pPr algn="l">
              <a:spcBef>
                <a:spcPts val="200"/>
              </a:spcBef>
            </a:pPr>
            <a:r>
              <a:rPr sz="800" b="0" i="1">
                <a:solidFill>
                  <a:srgbClr val="586586"/>
                </a:solidFill>
                <a:latin typeface="Outfit"/>
              </a:rPr>
              <a:t>Gaspillage RUN</a:t>
            </a:r>
          </a:p>
        </p:txBody>
      </p:sp>
      <p:sp>
        <p:nvSpPr>
          <p:cNvPr id="5" name="Rounded Rectangle 4"/>
          <p:cNvSpPr/>
          <p:nvPr/>
        </p:nvSpPr>
        <p:spPr>
          <a:xfrm>
            <a:off x="6263640" y="1051560"/>
            <a:ext cx="2103120" cy="384048"/>
          </a:xfrm>
          <a:prstGeom prst="roundRect">
            <a:avLst>
              <a:gd name="adj" fmla="val 18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3368" y="1051560"/>
            <a:ext cx="1883663" cy="384048"/>
          </a:xfrm>
          <a:prstGeom prst="rect">
            <a:avLst/>
          </a:prstGeom>
          <a:noFill/>
        </p:spPr>
        <p:txBody>
          <a:bodyPr wrap="square" anchor="ctr" lIns="0" rIns="0" tIns="0" bIns="0">
            <a:noAutofit/>
          </a:bodyPr>
          <a:lstStyle/>
          <a:p>
            <a:pPr algn="l">
              <a:lnSpc>
                <a:spcPct val="110000"/>
              </a:lnSpc>
            </a:pPr>
            <a:r>
              <a:rPr sz="600" b="1" i="0">
                <a:solidFill>
                  <a:srgbClr val="0E2356"/>
                </a:solidFill>
                <a:latin typeface="Outfit"/>
              </a:rPr>
              <a:t>DÉPLOIEMENT AGENTIC CHEZ LE CLIENT</a:t>
            </a:r>
          </a:p>
          <a:p>
            <a:pPr algn="l">
              <a:spcBef>
                <a:spcPts val="100"/>
              </a:spcBef>
            </a:pPr>
            <a:r>
              <a:rPr sz="600" b="0" i="1">
                <a:solidFill>
                  <a:srgbClr val="586586"/>
                </a:solidFill>
                <a:latin typeface="Outfit"/>
              </a:rPr>
              <a:t>cf. schéma d'architecture · chapitre Outillage IAP</a:t>
            </a:r>
          </a:p>
        </p:txBody>
      </p:sp>
      <p:sp>
        <p:nvSpPr>
          <p:cNvPr id="7" name="Rounded Rectangle 6"/>
          <p:cNvSpPr/>
          <p:nvPr/>
        </p:nvSpPr>
        <p:spPr>
          <a:xfrm>
            <a:off x="873252" y="1985390"/>
            <a:ext cx="96012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3252" y="1985390"/>
            <a:ext cx="960120" cy="237744"/>
          </a:xfrm>
          <a:prstGeom prst="rect">
            <a:avLst/>
          </a:prstGeom>
          <a:noFill/>
        </p:spPr>
        <p:txBody>
          <a:bodyPr wrap="square" anchor="ctr" lIns="0" rIns="0" tIns="0" bIns="0">
            <a:noAutofit/>
          </a:bodyPr>
          <a:lstStyle/>
          <a:p>
            <a:pPr algn="ctr"/>
            <a:r>
              <a:rPr sz="750" b="1" i="0">
                <a:solidFill>
                  <a:srgbClr val="FFFFFF"/>
                </a:solidFill>
                <a:latin typeface="Outfit"/>
              </a:rPr>
              <a:t>POURQUOI</a:t>
            </a:r>
          </a:p>
        </p:txBody>
      </p:sp>
      <p:sp>
        <p:nvSpPr>
          <p:cNvPr id="9" name="TextBox 8"/>
          <p:cNvSpPr txBox="1"/>
          <p:nvPr/>
        </p:nvSpPr>
        <p:spPr>
          <a:xfrm>
            <a:off x="873252" y="2296286"/>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Les mêmes types de tickets reviennent depuis des années et mobilisent des experts seniors sur un travail répétitif à faible valeur — le gaspillage RUN le plus classique.</a:t>
            </a:r>
          </a:p>
        </p:txBody>
      </p:sp>
      <p:sp>
        <p:nvSpPr>
          <p:cNvPr id="10" name="Rounded Rectangle 9"/>
          <p:cNvSpPr/>
          <p:nvPr/>
        </p:nvSpPr>
        <p:spPr>
          <a:xfrm>
            <a:off x="873252" y="2984372"/>
            <a:ext cx="196596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3252" y="2984372"/>
            <a:ext cx="1965960" cy="237744"/>
          </a:xfrm>
          <a:prstGeom prst="rect">
            <a:avLst/>
          </a:prstGeom>
          <a:noFill/>
        </p:spPr>
        <p:txBody>
          <a:bodyPr wrap="square" anchor="ctr" lIns="0" rIns="0" tIns="0" bIns="0">
            <a:noAutofit/>
          </a:bodyPr>
          <a:lstStyle/>
          <a:p>
            <a:pPr algn="ctr"/>
            <a:r>
              <a:rPr sz="750" b="1" i="0">
                <a:solidFill>
                  <a:srgbClr val="FFFFFF"/>
                </a:solidFill>
                <a:latin typeface="Outfit"/>
              </a:rPr>
              <a:t>CE QUE FAIT L'AGENT</a:t>
            </a:r>
          </a:p>
        </p:txBody>
      </p:sp>
      <p:sp>
        <p:nvSpPr>
          <p:cNvPr id="12" name="TextBox 11"/>
          <p:cNvSpPr txBox="1"/>
          <p:nvPr/>
        </p:nvSpPr>
        <p:spPr>
          <a:xfrm>
            <a:off x="873252" y="3295269"/>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Lit chaque ticket entrant, le classe selon un runbook déjà documenté et le route vers la bonne équipe. Le processus doit être explicite avant l'agent (préalable non négociable) — jamais l'inverse.</a:t>
            </a:r>
          </a:p>
        </p:txBody>
      </p:sp>
      <p:sp>
        <p:nvSpPr>
          <p:cNvPr id="13" name="Rounded Rectangle 12"/>
          <p:cNvSpPr/>
          <p:nvPr/>
        </p:nvSpPr>
        <p:spPr>
          <a:xfrm>
            <a:off x="873252" y="3983354"/>
            <a:ext cx="68580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3252" y="3983354"/>
            <a:ext cx="685800" cy="237744"/>
          </a:xfrm>
          <a:prstGeom prst="rect">
            <a:avLst/>
          </a:prstGeom>
          <a:noFill/>
        </p:spPr>
        <p:txBody>
          <a:bodyPr wrap="square" anchor="ctr" lIns="0" rIns="0" tIns="0" bIns="0">
            <a:noAutofit/>
          </a:bodyPr>
          <a:lstStyle/>
          <a:p>
            <a:pPr algn="ctr"/>
            <a:r>
              <a:rPr sz="750" b="1" i="0">
                <a:solidFill>
                  <a:srgbClr val="FFFFFF"/>
                </a:solidFill>
                <a:latin typeface="Outfit"/>
              </a:rPr>
              <a:t>GAIN</a:t>
            </a:r>
          </a:p>
        </p:txBody>
      </p:sp>
      <p:sp>
        <p:nvSpPr>
          <p:cNvPr id="15" name="TextBox 14"/>
          <p:cNvSpPr txBox="1"/>
          <p:nvPr/>
        </p:nvSpPr>
        <p:spPr>
          <a:xfrm>
            <a:off x="873252" y="4294250"/>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Capacité RUN récupérée : dans le cas nominal du cadrage, jusqu'à 15 tickets/mois traités sans intervention humaine, temps de triage divisé par deux.</a:t>
            </a:r>
          </a:p>
        </p:txBody>
      </p:sp>
      <p:sp>
        <p:nvSpPr>
          <p:cNvPr id="16" name="Rectangle 15"/>
          <p:cNvSpPr/>
          <p:nvPr/>
        </p:nvSpPr>
        <p:spPr>
          <a:xfrm>
            <a:off x="739749" y="1472184"/>
            <a:ext cx="10972" cy="2630042"/>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90371" y="2049398"/>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90371" y="3048380"/>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90371" y="4047362"/>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IA   ·   </a:t>
            </a:r>
            <a:r>
              <a:rPr b="1" sz="1250">
                <a:solidFill>
                  <a:srgbClr val="0E2356"/>
                </a:solidFill>
                <a:latin typeface="Outfit"/>
              </a:rPr>
              <a:t>Un agent de veille FinOps rend le décommissionnement continu, pas ponctuel</a:t>
            </a:r>
          </a:p>
        </p:txBody>
      </p:sp>
      <p:sp>
        <p:nvSpPr>
          <p:cNvPr id="3" name="Cloud 2"/>
          <p:cNvSpPr/>
          <p:nvPr/>
        </p:nvSpPr>
        <p:spPr>
          <a:xfrm>
            <a:off x="562356" y="1051560"/>
            <a:ext cx="365760" cy="365760"/>
          </a:xfrm>
          <a:prstGeom prst="cloud">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74420" y="1051560"/>
            <a:ext cx="5006340" cy="365760"/>
          </a:xfrm>
          <a:prstGeom prst="rect">
            <a:avLst/>
          </a:prstGeom>
          <a:noFill/>
        </p:spPr>
        <p:txBody>
          <a:bodyPr wrap="square" anchor="ctr" lIns="0" rIns="0" tIns="0" bIns="0">
            <a:noAutofit/>
          </a:bodyPr>
          <a:lstStyle/>
          <a:p>
            <a:pPr algn="l"/>
            <a:r>
              <a:rPr sz="1400" b="1" i="0">
                <a:solidFill>
                  <a:srgbClr val="0E2356"/>
                </a:solidFill>
                <a:latin typeface="Outfit"/>
              </a:rPr>
              <a:t>Agent de veille FinOps</a:t>
            </a:r>
          </a:p>
          <a:p>
            <a:pPr algn="l">
              <a:spcBef>
                <a:spcPts val="200"/>
              </a:spcBef>
            </a:pPr>
            <a:r>
              <a:rPr sz="800" b="0" i="1">
                <a:solidFill>
                  <a:srgbClr val="586586"/>
                </a:solidFill>
                <a:latin typeface="Outfit"/>
              </a:rPr>
              <a:t>Gaspillage Financier</a:t>
            </a:r>
          </a:p>
        </p:txBody>
      </p:sp>
      <p:sp>
        <p:nvSpPr>
          <p:cNvPr id="5" name="Rounded Rectangle 4"/>
          <p:cNvSpPr/>
          <p:nvPr/>
        </p:nvSpPr>
        <p:spPr>
          <a:xfrm>
            <a:off x="6263640" y="1051560"/>
            <a:ext cx="2103120" cy="384048"/>
          </a:xfrm>
          <a:prstGeom prst="roundRect">
            <a:avLst>
              <a:gd name="adj" fmla="val 18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3368" y="1051560"/>
            <a:ext cx="1883663" cy="384048"/>
          </a:xfrm>
          <a:prstGeom prst="rect">
            <a:avLst/>
          </a:prstGeom>
          <a:noFill/>
        </p:spPr>
        <p:txBody>
          <a:bodyPr wrap="square" anchor="ctr" lIns="0" rIns="0" tIns="0" bIns="0">
            <a:noAutofit/>
          </a:bodyPr>
          <a:lstStyle/>
          <a:p>
            <a:pPr algn="l">
              <a:lnSpc>
                <a:spcPct val="110000"/>
              </a:lnSpc>
            </a:pPr>
            <a:r>
              <a:rPr sz="600" b="1" i="0">
                <a:solidFill>
                  <a:srgbClr val="0E2356"/>
                </a:solidFill>
                <a:latin typeface="Outfit"/>
              </a:rPr>
              <a:t>DÉPLOIEMENT AGENTIC CHEZ LE CLIENT</a:t>
            </a:r>
          </a:p>
          <a:p>
            <a:pPr algn="l">
              <a:spcBef>
                <a:spcPts val="100"/>
              </a:spcBef>
            </a:pPr>
            <a:r>
              <a:rPr sz="600" b="0" i="1">
                <a:solidFill>
                  <a:srgbClr val="586586"/>
                </a:solidFill>
                <a:latin typeface="Outfit"/>
              </a:rPr>
              <a:t>cf. schéma d'architecture · chapitre Outillage IAP</a:t>
            </a:r>
          </a:p>
        </p:txBody>
      </p:sp>
      <p:sp>
        <p:nvSpPr>
          <p:cNvPr id="7" name="Rounded Rectangle 6"/>
          <p:cNvSpPr/>
          <p:nvPr/>
        </p:nvSpPr>
        <p:spPr>
          <a:xfrm>
            <a:off x="873252" y="1985390"/>
            <a:ext cx="96012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3252" y="1985390"/>
            <a:ext cx="960120" cy="237744"/>
          </a:xfrm>
          <a:prstGeom prst="rect">
            <a:avLst/>
          </a:prstGeom>
          <a:noFill/>
        </p:spPr>
        <p:txBody>
          <a:bodyPr wrap="square" anchor="ctr" lIns="0" rIns="0" tIns="0" bIns="0">
            <a:noAutofit/>
          </a:bodyPr>
          <a:lstStyle/>
          <a:p>
            <a:pPr algn="ctr"/>
            <a:r>
              <a:rPr sz="750" b="1" i="0">
                <a:solidFill>
                  <a:srgbClr val="FFFFFF"/>
                </a:solidFill>
                <a:latin typeface="Outfit"/>
              </a:rPr>
              <a:t>POURQUOI</a:t>
            </a:r>
          </a:p>
        </p:txBody>
      </p:sp>
      <p:sp>
        <p:nvSpPr>
          <p:cNvPr id="9" name="TextBox 8"/>
          <p:cNvSpPr txBox="1"/>
          <p:nvPr/>
        </p:nvSpPr>
        <p:spPr>
          <a:xfrm>
            <a:off x="873252" y="2296286"/>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Les ressources cloud surdimensionnées ou orphelines ne sont détectées qu'à l'occasion d'audits ponctuels — le gaspillage s'accumule entre deux revues manuelles.</a:t>
            </a:r>
          </a:p>
        </p:txBody>
      </p:sp>
      <p:sp>
        <p:nvSpPr>
          <p:cNvPr id="10" name="Rounded Rectangle 9"/>
          <p:cNvSpPr/>
          <p:nvPr/>
        </p:nvSpPr>
        <p:spPr>
          <a:xfrm>
            <a:off x="873252" y="2984372"/>
            <a:ext cx="196596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3252" y="2984372"/>
            <a:ext cx="1965960" cy="237744"/>
          </a:xfrm>
          <a:prstGeom prst="rect">
            <a:avLst/>
          </a:prstGeom>
          <a:noFill/>
        </p:spPr>
        <p:txBody>
          <a:bodyPr wrap="square" anchor="ctr" lIns="0" rIns="0" tIns="0" bIns="0">
            <a:noAutofit/>
          </a:bodyPr>
          <a:lstStyle/>
          <a:p>
            <a:pPr algn="ctr"/>
            <a:r>
              <a:rPr sz="750" b="1" i="0">
                <a:solidFill>
                  <a:srgbClr val="FFFFFF"/>
                </a:solidFill>
                <a:latin typeface="Outfit"/>
              </a:rPr>
              <a:t>CE QUE FAIT L'AGENT</a:t>
            </a:r>
          </a:p>
        </p:txBody>
      </p:sp>
      <p:sp>
        <p:nvSpPr>
          <p:cNvPr id="12" name="TextBox 11"/>
          <p:cNvSpPr txBox="1"/>
          <p:nvPr/>
        </p:nvSpPr>
        <p:spPr>
          <a:xfrm>
            <a:off x="873252" y="3295269"/>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Scanne en continu la CMDB et la facturation cloud, détecte les ressources inactives ou surdimensionnées, et propose une liste de décommissionnement à valider — ne décommissionne jamais seul.</a:t>
            </a:r>
          </a:p>
        </p:txBody>
      </p:sp>
      <p:sp>
        <p:nvSpPr>
          <p:cNvPr id="13" name="Rounded Rectangle 12"/>
          <p:cNvSpPr/>
          <p:nvPr/>
        </p:nvSpPr>
        <p:spPr>
          <a:xfrm>
            <a:off x="873252" y="3983354"/>
            <a:ext cx="68580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3252" y="3983354"/>
            <a:ext cx="685800" cy="237744"/>
          </a:xfrm>
          <a:prstGeom prst="rect">
            <a:avLst/>
          </a:prstGeom>
          <a:noFill/>
        </p:spPr>
        <p:txBody>
          <a:bodyPr wrap="square" anchor="ctr" lIns="0" rIns="0" tIns="0" bIns="0">
            <a:noAutofit/>
          </a:bodyPr>
          <a:lstStyle/>
          <a:p>
            <a:pPr algn="ctr"/>
            <a:r>
              <a:rPr sz="750" b="1" i="0">
                <a:solidFill>
                  <a:srgbClr val="FFFFFF"/>
                </a:solidFill>
                <a:latin typeface="Outfit"/>
              </a:rPr>
              <a:t>GAIN</a:t>
            </a:r>
          </a:p>
        </p:txBody>
      </p:sp>
      <p:sp>
        <p:nvSpPr>
          <p:cNvPr id="15" name="TextBox 14"/>
          <p:cNvSpPr txBox="1"/>
          <p:nvPr/>
        </p:nvSpPr>
        <p:spPr>
          <a:xfrm>
            <a:off x="873252" y="4294250"/>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Coût récupéré et directement mesurable (ressources décommissionnées par mois) — un KPI de mission déjà cadré, pas à inventer.</a:t>
            </a:r>
          </a:p>
        </p:txBody>
      </p:sp>
      <p:sp>
        <p:nvSpPr>
          <p:cNvPr id="16" name="Rectangle 15"/>
          <p:cNvSpPr/>
          <p:nvPr/>
        </p:nvSpPr>
        <p:spPr>
          <a:xfrm>
            <a:off x="739749" y="1472184"/>
            <a:ext cx="10972" cy="2630042"/>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90371" y="2049398"/>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90371" y="3048380"/>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90371" y="4047362"/>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300">
                <a:solidFill>
                  <a:srgbClr val="0E2356"/>
                </a:solidFill>
                <a:latin typeface="Outfit"/>
              </a:rPr>
              <a:t>IA   ·   </a:t>
            </a:r>
            <a:r>
              <a:rPr b="1" sz="1300">
                <a:solidFill>
                  <a:srgbClr val="0E2356"/>
                </a:solidFill>
                <a:latin typeface="Outfit"/>
              </a:rPr>
              <a:t>Un agent documentaire réduit la charge cognitive sans remplacer l'expert</a:t>
            </a:r>
          </a:p>
        </p:txBody>
      </p:sp>
      <p:sp>
        <p:nvSpPr>
          <p:cNvPr id="3" name="Folded Corner 2"/>
          <p:cNvSpPr/>
          <p:nvPr/>
        </p:nvSpPr>
        <p:spPr>
          <a:xfrm>
            <a:off x="562356" y="1051560"/>
            <a:ext cx="365760" cy="365760"/>
          </a:xfrm>
          <a:prstGeom prst="foldedCorner">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74420" y="1051560"/>
            <a:ext cx="5006340" cy="365760"/>
          </a:xfrm>
          <a:prstGeom prst="rect">
            <a:avLst/>
          </a:prstGeom>
          <a:noFill/>
        </p:spPr>
        <p:txBody>
          <a:bodyPr wrap="square" anchor="ctr" lIns="0" rIns="0" tIns="0" bIns="0">
            <a:noAutofit/>
          </a:bodyPr>
          <a:lstStyle/>
          <a:p>
            <a:pPr algn="l"/>
            <a:r>
              <a:rPr sz="1400" b="1" i="0">
                <a:solidFill>
                  <a:srgbClr val="0E2356"/>
                </a:solidFill>
                <a:latin typeface="Outfit"/>
              </a:rPr>
              <a:t>Agent documentaire (RAG)</a:t>
            </a:r>
          </a:p>
          <a:p>
            <a:pPr algn="l">
              <a:spcBef>
                <a:spcPts val="200"/>
              </a:spcBef>
            </a:pPr>
            <a:r>
              <a:rPr sz="800" b="0" i="1">
                <a:solidFill>
                  <a:srgbClr val="586586"/>
                </a:solidFill>
                <a:latin typeface="Outfit"/>
              </a:rPr>
              <a:t>Gaspillage Cognitif</a:t>
            </a:r>
          </a:p>
        </p:txBody>
      </p:sp>
      <p:sp>
        <p:nvSpPr>
          <p:cNvPr id="5" name="Rounded Rectangle 4"/>
          <p:cNvSpPr/>
          <p:nvPr/>
        </p:nvSpPr>
        <p:spPr>
          <a:xfrm>
            <a:off x="6263640" y="1051560"/>
            <a:ext cx="2103120" cy="384048"/>
          </a:xfrm>
          <a:prstGeom prst="roundRect">
            <a:avLst>
              <a:gd name="adj" fmla="val 18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3368" y="1051560"/>
            <a:ext cx="1883663" cy="384048"/>
          </a:xfrm>
          <a:prstGeom prst="rect">
            <a:avLst/>
          </a:prstGeom>
          <a:noFill/>
        </p:spPr>
        <p:txBody>
          <a:bodyPr wrap="square" anchor="ctr" lIns="0" rIns="0" tIns="0" bIns="0">
            <a:noAutofit/>
          </a:bodyPr>
          <a:lstStyle/>
          <a:p>
            <a:pPr algn="l">
              <a:lnSpc>
                <a:spcPct val="110000"/>
              </a:lnSpc>
            </a:pPr>
            <a:r>
              <a:rPr sz="600" b="1" i="0">
                <a:solidFill>
                  <a:srgbClr val="0E2356"/>
                </a:solidFill>
                <a:latin typeface="Outfit"/>
              </a:rPr>
              <a:t>DÉPLOIEMENT AGENTIC CHEZ LE CLIENT</a:t>
            </a:r>
          </a:p>
          <a:p>
            <a:pPr algn="l">
              <a:spcBef>
                <a:spcPts val="100"/>
              </a:spcBef>
            </a:pPr>
            <a:r>
              <a:rPr sz="600" b="0" i="1">
                <a:solidFill>
                  <a:srgbClr val="586586"/>
                </a:solidFill>
                <a:latin typeface="Outfit"/>
              </a:rPr>
              <a:t>cf. schéma d'architecture · chapitre Outillage IAP</a:t>
            </a:r>
          </a:p>
        </p:txBody>
      </p:sp>
      <p:sp>
        <p:nvSpPr>
          <p:cNvPr id="7" name="Rounded Rectangle 6"/>
          <p:cNvSpPr/>
          <p:nvPr/>
        </p:nvSpPr>
        <p:spPr>
          <a:xfrm>
            <a:off x="873252" y="1756791"/>
            <a:ext cx="96012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3252" y="1756791"/>
            <a:ext cx="960120" cy="237744"/>
          </a:xfrm>
          <a:prstGeom prst="rect">
            <a:avLst/>
          </a:prstGeom>
          <a:noFill/>
        </p:spPr>
        <p:txBody>
          <a:bodyPr wrap="square" anchor="ctr" lIns="0" rIns="0" tIns="0" bIns="0">
            <a:noAutofit/>
          </a:bodyPr>
          <a:lstStyle/>
          <a:p>
            <a:pPr algn="ctr"/>
            <a:r>
              <a:rPr sz="750" b="1" i="0">
                <a:solidFill>
                  <a:srgbClr val="FFFFFF"/>
                </a:solidFill>
                <a:latin typeface="Outfit"/>
              </a:rPr>
              <a:t>POURQUOI</a:t>
            </a:r>
          </a:p>
        </p:txBody>
      </p:sp>
      <p:sp>
        <p:nvSpPr>
          <p:cNvPr id="9" name="TextBox 8"/>
          <p:cNvSpPr txBox="1"/>
          <p:nvPr/>
        </p:nvSpPr>
        <p:spPr>
          <a:xfrm>
            <a:off x="873252" y="2067687"/>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Trop d'outils, procédures dispersées : la charge cognitive pour retrouver l'information ralentit les équipes et sollicite en permanence les mêmes experts.</a:t>
            </a:r>
          </a:p>
        </p:txBody>
      </p:sp>
      <p:sp>
        <p:nvSpPr>
          <p:cNvPr id="10" name="Rounded Rectangle 9"/>
          <p:cNvSpPr/>
          <p:nvPr/>
        </p:nvSpPr>
        <p:spPr>
          <a:xfrm>
            <a:off x="873252" y="2755773"/>
            <a:ext cx="196596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3252" y="2755773"/>
            <a:ext cx="1965960" cy="237744"/>
          </a:xfrm>
          <a:prstGeom prst="rect">
            <a:avLst/>
          </a:prstGeom>
          <a:noFill/>
        </p:spPr>
        <p:txBody>
          <a:bodyPr wrap="square" anchor="ctr" lIns="0" rIns="0" tIns="0" bIns="0">
            <a:noAutofit/>
          </a:bodyPr>
          <a:lstStyle/>
          <a:p>
            <a:pPr algn="ctr"/>
            <a:r>
              <a:rPr sz="750" b="1" i="0">
                <a:solidFill>
                  <a:srgbClr val="FFFFFF"/>
                </a:solidFill>
                <a:latin typeface="Outfit"/>
              </a:rPr>
              <a:t>CE QUE FAIT L'AGENT</a:t>
            </a:r>
          </a:p>
        </p:txBody>
      </p:sp>
      <p:sp>
        <p:nvSpPr>
          <p:cNvPr id="12" name="TextBox 11"/>
          <p:cNvSpPr txBox="1"/>
          <p:nvPr/>
        </p:nvSpPr>
        <p:spPr>
          <a:xfrm>
            <a:off x="873252" y="3066669"/>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Indexe la documentation existante (runbooks, wikis, tickets résolus) et répond aux questions fréquentes avec la source citée — jamais une réponse sans preuve.</a:t>
            </a:r>
          </a:p>
        </p:txBody>
      </p:sp>
      <p:sp>
        <p:nvSpPr>
          <p:cNvPr id="13" name="Rounded Rectangle 12"/>
          <p:cNvSpPr/>
          <p:nvPr/>
        </p:nvSpPr>
        <p:spPr>
          <a:xfrm>
            <a:off x="873252" y="3754755"/>
            <a:ext cx="685800"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3252" y="3754755"/>
            <a:ext cx="685800" cy="237744"/>
          </a:xfrm>
          <a:prstGeom prst="rect">
            <a:avLst/>
          </a:prstGeom>
          <a:noFill/>
        </p:spPr>
        <p:txBody>
          <a:bodyPr wrap="square" anchor="ctr" lIns="0" rIns="0" tIns="0" bIns="0">
            <a:noAutofit/>
          </a:bodyPr>
          <a:lstStyle/>
          <a:p>
            <a:pPr algn="ctr"/>
            <a:r>
              <a:rPr sz="750" b="1" i="0">
                <a:solidFill>
                  <a:srgbClr val="FFFFFF"/>
                </a:solidFill>
                <a:latin typeface="Outfit"/>
              </a:rPr>
              <a:t>GAIN</a:t>
            </a:r>
          </a:p>
        </p:txBody>
      </p:sp>
      <p:sp>
        <p:nvSpPr>
          <p:cNvPr id="15" name="TextBox 14"/>
          <p:cNvSpPr txBox="1"/>
          <p:nvPr/>
        </p:nvSpPr>
        <p:spPr>
          <a:xfrm>
            <a:off x="873252" y="4065651"/>
            <a:ext cx="7493508" cy="304037"/>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Charge cognitive réduite, onboarding plus rapide, moins d'interruptions des experts seniors pour des questions déjà documentées.</a:t>
            </a:r>
          </a:p>
        </p:txBody>
      </p:sp>
      <p:sp>
        <p:nvSpPr>
          <p:cNvPr id="16" name="Rectangle 15"/>
          <p:cNvSpPr/>
          <p:nvPr/>
        </p:nvSpPr>
        <p:spPr>
          <a:xfrm>
            <a:off x="739749" y="1472184"/>
            <a:ext cx="10972" cy="2401443"/>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90371" y="1820799"/>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90371" y="2819781"/>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90371" y="3818763"/>
            <a:ext cx="109728" cy="1097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2356" y="4515993"/>
            <a:ext cx="7804404" cy="41148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Ces 3 candidats restent soumis au scoring (chapitre Proposition) et au gate IA (ouverture de ce chapitre) avant toute décision — des exemples illustratifs, pas une liste actée.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IA   ·   </a:t>
            </a:r>
            <a:r>
              <a:rPr b="1" sz="1200">
                <a:solidFill>
                  <a:srgbClr val="0E2356"/>
                </a:solidFill>
                <a:latin typeface="Outfit"/>
              </a:rPr>
              <a:t>Export markdown — agentic ou documentation, selon le contexte client (piste à valider)</a:t>
            </a:r>
          </a:p>
        </p:txBody>
      </p:sp>
      <p:sp>
        <p:nvSpPr>
          <p:cNvPr id="3" name="Rounded Rectangle 2"/>
          <p:cNvSpPr/>
          <p:nvPr/>
        </p:nvSpPr>
        <p:spPr>
          <a:xfrm>
            <a:off x="6263640" y="1051560"/>
            <a:ext cx="2103120" cy="384048"/>
          </a:xfrm>
          <a:prstGeom prst="roundRect">
            <a:avLst>
              <a:gd name="adj" fmla="val 18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73368" y="1051560"/>
            <a:ext cx="1883663" cy="384048"/>
          </a:xfrm>
          <a:prstGeom prst="rect">
            <a:avLst/>
          </a:prstGeom>
          <a:noFill/>
        </p:spPr>
        <p:txBody>
          <a:bodyPr wrap="square" anchor="ctr" lIns="0" rIns="0" tIns="0" bIns="0">
            <a:noAutofit/>
          </a:bodyPr>
          <a:lstStyle/>
          <a:p>
            <a:pPr algn="l">
              <a:lnSpc>
                <a:spcPct val="110000"/>
              </a:lnSpc>
            </a:pPr>
            <a:r>
              <a:rPr sz="600" b="1" i="0">
                <a:solidFill>
                  <a:srgbClr val="0E2356"/>
                </a:solidFill>
                <a:latin typeface="Outfit"/>
              </a:rPr>
              <a:t>DÉPLOIEMENT AGENTIC CHEZ LE CLIENT</a:t>
            </a:r>
          </a:p>
          <a:p>
            <a:pPr algn="l">
              <a:spcBef>
                <a:spcPts val="100"/>
              </a:spcBef>
            </a:pPr>
            <a:r>
              <a:rPr sz="600" b="0" i="1">
                <a:solidFill>
                  <a:srgbClr val="586586"/>
                </a:solidFill>
                <a:latin typeface="Outfit"/>
              </a:rPr>
              <a:t>cf. schéma d'architecture · chapitre Outillage IAP</a:t>
            </a:r>
          </a:p>
        </p:txBody>
      </p:sp>
      <p:sp>
        <p:nvSpPr>
          <p:cNvPr id="5" name="TextBox 4"/>
          <p:cNvSpPr txBox="1"/>
          <p:nvPr/>
        </p:nvSpPr>
        <p:spPr>
          <a:xfrm>
            <a:off x="562356" y="1051560"/>
            <a:ext cx="5518404" cy="45720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Pas un 5e deck PPT : un livrable markdown pour l'équipe qui exécute (versionnable, committable) — les 4 decks du chapitre Démarche restent pour sponsor et comité de pilotage.</a:t>
            </a:r>
          </a:p>
        </p:txBody>
      </p:sp>
      <p:sp>
        <p:nvSpPr>
          <p:cNvPr id="6" name="Rounded Rectangle 5"/>
          <p:cNvSpPr/>
          <p:nvPr/>
        </p:nvSpPr>
        <p:spPr>
          <a:xfrm>
            <a:off x="562356" y="1554480"/>
            <a:ext cx="3810762" cy="141732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2356" y="1554480"/>
            <a:ext cx="64008" cy="1417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5236" y="1682495"/>
            <a:ext cx="3445002" cy="274320"/>
          </a:xfrm>
          <a:prstGeom prst="rect">
            <a:avLst/>
          </a:prstGeom>
          <a:noFill/>
        </p:spPr>
        <p:txBody>
          <a:bodyPr wrap="square" anchor="t" lIns="0" rIns="0" tIns="0" bIns="0">
            <a:noAutofit/>
          </a:bodyPr>
          <a:lstStyle/>
          <a:p>
            <a:pPr algn="l"/>
            <a:r>
              <a:rPr sz="1400" b="1" i="0">
                <a:solidFill>
                  <a:srgbClr val="0E2356"/>
                </a:solidFill>
                <a:latin typeface="Outfit"/>
              </a:rPr>
              <a:t>DOCUMENTATION-FIRST</a:t>
            </a:r>
          </a:p>
        </p:txBody>
      </p:sp>
      <p:sp>
        <p:nvSpPr>
          <p:cNvPr id="9" name="TextBox 8"/>
          <p:cNvSpPr txBox="1"/>
          <p:nvPr/>
        </p:nvSpPr>
        <p:spPr>
          <a:xfrm>
            <a:off x="745236" y="2011680"/>
            <a:ext cx="3445002" cy="502920"/>
          </a:xfrm>
          <a:prstGeom prst="rect">
            <a:avLst/>
          </a:prstGeom>
          <a:noFill/>
        </p:spPr>
        <p:txBody>
          <a:bodyPr wrap="square" anchor="t" lIns="0" rIns="0" tIns="0" bIns="0">
            <a:noAutofit/>
          </a:bodyPr>
          <a:lstStyle/>
          <a:p>
            <a:pPr algn="l"/>
            <a:r>
              <a:rPr sz="900" b="1" i="0">
                <a:solidFill>
                  <a:srgbClr val="586586"/>
                </a:solidFill>
                <a:latin typeface="Outfit"/>
              </a:rPr>
              <a:t>QUAND</a:t>
            </a:r>
          </a:p>
          <a:p>
            <a:pPr algn="l">
              <a:lnSpc>
                <a:spcPct val="120000"/>
              </a:lnSpc>
              <a:spcBef>
                <a:spcPts val="200"/>
              </a:spcBef>
            </a:pPr>
            <a:r>
              <a:rPr sz="800" b="0" i="0">
                <a:solidFill>
                  <a:srgbClr val="0E2356"/>
                </a:solidFill>
                <a:latin typeface="Outfit"/>
              </a:rPr>
              <a:t>Agentic Readiness [0]-[1], données D3-D4 sans LLM local, ou score de gaspillage faible.</a:t>
            </a:r>
          </a:p>
        </p:txBody>
      </p:sp>
      <p:sp>
        <p:nvSpPr>
          <p:cNvPr id="10" name="TextBox 9"/>
          <p:cNvSpPr txBox="1"/>
          <p:nvPr/>
        </p:nvSpPr>
        <p:spPr>
          <a:xfrm>
            <a:off x="745236" y="2542032"/>
            <a:ext cx="3445002" cy="365760"/>
          </a:xfrm>
          <a:prstGeom prst="rect">
            <a:avLst/>
          </a:prstGeom>
          <a:noFill/>
        </p:spPr>
        <p:txBody>
          <a:bodyPr wrap="square" anchor="t" lIns="0" rIns="0" tIns="0" bIns="0">
            <a:noAutofit/>
          </a:bodyPr>
          <a:lstStyle/>
          <a:p>
            <a:pPr algn="l"/>
            <a:r>
              <a:rPr sz="700" b="1" i="0">
                <a:solidFill>
                  <a:srgbClr val="586586"/>
                </a:solidFill>
                <a:latin typeface="Outfit"/>
              </a:rPr>
              <a:t>LIVRABLE · OWNER</a:t>
            </a:r>
          </a:p>
          <a:p>
            <a:pPr algn="l">
              <a:spcBef>
                <a:spcPts val="200"/>
              </a:spcBef>
            </a:pPr>
            <a:r>
              <a:rPr sz="800" b="1" i="0">
                <a:solidFill>
                  <a:srgbClr val="0E2356"/>
                </a:solidFill>
                <a:latin typeface="Outfit"/>
              </a:rPr>
              <a:t>Runbook du processus — iap-adoption-plan</a:t>
            </a:r>
          </a:p>
        </p:txBody>
      </p:sp>
      <p:sp>
        <p:nvSpPr>
          <p:cNvPr id="11" name="Rounded Rectangle 10"/>
          <p:cNvSpPr/>
          <p:nvPr/>
        </p:nvSpPr>
        <p:spPr>
          <a:xfrm>
            <a:off x="4555998" y="1554480"/>
            <a:ext cx="3810762" cy="141732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55998" y="1554480"/>
            <a:ext cx="64008" cy="1417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8878" y="1682495"/>
            <a:ext cx="3445002" cy="274320"/>
          </a:xfrm>
          <a:prstGeom prst="rect">
            <a:avLst/>
          </a:prstGeom>
          <a:noFill/>
        </p:spPr>
        <p:txBody>
          <a:bodyPr wrap="square" anchor="t" lIns="0" rIns="0" tIns="0" bIns="0">
            <a:noAutofit/>
          </a:bodyPr>
          <a:lstStyle/>
          <a:p>
            <a:pPr algn="l"/>
            <a:r>
              <a:rPr sz="1400" b="1" i="0">
                <a:solidFill>
                  <a:srgbClr val="0E2356"/>
                </a:solidFill>
                <a:latin typeface="Outfit"/>
              </a:rPr>
              <a:t>AGENTIC-IMPLEMENTATION</a:t>
            </a:r>
          </a:p>
        </p:txBody>
      </p:sp>
      <p:sp>
        <p:nvSpPr>
          <p:cNvPr id="14" name="TextBox 13"/>
          <p:cNvSpPr txBox="1"/>
          <p:nvPr/>
        </p:nvSpPr>
        <p:spPr>
          <a:xfrm>
            <a:off x="4738878" y="2011680"/>
            <a:ext cx="3445002" cy="502920"/>
          </a:xfrm>
          <a:prstGeom prst="rect">
            <a:avLst/>
          </a:prstGeom>
          <a:noFill/>
        </p:spPr>
        <p:txBody>
          <a:bodyPr wrap="square" anchor="t" lIns="0" rIns="0" tIns="0" bIns="0">
            <a:noAutofit/>
          </a:bodyPr>
          <a:lstStyle/>
          <a:p>
            <a:pPr algn="l"/>
            <a:r>
              <a:rPr sz="900" b="1" i="0">
                <a:solidFill>
                  <a:srgbClr val="586586"/>
                </a:solidFill>
                <a:latin typeface="Outfit"/>
              </a:rPr>
              <a:t>QUAND</a:t>
            </a:r>
          </a:p>
          <a:p>
            <a:pPr algn="l">
              <a:lnSpc>
                <a:spcPct val="120000"/>
              </a:lnSpc>
              <a:spcBef>
                <a:spcPts val="200"/>
              </a:spcBef>
            </a:pPr>
            <a:r>
              <a:rPr sz="800" b="0" i="0">
                <a:solidFill>
                  <a:srgbClr val="0E2356"/>
                </a:solidFill>
                <a:latin typeface="Outfit"/>
              </a:rPr>
              <a:t>Agentic Readiness [2]-[3], données D0-D2 (ou D3-D4 avec LLM local), score positif.</a:t>
            </a:r>
          </a:p>
        </p:txBody>
      </p:sp>
      <p:sp>
        <p:nvSpPr>
          <p:cNvPr id="15" name="TextBox 14"/>
          <p:cNvSpPr txBox="1"/>
          <p:nvPr/>
        </p:nvSpPr>
        <p:spPr>
          <a:xfrm>
            <a:off x="4738878" y="2542032"/>
            <a:ext cx="3445002" cy="365760"/>
          </a:xfrm>
          <a:prstGeom prst="rect">
            <a:avLst/>
          </a:prstGeom>
          <a:noFill/>
        </p:spPr>
        <p:txBody>
          <a:bodyPr wrap="square" anchor="t" lIns="0" rIns="0" tIns="0" bIns="0">
            <a:noAutofit/>
          </a:bodyPr>
          <a:lstStyle/>
          <a:p>
            <a:pPr algn="l"/>
            <a:r>
              <a:rPr sz="700" b="1" i="0">
                <a:solidFill>
                  <a:srgbClr val="586586"/>
                </a:solidFill>
                <a:latin typeface="Outfit"/>
              </a:rPr>
              <a:t>LIVRABLE · OWNER</a:t>
            </a:r>
          </a:p>
          <a:p>
            <a:pPr algn="l">
              <a:spcBef>
                <a:spcPts val="200"/>
              </a:spcBef>
            </a:pPr>
            <a:r>
              <a:rPr sz="800" b="1" i="0">
                <a:solidFill>
                  <a:srgbClr val="0E2356"/>
                </a:solidFill>
                <a:latin typeface="Outfit"/>
              </a:rPr>
              <a:t>Plan d'implémentation agentic — iap-agentic-opportunities</a:t>
            </a:r>
          </a:p>
        </p:txBody>
      </p:sp>
      <p:sp>
        <p:nvSpPr>
          <p:cNvPr id="16" name="Rounded Rectangle 15"/>
          <p:cNvSpPr/>
          <p:nvPr/>
        </p:nvSpPr>
        <p:spPr>
          <a:xfrm>
            <a:off x="562356" y="3108960"/>
            <a:ext cx="2479548" cy="50292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084" y="3163824"/>
            <a:ext cx="2260092" cy="393192"/>
          </a:xfrm>
          <a:prstGeom prst="rect">
            <a:avLst/>
          </a:prstGeom>
          <a:noFill/>
        </p:spPr>
        <p:txBody>
          <a:bodyPr wrap="square" anchor="t" lIns="0" rIns="0" tIns="0" bIns="0">
            <a:noAutofit/>
          </a:bodyPr>
          <a:lstStyle/>
          <a:p>
            <a:pPr algn="l"/>
            <a:r>
              <a:rPr sz="700" b="1" i="0">
                <a:solidFill>
                  <a:srgbClr val="0E2356"/>
                </a:solidFill>
                <a:latin typeface="Outfit"/>
              </a:rPr>
              <a:t>PILIER AGENTIC READINESS</a:t>
            </a:r>
          </a:p>
          <a:p>
            <a:pPr algn="l">
              <a:lnSpc>
                <a:spcPct val="115000"/>
              </a:lnSpc>
              <a:spcBef>
                <a:spcPts val="200"/>
              </a:spcBef>
            </a:pPr>
            <a:r>
              <a:rPr sz="700" b="0" i="0">
                <a:solidFill>
                  <a:srgbClr val="586586"/>
                </a:solidFill>
                <a:latin typeface="Outfit"/>
              </a:rPr>
              <a:t>[0-1] → documentation · [2-3] → agentic</a:t>
            </a:r>
          </a:p>
        </p:txBody>
      </p:sp>
      <p:sp>
        <p:nvSpPr>
          <p:cNvPr id="18" name="Rounded Rectangle 17"/>
          <p:cNvSpPr/>
          <p:nvPr/>
        </p:nvSpPr>
        <p:spPr>
          <a:xfrm>
            <a:off x="3224783" y="3108960"/>
            <a:ext cx="2479548" cy="50292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34512" y="3163824"/>
            <a:ext cx="2260092" cy="393192"/>
          </a:xfrm>
          <a:prstGeom prst="rect">
            <a:avLst/>
          </a:prstGeom>
          <a:noFill/>
        </p:spPr>
        <p:txBody>
          <a:bodyPr wrap="square" anchor="t" lIns="0" rIns="0" tIns="0" bIns="0">
            <a:noAutofit/>
          </a:bodyPr>
          <a:lstStyle/>
          <a:p>
            <a:pPr algn="l"/>
            <a:r>
              <a:rPr sz="700" b="1" i="0">
                <a:solidFill>
                  <a:srgbClr val="0E2356"/>
                </a:solidFill>
                <a:latin typeface="Outfit"/>
              </a:rPr>
              <a:t>DONNÉES (GATE IA)</a:t>
            </a:r>
          </a:p>
          <a:p>
            <a:pPr algn="l">
              <a:lnSpc>
                <a:spcPct val="115000"/>
              </a:lnSpc>
              <a:spcBef>
                <a:spcPts val="200"/>
              </a:spcBef>
            </a:pPr>
            <a:r>
              <a:rPr sz="700" b="0" i="0">
                <a:solidFill>
                  <a:srgbClr val="586586"/>
                </a:solidFill>
                <a:latin typeface="Outfit"/>
              </a:rPr>
              <a:t>D3-D4 sans LLM local → doc · D0-D2 → agentic</a:t>
            </a:r>
          </a:p>
        </p:txBody>
      </p:sp>
      <p:sp>
        <p:nvSpPr>
          <p:cNvPr id="20" name="Rounded Rectangle 19"/>
          <p:cNvSpPr/>
          <p:nvPr/>
        </p:nvSpPr>
        <p:spPr>
          <a:xfrm>
            <a:off x="5887212" y="3108960"/>
            <a:ext cx="2479548" cy="50292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96940" y="3163824"/>
            <a:ext cx="2260092" cy="393192"/>
          </a:xfrm>
          <a:prstGeom prst="rect">
            <a:avLst/>
          </a:prstGeom>
          <a:noFill/>
        </p:spPr>
        <p:txBody>
          <a:bodyPr wrap="square" anchor="t" lIns="0" rIns="0" tIns="0" bIns="0">
            <a:noAutofit/>
          </a:bodyPr>
          <a:lstStyle/>
          <a:p>
            <a:pPr algn="l"/>
            <a:r>
              <a:rPr sz="700" b="1" i="0">
                <a:solidFill>
                  <a:srgbClr val="0E2356"/>
                </a:solidFill>
                <a:latin typeface="Outfit"/>
              </a:rPr>
              <a:t>SCORE DE GASPILLAGE</a:t>
            </a:r>
          </a:p>
          <a:p>
            <a:pPr algn="l">
              <a:lnSpc>
                <a:spcPct val="115000"/>
              </a:lnSpc>
              <a:spcBef>
                <a:spcPts val="200"/>
              </a:spcBef>
            </a:pPr>
            <a:r>
              <a:rPr sz="700" b="0" i="0">
                <a:solidFill>
                  <a:srgbClr val="586586"/>
                </a:solidFill>
                <a:latin typeface="Outfit"/>
              </a:rPr>
              <a:t>faible/négatif → doc · positif → agentic</a:t>
            </a:r>
          </a:p>
        </p:txBody>
      </p:sp>
      <p:sp>
        <p:nvSpPr>
          <p:cNvPr id="22" name="Rounded Rectangle 21"/>
          <p:cNvSpPr/>
          <p:nvPr/>
        </p:nvSpPr>
        <p:spPr>
          <a:xfrm>
            <a:off x="562356" y="3749040"/>
            <a:ext cx="7804404" cy="960120"/>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3524" y="3749040"/>
            <a:ext cx="7402068" cy="960120"/>
          </a:xfrm>
          <a:prstGeom prst="rect">
            <a:avLst/>
          </a:prstGeom>
          <a:noFill/>
        </p:spPr>
        <p:txBody>
          <a:bodyPr wrap="square" anchor="ctr" lIns="0" rIns="0" tIns="0" bIns="0">
            <a:noAutofit/>
          </a:bodyPr>
          <a:lstStyle/>
          <a:p>
            <a:pPr algn="l"/>
            <a:r>
              <a:rPr sz="900" b="1" i="0">
                <a:solidFill>
                  <a:srgbClr val="FFFFFF"/>
                </a:solidFill>
                <a:latin typeface="Outfit"/>
              </a:rPr>
              <a:t>Pas un aller simple</a:t>
            </a:r>
          </a:p>
          <a:p>
            <a:pPr algn="l">
              <a:lnSpc>
                <a:spcPct val="125000"/>
              </a:lnSpc>
              <a:spcBef>
                <a:spcPts val="400"/>
              </a:spcBef>
            </a:pPr>
            <a:r>
              <a:rPr sz="800" b="0" i="0">
                <a:solidFill>
                  <a:srgbClr val="C7CBE0"/>
                </a:solidFill>
                <a:latin typeface="Outfit"/>
              </a:rPr>
              <a:t>À chaque boucle de réévaluation, le même fichier est amendé — jamais dupliqué — sur le modèle du registre de risques IA : un client documentation-first peut basculer en agentic si son Agentic Readiness progresse, et inversement en cas de perte de compétence avérée.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Démarche</a:t>
            </a:r>
          </a:p>
          <a:p>
            <a:r>
              <a:rPr sz="1050" i="1">
                <a:solidFill>
                  <a:srgbClr val="586586"/>
                </a:solidFill>
                <a:latin typeface="Outfit"/>
              </a:rPr>
              <a:t>La trajectoire et ses livrables par phase, le fil humain, le schéma de fonctionnement et l'inventaire des agents.</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08</a:t>
            </a:r>
          </a:p>
        </p:txBody>
      </p:sp>
      <p:pic>
        <p:nvPicPr>
          <p:cNvPr id="4" name="Picture 3" descr="canyon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Trois temps et une boucle — chaque phase produit son livrable de décision</a:t>
            </a:r>
          </a:p>
        </p:txBody>
      </p:sp>
      <p:sp>
        <p:nvSpPr>
          <p:cNvPr id="3" name="Rectangle 2"/>
          <p:cNvSpPr/>
          <p:nvPr/>
        </p:nvSpPr>
        <p:spPr>
          <a:xfrm>
            <a:off x="813816" y="1383487"/>
            <a:ext cx="7301484" cy="21945"/>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217866" y="1143000"/>
            <a:ext cx="502920" cy="5029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17866" y="1143000"/>
            <a:ext cx="502920" cy="502920"/>
          </a:xfrm>
          <a:prstGeom prst="rect">
            <a:avLst/>
          </a:prstGeom>
          <a:noFill/>
        </p:spPr>
        <p:txBody>
          <a:bodyPr wrap="square" anchor="ctr" lIns="0" rIns="0" tIns="0" bIns="0">
            <a:noAutofit/>
          </a:bodyPr>
          <a:lstStyle/>
          <a:p>
            <a:pPr algn="ctr"/>
            <a:r>
              <a:rPr sz="1600" b="1" i="0">
                <a:solidFill>
                  <a:srgbClr val="FFFFFF"/>
                </a:solidFill>
                <a:latin typeface="Arial"/>
              </a:rPr>
              <a:t>①</a:t>
            </a:r>
          </a:p>
        </p:txBody>
      </p:sp>
      <p:sp>
        <p:nvSpPr>
          <p:cNvPr id="6" name="TextBox 5"/>
          <p:cNvSpPr txBox="1"/>
          <p:nvPr/>
        </p:nvSpPr>
        <p:spPr>
          <a:xfrm>
            <a:off x="562356" y="1755648"/>
            <a:ext cx="1813941" cy="320040"/>
          </a:xfrm>
          <a:prstGeom prst="rect">
            <a:avLst/>
          </a:prstGeom>
          <a:noFill/>
        </p:spPr>
        <p:txBody>
          <a:bodyPr wrap="square" anchor="t" lIns="0" rIns="0" tIns="0" bIns="0">
            <a:noAutofit/>
          </a:bodyPr>
          <a:lstStyle/>
          <a:p>
            <a:pPr algn="ctr">
              <a:lnSpc>
                <a:spcPct val="105000"/>
              </a:lnSpc>
            </a:pPr>
            <a:r>
              <a:rPr sz="800" b="1" i="0">
                <a:solidFill>
                  <a:srgbClr val="0E2356"/>
                </a:solidFill>
                <a:latin typeface="Outfit"/>
              </a:rPr>
              <a:t>Assessment flash</a:t>
            </a:r>
          </a:p>
        </p:txBody>
      </p:sp>
      <p:sp>
        <p:nvSpPr>
          <p:cNvPr id="7" name="Rounded Rectangle 6"/>
          <p:cNvSpPr/>
          <p:nvPr/>
        </p:nvSpPr>
        <p:spPr>
          <a:xfrm>
            <a:off x="966406" y="2084831"/>
            <a:ext cx="100584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6406" y="2084831"/>
            <a:ext cx="1005840" cy="219456"/>
          </a:xfrm>
          <a:prstGeom prst="rect">
            <a:avLst/>
          </a:prstGeom>
          <a:noFill/>
        </p:spPr>
        <p:txBody>
          <a:bodyPr wrap="square" anchor="ctr" lIns="0" rIns="0" tIns="0" bIns="0">
            <a:noAutofit/>
          </a:bodyPr>
          <a:lstStyle/>
          <a:p>
            <a:pPr algn="ctr"/>
            <a:r>
              <a:rPr sz="700" b="1" i="0">
                <a:solidFill>
                  <a:srgbClr val="FFFFFF"/>
                </a:solidFill>
                <a:latin typeface="Outfit"/>
              </a:rPr>
              <a:t>1–2 sem.</a:t>
            </a:r>
          </a:p>
        </p:txBody>
      </p:sp>
      <p:sp>
        <p:nvSpPr>
          <p:cNvPr id="9" name="TextBox 8"/>
          <p:cNvSpPr txBox="1"/>
          <p:nvPr/>
        </p:nvSpPr>
        <p:spPr>
          <a:xfrm>
            <a:off x="608076" y="2395727"/>
            <a:ext cx="1722501" cy="472440"/>
          </a:xfrm>
          <a:prstGeom prst="rect">
            <a:avLst/>
          </a:prstGeom>
          <a:noFill/>
        </p:spPr>
        <p:txBody>
          <a:bodyPr wrap="square" anchor="t" lIns="0" rIns="0" tIns="0" bIns="0">
            <a:noAutofit/>
          </a:bodyPr>
          <a:lstStyle/>
          <a:p>
            <a:pPr algn="ctr">
              <a:lnSpc>
                <a:spcPct val="120000"/>
              </a:lnSpc>
            </a:pPr>
            <a:r>
              <a:rPr sz="700" b="0" i="0">
                <a:solidFill>
                  <a:srgbClr val="586586"/>
                </a:solidFill>
                <a:latin typeface="Outfit"/>
              </a:rPr>
              <a:t>= Schéma de fonctionnement déjà cadré (Collecte → Diagnostic → Conception → Restitution).</a:t>
            </a:r>
          </a:p>
        </p:txBody>
      </p:sp>
      <p:sp>
        <p:nvSpPr>
          <p:cNvPr id="10" name="Rounded Rectangle 9"/>
          <p:cNvSpPr/>
          <p:nvPr/>
        </p:nvSpPr>
        <p:spPr>
          <a:xfrm>
            <a:off x="562356" y="2959607"/>
            <a:ext cx="1813941" cy="562356"/>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6" y="2959607"/>
            <a:ext cx="1631061" cy="562356"/>
          </a:xfrm>
          <a:prstGeom prst="rect">
            <a:avLst/>
          </a:prstGeom>
          <a:noFill/>
        </p:spPr>
        <p:txBody>
          <a:bodyPr wrap="square" anchor="ctr" lIns="0" rIns="0" tIns="0" bIns="0">
            <a:noAutofit/>
          </a:bodyPr>
          <a:lstStyle/>
          <a:p>
            <a:pPr algn="ctr"/>
            <a:r>
              <a:rPr sz="650" b="1" i="0">
                <a:solidFill>
                  <a:srgbClr val="586586"/>
                </a:solidFill>
                <a:latin typeface="Outfit"/>
              </a:rPr>
              <a:t>LIVRABLE-CLÉ</a:t>
            </a:r>
          </a:p>
          <a:p>
            <a:pPr algn="ctr">
              <a:lnSpc>
                <a:spcPct val="115000"/>
              </a:lnSpc>
              <a:spcBef>
                <a:spcPts val="200"/>
              </a:spcBef>
            </a:pPr>
            <a:r>
              <a:rPr sz="750" b="1" i="0">
                <a:solidFill>
                  <a:srgbClr val="0E2356"/>
                </a:solidFill>
                <a:latin typeface="Outfit"/>
              </a:rPr>
              <a:t>Deck exécutif de restitution</a:t>
            </a:r>
          </a:p>
        </p:txBody>
      </p:sp>
      <p:sp>
        <p:nvSpPr>
          <p:cNvPr id="12" name="Rounded Rectangle 11"/>
          <p:cNvSpPr/>
          <p:nvPr/>
        </p:nvSpPr>
        <p:spPr>
          <a:xfrm>
            <a:off x="3214687" y="1143000"/>
            <a:ext cx="502920" cy="5029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14687" y="1143000"/>
            <a:ext cx="502920" cy="502920"/>
          </a:xfrm>
          <a:prstGeom prst="rect">
            <a:avLst/>
          </a:prstGeom>
          <a:noFill/>
        </p:spPr>
        <p:txBody>
          <a:bodyPr wrap="square" anchor="ctr" lIns="0" rIns="0" tIns="0" bIns="0">
            <a:noAutofit/>
          </a:bodyPr>
          <a:lstStyle/>
          <a:p>
            <a:pPr algn="ctr"/>
            <a:r>
              <a:rPr sz="1600" b="1" i="0">
                <a:solidFill>
                  <a:srgbClr val="FFFFFF"/>
                </a:solidFill>
                <a:latin typeface="Arial"/>
              </a:rPr>
              <a:t>②</a:t>
            </a:r>
          </a:p>
        </p:txBody>
      </p:sp>
      <p:sp>
        <p:nvSpPr>
          <p:cNvPr id="14" name="TextBox 13"/>
          <p:cNvSpPr txBox="1"/>
          <p:nvPr/>
        </p:nvSpPr>
        <p:spPr>
          <a:xfrm>
            <a:off x="2559177" y="1755648"/>
            <a:ext cx="1813941" cy="320040"/>
          </a:xfrm>
          <a:prstGeom prst="rect">
            <a:avLst/>
          </a:prstGeom>
          <a:noFill/>
        </p:spPr>
        <p:txBody>
          <a:bodyPr wrap="square" anchor="t" lIns="0" rIns="0" tIns="0" bIns="0">
            <a:noAutofit/>
          </a:bodyPr>
          <a:lstStyle/>
          <a:p>
            <a:pPr algn="ctr">
              <a:lnSpc>
                <a:spcPct val="105000"/>
              </a:lnSpc>
            </a:pPr>
            <a:r>
              <a:rPr sz="800" b="1" i="0">
                <a:solidFill>
                  <a:srgbClr val="0E2356"/>
                </a:solidFill>
                <a:latin typeface="Outfit"/>
              </a:rPr>
              <a:t>Premier déploiement</a:t>
            </a:r>
          </a:p>
        </p:txBody>
      </p:sp>
      <p:sp>
        <p:nvSpPr>
          <p:cNvPr id="15" name="Rounded Rectangle 14"/>
          <p:cNvSpPr/>
          <p:nvPr/>
        </p:nvSpPr>
        <p:spPr>
          <a:xfrm>
            <a:off x="2963227" y="2084831"/>
            <a:ext cx="100584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3227" y="2084831"/>
            <a:ext cx="1005840" cy="219456"/>
          </a:xfrm>
          <a:prstGeom prst="rect">
            <a:avLst/>
          </a:prstGeom>
          <a:noFill/>
        </p:spPr>
        <p:txBody>
          <a:bodyPr wrap="square" anchor="ctr" lIns="0" rIns="0" tIns="0" bIns="0">
            <a:noAutofit/>
          </a:bodyPr>
          <a:lstStyle/>
          <a:p>
            <a:pPr algn="ctr"/>
            <a:r>
              <a:rPr sz="700" b="1" i="0">
                <a:solidFill>
                  <a:srgbClr val="FFFFFF"/>
                </a:solidFill>
                <a:latin typeface="Outfit"/>
              </a:rPr>
              <a:t>4–5 sem.</a:t>
            </a:r>
          </a:p>
        </p:txBody>
      </p:sp>
      <p:sp>
        <p:nvSpPr>
          <p:cNvPr id="17" name="TextBox 16"/>
          <p:cNvSpPr txBox="1"/>
          <p:nvPr/>
        </p:nvSpPr>
        <p:spPr>
          <a:xfrm>
            <a:off x="2604897" y="2395727"/>
            <a:ext cx="1722501" cy="472440"/>
          </a:xfrm>
          <a:prstGeom prst="rect">
            <a:avLst/>
          </a:prstGeom>
          <a:noFill/>
        </p:spPr>
        <p:txBody>
          <a:bodyPr wrap="square" anchor="t" lIns="0" rIns="0" tIns="0" bIns="0">
            <a:noAutofit/>
          </a:bodyPr>
          <a:lstStyle/>
          <a:p>
            <a:pPr algn="ctr">
              <a:lnSpc>
                <a:spcPct val="120000"/>
              </a:lnSpc>
            </a:pPr>
            <a:r>
              <a:rPr sz="700" b="0" i="0">
                <a:solidFill>
                  <a:srgbClr val="586586"/>
                </a:solidFill>
                <a:latin typeface="Outfit"/>
              </a:rPr>
              <a:t>1-2 équipes pilotes, mode Coach dominant. Piste agent IA (si retenue) : qualifier, cadrer, mandater.</a:t>
            </a:r>
          </a:p>
        </p:txBody>
      </p:sp>
      <p:sp>
        <p:nvSpPr>
          <p:cNvPr id="18" name="Rounded Rectangle 17"/>
          <p:cNvSpPr/>
          <p:nvPr/>
        </p:nvSpPr>
        <p:spPr>
          <a:xfrm>
            <a:off x="2559177" y="2959607"/>
            <a:ext cx="1813941" cy="562356"/>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650617" y="2959607"/>
            <a:ext cx="1631061" cy="562356"/>
          </a:xfrm>
          <a:prstGeom prst="rect">
            <a:avLst/>
          </a:prstGeom>
          <a:noFill/>
        </p:spPr>
        <p:txBody>
          <a:bodyPr wrap="square" anchor="ctr" lIns="0" rIns="0" tIns="0" bIns="0">
            <a:noAutofit/>
          </a:bodyPr>
          <a:lstStyle/>
          <a:p>
            <a:pPr algn="ctr"/>
            <a:r>
              <a:rPr sz="650" b="1" i="0">
                <a:solidFill>
                  <a:srgbClr val="586586"/>
                </a:solidFill>
                <a:latin typeface="Outfit"/>
              </a:rPr>
              <a:t>LIVRABLE-CLÉ</a:t>
            </a:r>
          </a:p>
          <a:p>
            <a:pPr algn="ctr">
              <a:lnSpc>
                <a:spcPct val="115000"/>
              </a:lnSpc>
              <a:spcBef>
                <a:spcPts val="200"/>
              </a:spcBef>
            </a:pPr>
            <a:r>
              <a:rPr sz="750" b="1" i="0">
                <a:solidFill>
                  <a:srgbClr val="0E2356"/>
                </a:solidFill>
                <a:latin typeface="Outfit"/>
              </a:rPr>
              <a:t>Deck de plan de déploiement · export markdown (1re version)</a:t>
            </a:r>
          </a:p>
        </p:txBody>
      </p:sp>
      <p:sp>
        <p:nvSpPr>
          <p:cNvPr id="20" name="Rounded Rectangle 19"/>
          <p:cNvSpPr/>
          <p:nvPr/>
        </p:nvSpPr>
        <p:spPr>
          <a:xfrm>
            <a:off x="5211508" y="1143000"/>
            <a:ext cx="502920" cy="5029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11508" y="1143000"/>
            <a:ext cx="502920" cy="502920"/>
          </a:xfrm>
          <a:prstGeom prst="rect">
            <a:avLst/>
          </a:prstGeom>
          <a:noFill/>
        </p:spPr>
        <p:txBody>
          <a:bodyPr wrap="square" anchor="ctr" lIns="0" rIns="0" tIns="0" bIns="0">
            <a:noAutofit/>
          </a:bodyPr>
          <a:lstStyle/>
          <a:p>
            <a:pPr algn="ctr"/>
            <a:r>
              <a:rPr sz="1600" b="1" i="0">
                <a:solidFill>
                  <a:srgbClr val="FFFFFF"/>
                </a:solidFill>
                <a:latin typeface="Arial"/>
              </a:rPr>
              <a:t>③</a:t>
            </a:r>
          </a:p>
        </p:txBody>
      </p:sp>
      <p:sp>
        <p:nvSpPr>
          <p:cNvPr id="22" name="TextBox 21"/>
          <p:cNvSpPr txBox="1"/>
          <p:nvPr/>
        </p:nvSpPr>
        <p:spPr>
          <a:xfrm>
            <a:off x="4555998" y="1755648"/>
            <a:ext cx="1813941" cy="320040"/>
          </a:xfrm>
          <a:prstGeom prst="rect">
            <a:avLst/>
          </a:prstGeom>
          <a:noFill/>
        </p:spPr>
        <p:txBody>
          <a:bodyPr wrap="square" anchor="t" lIns="0" rIns="0" tIns="0" bIns="0">
            <a:noAutofit/>
          </a:bodyPr>
          <a:lstStyle/>
          <a:p>
            <a:pPr algn="ctr">
              <a:lnSpc>
                <a:spcPct val="105000"/>
              </a:lnSpc>
            </a:pPr>
            <a:r>
              <a:rPr sz="800" b="1" i="0">
                <a:solidFill>
                  <a:srgbClr val="0E2356"/>
                </a:solidFill>
                <a:latin typeface="Outfit"/>
              </a:rPr>
              <a:t>Implémentation itérative</a:t>
            </a:r>
          </a:p>
        </p:txBody>
      </p:sp>
      <p:sp>
        <p:nvSpPr>
          <p:cNvPr id="23" name="Rounded Rectangle 22"/>
          <p:cNvSpPr/>
          <p:nvPr/>
        </p:nvSpPr>
        <p:spPr>
          <a:xfrm>
            <a:off x="4960048" y="2084831"/>
            <a:ext cx="100584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60048" y="2084831"/>
            <a:ext cx="1005840" cy="219456"/>
          </a:xfrm>
          <a:prstGeom prst="rect">
            <a:avLst/>
          </a:prstGeom>
          <a:noFill/>
        </p:spPr>
        <p:txBody>
          <a:bodyPr wrap="square" anchor="ctr" lIns="0" rIns="0" tIns="0" bIns="0">
            <a:noAutofit/>
          </a:bodyPr>
          <a:lstStyle/>
          <a:p>
            <a:pPr algn="ctr"/>
            <a:r>
              <a:rPr sz="700" b="1" i="0">
                <a:solidFill>
                  <a:srgbClr val="FFFFFF"/>
                </a:solidFill>
                <a:latin typeface="Outfit"/>
              </a:rPr>
              <a:t>→ T+6-12 mois</a:t>
            </a:r>
          </a:p>
        </p:txBody>
      </p:sp>
      <p:sp>
        <p:nvSpPr>
          <p:cNvPr id="25" name="TextBox 24"/>
          <p:cNvSpPr txBox="1"/>
          <p:nvPr/>
        </p:nvSpPr>
        <p:spPr>
          <a:xfrm>
            <a:off x="4601718" y="2395727"/>
            <a:ext cx="1722501" cy="472440"/>
          </a:xfrm>
          <a:prstGeom prst="rect">
            <a:avLst/>
          </a:prstGeom>
          <a:noFill/>
        </p:spPr>
        <p:txBody>
          <a:bodyPr wrap="square" anchor="t" lIns="0" rIns="0" tIns="0" bIns="0">
            <a:noAutofit/>
          </a:bodyPr>
          <a:lstStyle/>
          <a:p>
            <a:pPr algn="ctr">
              <a:lnSpc>
                <a:spcPct val="120000"/>
              </a:lnSpc>
            </a:pPr>
            <a:r>
              <a:rPr sz="700" b="0" i="0">
                <a:solidFill>
                  <a:srgbClr val="586586"/>
                </a:solidFill>
                <a:latin typeface="Outfit"/>
              </a:rPr>
              <a:t>Généralisation équipe par équipe, bascule Coach → Délégué. Piste agent IA : supervisé puis délégué.</a:t>
            </a:r>
          </a:p>
        </p:txBody>
      </p:sp>
      <p:sp>
        <p:nvSpPr>
          <p:cNvPr id="26" name="Rounded Rectangle 25"/>
          <p:cNvSpPr/>
          <p:nvPr/>
        </p:nvSpPr>
        <p:spPr>
          <a:xfrm>
            <a:off x="4555998" y="2959607"/>
            <a:ext cx="1813941" cy="562356"/>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47438" y="2959607"/>
            <a:ext cx="1631061" cy="562356"/>
          </a:xfrm>
          <a:prstGeom prst="rect">
            <a:avLst/>
          </a:prstGeom>
          <a:noFill/>
        </p:spPr>
        <p:txBody>
          <a:bodyPr wrap="square" anchor="ctr" lIns="0" rIns="0" tIns="0" bIns="0">
            <a:noAutofit/>
          </a:bodyPr>
          <a:lstStyle/>
          <a:p>
            <a:pPr algn="ctr"/>
            <a:r>
              <a:rPr sz="650" b="1" i="0">
                <a:solidFill>
                  <a:srgbClr val="586586"/>
                </a:solidFill>
                <a:latin typeface="Outfit"/>
              </a:rPr>
              <a:t>LIVRABLE-CLÉ</a:t>
            </a:r>
          </a:p>
          <a:p>
            <a:pPr algn="ctr">
              <a:lnSpc>
                <a:spcPct val="115000"/>
              </a:lnSpc>
              <a:spcBef>
                <a:spcPts val="200"/>
              </a:spcBef>
            </a:pPr>
            <a:r>
              <a:rPr sz="750" b="1" i="0">
                <a:solidFill>
                  <a:srgbClr val="0E2356"/>
                </a:solidFill>
                <a:latin typeface="Outfit"/>
              </a:rPr>
              <a:t>Deck de comité de pilotage (périodique)</a:t>
            </a:r>
          </a:p>
        </p:txBody>
      </p:sp>
      <p:sp>
        <p:nvSpPr>
          <p:cNvPr id="28" name="Rounded Rectangle 27"/>
          <p:cNvSpPr/>
          <p:nvPr/>
        </p:nvSpPr>
        <p:spPr>
          <a:xfrm>
            <a:off x="7208329" y="1143000"/>
            <a:ext cx="502920" cy="5029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08329" y="1143000"/>
            <a:ext cx="502920" cy="502920"/>
          </a:xfrm>
          <a:prstGeom prst="rect">
            <a:avLst/>
          </a:prstGeom>
          <a:noFill/>
        </p:spPr>
        <p:txBody>
          <a:bodyPr wrap="square" anchor="ctr" lIns="0" rIns="0" tIns="0" bIns="0">
            <a:noAutofit/>
          </a:bodyPr>
          <a:lstStyle/>
          <a:p>
            <a:pPr algn="ctr"/>
            <a:r>
              <a:rPr sz="1600" b="0" i="0">
                <a:solidFill>
                  <a:srgbClr val="FFFFFF"/>
                </a:solidFill>
                <a:latin typeface="Arial"/>
              </a:rPr>
              <a:t>⟲</a:t>
            </a:r>
          </a:p>
        </p:txBody>
      </p:sp>
      <p:sp>
        <p:nvSpPr>
          <p:cNvPr id="30" name="TextBox 29"/>
          <p:cNvSpPr txBox="1"/>
          <p:nvPr/>
        </p:nvSpPr>
        <p:spPr>
          <a:xfrm>
            <a:off x="6552819" y="1755648"/>
            <a:ext cx="1813941" cy="320040"/>
          </a:xfrm>
          <a:prstGeom prst="rect">
            <a:avLst/>
          </a:prstGeom>
          <a:noFill/>
        </p:spPr>
        <p:txBody>
          <a:bodyPr wrap="square" anchor="t" lIns="0" rIns="0" tIns="0" bIns="0">
            <a:noAutofit/>
          </a:bodyPr>
          <a:lstStyle/>
          <a:p>
            <a:pPr algn="ctr">
              <a:lnSpc>
                <a:spcPct val="105000"/>
              </a:lnSpc>
            </a:pPr>
            <a:r>
              <a:rPr sz="800" b="1" i="0">
                <a:solidFill>
                  <a:srgbClr val="0E2356"/>
                </a:solidFill>
                <a:latin typeface="Outfit"/>
              </a:rPr>
              <a:t>Boucle de réévaluation</a:t>
            </a:r>
          </a:p>
        </p:txBody>
      </p:sp>
      <p:sp>
        <p:nvSpPr>
          <p:cNvPr id="31" name="Rounded Rectangle 30"/>
          <p:cNvSpPr/>
          <p:nvPr/>
        </p:nvSpPr>
        <p:spPr>
          <a:xfrm>
            <a:off x="6956869" y="2084831"/>
            <a:ext cx="100584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56869" y="2084831"/>
            <a:ext cx="1005840" cy="219456"/>
          </a:xfrm>
          <a:prstGeom prst="rect">
            <a:avLst/>
          </a:prstGeom>
          <a:noFill/>
        </p:spPr>
        <p:txBody>
          <a:bodyPr wrap="square" anchor="ctr" lIns="0" rIns="0" tIns="0" bIns="0">
            <a:noAutofit/>
          </a:bodyPr>
          <a:lstStyle/>
          <a:p>
            <a:pPr algn="ctr"/>
            <a:r>
              <a:rPr sz="700" b="1" i="0">
                <a:solidFill>
                  <a:srgbClr val="FFFFFF"/>
                </a:solidFill>
                <a:latin typeface="Outfit"/>
              </a:rPr>
              <a:t>T+6-12 mois</a:t>
            </a:r>
          </a:p>
        </p:txBody>
      </p:sp>
      <p:sp>
        <p:nvSpPr>
          <p:cNvPr id="33" name="TextBox 32"/>
          <p:cNvSpPr txBox="1"/>
          <p:nvPr/>
        </p:nvSpPr>
        <p:spPr>
          <a:xfrm>
            <a:off x="6598539" y="2395727"/>
            <a:ext cx="1722501" cy="472440"/>
          </a:xfrm>
          <a:prstGeom prst="rect">
            <a:avLst/>
          </a:prstGeom>
          <a:noFill/>
        </p:spPr>
        <p:txBody>
          <a:bodyPr wrap="square" anchor="t" lIns="0" rIns="0" tIns="0" bIns="0">
            <a:noAutofit/>
          </a:bodyPr>
          <a:lstStyle/>
          <a:p>
            <a:pPr algn="ctr">
              <a:lnSpc>
                <a:spcPct val="120000"/>
              </a:lnSpc>
            </a:pPr>
            <a:r>
              <a:rPr sz="700" b="0" i="0">
                <a:solidFill>
                  <a:srgbClr val="586586"/>
                </a:solidFill>
                <a:latin typeface="Outfit"/>
              </a:rPr>
              <a:t>iap-re-assessment reboucle vers la Collecte — alimente la bibliothèque de REX.</a:t>
            </a:r>
          </a:p>
        </p:txBody>
      </p:sp>
      <p:sp>
        <p:nvSpPr>
          <p:cNvPr id="34" name="Rounded Rectangle 33"/>
          <p:cNvSpPr/>
          <p:nvPr/>
        </p:nvSpPr>
        <p:spPr>
          <a:xfrm>
            <a:off x="6552819" y="2959607"/>
            <a:ext cx="1813941" cy="562356"/>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44259" y="2959607"/>
            <a:ext cx="1631061" cy="562356"/>
          </a:xfrm>
          <a:prstGeom prst="rect">
            <a:avLst/>
          </a:prstGeom>
          <a:noFill/>
        </p:spPr>
        <p:txBody>
          <a:bodyPr wrap="square" anchor="ctr" lIns="0" rIns="0" tIns="0" bIns="0">
            <a:noAutofit/>
          </a:bodyPr>
          <a:lstStyle/>
          <a:p>
            <a:pPr algn="ctr"/>
            <a:r>
              <a:rPr sz="650" b="1" i="0">
                <a:solidFill>
                  <a:srgbClr val="586586"/>
                </a:solidFill>
                <a:latin typeface="Outfit"/>
              </a:rPr>
              <a:t>LIVRABLE-CLÉ</a:t>
            </a:r>
          </a:p>
          <a:p>
            <a:pPr algn="ctr">
              <a:lnSpc>
                <a:spcPct val="115000"/>
              </a:lnSpc>
              <a:spcBef>
                <a:spcPts val="200"/>
              </a:spcBef>
            </a:pPr>
            <a:r>
              <a:rPr sz="750" b="1" i="0">
                <a:solidFill>
                  <a:srgbClr val="0E2356"/>
                </a:solidFill>
                <a:latin typeface="Outfit"/>
              </a:rPr>
              <a:t>Deck de bilan / ré-évaluation · markdown amendé</a:t>
            </a:r>
          </a:p>
        </p:txBody>
      </p:sp>
      <p:sp>
        <p:nvSpPr>
          <p:cNvPr id="36" name="Rounded Rectangle 35"/>
          <p:cNvSpPr/>
          <p:nvPr/>
        </p:nvSpPr>
        <p:spPr>
          <a:xfrm>
            <a:off x="562356" y="3686555"/>
            <a:ext cx="7804404" cy="96012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5236" y="3686555"/>
            <a:ext cx="7438644" cy="960120"/>
          </a:xfrm>
          <a:prstGeom prst="rect">
            <a:avLst/>
          </a:prstGeom>
          <a:noFill/>
        </p:spPr>
        <p:txBody>
          <a:bodyPr wrap="square" anchor="ctr" lIns="0" rIns="0" tIns="0" bIns="0">
            <a:noAutofit/>
          </a:bodyPr>
          <a:lstStyle/>
          <a:p>
            <a:pPr algn="l"/>
            <a:r>
              <a:rPr sz="800" b="1" i="0">
                <a:solidFill>
                  <a:srgbClr val="0E2356"/>
                </a:solidFill>
                <a:latin typeface="Outfit"/>
              </a:rPr>
              <a:t>Bifurcation avec/sans agents IA déployés</a:t>
            </a:r>
          </a:p>
          <a:p>
            <a:pPr algn="l">
              <a:lnSpc>
                <a:spcPct val="125000"/>
              </a:lnSpc>
              <a:spcBef>
                <a:spcPts val="300"/>
              </a:spcBef>
            </a:pPr>
            <a:r>
              <a:rPr sz="700" b="0" i="0">
                <a:solidFill>
                  <a:srgbClr val="0E2356"/>
                </a:solidFill>
                <a:latin typeface="Outfit"/>
              </a:rPr>
              <a:t>Le tronc commun ①→②→③→⟲ ne change pas de structure — la piste agent IA (si retenue) se greffe sur ②/③ via la démarche d'accompagnement en 5 phases déjà cadrée, plutôt que d'être un chemin séparé à maintenir. Owner proposé (non tranché) : iap-operating-model-architect + iap-change-coach sur le volet humain.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350">
                <a:solidFill>
                  <a:srgbClr val="0E2356"/>
                </a:solidFill>
                <a:latin typeface="Outfit"/>
              </a:rPr>
              <a:t>DÉMARCHE   ·   </a:t>
            </a:r>
            <a:r>
              <a:rPr b="1" sz="1350">
                <a:solidFill>
                  <a:srgbClr val="0E2356"/>
                </a:solidFill>
                <a:latin typeface="Outfit"/>
              </a:rPr>
              <a:t>La trajectoire accompagne aussi les personnes, de bout en bout</a:t>
            </a:r>
          </a:p>
        </p:txBody>
      </p:sp>
      <p:sp>
        <p:nvSpPr>
          <p:cNvPr id="3" name="Rounded Rectangle 2"/>
          <p:cNvSpPr/>
          <p:nvPr/>
        </p:nvSpPr>
        <p:spPr>
          <a:xfrm>
            <a:off x="562356" y="1069848"/>
            <a:ext cx="960120" cy="566928"/>
          </a:xfrm>
          <a:prstGeom prst="roundRect">
            <a:avLst>
              <a:gd name="adj" fmla="val 12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2356" y="1069848"/>
            <a:ext cx="960120" cy="566928"/>
          </a:xfrm>
          <a:prstGeom prst="rect">
            <a:avLst/>
          </a:prstGeom>
          <a:noFill/>
        </p:spPr>
        <p:txBody>
          <a:bodyPr wrap="square" anchor="ctr" lIns="0" rIns="0" tIns="0" bIns="0">
            <a:noAutofit/>
          </a:bodyPr>
          <a:lstStyle/>
          <a:p>
            <a:pPr algn="ctr"/>
            <a:r>
              <a:rPr sz="1800" b="1" i="0">
                <a:solidFill>
                  <a:srgbClr val="FFFFFF"/>
                </a:solidFill>
                <a:latin typeface="Outfit"/>
              </a:rPr>
              <a:t>70 %</a:t>
            </a:r>
          </a:p>
        </p:txBody>
      </p:sp>
      <p:sp>
        <p:nvSpPr>
          <p:cNvPr id="5" name="TextBox 4"/>
          <p:cNvSpPr txBox="1"/>
          <p:nvPr/>
        </p:nvSpPr>
        <p:spPr>
          <a:xfrm>
            <a:off x="1687068" y="1069848"/>
            <a:ext cx="6679692" cy="566928"/>
          </a:xfrm>
          <a:prstGeom prst="rect">
            <a:avLst/>
          </a:prstGeom>
          <a:noFill/>
        </p:spPr>
        <p:txBody>
          <a:bodyPr wrap="square" anchor="ctr" lIns="0" rIns="0" tIns="0" bIns="0">
            <a:noAutofit/>
          </a:bodyPr>
          <a:lstStyle/>
          <a:p>
            <a:pPr algn="l">
              <a:lnSpc>
                <a:spcPct val="115000"/>
              </a:lnSpc>
            </a:pPr>
            <a:r>
              <a:rPr sz="800" b="1" i="0">
                <a:solidFill>
                  <a:srgbClr val="0E2356"/>
                </a:solidFill>
                <a:latin typeface="Outfit"/>
              </a:rPr>
              <a:t>des transformations sont inachevées ou échouent parce que les facteurs humains et culturels sont mal pris en compte (Kotter, Harvard Business Review).</a:t>
            </a:r>
          </a:p>
          <a:p>
            <a:pPr algn="l">
              <a:lnSpc>
                <a:spcPct val="115000"/>
              </a:lnSpc>
              <a:spcBef>
                <a:spcPts val="300"/>
              </a:spcBef>
            </a:pPr>
            <a:r>
              <a:rPr sz="750" b="0" i="1">
                <a:solidFill>
                  <a:srgbClr val="586586"/>
                </a:solidFill>
                <a:latin typeface="Outfit"/>
              </a:rPr>
              <a:t>Le fil humain suit la même trame ①②③⟲ que la trajectoire — un fil dans les phases, pas un stream séparé, porté par iap-change-coach de bout en bout.</a:t>
            </a:r>
          </a:p>
        </p:txBody>
      </p:sp>
      <p:sp>
        <p:nvSpPr>
          <p:cNvPr id="6" name="Rounded Rectangle 5"/>
          <p:cNvSpPr/>
          <p:nvPr/>
        </p:nvSpPr>
        <p:spPr>
          <a:xfrm>
            <a:off x="562356" y="2103977"/>
            <a:ext cx="7804404" cy="2051113"/>
          </a:xfrm>
          <a:prstGeom prst="roundRect">
            <a:avLst>
              <a:gd name="adj" fmla="val 6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332166" y="1898237"/>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32166" y="1898237"/>
            <a:ext cx="411480" cy="411480"/>
          </a:xfrm>
          <a:prstGeom prst="rect">
            <a:avLst/>
          </a:prstGeom>
          <a:noFill/>
        </p:spPr>
        <p:txBody>
          <a:bodyPr wrap="square" anchor="ctr" lIns="0" rIns="0" tIns="0" bIns="0">
            <a:noAutofit/>
          </a:bodyPr>
          <a:lstStyle/>
          <a:p>
            <a:pPr algn="ctr"/>
            <a:r>
              <a:rPr sz="1300" b="1" i="0">
                <a:solidFill>
                  <a:srgbClr val="FFFFFF"/>
                </a:solidFill>
                <a:latin typeface="Arial"/>
              </a:rPr>
              <a:t>①</a:t>
            </a:r>
          </a:p>
        </p:txBody>
      </p:sp>
      <p:sp>
        <p:nvSpPr>
          <p:cNvPr id="9" name="TextBox 8"/>
          <p:cNvSpPr txBox="1"/>
          <p:nvPr/>
        </p:nvSpPr>
        <p:spPr>
          <a:xfrm>
            <a:off x="708660" y="2401157"/>
            <a:ext cx="1658493" cy="201168"/>
          </a:xfrm>
          <a:prstGeom prst="rect">
            <a:avLst/>
          </a:prstGeom>
          <a:noFill/>
        </p:spPr>
        <p:txBody>
          <a:bodyPr wrap="square" anchor="t" lIns="0" rIns="0" tIns="0" bIns="0">
            <a:noAutofit/>
          </a:bodyPr>
          <a:lstStyle/>
          <a:p>
            <a:pPr algn="ctr"/>
            <a:r>
              <a:rPr sz="900" b="1" i="0">
                <a:solidFill>
                  <a:srgbClr val="0E2356"/>
                </a:solidFill>
                <a:latin typeface="Outfit"/>
              </a:rPr>
              <a:t>Engager</a:t>
            </a:r>
          </a:p>
        </p:txBody>
      </p:sp>
      <p:sp>
        <p:nvSpPr>
          <p:cNvPr id="10" name="TextBox 9"/>
          <p:cNvSpPr txBox="1"/>
          <p:nvPr/>
        </p:nvSpPr>
        <p:spPr>
          <a:xfrm>
            <a:off x="708660" y="2602325"/>
            <a:ext cx="1658493" cy="146304"/>
          </a:xfrm>
          <a:prstGeom prst="rect">
            <a:avLst/>
          </a:prstGeom>
          <a:noFill/>
        </p:spPr>
        <p:txBody>
          <a:bodyPr wrap="square" anchor="t" lIns="0" rIns="0" tIns="0" bIns="0">
            <a:noAutofit/>
          </a:bodyPr>
          <a:lstStyle/>
          <a:p>
            <a:pPr algn="ctr"/>
            <a:r>
              <a:rPr sz="600" b="1" i="0">
                <a:solidFill>
                  <a:srgbClr val="586586"/>
                </a:solidFill>
                <a:latin typeface="Outfit"/>
              </a:rPr>
              <a:t>ASSESSMENT FLASH</a:t>
            </a:r>
          </a:p>
        </p:txBody>
      </p:sp>
      <p:sp>
        <p:nvSpPr>
          <p:cNvPr id="11" name="TextBox 10"/>
          <p:cNvSpPr txBox="1"/>
          <p:nvPr/>
        </p:nvSpPr>
        <p:spPr>
          <a:xfrm>
            <a:off x="708660" y="2803493"/>
            <a:ext cx="1658493" cy="870013"/>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L'engagement personnel du sponsor est testé dès l'intake, avant signature ; les interviews écoutent les tensions ; la restitution revient aux interviewés, pas au seul sponsor.</a:t>
            </a:r>
          </a:p>
        </p:txBody>
      </p:sp>
      <p:sp>
        <p:nvSpPr>
          <p:cNvPr id="12" name="Rectangle 11"/>
          <p:cNvSpPr/>
          <p:nvPr/>
        </p:nvSpPr>
        <p:spPr>
          <a:xfrm>
            <a:off x="708660" y="3728370"/>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8660" y="3783234"/>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iap-change-coach · iap-intake</a:t>
            </a:r>
          </a:p>
        </p:txBody>
      </p:sp>
      <p:sp>
        <p:nvSpPr>
          <p:cNvPr id="14" name="Rectangle 13"/>
          <p:cNvSpPr/>
          <p:nvPr/>
        </p:nvSpPr>
        <p:spPr>
          <a:xfrm>
            <a:off x="2513457" y="2231993"/>
            <a:ext cx="10972" cy="1795081"/>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283267" y="1898237"/>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83267" y="1898237"/>
            <a:ext cx="411480" cy="411480"/>
          </a:xfrm>
          <a:prstGeom prst="rect">
            <a:avLst/>
          </a:prstGeom>
          <a:noFill/>
        </p:spPr>
        <p:txBody>
          <a:bodyPr wrap="square" anchor="ctr" lIns="0" rIns="0" tIns="0" bIns="0">
            <a:noAutofit/>
          </a:bodyPr>
          <a:lstStyle/>
          <a:p>
            <a:pPr algn="ctr"/>
            <a:r>
              <a:rPr sz="1300" b="1" i="0">
                <a:solidFill>
                  <a:srgbClr val="FFFFFF"/>
                </a:solidFill>
                <a:latin typeface="Arial"/>
              </a:rPr>
              <a:t>②</a:t>
            </a:r>
          </a:p>
        </p:txBody>
      </p:sp>
      <p:sp>
        <p:nvSpPr>
          <p:cNvPr id="17" name="TextBox 16"/>
          <p:cNvSpPr txBox="1"/>
          <p:nvPr/>
        </p:nvSpPr>
        <p:spPr>
          <a:xfrm>
            <a:off x="2659761" y="2401157"/>
            <a:ext cx="1658493" cy="201168"/>
          </a:xfrm>
          <a:prstGeom prst="rect">
            <a:avLst/>
          </a:prstGeom>
          <a:noFill/>
        </p:spPr>
        <p:txBody>
          <a:bodyPr wrap="square" anchor="t" lIns="0" rIns="0" tIns="0" bIns="0">
            <a:noAutofit/>
          </a:bodyPr>
          <a:lstStyle/>
          <a:p>
            <a:pPr algn="ctr"/>
            <a:r>
              <a:rPr sz="900" b="1" i="0">
                <a:solidFill>
                  <a:srgbClr val="0E2356"/>
                </a:solidFill>
                <a:latin typeface="Outfit"/>
              </a:rPr>
              <a:t>Expérimenter</a:t>
            </a:r>
          </a:p>
        </p:txBody>
      </p:sp>
      <p:sp>
        <p:nvSpPr>
          <p:cNvPr id="18" name="TextBox 17"/>
          <p:cNvSpPr txBox="1"/>
          <p:nvPr/>
        </p:nvSpPr>
        <p:spPr>
          <a:xfrm>
            <a:off x="2659761" y="2602325"/>
            <a:ext cx="1658493" cy="146304"/>
          </a:xfrm>
          <a:prstGeom prst="rect">
            <a:avLst/>
          </a:prstGeom>
          <a:noFill/>
        </p:spPr>
        <p:txBody>
          <a:bodyPr wrap="square" anchor="t" lIns="0" rIns="0" tIns="0" bIns="0">
            <a:noAutofit/>
          </a:bodyPr>
          <a:lstStyle/>
          <a:p>
            <a:pPr algn="ctr"/>
            <a:r>
              <a:rPr sz="600" b="1" i="0">
                <a:solidFill>
                  <a:srgbClr val="586586"/>
                </a:solidFill>
                <a:latin typeface="Outfit"/>
              </a:rPr>
              <a:t>PREMIER DÉPLOIEMENT</a:t>
            </a:r>
          </a:p>
        </p:txBody>
      </p:sp>
      <p:sp>
        <p:nvSpPr>
          <p:cNvPr id="19" name="TextBox 18"/>
          <p:cNvSpPr txBox="1"/>
          <p:nvPr/>
        </p:nvSpPr>
        <p:spPr>
          <a:xfrm>
            <a:off x="2659761" y="2803493"/>
            <a:ext cx="1658493" cy="870013"/>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Équipes pilotes volontaires, jamais désignées d'office ; formation sur les cas réels de l'équipe — « pas de formation sans coaching ».</a:t>
            </a:r>
          </a:p>
        </p:txBody>
      </p:sp>
      <p:sp>
        <p:nvSpPr>
          <p:cNvPr id="20" name="Rectangle 19"/>
          <p:cNvSpPr/>
          <p:nvPr/>
        </p:nvSpPr>
        <p:spPr>
          <a:xfrm>
            <a:off x="2659761" y="3728370"/>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659761" y="3783234"/>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iap-change-coach · équipe pilote</a:t>
            </a:r>
          </a:p>
        </p:txBody>
      </p:sp>
      <p:sp>
        <p:nvSpPr>
          <p:cNvPr id="22" name="Rectangle 21"/>
          <p:cNvSpPr/>
          <p:nvPr/>
        </p:nvSpPr>
        <p:spPr>
          <a:xfrm>
            <a:off x="4464558" y="2231993"/>
            <a:ext cx="10972" cy="1795081"/>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234368" y="1898237"/>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34368" y="1898237"/>
            <a:ext cx="411480" cy="411480"/>
          </a:xfrm>
          <a:prstGeom prst="rect">
            <a:avLst/>
          </a:prstGeom>
          <a:noFill/>
        </p:spPr>
        <p:txBody>
          <a:bodyPr wrap="square" anchor="ctr" lIns="0" rIns="0" tIns="0" bIns="0">
            <a:noAutofit/>
          </a:bodyPr>
          <a:lstStyle/>
          <a:p>
            <a:pPr algn="ctr"/>
            <a:r>
              <a:rPr sz="1300" b="1" i="0">
                <a:solidFill>
                  <a:srgbClr val="FFFFFF"/>
                </a:solidFill>
                <a:latin typeface="Arial"/>
              </a:rPr>
              <a:t>③</a:t>
            </a:r>
          </a:p>
        </p:txBody>
      </p:sp>
      <p:sp>
        <p:nvSpPr>
          <p:cNvPr id="25" name="TextBox 24"/>
          <p:cNvSpPr txBox="1"/>
          <p:nvPr/>
        </p:nvSpPr>
        <p:spPr>
          <a:xfrm>
            <a:off x="4610862" y="2401157"/>
            <a:ext cx="1658493" cy="201168"/>
          </a:xfrm>
          <a:prstGeom prst="rect">
            <a:avLst/>
          </a:prstGeom>
          <a:noFill/>
        </p:spPr>
        <p:txBody>
          <a:bodyPr wrap="square" anchor="t" lIns="0" rIns="0" tIns="0" bIns="0">
            <a:noAutofit/>
          </a:bodyPr>
          <a:lstStyle/>
          <a:p>
            <a:pPr algn="ctr"/>
            <a:r>
              <a:rPr sz="900" b="1" i="0">
                <a:solidFill>
                  <a:srgbClr val="0E2356"/>
                </a:solidFill>
                <a:latin typeface="Outfit"/>
              </a:rPr>
              <a:t>Outiller &amp; relayer</a:t>
            </a:r>
          </a:p>
        </p:txBody>
      </p:sp>
      <p:sp>
        <p:nvSpPr>
          <p:cNvPr id="26" name="TextBox 25"/>
          <p:cNvSpPr txBox="1"/>
          <p:nvPr/>
        </p:nvSpPr>
        <p:spPr>
          <a:xfrm>
            <a:off x="4610862" y="2602325"/>
            <a:ext cx="1658493" cy="146304"/>
          </a:xfrm>
          <a:prstGeom prst="rect">
            <a:avLst/>
          </a:prstGeom>
          <a:noFill/>
        </p:spPr>
        <p:txBody>
          <a:bodyPr wrap="square" anchor="t" lIns="0" rIns="0" tIns="0" bIns="0">
            <a:noAutofit/>
          </a:bodyPr>
          <a:lstStyle/>
          <a:p>
            <a:pPr algn="ctr"/>
            <a:r>
              <a:rPr sz="600" b="1" i="0">
                <a:solidFill>
                  <a:srgbClr val="586586"/>
                </a:solidFill>
                <a:latin typeface="Outfit"/>
              </a:rPr>
              <a:t>IMPLÉMENTATION ITÉRATIVE</a:t>
            </a:r>
          </a:p>
        </p:txBody>
      </p:sp>
      <p:sp>
        <p:nvSpPr>
          <p:cNvPr id="27" name="TextBox 26"/>
          <p:cNvSpPr txBox="1"/>
          <p:nvPr/>
        </p:nvSpPr>
        <p:spPr>
          <a:xfrm>
            <a:off x="4610862" y="2803493"/>
            <a:ext cx="1658493" cy="870013"/>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Les résistances sont un signal à écouter ; communauté de managers (N+1/N+2 embarqués) ; relais internes formés — le consultant se rend dispensable.</a:t>
            </a:r>
          </a:p>
        </p:txBody>
      </p:sp>
      <p:sp>
        <p:nvSpPr>
          <p:cNvPr id="28" name="Rectangle 27"/>
          <p:cNvSpPr/>
          <p:nvPr/>
        </p:nvSpPr>
        <p:spPr>
          <a:xfrm>
            <a:off x="4610862" y="3728370"/>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10862" y="3783234"/>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iap-change-coach · operating-model-architect</a:t>
            </a:r>
          </a:p>
        </p:txBody>
      </p:sp>
      <p:sp>
        <p:nvSpPr>
          <p:cNvPr id="30" name="Rectangle 29"/>
          <p:cNvSpPr/>
          <p:nvPr/>
        </p:nvSpPr>
        <p:spPr>
          <a:xfrm>
            <a:off x="6415659" y="2231993"/>
            <a:ext cx="10972" cy="1795081"/>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185469" y="1898237"/>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85469" y="1898237"/>
            <a:ext cx="411480" cy="411480"/>
          </a:xfrm>
          <a:prstGeom prst="rect">
            <a:avLst/>
          </a:prstGeom>
          <a:noFill/>
        </p:spPr>
        <p:txBody>
          <a:bodyPr wrap="square" anchor="ctr" lIns="0" rIns="0" tIns="0" bIns="0">
            <a:noAutofit/>
          </a:bodyPr>
          <a:lstStyle/>
          <a:p>
            <a:pPr algn="ctr"/>
            <a:r>
              <a:rPr sz="1300" b="0" i="0">
                <a:solidFill>
                  <a:srgbClr val="FFFFFF"/>
                </a:solidFill>
                <a:latin typeface="Arial"/>
              </a:rPr>
              <a:t>⟲</a:t>
            </a:r>
          </a:p>
        </p:txBody>
      </p:sp>
      <p:sp>
        <p:nvSpPr>
          <p:cNvPr id="33" name="TextBox 32"/>
          <p:cNvSpPr txBox="1"/>
          <p:nvPr/>
        </p:nvSpPr>
        <p:spPr>
          <a:xfrm>
            <a:off x="6561963" y="2401157"/>
            <a:ext cx="1658493" cy="201168"/>
          </a:xfrm>
          <a:prstGeom prst="rect">
            <a:avLst/>
          </a:prstGeom>
          <a:noFill/>
        </p:spPr>
        <p:txBody>
          <a:bodyPr wrap="square" anchor="t" lIns="0" rIns="0" tIns="0" bIns="0">
            <a:noAutofit/>
          </a:bodyPr>
          <a:lstStyle/>
          <a:p>
            <a:pPr algn="ctr"/>
            <a:r>
              <a:rPr sz="900" b="1" i="0">
                <a:solidFill>
                  <a:srgbClr val="0E2356"/>
                </a:solidFill>
                <a:latin typeface="Outfit"/>
              </a:rPr>
              <a:t>Mesurer</a:t>
            </a:r>
          </a:p>
        </p:txBody>
      </p:sp>
      <p:sp>
        <p:nvSpPr>
          <p:cNvPr id="34" name="TextBox 33"/>
          <p:cNvSpPr txBox="1"/>
          <p:nvPr/>
        </p:nvSpPr>
        <p:spPr>
          <a:xfrm>
            <a:off x="6561963" y="2602325"/>
            <a:ext cx="1658493" cy="146304"/>
          </a:xfrm>
          <a:prstGeom prst="rect">
            <a:avLst/>
          </a:prstGeom>
          <a:noFill/>
        </p:spPr>
        <p:txBody>
          <a:bodyPr wrap="square" anchor="t" lIns="0" rIns="0" tIns="0" bIns="0">
            <a:noAutofit/>
          </a:bodyPr>
          <a:lstStyle/>
          <a:p>
            <a:pPr algn="ctr"/>
            <a:r>
              <a:rPr sz="600" b="1" i="0">
                <a:solidFill>
                  <a:srgbClr val="586586"/>
                </a:solidFill>
                <a:latin typeface="Outfit"/>
              </a:rPr>
              <a:t>BOUCLE DE RÉÉVALUATION</a:t>
            </a:r>
          </a:p>
        </p:txBody>
      </p:sp>
      <p:sp>
        <p:nvSpPr>
          <p:cNvPr id="35" name="TextBox 34"/>
          <p:cNvSpPr txBox="1"/>
          <p:nvPr/>
        </p:nvSpPr>
        <p:spPr>
          <a:xfrm>
            <a:off x="6561963" y="2803493"/>
            <a:ext cx="1658493" cy="870013"/>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Satisfaction et adhésion mesurées au même instrument à T0 et à la réévaluation — le delta humain se lit à côté du delta de maturité.</a:t>
            </a:r>
          </a:p>
        </p:txBody>
      </p:sp>
      <p:sp>
        <p:nvSpPr>
          <p:cNvPr id="36" name="Rectangle 35"/>
          <p:cNvSpPr/>
          <p:nvPr/>
        </p:nvSpPr>
        <p:spPr>
          <a:xfrm>
            <a:off x="6561963" y="3728370"/>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61963" y="3783234"/>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iap-change-coach · metrics-sre-finops-lead</a:t>
            </a:r>
          </a:p>
        </p:txBody>
      </p:sp>
      <p:sp>
        <p:nvSpPr>
          <p:cNvPr id="38" name="Rounded Rectangle 37"/>
          <p:cNvSpPr/>
          <p:nvPr/>
        </p:nvSpPr>
        <p:spPr>
          <a:xfrm>
            <a:off x="562356" y="4319682"/>
            <a:ext cx="7804404" cy="54864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5236" y="4319682"/>
            <a:ext cx="7438644" cy="548640"/>
          </a:xfrm>
          <a:prstGeom prst="rect">
            <a:avLst/>
          </a:prstGeom>
          <a:noFill/>
        </p:spPr>
        <p:txBody>
          <a:bodyPr wrap="square" anchor="ctr" lIns="0" rIns="0" tIns="0" bIns="0">
            <a:noAutofit/>
          </a:bodyPr>
          <a:lstStyle/>
          <a:p>
            <a:pPr algn="l"/>
            <a:r>
              <a:rPr sz="800" b="1" i="0">
                <a:solidFill>
                  <a:srgbClr val="0E2356"/>
                </a:solidFill>
                <a:latin typeface="Outfit"/>
              </a:rPr>
              <a:t>Ce que ça ne crée pas</a:t>
            </a:r>
          </a:p>
          <a:p>
            <a:pPr algn="l">
              <a:lnSpc>
                <a:spcPct val="125000"/>
              </a:lnSpc>
              <a:spcBef>
                <a:spcPts val="300"/>
              </a:spcBef>
            </a:pPr>
            <a:r>
              <a:rPr sz="700" b="0" i="0">
                <a:solidFill>
                  <a:srgbClr val="0E2356"/>
                </a:solidFill>
                <a:latin typeface="Outfit"/>
              </a:rPr>
              <a:t>Pas de nouvel agent (iap-change-coach porte le fil de bout en bout), pas de phase en plus — et jamais d'évaluation individuelle des personnes (déontologie du consultant, transposée telle quelle).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400">
                <a:solidFill>
                  <a:srgbClr val="0E2356"/>
                </a:solidFill>
                <a:latin typeface="Outfit"/>
              </a:rPr>
              <a:t>DÉMARCHE   ·   </a:t>
            </a:r>
            <a:r>
              <a:rPr b="1" sz="1400">
                <a:solidFill>
                  <a:srgbClr val="0E2356"/>
                </a:solidFill>
                <a:latin typeface="Outfit"/>
              </a:rPr>
              <a:t>La trajectoire porte aussi un fil technique, de bout en bout</a:t>
            </a:r>
          </a:p>
        </p:txBody>
      </p:sp>
      <p:sp>
        <p:nvSpPr>
          <p:cNvPr id="3" name="TextBox 2"/>
          <p:cNvSpPr txBox="1"/>
          <p:nvPr/>
        </p:nvSpPr>
        <p:spPr>
          <a:xfrm>
            <a:off x="562356" y="1051560"/>
            <a:ext cx="7804404" cy="36576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Le fil technique suit la même trame ①②③⟲ que la trajectoire et le fil humain — un fil dans les phases, pas un chantier d'architecture séparé à maintenir.</a:t>
            </a:r>
          </a:p>
        </p:txBody>
      </p:sp>
      <p:sp>
        <p:nvSpPr>
          <p:cNvPr id="4" name="Rounded Rectangle 3"/>
          <p:cNvSpPr/>
          <p:nvPr/>
        </p:nvSpPr>
        <p:spPr>
          <a:xfrm>
            <a:off x="562356" y="1820322"/>
            <a:ext cx="7804404" cy="2289238"/>
          </a:xfrm>
          <a:prstGeom prst="roundRect">
            <a:avLst>
              <a:gd name="adj" fmla="val 6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332166" y="1614582"/>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32166" y="1614582"/>
            <a:ext cx="411480" cy="411480"/>
          </a:xfrm>
          <a:prstGeom prst="rect">
            <a:avLst/>
          </a:prstGeom>
          <a:noFill/>
        </p:spPr>
        <p:txBody>
          <a:bodyPr wrap="square" anchor="ctr" lIns="0" rIns="0" tIns="0" bIns="0">
            <a:noAutofit/>
          </a:bodyPr>
          <a:lstStyle/>
          <a:p>
            <a:pPr algn="ctr"/>
            <a:r>
              <a:rPr sz="1300" b="1" i="0">
                <a:solidFill>
                  <a:srgbClr val="FFFFFF"/>
                </a:solidFill>
                <a:latin typeface="Arial"/>
              </a:rPr>
              <a:t>①</a:t>
            </a:r>
          </a:p>
        </p:txBody>
      </p:sp>
      <p:sp>
        <p:nvSpPr>
          <p:cNvPr id="7" name="TextBox 6"/>
          <p:cNvSpPr txBox="1"/>
          <p:nvPr/>
        </p:nvSpPr>
        <p:spPr>
          <a:xfrm>
            <a:off x="708660" y="2117502"/>
            <a:ext cx="1658493" cy="201168"/>
          </a:xfrm>
          <a:prstGeom prst="rect">
            <a:avLst/>
          </a:prstGeom>
          <a:noFill/>
        </p:spPr>
        <p:txBody>
          <a:bodyPr wrap="square" anchor="t" lIns="0" rIns="0" tIns="0" bIns="0">
            <a:noAutofit/>
          </a:bodyPr>
          <a:lstStyle/>
          <a:p>
            <a:pPr algn="ctr"/>
            <a:r>
              <a:rPr sz="900" b="1" i="0">
                <a:solidFill>
                  <a:srgbClr val="0E2356"/>
                </a:solidFill>
                <a:latin typeface="Outfit"/>
              </a:rPr>
              <a:t>Cartographier</a:t>
            </a:r>
          </a:p>
        </p:txBody>
      </p:sp>
      <p:sp>
        <p:nvSpPr>
          <p:cNvPr id="8" name="TextBox 7"/>
          <p:cNvSpPr txBox="1"/>
          <p:nvPr/>
        </p:nvSpPr>
        <p:spPr>
          <a:xfrm>
            <a:off x="708660" y="2318670"/>
            <a:ext cx="1658493" cy="146304"/>
          </a:xfrm>
          <a:prstGeom prst="rect">
            <a:avLst/>
          </a:prstGeom>
          <a:noFill/>
        </p:spPr>
        <p:txBody>
          <a:bodyPr wrap="square" anchor="t" lIns="0" rIns="0" tIns="0" bIns="0">
            <a:noAutofit/>
          </a:bodyPr>
          <a:lstStyle/>
          <a:p>
            <a:pPr algn="ctr"/>
            <a:r>
              <a:rPr sz="600" b="1" i="0">
                <a:solidFill>
                  <a:srgbClr val="586586"/>
                </a:solidFill>
                <a:latin typeface="Outfit"/>
              </a:rPr>
              <a:t>ASSESSMENT FLASH</a:t>
            </a:r>
          </a:p>
        </p:txBody>
      </p:sp>
      <p:sp>
        <p:nvSpPr>
          <p:cNvPr id="9" name="TextBox 8"/>
          <p:cNvSpPr txBox="1"/>
          <p:nvPr/>
        </p:nvSpPr>
        <p:spPr>
          <a:xfrm>
            <a:off x="708660" y="2519838"/>
            <a:ext cx="1658493" cy="1108138"/>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Dette technique et risques — plateformes vieillissantes, dépendances non maîtrisées, licences en tension — cartographiés avant toute décision d'engager : une base factuelle, pas une checklist de conformité.</a:t>
            </a:r>
          </a:p>
        </p:txBody>
      </p:sp>
      <p:sp>
        <p:nvSpPr>
          <p:cNvPr id="10" name="Rectangle 9"/>
          <p:cNvSpPr/>
          <p:nvPr/>
        </p:nvSpPr>
        <p:spPr>
          <a:xfrm>
            <a:off x="708660" y="3682841"/>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8660" y="3737705"/>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iap-platform-architect · iap-diagnostic-systemique</a:t>
            </a:r>
          </a:p>
        </p:txBody>
      </p:sp>
      <p:sp>
        <p:nvSpPr>
          <p:cNvPr id="12" name="Rectangle 11"/>
          <p:cNvSpPr/>
          <p:nvPr/>
        </p:nvSpPr>
        <p:spPr>
          <a:xfrm>
            <a:off x="2513457" y="1948338"/>
            <a:ext cx="10972" cy="203320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283267" y="1614582"/>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83267" y="1614582"/>
            <a:ext cx="411480" cy="411480"/>
          </a:xfrm>
          <a:prstGeom prst="rect">
            <a:avLst/>
          </a:prstGeom>
          <a:noFill/>
        </p:spPr>
        <p:txBody>
          <a:bodyPr wrap="square" anchor="ctr" lIns="0" rIns="0" tIns="0" bIns="0">
            <a:noAutofit/>
          </a:bodyPr>
          <a:lstStyle/>
          <a:p>
            <a:pPr algn="ctr"/>
            <a:r>
              <a:rPr sz="1300" b="1" i="0">
                <a:solidFill>
                  <a:srgbClr val="FFFFFF"/>
                </a:solidFill>
                <a:latin typeface="Arial"/>
              </a:rPr>
              <a:t>②</a:t>
            </a:r>
          </a:p>
        </p:txBody>
      </p:sp>
      <p:sp>
        <p:nvSpPr>
          <p:cNvPr id="15" name="TextBox 14"/>
          <p:cNvSpPr txBox="1"/>
          <p:nvPr/>
        </p:nvSpPr>
        <p:spPr>
          <a:xfrm>
            <a:off x="2659761" y="2117502"/>
            <a:ext cx="1658493" cy="201168"/>
          </a:xfrm>
          <a:prstGeom prst="rect">
            <a:avLst/>
          </a:prstGeom>
          <a:noFill/>
        </p:spPr>
        <p:txBody>
          <a:bodyPr wrap="square" anchor="t" lIns="0" rIns="0" tIns="0" bIns="0">
            <a:noAutofit/>
          </a:bodyPr>
          <a:lstStyle/>
          <a:p>
            <a:pPr algn="ctr"/>
            <a:r>
              <a:rPr sz="900" b="1" i="0">
                <a:solidFill>
                  <a:srgbClr val="0E2356"/>
                </a:solidFill>
                <a:latin typeface="Outfit"/>
              </a:rPr>
              <a:t>Décommissionner &amp; observer</a:t>
            </a:r>
          </a:p>
        </p:txBody>
      </p:sp>
      <p:sp>
        <p:nvSpPr>
          <p:cNvPr id="16" name="TextBox 15"/>
          <p:cNvSpPr txBox="1"/>
          <p:nvPr/>
        </p:nvSpPr>
        <p:spPr>
          <a:xfrm>
            <a:off x="2659761" y="2318670"/>
            <a:ext cx="1658493" cy="146304"/>
          </a:xfrm>
          <a:prstGeom prst="rect">
            <a:avLst/>
          </a:prstGeom>
          <a:noFill/>
        </p:spPr>
        <p:txBody>
          <a:bodyPr wrap="square" anchor="t" lIns="0" rIns="0" tIns="0" bIns="0">
            <a:noAutofit/>
          </a:bodyPr>
          <a:lstStyle/>
          <a:p>
            <a:pPr algn="ctr"/>
            <a:r>
              <a:rPr sz="600" b="1" i="0">
                <a:solidFill>
                  <a:srgbClr val="586586"/>
                </a:solidFill>
                <a:latin typeface="Outfit"/>
              </a:rPr>
              <a:t>PREMIER DÉPLOIEMENT</a:t>
            </a:r>
          </a:p>
        </p:txBody>
      </p:sp>
      <p:sp>
        <p:nvSpPr>
          <p:cNvPr id="17" name="TextBox 16"/>
          <p:cNvSpPr txBox="1"/>
          <p:nvPr/>
        </p:nvSpPr>
        <p:spPr>
          <a:xfrm>
            <a:off x="2659761" y="2519838"/>
            <a:ext cx="1658493" cy="1108138"/>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Sur les équipes pilotes : ce qui peut être décommissionné l'est, l'observabilité de ce qui reste est posée — la base sur laquelle la généralisation s'appuie.</a:t>
            </a:r>
          </a:p>
        </p:txBody>
      </p:sp>
      <p:sp>
        <p:nvSpPr>
          <p:cNvPr id="18" name="Rectangle 17"/>
          <p:cNvSpPr/>
          <p:nvPr/>
        </p:nvSpPr>
        <p:spPr>
          <a:xfrm>
            <a:off x="2659761" y="3682841"/>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659761" y="3737705"/>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iap-platform-architect · iap-run-tma-specialist</a:t>
            </a:r>
          </a:p>
        </p:txBody>
      </p:sp>
      <p:sp>
        <p:nvSpPr>
          <p:cNvPr id="20" name="Rectangle 19"/>
          <p:cNvSpPr/>
          <p:nvPr/>
        </p:nvSpPr>
        <p:spPr>
          <a:xfrm>
            <a:off x="4464558" y="1948338"/>
            <a:ext cx="10972" cy="203320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34368" y="1614582"/>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34368" y="1614582"/>
            <a:ext cx="411480" cy="411480"/>
          </a:xfrm>
          <a:prstGeom prst="rect">
            <a:avLst/>
          </a:prstGeom>
          <a:noFill/>
        </p:spPr>
        <p:txBody>
          <a:bodyPr wrap="square" anchor="ctr" lIns="0" rIns="0" tIns="0" bIns="0">
            <a:noAutofit/>
          </a:bodyPr>
          <a:lstStyle/>
          <a:p>
            <a:pPr algn="ctr"/>
            <a:r>
              <a:rPr sz="1300" b="1" i="0">
                <a:solidFill>
                  <a:srgbClr val="FFFFFF"/>
                </a:solidFill>
                <a:latin typeface="Arial"/>
              </a:rPr>
              <a:t>③</a:t>
            </a:r>
          </a:p>
        </p:txBody>
      </p:sp>
      <p:sp>
        <p:nvSpPr>
          <p:cNvPr id="23" name="TextBox 22"/>
          <p:cNvSpPr txBox="1"/>
          <p:nvPr/>
        </p:nvSpPr>
        <p:spPr>
          <a:xfrm>
            <a:off x="4610862" y="2117502"/>
            <a:ext cx="1658493" cy="201168"/>
          </a:xfrm>
          <a:prstGeom prst="rect">
            <a:avLst/>
          </a:prstGeom>
          <a:noFill/>
        </p:spPr>
        <p:txBody>
          <a:bodyPr wrap="square" anchor="t" lIns="0" rIns="0" tIns="0" bIns="0">
            <a:noAutofit/>
          </a:bodyPr>
          <a:lstStyle/>
          <a:p>
            <a:pPr algn="ctr"/>
            <a:r>
              <a:rPr sz="900" b="1" i="0">
                <a:solidFill>
                  <a:srgbClr val="0E2356"/>
                </a:solidFill>
                <a:latin typeface="Outfit"/>
              </a:rPr>
              <a:t>Standardiser &amp; outiller</a:t>
            </a:r>
          </a:p>
        </p:txBody>
      </p:sp>
      <p:sp>
        <p:nvSpPr>
          <p:cNvPr id="24" name="TextBox 23"/>
          <p:cNvSpPr txBox="1"/>
          <p:nvPr/>
        </p:nvSpPr>
        <p:spPr>
          <a:xfrm>
            <a:off x="4610862" y="2318670"/>
            <a:ext cx="1658493" cy="146304"/>
          </a:xfrm>
          <a:prstGeom prst="rect">
            <a:avLst/>
          </a:prstGeom>
          <a:noFill/>
        </p:spPr>
        <p:txBody>
          <a:bodyPr wrap="square" anchor="t" lIns="0" rIns="0" tIns="0" bIns="0">
            <a:noAutofit/>
          </a:bodyPr>
          <a:lstStyle/>
          <a:p>
            <a:pPr algn="ctr"/>
            <a:r>
              <a:rPr sz="600" b="1" i="0">
                <a:solidFill>
                  <a:srgbClr val="586586"/>
                </a:solidFill>
                <a:latin typeface="Outfit"/>
              </a:rPr>
              <a:t>IMPLÉMENTATION ITÉRATIVE</a:t>
            </a:r>
          </a:p>
        </p:txBody>
      </p:sp>
      <p:sp>
        <p:nvSpPr>
          <p:cNvPr id="25" name="TextBox 24"/>
          <p:cNvSpPr txBox="1"/>
          <p:nvPr/>
        </p:nvSpPr>
        <p:spPr>
          <a:xfrm>
            <a:off x="4610862" y="2519838"/>
            <a:ext cx="1658493" cy="1108138"/>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Généralisation équipe par équipe : CI/CD et infra as code deviennent le mode par défaut — la plateforme produit (cloud interne, orchestration, observabilité) prend forme.</a:t>
            </a:r>
          </a:p>
        </p:txBody>
      </p:sp>
      <p:sp>
        <p:nvSpPr>
          <p:cNvPr id="26" name="Rectangle 25"/>
          <p:cNvSpPr/>
          <p:nvPr/>
        </p:nvSpPr>
        <p:spPr>
          <a:xfrm>
            <a:off x="4610862" y="3682841"/>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10862" y="3737705"/>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iap-platform-architect · iap-platform-product-pm</a:t>
            </a:r>
          </a:p>
        </p:txBody>
      </p:sp>
      <p:sp>
        <p:nvSpPr>
          <p:cNvPr id="28" name="Rectangle 27"/>
          <p:cNvSpPr/>
          <p:nvPr/>
        </p:nvSpPr>
        <p:spPr>
          <a:xfrm>
            <a:off x="6415659" y="1948338"/>
            <a:ext cx="10972" cy="203320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7185469" y="1614582"/>
            <a:ext cx="411480" cy="4114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85469" y="1614582"/>
            <a:ext cx="411480" cy="411480"/>
          </a:xfrm>
          <a:prstGeom prst="rect">
            <a:avLst/>
          </a:prstGeom>
          <a:noFill/>
        </p:spPr>
        <p:txBody>
          <a:bodyPr wrap="square" anchor="ctr" lIns="0" rIns="0" tIns="0" bIns="0">
            <a:noAutofit/>
          </a:bodyPr>
          <a:lstStyle/>
          <a:p>
            <a:pPr algn="ctr"/>
            <a:r>
              <a:rPr sz="1300" b="0" i="0">
                <a:solidFill>
                  <a:srgbClr val="FFFFFF"/>
                </a:solidFill>
                <a:latin typeface="Arial"/>
              </a:rPr>
              <a:t>⟲</a:t>
            </a:r>
          </a:p>
        </p:txBody>
      </p:sp>
      <p:sp>
        <p:nvSpPr>
          <p:cNvPr id="31" name="TextBox 30"/>
          <p:cNvSpPr txBox="1"/>
          <p:nvPr/>
        </p:nvSpPr>
        <p:spPr>
          <a:xfrm>
            <a:off x="6561963" y="2117502"/>
            <a:ext cx="1658493" cy="201168"/>
          </a:xfrm>
          <a:prstGeom prst="rect">
            <a:avLst/>
          </a:prstGeom>
          <a:noFill/>
        </p:spPr>
        <p:txBody>
          <a:bodyPr wrap="square" anchor="t" lIns="0" rIns="0" tIns="0" bIns="0">
            <a:noAutofit/>
          </a:bodyPr>
          <a:lstStyle/>
          <a:p>
            <a:pPr algn="ctr"/>
            <a:r>
              <a:rPr sz="900" b="1" i="0">
                <a:solidFill>
                  <a:srgbClr val="0E2356"/>
                </a:solidFill>
                <a:latin typeface="Outfit"/>
              </a:rPr>
              <a:t>Mesurer &amp; réengager</a:t>
            </a:r>
          </a:p>
        </p:txBody>
      </p:sp>
      <p:sp>
        <p:nvSpPr>
          <p:cNvPr id="32" name="TextBox 31"/>
          <p:cNvSpPr txBox="1"/>
          <p:nvPr/>
        </p:nvSpPr>
        <p:spPr>
          <a:xfrm>
            <a:off x="6561963" y="2318670"/>
            <a:ext cx="1658493" cy="146304"/>
          </a:xfrm>
          <a:prstGeom prst="rect">
            <a:avLst/>
          </a:prstGeom>
          <a:noFill/>
        </p:spPr>
        <p:txBody>
          <a:bodyPr wrap="square" anchor="t" lIns="0" rIns="0" tIns="0" bIns="0">
            <a:noAutofit/>
          </a:bodyPr>
          <a:lstStyle/>
          <a:p>
            <a:pPr algn="ctr"/>
            <a:r>
              <a:rPr sz="600" b="1" i="0">
                <a:solidFill>
                  <a:srgbClr val="586586"/>
                </a:solidFill>
                <a:latin typeface="Outfit"/>
              </a:rPr>
              <a:t>BOUCLE DE RÉÉVALUATION</a:t>
            </a:r>
          </a:p>
        </p:txBody>
      </p:sp>
      <p:sp>
        <p:nvSpPr>
          <p:cNvPr id="33" name="TextBox 32"/>
          <p:cNvSpPr txBox="1"/>
          <p:nvPr/>
        </p:nvSpPr>
        <p:spPr>
          <a:xfrm>
            <a:off x="6561963" y="2519838"/>
            <a:ext cx="1658493" cy="1108138"/>
          </a:xfrm>
          <a:prstGeom prst="rect">
            <a:avLst/>
          </a:prstGeom>
          <a:noFill/>
        </p:spPr>
        <p:txBody>
          <a:bodyPr wrap="square" anchor="t" lIns="0" rIns="0" tIns="0" bIns="0">
            <a:noAutofit/>
          </a:bodyPr>
          <a:lstStyle/>
          <a:p>
            <a:pPr algn="l">
              <a:lnSpc>
                <a:spcPct val="125000"/>
              </a:lnSpc>
            </a:pPr>
            <a:r>
              <a:rPr sz="750" b="0" i="0">
                <a:solidFill>
                  <a:srgbClr val="0E2356"/>
                </a:solidFill>
                <a:latin typeface="Outfit"/>
              </a:rPr>
              <a:t>Dette technique et KPI infra rejoués au même instrument qu'à T0 — le delta technique se lit à côté du delta de maturité et du delta humain.</a:t>
            </a:r>
          </a:p>
        </p:txBody>
      </p:sp>
      <p:sp>
        <p:nvSpPr>
          <p:cNvPr id="34" name="Rectangle 33"/>
          <p:cNvSpPr/>
          <p:nvPr/>
        </p:nvSpPr>
        <p:spPr>
          <a:xfrm>
            <a:off x="6561963" y="3682841"/>
            <a:ext cx="165849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61963" y="3737705"/>
            <a:ext cx="1658493" cy="225552"/>
          </a:xfrm>
          <a:prstGeom prst="rect">
            <a:avLst/>
          </a:prstGeom>
          <a:noFill/>
        </p:spPr>
        <p:txBody>
          <a:bodyPr wrap="square" anchor="t" lIns="0" rIns="0" tIns="0" bIns="0">
            <a:noAutofit/>
          </a:bodyPr>
          <a:lstStyle/>
          <a:p>
            <a:pPr algn="l">
              <a:lnSpc>
                <a:spcPct val="120000"/>
              </a:lnSpc>
            </a:pPr>
            <a:r>
              <a:rPr sz="650" b="1" i="0">
                <a:solidFill>
                  <a:srgbClr val="0E2356"/>
                </a:solidFill>
                <a:latin typeface="Outfit"/>
              </a:rPr>
              <a:t>iap-metrics-sre-finops-lead · iap-run-tma-specialist</a:t>
            </a:r>
          </a:p>
        </p:txBody>
      </p:sp>
      <p:sp>
        <p:nvSpPr>
          <p:cNvPr id="36" name="Rounded Rectangle 35"/>
          <p:cNvSpPr/>
          <p:nvPr/>
        </p:nvSpPr>
        <p:spPr>
          <a:xfrm>
            <a:off x="562356" y="4274153"/>
            <a:ext cx="7804404" cy="54864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5236" y="4274153"/>
            <a:ext cx="7438644" cy="548640"/>
          </a:xfrm>
          <a:prstGeom prst="rect">
            <a:avLst/>
          </a:prstGeom>
          <a:noFill/>
        </p:spPr>
        <p:txBody>
          <a:bodyPr wrap="square" anchor="ctr" lIns="0" rIns="0" tIns="0" bIns="0">
            <a:noAutofit/>
          </a:bodyPr>
          <a:lstStyle/>
          <a:p>
            <a:pPr algn="l"/>
            <a:r>
              <a:rPr sz="800" b="1" i="0">
                <a:solidFill>
                  <a:srgbClr val="0E2356"/>
                </a:solidFill>
                <a:latin typeface="Outfit"/>
              </a:rPr>
              <a:t>Ce que ce fil n'est pas</a:t>
            </a:r>
          </a:p>
          <a:p>
            <a:pPr algn="l">
              <a:lnSpc>
                <a:spcPct val="125000"/>
              </a:lnSpc>
              <a:spcBef>
                <a:spcPts val="300"/>
              </a:spcBef>
            </a:pPr>
            <a:r>
              <a:rPr sz="700" b="0" i="0">
                <a:solidFill>
                  <a:srgbClr val="0E2356"/>
                </a:solidFill>
                <a:latin typeface="Outfit"/>
              </a:rPr>
              <a:t>Pas une architecture technique détaillée (objet d'une mission dédiée si le contexte l'exige) ; la gouvernance sécurité, conformité et résilience opérationnelle reste celle du client — ce fil s'y arrime, il ne la remplace pas.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IAP outille une partie du fil humain — le reste est de la présence de consultant</a:t>
            </a:r>
          </a:p>
        </p:txBody>
      </p:sp>
      <p:sp>
        <p:nvSpPr>
          <p:cNvPr id="3" name="TextBox 2"/>
          <p:cNvSpPr txBox="1"/>
          <p:nvPr/>
        </p:nvSpPr>
        <p:spPr>
          <a:xfrm>
            <a:off x="562356" y="1051560"/>
            <a:ext cx="7804404" cy="256032"/>
          </a:xfrm>
          <a:prstGeom prst="rect">
            <a:avLst/>
          </a:prstGeom>
          <a:noFill/>
        </p:spPr>
        <p:txBody>
          <a:bodyPr wrap="square" anchor="t" lIns="0" rIns="0" tIns="0" bIns="0">
            <a:noAutofit/>
          </a:bodyPr>
          <a:lstStyle/>
          <a:p>
            <a:pPr algn="l">
              <a:lnSpc>
                <a:spcPct val="115000"/>
              </a:lnSpc>
            </a:pPr>
            <a:r>
              <a:rPr sz="800" b="0" i="1">
                <a:solidFill>
                  <a:srgbClr val="586586"/>
                </a:solidFill>
                <a:latin typeface="Outfit"/>
              </a:rPr>
              <a:t>Les mêmes quatre temps que la trajectoire : en haut, ce que le consultant fait avec le module ; en bas, ce qu'il fait sans lui.</a:t>
            </a:r>
          </a:p>
        </p:txBody>
      </p:sp>
      <p:sp>
        <p:nvSpPr>
          <p:cNvPr id="4" name="Rounded Rectangle 3"/>
          <p:cNvSpPr/>
          <p:nvPr/>
        </p:nvSpPr>
        <p:spPr>
          <a:xfrm>
            <a:off x="2327719"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327719" y="1362456"/>
            <a:ext cx="237744" cy="237744"/>
          </a:xfrm>
          <a:prstGeom prst="rect">
            <a:avLst/>
          </a:prstGeom>
          <a:noFill/>
        </p:spPr>
        <p:txBody>
          <a:bodyPr wrap="square" anchor="ctr" lIns="0" rIns="0" tIns="0" bIns="0">
            <a:noAutofit/>
          </a:bodyPr>
          <a:lstStyle/>
          <a:p>
            <a:pPr algn="ctr"/>
            <a:r>
              <a:rPr sz="900" b="1" i="0">
                <a:solidFill>
                  <a:srgbClr val="FFFFFF"/>
                </a:solidFill>
                <a:latin typeface="Arial"/>
              </a:rPr>
              <a:t>①</a:t>
            </a:r>
          </a:p>
        </p:txBody>
      </p:sp>
      <p:sp>
        <p:nvSpPr>
          <p:cNvPr id="6" name="TextBox 5"/>
          <p:cNvSpPr txBox="1"/>
          <p:nvPr/>
        </p:nvSpPr>
        <p:spPr>
          <a:xfrm>
            <a:off x="1632204" y="1618488"/>
            <a:ext cx="1628775" cy="146304"/>
          </a:xfrm>
          <a:prstGeom prst="rect">
            <a:avLst/>
          </a:prstGeom>
          <a:noFill/>
        </p:spPr>
        <p:txBody>
          <a:bodyPr wrap="square" anchor="t" lIns="0" rIns="0" tIns="0" bIns="0">
            <a:noAutofit/>
          </a:bodyPr>
          <a:lstStyle/>
          <a:p>
            <a:pPr algn="ctr"/>
            <a:r>
              <a:rPr sz="650" b="1" i="0">
                <a:solidFill>
                  <a:srgbClr val="0E2356"/>
                </a:solidFill>
                <a:latin typeface="Outfit"/>
              </a:rPr>
              <a:t>Assessment flash</a:t>
            </a:r>
          </a:p>
        </p:txBody>
      </p:sp>
      <p:sp>
        <p:nvSpPr>
          <p:cNvPr id="7" name="Rounded Rectangle 6"/>
          <p:cNvSpPr/>
          <p:nvPr/>
        </p:nvSpPr>
        <p:spPr>
          <a:xfrm>
            <a:off x="4029646"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29646" y="1362456"/>
            <a:ext cx="237744" cy="237744"/>
          </a:xfrm>
          <a:prstGeom prst="rect">
            <a:avLst/>
          </a:prstGeom>
          <a:noFill/>
        </p:spPr>
        <p:txBody>
          <a:bodyPr wrap="square" anchor="ctr" lIns="0" rIns="0" tIns="0" bIns="0">
            <a:noAutofit/>
          </a:bodyPr>
          <a:lstStyle/>
          <a:p>
            <a:pPr algn="ctr"/>
            <a:r>
              <a:rPr sz="900" b="1" i="0">
                <a:solidFill>
                  <a:srgbClr val="FFFFFF"/>
                </a:solidFill>
                <a:latin typeface="Arial"/>
              </a:rPr>
              <a:t>②</a:t>
            </a:r>
          </a:p>
        </p:txBody>
      </p:sp>
      <p:sp>
        <p:nvSpPr>
          <p:cNvPr id="9" name="TextBox 8"/>
          <p:cNvSpPr txBox="1"/>
          <p:nvPr/>
        </p:nvSpPr>
        <p:spPr>
          <a:xfrm>
            <a:off x="3334131" y="1618488"/>
            <a:ext cx="1628775" cy="146304"/>
          </a:xfrm>
          <a:prstGeom prst="rect">
            <a:avLst/>
          </a:prstGeom>
          <a:noFill/>
        </p:spPr>
        <p:txBody>
          <a:bodyPr wrap="square" anchor="t" lIns="0" rIns="0" tIns="0" bIns="0">
            <a:noAutofit/>
          </a:bodyPr>
          <a:lstStyle/>
          <a:p>
            <a:pPr algn="ctr"/>
            <a:r>
              <a:rPr sz="650" b="1" i="0">
                <a:solidFill>
                  <a:srgbClr val="0E2356"/>
                </a:solidFill>
                <a:latin typeface="Outfit"/>
              </a:rPr>
              <a:t>Premier déploiement</a:t>
            </a:r>
          </a:p>
        </p:txBody>
      </p:sp>
      <p:sp>
        <p:nvSpPr>
          <p:cNvPr id="10" name="Rounded Rectangle 9"/>
          <p:cNvSpPr/>
          <p:nvPr/>
        </p:nvSpPr>
        <p:spPr>
          <a:xfrm>
            <a:off x="5731573"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31573" y="1362456"/>
            <a:ext cx="237744" cy="237744"/>
          </a:xfrm>
          <a:prstGeom prst="rect">
            <a:avLst/>
          </a:prstGeom>
          <a:noFill/>
        </p:spPr>
        <p:txBody>
          <a:bodyPr wrap="square" anchor="ctr" lIns="0" rIns="0" tIns="0" bIns="0">
            <a:noAutofit/>
          </a:bodyPr>
          <a:lstStyle/>
          <a:p>
            <a:pPr algn="ctr"/>
            <a:r>
              <a:rPr sz="900" b="1" i="0">
                <a:solidFill>
                  <a:srgbClr val="FFFFFF"/>
                </a:solidFill>
                <a:latin typeface="Arial"/>
              </a:rPr>
              <a:t>③</a:t>
            </a:r>
          </a:p>
        </p:txBody>
      </p:sp>
      <p:sp>
        <p:nvSpPr>
          <p:cNvPr id="12" name="TextBox 11"/>
          <p:cNvSpPr txBox="1"/>
          <p:nvPr/>
        </p:nvSpPr>
        <p:spPr>
          <a:xfrm>
            <a:off x="5036058" y="1618488"/>
            <a:ext cx="1628775" cy="146304"/>
          </a:xfrm>
          <a:prstGeom prst="rect">
            <a:avLst/>
          </a:prstGeom>
          <a:noFill/>
        </p:spPr>
        <p:txBody>
          <a:bodyPr wrap="square" anchor="t" lIns="0" rIns="0" tIns="0" bIns="0">
            <a:noAutofit/>
          </a:bodyPr>
          <a:lstStyle/>
          <a:p>
            <a:pPr algn="ctr"/>
            <a:r>
              <a:rPr sz="650" b="1" i="0">
                <a:solidFill>
                  <a:srgbClr val="0E2356"/>
                </a:solidFill>
                <a:latin typeface="Outfit"/>
              </a:rPr>
              <a:t>Implémentation itérative</a:t>
            </a:r>
          </a:p>
        </p:txBody>
      </p:sp>
      <p:sp>
        <p:nvSpPr>
          <p:cNvPr id="13" name="Rounded Rectangle 12"/>
          <p:cNvSpPr/>
          <p:nvPr/>
        </p:nvSpPr>
        <p:spPr>
          <a:xfrm>
            <a:off x="7433500"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33500" y="1362456"/>
            <a:ext cx="237744" cy="237744"/>
          </a:xfrm>
          <a:prstGeom prst="rect">
            <a:avLst/>
          </a:prstGeom>
          <a:noFill/>
        </p:spPr>
        <p:txBody>
          <a:bodyPr wrap="square" anchor="ctr" lIns="0" rIns="0" tIns="0" bIns="0">
            <a:noAutofit/>
          </a:bodyPr>
          <a:lstStyle/>
          <a:p>
            <a:pPr algn="ctr"/>
            <a:r>
              <a:rPr sz="900" b="0" i="0">
                <a:solidFill>
                  <a:srgbClr val="FFFFFF"/>
                </a:solidFill>
                <a:latin typeface="Arial"/>
              </a:rPr>
              <a:t>⟲</a:t>
            </a:r>
          </a:p>
        </p:txBody>
      </p:sp>
      <p:sp>
        <p:nvSpPr>
          <p:cNvPr id="15" name="TextBox 14"/>
          <p:cNvSpPr txBox="1"/>
          <p:nvPr/>
        </p:nvSpPr>
        <p:spPr>
          <a:xfrm>
            <a:off x="6737985" y="1618488"/>
            <a:ext cx="1628775" cy="146304"/>
          </a:xfrm>
          <a:prstGeom prst="rect">
            <a:avLst/>
          </a:prstGeom>
          <a:noFill/>
        </p:spPr>
        <p:txBody>
          <a:bodyPr wrap="square" anchor="t" lIns="0" rIns="0" tIns="0" bIns="0">
            <a:noAutofit/>
          </a:bodyPr>
          <a:lstStyle/>
          <a:p>
            <a:pPr algn="ctr"/>
            <a:r>
              <a:rPr sz="650" b="1" i="0">
                <a:solidFill>
                  <a:srgbClr val="0E2356"/>
                </a:solidFill>
                <a:latin typeface="Outfit"/>
              </a:rPr>
              <a:t>Boucle de réévaluation</a:t>
            </a:r>
          </a:p>
        </p:txBody>
      </p:sp>
      <p:sp>
        <p:nvSpPr>
          <p:cNvPr id="16" name="Rounded Rectangle 15"/>
          <p:cNvSpPr/>
          <p:nvPr/>
        </p:nvSpPr>
        <p:spPr>
          <a:xfrm>
            <a:off x="562356" y="1819656"/>
            <a:ext cx="7804404" cy="1459992"/>
          </a:xfrm>
          <a:prstGeom prst="roundRect">
            <a:avLst>
              <a:gd name="adj" fmla="val 6000"/>
            </a:avLst>
          </a:prstGeom>
          <a:solidFill>
            <a:srgbClr val="E1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084" y="1819656"/>
            <a:ext cx="850392" cy="1459992"/>
          </a:xfrm>
          <a:prstGeom prst="rect">
            <a:avLst/>
          </a:prstGeom>
          <a:noFill/>
        </p:spPr>
        <p:txBody>
          <a:bodyPr wrap="square" anchor="ctr" lIns="0" rIns="0" tIns="0" bIns="0">
            <a:noAutofit/>
          </a:bodyPr>
          <a:lstStyle/>
          <a:p>
            <a:pPr algn="l">
              <a:lnSpc>
                <a:spcPct val="110000"/>
              </a:lnSpc>
            </a:pPr>
            <a:r>
              <a:rPr sz="800" b="1" i="0">
                <a:solidFill>
                  <a:srgbClr val="0E2356"/>
                </a:solidFill>
                <a:latin typeface="Outfit"/>
              </a:rPr>
              <a:t>AVEC IAP</a:t>
            </a:r>
          </a:p>
          <a:p>
            <a:pPr algn="l">
              <a:lnSpc>
                <a:spcPct val="110000"/>
              </a:lnSpc>
              <a:spcBef>
                <a:spcPts val="200"/>
              </a:spcBef>
            </a:pPr>
            <a:r>
              <a:rPr sz="650" b="0" i="1">
                <a:solidFill>
                  <a:srgbClr val="586586"/>
                </a:solidFill>
                <a:latin typeface="Outfit"/>
              </a:rPr>
              <a:t>outillé par le module</a:t>
            </a:r>
          </a:p>
        </p:txBody>
      </p:sp>
      <p:sp>
        <p:nvSpPr>
          <p:cNvPr id="18" name="Rectangle 17"/>
          <p:cNvSpPr/>
          <p:nvPr/>
        </p:nvSpPr>
        <p:spPr>
          <a:xfrm>
            <a:off x="1540764" y="1911095"/>
            <a:ext cx="10972" cy="127711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05356" y="1892807"/>
            <a:ext cx="1482471" cy="1313688"/>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Trames d'interview par persona, versées à la Collecte</a:t>
            </a:r>
          </a:p>
          <a:p>
            <a:pPr algn="l">
              <a:lnSpc>
                <a:spcPct val="120000"/>
              </a:lnSpc>
              <a:spcBef>
                <a:spcPts val="400"/>
              </a:spcBef>
            </a:pPr>
            <a:r>
              <a:rPr sz="700" b="0" i="0">
                <a:solidFill>
                  <a:srgbClr val="0E2356"/>
                </a:solidFill>
                <a:latin typeface="Outfit"/>
              </a:rPr>
              <a:t>La restitution s'appuie sur le deck exécutif généré</a:t>
            </a:r>
          </a:p>
          <a:p>
            <a:pPr algn="l">
              <a:lnSpc>
                <a:spcPct val="120000"/>
              </a:lnSpc>
              <a:spcBef>
                <a:spcPts val="400"/>
              </a:spcBef>
            </a:pPr>
            <a:r>
              <a:rPr sz="700" b="0" i="0">
                <a:solidFill>
                  <a:srgbClr val="0E2356"/>
                </a:solidFill>
                <a:latin typeface="Outfit"/>
              </a:rPr>
              <a:t>Sondage humain de référence (T0)</a:t>
            </a:r>
          </a:p>
        </p:txBody>
      </p:sp>
      <p:sp>
        <p:nvSpPr>
          <p:cNvPr id="20" name="Rectangle 19"/>
          <p:cNvSpPr/>
          <p:nvPr/>
        </p:nvSpPr>
        <p:spPr>
          <a:xfrm>
            <a:off x="3297555" y="1911095"/>
            <a:ext cx="10972" cy="127711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07283" y="1892807"/>
            <a:ext cx="1482471" cy="1313688"/>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Deck de plan de déploiement · export markdown (1re version)</a:t>
            </a:r>
          </a:p>
        </p:txBody>
      </p:sp>
      <p:sp>
        <p:nvSpPr>
          <p:cNvPr id="22" name="Rectangle 21"/>
          <p:cNvSpPr/>
          <p:nvPr/>
        </p:nvSpPr>
        <p:spPr>
          <a:xfrm>
            <a:off x="4999482" y="1911095"/>
            <a:ext cx="10972" cy="127711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09210" y="1892807"/>
            <a:ext cx="1482471" cy="1313688"/>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Comité de pilotage : deck périodique, santé humaine incluse</a:t>
            </a:r>
          </a:p>
        </p:txBody>
      </p:sp>
      <p:sp>
        <p:nvSpPr>
          <p:cNvPr id="24" name="Rectangle 23"/>
          <p:cNvSpPr/>
          <p:nvPr/>
        </p:nvSpPr>
        <p:spPr>
          <a:xfrm>
            <a:off x="6701409" y="1911095"/>
            <a:ext cx="10972" cy="127711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11137" y="1892807"/>
            <a:ext cx="1482471" cy="1313688"/>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KPI humain rejoué au même instrument : delta T0 → réévaluation</a:t>
            </a:r>
          </a:p>
          <a:p>
            <a:pPr algn="l">
              <a:lnSpc>
                <a:spcPct val="120000"/>
              </a:lnSpc>
              <a:spcBef>
                <a:spcPts val="400"/>
              </a:spcBef>
            </a:pPr>
            <a:r>
              <a:rPr sz="700" b="0" i="0">
                <a:solidFill>
                  <a:srgbClr val="0E2356"/>
                </a:solidFill>
                <a:latin typeface="Outfit"/>
              </a:rPr>
              <a:t>Export markdown amendé · deck de bilan</a:t>
            </a:r>
          </a:p>
        </p:txBody>
      </p:sp>
      <p:sp>
        <p:nvSpPr>
          <p:cNvPr id="26" name="Rounded Rectangle 25"/>
          <p:cNvSpPr/>
          <p:nvPr/>
        </p:nvSpPr>
        <p:spPr>
          <a:xfrm>
            <a:off x="562356" y="3371088"/>
            <a:ext cx="7804404" cy="1191768"/>
          </a:xfrm>
          <a:prstGeom prst="roundRect">
            <a:avLst>
              <a:gd name="adj" fmla="val 6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 y="3371088"/>
            <a:ext cx="850392" cy="1191768"/>
          </a:xfrm>
          <a:prstGeom prst="rect">
            <a:avLst/>
          </a:prstGeom>
          <a:noFill/>
        </p:spPr>
        <p:txBody>
          <a:bodyPr wrap="square" anchor="ctr" lIns="0" rIns="0" tIns="0" bIns="0">
            <a:noAutofit/>
          </a:bodyPr>
          <a:lstStyle/>
          <a:p>
            <a:pPr algn="l">
              <a:lnSpc>
                <a:spcPct val="110000"/>
              </a:lnSpc>
            </a:pPr>
            <a:r>
              <a:rPr sz="800" b="1" i="0">
                <a:solidFill>
                  <a:srgbClr val="0E2356"/>
                </a:solidFill>
                <a:latin typeface="Outfit"/>
              </a:rPr>
              <a:t>SANS IAP</a:t>
            </a:r>
          </a:p>
          <a:p>
            <a:pPr algn="l">
              <a:lnSpc>
                <a:spcPct val="110000"/>
              </a:lnSpc>
              <a:spcBef>
                <a:spcPts val="200"/>
              </a:spcBef>
            </a:pPr>
            <a:r>
              <a:rPr sz="650" b="0" i="1">
                <a:solidFill>
                  <a:srgbClr val="586586"/>
                </a:solidFill>
                <a:latin typeface="Outfit"/>
              </a:rPr>
              <a:t>présence du consultant</a:t>
            </a:r>
          </a:p>
        </p:txBody>
      </p:sp>
      <p:sp>
        <p:nvSpPr>
          <p:cNvPr id="28" name="Rectangle 27"/>
          <p:cNvSpPr/>
          <p:nvPr/>
        </p:nvSpPr>
        <p:spPr>
          <a:xfrm>
            <a:off x="1540764" y="3462528"/>
            <a:ext cx="10972" cy="10088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705356" y="3444240"/>
            <a:ext cx="1482471" cy="1045464"/>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Le sponsor présente lui-même l'ambition (micro-lancement)</a:t>
            </a:r>
          </a:p>
          <a:p>
            <a:pPr algn="l">
              <a:lnSpc>
                <a:spcPct val="120000"/>
              </a:lnSpc>
              <a:spcBef>
                <a:spcPts val="400"/>
              </a:spcBef>
            </a:pPr>
            <a:r>
              <a:rPr sz="700" b="0" i="0">
                <a:solidFill>
                  <a:srgbClr val="0E2356"/>
                </a:solidFill>
                <a:latin typeface="Outfit"/>
              </a:rPr>
              <a:t>Restitution-embarquement : feedback des interviewés</a:t>
            </a:r>
          </a:p>
        </p:txBody>
      </p:sp>
      <p:sp>
        <p:nvSpPr>
          <p:cNvPr id="30" name="Rectangle 29"/>
          <p:cNvSpPr/>
          <p:nvPr/>
        </p:nvSpPr>
        <p:spPr>
          <a:xfrm>
            <a:off x="3297555" y="3462528"/>
            <a:ext cx="10972" cy="10088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07283" y="3444240"/>
            <a:ext cx="1482471" cy="1045464"/>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Équipes pilotes volontaires, ateliers co-construits</a:t>
            </a:r>
          </a:p>
          <a:p>
            <a:pPr algn="l">
              <a:lnSpc>
                <a:spcPct val="120000"/>
              </a:lnSpc>
              <a:spcBef>
                <a:spcPts val="400"/>
              </a:spcBef>
            </a:pPr>
            <a:r>
              <a:rPr sz="700" b="0" i="0">
                <a:solidFill>
                  <a:srgbClr val="0E2356"/>
                </a:solidFill>
                <a:latin typeface="Outfit"/>
              </a:rPr>
              <a:t>Formation sur les cas réels — pas de formation sans coaching</a:t>
            </a:r>
          </a:p>
        </p:txBody>
      </p:sp>
      <p:sp>
        <p:nvSpPr>
          <p:cNvPr id="32" name="Rectangle 31"/>
          <p:cNvSpPr/>
          <p:nvPr/>
        </p:nvSpPr>
        <p:spPr>
          <a:xfrm>
            <a:off x="4999482" y="3462528"/>
            <a:ext cx="10972" cy="10088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109210" y="3444240"/>
            <a:ext cx="1482471" cy="1045464"/>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Communauté de managers, N+1/N+2 embarqués</a:t>
            </a:r>
          </a:p>
          <a:p>
            <a:pPr algn="l">
              <a:lnSpc>
                <a:spcPct val="120000"/>
              </a:lnSpc>
              <a:spcBef>
                <a:spcPts val="400"/>
              </a:spcBef>
            </a:pPr>
            <a:r>
              <a:rPr sz="700" b="0" i="0">
                <a:solidFill>
                  <a:srgbClr val="0E2356"/>
                </a:solidFill>
                <a:latin typeface="Outfit"/>
              </a:rPr>
              <a:t>Coaching individuel sous déontologie · relais internes formés</a:t>
            </a:r>
          </a:p>
        </p:txBody>
      </p:sp>
      <p:sp>
        <p:nvSpPr>
          <p:cNvPr id="34" name="Rectangle 33"/>
          <p:cNvSpPr/>
          <p:nvPr/>
        </p:nvSpPr>
        <p:spPr>
          <a:xfrm>
            <a:off x="6701409" y="3462528"/>
            <a:ext cx="10972" cy="10088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11137" y="3444240"/>
            <a:ext cx="1482471" cy="1045464"/>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Présence dégressive : le consultant se rend dispensable</a:t>
            </a:r>
          </a:p>
          <a:p>
            <a:pPr algn="l">
              <a:lnSpc>
                <a:spcPct val="120000"/>
              </a:lnSpc>
              <a:spcBef>
                <a:spcPts val="400"/>
              </a:spcBef>
            </a:pPr>
            <a:r>
              <a:rPr sz="700" b="0" i="0">
                <a:solidFill>
                  <a:srgbClr val="0E2356"/>
                </a:solidFill>
                <a:latin typeface="Outfit"/>
              </a:rPr>
              <a:t>Lecture du delta humain avec les équipes</a:t>
            </a:r>
          </a:p>
        </p:txBody>
      </p:sp>
      <p:sp>
        <p:nvSpPr>
          <p:cNvPr id="36" name="TextBox 35"/>
          <p:cNvSpPr txBox="1"/>
          <p:nvPr/>
        </p:nvSpPr>
        <p:spPr>
          <a:xfrm>
            <a:off x="562356" y="4672584"/>
            <a:ext cx="7804404" cy="310896"/>
          </a:xfrm>
          <a:prstGeom prst="rect">
            <a:avLst/>
          </a:prstGeom>
          <a:noFill/>
        </p:spPr>
        <p:txBody>
          <a:bodyPr wrap="square" anchor="b" lIns="0" rIns="0" tIns="0" bIns="0">
            <a:noAutofit/>
          </a:bodyPr>
          <a:lstStyle/>
          <a:p>
            <a:pPr algn="l">
              <a:lnSpc>
                <a:spcPct val="120000"/>
              </a:lnSpc>
            </a:pPr>
            <a:r>
              <a:rPr sz="800" b="0" i="1">
                <a:solidFill>
                  <a:srgbClr val="586586"/>
                </a:solidFill>
                <a:latin typeface="Outfit"/>
              </a:rPr>
              <a:t>La rangée du bas ne s'outille pas : c'est la présence du consultant — dégressive, jusqu'aux relais internes qui portent le modèle après la mission (offre SCALE, transposée).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550">
                <a:solidFill>
                  <a:srgbClr val="0E2356"/>
                </a:solidFill>
                <a:latin typeface="Outfit"/>
              </a:rPr>
              <a:t>DÉMARCHE   ·   </a:t>
            </a:r>
            <a:r>
              <a:rPr b="1" sz="1550">
                <a:solidFill>
                  <a:srgbClr val="0E2356"/>
                </a:solidFill>
                <a:latin typeface="Outfit"/>
              </a:rPr>
              <a:t>Sans ces quatre conditions, la mission ne s'engage pas</a:t>
            </a:r>
          </a:p>
        </p:txBody>
      </p:sp>
      <p:sp>
        <p:nvSpPr>
          <p:cNvPr id="3" name="TextBox 2"/>
          <p:cNvSpPr txBox="1"/>
          <p:nvPr/>
        </p:nvSpPr>
        <p:spPr>
          <a:xfrm>
            <a:off x="562356" y="1051560"/>
            <a:ext cx="7804404" cy="356489"/>
          </a:xfrm>
          <a:prstGeom prst="rect">
            <a:avLst/>
          </a:prstGeom>
          <a:noFill/>
        </p:spPr>
        <p:txBody>
          <a:bodyPr wrap="square" anchor="t" lIns="0" rIns="0" tIns="0" bIns="0">
            <a:noAutofit/>
          </a:bodyPr>
          <a:lstStyle/>
          <a:p>
            <a:pPr algn="l">
              <a:lnSpc>
                <a:spcPct val="125000"/>
              </a:lnSpc>
            </a:pPr>
            <a:r>
              <a:rPr sz="950" b="0" i="1">
                <a:solidFill>
                  <a:srgbClr val="0E2356"/>
                </a:solidFill>
                <a:latin typeface="Outfit"/>
              </a:rPr>
              <a:t>Le test d'engagement porté par le fil humain n'a de valeur que s'il peut conclure « non » : voici ce qu'il vérifie avant signature — et ce que son échec déclenche.</a:t>
            </a:r>
          </a:p>
        </p:txBody>
      </p:sp>
      <p:sp>
        <p:nvSpPr>
          <p:cNvPr id="4" name="Rectangle 3"/>
          <p:cNvSpPr/>
          <p:nvPr/>
        </p:nvSpPr>
        <p:spPr>
          <a:xfrm>
            <a:off x="672084" y="1808734"/>
            <a:ext cx="18288" cy="2102357"/>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00100" y="1499489"/>
            <a:ext cx="3099815" cy="618489"/>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00100" y="1499489"/>
            <a:ext cx="64008" cy="618489"/>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2356" y="1689862"/>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2356" y="1689862"/>
            <a:ext cx="237744" cy="237744"/>
          </a:xfrm>
          <a:prstGeom prst="rect">
            <a:avLst/>
          </a:prstGeom>
          <a:noFill/>
        </p:spPr>
        <p:txBody>
          <a:bodyPr wrap="square" anchor="ctr" lIns="0" rIns="0" tIns="0" bIns="0">
            <a:noAutofit/>
          </a:bodyPr>
          <a:lstStyle/>
          <a:p>
            <a:pPr algn="ctr"/>
            <a:r>
              <a:rPr sz="800" b="1" i="0">
                <a:solidFill>
                  <a:srgbClr val="FFFFFF"/>
                </a:solidFill>
                <a:latin typeface="Outfit"/>
              </a:rPr>
              <a:t>1</a:t>
            </a:r>
          </a:p>
        </p:txBody>
      </p:sp>
      <p:sp>
        <p:nvSpPr>
          <p:cNvPr id="9" name="TextBox 8"/>
          <p:cNvSpPr txBox="1"/>
          <p:nvPr/>
        </p:nvSpPr>
        <p:spPr>
          <a:xfrm>
            <a:off x="1001268" y="1499489"/>
            <a:ext cx="2770631" cy="618489"/>
          </a:xfrm>
          <a:prstGeom prst="rect">
            <a:avLst/>
          </a:prstGeom>
          <a:noFill/>
        </p:spPr>
        <p:txBody>
          <a:bodyPr wrap="square" anchor="ctr" lIns="0" rIns="0" tIns="0" bIns="0">
            <a:noAutofit/>
          </a:bodyPr>
          <a:lstStyle/>
          <a:p>
            <a:pPr algn="l">
              <a:lnSpc>
                <a:spcPct val="105000"/>
              </a:lnSpc>
            </a:pPr>
            <a:r>
              <a:rPr sz="800" b="1" i="0">
                <a:solidFill>
                  <a:srgbClr val="0E2356"/>
                </a:solidFill>
                <a:latin typeface="Outfit"/>
              </a:rPr>
              <a:t>Un sponsor qui porte la cible</a:t>
            </a:r>
          </a:p>
          <a:p>
            <a:pPr algn="l">
              <a:lnSpc>
                <a:spcPct val="125000"/>
              </a:lnSpc>
              <a:spcBef>
                <a:spcPts val="300"/>
              </a:spcBef>
            </a:pPr>
            <a:r>
              <a:rPr sz="700" b="0" i="0">
                <a:solidFill>
                  <a:srgbClr val="0E2356"/>
                </a:solidFill>
                <a:latin typeface="Outfit"/>
              </a:rPr>
              <a:t>La transformation ne va pas plus loin que ce que le sponsor peut porter : c'est son engagement personnel qui se teste, pas son budget.</a:t>
            </a:r>
          </a:p>
        </p:txBody>
      </p:sp>
      <p:sp>
        <p:nvSpPr>
          <p:cNvPr id="10" name="Rounded Rectangle 9"/>
          <p:cNvSpPr/>
          <p:nvPr/>
        </p:nvSpPr>
        <p:spPr>
          <a:xfrm>
            <a:off x="800100" y="2200275"/>
            <a:ext cx="3099815" cy="618489"/>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0100" y="2200275"/>
            <a:ext cx="64008" cy="618489"/>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62356" y="2390648"/>
            <a:ext cx="237744" cy="237744"/>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2356" y="2390648"/>
            <a:ext cx="237744" cy="237744"/>
          </a:xfrm>
          <a:prstGeom prst="rect">
            <a:avLst/>
          </a:prstGeom>
          <a:noFill/>
        </p:spPr>
        <p:txBody>
          <a:bodyPr wrap="square" anchor="ctr" lIns="0" rIns="0" tIns="0" bIns="0">
            <a:noAutofit/>
          </a:bodyPr>
          <a:lstStyle/>
          <a:p>
            <a:pPr algn="ctr"/>
            <a:r>
              <a:rPr sz="800" b="1" i="0">
                <a:solidFill>
                  <a:srgbClr val="0E2356"/>
                </a:solidFill>
                <a:latin typeface="Outfit"/>
              </a:rPr>
              <a:t>2</a:t>
            </a:r>
          </a:p>
        </p:txBody>
      </p:sp>
      <p:sp>
        <p:nvSpPr>
          <p:cNvPr id="14" name="TextBox 13"/>
          <p:cNvSpPr txBox="1"/>
          <p:nvPr/>
        </p:nvSpPr>
        <p:spPr>
          <a:xfrm>
            <a:off x="1001268" y="2200275"/>
            <a:ext cx="2770631" cy="618489"/>
          </a:xfrm>
          <a:prstGeom prst="rect">
            <a:avLst/>
          </a:prstGeom>
          <a:noFill/>
        </p:spPr>
        <p:txBody>
          <a:bodyPr wrap="square" anchor="ctr" lIns="0" rIns="0" tIns="0" bIns="0">
            <a:noAutofit/>
          </a:bodyPr>
          <a:lstStyle/>
          <a:p>
            <a:pPr algn="l">
              <a:lnSpc>
                <a:spcPct val="105000"/>
              </a:lnSpc>
            </a:pPr>
            <a:r>
              <a:rPr sz="800" b="1" i="0">
                <a:solidFill>
                  <a:srgbClr val="0E2356"/>
                </a:solidFill>
                <a:latin typeface="Outfit"/>
              </a:rPr>
              <a:t>Des équipes réellement disponibles</a:t>
            </a:r>
          </a:p>
          <a:p>
            <a:pPr algn="l">
              <a:lnSpc>
                <a:spcPct val="125000"/>
              </a:lnSpc>
              <a:spcBef>
                <a:spcPts val="300"/>
              </a:spcBef>
            </a:pPr>
            <a:r>
              <a:rPr sz="700" b="0" i="0">
                <a:solidFill>
                  <a:srgbClr val="0E2356"/>
                </a:solidFill>
                <a:latin typeface="Outfit"/>
              </a:rPr>
              <a:t>Interviews et ateliers supposent du temps réservé — la disponibilité réelle se vérifie à l'intake, jamais en cours de mission.</a:t>
            </a:r>
          </a:p>
        </p:txBody>
      </p:sp>
      <p:sp>
        <p:nvSpPr>
          <p:cNvPr id="15" name="Rounded Rectangle 14"/>
          <p:cNvSpPr/>
          <p:nvPr/>
        </p:nvSpPr>
        <p:spPr>
          <a:xfrm>
            <a:off x="800100" y="2901061"/>
            <a:ext cx="3099815" cy="618489"/>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00100" y="2901061"/>
            <a:ext cx="64008" cy="618489"/>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62356" y="3091434"/>
            <a:ext cx="237744" cy="237744"/>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2356" y="3091434"/>
            <a:ext cx="237744" cy="237744"/>
          </a:xfrm>
          <a:prstGeom prst="rect">
            <a:avLst/>
          </a:prstGeom>
          <a:noFill/>
        </p:spPr>
        <p:txBody>
          <a:bodyPr wrap="square" anchor="ctr" lIns="0" rIns="0" tIns="0" bIns="0">
            <a:noAutofit/>
          </a:bodyPr>
          <a:lstStyle/>
          <a:p>
            <a:pPr algn="ctr"/>
            <a:r>
              <a:rPr sz="800" b="1" i="0">
                <a:solidFill>
                  <a:srgbClr val="0E2356"/>
                </a:solidFill>
                <a:latin typeface="Outfit"/>
              </a:rPr>
              <a:t>3</a:t>
            </a:r>
          </a:p>
        </p:txBody>
      </p:sp>
      <p:sp>
        <p:nvSpPr>
          <p:cNvPr id="19" name="TextBox 18"/>
          <p:cNvSpPr txBox="1"/>
          <p:nvPr/>
        </p:nvSpPr>
        <p:spPr>
          <a:xfrm>
            <a:off x="1001268" y="2901061"/>
            <a:ext cx="2770631" cy="618489"/>
          </a:xfrm>
          <a:prstGeom prst="rect">
            <a:avLst/>
          </a:prstGeom>
          <a:noFill/>
        </p:spPr>
        <p:txBody>
          <a:bodyPr wrap="square" anchor="ctr" lIns="0" rIns="0" tIns="0" bIns="0">
            <a:noAutofit/>
          </a:bodyPr>
          <a:lstStyle/>
          <a:p>
            <a:pPr algn="l">
              <a:lnSpc>
                <a:spcPct val="105000"/>
              </a:lnSpc>
            </a:pPr>
            <a:r>
              <a:rPr sz="800" b="1" i="0">
                <a:solidFill>
                  <a:srgbClr val="0E2356"/>
                </a:solidFill>
                <a:latin typeface="Outfit"/>
              </a:rPr>
              <a:t>Une RH embarquée sur rôles et évaluation</a:t>
            </a:r>
          </a:p>
          <a:p>
            <a:pPr algn="l">
              <a:lnSpc>
                <a:spcPct val="125000"/>
              </a:lnSpc>
              <a:spcBef>
                <a:spcPts val="300"/>
              </a:spcBef>
            </a:pPr>
            <a:r>
              <a:rPr sz="700" b="0" i="0">
                <a:solidFill>
                  <a:srgbClr val="0E2356"/>
                </a:solidFill>
                <a:latin typeface="Outfit"/>
              </a:rPr>
              <a:t>« Frein ou principal accélérateur » : coacher une posture que les grilles d'évaluation punissent revient à ramer contre le système.</a:t>
            </a:r>
          </a:p>
        </p:txBody>
      </p:sp>
      <p:sp>
        <p:nvSpPr>
          <p:cNvPr id="20" name="Rounded Rectangle 19"/>
          <p:cNvSpPr/>
          <p:nvPr/>
        </p:nvSpPr>
        <p:spPr>
          <a:xfrm>
            <a:off x="800100" y="3601847"/>
            <a:ext cx="3099815" cy="618489"/>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00100" y="3601847"/>
            <a:ext cx="64008" cy="618489"/>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62356" y="3792220"/>
            <a:ext cx="237744" cy="237744"/>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2356" y="3792220"/>
            <a:ext cx="237744" cy="237744"/>
          </a:xfrm>
          <a:prstGeom prst="rect">
            <a:avLst/>
          </a:prstGeom>
          <a:noFill/>
        </p:spPr>
        <p:txBody>
          <a:bodyPr wrap="square" anchor="ctr" lIns="0" rIns="0" tIns="0" bIns="0">
            <a:noAutofit/>
          </a:bodyPr>
          <a:lstStyle/>
          <a:p>
            <a:pPr algn="ctr"/>
            <a:r>
              <a:rPr sz="800" b="1" i="0">
                <a:solidFill>
                  <a:srgbClr val="0E2356"/>
                </a:solidFill>
                <a:latin typeface="Outfit"/>
              </a:rPr>
              <a:t>4</a:t>
            </a:r>
          </a:p>
        </p:txBody>
      </p:sp>
      <p:sp>
        <p:nvSpPr>
          <p:cNvPr id="24" name="TextBox 23"/>
          <p:cNvSpPr txBox="1"/>
          <p:nvPr/>
        </p:nvSpPr>
        <p:spPr>
          <a:xfrm>
            <a:off x="1001268" y="3601847"/>
            <a:ext cx="2770631" cy="618489"/>
          </a:xfrm>
          <a:prstGeom prst="rect">
            <a:avLst/>
          </a:prstGeom>
          <a:noFill/>
        </p:spPr>
        <p:txBody>
          <a:bodyPr wrap="square" anchor="ctr" lIns="0" rIns="0" tIns="0" bIns="0">
            <a:noAutofit/>
          </a:bodyPr>
          <a:lstStyle/>
          <a:p>
            <a:pPr algn="l">
              <a:lnSpc>
                <a:spcPct val="105000"/>
              </a:lnSpc>
            </a:pPr>
            <a:r>
              <a:rPr sz="800" b="1" i="0">
                <a:solidFill>
                  <a:srgbClr val="0E2356"/>
                </a:solidFill>
                <a:latin typeface="Outfit"/>
              </a:rPr>
              <a:t>Un processus documenté avant tout agent</a:t>
            </a:r>
          </a:p>
          <a:p>
            <a:pPr algn="l">
              <a:lnSpc>
                <a:spcPct val="125000"/>
              </a:lnSpc>
              <a:spcBef>
                <a:spcPts val="300"/>
              </a:spcBef>
            </a:pPr>
            <a:r>
              <a:rPr sz="700" b="0" i="0">
                <a:solidFill>
                  <a:srgbClr val="0E2356"/>
                </a:solidFill>
                <a:latin typeface="Outfit"/>
              </a:rPr>
              <a:t>Sinon on fige une pratique mal définie dans du code — préalable non négociable de la doctrine d'automatisation.</a:t>
            </a:r>
          </a:p>
        </p:txBody>
      </p:sp>
      <p:sp>
        <p:nvSpPr>
          <p:cNvPr id="25" name="Rounded Rectangle 24"/>
          <p:cNvSpPr/>
          <p:nvPr/>
        </p:nvSpPr>
        <p:spPr>
          <a:xfrm>
            <a:off x="4119372" y="1499489"/>
            <a:ext cx="4247388" cy="2720847"/>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4265676" y="1645793"/>
            <a:ext cx="1298448" cy="20116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65676" y="1645793"/>
            <a:ext cx="1298448" cy="201168"/>
          </a:xfrm>
          <a:prstGeom prst="rect">
            <a:avLst/>
          </a:prstGeom>
          <a:noFill/>
        </p:spPr>
        <p:txBody>
          <a:bodyPr wrap="square" anchor="ctr" lIns="0" rIns="0" tIns="0" bIns="0">
            <a:noAutofit/>
          </a:bodyPr>
          <a:lstStyle/>
          <a:p>
            <a:pPr algn="ctr"/>
            <a:r>
              <a:rPr sz="700" b="1" i="0">
                <a:solidFill>
                  <a:srgbClr val="0E2356"/>
                </a:solidFill>
                <a:latin typeface="Outfit"/>
              </a:rPr>
              <a:t>NON-ENGAGEMENT</a:t>
            </a:r>
          </a:p>
        </p:txBody>
      </p:sp>
      <p:sp>
        <p:nvSpPr>
          <p:cNvPr id="28" name="TextBox 27"/>
          <p:cNvSpPr txBox="1"/>
          <p:nvPr/>
        </p:nvSpPr>
        <p:spPr>
          <a:xfrm>
            <a:off x="4265676" y="1901825"/>
            <a:ext cx="3954780" cy="560451"/>
          </a:xfrm>
          <a:prstGeom prst="rect">
            <a:avLst/>
          </a:prstGeom>
          <a:noFill/>
        </p:spPr>
        <p:txBody>
          <a:bodyPr wrap="square" anchor="t" lIns="0" rIns="0" tIns="0" bIns="0">
            <a:noAutofit/>
          </a:bodyPr>
          <a:lstStyle/>
          <a:p>
            <a:pPr algn="l">
              <a:lnSpc>
                <a:spcPct val="115000"/>
              </a:lnSpc>
            </a:pPr>
            <a:r>
              <a:rPr sz="900" b="1" i="0">
                <a:solidFill>
                  <a:srgbClr val="FFFFFF"/>
                </a:solidFill>
                <a:latin typeface="Outfit"/>
              </a:rPr>
              <a:t>Un sponsor qui achète un audit mais ne portera pas la cible est un critère de non-engagement, pas un aléa.</a:t>
            </a:r>
          </a:p>
          <a:p>
            <a:pPr algn="l">
              <a:lnSpc>
                <a:spcPct val="125000"/>
              </a:lnSpc>
              <a:spcBef>
                <a:spcPts val="300"/>
              </a:spcBef>
            </a:pPr>
            <a:r>
              <a:rPr sz="750" b="0" i="0">
                <a:solidFill>
                  <a:srgbClr val="C7CBE0"/>
                </a:solidFill>
                <a:latin typeface="Outfit"/>
              </a:rPr>
              <a:t>Le refus de mission reste un point ouvert du cadrage ; le test d'engagement, lui, est acté — il conditionne la signature.</a:t>
            </a:r>
          </a:p>
        </p:txBody>
      </p:sp>
      <p:sp>
        <p:nvSpPr>
          <p:cNvPr id="29" name="Rectangle 28"/>
          <p:cNvSpPr/>
          <p:nvPr/>
        </p:nvSpPr>
        <p:spPr>
          <a:xfrm>
            <a:off x="4265676" y="2548540"/>
            <a:ext cx="3954780" cy="10972"/>
          </a:xfrm>
          <a:prstGeom prst="rect">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65676" y="2634805"/>
            <a:ext cx="3954780" cy="111125"/>
          </a:xfrm>
          <a:prstGeom prst="rect">
            <a:avLst/>
          </a:prstGeom>
          <a:noFill/>
        </p:spPr>
        <p:txBody>
          <a:bodyPr wrap="square" anchor="t" lIns="0" rIns="0" tIns="0" bIns="0">
            <a:noAutofit/>
          </a:bodyPr>
          <a:lstStyle/>
          <a:p>
            <a:pPr algn="l"/>
            <a:r>
              <a:rPr sz="700" b="1" i="0">
                <a:solidFill>
                  <a:srgbClr val="8891B3"/>
                </a:solidFill>
                <a:latin typeface="Outfit"/>
              </a:rPr>
              <a:t>CE QU'ON REFUSE DE FAIRE — LES ANTI-PATTERNS DU CADRAGE</a:t>
            </a:r>
          </a:p>
        </p:txBody>
      </p:sp>
      <p:sp>
        <p:nvSpPr>
          <p:cNvPr id="31" name="Rounded Rectangle 30"/>
          <p:cNvSpPr/>
          <p:nvPr/>
        </p:nvSpPr>
        <p:spPr>
          <a:xfrm>
            <a:off x="4283964" y="2809938"/>
            <a:ext cx="45720" cy="457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393692" y="2773362"/>
            <a:ext cx="3826764" cy="111125"/>
          </a:xfrm>
          <a:prstGeom prst="rect">
            <a:avLst/>
          </a:prstGeom>
          <a:noFill/>
        </p:spPr>
        <p:txBody>
          <a:bodyPr wrap="square" anchor="t" lIns="0" rIns="0" tIns="0" bIns="0">
            <a:noAutofit/>
          </a:bodyPr>
          <a:lstStyle/>
          <a:p>
            <a:pPr algn="l">
              <a:lnSpc>
                <a:spcPct val="125000"/>
              </a:lnSpc>
            </a:pPr>
            <a:r>
              <a:rPr sz="700" b="0" i="0">
                <a:solidFill>
                  <a:srgbClr val="FFFFFF"/>
                </a:solidFill>
                <a:latin typeface="Outfit"/>
              </a:rPr>
              <a:t>Automatiser un processus mal conçu</a:t>
            </a:r>
          </a:p>
        </p:txBody>
      </p:sp>
      <p:sp>
        <p:nvSpPr>
          <p:cNvPr id="33" name="Rounded Rectangle 32"/>
          <p:cNvSpPr/>
          <p:nvPr/>
        </p:nvSpPr>
        <p:spPr>
          <a:xfrm>
            <a:off x="4283964" y="2948495"/>
            <a:ext cx="45720" cy="457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393692" y="2911919"/>
            <a:ext cx="3826764" cy="111125"/>
          </a:xfrm>
          <a:prstGeom prst="rect">
            <a:avLst/>
          </a:prstGeom>
          <a:noFill/>
        </p:spPr>
        <p:txBody>
          <a:bodyPr wrap="square" anchor="t" lIns="0" rIns="0" tIns="0" bIns="0">
            <a:noAutofit/>
          </a:bodyPr>
          <a:lstStyle/>
          <a:p>
            <a:pPr algn="l">
              <a:lnSpc>
                <a:spcPct val="125000"/>
              </a:lnSpc>
            </a:pPr>
            <a:r>
              <a:rPr sz="700" b="0" i="0">
                <a:solidFill>
                  <a:srgbClr val="FFFFFF"/>
                </a:solidFill>
                <a:latin typeface="Outfit"/>
              </a:rPr>
              <a:t>Livrer une plateforme techniquement bonne mais peu adoptée</a:t>
            </a:r>
          </a:p>
        </p:txBody>
      </p:sp>
      <p:sp>
        <p:nvSpPr>
          <p:cNvPr id="35" name="Rounded Rectangle 34"/>
          <p:cNvSpPr/>
          <p:nvPr/>
        </p:nvSpPr>
        <p:spPr>
          <a:xfrm>
            <a:off x="4283964" y="3087052"/>
            <a:ext cx="45720" cy="457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93692" y="3050476"/>
            <a:ext cx="3826764" cy="111125"/>
          </a:xfrm>
          <a:prstGeom prst="rect">
            <a:avLst/>
          </a:prstGeom>
          <a:noFill/>
        </p:spPr>
        <p:txBody>
          <a:bodyPr wrap="square" anchor="t" lIns="0" rIns="0" tIns="0" bIns="0">
            <a:noAutofit/>
          </a:bodyPr>
          <a:lstStyle/>
          <a:p>
            <a:pPr algn="l">
              <a:lnSpc>
                <a:spcPct val="125000"/>
              </a:lnSpc>
            </a:pPr>
            <a:r>
              <a:rPr sz="700" b="0" i="0">
                <a:solidFill>
                  <a:srgbClr val="FFFFFF"/>
                </a:solidFill>
                <a:latin typeface="Outfit"/>
              </a:rPr>
              <a:t>Séparer transformation organisationnelle et technique</a:t>
            </a:r>
          </a:p>
        </p:txBody>
      </p:sp>
      <p:sp>
        <p:nvSpPr>
          <p:cNvPr id="37" name="Rectangle 36"/>
          <p:cNvSpPr/>
          <p:nvPr/>
        </p:nvSpPr>
        <p:spPr>
          <a:xfrm>
            <a:off x="4265676" y="3247866"/>
            <a:ext cx="3954780" cy="10972"/>
          </a:xfrm>
          <a:prstGeom prst="rect">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265676" y="3334131"/>
            <a:ext cx="3954780" cy="111125"/>
          </a:xfrm>
          <a:prstGeom prst="rect">
            <a:avLst/>
          </a:prstGeom>
          <a:noFill/>
        </p:spPr>
        <p:txBody>
          <a:bodyPr wrap="square" anchor="t" lIns="0" rIns="0" tIns="0" bIns="0">
            <a:noAutofit/>
          </a:bodyPr>
          <a:lstStyle/>
          <a:p>
            <a:pPr algn="l"/>
            <a:r>
              <a:rPr sz="700" b="1" i="0">
                <a:solidFill>
                  <a:srgbClr val="8891B3"/>
                </a:solidFill>
                <a:latin typeface="Outfit"/>
              </a:rPr>
              <a:t>CE QU'ON NE RÉSOUT PAS — MAIS QU'ON CONSIGNE ET QU'ON POSE</a:t>
            </a:r>
          </a:p>
        </p:txBody>
      </p:sp>
      <p:sp>
        <p:nvSpPr>
          <p:cNvPr id="39" name="TextBox 38"/>
          <p:cNvSpPr txBox="1"/>
          <p:nvPr/>
        </p:nvSpPr>
        <p:spPr>
          <a:xfrm>
            <a:off x="4265676" y="3472688"/>
            <a:ext cx="3954780" cy="222250"/>
          </a:xfrm>
          <a:prstGeom prst="rect">
            <a:avLst/>
          </a:prstGeom>
          <a:noFill/>
        </p:spPr>
        <p:txBody>
          <a:bodyPr wrap="square" anchor="t" lIns="0" rIns="0" tIns="0" bIns="0">
            <a:noAutofit/>
          </a:bodyPr>
          <a:lstStyle/>
          <a:p>
            <a:pPr algn="l">
              <a:lnSpc>
                <a:spcPct val="125000"/>
              </a:lnSpc>
            </a:pPr>
            <a:r>
              <a:rPr sz="700" b="1" i="0">
                <a:solidFill>
                  <a:srgbClr val="FFFFFF"/>
                </a:solidFill>
                <a:latin typeface="Outfit"/>
              </a:rPr>
              <a:t>deskilling-risk — perte de la capacité tacite</a:t>
            </a:r>
          </a:p>
          <a:p>
            <a:pPr algn="l">
              <a:lnSpc>
                <a:spcPct val="125000"/>
              </a:lnSpc>
            </a:pPr>
            <a:r>
              <a:rPr sz="700" b="0" i="0">
                <a:solidFill>
                  <a:srgbClr val="C7CBE0"/>
                </a:solidFill>
                <a:latin typeface="Outfit"/>
              </a:rPr>
              <a:t>L'équipe saurait-elle reprendre la main une semaine sans l'agent ?</a:t>
            </a:r>
          </a:p>
        </p:txBody>
      </p:sp>
      <p:sp>
        <p:nvSpPr>
          <p:cNvPr id="40" name="TextBox 39"/>
          <p:cNvSpPr txBox="1"/>
          <p:nvPr/>
        </p:nvSpPr>
        <p:spPr>
          <a:xfrm>
            <a:off x="4265676" y="3740658"/>
            <a:ext cx="3954780" cy="333375"/>
          </a:xfrm>
          <a:prstGeom prst="rect">
            <a:avLst/>
          </a:prstGeom>
          <a:noFill/>
        </p:spPr>
        <p:txBody>
          <a:bodyPr wrap="square" anchor="t" lIns="0" rIns="0" tIns="0" bIns="0">
            <a:noAutofit/>
          </a:bodyPr>
          <a:lstStyle/>
          <a:p>
            <a:pPr algn="l">
              <a:lnSpc>
                <a:spcPct val="125000"/>
              </a:lnSpc>
            </a:pPr>
            <a:r>
              <a:rPr sz="700" b="1" i="0">
                <a:solidFill>
                  <a:srgbClr val="FFFFFF"/>
                </a:solidFill>
                <a:latin typeface="Outfit"/>
              </a:rPr>
              <a:t>management-posture-risk — incitations RH contraires</a:t>
            </a:r>
          </a:p>
          <a:p>
            <a:pPr algn="l">
              <a:lnSpc>
                <a:spcPct val="125000"/>
              </a:lnSpc>
            </a:pPr>
            <a:r>
              <a:rPr sz="700" b="0" i="0">
                <a:solidFill>
                  <a:srgbClr val="C7CBE0"/>
                </a:solidFill>
                <a:latin typeface="Outfit"/>
              </a:rPr>
              <a:t>Qu'est-ce qui, dans vos grilles d'évaluation, récompense encore le comportement qu'on vient de décourager ?</a:t>
            </a:r>
          </a:p>
        </p:txBody>
      </p:sp>
      <p:sp>
        <p:nvSpPr>
          <p:cNvPr id="41" name="Rounded Rectangle 40"/>
          <p:cNvSpPr/>
          <p:nvPr/>
        </p:nvSpPr>
        <p:spPr>
          <a:xfrm>
            <a:off x="562356" y="4366641"/>
            <a:ext cx="7804404" cy="616839"/>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90372" y="4476369"/>
            <a:ext cx="7548372" cy="397383"/>
          </a:xfrm>
          <a:prstGeom prst="rect">
            <a:avLst/>
          </a:prstGeom>
          <a:noFill/>
        </p:spPr>
        <p:txBody>
          <a:bodyPr wrap="square" anchor="t" lIns="0" rIns="0" tIns="0" bIns="0">
            <a:noAutofit/>
          </a:bodyPr>
          <a:lstStyle/>
          <a:p>
            <a:pPr algn="l"/>
            <a:r>
              <a:rPr sz="700" b="1" i="0">
                <a:solidFill>
                  <a:srgbClr val="586586"/>
                </a:solidFill>
                <a:latin typeface="Outfit"/>
              </a:rPr>
              <a:t>LE CRITÈRE DE SORTIE EST LE MIROIR DES CONDITIONS D'ENTRÉE</a:t>
            </a:r>
          </a:p>
          <a:p>
            <a:pPr algn="l">
              <a:lnSpc>
                <a:spcPct val="125000"/>
              </a:lnSpc>
              <a:spcBef>
                <a:spcPts val="300"/>
              </a:spcBef>
            </a:pPr>
            <a:r>
              <a:rPr sz="700" b="0" i="0">
                <a:solidFill>
                  <a:srgbClr val="0E2356"/>
                </a:solidFill>
                <a:latin typeface="Outfit"/>
              </a:rPr>
              <a:t>L'équipe et ses relais tiennent-ils le modèle une période sans le consultant ? Le consultant se rend dispensable : il n'évalue jamais les personnes, ne fait pas le reporting à leur place et ne s'installe pas en intermédiaire permanent entre l'équipe et le sponsor.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Accompagnement Infra as a Product : transformer une fonction infra en produit interne</a:t>
            </a:r>
          </a:p>
        </p:txBody>
      </p:sp>
      <p:sp>
        <p:nvSpPr>
          <p:cNvPr id="3" name="TextBox 2"/>
          <p:cNvSpPr txBox="1"/>
          <p:nvPr/>
        </p:nvSpPr>
        <p:spPr>
          <a:xfrm>
            <a:off x="562356" y="1051560"/>
            <a:ext cx="7804404" cy="434340"/>
          </a:xfrm>
          <a:prstGeom prst="rect">
            <a:avLst/>
          </a:prstGeom>
          <a:noFill/>
        </p:spPr>
        <p:txBody>
          <a:bodyPr wrap="square" anchor="t" lIns="0" rIns="0" tIns="0" bIns="0">
            <a:noAutofit/>
          </a:bodyPr>
          <a:lstStyle/>
          <a:p>
            <a:pPr algn="l">
              <a:lnSpc>
                <a:spcPct val="120000"/>
              </a:lnSpc>
            </a:pPr>
            <a:r>
              <a:rPr sz="850" b="0" i="1">
                <a:solidFill>
                  <a:srgbClr val="0E2356"/>
                </a:solidFill>
                <a:latin typeface="Outfit"/>
              </a:rPr>
              <a:t>L'offre proposée est une méthodologie d'accompagnement pour transformer « une fonction infra ou une plateforme interne » en un véritable produit interne : un service pensé pour ses utilisateurs, avec un parcours, une proposition de valeur et des indicateurs de pilotage, plutôt qu'un centre de coûts ou un guichet de tickets.</a:t>
            </a:r>
          </a:p>
        </p:txBody>
      </p:sp>
      <p:sp>
        <p:nvSpPr>
          <p:cNvPr id="4" name="Rounded Rectangle 3"/>
          <p:cNvSpPr/>
          <p:nvPr/>
        </p:nvSpPr>
        <p:spPr>
          <a:xfrm>
            <a:off x="562356" y="1540764"/>
            <a:ext cx="2331720" cy="356108"/>
          </a:xfrm>
          <a:prstGeom prst="roundRect">
            <a:avLst>
              <a:gd name="adj" fmla="val 1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8932" y="1562709"/>
            <a:ext cx="2258568" cy="312216"/>
          </a:xfrm>
          <a:prstGeom prst="rect">
            <a:avLst/>
          </a:prstGeom>
          <a:noFill/>
        </p:spPr>
        <p:txBody>
          <a:bodyPr wrap="square" anchor="t" lIns="0" rIns="0" tIns="0" bIns="0">
            <a:noAutofit/>
          </a:bodyPr>
          <a:lstStyle/>
          <a:p>
            <a:pPr algn="l">
              <a:lnSpc>
                <a:spcPct val="105000"/>
              </a:lnSpc>
            </a:pPr>
            <a:r>
              <a:rPr sz="640" b="1" i="0">
                <a:solidFill>
                  <a:srgbClr val="0E2356"/>
                </a:solidFill>
                <a:latin typeface="Outfit"/>
              </a:rPr>
              <a:t>EXTENSION POSSIBLE</a:t>
            </a:r>
          </a:p>
          <a:p>
            <a:pPr algn="l">
              <a:lnSpc>
                <a:spcPct val="115000"/>
              </a:lnSpc>
              <a:spcBef>
                <a:spcPts val="200"/>
              </a:spcBef>
            </a:pPr>
            <a:r>
              <a:rPr sz="600" b="0" i="1">
                <a:solidFill>
                  <a:srgbClr val="586586"/>
                </a:solidFill>
                <a:latin typeface="Outfit"/>
              </a:rPr>
              <a:t>Reconstitution d'incident avant Cadrage, si crise déclencheuse.</a:t>
            </a:r>
          </a:p>
        </p:txBody>
      </p:sp>
      <p:sp>
        <p:nvSpPr>
          <p:cNvPr id="6" name="Rounded Rectangle 5"/>
          <p:cNvSpPr/>
          <p:nvPr/>
        </p:nvSpPr>
        <p:spPr>
          <a:xfrm>
            <a:off x="5760720" y="1540764"/>
            <a:ext cx="2606040" cy="356108"/>
          </a:xfrm>
          <a:prstGeom prst="roundRect">
            <a:avLst>
              <a:gd name="adj" fmla="val 1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97296" y="1562709"/>
            <a:ext cx="2532888" cy="312216"/>
          </a:xfrm>
          <a:prstGeom prst="rect">
            <a:avLst/>
          </a:prstGeom>
          <a:noFill/>
        </p:spPr>
        <p:txBody>
          <a:bodyPr wrap="square" anchor="t" lIns="0" rIns="0" tIns="0" bIns="0">
            <a:noAutofit/>
          </a:bodyPr>
          <a:lstStyle/>
          <a:p>
            <a:pPr algn="l">
              <a:lnSpc>
                <a:spcPct val="105000"/>
              </a:lnSpc>
            </a:pPr>
            <a:r>
              <a:rPr sz="640" b="1" i="0">
                <a:solidFill>
                  <a:srgbClr val="0E2356"/>
                </a:solidFill>
                <a:latin typeface="Outfit"/>
              </a:rPr>
              <a:t>EXTENSION POSSIBLE</a:t>
            </a:r>
          </a:p>
          <a:p>
            <a:pPr algn="l">
              <a:lnSpc>
                <a:spcPct val="115000"/>
              </a:lnSpc>
              <a:spcBef>
                <a:spcPts val="200"/>
              </a:spcBef>
            </a:pPr>
            <a:r>
              <a:rPr sz="600" b="0" i="1">
                <a:solidFill>
                  <a:srgbClr val="586586"/>
                </a:solidFill>
                <a:latin typeface="Outfit"/>
              </a:rPr>
              <a:t>Tri contraintes / habitudes entre Diagnostic et Segmentation, si sites hétérogènes.</a:t>
            </a:r>
          </a:p>
        </p:txBody>
      </p:sp>
      <p:sp>
        <p:nvSpPr>
          <p:cNvPr id="8" name="TextBox 7"/>
          <p:cNvSpPr txBox="1"/>
          <p:nvPr/>
        </p:nvSpPr>
        <p:spPr>
          <a:xfrm>
            <a:off x="2820009" y="1540764"/>
            <a:ext cx="1691640" cy="128016"/>
          </a:xfrm>
          <a:prstGeom prst="rect">
            <a:avLst/>
          </a:prstGeom>
          <a:noFill/>
        </p:spPr>
        <p:txBody>
          <a:bodyPr wrap="square" anchor="ctr" lIns="0" rIns="0" tIns="0" bIns="0">
            <a:noAutofit/>
          </a:bodyPr>
          <a:lstStyle/>
          <a:p>
            <a:pPr algn="ctr"/>
            <a:r>
              <a:rPr sz="600" b="0" i="1">
                <a:solidFill>
                  <a:srgbClr val="586586"/>
                </a:solidFill>
                <a:latin typeface="Outfit"/>
              </a:rPr>
              <a:t>signal de contexte détecté ?</a:t>
            </a:r>
          </a:p>
        </p:txBody>
      </p:sp>
      <p:sp>
        <p:nvSpPr>
          <p:cNvPr id="9" name="Rounded Rectangle 8"/>
          <p:cNvSpPr/>
          <p:nvPr/>
        </p:nvSpPr>
        <p:spPr>
          <a:xfrm>
            <a:off x="3048609" y="1650492"/>
            <a:ext cx="1234440" cy="155448"/>
          </a:xfrm>
          <a:prstGeom prst="roundRect">
            <a:avLst>
              <a:gd name="adj" fmla="val 35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94329" y="1650492"/>
            <a:ext cx="1143000" cy="155448"/>
          </a:xfrm>
          <a:prstGeom prst="rect">
            <a:avLst/>
          </a:prstGeom>
          <a:noFill/>
        </p:spPr>
        <p:txBody>
          <a:bodyPr wrap="square" anchor="ctr" lIns="0" rIns="0" tIns="0" bIns="0">
            <a:noAutofit/>
          </a:bodyPr>
          <a:lstStyle/>
          <a:p>
            <a:pPr algn="ctr">
              <a:lnSpc>
                <a:spcPct val="105000"/>
              </a:lnSpc>
            </a:pPr>
            <a:r>
              <a:rPr sz="620" b="1" i="0">
                <a:solidFill>
                  <a:srgbClr val="0E2356"/>
                </a:solidFill>
                <a:latin typeface="Outfit"/>
              </a:rPr>
              <a:t>Contexte léger</a:t>
            </a:r>
          </a:p>
        </p:txBody>
      </p:sp>
      <p:sp>
        <p:nvSpPr>
          <p:cNvPr id="11" name="Rounded Rectangle 10"/>
          <p:cNvSpPr/>
          <p:nvPr/>
        </p:nvSpPr>
        <p:spPr>
          <a:xfrm>
            <a:off x="3048609" y="1824228"/>
            <a:ext cx="1234440" cy="155448"/>
          </a:xfrm>
          <a:prstGeom prst="roundRect">
            <a:avLst>
              <a:gd name="adj" fmla="val 35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94329" y="1824228"/>
            <a:ext cx="1143000" cy="155448"/>
          </a:xfrm>
          <a:prstGeom prst="rect">
            <a:avLst/>
          </a:prstGeom>
          <a:noFill/>
        </p:spPr>
        <p:txBody>
          <a:bodyPr wrap="square" anchor="ctr" lIns="0" rIns="0" tIns="0" bIns="0">
            <a:noAutofit/>
          </a:bodyPr>
          <a:lstStyle/>
          <a:p>
            <a:pPr algn="ctr">
              <a:lnSpc>
                <a:spcPct val="105000"/>
              </a:lnSpc>
            </a:pPr>
            <a:r>
              <a:rPr sz="620" b="1" i="0">
                <a:solidFill>
                  <a:srgbClr val="0E2356"/>
                </a:solidFill>
                <a:latin typeface="Outfit"/>
              </a:rPr>
              <a:t>Contexte politique</a:t>
            </a:r>
          </a:p>
        </p:txBody>
      </p:sp>
      <p:sp>
        <p:nvSpPr>
          <p:cNvPr id="13" name="TextBox 12"/>
          <p:cNvSpPr txBox="1"/>
          <p:nvPr/>
        </p:nvSpPr>
        <p:spPr>
          <a:xfrm>
            <a:off x="774542" y="2016252"/>
            <a:ext cx="457200" cy="128016"/>
          </a:xfrm>
          <a:prstGeom prst="rect">
            <a:avLst/>
          </a:prstGeom>
          <a:noFill/>
        </p:spPr>
        <p:txBody>
          <a:bodyPr wrap="square" anchor="ctr" lIns="0" rIns="0" tIns="0" bIns="0">
            <a:noAutofit/>
          </a:bodyPr>
          <a:lstStyle/>
          <a:p>
            <a:pPr algn="ctr"/>
            <a:r>
              <a:rPr sz="800" b="1" i="0">
                <a:solidFill>
                  <a:srgbClr val="0E2356"/>
                </a:solidFill>
                <a:latin typeface="Outfit"/>
              </a:rPr>
              <a:t>↓</a:t>
            </a:r>
          </a:p>
        </p:txBody>
      </p:sp>
      <p:sp>
        <p:nvSpPr>
          <p:cNvPr id="14" name="TextBox 13"/>
          <p:cNvSpPr txBox="1"/>
          <p:nvPr/>
        </p:nvSpPr>
        <p:spPr>
          <a:xfrm>
            <a:off x="6274201" y="2016252"/>
            <a:ext cx="457200" cy="128016"/>
          </a:xfrm>
          <a:prstGeom prst="rect">
            <a:avLst/>
          </a:prstGeom>
          <a:noFill/>
        </p:spPr>
        <p:txBody>
          <a:bodyPr wrap="square" anchor="ctr" lIns="0" rIns="0" tIns="0" bIns="0">
            <a:noAutofit/>
          </a:bodyPr>
          <a:lstStyle/>
          <a:p>
            <a:pPr algn="ctr"/>
            <a:r>
              <a:rPr sz="800" b="1" i="0">
                <a:solidFill>
                  <a:srgbClr val="0E2356"/>
                </a:solidFill>
                <a:latin typeface="Outfit"/>
              </a:rPr>
              <a:t>↓</a:t>
            </a:r>
          </a:p>
        </p:txBody>
      </p:sp>
      <p:sp>
        <p:nvSpPr>
          <p:cNvPr id="15" name="Oval 14"/>
          <p:cNvSpPr/>
          <p:nvPr/>
        </p:nvSpPr>
        <p:spPr>
          <a:xfrm>
            <a:off x="562356" y="2107692"/>
            <a:ext cx="1414576" cy="347472"/>
          </a:xfrm>
          <a:prstGeom prst="ellipse">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 y="210769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Premier contact</a:t>
            </a:r>
          </a:p>
        </p:txBody>
      </p:sp>
      <p:sp>
        <p:nvSpPr>
          <p:cNvPr id="17" name="TextBox 16"/>
          <p:cNvSpPr txBox="1"/>
          <p:nvPr/>
        </p:nvSpPr>
        <p:spPr>
          <a:xfrm>
            <a:off x="1976932" y="210769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18" name="Rounded Rectangle 17"/>
          <p:cNvSpPr/>
          <p:nvPr/>
        </p:nvSpPr>
        <p:spPr>
          <a:xfrm>
            <a:off x="2159812" y="210769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196388" y="210769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Cadrage</a:t>
            </a:r>
          </a:p>
          <a:p>
            <a:pPr algn="ctr">
              <a:lnSpc>
                <a:spcPct val="100000"/>
              </a:lnSpc>
              <a:spcBef>
                <a:spcPts val="100"/>
              </a:spcBef>
            </a:pPr>
            <a:r>
              <a:rPr sz="580" b="0" i="1">
                <a:solidFill>
                  <a:srgbClr val="586586"/>
                </a:solidFill>
                <a:latin typeface="Outfit"/>
              </a:rPr>
              <a:t>note de cadrage</a:t>
            </a:r>
          </a:p>
        </p:txBody>
      </p:sp>
      <p:sp>
        <p:nvSpPr>
          <p:cNvPr id="20" name="TextBox 19"/>
          <p:cNvSpPr txBox="1"/>
          <p:nvPr/>
        </p:nvSpPr>
        <p:spPr>
          <a:xfrm>
            <a:off x="3574389" y="210769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1" name="Rounded Rectangle 20"/>
          <p:cNvSpPr/>
          <p:nvPr/>
        </p:nvSpPr>
        <p:spPr>
          <a:xfrm>
            <a:off x="3757269" y="210769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93845" y="210769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Diagnostic</a:t>
            </a:r>
          </a:p>
          <a:p>
            <a:pPr algn="ctr">
              <a:lnSpc>
                <a:spcPct val="100000"/>
              </a:lnSpc>
              <a:spcBef>
                <a:spcPts val="100"/>
              </a:spcBef>
            </a:pPr>
            <a:r>
              <a:rPr sz="580" b="0" i="1">
                <a:solidFill>
                  <a:srgbClr val="586586"/>
                </a:solidFill>
                <a:latin typeface="Outfit"/>
              </a:rPr>
              <a:t>base factuelle partagée</a:t>
            </a:r>
          </a:p>
        </p:txBody>
      </p:sp>
      <p:sp>
        <p:nvSpPr>
          <p:cNvPr id="23" name="TextBox 22"/>
          <p:cNvSpPr txBox="1"/>
          <p:nvPr/>
        </p:nvSpPr>
        <p:spPr>
          <a:xfrm>
            <a:off x="5171846" y="210769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4" name="Rounded Rectangle 23"/>
          <p:cNvSpPr/>
          <p:nvPr/>
        </p:nvSpPr>
        <p:spPr>
          <a:xfrm>
            <a:off x="5354726" y="210769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1302" y="210769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Discovery gaspillages</a:t>
            </a:r>
          </a:p>
          <a:p>
            <a:pPr algn="ctr">
              <a:lnSpc>
                <a:spcPct val="100000"/>
              </a:lnSpc>
              <a:spcBef>
                <a:spcPts val="100"/>
              </a:spcBef>
            </a:pPr>
            <a:r>
              <a:rPr sz="580" b="0" i="1">
                <a:solidFill>
                  <a:srgbClr val="586586"/>
                </a:solidFill>
                <a:latin typeface="Outfit"/>
              </a:rPr>
              <a:t>6 catégories</a:t>
            </a:r>
          </a:p>
        </p:txBody>
      </p:sp>
      <p:sp>
        <p:nvSpPr>
          <p:cNvPr id="26" name="TextBox 25"/>
          <p:cNvSpPr txBox="1"/>
          <p:nvPr/>
        </p:nvSpPr>
        <p:spPr>
          <a:xfrm>
            <a:off x="6769303" y="210769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7" name="Rounded Rectangle 26"/>
          <p:cNvSpPr/>
          <p:nvPr/>
        </p:nvSpPr>
        <p:spPr>
          <a:xfrm>
            <a:off x="6952183" y="210769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88759" y="210769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Segmentation / Product Discovery</a:t>
            </a:r>
          </a:p>
        </p:txBody>
      </p:sp>
      <p:sp>
        <p:nvSpPr>
          <p:cNvPr id="29" name="Rounded Rectangle 28"/>
          <p:cNvSpPr/>
          <p:nvPr/>
        </p:nvSpPr>
        <p:spPr>
          <a:xfrm>
            <a:off x="5354726" y="2500884"/>
            <a:ext cx="1414576" cy="317754"/>
          </a:xfrm>
          <a:prstGeom prst="roundRect">
            <a:avLst>
              <a:gd name="adj" fmla="val 35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00446" y="2500884"/>
            <a:ext cx="1323136" cy="317754"/>
          </a:xfrm>
          <a:prstGeom prst="rect">
            <a:avLst/>
          </a:prstGeom>
          <a:noFill/>
        </p:spPr>
        <p:txBody>
          <a:bodyPr wrap="square" anchor="ctr" lIns="0" rIns="0" tIns="0" bIns="0">
            <a:noAutofit/>
          </a:bodyPr>
          <a:lstStyle/>
          <a:p>
            <a:pPr algn="ctr">
              <a:lnSpc>
                <a:spcPct val="105000"/>
              </a:lnSpc>
            </a:pPr>
            <a:r>
              <a:rPr sz="600" b="1" i="0">
                <a:solidFill>
                  <a:srgbClr val="0E2356"/>
                </a:solidFill>
                <a:latin typeface="Outfit"/>
              </a:rPr>
              <a:t>+ Contradictions structurelles (si contexte politique)</a:t>
            </a:r>
          </a:p>
        </p:txBody>
      </p:sp>
      <p:sp>
        <p:nvSpPr>
          <p:cNvPr id="31" name="Rectangle 30"/>
          <p:cNvSpPr/>
          <p:nvPr/>
        </p:nvSpPr>
        <p:spPr>
          <a:xfrm>
            <a:off x="7650327" y="2455164"/>
            <a:ext cx="18288" cy="41833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260500" y="2873502"/>
            <a:ext cx="6408115" cy="182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260500" y="2873502"/>
            <a:ext cx="18288" cy="91440"/>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69060" y="2864358"/>
            <a:ext cx="201168" cy="109728"/>
          </a:xfrm>
          <a:prstGeom prst="rect">
            <a:avLst/>
          </a:prstGeom>
          <a:noFill/>
        </p:spPr>
        <p:txBody>
          <a:bodyPr wrap="square" anchor="ctr" lIns="0" rIns="0" tIns="0" bIns="0">
            <a:noAutofit/>
          </a:bodyPr>
          <a:lstStyle/>
          <a:p>
            <a:pPr algn="ctr"/>
            <a:r>
              <a:rPr sz="600" b="1" i="0">
                <a:solidFill>
                  <a:srgbClr val="586586"/>
                </a:solidFill>
                <a:latin typeface="Outfit"/>
              </a:rPr>
              <a:t>▾</a:t>
            </a:r>
          </a:p>
        </p:txBody>
      </p:sp>
      <p:sp>
        <p:nvSpPr>
          <p:cNvPr id="35" name="Rounded Rectangle 34"/>
          <p:cNvSpPr/>
          <p:nvPr/>
        </p:nvSpPr>
        <p:spPr>
          <a:xfrm>
            <a:off x="562356" y="296494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8932" y="296494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Product Definition</a:t>
            </a:r>
          </a:p>
          <a:p>
            <a:pPr algn="ctr">
              <a:lnSpc>
                <a:spcPct val="100000"/>
              </a:lnSpc>
              <a:spcBef>
                <a:spcPts val="100"/>
              </a:spcBef>
            </a:pPr>
            <a:r>
              <a:rPr sz="580" b="0" i="1">
                <a:solidFill>
                  <a:srgbClr val="586586"/>
                </a:solidFill>
                <a:latin typeface="Outfit"/>
              </a:rPr>
              <a:t>fiche produit cible</a:t>
            </a:r>
          </a:p>
        </p:txBody>
      </p:sp>
      <p:sp>
        <p:nvSpPr>
          <p:cNvPr id="37" name="TextBox 36"/>
          <p:cNvSpPr txBox="1"/>
          <p:nvPr/>
        </p:nvSpPr>
        <p:spPr>
          <a:xfrm>
            <a:off x="1976932" y="296494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38" name="Rounded Rectangle 37"/>
          <p:cNvSpPr/>
          <p:nvPr/>
        </p:nvSpPr>
        <p:spPr>
          <a:xfrm>
            <a:off x="2159812" y="296494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196388" y="296494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Operating Model</a:t>
            </a:r>
          </a:p>
          <a:p>
            <a:pPr algn="ctr">
              <a:lnSpc>
                <a:spcPct val="100000"/>
              </a:lnSpc>
              <a:spcBef>
                <a:spcPts val="100"/>
              </a:spcBef>
            </a:pPr>
            <a:r>
              <a:rPr sz="580" b="0" i="1">
                <a:solidFill>
                  <a:srgbClr val="586586"/>
                </a:solidFill>
                <a:latin typeface="Outfit"/>
              </a:rPr>
              <a:t>responsabilités + mesure</a:t>
            </a:r>
          </a:p>
        </p:txBody>
      </p:sp>
      <p:sp>
        <p:nvSpPr>
          <p:cNvPr id="40" name="TextBox 39"/>
          <p:cNvSpPr txBox="1"/>
          <p:nvPr/>
        </p:nvSpPr>
        <p:spPr>
          <a:xfrm>
            <a:off x="3574389" y="296494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41" name="Rounded Rectangle 40"/>
          <p:cNvSpPr/>
          <p:nvPr/>
        </p:nvSpPr>
        <p:spPr>
          <a:xfrm>
            <a:off x="3757269" y="296494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793845" y="296494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Adoption / Pilote</a:t>
            </a:r>
          </a:p>
          <a:p>
            <a:pPr algn="ctr">
              <a:lnSpc>
                <a:spcPct val="100000"/>
              </a:lnSpc>
              <a:spcBef>
                <a:spcPts val="100"/>
              </a:spcBef>
            </a:pPr>
            <a:r>
              <a:rPr sz="580" b="0" i="1">
                <a:solidFill>
                  <a:srgbClr val="586586"/>
                </a:solidFill>
                <a:latin typeface="Outfit"/>
              </a:rPr>
              <a:t>bilan avant / après</a:t>
            </a:r>
          </a:p>
        </p:txBody>
      </p:sp>
      <p:sp>
        <p:nvSpPr>
          <p:cNvPr id="43" name="TextBox 42"/>
          <p:cNvSpPr txBox="1"/>
          <p:nvPr/>
        </p:nvSpPr>
        <p:spPr>
          <a:xfrm>
            <a:off x="5171846" y="296494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44" name="Oval 43"/>
          <p:cNvSpPr/>
          <p:nvPr/>
        </p:nvSpPr>
        <p:spPr>
          <a:xfrm>
            <a:off x="5354726" y="2964942"/>
            <a:ext cx="1414576" cy="347472"/>
          </a:xfrm>
          <a:prstGeom prst="ellipse">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391302" y="296494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Mission close</a:t>
            </a:r>
          </a:p>
        </p:txBody>
      </p:sp>
      <p:sp>
        <p:nvSpPr>
          <p:cNvPr id="46" name="TextBox 45"/>
          <p:cNvSpPr txBox="1"/>
          <p:nvPr/>
        </p:nvSpPr>
        <p:spPr>
          <a:xfrm>
            <a:off x="6769303" y="296494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47" name="Rounded Rectangle 46"/>
          <p:cNvSpPr/>
          <p:nvPr/>
        </p:nvSpPr>
        <p:spPr>
          <a:xfrm>
            <a:off x="6952183" y="296494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88759" y="296494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Retour d'expérience</a:t>
            </a:r>
          </a:p>
          <a:p>
            <a:pPr algn="ctr">
              <a:lnSpc>
                <a:spcPct val="100000"/>
              </a:lnSpc>
              <a:spcBef>
                <a:spcPts val="100"/>
              </a:spcBef>
            </a:pPr>
            <a:r>
              <a:rPr sz="580" b="0" i="1">
                <a:solidFill>
                  <a:srgbClr val="586586"/>
                </a:solidFill>
                <a:latin typeface="Outfit"/>
              </a:rPr>
              <a:t>vers la bibliothèque partagée</a:t>
            </a:r>
          </a:p>
        </p:txBody>
      </p:sp>
      <p:sp>
        <p:nvSpPr>
          <p:cNvPr id="49" name="Rounded Rectangle 48"/>
          <p:cNvSpPr/>
          <p:nvPr/>
        </p:nvSpPr>
        <p:spPr>
          <a:xfrm>
            <a:off x="3757269" y="3358134"/>
            <a:ext cx="1414576" cy="230123"/>
          </a:xfrm>
          <a:prstGeom prst="roundRect">
            <a:avLst>
              <a:gd name="adj" fmla="val 35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802989" y="3358134"/>
            <a:ext cx="1323136" cy="230123"/>
          </a:xfrm>
          <a:prstGeom prst="rect">
            <a:avLst/>
          </a:prstGeom>
          <a:noFill/>
        </p:spPr>
        <p:txBody>
          <a:bodyPr wrap="square" anchor="ctr" lIns="0" rIns="0" tIns="0" bIns="0">
            <a:noAutofit/>
          </a:bodyPr>
          <a:lstStyle/>
          <a:p>
            <a:pPr algn="ctr">
              <a:lnSpc>
                <a:spcPct val="105000"/>
              </a:lnSpc>
            </a:pPr>
            <a:r>
              <a:rPr sz="600" b="1" i="0">
                <a:solidFill>
                  <a:srgbClr val="0E2356"/>
                </a:solidFill>
                <a:latin typeface="Outfit"/>
              </a:rPr>
              <a:t>+ Dispositif de revue (si contexte politique)</a:t>
            </a:r>
          </a:p>
        </p:txBody>
      </p:sp>
      <p:sp>
        <p:nvSpPr>
          <p:cNvPr id="51" name="Rounded Rectangle 50"/>
          <p:cNvSpPr/>
          <p:nvPr/>
        </p:nvSpPr>
        <p:spPr>
          <a:xfrm>
            <a:off x="562356" y="3633977"/>
            <a:ext cx="7804404" cy="268478"/>
          </a:xfrm>
          <a:prstGeom prst="roundRect">
            <a:avLst>
              <a:gd name="adj" fmla="val 1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98932" y="3655923"/>
            <a:ext cx="7731252" cy="224586"/>
          </a:xfrm>
          <a:prstGeom prst="rect">
            <a:avLst/>
          </a:prstGeom>
          <a:noFill/>
        </p:spPr>
        <p:txBody>
          <a:bodyPr wrap="square" anchor="t" lIns="0" rIns="0" tIns="0" bIns="0">
            <a:noAutofit/>
          </a:bodyPr>
          <a:lstStyle/>
          <a:p>
            <a:pPr algn="l">
              <a:lnSpc>
                <a:spcPct val="105000"/>
              </a:lnSpc>
            </a:pPr>
            <a:r>
              <a:rPr sz="640" b="1" i="0">
                <a:solidFill>
                  <a:srgbClr val="0E2356"/>
                </a:solidFill>
                <a:latin typeface="Outfit"/>
              </a:rPr>
              <a:t>CHECKLIST GOUVERNANCE IA — TRANSVERSE</a:t>
            </a:r>
          </a:p>
          <a:p>
            <a:pPr algn="l">
              <a:lnSpc>
                <a:spcPct val="115000"/>
              </a:lnSpc>
              <a:spcBef>
                <a:spcPts val="200"/>
              </a:spcBef>
            </a:pPr>
            <a:r>
              <a:rPr sz="600" b="0" i="1">
                <a:solidFill>
                  <a:srgbClr val="586586"/>
                </a:solidFill>
                <a:latin typeface="Outfit"/>
              </a:rPr>
              <a:t>Indépendante des mouvements, mobilisable dès qu'un usage IA est identifié — à tout moment de la mission.</a:t>
            </a:r>
          </a:p>
        </p:txBody>
      </p:sp>
      <p:sp>
        <p:nvSpPr>
          <p:cNvPr id="53" name="Rounded Rectangle 52"/>
          <p:cNvSpPr/>
          <p:nvPr/>
        </p:nvSpPr>
        <p:spPr>
          <a:xfrm>
            <a:off x="562356" y="3939031"/>
            <a:ext cx="128016" cy="128016"/>
          </a:xfrm>
          <a:prstGeom prst="roundRect">
            <a:avLst>
              <a:gd name="adj" fmla="val 30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45236" y="3920743"/>
            <a:ext cx="2331720" cy="173736"/>
          </a:xfrm>
          <a:prstGeom prst="rect">
            <a:avLst/>
          </a:prstGeom>
          <a:noFill/>
        </p:spPr>
        <p:txBody>
          <a:bodyPr wrap="square" anchor="ctr" lIns="0" rIns="0" tIns="0" bIns="0">
            <a:noAutofit/>
          </a:bodyPr>
          <a:lstStyle/>
          <a:p>
            <a:pPr algn="l"/>
            <a:r>
              <a:rPr sz="630" b="0" i="0">
                <a:solidFill>
                  <a:srgbClr val="586586"/>
                </a:solidFill>
                <a:latin typeface="Outfit"/>
              </a:rPr>
              <a:t>mouvement du socle (toujours présent)</a:t>
            </a:r>
          </a:p>
        </p:txBody>
      </p:sp>
      <p:sp>
        <p:nvSpPr>
          <p:cNvPr id="55" name="Rounded Rectangle 54"/>
          <p:cNvSpPr/>
          <p:nvPr/>
        </p:nvSpPr>
        <p:spPr>
          <a:xfrm>
            <a:off x="3186684" y="3939031"/>
            <a:ext cx="128016" cy="128016"/>
          </a:xfrm>
          <a:prstGeom prst="roundRect">
            <a:avLst>
              <a:gd name="adj" fmla="val 30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69564" y="3920743"/>
            <a:ext cx="2331720" cy="173736"/>
          </a:xfrm>
          <a:prstGeom prst="rect">
            <a:avLst/>
          </a:prstGeom>
          <a:noFill/>
        </p:spPr>
        <p:txBody>
          <a:bodyPr wrap="square" anchor="ctr" lIns="0" rIns="0" tIns="0" bIns="0">
            <a:noAutofit/>
          </a:bodyPr>
          <a:lstStyle/>
          <a:p>
            <a:pPr algn="l"/>
            <a:r>
              <a:rPr sz="630" b="0" i="0">
                <a:solidFill>
                  <a:srgbClr val="586586"/>
                </a:solidFill>
                <a:latin typeface="Outfit"/>
              </a:rPr>
              <a:t>variante ou section conditionnée au contexte</a:t>
            </a:r>
          </a:p>
        </p:txBody>
      </p:sp>
      <p:sp>
        <p:nvSpPr>
          <p:cNvPr id="57" name="Rounded Rectangle 56"/>
          <p:cNvSpPr/>
          <p:nvPr/>
        </p:nvSpPr>
        <p:spPr>
          <a:xfrm>
            <a:off x="5811012" y="3939031"/>
            <a:ext cx="128016" cy="128016"/>
          </a:xfrm>
          <a:prstGeom prst="roundRect">
            <a:avLst>
              <a:gd name="adj" fmla="val 3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993892" y="3920743"/>
            <a:ext cx="2331720" cy="173736"/>
          </a:xfrm>
          <a:prstGeom prst="rect">
            <a:avLst/>
          </a:prstGeom>
          <a:noFill/>
        </p:spPr>
        <p:txBody>
          <a:bodyPr wrap="square" anchor="ctr" lIns="0" rIns="0" tIns="0" bIns="0">
            <a:noAutofit/>
          </a:bodyPr>
          <a:lstStyle/>
          <a:p>
            <a:pPr algn="l"/>
            <a:r>
              <a:rPr sz="630" b="0" i="0">
                <a:solidFill>
                  <a:srgbClr val="586586"/>
                </a:solidFill>
                <a:latin typeface="Outfit"/>
              </a:rPr>
              <a:t>mécanisme additif (extension, checklist transverse)</a:t>
            </a:r>
          </a:p>
        </p:txBody>
      </p:sp>
      <p:sp>
        <p:nvSpPr>
          <p:cNvPr id="59" name="Rounded Rectangle 58"/>
          <p:cNvSpPr/>
          <p:nvPr/>
        </p:nvSpPr>
        <p:spPr>
          <a:xfrm>
            <a:off x="562356" y="4277614"/>
            <a:ext cx="7804404" cy="705866"/>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562356" y="4277614"/>
            <a:ext cx="64008" cy="70586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81812" y="4323334"/>
            <a:ext cx="7402068" cy="614426"/>
          </a:xfrm>
          <a:prstGeom prst="rect">
            <a:avLst/>
          </a:prstGeom>
          <a:noFill/>
        </p:spPr>
        <p:txBody>
          <a:bodyPr wrap="square" anchor="t" lIns="0" rIns="0" tIns="0" bIns="0">
            <a:noAutofit/>
          </a:bodyPr>
          <a:lstStyle/>
          <a:p>
            <a:pPr algn="l"/>
            <a:r>
              <a:rPr sz="700" b="1" i="0">
                <a:solidFill>
                  <a:srgbClr val="8FD6DB"/>
                </a:solidFill>
                <a:latin typeface="Outfit"/>
              </a:rPr>
              <a:t>LA THÈSE</a:t>
            </a:r>
          </a:p>
          <a:p>
            <a:pPr algn="l">
              <a:lnSpc>
                <a:spcPct val="120000"/>
              </a:lnSpc>
              <a:spcBef>
                <a:spcPts val="300"/>
              </a:spcBef>
            </a:pPr>
            <a:r>
              <a:rPr sz="850" b="1" i="0">
                <a:solidFill>
                  <a:srgbClr val="FFFFFF"/>
                </a:solidFill>
                <a:latin typeface="Outfit"/>
              </a:rPr>
              <a:t>« Réussir une transformation Infra as a Product, ce n'est pas "mettre des PO dans l'infra". C'est concevoir, opérer et faire adopter une plateforme interne comme un produit, en équilibrant delivery, robustesse du RUN et valeur perçue par les utilisateurs internes. »</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La Gate IA s'applique à chaque étape, de la collecte à la boucle de réévaluation</a:t>
            </a:r>
          </a:p>
        </p:txBody>
      </p:sp>
      <p:sp>
        <p:nvSpPr>
          <p:cNvPr id="3" name="TextBox 2"/>
          <p:cNvSpPr txBox="1"/>
          <p:nvPr/>
        </p:nvSpPr>
        <p:spPr>
          <a:xfrm>
            <a:off x="562356" y="1051560"/>
            <a:ext cx="7804404" cy="237744"/>
          </a:xfrm>
          <a:prstGeom prst="rect">
            <a:avLst/>
          </a:prstGeom>
          <a:noFill/>
        </p:spPr>
        <p:txBody>
          <a:bodyPr wrap="square" anchor="t" lIns="0" rIns="0" tIns="0" bIns="0">
            <a:noAutofit/>
          </a:bodyPr>
          <a:lstStyle/>
          <a:p>
            <a:pPr algn="l">
              <a:lnSpc>
                <a:spcPct val="110000"/>
              </a:lnSpc>
            </a:pPr>
            <a:r>
              <a:rPr sz="800" b="0" i="1">
                <a:solidFill>
                  <a:srgbClr val="586586"/>
                </a:solidFill>
                <a:latin typeface="Outfit"/>
              </a:rPr>
              <a:t>Deux sources de collecte convergent vers un diagnostic structuré ; une boucle de réévaluation referme le cycle.</a:t>
            </a:r>
          </a:p>
        </p:txBody>
      </p:sp>
      <p:sp>
        <p:nvSpPr>
          <p:cNvPr id="4" name="Rounded Rectangle 3"/>
          <p:cNvSpPr/>
          <p:nvPr/>
        </p:nvSpPr>
        <p:spPr>
          <a:xfrm>
            <a:off x="562356" y="1325880"/>
            <a:ext cx="7804404" cy="329184"/>
          </a:xfrm>
          <a:prstGeom prst="roundRect">
            <a:avLst>
              <a:gd name="adj" fmla="val 12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5236" y="1325880"/>
            <a:ext cx="7438644" cy="329184"/>
          </a:xfrm>
          <a:prstGeom prst="rect">
            <a:avLst/>
          </a:prstGeom>
          <a:noFill/>
        </p:spPr>
        <p:txBody>
          <a:bodyPr wrap="square" anchor="ctr" lIns="0" rIns="0" tIns="0" bIns="0">
            <a:noAutofit/>
          </a:bodyPr>
          <a:lstStyle/>
          <a:p>
            <a:pPr algn="l">
              <a:lnSpc>
                <a:spcPct val="110000"/>
              </a:lnSpc>
            </a:pPr>
            <a:r>
              <a:rPr sz="800" b="1" i="0">
                <a:solidFill>
                  <a:srgbClr val="FFFFFF"/>
                </a:solidFill>
                <a:latin typeface="Outfit"/>
              </a:rPr>
              <a:t>GATE IA &amp; CONFIDENTIALITÉ — checkpoint humain, transversal à chaque étape qui invoque un LLM</a:t>
            </a:r>
          </a:p>
        </p:txBody>
      </p:sp>
      <p:sp>
        <p:nvSpPr>
          <p:cNvPr id="6" name="Rectangle 5"/>
          <p:cNvSpPr/>
          <p:nvPr/>
        </p:nvSpPr>
        <p:spPr>
          <a:xfrm>
            <a:off x="562356" y="1801368"/>
            <a:ext cx="1813941" cy="45720"/>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2356" y="1892807"/>
            <a:ext cx="1813941" cy="237744"/>
          </a:xfrm>
          <a:prstGeom prst="rect">
            <a:avLst/>
          </a:prstGeom>
          <a:noFill/>
        </p:spPr>
        <p:txBody>
          <a:bodyPr wrap="square" anchor="t" lIns="0" rIns="0" tIns="0" bIns="0">
            <a:noAutofit/>
          </a:bodyPr>
          <a:lstStyle/>
          <a:p>
            <a:pPr algn="ctr"/>
            <a:r>
              <a:rPr sz="800" b="1" i="0">
                <a:solidFill>
                  <a:srgbClr val="0E2356"/>
                </a:solidFill>
                <a:latin typeface="Outfit"/>
              </a:rPr>
              <a:t>COLLECTE</a:t>
            </a:r>
          </a:p>
        </p:txBody>
      </p:sp>
      <p:sp>
        <p:nvSpPr>
          <p:cNvPr id="8" name="Rounded Rectangle 7"/>
          <p:cNvSpPr/>
          <p:nvPr/>
        </p:nvSpPr>
        <p:spPr>
          <a:xfrm>
            <a:off x="562356" y="2167128"/>
            <a:ext cx="1813941" cy="132588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796" y="2276856"/>
            <a:ext cx="1631061" cy="1106424"/>
          </a:xfrm>
          <a:prstGeom prst="rect">
            <a:avLst/>
          </a:prstGeom>
          <a:noFill/>
        </p:spPr>
        <p:txBody>
          <a:bodyPr wrap="square" anchor="ctr" lIns="0" rIns="0" tIns="0" bIns="0">
            <a:noAutofit/>
          </a:bodyPr>
          <a:lstStyle/>
          <a:p>
            <a:pPr algn="l">
              <a:lnSpc>
                <a:spcPct val="120000"/>
              </a:lnSpc>
              <a:spcAft>
                <a:spcPts val="400"/>
              </a:spcAft>
            </a:pPr>
            <a:r>
              <a:rPr sz="700" b="0" i="0">
                <a:solidFill>
                  <a:srgbClr val="0E2356"/>
                </a:solidFill>
                <a:latin typeface="Outfit"/>
              </a:rPr>
              <a:t>·  Interviews par persona (trame / thème / question)</a:t>
            </a:r>
          </a:p>
          <a:p>
            <a:pPr algn="l">
              <a:lnSpc>
                <a:spcPct val="120000"/>
              </a:lnSpc>
              <a:spcAft>
                <a:spcPts val="400"/>
              </a:spcAft>
            </a:pPr>
            <a:r>
              <a:rPr sz="700" b="0" i="0">
                <a:solidFill>
                  <a:srgbClr val="0E2356"/>
                </a:solidFill>
                <a:latin typeface="Outfit"/>
              </a:rPr>
              <a:t>·  Import outils : ServiceNow/Jira/CMDB si accès</a:t>
            </a:r>
          </a:p>
        </p:txBody>
      </p:sp>
      <p:sp>
        <p:nvSpPr>
          <p:cNvPr id="10" name="TextBox 9"/>
          <p:cNvSpPr txBox="1"/>
          <p:nvPr/>
        </p:nvSpPr>
        <p:spPr>
          <a:xfrm>
            <a:off x="2376297" y="1874519"/>
            <a:ext cx="182880" cy="237744"/>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11" name="Rectangle 10"/>
          <p:cNvSpPr/>
          <p:nvPr/>
        </p:nvSpPr>
        <p:spPr>
          <a:xfrm>
            <a:off x="2559177" y="1801368"/>
            <a:ext cx="1813941" cy="45720"/>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59177" y="1892807"/>
            <a:ext cx="1813941" cy="237744"/>
          </a:xfrm>
          <a:prstGeom prst="rect">
            <a:avLst/>
          </a:prstGeom>
          <a:noFill/>
        </p:spPr>
        <p:txBody>
          <a:bodyPr wrap="square" anchor="t" lIns="0" rIns="0" tIns="0" bIns="0">
            <a:noAutofit/>
          </a:bodyPr>
          <a:lstStyle/>
          <a:p>
            <a:pPr algn="ctr"/>
            <a:r>
              <a:rPr sz="800" b="1" i="0">
                <a:solidFill>
                  <a:srgbClr val="0E2356"/>
                </a:solidFill>
                <a:latin typeface="Outfit"/>
              </a:rPr>
              <a:t>DIAGNOSTIC</a:t>
            </a:r>
          </a:p>
        </p:txBody>
      </p:sp>
      <p:sp>
        <p:nvSpPr>
          <p:cNvPr id="13" name="Rounded Rectangle 12"/>
          <p:cNvSpPr/>
          <p:nvPr/>
        </p:nvSpPr>
        <p:spPr>
          <a:xfrm>
            <a:off x="2559177" y="2167128"/>
            <a:ext cx="1813941" cy="132588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50617" y="2276856"/>
            <a:ext cx="1631061" cy="1106424"/>
          </a:xfrm>
          <a:prstGeom prst="rect">
            <a:avLst/>
          </a:prstGeom>
          <a:noFill/>
        </p:spPr>
        <p:txBody>
          <a:bodyPr wrap="square" anchor="ctr" lIns="0" rIns="0" tIns="0" bIns="0">
            <a:noAutofit/>
          </a:bodyPr>
          <a:lstStyle/>
          <a:p>
            <a:pPr algn="l">
              <a:lnSpc>
                <a:spcPct val="120000"/>
              </a:lnSpc>
              <a:spcAft>
                <a:spcPts val="400"/>
              </a:spcAft>
            </a:pPr>
            <a:r>
              <a:rPr sz="700" b="0" i="0">
                <a:solidFill>
                  <a:srgbClr val="0E2356"/>
                </a:solidFill>
                <a:latin typeface="Outfit"/>
              </a:rPr>
              <a:t>·  Synthèse par thème puis synthèse globale</a:t>
            </a:r>
          </a:p>
          <a:p>
            <a:pPr algn="l">
              <a:lnSpc>
                <a:spcPct val="120000"/>
              </a:lnSpc>
              <a:spcAft>
                <a:spcPts val="400"/>
              </a:spcAft>
            </a:pPr>
            <a:r>
              <a:rPr sz="700" b="0" i="0">
                <a:solidFill>
                  <a:srgbClr val="0E2356"/>
                </a:solidFill>
                <a:latin typeface="Outfit"/>
              </a:rPr>
              <a:t>·  Registre de gaspillage (tags CONFIRMÉ/DÉDUIT/INCERTAIN)</a:t>
            </a:r>
          </a:p>
        </p:txBody>
      </p:sp>
      <p:sp>
        <p:nvSpPr>
          <p:cNvPr id="15" name="TextBox 14"/>
          <p:cNvSpPr txBox="1"/>
          <p:nvPr/>
        </p:nvSpPr>
        <p:spPr>
          <a:xfrm>
            <a:off x="4373118" y="1874519"/>
            <a:ext cx="182880" cy="237744"/>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16" name="Rectangle 15"/>
          <p:cNvSpPr/>
          <p:nvPr/>
        </p:nvSpPr>
        <p:spPr>
          <a:xfrm>
            <a:off x="4555998" y="1801368"/>
            <a:ext cx="1813941" cy="45720"/>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55998" y="1892807"/>
            <a:ext cx="1813941" cy="237744"/>
          </a:xfrm>
          <a:prstGeom prst="rect">
            <a:avLst/>
          </a:prstGeom>
          <a:noFill/>
        </p:spPr>
        <p:txBody>
          <a:bodyPr wrap="square" anchor="t" lIns="0" rIns="0" tIns="0" bIns="0">
            <a:noAutofit/>
          </a:bodyPr>
          <a:lstStyle/>
          <a:p>
            <a:pPr algn="ctr"/>
            <a:r>
              <a:rPr sz="800" b="1" i="0">
                <a:solidFill>
                  <a:srgbClr val="0E2356"/>
                </a:solidFill>
                <a:latin typeface="Outfit"/>
              </a:rPr>
              <a:t>CONCEPTION</a:t>
            </a:r>
          </a:p>
        </p:txBody>
      </p:sp>
      <p:sp>
        <p:nvSpPr>
          <p:cNvPr id="18" name="Rounded Rectangle 17"/>
          <p:cNvSpPr/>
          <p:nvPr/>
        </p:nvSpPr>
        <p:spPr>
          <a:xfrm>
            <a:off x="4555998" y="2167128"/>
            <a:ext cx="1813941" cy="132588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47438" y="2276856"/>
            <a:ext cx="1631061" cy="1106424"/>
          </a:xfrm>
          <a:prstGeom prst="rect">
            <a:avLst/>
          </a:prstGeom>
          <a:noFill/>
        </p:spPr>
        <p:txBody>
          <a:bodyPr wrap="square" anchor="ctr" lIns="0" rIns="0" tIns="0" bIns="0">
            <a:noAutofit/>
          </a:bodyPr>
          <a:lstStyle/>
          <a:p>
            <a:pPr algn="l">
              <a:lnSpc>
                <a:spcPct val="120000"/>
              </a:lnSpc>
              <a:spcAft>
                <a:spcPts val="400"/>
              </a:spcAft>
            </a:pPr>
            <a:r>
              <a:rPr sz="700" b="0" i="0">
                <a:solidFill>
                  <a:srgbClr val="0E2356"/>
                </a:solidFill>
                <a:latin typeface="Outfit"/>
              </a:rPr>
              <a:t>·  Définition produit (+ cible MVP)</a:t>
            </a:r>
          </a:p>
          <a:p>
            <a:pPr algn="l">
              <a:lnSpc>
                <a:spcPct val="120000"/>
              </a:lnSpc>
              <a:spcAft>
                <a:spcPts val="400"/>
              </a:spcAft>
            </a:pPr>
            <a:r>
              <a:rPr sz="700" b="0" i="0">
                <a:solidFill>
                  <a:srgbClr val="0E2356"/>
                </a:solidFill>
                <a:latin typeface="Outfit"/>
              </a:rPr>
              <a:t>·  Operating model + traitement du gaspillage (décisions actées)</a:t>
            </a:r>
          </a:p>
        </p:txBody>
      </p:sp>
      <p:sp>
        <p:nvSpPr>
          <p:cNvPr id="20" name="TextBox 19"/>
          <p:cNvSpPr txBox="1"/>
          <p:nvPr/>
        </p:nvSpPr>
        <p:spPr>
          <a:xfrm>
            <a:off x="6369939" y="1874519"/>
            <a:ext cx="182880" cy="237744"/>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1" name="Rectangle 20"/>
          <p:cNvSpPr/>
          <p:nvPr/>
        </p:nvSpPr>
        <p:spPr>
          <a:xfrm>
            <a:off x="6552819" y="1801368"/>
            <a:ext cx="1813941" cy="45720"/>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52819" y="1892807"/>
            <a:ext cx="1813941" cy="237744"/>
          </a:xfrm>
          <a:prstGeom prst="rect">
            <a:avLst/>
          </a:prstGeom>
          <a:noFill/>
        </p:spPr>
        <p:txBody>
          <a:bodyPr wrap="square" anchor="t" lIns="0" rIns="0" tIns="0" bIns="0">
            <a:noAutofit/>
          </a:bodyPr>
          <a:lstStyle/>
          <a:p>
            <a:pPr algn="ctr"/>
            <a:r>
              <a:rPr sz="800" b="1" i="0">
                <a:solidFill>
                  <a:srgbClr val="0E2356"/>
                </a:solidFill>
                <a:latin typeface="Outfit"/>
              </a:rPr>
              <a:t>RESTITUTION</a:t>
            </a:r>
          </a:p>
        </p:txBody>
      </p:sp>
      <p:sp>
        <p:nvSpPr>
          <p:cNvPr id="23" name="Rounded Rectangle 22"/>
          <p:cNvSpPr/>
          <p:nvPr/>
        </p:nvSpPr>
        <p:spPr>
          <a:xfrm>
            <a:off x="6552819" y="2167128"/>
            <a:ext cx="1813941" cy="132588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44259" y="2276856"/>
            <a:ext cx="1631061" cy="1106424"/>
          </a:xfrm>
          <a:prstGeom prst="rect">
            <a:avLst/>
          </a:prstGeom>
          <a:noFill/>
        </p:spPr>
        <p:txBody>
          <a:bodyPr wrap="square" anchor="ctr" lIns="0" rIns="0" tIns="0" bIns="0">
            <a:noAutofit/>
          </a:bodyPr>
          <a:lstStyle/>
          <a:p>
            <a:pPr algn="l">
              <a:lnSpc>
                <a:spcPct val="120000"/>
              </a:lnSpc>
              <a:spcAft>
                <a:spcPts val="400"/>
              </a:spcAft>
            </a:pPr>
            <a:r>
              <a:rPr sz="700" b="0" i="0">
                <a:solidFill>
                  <a:srgbClr val="0E2356"/>
                </a:solidFill>
                <a:latin typeface="Outfit"/>
              </a:rPr>
              <a:t>·  Deck exécutif : axes valeur/complexité</a:t>
            </a:r>
          </a:p>
          <a:p>
            <a:pPr algn="l">
              <a:lnSpc>
                <a:spcPct val="120000"/>
              </a:lnSpc>
              <a:spcAft>
                <a:spcPts val="400"/>
              </a:spcAft>
            </a:pPr>
            <a:r>
              <a:rPr sz="700" b="0" i="0">
                <a:solidFill>
                  <a:srgbClr val="0E2356"/>
                </a:solidFill>
                <a:latin typeface="Outfit"/>
              </a:rPr>
              <a:t>·  + radar de maturité</a:t>
            </a:r>
          </a:p>
        </p:txBody>
      </p:sp>
      <p:sp>
        <p:nvSpPr>
          <p:cNvPr id="25" name="Rounded Rectangle 24"/>
          <p:cNvSpPr/>
          <p:nvPr/>
        </p:nvSpPr>
        <p:spPr>
          <a:xfrm>
            <a:off x="562356" y="3639312"/>
            <a:ext cx="7804404" cy="365760"/>
          </a:xfrm>
          <a:prstGeom prst="roundRect">
            <a:avLst>
              <a:gd name="adj" fmla="val 10000"/>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5236" y="3639312"/>
            <a:ext cx="7438644" cy="365760"/>
          </a:xfrm>
          <a:prstGeom prst="rect">
            <a:avLst/>
          </a:prstGeom>
          <a:noFill/>
        </p:spPr>
        <p:txBody>
          <a:bodyPr wrap="square" anchor="ctr" lIns="0" rIns="0" tIns="0" bIns="0">
            <a:noAutofit/>
          </a:bodyPr>
          <a:lstStyle/>
          <a:p>
            <a:pPr algn="l">
              <a:lnSpc>
                <a:spcPct val="110000"/>
              </a:lnSpc>
            </a:pPr>
            <a:r>
              <a:rPr sz="750" b="0" i="1">
                <a:solidFill>
                  <a:srgbClr val="586586"/>
                </a:solidFill>
                <a:latin typeface="Outfit"/>
              </a:rPr>
              <a:t>iap-risk-reviewer — lecture seule, challenge Product definition / Operating model → Deck exécutif</a:t>
            </a:r>
          </a:p>
        </p:txBody>
      </p:sp>
      <p:sp>
        <p:nvSpPr>
          <p:cNvPr id="27" name="Rounded Rectangle 26"/>
          <p:cNvSpPr/>
          <p:nvPr/>
        </p:nvSpPr>
        <p:spPr>
          <a:xfrm>
            <a:off x="562356" y="4133088"/>
            <a:ext cx="7804404" cy="502920"/>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5236" y="4133088"/>
            <a:ext cx="7438644" cy="502920"/>
          </a:xfrm>
          <a:prstGeom prst="rect">
            <a:avLst/>
          </a:prstGeom>
          <a:noFill/>
        </p:spPr>
        <p:txBody>
          <a:bodyPr wrap="square" anchor="ctr" lIns="0" rIns="0" tIns="0" bIns="0">
            <a:noAutofit/>
          </a:bodyPr>
          <a:lstStyle/>
          <a:p>
            <a:pPr algn="l">
              <a:lnSpc>
                <a:spcPct val="115000"/>
              </a:lnSpc>
            </a:pPr>
            <a:r>
              <a:rPr sz="800" b="0" i="0">
                <a:solidFill>
                  <a:srgbClr val="FFFFFF"/>
                </a:solidFill>
                <a:latin typeface="Outfit"/>
              </a:rPr>
              <a:t>⟲ Boucle de réévaluation — iap-re-assessment, T+6-12 mois, alimente la bibliothèque de REX, reboucle vers la Collecte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Onze workflows outillés, un seul bloquant : le gate confidentialité les traverse tous</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Un mandat unique par workflow, regroupés par étape. Le gate confidentialité est le seul à pouvoir arrêter la chaîne — transversal, il précède tout usage d'un modèle IA sur donnée client.</a:t>
            </a:r>
          </a:p>
        </p:txBody>
      </p:sp>
      <p:sp>
        <p:nvSpPr>
          <p:cNvPr id="4" name="Rounded Rectangle 3"/>
          <p:cNvSpPr/>
          <p:nvPr/>
        </p:nvSpPr>
        <p:spPr>
          <a:xfrm>
            <a:off x="562356" y="1600200"/>
            <a:ext cx="1813941" cy="225856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600200"/>
            <a:ext cx="64008" cy="22585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90372" y="1709928"/>
            <a:ext cx="1557909" cy="329184"/>
          </a:xfrm>
          <a:prstGeom prst="rect">
            <a:avLst/>
          </a:prstGeom>
          <a:noFill/>
        </p:spPr>
        <p:txBody>
          <a:bodyPr wrap="square" anchor="t" lIns="0" rIns="0" tIns="0" bIns="0">
            <a:noAutofit/>
          </a:bodyPr>
          <a:lstStyle/>
          <a:p>
            <a:pPr algn="l">
              <a:lnSpc>
                <a:spcPct val="100000"/>
              </a:lnSpc>
            </a:pPr>
            <a:r>
              <a:rPr sz="800" b="1" i="0">
                <a:solidFill>
                  <a:srgbClr val="0E2356"/>
                </a:solidFill>
                <a:latin typeface="Outfit"/>
              </a:rPr>
              <a:t>INTAKE</a:t>
            </a:r>
          </a:p>
          <a:p>
            <a:pPr algn="l">
              <a:spcBef>
                <a:spcPts val="100"/>
              </a:spcBef>
            </a:pPr>
            <a:r>
              <a:rPr sz="650" b="0" i="0">
                <a:solidFill>
                  <a:srgbClr val="586586"/>
                </a:solidFill>
                <a:latin typeface="Outfit"/>
              </a:rPr>
              <a:t>1 workflow</a:t>
            </a:r>
          </a:p>
        </p:txBody>
      </p:sp>
      <p:sp>
        <p:nvSpPr>
          <p:cNvPr id="7" name="TextBox 6"/>
          <p:cNvSpPr txBox="1"/>
          <p:nvPr/>
        </p:nvSpPr>
        <p:spPr>
          <a:xfrm>
            <a:off x="690372" y="2075688"/>
            <a:ext cx="1557909" cy="71589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iap-intake</a:t>
            </a:r>
          </a:p>
          <a:p>
            <a:pPr algn="l">
              <a:lnSpc>
                <a:spcPct val="110000"/>
              </a:lnSpc>
              <a:spcBef>
                <a:spcPts val="200"/>
              </a:spcBef>
            </a:pPr>
            <a:r>
              <a:rPr sz="650" b="0" i="0">
                <a:solidFill>
                  <a:srgbClr val="586586"/>
                </a:solidFill>
                <a:latin typeface="Outfit"/>
              </a:rPr>
              <a:t>Qualifie le contexte client, le positionne sur les deux échelles de maturité, puis choisit le chemin de mission : diagnostic, pilote, adoption ou gate d'abord.</a:t>
            </a:r>
          </a:p>
        </p:txBody>
      </p:sp>
      <p:sp>
        <p:nvSpPr>
          <p:cNvPr id="8" name="Rounded Rectangle 7"/>
          <p:cNvSpPr/>
          <p:nvPr/>
        </p:nvSpPr>
        <p:spPr>
          <a:xfrm>
            <a:off x="2559177" y="1600200"/>
            <a:ext cx="1813941" cy="225856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559177" y="1600200"/>
            <a:ext cx="64008" cy="22585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87193" y="1709928"/>
            <a:ext cx="1557909" cy="329184"/>
          </a:xfrm>
          <a:prstGeom prst="rect">
            <a:avLst/>
          </a:prstGeom>
          <a:noFill/>
        </p:spPr>
        <p:txBody>
          <a:bodyPr wrap="square" anchor="t" lIns="0" rIns="0" tIns="0" bIns="0">
            <a:noAutofit/>
          </a:bodyPr>
          <a:lstStyle/>
          <a:p>
            <a:pPr algn="l">
              <a:lnSpc>
                <a:spcPct val="100000"/>
              </a:lnSpc>
            </a:pPr>
            <a:r>
              <a:rPr sz="800" b="1" i="0">
                <a:solidFill>
                  <a:srgbClr val="0E2356"/>
                </a:solidFill>
                <a:latin typeface="Outfit"/>
              </a:rPr>
              <a:t>DIAGNOSTIC</a:t>
            </a:r>
          </a:p>
          <a:p>
            <a:pPr algn="l">
              <a:spcBef>
                <a:spcPts val="100"/>
              </a:spcBef>
            </a:pPr>
            <a:r>
              <a:rPr sz="650" b="0" i="0">
                <a:solidFill>
                  <a:srgbClr val="586586"/>
                </a:solidFill>
                <a:latin typeface="Outfit"/>
              </a:rPr>
              <a:t>2 workflows</a:t>
            </a:r>
          </a:p>
        </p:txBody>
      </p:sp>
      <p:sp>
        <p:nvSpPr>
          <p:cNvPr id="11" name="TextBox 10"/>
          <p:cNvSpPr txBox="1"/>
          <p:nvPr/>
        </p:nvSpPr>
        <p:spPr>
          <a:xfrm>
            <a:off x="2687193" y="2365883"/>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iap-diagnostic-systemique</a:t>
            </a:r>
          </a:p>
          <a:p>
            <a:pPr algn="l">
              <a:lnSpc>
                <a:spcPct val="110000"/>
              </a:lnSpc>
              <a:spcBef>
                <a:spcPts val="200"/>
              </a:spcBef>
            </a:pPr>
            <a:r>
              <a:rPr sz="650" b="0" i="0">
                <a:solidFill>
                  <a:srgbClr val="586586"/>
                </a:solidFill>
                <a:latin typeface="Outfit"/>
              </a:rPr>
              <a:t>Structure, flux, RUN, posture management</a:t>
            </a:r>
          </a:p>
        </p:txBody>
      </p:sp>
      <p:sp>
        <p:nvSpPr>
          <p:cNvPr id="12" name="TextBox 11"/>
          <p:cNvSpPr txBox="1"/>
          <p:nvPr/>
        </p:nvSpPr>
        <p:spPr>
          <a:xfrm>
            <a:off x="2687193" y="3159252"/>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iap-discovery-gaspillage</a:t>
            </a:r>
          </a:p>
          <a:p>
            <a:pPr algn="l">
              <a:lnSpc>
                <a:spcPct val="110000"/>
              </a:lnSpc>
              <a:spcBef>
                <a:spcPts val="200"/>
              </a:spcBef>
            </a:pPr>
            <a:r>
              <a:rPr sz="650" b="0" i="0">
                <a:solidFill>
                  <a:srgbClr val="586586"/>
                </a:solidFill>
                <a:latin typeface="Outfit"/>
              </a:rPr>
              <a:t>Preuves, causes racines, options de traitement</a:t>
            </a:r>
          </a:p>
        </p:txBody>
      </p:sp>
      <p:sp>
        <p:nvSpPr>
          <p:cNvPr id="13" name="Rounded Rectangle 12"/>
          <p:cNvSpPr/>
          <p:nvPr/>
        </p:nvSpPr>
        <p:spPr>
          <a:xfrm>
            <a:off x="4555998" y="1600200"/>
            <a:ext cx="1813941" cy="225856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55998" y="1600200"/>
            <a:ext cx="64008" cy="22585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84014" y="1709928"/>
            <a:ext cx="1557909" cy="329184"/>
          </a:xfrm>
          <a:prstGeom prst="rect">
            <a:avLst/>
          </a:prstGeom>
          <a:noFill/>
        </p:spPr>
        <p:txBody>
          <a:bodyPr wrap="square" anchor="t" lIns="0" rIns="0" tIns="0" bIns="0">
            <a:noAutofit/>
          </a:bodyPr>
          <a:lstStyle/>
          <a:p>
            <a:pPr algn="l">
              <a:lnSpc>
                <a:spcPct val="100000"/>
              </a:lnSpc>
            </a:pPr>
            <a:r>
              <a:rPr sz="800" b="1" i="0">
                <a:solidFill>
                  <a:srgbClr val="0E2356"/>
                </a:solidFill>
                <a:latin typeface="Outfit"/>
              </a:rPr>
              <a:t>CONCEPTION</a:t>
            </a:r>
          </a:p>
          <a:p>
            <a:pPr algn="l">
              <a:spcBef>
                <a:spcPts val="100"/>
              </a:spcBef>
            </a:pPr>
            <a:r>
              <a:rPr sz="650" b="0" i="0">
                <a:solidFill>
                  <a:srgbClr val="586586"/>
                </a:solidFill>
                <a:latin typeface="Outfit"/>
              </a:rPr>
              <a:t>4 workflows</a:t>
            </a:r>
          </a:p>
        </p:txBody>
      </p:sp>
      <p:sp>
        <p:nvSpPr>
          <p:cNvPr id="16" name="TextBox 15"/>
          <p:cNvSpPr txBox="1"/>
          <p:nvPr/>
        </p:nvSpPr>
        <p:spPr>
          <a:xfrm>
            <a:off x="4684014" y="2075688"/>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iap-waste-treatment</a:t>
            </a:r>
          </a:p>
          <a:p>
            <a:pPr algn="l">
              <a:lnSpc>
                <a:spcPct val="110000"/>
              </a:lnSpc>
              <a:spcBef>
                <a:spcPts val="200"/>
              </a:spcBef>
            </a:pPr>
            <a:r>
              <a:rPr sz="650" b="0" i="0">
                <a:solidFill>
                  <a:srgbClr val="586586"/>
                </a:solidFill>
                <a:latin typeface="Outfit"/>
              </a:rPr>
              <a:t>Backlog priorisé et scoré des gaspillages</a:t>
            </a:r>
          </a:p>
        </p:txBody>
      </p:sp>
      <p:sp>
        <p:nvSpPr>
          <p:cNvPr id="17" name="TextBox 16"/>
          <p:cNvSpPr txBox="1"/>
          <p:nvPr/>
        </p:nvSpPr>
        <p:spPr>
          <a:xfrm>
            <a:off x="4684014" y="253360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iap-product-definition</a:t>
            </a:r>
          </a:p>
          <a:p>
            <a:pPr algn="l">
              <a:lnSpc>
                <a:spcPct val="110000"/>
              </a:lnSpc>
              <a:spcBef>
                <a:spcPts val="200"/>
              </a:spcBef>
            </a:pPr>
            <a:r>
              <a:rPr sz="650" b="0" i="0">
                <a:solidFill>
                  <a:srgbClr val="586586"/>
                </a:solidFill>
                <a:latin typeface="Outfit"/>
              </a:rPr>
              <a:t>Personas, capacités, valeur, roadmap</a:t>
            </a:r>
          </a:p>
        </p:txBody>
      </p:sp>
      <p:sp>
        <p:nvSpPr>
          <p:cNvPr id="18" name="TextBox 17"/>
          <p:cNvSpPr txBox="1"/>
          <p:nvPr/>
        </p:nvSpPr>
        <p:spPr>
          <a:xfrm>
            <a:off x="4684014" y="299152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iap-operating-model</a:t>
            </a:r>
          </a:p>
          <a:p>
            <a:pPr algn="l">
              <a:lnSpc>
                <a:spcPct val="110000"/>
              </a:lnSpc>
              <a:spcBef>
                <a:spcPts val="200"/>
              </a:spcBef>
            </a:pPr>
            <a:r>
              <a:rPr sz="650" b="0" i="0">
                <a:solidFill>
                  <a:srgbClr val="586586"/>
                </a:solidFill>
                <a:latin typeface="Outfit"/>
              </a:rPr>
              <a:t>Rôles, gouvernance, financement (décisions actées)</a:t>
            </a:r>
          </a:p>
        </p:txBody>
      </p:sp>
      <p:sp>
        <p:nvSpPr>
          <p:cNvPr id="19" name="TextBox 18"/>
          <p:cNvSpPr txBox="1"/>
          <p:nvPr/>
        </p:nvSpPr>
        <p:spPr>
          <a:xfrm>
            <a:off x="4684014" y="344944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iap-agentic-opportunities</a:t>
            </a:r>
          </a:p>
          <a:p>
            <a:pPr algn="l">
              <a:lnSpc>
                <a:spcPct val="110000"/>
              </a:lnSpc>
              <a:spcBef>
                <a:spcPts val="200"/>
              </a:spcBef>
            </a:pPr>
            <a:r>
              <a:rPr sz="650" b="0" i="0">
                <a:solidFill>
                  <a:srgbClr val="586586"/>
                </a:solidFill>
                <a:latin typeface="Outfit"/>
              </a:rPr>
              <a:t>Le gaspillage d'abord, l'IA ensuite</a:t>
            </a:r>
          </a:p>
        </p:txBody>
      </p:sp>
      <p:sp>
        <p:nvSpPr>
          <p:cNvPr id="20" name="Rounded Rectangle 19"/>
          <p:cNvSpPr/>
          <p:nvPr/>
        </p:nvSpPr>
        <p:spPr>
          <a:xfrm>
            <a:off x="6552819" y="1600200"/>
            <a:ext cx="1813941" cy="225856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552819" y="1600200"/>
            <a:ext cx="64008" cy="22585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80835" y="1709928"/>
            <a:ext cx="1557909" cy="329184"/>
          </a:xfrm>
          <a:prstGeom prst="rect">
            <a:avLst/>
          </a:prstGeom>
          <a:noFill/>
        </p:spPr>
        <p:txBody>
          <a:bodyPr wrap="square" anchor="t" lIns="0" rIns="0" tIns="0" bIns="0">
            <a:noAutofit/>
          </a:bodyPr>
          <a:lstStyle/>
          <a:p>
            <a:pPr algn="l">
              <a:lnSpc>
                <a:spcPct val="100000"/>
              </a:lnSpc>
            </a:pPr>
            <a:r>
              <a:rPr sz="800" b="1" i="0">
                <a:solidFill>
                  <a:srgbClr val="0E2356"/>
                </a:solidFill>
                <a:latin typeface="Outfit"/>
              </a:rPr>
              <a:t>ADOPTION &amp; RESTITUTION</a:t>
            </a:r>
          </a:p>
          <a:p>
            <a:pPr algn="l">
              <a:spcBef>
                <a:spcPts val="100"/>
              </a:spcBef>
            </a:pPr>
            <a:r>
              <a:rPr sz="650" b="0" i="0">
                <a:solidFill>
                  <a:srgbClr val="586586"/>
                </a:solidFill>
                <a:latin typeface="Outfit"/>
              </a:rPr>
              <a:t>3 workflows</a:t>
            </a:r>
          </a:p>
        </p:txBody>
      </p:sp>
      <p:sp>
        <p:nvSpPr>
          <p:cNvPr id="23" name="TextBox 22"/>
          <p:cNvSpPr txBox="1"/>
          <p:nvPr/>
        </p:nvSpPr>
        <p:spPr>
          <a:xfrm>
            <a:off x="6680835" y="2075688"/>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iap-adoption-plan</a:t>
            </a:r>
          </a:p>
          <a:p>
            <a:pPr algn="l">
              <a:lnSpc>
                <a:spcPct val="110000"/>
              </a:lnSpc>
              <a:spcBef>
                <a:spcPts val="200"/>
              </a:spcBef>
            </a:pPr>
            <a:r>
              <a:rPr sz="650" b="0" i="0">
                <a:solidFill>
                  <a:srgbClr val="586586"/>
                </a:solidFill>
                <a:latin typeface="Outfit"/>
              </a:rPr>
              <a:t>Onboarding, documentation, communautés</a:t>
            </a:r>
          </a:p>
        </p:txBody>
      </p:sp>
      <p:sp>
        <p:nvSpPr>
          <p:cNvPr id="24" name="TextBox 23"/>
          <p:cNvSpPr txBox="1"/>
          <p:nvPr/>
        </p:nvSpPr>
        <p:spPr>
          <a:xfrm>
            <a:off x="6680835" y="276256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iap-scenario-playbook</a:t>
            </a:r>
          </a:p>
          <a:p>
            <a:pPr algn="l">
              <a:lnSpc>
                <a:spcPct val="110000"/>
              </a:lnSpc>
              <a:spcBef>
                <a:spcPts val="200"/>
              </a:spcBef>
            </a:pPr>
            <a:r>
              <a:rPr sz="650" b="0" i="0">
                <a:solidFill>
                  <a:srgbClr val="586586"/>
                </a:solidFill>
                <a:latin typeface="Outfit"/>
              </a:rPr>
              <a:t>Adapte la démarche au scénario client</a:t>
            </a:r>
          </a:p>
        </p:txBody>
      </p:sp>
      <p:sp>
        <p:nvSpPr>
          <p:cNvPr id="25" name="TextBox 24"/>
          <p:cNvSpPr txBox="1"/>
          <p:nvPr/>
        </p:nvSpPr>
        <p:spPr>
          <a:xfrm>
            <a:off x="6680835" y="344944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iap-deck-builder</a:t>
            </a:r>
          </a:p>
          <a:p>
            <a:pPr algn="l">
              <a:lnSpc>
                <a:spcPct val="110000"/>
              </a:lnSpc>
              <a:spcBef>
                <a:spcPts val="200"/>
              </a:spcBef>
            </a:pPr>
            <a:r>
              <a:rPr sz="650" b="0" i="0">
                <a:solidFill>
                  <a:srgbClr val="586586"/>
                </a:solidFill>
                <a:latin typeface="Outfit"/>
              </a:rPr>
              <a:t>Deck modulaire, restitution exécutive</a:t>
            </a:r>
          </a:p>
        </p:txBody>
      </p:sp>
      <p:sp>
        <p:nvSpPr>
          <p:cNvPr id="26" name="Rounded Rectangle 25"/>
          <p:cNvSpPr/>
          <p:nvPr/>
        </p:nvSpPr>
        <p:spPr>
          <a:xfrm>
            <a:off x="562356" y="3995928"/>
            <a:ext cx="7804404" cy="548640"/>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08660" y="4142232"/>
            <a:ext cx="1051560" cy="256032"/>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8660" y="4142232"/>
            <a:ext cx="1051560" cy="256032"/>
          </a:xfrm>
          <a:prstGeom prst="rect">
            <a:avLst/>
          </a:prstGeom>
          <a:noFill/>
        </p:spPr>
        <p:txBody>
          <a:bodyPr wrap="square" anchor="ctr" lIns="0" rIns="0" tIns="0" bIns="0">
            <a:noAutofit/>
          </a:bodyPr>
          <a:lstStyle/>
          <a:p>
            <a:pPr algn="ctr"/>
            <a:r>
              <a:rPr sz="700" b="1" i="0">
                <a:solidFill>
                  <a:srgbClr val="0E2356"/>
                </a:solidFill>
                <a:latin typeface="Outfit"/>
              </a:rPr>
              <a:t>BLOQUANT</a:t>
            </a:r>
          </a:p>
        </p:txBody>
      </p:sp>
      <p:sp>
        <p:nvSpPr>
          <p:cNvPr id="29" name="TextBox 28"/>
          <p:cNvSpPr txBox="1"/>
          <p:nvPr/>
        </p:nvSpPr>
        <p:spPr>
          <a:xfrm>
            <a:off x="1943100" y="4087368"/>
            <a:ext cx="6249924" cy="365759"/>
          </a:xfrm>
          <a:prstGeom prst="rect">
            <a:avLst/>
          </a:prstGeom>
          <a:noFill/>
        </p:spPr>
        <p:txBody>
          <a:bodyPr wrap="square" anchor="ctr" lIns="0" rIns="0" tIns="0" bIns="0">
            <a:noAutofit/>
          </a:bodyPr>
          <a:lstStyle/>
          <a:p>
            <a:pPr algn="l"/>
            <a:r>
              <a:rPr sz="800" b="1" i="0">
                <a:solidFill>
                  <a:srgbClr val="FFFFFF"/>
                </a:solidFill>
                <a:latin typeface="Outfit"/>
              </a:rPr>
              <a:t>iap-ai-data-confidentiality-gate</a:t>
            </a:r>
          </a:p>
          <a:p>
            <a:pPr algn="l">
              <a:lnSpc>
                <a:spcPct val="115000"/>
              </a:lnSpc>
              <a:spcBef>
                <a:spcPts val="200"/>
              </a:spcBef>
            </a:pPr>
            <a:r>
              <a:rPr sz="750" b="0" i="0">
                <a:solidFill>
                  <a:srgbClr val="C7CBE0"/>
                </a:solidFill>
                <a:latin typeface="Outfit"/>
              </a:rPr>
              <a:t>Classe les données (D0-D4), décide le mode d'exécution IA et pose les garde-fous — transversal, avant tout usage d'un modèle IA sur donnée client.</a:t>
            </a:r>
          </a:p>
        </p:txBody>
      </p:sp>
      <p:sp>
        <p:nvSpPr>
          <p:cNvPr id="30" name="TextBox 29"/>
          <p:cNvSpPr txBox="1"/>
          <p:nvPr/>
        </p:nvSpPr>
        <p:spPr>
          <a:xfrm>
            <a:off x="562356" y="4654296"/>
            <a:ext cx="7804404" cy="329183"/>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Onze mandats distincts, un seul peut arrêter la chaîne — tous les autres proposent et produisent, la décision finale reste humaine.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DÉMARCHE   ·   </a:t>
            </a:r>
            <a:r>
              <a:rPr b="1" sz="1700">
                <a:solidFill>
                  <a:srgbClr val="0E2356"/>
                </a:solidFill>
                <a:latin typeface="Outfit"/>
              </a:rPr>
              <a:t>Livrables PPT par étape — piste à valider</a:t>
            </a:r>
          </a:p>
        </p:txBody>
      </p:sp>
      <p:sp>
        <p:nvSpPr>
          <p:cNvPr id="3" name="TextBox 2"/>
          <p:cNvSpPr txBox="1"/>
          <p:nvPr/>
        </p:nvSpPr>
        <p:spPr>
          <a:xfrm>
            <a:off x="562356" y="1051560"/>
            <a:ext cx="7804404" cy="36576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iap-deck-builder est cadré comme un seul deck modulaire 16 sections, produit une fois à la Restitution — la trajectoire ci-avant implique plusieurs publics et moments de décision distincts. Piste : un profil de sections par étape, pas 4 générateurs séparés.</a:t>
            </a:r>
          </a:p>
        </p:txBody>
      </p:sp>
      <p:sp>
        <p:nvSpPr>
          <p:cNvPr id="4" name="Rounded Rectangle 3"/>
          <p:cNvSpPr/>
          <p:nvPr/>
        </p:nvSpPr>
        <p:spPr>
          <a:xfrm>
            <a:off x="562356" y="1920240"/>
            <a:ext cx="1813941" cy="2046224"/>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920240"/>
            <a:ext cx="64008" cy="20462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08660" y="2048256"/>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8660" y="2048256"/>
            <a:ext cx="310896" cy="310896"/>
          </a:xfrm>
          <a:prstGeom prst="rect">
            <a:avLst/>
          </a:prstGeom>
          <a:noFill/>
        </p:spPr>
        <p:txBody>
          <a:bodyPr wrap="square" anchor="ctr" lIns="0" rIns="0" tIns="0" bIns="0">
            <a:noAutofit/>
          </a:bodyPr>
          <a:lstStyle/>
          <a:p>
            <a:pPr algn="ctr"/>
            <a:r>
              <a:rPr sz="1100" b="1" i="0">
                <a:solidFill>
                  <a:srgbClr val="FFFFFF"/>
                </a:solidFill>
                <a:latin typeface="Arial"/>
              </a:rPr>
              <a:t>①</a:t>
            </a:r>
          </a:p>
        </p:txBody>
      </p:sp>
      <p:sp>
        <p:nvSpPr>
          <p:cNvPr id="8" name="TextBox 7"/>
          <p:cNvSpPr txBox="1"/>
          <p:nvPr/>
        </p:nvSpPr>
        <p:spPr>
          <a:xfrm>
            <a:off x="1092708" y="2048256"/>
            <a:ext cx="1137285" cy="310896"/>
          </a:xfrm>
          <a:prstGeom prst="rect">
            <a:avLst/>
          </a:prstGeom>
          <a:noFill/>
        </p:spPr>
        <p:txBody>
          <a:bodyPr wrap="square" anchor="ctr" lIns="0" rIns="0" tIns="0" bIns="0">
            <a:noAutofit/>
          </a:bodyPr>
          <a:lstStyle/>
          <a:p>
            <a:pPr algn="l">
              <a:lnSpc>
                <a:spcPct val="100000"/>
              </a:lnSpc>
            </a:pPr>
            <a:r>
              <a:rPr sz="800" b="1" i="0">
                <a:solidFill>
                  <a:srgbClr val="0E2356"/>
                </a:solidFill>
                <a:latin typeface="Outfit"/>
              </a:rPr>
              <a:t>Assessment flash</a:t>
            </a:r>
          </a:p>
        </p:txBody>
      </p:sp>
      <p:sp>
        <p:nvSpPr>
          <p:cNvPr id="9" name="Rectangle 8"/>
          <p:cNvSpPr/>
          <p:nvPr/>
        </p:nvSpPr>
        <p:spPr>
          <a:xfrm>
            <a:off x="708660" y="2450592"/>
            <a:ext cx="152133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8660" y="2523744"/>
            <a:ext cx="1521333" cy="201168"/>
          </a:xfrm>
          <a:prstGeom prst="rect">
            <a:avLst/>
          </a:prstGeom>
          <a:noFill/>
        </p:spPr>
        <p:txBody>
          <a:bodyPr wrap="square" anchor="t" lIns="0" rIns="0" tIns="0" bIns="0">
            <a:noAutofit/>
          </a:bodyPr>
          <a:lstStyle/>
          <a:p>
            <a:pPr algn="l"/>
            <a:r>
              <a:rPr sz="700" b="0" i="1">
                <a:solidFill>
                  <a:srgbClr val="586586"/>
                </a:solidFill>
                <a:latin typeface="Outfit"/>
              </a:rPr>
              <a:t>Sponsor, comité de lancement</a:t>
            </a:r>
          </a:p>
        </p:txBody>
      </p:sp>
      <p:sp>
        <p:nvSpPr>
          <p:cNvPr id="11" name="TextBox 10"/>
          <p:cNvSpPr txBox="1"/>
          <p:nvPr/>
        </p:nvSpPr>
        <p:spPr>
          <a:xfrm>
            <a:off x="708660" y="2761488"/>
            <a:ext cx="1521333" cy="502920"/>
          </a:xfrm>
          <a:prstGeom prst="rect">
            <a:avLst/>
          </a:prstGeom>
          <a:noFill/>
        </p:spPr>
        <p:txBody>
          <a:bodyPr wrap="square" anchor="t" lIns="0" rIns="0" tIns="0" bIns="0">
            <a:noAutofit/>
          </a:bodyPr>
          <a:lstStyle/>
          <a:p>
            <a:pPr algn="l"/>
            <a:r>
              <a:rPr sz="700" b="1" i="0">
                <a:solidFill>
                  <a:srgbClr val="0E2356"/>
                </a:solidFill>
                <a:latin typeface="Outfit"/>
              </a:rPr>
              <a:t>LIVRABLES</a:t>
            </a:r>
          </a:p>
          <a:p>
            <a:pPr algn="l">
              <a:lnSpc>
                <a:spcPct val="110000"/>
              </a:lnSpc>
              <a:spcBef>
                <a:spcPts val="200"/>
              </a:spcBef>
            </a:pPr>
            <a:r>
              <a:rPr sz="800" b="1" i="0">
                <a:solidFill>
                  <a:srgbClr val="0E2356"/>
                </a:solidFill>
                <a:latin typeface="Outfit"/>
              </a:rPr>
              <a:t>Deck exécutif de restitution</a:t>
            </a:r>
          </a:p>
        </p:txBody>
      </p:sp>
      <p:sp>
        <p:nvSpPr>
          <p:cNvPr id="12" name="TextBox 11"/>
          <p:cNvSpPr txBox="1"/>
          <p:nvPr/>
        </p:nvSpPr>
        <p:spPr>
          <a:xfrm>
            <a:off x="708660" y="3346704"/>
            <a:ext cx="1521333" cy="510032"/>
          </a:xfrm>
          <a:prstGeom prst="rect">
            <a:avLst/>
          </a:prstGeom>
          <a:noFill/>
        </p:spPr>
        <p:txBody>
          <a:bodyPr wrap="square" anchor="t" lIns="0" rIns="0" tIns="0" bIns="0">
            <a:noAutofit/>
          </a:bodyPr>
          <a:lstStyle/>
          <a:p>
            <a:pPr algn="l">
              <a:lnSpc>
                <a:spcPct val="125000"/>
              </a:lnSpc>
            </a:pPr>
            <a:r>
              <a:rPr sz="700" b="0" i="0">
                <a:solidFill>
                  <a:srgbClr val="586586"/>
                </a:solidFill>
                <a:latin typeface="Outfit"/>
              </a:rPr>
              <a:t>(déjà cadré) synthèse globale, axes valeur/complexité, radar T0</a:t>
            </a:r>
          </a:p>
        </p:txBody>
      </p:sp>
      <p:sp>
        <p:nvSpPr>
          <p:cNvPr id="13" name="Rounded Rectangle 12"/>
          <p:cNvSpPr/>
          <p:nvPr/>
        </p:nvSpPr>
        <p:spPr>
          <a:xfrm>
            <a:off x="2559177" y="1920240"/>
            <a:ext cx="1813941" cy="2046224"/>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559177" y="1920240"/>
            <a:ext cx="64008" cy="20462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705481" y="2048256"/>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05481" y="2048256"/>
            <a:ext cx="310896" cy="310896"/>
          </a:xfrm>
          <a:prstGeom prst="rect">
            <a:avLst/>
          </a:prstGeom>
          <a:noFill/>
        </p:spPr>
        <p:txBody>
          <a:bodyPr wrap="square" anchor="ctr" lIns="0" rIns="0" tIns="0" bIns="0">
            <a:noAutofit/>
          </a:bodyPr>
          <a:lstStyle/>
          <a:p>
            <a:pPr algn="ctr"/>
            <a:r>
              <a:rPr sz="1100" b="1" i="0">
                <a:solidFill>
                  <a:srgbClr val="FFFFFF"/>
                </a:solidFill>
                <a:latin typeface="Arial"/>
              </a:rPr>
              <a:t>②</a:t>
            </a:r>
          </a:p>
        </p:txBody>
      </p:sp>
      <p:sp>
        <p:nvSpPr>
          <p:cNvPr id="17" name="TextBox 16"/>
          <p:cNvSpPr txBox="1"/>
          <p:nvPr/>
        </p:nvSpPr>
        <p:spPr>
          <a:xfrm>
            <a:off x="3089529" y="2048256"/>
            <a:ext cx="1137285" cy="310896"/>
          </a:xfrm>
          <a:prstGeom prst="rect">
            <a:avLst/>
          </a:prstGeom>
          <a:noFill/>
        </p:spPr>
        <p:txBody>
          <a:bodyPr wrap="square" anchor="ctr" lIns="0" rIns="0" tIns="0" bIns="0">
            <a:noAutofit/>
          </a:bodyPr>
          <a:lstStyle/>
          <a:p>
            <a:pPr algn="l">
              <a:lnSpc>
                <a:spcPct val="100000"/>
              </a:lnSpc>
            </a:pPr>
            <a:r>
              <a:rPr sz="800" b="1" i="0">
                <a:solidFill>
                  <a:srgbClr val="0E2356"/>
                </a:solidFill>
                <a:latin typeface="Outfit"/>
              </a:rPr>
              <a:t>Premier déploiement</a:t>
            </a:r>
          </a:p>
        </p:txBody>
      </p:sp>
      <p:sp>
        <p:nvSpPr>
          <p:cNvPr id="18" name="Rectangle 17"/>
          <p:cNvSpPr/>
          <p:nvPr/>
        </p:nvSpPr>
        <p:spPr>
          <a:xfrm>
            <a:off x="2705481" y="2450592"/>
            <a:ext cx="152133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05481" y="2523744"/>
            <a:ext cx="1521333" cy="201168"/>
          </a:xfrm>
          <a:prstGeom prst="rect">
            <a:avLst/>
          </a:prstGeom>
          <a:noFill/>
        </p:spPr>
        <p:txBody>
          <a:bodyPr wrap="square" anchor="t" lIns="0" rIns="0" tIns="0" bIns="0">
            <a:noAutofit/>
          </a:bodyPr>
          <a:lstStyle/>
          <a:p>
            <a:pPr algn="l"/>
            <a:r>
              <a:rPr sz="700" b="0" i="1">
                <a:solidFill>
                  <a:srgbClr val="586586"/>
                </a:solidFill>
                <a:latin typeface="Outfit"/>
              </a:rPr>
              <a:t>Équipes pilotes + management</a:t>
            </a:r>
          </a:p>
        </p:txBody>
      </p:sp>
      <p:sp>
        <p:nvSpPr>
          <p:cNvPr id="20" name="TextBox 19"/>
          <p:cNvSpPr txBox="1"/>
          <p:nvPr/>
        </p:nvSpPr>
        <p:spPr>
          <a:xfrm>
            <a:off x="2705481" y="2761488"/>
            <a:ext cx="1521333" cy="502920"/>
          </a:xfrm>
          <a:prstGeom prst="rect">
            <a:avLst/>
          </a:prstGeom>
          <a:noFill/>
        </p:spPr>
        <p:txBody>
          <a:bodyPr wrap="square" anchor="t" lIns="0" rIns="0" tIns="0" bIns="0">
            <a:noAutofit/>
          </a:bodyPr>
          <a:lstStyle/>
          <a:p>
            <a:pPr algn="l"/>
            <a:r>
              <a:rPr sz="700" b="1" i="0">
                <a:solidFill>
                  <a:srgbClr val="0E2356"/>
                </a:solidFill>
                <a:latin typeface="Outfit"/>
              </a:rPr>
              <a:t>LIVRABLES</a:t>
            </a:r>
          </a:p>
          <a:p>
            <a:pPr algn="l">
              <a:lnSpc>
                <a:spcPct val="110000"/>
              </a:lnSpc>
              <a:spcBef>
                <a:spcPts val="200"/>
              </a:spcBef>
            </a:pPr>
            <a:r>
              <a:rPr sz="800" b="1" i="0">
                <a:solidFill>
                  <a:srgbClr val="0E2356"/>
                </a:solidFill>
                <a:latin typeface="Outfit"/>
              </a:rPr>
              <a:t>Deck de plan de déploiement</a:t>
            </a:r>
          </a:p>
        </p:txBody>
      </p:sp>
      <p:sp>
        <p:nvSpPr>
          <p:cNvPr id="21" name="TextBox 20"/>
          <p:cNvSpPr txBox="1"/>
          <p:nvPr/>
        </p:nvSpPr>
        <p:spPr>
          <a:xfrm>
            <a:off x="2705481" y="3346704"/>
            <a:ext cx="1521333" cy="510032"/>
          </a:xfrm>
          <a:prstGeom prst="rect">
            <a:avLst/>
          </a:prstGeom>
          <a:noFill/>
        </p:spPr>
        <p:txBody>
          <a:bodyPr wrap="square" anchor="t" lIns="0" rIns="0" tIns="0" bIns="0">
            <a:noAutofit/>
          </a:bodyPr>
          <a:lstStyle/>
          <a:p>
            <a:pPr algn="l">
              <a:lnSpc>
                <a:spcPct val="125000"/>
              </a:lnSpc>
            </a:pPr>
            <a:r>
              <a:rPr sz="700" b="0" i="0">
                <a:solidFill>
                  <a:srgbClr val="586586"/>
                </a:solidFill>
                <a:latin typeface="Outfit"/>
              </a:rPr>
              <a:t>(nouveau) Cible TOM détaillée, backlog Coach/Délégué, mandat agent IA</a:t>
            </a:r>
          </a:p>
        </p:txBody>
      </p:sp>
      <p:sp>
        <p:nvSpPr>
          <p:cNvPr id="22" name="Rounded Rectangle 21"/>
          <p:cNvSpPr/>
          <p:nvPr/>
        </p:nvSpPr>
        <p:spPr>
          <a:xfrm>
            <a:off x="4555998" y="1920240"/>
            <a:ext cx="1813941" cy="2046224"/>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555998" y="1920240"/>
            <a:ext cx="64008" cy="20462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702302" y="2048256"/>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02302" y="2048256"/>
            <a:ext cx="310896" cy="310896"/>
          </a:xfrm>
          <a:prstGeom prst="rect">
            <a:avLst/>
          </a:prstGeom>
          <a:noFill/>
        </p:spPr>
        <p:txBody>
          <a:bodyPr wrap="square" anchor="ctr" lIns="0" rIns="0" tIns="0" bIns="0">
            <a:noAutofit/>
          </a:bodyPr>
          <a:lstStyle/>
          <a:p>
            <a:pPr algn="ctr"/>
            <a:r>
              <a:rPr sz="1100" b="1" i="0">
                <a:solidFill>
                  <a:srgbClr val="FFFFFF"/>
                </a:solidFill>
                <a:latin typeface="Arial"/>
              </a:rPr>
              <a:t>③</a:t>
            </a:r>
          </a:p>
        </p:txBody>
      </p:sp>
      <p:sp>
        <p:nvSpPr>
          <p:cNvPr id="26" name="TextBox 25"/>
          <p:cNvSpPr txBox="1"/>
          <p:nvPr/>
        </p:nvSpPr>
        <p:spPr>
          <a:xfrm>
            <a:off x="5086350" y="2048256"/>
            <a:ext cx="1137285" cy="310896"/>
          </a:xfrm>
          <a:prstGeom prst="rect">
            <a:avLst/>
          </a:prstGeom>
          <a:noFill/>
        </p:spPr>
        <p:txBody>
          <a:bodyPr wrap="square" anchor="ctr" lIns="0" rIns="0" tIns="0" bIns="0">
            <a:noAutofit/>
          </a:bodyPr>
          <a:lstStyle/>
          <a:p>
            <a:pPr algn="l">
              <a:lnSpc>
                <a:spcPct val="100000"/>
              </a:lnSpc>
            </a:pPr>
            <a:r>
              <a:rPr sz="800" b="1" i="0">
                <a:solidFill>
                  <a:srgbClr val="0E2356"/>
                </a:solidFill>
                <a:latin typeface="Outfit"/>
              </a:rPr>
              <a:t>Implémentation itérative</a:t>
            </a:r>
          </a:p>
        </p:txBody>
      </p:sp>
      <p:sp>
        <p:nvSpPr>
          <p:cNvPr id="27" name="Rectangle 26"/>
          <p:cNvSpPr/>
          <p:nvPr/>
        </p:nvSpPr>
        <p:spPr>
          <a:xfrm>
            <a:off x="4702302" y="2450592"/>
            <a:ext cx="152133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02302" y="2523744"/>
            <a:ext cx="1521333" cy="201168"/>
          </a:xfrm>
          <a:prstGeom prst="rect">
            <a:avLst/>
          </a:prstGeom>
          <a:noFill/>
        </p:spPr>
        <p:txBody>
          <a:bodyPr wrap="square" anchor="t" lIns="0" rIns="0" tIns="0" bIns="0">
            <a:noAutofit/>
          </a:bodyPr>
          <a:lstStyle/>
          <a:p>
            <a:pPr algn="l"/>
            <a:r>
              <a:rPr sz="700" b="0" i="1">
                <a:solidFill>
                  <a:srgbClr val="586586"/>
                </a:solidFill>
                <a:latin typeface="Outfit"/>
              </a:rPr>
              <a:t>Instance de comitologie</a:t>
            </a:r>
          </a:p>
        </p:txBody>
      </p:sp>
      <p:sp>
        <p:nvSpPr>
          <p:cNvPr id="29" name="TextBox 28"/>
          <p:cNvSpPr txBox="1"/>
          <p:nvPr/>
        </p:nvSpPr>
        <p:spPr>
          <a:xfrm>
            <a:off x="4702302" y="2761488"/>
            <a:ext cx="1521333" cy="502920"/>
          </a:xfrm>
          <a:prstGeom prst="rect">
            <a:avLst/>
          </a:prstGeom>
          <a:noFill/>
        </p:spPr>
        <p:txBody>
          <a:bodyPr wrap="square" anchor="t" lIns="0" rIns="0" tIns="0" bIns="0">
            <a:noAutofit/>
          </a:bodyPr>
          <a:lstStyle/>
          <a:p>
            <a:pPr algn="l"/>
            <a:r>
              <a:rPr sz="700" b="1" i="0">
                <a:solidFill>
                  <a:srgbClr val="0E2356"/>
                </a:solidFill>
                <a:latin typeface="Outfit"/>
              </a:rPr>
              <a:t>LIVRABLES</a:t>
            </a:r>
          </a:p>
          <a:p>
            <a:pPr algn="l">
              <a:lnSpc>
                <a:spcPct val="110000"/>
              </a:lnSpc>
              <a:spcBef>
                <a:spcPts val="200"/>
              </a:spcBef>
            </a:pPr>
            <a:r>
              <a:rPr sz="800" b="1" i="0">
                <a:solidFill>
                  <a:srgbClr val="0E2356"/>
                </a:solidFill>
                <a:latin typeface="Outfit"/>
              </a:rPr>
              <a:t>Deck de comité de pilotage</a:t>
            </a:r>
          </a:p>
        </p:txBody>
      </p:sp>
      <p:sp>
        <p:nvSpPr>
          <p:cNvPr id="30" name="TextBox 29"/>
          <p:cNvSpPr txBox="1"/>
          <p:nvPr/>
        </p:nvSpPr>
        <p:spPr>
          <a:xfrm>
            <a:off x="4702302" y="3346704"/>
            <a:ext cx="1521333" cy="510032"/>
          </a:xfrm>
          <a:prstGeom prst="rect">
            <a:avLst/>
          </a:prstGeom>
          <a:noFill/>
        </p:spPr>
        <p:txBody>
          <a:bodyPr wrap="square" anchor="t" lIns="0" rIns="0" tIns="0" bIns="0">
            <a:noAutofit/>
          </a:bodyPr>
          <a:lstStyle/>
          <a:p>
            <a:pPr algn="l">
              <a:lnSpc>
                <a:spcPct val="125000"/>
              </a:lnSpc>
            </a:pPr>
            <a:r>
              <a:rPr sz="700" b="0" i="0">
                <a:solidFill>
                  <a:srgbClr val="586586"/>
                </a:solidFill>
                <a:latin typeface="Outfit"/>
              </a:rPr>
              <a:t>(nouveau, périodique) Avancement backlog, delta KPIs, risques actifs</a:t>
            </a:r>
          </a:p>
        </p:txBody>
      </p:sp>
      <p:sp>
        <p:nvSpPr>
          <p:cNvPr id="31" name="Rounded Rectangle 30"/>
          <p:cNvSpPr/>
          <p:nvPr/>
        </p:nvSpPr>
        <p:spPr>
          <a:xfrm>
            <a:off x="6552819" y="1920240"/>
            <a:ext cx="1813941" cy="2046224"/>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552819" y="1920240"/>
            <a:ext cx="64008" cy="20462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699123" y="2048256"/>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99123" y="2048256"/>
            <a:ext cx="310896" cy="310896"/>
          </a:xfrm>
          <a:prstGeom prst="rect">
            <a:avLst/>
          </a:prstGeom>
          <a:noFill/>
        </p:spPr>
        <p:txBody>
          <a:bodyPr wrap="square" anchor="ctr" lIns="0" rIns="0" tIns="0" bIns="0">
            <a:noAutofit/>
          </a:bodyPr>
          <a:lstStyle/>
          <a:p>
            <a:pPr algn="ctr"/>
            <a:r>
              <a:rPr sz="1100" b="0" i="0">
                <a:solidFill>
                  <a:srgbClr val="FFFFFF"/>
                </a:solidFill>
                <a:latin typeface="Arial"/>
              </a:rPr>
              <a:t>⟲</a:t>
            </a:r>
          </a:p>
        </p:txBody>
      </p:sp>
      <p:sp>
        <p:nvSpPr>
          <p:cNvPr id="35" name="TextBox 34"/>
          <p:cNvSpPr txBox="1"/>
          <p:nvPr/>
        </p:nvSpPr>
        <p:spPr>
          <a:xfrm>
            <a:off x="7083171" y="2048256"/>
            <a:ext cx="1137285" cy="310896"/>
          </a:xfrm>
          <a:prstGeom prst="rect">
            <a:avLst/>
          </a:prstGeom>
          <a:noFill/>
        </p:spPr>
        <p:txBody>
          <a:bodyPr wrap="square" anchor="ctr" lIns="0" rIns="0" tIns="0" bIns="0">
            <a:noAutofit/>
          </a:bodyPr>
          <a:lstStyle/>
          <a:p>
            <a:pPr algn="l">
              <a:lnSpc>
                <a:spcPct val="100000"/>
              </a:lnSpc>
            </a:pPr>
            <a:r>
              <a:rPr sz="800" b="1" i="0">
                <a:solidFill>
                  <a:srgbClr val="0E2356"/>
                </a:solidFill>
                <a:latin typeface="Outfit"/>
              </a:rPr>
              <a:t>Boucle de réévaluation</a:t>
            </a:r>
          </a:p>
        </p:txBody>
      </p:sp>
      <p:sp>
        <p:nvSpPr>
          <p:cNvPr id="36" name="Rectangle 35"/>
          <p:cNvSpPr/>
          <p:nvPr/>
        </p:nvSpPr>
        <p:spPr>
          <a:xfrm>
            <a:off x="6699123" y="2450592"/>
            <a:ext cx="1521333"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699123" y="2523744"/>
            <a:ext cx="1521333" cy="201168"/>
          </a:xfrm>
          <a:prstGeom prst="rect">
            <a:avLst/>
          </a:prstGeom>
          <a:noFill/>
        </p:spPr>
        <p:txBody>
          <a:bodyPr wrap="square" anchor="t" lIns="0" rIns="0" tIns="0" bIns="0">
            <a:noAutofit/>
          </a:bodyPr>
          <a:lstStyle/>
          <a:p>
            <a:pPr algn="l"/>
            <a:r>
              <a:rPr sz="700" b="0" i="1">
                <a:solidFill>
                  <a:srgbClr val="586586"/>
                </a:solidFill>
                <a:latin typeface="Outfit"/>
              </a:rPr>
              <a:t>Sponsor</a:t>
            </a:r>
          </a:p>
        </p:txBody>
      </p:sp>
      <p:sp>
        <p:nvSpPr>
          <p:cNvPr id="38" name="TextBox 37"/>
          <p:cNvSpPr txBox="1"/>
          <p:nvPr/>
        </p:nvSpPr>
        <p:spPr>
          <a:xfrm>
            <a:off x="6699123" y="2761488"/>
            <a:ext cx="1521333" cy="502920"/>
          </a:xfrm>
          <a:prstGeom prst="rect">
            <a:avLst/>
          </a:prstGeom>
          <a:noFill/>
        </p:spPr>
        <p:txBody>
          <a:bodyPr wrap="square" anchor="t" lIns="0" rIns="0" tIns="0" bIns="0">
            <a:noAutofit/>
          </a:bodyPr>
          <a:lstStyle/>
          <a:p>
            <a:pPr algn="l"/>
            <a:r>
              <a:rPr sz="700" b="1" i="0">
                <a:solidFill>
                  <a:srgbClr val="0E2356"/>
                </a:solidFill>
                <a:latin typeface="Outfit"/>
              </a:rPr>
              <a:t>LIVRABLES</a:t>
            </a:r>
          </a:p>
          <a:p>
            <a:pPr algn="l">
              <a:lnSpc>
                <a:spcPct val="110000"/>
              </a:lnSpc>
              <a:spcBef>
                <a:spcPts val="200"/>
              </a:spcBef>
            </a:pPr>
            <a:r>
              <a:rPr sz="800" b="1" i="0">
                <a:solidFill>
                  <a:srgbClr val="0E2356"/>
                </a:solidFill>
                <a:latin typeface="Outfit"/>
              </a:rPr>
              <a:t>Deck de bilan / ré-évaluation</a:t>
            </a:r>
          </a:p>
        </p:txBody>
      </p:sp>
      <p:sp>
        <p:nvSpPr>
          <p:cNvPr id="39" name="TextBox 38"/>
          <p:cNvSpPr txBox="1"/>
          <p:nvPr/>
        </p:nvSpPr>
        <p:spPr>
          <a:xfrm>
            <a:off x="6699123" y="3346704"/>
            <a:ext cx="1521333" cy="510032"/>
          </a:xfrm>
          <a:prstGeom prst="rect">
            <a:avLst/>
          </a:prstGeom>
          <a:noFill/>
        </p:spPr>
        <p:txBody>
          <a:bodyPr wrap="square" anchor="t" lIns="0" rIns="0" tIns="0" bIns="0">
            <a:noAutofit/>
          </a:bodyPr>
          <a:lstStyle/>
          <a:p>
            <a:pPr algn="l">
              <a:lnSpc>
                <a:spcPct val="125000"/>
              </a:lnSpc>
            </a:pPr>
            <a:r>
              <a:rPr sz="700" b="0" i="0">
                <a:solidFill>
                  <a:srgbClr val="586586"/>
                </a:solidFill>
                <a:latin typeface="Outfit"/>
              </a:rPr>
              <a:t>(nouveau) Delta maturité T0→T+6-12, REX consolidé</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Outillage IAP</a:t>
            </a:r>
          </a:p>
          <a:p>
            <a:r>
              <a:rPr sz="1050" i="1">
                <a:solidFill>
                  <a:srgbClr val="586586"/>
                </a:solidFill>
                <a:latin typeface="Outfit"/>
              </a:rPr>
              <a:t>Ce que le module met dans les mains du consultant : l'architecture en contexte client, trois niveaux d'ambition, le lien avec le SI.</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09</a:t>
            </a:r>
          </a:p>
        </p:txBody>
      </p:sp>
      <p:pic>
        <p:nvPicPr>
          <p:cNvPr id="4" name="Picture 3" descr="tropical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OUTILLAGE IAP   ·   </a:t>
            </a:r>
            <a:r>
              <a:rPr b="1" sz="1200">
                <a:solidFill>
                  <a:srgbClr val="0E2356"/>
                </a:solidFill>
                <a:latin typeface="Outfit"/>
              </a:rPr>
              <a:t>IAP tourne sur le poste du consultant — seuls les agents retenus passent chez le client</a:t>
            </a:r>
          </a:p>
        </p:txBody>
      </p:sp>
      <p:sp>
        <p:nvSpPr>
          <p:cNvPr id="3" name="TextBox 2"/>
          <p:cNvSpPr txBox="1"/>
          <p:nvPr/>
        </p:nvSpPr>
        <p:spPr>
          <a:xfrm>
            <a:off x="562356" y="1051560"/>
            <a:ext cx="7804404" cy="274320"/>
          </a:xfrm>
          <a:prstGeom prst="rect">
            <a:avLst/>
          </a:prstGeom>
          <a:noFill/>
        </p:spPr>
        <p:txBody>
          <a:bodyPr wrap="square" anchor="t" lIns="0" rIns="0" tIns="0" bIns="0">
            <a:noAutofit/>
          </a:bodyPr>
          <a:lstStyle/>
          <a:p>
            <a:pPr algn="l">
              <a:lnSpc>
                <a:spcPct val="115000"/>
              </a:lnSpc>
            </a:pPr>
            <a:r>
              <a:rPr sz="800" b="0" i="1">
                <a:solidFill>
                  <a:srgbClr val="586586"/>
                </a:solidFill>
                <a:latin typeface="Outfit"/>
              </a:rPr>
              <a:t>Rien ne s'installe côté client par défaut : les interviews et les exports entrent, les livrables sortent — le déploiement d'agents est une décision de ②/③, pas un prérequis.</a:t>
            </a:r>
          </a:p>
        </p:txBody>
      </p:sp>
      <p:sp>
        <p:nvSpPr>
          <p:cNvPr id="4" name="Rounded Rectangle 3"/>
          <p:cNvSpPr/>
          <p:nvPr/>
        </p:nvSpPr>
        <p:spPr>
          <a:xfrm>
            <a:off x="562356" y="1417319"/>
            <a:ext cx="3017520" cy="2651760"/>
          </a:xfrm>
          <a:prstGeom prst="roundRect">
            <a:avLst>
              <a:gd name="adj" fmla="val 6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8660" y="1527048"/>
            <a:ext cx="2724912" cy="384048"/>
          </a:xfrm>
          <a:prstGeom prst="rect">
            <a:avLst/>
          </a:prstGeom>
          <a:noFill/>
        </p:spPr>
        <p:txBody>
          <a:bodyPr wrap="square" anchor="t" lIns="0" rIns="0" tIns="0" bIns="0">
            <a:noAutofit/>
          </a:bodyPr>
          <a:lstStyle/>
          <a:p>
            <a:pPr algn="l"/>
            <a:r>
              <a:rPr sz="800" b="1" i="0">
                <a:solidFill>
                  <a:srgbClr val="0E2356"/>
                </a:solidFill>
                <a:latin typeface="Outfit"/>
              </a:rPr>
              <a:t>POSTE DU CONSULTANT</a:t>
            </a:r>
          </a:p>
          <a:p>
            <a:pPr algn="l">
              <a:spcBef>
                <a:spcPts val="200"/>
              </a:spcBef>
            </a:pPr>
            <a:r>
              <a:rPr sz="700" b="0" i="0">
                <a:solidFill>
                  <a:srgbClr val="586586"/>
                </a:solidFill>
                <a:latin typeface="Outfit"/>
              </a:rPr>
              <a:t>Le module IAP · 11 workflows outillés</a:t>
            </a:r>
          </a:p>
        </p:txBody>
      </p:sp>
      <p:sp>
        <p:nvSpPr>
          <p:cNvPr id="6" name="Rounded Rectangle 5"/>
          <p:cNvSpPr/>
          <p:nvPr/>
        </p:nvSpPr>
        <p:spPr>
          <a:xfrm>
            <a:off x="708660" y="1965960"/>
            <a:ext cx="1316736"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8660" y="1965960"/>
            <a:ext cx="1316736" cy="274320"/>
          </a:xfrm>
          <a:prstGeom prst="rect">
            <a:avLst/>
          </a:prstGeom>
          <a:noFill/>
        </p:spPr>
        <p:txBody>
          <a:bodyPr wrap="square" anchor="ctr" lIns="0" rIns="0" tIns="0" bIns="0">
            <a:noAutofit/>
          </a:bodyPr>
          <a:lstStyle/>
          <a:p>
            <a:pPr algn="ctr"/>
            <a:r>
              <a:rPr sz="650" b="1" i="0">
                <a:solidFill>
                  <a:srgbClr val="FFFFFF"/>
                </a:solidFill>
                <a:latin typeface="Outfit"/>
              </a:rPr>
              <a:t>COLLECTE</a:t>
            </a:r>
          </a:p>
        </p:txBody>
      </p:sp>
      <p:sp>
        <p:nvSpPr>
          <p:cNvPr id="8" name="Rounded Rectangle 7"/>
          <p:cNvSpPr/>
          <p:nvPr/>
        </p:nvSpPr>
        <p:spPr>
          <a:xfrm>
            <a:off x="2116836" y="1965960"/>
            <a:ext cx="1316736"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16836" y="1965960"/>
            <a:ext cx="1316736" cy="274320"/>
          </a:xfrm>
          <a:prstGeom prst="rect">
            <a:avLst/>
          </a:prstGeom>
          <a:noFill/>
        </p:spPr>
        <p:txBody>
          <a:bodyPr wrap="square" anchor="ctr" lIns="0" rIns="0" tIns="0" bIns="0">
            <a:noAutofit/>
          </a:bodyPr>
          <a:lstStyle/>
          <a:p>
            <a:pPr algn="ctr"/>
            <a:r>
              <a:rPr sz="650" b="1" i="0">
                <a:solidFill>
                  <a:srgbClr val="FFFFFF"/>
                </a:solidFill>
                <a:latin typeface="Outfit"/>
              </a:rPr>
              <a:t>DIAGNOSTIC</a:t>
            </a:r>
          </a:p>
        </p:txBody>
      </p:sp>
      <p:sp>
        <p:nvSpPr>
          <p:cNvPr id="10" name="Rounded Rectangle 9"/>
          <p:cNvSpPr/>
          <p:nvPr/>
        </p:nvSpPr>
        <p:spPr>
          <a:xfrm>
            <a:off x="708660" y="2313432"/>
            <a:ext cx="1316736"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8660" y="2313432"/>
            <a:ext cx="1316736" cy="274320"/>
          </a:xfrm>
          <a:prstGeom prst="rect">
            <a:avLst/>
          </a:prstGeom>
          <a:noFill/>
        </p:spPr>
        <p:txBody>
          <a:bodyPr wrap="square" anchor="ctr" lIns="0" rIns="0" tIns="0" bIns="0">
            <a:noAutofit/>
          </a:bodyPr>
          <a:lstStyle/>
          <a:p>
            <a:pPr algn="ctr"/>
            <a:r>
              <a:rPr sz="650" b="1" i="0">
                <a:solidFill>
                  <a:srgbClr val="FFFFFF"/>
                </a:solidFill>
                <a:latin typeface="Outfit"/>
              </a:rPr>
              <a:t>CONCEPTION</a:t>
            </a:r>
          </a:p>
        </p:txBody>
      </p:sp>
      <p:sp>
        <p:nvSpPr>
          <p:cNvPr id="12" name="Rounded Rectangle 11"/>
          <p:cNvSpPr/>
          <p:nvPr/>
        </p:nvSpPr>
        <p:spPr>
          <a:xfrm>
            <a:off x="2116836" y="2313432"/>
            <a:ext cx="1316736"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16836" y="2313432"/>
            <a:ext cx="1316736" cy="274320"/>
          </a:xfrm>
          <a:prstGeom prst="rect">
            <a:avLst/>
          </a:prstGeom>
          <a:noFill/>
        </p:spPr>
        <p:txBody>
          <a:bodyPr wrap="square" anchor="ctr" lIns="0" rIns="0" tIns="0" bIns="0">
            <a:noAutofit/>
          </a:bodyPr>
          <a:lstStyle/>
          <a:p>
            <a:pPr algn="ctr"/>
            <a:r>
              <a:rPr sz="650" b="1" i="0">
                <a:solidFill>
                  <a:srgbClr val="FFFFFF"/>
                </a:solidFill>
                <a:latin typeface="Outfit"/>
              </a:rPr>
              <a:t>RESTITUTION</a:t>
            </a:r>
          </a:p>
        </p:txBody>
      </p:sp>
      <p:sp>
        <p:nvSpPr>
          <p:cNvPr id="14" name="TextBox 13"/>
          <p:cNvSpPr txBox="1"/>
          <p:nvPr/>
        </p:nvSpPr>
        <p:spPr>
          <a:xfrm>
            <a:off x="708660" y="2679192"/>
            <a:ext cx="2724912" cy="365760"/>
          </a:xfrm>
          <a:prstGeom prst="rect">
            <a:avLst/>
          </a:prstGeom>
          <a:noFill/>
        </p:spPr>
        <p:txBody>
          <a:bodyPr wrap="square" anchor="t" lIns="0" rIns="0" tIns="0" bIns="0">
            <a:noAutofit/>
          </a:bodyPr>
          <a:lstStyle/>
          <a:p>
            <a:pPr algn="l">
              <a:lnSpc>
                <a:spcPct val="120000"/>
              </a:lnSpc>
            </a:pPr>
            <a:r>
              <a:rPr sz="650" b="0" i="1">
                <a:solidFill>
                  <a:srgbClr val="586586"/>
                </a:solidFill>
                <a:latin typeface="Outfit"/>
              </a:rPr>
              <a:t>Mêmes étapes que le schéma de fonctionnement (chapitre Démarche) — fonctionne aussi sans IA externe si le gate l'impose (mode M0).</a:t>
            </a:r>
          </a:p>
        </p:txBody>
      </p:sp>
      <p:sp>
        <p:nvSpPr>
          <p:cNvPr id="15" name="Rounded Rectangle 14"/>
          <p:cNvSpPr/>
          <p:nvPr/>
        </p:nvSpPr>
        <p:spPr>
          <a:xfrm>
            <a:off x="672084" y="3392423"/>
            <a:ext cx="2798064" cy="566928"/>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1812" y="3392423"/>
            <a:ext cx="2578608" cy="566928"/>
          </a:xfrm>
          <a:prstGeom prst="rect">
            <a:avLst/>
          </a:prstGeom>
          <a:noFill/>
        </p:spPr>
        <p:txBody>
          <a:bodyPr wrap="square" anchor="ctr" lIns="0" rIns="0" tIns="0" bIns="0">
            <a:noAutofit/>
          </a:bodyPr>
          <a:lstStyle/>
          <a:p>
            <a:pPr algn="l"/>
            <a:r>
              <a:rPr sz="700" b="1" i="0">
                <a:solidFill>
                  <a:srgbClr val="FFFFFF"/>
                </a:solidFill>
                <a:latin typeface="Outfit"/>
              </a:rPr>
              <a:t>GATE CONFIDENTIALITÉ — BLOQUANT</a:t>
            </a:r>
          </a:p>
          <a:p>
            <a:pPr algn="l">
              <a:lnSpc>
                <a:spcPct val="115000"/>
              </a:lnSpc>
              <a:spcBef>
                <a:spcPts val="200"/>
              </a:spcBef>
            </a:pPr>
            <a:r>
              <a:rPr sz="650" b="0" i="0">
                <a:solidFill>
                  <a:srgbClr val="C7CBE0"/>
                </a:solidFill>
                <a:latin typeface="Outfit"/>
              </a:rPr>
              <a:t>Classe la donnée (D0-D4) avant tout usage IA sur donnée client</a:t>
            </a:r>
          </a:p>
        </p:txBody>
      </p:sp>
      <p:sp>
        <p:nvSpPr>
          <p:cNvPr id="17" name="TextBox 16"/>
          <p:cNvSpPr txBox="1"/>
          <p:nvPr/>
        </p:nvSpPr>
        <p:spPr>
          <a:xfrm>
            <a:off x="3689604" y="1417319"/>
            <a:ext cx="1188720" cy="274320"/>
          </a:xfrm>
          <a:prstGeom prst="rect">
            <a:avLst/>
          </a:prstGeom>
          <a:noFill/>
        </p:spPr>
        <p:txBody>
          <a:bodyPr wrap="square" anchor="ctr" lIns="0" rIns="0" tIns="0" bIns="0">
            <a:noAutofit/>
          </a:bodyPr>
          <a:lstStyle/>
          <a:p>
            <a:pPr algn="ctr"/>
            <a:r>
              <a:rPr sz="1600" b="1" i="0">
                <a:solidFill>
                  <a:srgbClr val="0E2356"/>
                </a:solidFill>
                <a:latin typeface="Outfit"/>
              </a:rPr>
              <a:t>←</a:t>
            </a:r>
          </a:p>
        </p:txBody>
      </p:sp>
      <p:sp>
        <p:nvSpPr>
          <p:cNvPr id="18" name="TextBox 17"/>
          <p:cNvSpPr txBox="1"/>
          <p:nvPr/>
        </p:nvSpPr>
        <p:spPr>
          <a:xfrm>
            <a:off x="3634740" y="1691639"/>
            <a:ext cx="1298448" cy="384048"/>
          </a:xfrm>
          <a:prstGeom prst="rect">
            <a:avLst/>
          </a:prstGeom>
          <a:noFill/>
        </p:spPr>
        <p:txBody>
          <a:bodyPr wrap="square" anchor="t" lIns="0" rIns="0" tIns="0" bIns="0">
            <a:noAutofit/>
          </a:bodyPr>
          <a:lstStyle/>
          <a:p>
            <a:pPr algn="ctr">
              <a:lnSpc>
                <a:spcPct val="110000"/>
              </a:lnSpc>
            </a:pPr>
            <a:r>
              <a:rPr sz="650" b="1" i="0">
                <a:solidFill>
                  <a:srgbClr val="0E2356"/>
                </a:solidFill>
                <a:latin typeface="Outfit"/>
              </a:rPr>
              <a:t>COLLECTE ENTRANTE</a:t>
            </a:r>
          </a:p>
          <a:p>
            <a:pPr algn="ctr">
              <a:lnSpc>
                <a:spcPct val="110000"/>
              </a:lnSpc>
              <a:spcBef>
                <a:spcPts val="100"/>
              </a:spcBef>
            </a:pPr>
            <a:r>
              <a:rPr sz="600" b="0" i="0">
                <a:solidFill>
                  <a:srgbClr val="586586"/>
                </a:solidFill>
                <a:latin typeface="Outfit"/>
              </a:rPr>
              <a:t>interviews · exports d'outils</a:t>
            </a:r>
          </a:p>
        </p:txBody>
      </p:sp>
      <p:sp>
        <p:nvSpPr>
          <p:cNvPr id="19" name="TextBox 18"/>
          <p:cNvSpPr txBox="1"/>
          <p:nvPr/>
        </p:nvSpPr>
        <p:spPr>
          <a:xfrm>
            <a:off x="3689604" y="2414015"/>
            <a:ext cx="1188720" cy="274320"/>
          </a:xfrm>
          <a:prstGeom prst="rect">
            <a:avLst/>
          </a:prstGeom>
          <a:noFill/>
        </p:spPr>
        <p:txBody>
          <a:bodyPr wrap="square" anchor="ctr" lIns="0" rIns="0" tIns="0" bIns="0">
            <a:noAutofit/>
          </a:bodyPr>
          <a:lstStyle/>
          <a:p>
            <a:pPr algn="ctr"/>
            <a:r>
              <a:rPr sz="1600" b="1" i="0">
                <a:solidFill>
                  <a:srgbClr val="0E2356"/>
                </a:solidFill>
                <a:latin typeface="Outfit"/>
              </a:rPr>
              <a:t>→</a:t>
            </a:r>
          </a:p>
        </p:txBody>
      </p:sp>
      <p:sp>
        <p:nvSpPr>
          <p:cNvPr id="20" name="TextBox 19"/>
          <p:cNvSpPr txBox="1"/>
          <p:nvPr/>
        </p:nvSpPr>
        <p:spPr>
          <a:xfrm>
            <a:off x="3634740" y="2688335"/>
            <a:ext cx="1298448" cy="384048"/>
          </a:xfrm>
          <a:prstGeom prst="rect">
            <a:avLst/>
          </a:prstGeom>
          <a:noFill/>
        </p:spPr>
        <p:txBody>
          <a:bodyPr wrap="square" anchor="t" lIns="0" rIns="0" tIns="0" bIns="0">
            <a:noAutofit/>
          </a:bodyPr>
          <a:lstStyle/>
          <a:p>
            <a:pPr algn="ctr">
              <a:lnSpc>
                <a:spcPct val="110000"/>
              </a:lnSpc>
            </a:pPr>
            <a:r>
              <a:rPr sz="650" b="1" i="0">
                <a:solidFill>
                  <a:srgbClr val="0E2356"/>
                </a:solidFill>
                <a:latin typeface="Outfit"/>
              </a:rPr>
              <a:t>LIVRABLES SORTANTS</a:t>
            </a:r>
          </a:p>
          <a:p>
            <a:pPr algn="ctr">
              <a:lnSpc>
                <a:spcPct val="110000"/>
              </a:lnSpc>
              <a:spcBef>
                <a:spcPts val="100"/>
              </a:spcBef>
            </a:pPr>
            <a:r>
              <a:rPr sz="600" b="0" i="0">
                <a:solidFill>
                  <a:srgbClr val="586586"/>
                </a:solidFill>
                <a:latin typeface="Outfit"/>
              </a:rPr>
              <a:t>deck exécutif · export markdown</a:t>
            </a:r>
          </a:p>
        </p:txBody>
      </p:sp>
      <p:sp>
        <p:nvSpPr>
          <p:cNvPr id="21" name="TextBox 20"/>
          <p:cNvSpPr txBox="1"/>
          <p:nvPr/>
        </p:nvSpPr>
        <p:spPr>
          <a:xfrm>
            <a:off x="3689604" y="3410711"/>
            <a:ext cx="1188720" cy="274320"/>
          </a:xfrm>
          <a:prstGeom prst="rect">
            <a:avLst/>
          </a:prstGeom>
          <a:noFill/>
        </p:spPr>
        <p:txBody>
          <a:bodyPr wrap="square" anchor="ctr" lIns="0" rIns="0" tIns="0" bIns="0">
            <a:noAutofit/>
          </a:bodyPr>
          <a:lstStyle/>
          <a:p>
            <a:pPr algn="ctr"/>
            <a:r>
              <a:rPr sz="1600" b="1" i="0">
                <a:solidFill>
                  <a:srgbClr val="0E2356"/>
                </a:solidFill>
                <a:latin typeface="Outfit"/>
              </a:rPr>
              <a:t>→</a:t>
            </a:r>
          </a:p>
        </p:txBody>
      </p:sp>
      <p:sp>
        <p:nvSpPr>
          <p:cNvPr id="22" name="TextBox 21"/>
          <p:cNvSpPr txBox="1"/>
          <p:nvPr/>
        </p:nvSpPr>
        <p:spPr>
          <a:xfrm>
            <a:off x="3634740" y="3685031"/>
            <a:ext cx="1298448" cy="384048"/>
          </a:xfrm>
          <a:prstGeom prst="rect">
            <a:avLst/>
          </a:prstGeom>
          <a:noFill/>
        </p:spPr>
        <p:txBody>
          <a:bodyPr wrap="square" anchor="t" lIns="0" rIns="0" tIns="0" bIns="0">
            <a:noAutofit/>
          </a:bodyPr>
          <a:lstStyle/>
          <a:p>
            <a:pPr algn="ctr">
              <a:lnSpc>
                <a:spcPct val="110000"/>
              </a:lnSpc>
            </a:pPr>
            <a:r>
              <a:rPr sz="650" b="1" i="0">
                <a:solidFill>
                  <a:srgbClr val="0E2356"/>
                </a:solidFill>
                <a:latin typeface="Outfit"/>
              </a:rPr>
              <a:t>AGENTS RETENUS (②/③)</a:t>
            </a:r>
          </a:p>
          <a:p>
            <a:pPr algn="ctr">
              <a:lnSpc>
                <a:spcPct val="110000"/>
              </a:lnSpc>
              <a:spcBef>
                <a:spcPts val="100"/>
              </a:spcBef>
            </a:pPr>
            <a:r>
              <a:rPr sz="600" b="0" i="0">
                <a:solidFill>
                  <a:srgbClr val="586586"/>
                </a:solidFill>
                <a:latin typeface="Outfit"/>
              </a:rPr>
              <a:t>supervisés puis délégués</a:t>
            </a:r>
          </a:p>
        </p:txBody>
      </p:sp>
      <p:sp>
        <p:nvSpPr>
          <p:cNvPr id="23" name="Rounded Rectangle 22"/>
          <p:cNvSpPr/>
          <p:nvPr/>
        </p:nvSpPr>
        <p:spPr>
          <a:xfrm>
            <a:off x="4988052" y="1417319"/>
            <a:ext cx="3378708" cy="2651760"/>
          </a:xfrm>
          <a:prstGeom prst="roundRect">
            <a:avLst>
              <a:gd name="adj" fmla="val 6000"/>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34356" y="1527048"/>
            <a:ext cx="3086100" cy="219456"/>
          </a:xfrm>
          <a:prstGeom prst="rect">
            <a:avLst/>
          </a:prstGeom>
          <a:noFill/>
        </p:spPr>
        <p:txBody>
          <a:bodyPr wrap="square" anchor="t" lIns="0" rIns="0" tIns="0" bIns="0">
            <a:noAutofit/>
          </a:bodyPr>
          <a:lstStyle/>
          <a:p>
            <a:pPr algn="l"/>
            <a:r>
              <a:rPr sz="800" b="1" i="0">
                <a:solidFill>
                  <a:srgbClr val="0E2356"/>
                </a:solidFill>
                <a:latin typeface="Outfit"/>
              </a:rPr>
              <a:t>CONTEXTE CLIENT</a:t>
            </a:r>
          </a:p>
        </p:txBody>
      </p:sp>
      <p:sp>
        <p:nvSpPr>
          <p:cNvPr id="25" name="Rounded Rectangle 24"/>
          <p:cNvSpPr/>
          <p:nvPr/>
        </p:nvSpPr>
        <p:spPr>
          <a:xfrm>
            <a:off x="5134356" y="1801367"/>
            <a:ext cx="3086100" cy="50292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44084" y="1801367"/>
            <a:ext cx="2866644" cy="502920"/>
          </a:xfrm>
          <a:prstGeom prst="rect">
            <a:avLst/>
          </a:prstGeom>
          <a:noFill/>
        </p:spPr>
        <p:txBody>
          <a:bodyPr wrap="square" anchor="ctr" lIns="0" rIns="0" tIns="0" bIns="0">
            <a:noAutofit/>
          </a:bodyPr>
          <a:lstStyle/>
          <a:p>
            <a:pPr algn="l"/>
            <a:r>
              <a:rPr sz="700" b="1" i="0">
                <a:solidFill>
                  <a:srgbClr val="0E2356"/>
                </a:solidFill>
                <a:latin typeface="Outfit"/>
              </a:rPr>
              <a:t>SPONSOR &amp; ÉQUIPES INTERVIEWÉES</a:t>
            </a:r>
          </a:p>
          <a:p>
            <a:pPr algn="l">
              <a:lnSpc>
                <a:spcPct val="115000"/>
              </a:lnSpc>
              <a:spcBef>
                <a:spcPts val="100"/>
              </a:spcBef>
            </a:pPr>
            <a:r>
              <a:rPr sz="650" b="0" i="0">
                <a:solidFill>
                  <a:srgbClr val="586586"/>
                </a:solidFill>
                <a:latin typeface="Outfit"/>
              </a:rPr>
              <a:t>les voix du diagnostic — interviews par persona</a:t>
            </a:r>
          </a:p>
        </p:txBody>
      </p:sp>
      <p:sp>
        <p:nvSpPr>
          <p:cNvPr id="27" name="Rounded Rectangle 26"/>
          <p:cNvSpPr/>
          <p:nvPr/>
        </p:nvSpPr>
        <p:spPr>
          <a:xfrm>
            <a:off x="5134356" y="2395727"/>
            <a:ext cx="3086100" cy="658368"/>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244084" y="2395727"/>
            <a:ext cx="2866644" cy="658368"/>
          </a:xfrm>
          <a:prstGeom prst="rect">
            <a:avLst/>
          </a:prstGeom>
          <a:noFill/>
        </p:spPr>
        <p:txBody>
          <a:bodyPr wrap="square" anchor="ctr" lIns="0" rIns="0" tIns="0" bIns="0">
            <a:noAutofit/>
          </a:bodyPr>
          <a:lstStyle/>
          <a:p>
            <a:pPr algn="l"/>
            <a:r>
              <a:rPr sz="700" b="1" i="0">
                <a:solidFill>
                  <a:srgbClr val="0E2356"/>
                </a:solidFill>
                <a:latin typeface="Outfit"/>
              </a:rPr>
              <a:t>SI CLIENT</a:t>
            </a:r>
          </a:p>
          <a:p>
            <a:pPr algn="l">
              <a:lnSpc>
                <a:spcPct val="115000"/>
              </a:lnSpc>
              <a:spcBef>
                <a:spcPts val="100"/>
              </a:spcBef>
            </a:pPr>
            <a:r>
              <a:rPr sz="650" b="0" i="0">
                <a:solidFill>
                  <a:srgbClr val="586586"/>
                </a:solidFill>
                <a:latin typeface="Outfit"/>
              </a:rPr>
              <a:t>ServiceNow · Jira · Confluence · Datadog · CMDB · FinOps — accès selon l'ambition A/B/C (slides suivantes)</a:t>
            </a:r>
          </a:p>
        </p:txBody>
      </p:sp>
      <p:sp>
        <p:nvSpPr>
          <p:cNvPr id="29" name="Rounded Rectangle 28"/>
          <p:cNvSpPr/>
          <p:nvPr/>
        </p:nvSpPr>
        <p:spPr>
          <a:xfrm>
            <a:off x="5134356" y="3163824"/>
            <a:ext cx="3086100" cy="777239"/>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244084" y="3163824"/>
            <a:ext cx="2866644" cy="777239"/>
          </a:xfrm>
          <a:prstGeom prst="rect">
            <a:avLst/>
          </a:prstGeom>
          <a:noFill/>
        </p:spPr>
        <p:txBody>
          <a:bodyPr wrap="square" anchor="ctr" lIns="0" rIns="0" tIns="0" bIns="0">
            <a:noAutofit/>
          </a:bodyPr>
          <a:lstStyle/>
          <a:p>
            <a:pPr algn="l"/>
            <a:r>
              <a:rPr sz="700" b="1" i="0">
                <a:solidFill>
                  <a:srgbClr val="FFFFFF"/>
                </a:solidFill>
                <a:latin typeface="Outfit"/>
              </a:rPr>
              <a:t>DÉPLOIEMENT AGENTIC CHEZ LE CLIENT</a:t>
            </a:r>
          </a:p>
          <a:p>
            <a:pPr algn="l">
              <a:lnSpc>
                <a:spcPct val="120000"/>
              </a:lnSpc>
              <a:spcBef>
                <a:spcPts val="200"/>
              </a:spcBef>
            </a:pPr>
            <a:r>
              <a:rPr sz="650" b="0" i="0">
                <a:solidFill>
                  <a:srgbClr val="CFD3DD"/>
                </a:solidFill>
                <a:latin typeface="Outfit"/>
              </a:rPr>
              <a:t>Les agents candidats retenus se déploient ici en ②/③ — supervisés puis délégués</a:t>
            </a:r>
          </a:p>
        </p:txBody>
      </p:sp>
      <p:sp>
        <p:nvSpPr>
          <p:cNvPr id="31" name="Rounded Rectangle 30"/>
          <p:cNvSpPr/>
          <p:nvPr/>
        </p:nvSpPr>
        <p:spPr>
          <a:xfrm>
            <a:off x="562356" y="4215383"/>
            <a:ext cx="7804404" cy="603504"/>
          </a:xfrm>
          <a:prstGeom prst="roundRect">
            <a:avLst>
              <a:gd name="adj" fmla="val 1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5236" y="4215383"/>
            <a:ext cx="7438644" cy="603504"/>
          </a:xfrm>
          <a:prstGeom prst="rect">
            <a:avLst/>
          </a:prstGeom>
          <a:noFill/>
        </p:spPr>
        <p:txBody>
          <a:bodyPr wrap="square" anchor="ctr" lIns="0" rIns="0" tIns="0" bIns="0">
            <a:noAutofit/>
          </a:bodyPr>
          <a:lstStyle/>
          <a:p>
            <a:pPr algn="l"/>
            <a:r>
              <a:rPr sz="700" b="1" i="0">
                <a:solidFill>
                  <a:srgbClr val="0E2356"/>
                </a:solidFill>
                <a:latin typeface="Outfit"/>
              </a:rPr>
              <a:t>QUATRE PROPOSITIONS DE DÉPLOIEMENT AGENTIC — DÉTAILLÉES AU CHAPITRE IA</a:t>
            </a:r>
          </a:p>
          <a:p>
            <a:pPr algn="l">
              <a:lnSpc>
                <a:spcPct val="120000"/>
              </a:lnSpc>
              <a:spcBef>
                <a:spcPts val="200"/>
              </a:spcBef>
            </a:pPr>
            <a:r>
              <a:rPr sz="700" b="0" i="0">
                <a:solidFill>
                  <a:srgbClr val="0E2356"/>
                </a:solidFill>
                <a:latin typeface="Outfit"/>
              </a:rPr>
              <a:t>Agent de triage RUN · veille FinOps · agent documentaire (RAG) · export markdown (qui porte la décision agentic/documentation) — chacune porte le badge « déploiement agentic chez le client ».</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550">
                <a:solidFill>
                  <a:srgbClr val="0E2356"/>
                </a:solidFill>
                <a:latin typeface="Outfit"/>
              </a:rPr>
              <a:t>OUTILLAGE IAP   ·   </a:t>
            </a:r>
            <a:r>
              <a:rPr b="1" sz="1550">
                <a:solidFill>
                  <a:srgbClr val="0E2356"/>
                </a:solidFill>
                <a:latin typeface="Outfit"/>
              </a:rPr>
              <a:t>Trois niveaux d'ambition, pas un spectre linéaire</a:t>
            </a:r>
          </a:p>
        </p:txBody>
      </p:sp>
      <p:sp>
        <p:nvSpPr>
          <p:cNvPr id="3" name="Rounded Rectangle 2"/>
          <p:cNvSpPr/>
          <p:nvPr/>
        </p:nvSpPr>
        <p:spPr>
          <a:xfrm>
            <a:off x="562356" y="1463039"/>
            <a:ext cx="2479548" cy="1686560"/>
          </a:xfrm>
          <a:prstGeom prst="roundRect">
            <a:avLst>
              <a:gd name="adj" fmla="val 6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2356" y="1463039"/>
            <a:ext cx="64008" cy="168656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5236" y="1600199"/>
            <a:ext cx="2113788" cy="320040"/>
          </a:xfrm>
          <a:prstGeom prst="rect">
            <a:avLst/>
          </a:prstGeom>
          <a:noFill/>
        </p:spPr>
        <p:txBody>
          <a:bodyPr wrap="square" anchor="t" lIns="0" rIns="0" tIns="0" bIns="0">
            <a:noAutofit/>
          </a:bodyPr>
          <a:lstStyle/>
          <a:p>
            <a:pPr algn="l"/>
            <a:r>
              <a:rPr sz="1050" b="1" i="0">
                <a:solidFill>
                  <a:srgbClr val="FFFFFF"/>
                </a:solidFill>
                <a:latin typeface="Outfit"/>
              </a:rPr>
              <a:t>A · Aide au coach</a:t>
            </a:r>
          </a:p>
        </p:txBody>
      </p:sp>
      <p:sp>
        <p:nvSpPr>
          <p:cNvPr id="6" name="TextBox 5"/>
          <p:cNvSpPr txBox="1"/>
          <p:nvPr/>
        </p:nvSpPr>
        <p:spPr>
          <a:xfrm>
            <a:off x="745236" y="1965960"/>
            <a:ext cx="2113788" cy="689864"/>
          </a:xfrm>
          <a:prstGeom prst="rect">
            <a:avLst/>
          </a:prstGeom>
          <a:noFill/>
        </p:spPr>
        <p:txBody>
          <a:bodyPr wrap="square" anchor="t" lIns="0" rIns="0" tIns="0" bIns="0">
            <a:noAutofit/>
          </a:bodyPr>
          <a:lstStyle/>
          <a:p>
            <a:pPr algn="l">
              <a:lnSpc>
                <a:spcPct val="125000"/>
              </a:lnSpc>
            </a:pPr>
            <a:r>
              <a:rPr sz="800" b="0" i="0">
                <a:solidFill>
                  <a:srgbClr val="E8EBF5"/>
                </a:solidFill>
                <a:latin typeface="Outfit"/>
              </a:rPr>
              <a:t>Génère un livrable à la demande — aucune initiative propre. Le consultant pilote à 100 %.</a:t>
            </a:r>
          </a:p>
        </p:txBody>
      </p:sp>
      <p:sp>
        <p:nvSpPr>
          <p:cNvPr id="7" name="TextBox 6"/>
          <p:cNvSpPr txBox="1"/>
          <p:nvPr/>
        </p:nvSpPr>
        <p:spPr>
          <a:xfrm>
            <a:off x="745236" y="2765552"/>
            <a:ext cx="2113788" cy="274320"/>
          </a:xfrm>
          <a:prstGeom prst="rect">
            <a:avLst/>
          </a:prstGeom>
          <a:noFill/>
        </p:spPr>
        <p:txBody>
          <a:bodyPr wrap="square" anchor="t" lIns="0" rIns="0" tIns="0" bIns="0">
            <a:noAutofit/>
          </a:bodyPr>
          <a:lstStyle/>
          <a:p>
            <a:pPr algn="l"/>
            <a:r>
              <a:rPr sz="800" b="1" i="0">
                <a:solidFill>
                  <a:srgbClr val="FFFFFF"/>
                </a:solidFill>
                <a:latin typeface="Outfit"/>
              </a:rPr>
              <a:t>État actuel du cadrage (MVP0–MVP5)</a:t>
            </a:r>
          </a:p>
        </p:txBody>
      </p:sp>
      <p:sp>
        <p:nvSpPr>
          <p:cNvPr id="8" name="Rounded Rectangle 7"/>
          <p:cNvSpPr/>
          <p:nvPr/>
        </p:nvSpPr>
        <p:spPr>
          <a:xfrm>
            <a:off x="3224783" y="1463039"/>
            <a:ext cx="2479548" cy="168656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224783" y="1463039"/>
            <a:ext cx="64008" cy="168656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07664" y="1600199"/>
            <a:ext cx="2113788" cy="320040"/>
          </a:xfrm>
          <a:prstGeom prst="rect">
            <a:avLst/>
          </a:prstGeom>
          <a:noFill/>
        </p:spPr>
        <p:txBody>
          <a:bodyPr wrap="square" anchor="t" lIns="0" rIns="0" tIns="0" bIns="0">
            <a:noAutofit/>
          </a:bodyPr>
          <a:lstStyle/>
          <a:p>
            <a:pPr algn="l"/>
            <a:r>
              <a:rPr sz="1050" b="1" i="0">
                <a:solidFill>
                  <a:srgbClr val="0E2356"/>
                </a:solidFill>
                <a:latin typeface="Outfit"/>
              </a:rPr>
              <a:t>B · Assistant interactif</a:t>
            </a:r>
          </a:p>
        </p:txBody>
      </p:sp>
      <p:sp>
        <p:nvSpPr>
          <p:cNvPr id="11" name="TextBox 10"/>
          <p:cNvSpPr txBox="1"/>
          <p:nvPr/>
        </p:nvSpPr>
        <p:spPr>
          <a:xfrm>
            <a:off x="3407664" y="1965960"/>
            <a:ext cx="2113788" cy="689864"/>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Guide pas à pas, pose des questions de clarification, signale les incohérences.</a:t>
            </a:r>
          </a:p>
        </p:txBody>
      </p:sp>
      <p:sp>
        <p:nvSpPr>
          <p:cNvPr id="12" name="TextBox 11"/>
          <p:cNvSpPr txBox="1"/>
          <p:nvPr/>
        </p:nvSpPr>
        <p:spPr>
          <a:xfrm>
            <a:off x="3407664" y="2765552"/>
            <a:ext cx="2113788" cy="274320"/>
          </a:xfrm>
          <a:prstGeom prst="rect">
            <a:avLst/>
          </a:prstGeom>
          <a:noFill/>
        </p:spPr>
        <p:txBody>
          <a:bodyPr wrap="square" anchor="t" lIns="0" rIns="0" tIns="0" bIns="0">
            <a:noAutofit/>
          </a:bodyPr>
          <a:lstStyle/>
          <a:p>
            <a:pPr algn="l"/>
            <a:r>
              <a:rPr sz="800" b="1" i="0">
                <a:solidFill>
                  <a:srgbClr val="586586"/>
                </a:solidFill>
                <a:latin typeface="Outfit"/>
              </a:rPr>
              <a:t>Palier intermédiaire, entre MVP5 et MVP6</a:t>
            </a:r>
          </a:p>
        </p:txBody>
      </p:sp>
      <p:sp>
        <p:nvSpPr>
          <p:cNvPr id="13" name="Rounded Rectangle 12"/>
          <p:cNvSpPr/>
          <p:nvPr/>
        </p:nvSpPr>
        <p:spPr>
          <a:xfrm>
            <a:off x="5887212" y="1463039"/>
            <a:ext cx="2479548" cy="168656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887212" y="1463039"/>
            <a:ext cx="64008" cy="168656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70092" y="1600199"/>
            <a:ext cx="2113788" cy="320040"/>
          </a:xfrm>
          <a:prstGeom prst="rect">
            <a:avLst/>
          </a:prstGeom>
          <a:noFill/>
        </p:spPr>
        <p:txBody>
          <a:bodyPr wrap="square" anchor="t" lIns="0" rIns="0" tIns="0" bIns="0">
            <a:noAutofit/>
          </a:bodyPr>
          <a:lstStyle/>
          <a:p>
            <a:pPr algn="l"/>
            <a:r>
              <a:rPr sz="1050" b="1" i="0">
                <a:solidFill>
                  <a:srgbClr val="0E2356"/>
                </a:solidFill>
                <a:latin typeface="Outfit"/>
              </a:rPr>
              <a:t>C · Companion connecté</a:t>
            </a:r>
          </a:p>
        </p:txBody>
      </p:sp>
      <p:sp>
        <p:nvSpPr>
          <p:cNvPr id="16" name="TextBox 15"/>
          <p:cNvSpPr txBox="1"/>
          <p:nvPr/>
        </p:nvSpPr>
        <p:spPr>
          <a:xfrm>
            <a:off x="6070092" y="1965960"/>
            <a:ext cx="2113788" cy="689864"/>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Connecté en direct à ServiceNow/Jira/Confluence/Datadog/CMDB/FinOps : quasi autonome sur la collecte et la préparation — jamais sur l'arbitrage.</a:t>
            </a:r>
          </a:p>
        </p:txBody>
      </p:sp>
      <p:sp>
        <p:nvSpPr>
          <p:cNvPr id="17" name="TextBox 16"/>
          <p:cNvSpPr txBox="1"/>
          <p:nvPr/>
        </p:nvSpPr>
        <p:spPr>
          <a:xfrm>
            <a:off x="6070092" y="2765552"/>
            <a:ext cx="2113788" cy="274320"/>
          </a:xfrm>
          <a:prstGeom prst="rect">
            <a:avLst/>
          </a:prstGeom>
          <a:noFill/>
        </p:spPr>
        <p:txBody>
          <a:bodyPr wrap="square" anchor="t" lIns="0" rIns="0" tIns="0" bIns="0">
            <a:noAutofit/>
          </a:bodyPr>
          <a:lstStyle/>
          <a:p>
            <a:pPr algn="l"/>
            <a:r>
              <a:rPr sz="800" b="1" i="0">
                <a:solidFill>
                  <a:srgbClr val="586586"/>
                </a:solidFill>
                <a:latin typeface="Outfit"/>
              </a:rPr>
              <a:t>= MVP6, non engagé</a:t>
            </a:r>
          </a:p>
        </p:txBody>
      </p:sp>
      <p:sp>
        <p:nvSpPr>
          <p:cNvPr id="18" name="TextBox 17"/>
          <p:cNvSpPr txBox="1"/>
          <p:nvPr/>
        </p:nvSpPr>
        <p:spPr>
          <a:xfrm>
            <a:off x="562356" y="3314192"/>
            <a:ext cx="7804404" cy="1669287"/>
          </a:xfrm>
          <a:prstGeom prst="rect">
            <a:avLst/>
          </a:prstGeom>
          <a:noFill/>
        </p:spPr>
        <p:txBody>
          <a:bodyPr wrap="square" anchor="t" lIns="0" rIns="0" tIns="0" bIns="0">
            <a:noAutofit/>
          </a:bodyPr>
          <a:lstStyle/>
          <a:p>
            <a:pPr algn="l">
              <a:lnSpc>
                <a:spcPct val="130000"/>
              </a:lnSpc>
            </a:pPr>
            <a:r>
              <a:rPr sz="800" b="0" i="1">
                <a:solidFill>
                  <a:srgbClr val="586586"/>
                </a:solidFill>
                <a:latin typeface="Outfit"/>
              </a:rPr>
              <a:t>Monter de A à C n'est pas qu'une question de fonctionnalités : le niveau C suppose un accès direct aux données de production du client — risque sécurité/confidentialité d'un tout autre ordre. Un cabinet peut durablement rester au niveau A ou B par choix de gouvernance, pas seulement par contrainte technique transitoire. MVP0–6 = jalons de la roadmap de mise en œuvre ; MVP6, le « companion connecté », n'est pas engagé.</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OUTILLAGE IAP   ·   </a:t>
            </a:r>
            <a:r>
              <a:rPr b="1" sz="1200">
                <a:solidFill>
                  <a:srgbClr val="0E2356"/>
                </a:solidFill>
                <a:latin typeface="Outfit"/>
              </a:rPr>
              <a:t>Le lien avec le SI du client change avec le niveau d'ambition, pas la méthode</a:t>
            </a:r>
          </a:p>
        </p:txBody>
      </p:sp>
      <p:sp>
        <p:nvSpPr>
          <p:cNvPr id="3" name="Rounded Rectangle 2"/>
          <p:cNvSpPr/>
          <p:nvPr/>
        </p:nvSpPr>
        <p:spPr>
          <a:xfrm>
            <a:off x="562356" y="1425448"/>
            <a:ext cx="7804404" cy="847344"/>
          </a:xfrm>
          <a:prstGeom prst="roundRect">
            <a:avLst>
              <a:gd name="adj" fmla="val 8000"/>
            </a:avLst>
          </a:prstGeom>
          <a:solidFill>
            <a:srgbClr val="DB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2356" y="1425448"/>
            <a:ext cx="54864" cy="847344"/>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63524" y="1657096"/>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3524" y="1657096"/>
            <a:ext cx="384048" cy="384048"/>
          </a:xfrm>
          <a:prstGeom prst="rect">
            <a:avLst/>
          </a:prstGeom>
          <a:noFill/>
        </p:spPr>
        <p:txBody>
          <a:bodyPr wrap="square" anchor="ctr" lIns="0" rIns="0" tIns="0" bIns="0">
            <a:noAutofit/>
          </a:bodyPr>
          <a:lstStyle/>
          <a:p>
            <a:pPr algn="ctr"/>
            <a:r>
              <a:rPr sz="1400" b="1" i="0">
                <a:solidFill>
                  <a:srgbClr val="FFFFFF"/>
                </a:solidFill>
                <a:latin typeface="Outfit"/>
              </a:rPr>
              <a:t>A</a:t>
            </a:r>
          </a:p>
        </p:txBody>
      </p:sp>
      <p:sp>
        <p:nvSpPr>
          <p:cNvPr id="7" name="TextBox 6"/>
          <p:cNvSpPr txBox="1"/>
          <p:nvPr/>
        </p:nvSpPr>
        <p:spPr>
          <a:xfrm>
            <a:off x="1275588" y="1425448"/>
            <a:ext cx="1069848" cy="847344"/>
          </a:xfrm>
          <a:prstGeom prst="rect">
            <a:avLst/>
          </a:prstGeom>
          <a:noFill/>
        </p:spPr>
        <p:txBody>
          <a:bodyPr wrap="square" anchor="ctr" lIns="0" rIns="0" tIns="0" bIns="0">
            <a:noAutofit/>
          </a:bodyPr>
          <a:lstStyle/>
          <a:p>
            <a:pPr algn="l"/>
            <a:r>
              <a:rPr sz="650" b="1" i="0">
                <a:solidFill>
                  <a:srgbClr val="586586"/>
                </a:solidFill>
                <a:latin typeface="Outfit"/>
              </a:rPr>
              <a:t>NIVEAU A</a:t>
            </a:r>
          </a:p>
          <a:p>
            <a:pPr algn="l">
              <a:lnSpc>
                <a:spcPct val="110000"/>
              </a:lnSpc>
              <a:spcBef>
                <a:spcPts val="200"/>
              </a:spcBef>
            </a:pPr>
            <a:r>
              <a:rPr sz="900" b="1" i="0">
                <a:solidFill>
                  <a:srgbClr val="0E2356"/>
                </a:solidFill>
                <a:latin typeface="Outfit"/>
              </a:rPr>
              <a:t>Aide au coach</a:t>
            </a:r>
          </a:p>
        </p:txBody>
      </p:sp>
      <p:sp>
        <p:nvSpPr>
          <p:cNvPr id="8" name="Rectangle 7"/>
          <p:cNvSpPr/>
          <p:nvPr/>
        </p:nvSpPr>
        <p:spPr>
          <a:xfrm>
            <a:off x="2345436" y="1571752"/>
            <a:ext cx="10972" cy="554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10028" y="1571752"/>
            <a:ext cx="1854708" cy="554736"/>
          </a:xfrm>
          <a:prstGeom prst="rect">
            <a:avLst/>
          </a:prstGeom>
          <a:noFill/>
        </p:spPr>
        <p:txBody>
          <a:bodyPr wrap="square" anchor="t" lIns="0" rIns="0" tIns="0" bIns="0">
            <a:noAutofit/>
          </a:bodyPr>
          <a:lstStyle/>
          <a:p>
            <a:pPr algn="l"/>
            <a:r>
              <a:rPr sz="650" b="1" i="0">
                <a:solidFill>
                  <a:srgbClr val="586586"/>
                </a:solidFill>
                <a:latin typeface="Outfit"/>
              </a:rPr>
              <a:t>SOURCES</a:t>
            </a:r>
          </a:p>
          <a:p>
            <a:pPr algn="l">
              <a:lnSpc>
                <a:spcPct val="125000"/>
              </a:lnSpc>
              <a:spcBef>
                <a:spcPts val="300"/>
              </a:spcBef>
            </a:pPr>
            <a:r>
              <a:rPr sz="800" b="0" i="0">
                <a:solidFill>
                  <a:srgbClr val="0E2356"/>
                </a:solidFill>
                <a:latin typeface="Outfit"/>
              </a:rPr>
              <a:t>Exports ponctuels (ServiceNow/Jira), interviews</a:t>
            </a:r>
          </a:p>
        </p:txBody>
      </p:sp>
      <p:sp>
        <p:nvSpPr>
          <p:cNvPr id="10" name="Rectangle 9"/>
          <p:cNvSpPr/>
          <p:nvPr/>
        </p:nvSpPr>
        <p:spPr>
          <a:xfrm>
            <a:off x="4437888" y="1571752"/>
            <a:ext cx="10972" cy="554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11040" y="1571752"/>
            <a:ext cx="1854708" cy="554736"/>
          </a:xfrm>
          <a:prstGeom prst="rect">
            <a:avLst/>
          </a:prstGeom>
          <a:noFill/>
        </p:spPr>
        <p:txBody>
          <a:bodyPr wrap="square" anchor="t" lIns="0" rIns="0" tIns="0" bIns="0">
            <a:noAutofit/>
          </a:bodyPr>
          <a:lstStyle/>
          <a:p>
            <a:pPr algn="l"/>
            <a:r>
              <a:rPr sz="650" b="1" i="0">
                <a:solidFill>
                  <a:srgbClr val="586586"/>
                </a:solidFill>
                <a:latin typeface="Outfit"/>
              </a:rPr>
              <a:t>MODE DE CONNEXION</a:t>
            </a:r>
          </a:p>
          <a:p>
            <a:pPr algn="l">
              <a:lnSpc>
                <a:spcPct val="125000"/>
              </a:lnSpc>
              <a:spcBef>
                <a:spcPts val="300"/>
              </a:spcBef>
            </a:pPr>
            <a:r>
              <a:rPr sz="800" b="0" i="0">
                <a:solidFill>
                  <a:srgbClr val="0E2356"/>
                </a:solidFill>
                <a:latin typeface="Outfit"/>
              </a:rPr>
              <a:t>Aucune — tout est apporté par le consultant</a:t>
            </a:r>
          </a:p>
        </p:txBody>
      </p:sp>
      <p:sp>
        <p:nvSpPr>
          <p:cNvPr id="12" name="Rectangle 11"/>
          <p:cNvSpPr/>
          <p:nvPr/>
        </p:nvSpPr>
        <p:spPr>
          <a:xfrm>
            <a:off x="6438900" y="1571752"/>
            <a:ext cx="10972" cy="554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12052" y="1571752"/>
            <a:ext cx="1854708" cy="554736"/>
          </a:xfrm>
          <a:prstGeom prst="rect">
            <a:avLst/>
          </a:prstGeom>
          <a:noFill/>
        </p:spPr>
        <p:txBody>
          <a:bodyPr wrap="square" anchor="t" lIns="0" rIns="0" tIns="0" bIns="0">
            <a:noAutofit/>
          </a:bodyPr>
          <a:lstStyle/>
          <a:p>
            <a:pPr algn="l"/>
            <a:r>
              <a:rPr sz="650" b="1" i="0">
                <a:solidFill>
                  <a:srgbClr val="586586"/>
                </a:solidFill>
                <a:latin typeface="Outfit"/>
              </a:rPr>
              <a:t>LIVRABLES</a:t>
            </a:r>
          </a:p>
          <a:p>
            <a:pPr algn="l">
              <a:lnSpc>
                <a:spcPct val="125000"/>
              </a:lnSpc>
              <a:spcBef>
                <a:spcPts val="300"/>
              </a:spcBef>
            </a:pPr>
            <a:r>
              <a:rPr sz="800" b="0" i="0">
                <a:solidFill>
                  <a:srgbClr val="0E2356"/>
                </a:solidFill>
                <a:latin typeface="Outfit"/>
              </a:rPr>
              <a:t>Markdown + deck, à la demande</a:t>
            </a:r>
          </a:p>
        </p:txBody>
      </p:sp>
      <p:sp>
        <p:nvSpPr>
          <p:cNvPr id="14" name="Rounded Rectangle 13"/>
          <p:cNvSpPr/>
          <p:nvPr/>
        </p:nvSpPr>
        <p:spPr>
          <a:xfrm>
            <a:off x="562356" y="2419096"/>
            <a:ext cx="7804404" cy="720344"/>
          </a:xfrm>
          <a:prstGeom prst="roundRect">
            <a:avLst>
              <a:gd name="adj" fmla="val 8000"/>
            </a:avLst>
          </a:prstGeom>
          <a:solidFill>
            <a:srgbClr val="DD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62356" y="2419096"/>
            <a:ext cx="54864" cy="7203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63524" y="2587244"/>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3524" y="2587244"/>
            <a:ext cx="384048" cy="384048"/>
          </a:xfrm>
          <a:prstGeom prst="rect">
            <a:avLst/>
          </a:prstGeom>
          <a:noFill/>
        </p:spPr>
        <p:txBody>
          <a:bodyPr wrap="square" anchor="ctr" lIns="0" rIns="0" tIns="0" bIns="0">
            <a:noAutofit/>
          </a:bodyPr>
          <a:lstStyle/>
          <a:p>
            <a:pPr algn="ctr"/>
            <a:r>
              <a:rPr sz="1400" b="1" i="0">
                <a:solidFill>
                  <a:srgbClr val="FFFFFF"/>
                </a:solidFill>
                <a:latin typeface="Outfit"/>
              </a:rPr>
              <a:t>B</a:t>
            </a:r>
          </a:p>
        </p:txBody>
      </p:sp>
      <p:sp>
        <p:nvSpPr>
          <p:cNvPr id="18" name="TextBox 17"/>
          <p:cNvSpPr txBox="1"/>
          <p:nvPr/>
        </p:nvSpPr>
        <p:spPr>
          <a:xfrm>
            <a:off x="1275588" y="2419096"/>
            <a:ext cx="1069848" cy="720344"/>
          </a:xfrm>
          <a:prstGeom prst="rect">
            <a:avLst/>
          </a:prstGeom>
          <a:noFill/>
        </p:spPr>
        <p:txBody>
          <a:bodyPr wrap="square" anchor="ctr" lIns="0" rIns="0" tIns="0" bIns="0">
            <a:noAutofit/>
          </a:bodyPr>
          <a:lstStyle/>
          <a:p>
            <a:pPr algn="l"/>
            <a:r>
              <a:rPr sz="650" b="1" i="0">
                <a:solidFill>
                  <a:srgbClr val="586586"/>
                </a:solidFill>
                <a:latin typeface="Outfit"/>
              </a:rPr>
              <a:t>NIVEAU B</a:t>
            </a:r>
          </a:p>
          <a:p>
            <a:pPr algn="l">
              <a:lnSpc>
                <a:spcPct val="110000"/>
              </a:lnSpc>
              <a:spcBef>
                <a:spcPts val="200"/>
              </a:spcBef>
            </a:pPr>
            <a:r>
              <a:rPr sz="900" b="1" i="0">
                <a:solidFill>
                  <a:srgbClr val="0E2356"/>
                </a:solidFill>
                <a:latin typeface="Outfit"/>
              </a:rPr>
              <a:t>Assistant interactif</a:t>
            </a:r>
          </a:p>
        </p:txBody>
      </p:sp>
      <p:sp>
        <p:nvSpPr>
          <p:cNvPr id="19" name="Rectangle 18"/>
          <p:cNvSpPr/>
          <p:nvPr/>
        </p:nvSpPr>
        <p:spPr>
          <a:xfrm>
            <a:off x="2345436" y="2565400"/>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0028" y="2565400"/>
            <a:ext cx="1854708" cy="427736"/>
          </a:xfrm>
          <a:prstGeom prst="rect">
            <a:avLst/>
          </a:prstGeom>
          <a:noFill/>
        </p:spPr>
        <p:txBody>
          <a:bodyPr wrap="square" anchor="t" lIns="0" rIns="0" tIns="0" bIns="0">
            <a:noAutofit/>
          </a:bodyPr>
          <a:lstStyle/>
          <a:p>
            <a:pPr algn="l"/>
            <a:r>
              <a:rPr sz="650" b="1" i="0">
                <a:solidFill>
                  <a:srgbClr val="586586"/>
                </a:solidFill>
                <a:latin typeface="Outfit"/>
              </a:rPr>
              <a:t>SOURCES</a:t>
            </a:r>
          </a:p>
          <a:p>
            <a:pPr algn="l">
              <a:lnSpc>
                <a:spcPct val="125000"/>
              </a:lnSpc>
              <a:spcBef>
                <a:spcPts val="300"/>
              </a:spcBef>
            </a:pPr>
            <a:r>
              <a:rPr sz="800" b="0" i="0">
                <a:solidFill>
                  <a:srgbClr val="0E2356"/>
                </a:solidFill>
                <a:latin typeface="Outfit"/>
              </a:rPr>
              <a:t>Exports + App companion (capture terrain)</a:t>
            </a:r>
          </a:p>
        </p:txBody>
      </p:sp>
      <p:sp>
        <p:nvSpPr>
          <p:cNvPr id="21" name="Rectangle 20"/>
          <p:cNvSpPr/>
          <p:nvPr/>
        </p:nvSpPr>
        <p:spPr>
          <a:xfrm>
            <a:off x="4437888" y="2565400"/>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11040" y="2565400"/>
            <a:ext cx="1854708" cy="427736"/>
          </a:xfrm>
          <a:prstGeom prst="rect">
            <a:avLst/>
          </a:prstGeom>
          <a:noFill/>
        </p:spPr>
        <p:txBody>
          <a:bodyPr wrap="square" anchor="t" lIns="0" rIns="0" tIns="0" bIns="0">
            <a:noAutofit/>
          </a:bodyPr>
          <a:lstStyle/>
          <a:p>
            <a:pPr algn="l"/>
            <a:r>
              <a:rPr sz="650" b="1" i="0">
                <a:solidFill>
                  <a:srgbClr val="586586"/>
                </a:solidFill>
                <a:latin typeface="Outfit"/>
              </a:rPr>
              <a:t>MODE DE CONNEXION</a:t>
            </a:r>
          </a:p>
          <a:p>
            <a:pPr algn="l">
              <a:lnSpc>
                <a:spcPct val="125000"/>
              </a:lnSpc>
              <a:spcBef>
                <a:spcPts val="300"/>
              </a:spcBef>
            </a:pPr>
            <a:r>
              <a:rPr sz="800" b="0" i="0">
                <a:solidFill>
                  <a:srgbClr val="0E2356"/>
                </a:solidFill>
                <a:latin typeface="Outfit"/>
              </a:rPr>
              <a:t>Site web centralisé, orchestration assistée</a:t>
            </a:r>
          </a:p>
        </p:txBody>
      </p:sp>
      <p:sp>
        <p:nvSpPr>
          <p:cNvPr id="23" name="Rectangle 22"/>
          <p:cNvSpPr/>
          <p:nvPr/>
        </p:nvSpPr>
        <p:spPr>
          <a:xfrm>
            <a:off x="6438900" y="2565400"/>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12052" y="2565400"/>
            <a:ext cx="1854708" cy="427736"/>
          </a:xfrm>
          <a:prstGeom prst="rect">
            <a:avLst/>
          </a:prstGeom>
          <a:noFill/>
        </p:spPr>
        <p:txBody>
          <a:bodyPr wrap="square" anchor="t" lIns="0" rIns="0" tIns="0" bIns="0">
            <a:noAutofit/>
          </a:bodyPr>
          <a:lstStyle/>
          <a:p>
            <a:pPr algn="l"/>
            <a:r>
              <a:rPr sz="650" b="1" i="0">
                <a:solidFill>
                  <a:srgbClr val="586586"/>
                </a:solidFill>
                <a:latin typeface="Outfit"/>
              </a:rPr>
              <a:t>LIVRABLES</a:t>
            </a:r>
          </a:p>
          <a:p>
            <a:pPr algn="l">
              <a:lnSpc>
                <a:spcPct val="125000"/>
              </a:lnSpc>
              <a:spcBef>
                <a:spcPts val="300"/>
              </a:spcBef>
            </a:pPr>
            <a:r>
              <a:rPr sz="800" b="0" i="0">
                <a:solidFill>
                  <a:srgbClr val="0E2356"/>
                </a:solidFill>
                <a:latin typeface="Outfit"/>
              </a:rPr>
              <a:t>+ tableau de bord multi-engagements</a:t>
            </a:r>
          </a:p>
        </p:txBody>
      </p:sp>
      <p:sp>
        <p:nvSpPr>
          <p:cNvPr id="25" name="Rounded Rectangle 24"/>
          <p:cNvSpPr/>
          <p:nvPr/>
        </p:nvSpPr>
        <p:spPr>
          <a:xfrm>
            <a:off x="562356" y="3285744"/>
            <a:ext cx="7804404" cy="720344"/>
          </a:xfrm>
          <a:prstGeom prst="roundRect">
            <a:avLst>
              <a:gd name="adj" fmla="val 8000"/>
            </a:avLst>
          </a:prstGeom>
          <a:solidFill>
            <a:srgbClr val="DD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62356" y="3285744"/>
            <a:ext cx="54864" cy="7203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63524" y="3453892"/>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3524" y="3453892"/>
            <a:ext cx="384048" cy="384048"/>
          </a:xfrm>
          <a:prstGeom prst="rect">
            <a:avLst/>
          </a:prstGeom>
          <a:noFill/>
        </p:spPr>
        <p:txBody>
          <a:bodyPr wrap="square" anchor="ctr" lIns="0" rIns="0" tIns="0" bIns="0">
            <a:noAutofit/>
          </a:bodyPr>
          <a:lstStyle/>
          <a:p>
            <a:pPr algn="ctr"/>
            <a:r>
              <a:rPr sz="1400" b="1" i="0">
                <a:solidFill>
                  <a:srgbClr val="FFFFFF"/>
                </a:solidFill>
                <a:latin typeface="Outfit"/>
              </a:rPr>
              <a:t>C</a:t>
            </a:r>
          </a:p>
        </p:txBody>
      </p:sp>
      <p:sp>
        <p:nvSpPr>
          <p:cNvPr id="29" name="TextBox 28"/>
          <p:cNvSpPr txBox="1"/>
          <p:nvPr/>
        </p:nvSpPr>
        <p:spPr>
          <a:xfrm>
            <a:off x="1275588" y="3285744"/>
            <a:ext cx="1069848" cy="720344"/>
          </a:xfrm>
          <a:prstGeom prst="rect">
            <a:avLst/>
          </a:prstGeom>
          <a:noFill/>
        </p:spPr>
        <p:txBody>
          <a:bodyPr wrap="square" anchor="ctr" lIns="0" rIns="0" tIns="0" bIns="0">
            <a:noAutofit/>
          </a:bodyPr>
          <a:lstStyle/>
          <a:p>
            <a:pPr algn="l"/>
            <a:r>
              <a:rPr sz="650" b="1" i="0">
                <a:solidFill>
                  <a:srgbClr val="586586"/>
                </a:solidFill>
                <a:latin typeface="Outfit"/>
              </a:rPr>
              <a:t>NIVEAU C</a:t>
            </a:r>
          </a:p>
          <a:p>
            <a:pPr algn="l">
              <a:lnSpc>
                <a:spcPct val="110000"/>
              </a:lnSpc>
              <a:spcBef>
                <a:spcPts val="200"/>
              </a:spcBef>
            </a:pPr>
            <a:r>
              <a:rPr sz="900" b="1" i="0">
                <a:solidFill>
                  <a:srgbClr val="0E2356"/>
                </a:solidFill>
                <a:latin typeface="Outfit"/>
              </a:rPr>
              <a:t>Companion connecté (non engagé)</a:t>
            </a:r>
          </a:p>
        </p:txBody>
      </p:sp>
      <p:sp>
        <p:nvSpPr>
          <p:cNvPr id="30" name="Rectangle 29"/>
          <p:cNvSpPr/>
          <p:nvPr/>
        </p:nvSpPr>
        <p:spPr>
          <a:xfrm>
            <a:off x="2345436" y="3432048"/>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510028" y="3432048"/>
            <a:ext cx="1854708" cy="427736"/>
          </a:xfrm>
          <a:prstGeom prst="rect">
            <a:avLst/>
          </a:prstGeom>
          <a:noFill/>
        </p:spPr>
        <p:txBody>
          <a:bodyPr wrap="square" anchor="t" lIns="0" rIns="0" tIns="0" bIns="0">
            <a:noAutofit/>
          </a:bodyPr>
          <a:lstStyle/>
          <a:p>
            <a:pPr algn="l"/>
            <a:r>
              <a:rPr sz="650" b="1" i="0">
                <a:solidFill>
                  <a:srgbClr val="586586"/>
                </a:solidFill>
                <a:latin typeface="Outfit"/>
              </a:rPr>
              <a:t>SOURCES</a:t>
            </a:r>
          </a:p>
          <a:p>
            <a:pPr algn="l">
              <a:lnSpc>
                <a:spcPct val="125000"/>
              </a:lnSpc>
              <a:spcBef>
                <a:spcPts val="300"/>
              </a:spcBef>
            </a:pPr>
            <a:r>
              <a:rPr sz="800" b="0" i="0">
                <a:solidFill>
                  <a:srgbClr val="0E2356"/>
                </a:solidFill>
                <a:latin typeface="Outfit"/>
              </a:rPr>
              <a:t>ServiceNow/Jira/Confluence/Datadog/CMDB/FinOps</a:t>
            </a:r>
          </a:p>
        </p:txBody>
      </p:sp>
      <p:sp>
        <p:nvSpPr>
          <p:cNvPr id="32" name="Rectangle 31"/>
          <p:cNvSpPr/>
          <p:nvPr/>
        </p:nvSpPr>
        <p:spPr>
          <a:xfrm>
            <a:off x="4437888" y="3432048"/>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11040" y="3432048"/>
            <a:ext cx="1854708" cy="427736"/>
          </a:xfrm>
          <a:prstGeom prst="rect">
            <a:avLst/>
          </a:prstGeom>
          <a:noFill/>
        </p:spPr>
        <p:txBody>
          <a:bodyPr wrap="square" anchor="t" lIns="0" rIns="0" tIns="0" bIns="0">
            <a:noAutofit/>
          </a:bodyPr>
          <a:lstStyle/>
          <a:p>
            <a:pPr algn="l"/>
            <a:r>
              <a:rPr sz="650" b="1" i="0">
                <a:solidFill>
                  <a:srgbClr val="586586"/>
                </a:solidFill>
                <a:latin typeface="Outfit"/>
              </a:rPr>
              <a:t>MODE DE CONNEXION</a:t>
            </a:r>
          </a:p>
          <a:p>
            <a:pPr algn="l">
              <a:lnSpc>
                <a:spcPct val="125000"/>
              </a:lnSpc>
              <a:spcBef>
                <a:spcPts val="300"/>
              </a:spcBef>
            </a:pPr>
            <a:r>
              <a:rPr sz="800" b="0" i="0">
                <a:solidFill>
                  <a:srgbClr val="0E2356"/>
                </a:solidFill>
                <a:latin typeface="Outfit"/>
              </a:rPr>
              <a:t>Connecteurs API directs, en continu</a:t>
            </a:r>
          </a:p>
        </p:txBody>
      </p:sp>
      <p:sp>
        <p:nvSpPr>
          <p:cNvPr id="34" name="Rectangle 33"/>
          <p:cNvSpPr/>
          <p:nvPr/>
        </p:nvSpPr>
        <p:spPr>
          <a:xfrm>
            <a:off x="6438900" y="3432048"/>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12052" y="3432048"/>
            <a:ext cx="1854708" cy="427736"/>
          </a:xfrm>
          <a:prstGeom prst="rect">
            <a:avLst/>
          </a:prstGeom>
          <a:noFill/>
        </p:spPr>
        <p:txBody>
          <a:bodyPr wrap="square" anchor="t" lIns="0" rIns="0" tIns="0" bIns="0">
            <a:noAutofit/>
          </a:bodyPr>
          <a:lstStyle/>
          <a:p>
            <a:pPr algn="l"/>
            <a:r>
              <a:rPr sz="650" b="1" i="0">
                <a:solidFill>
                  <a:srgbClr val="586586"/>
                </a:solidFill>
                <a:latin typeface="Outfit"/>
              </a:rPr>
              <a:t>LIVRABLES</a:t>
            </a:r>
          </a:p>
          <a:p>
            <a:pPr algn="l">
              <a:lnSpc>
                <a:spcPct val="125000"/>
              </a:lnSpc>
              <a:spcBef>
                <a:spcPts val="300"/>
              </a:spcBef>
            </a:pPr>
            <a:r>
              <a:rPr sz="800" b="0" i="0">
                <a:solidFill>
                  <a:srgbClr val="0E2356"/>
                </a:solidFill>
                <a:latin typeface="Outfit"/>
              </a:rPr>
              <a:t>Livrables mis à jour en continu</a:t>
            </a:r>
          </a:p>
        </p:txBody>
      </p:sp>
      <p:sp>
        <p:nvSpPr>
          <p:cNvPr id="36" name="TextBox 35"/>
          <p:cNvSpPr txBox="1"/>
          <p:nvPr/>
        </p:nvSpPr>
        <p:spPr>
          <a:xfrm>
            <a:off x="562356" y="4152392"/>
            <a:ext cx="7804404" cy="457200"/>
          </a:xfrm>
          <a:prstGeom prst="rect">
            <a:avLst/>
          </a:prstGeom>
          <a:noFill/>
        </p:spPr>
        <p:txBody>
          <a:bodyPr wrap="square" anchor="t" lIns="0" rIns="0" tIns="0" bIns="0">
            <a:noAutofit/>
          </a:bodyPr>
          <a:lstStyle/>
          <a:p>
            <a:pPr algn="l">
              <a:lnSpc>
                <a:spcPct val="125000"/>
              </a:lnSpc>
            </a:pPr>
            <a:r>
              <a:rPr sz="800" b="0" i="1">
                <a:solidFill>
                  <a:srgbClr val="586586"/>
                </a:solidFill>
                <a:latin typeface="Outfit"/>
              </a:rPr>
              <a:t>Le niveau C suppose un accès direct aux données de production du client — un cabinet peut durablement rester au niveau A ou B par choix de gouvernance (slide précédente).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KPI</a:t>
            </a:r>
          </a:p>
          <a:p>
            <a:r>
              <a:rPr sz="1050" i="1">
                <a:solidFill>
                  <a:srgbClr val="586586"/>
                </a:solidFill>
                <a:latin typeface="Outfit"/>
              </a:rPr>
              <a:t>Trois familles de KPIs à ne jamais confondre, leur mise en place, la grille de maturité, et le cas chiffré.</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10</a:t>
            </a:r>
          </a:p>
        </p:txBody>
      </p:sp>
      <p:pic>
        <p:nvPicPr>
          <p:cNvPr id="4" name="Picture 3" descr="meadow_1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KPI   ·   </a:t>
            </a:r>
            <a:r>
              <a:rPr b="1" sz="1700">
                <a:solidFill>
                  <a:srgbClr val="0E2356"/>
                </a:solidFill>
                <a:latin typeface="Outfit"/>
              </a:rPr>
              <a:t>Trois familles de KPIs, à ne jamais confondre</a:t>
            </a:r>
          </a:p>
        </p:txBody>
      </p:sp>
      <p:sp>
        <p:nvSpPr>
          <p:cNvPr id="3" name="Rounded Rectangle 2"/>
          <p:cNvSpPr/>
          <p:nvPr/>
        </p:nvSpPr>
        <p:spPr>
          <a:xfrm>
            <a:off x="562356" y="1741392"/>
            <a:ext cx="2479548" cy="2552255"/>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2356" y="1741392"/>
            <a:ext cx="64008" cy="2552255"/>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7" y="1887696"/>
            <a:ext cx="2150364" cy="50292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KPIs de mission</a:t>
            </a:r>
          </a:p>
          <a:p>
            <a:pPr algn="l">
              <a:spcBef>
                <a:spcPts val="200"/>
              </a:spcBef>
            </a:pPr>
            <a:r>
              <a:rPr sz="850" b="0" i="1">
                <a:solidFill>
                  <a:srgbClr val="586586"/>
                </a:solidFill>
                <a:latin typeface="Outfit"/>
              </a:rPr>
              <a:t>Côté client</a:t>
            </a:r>
          </a:p>
        </p:txBody>
      </p:sp>
      <p:sp>
        <p:nvSpPr>
          <p:cNvPr id="6" name="TextBox 5"/>
          <p:cNvSpPr txBox="1"/>
          <p:nvPr/>
        </p:nvSpPr>
        <p:spPr>
          <a:xfrm>
            <a:off x="726947" y="2472912"/>
            <a:ext cx="2150364" cy="1683575"/>
          </a:xfrm>
          <a:prstGeom prst="rect">
            <a:avLst/>
          </a:prstGeom>
          <a:noFill/>
        </p:spPr>
        <p:txBody>
          <a:bodyPr wrap="square" anchor="t" lIns="0" rIns="0" tIns="0" bIns="0">
            <a:noAutofit/>
          </a:bodyPr>
          <a:lstStyle/>
          <a:p>
            <a:pPr algn="l">
              <a:lnSpc>
                <a:spcPct val="115000"/>
              </a:lnSpc>
              <a:spcAft>
                <a:spcPts val="400"/>
              </a:spcAft>
            </a:pPr>
            <a:r>
              <a:rPr sz="850" b="0" i="0">
                <a:solidFill>
                  <a:srgbClr val="0E2356"/>
                </a:solidFill>
                <a:latin typeface="Outfit"/>
              </a:rPr>
              <a:t>·  Gaspillage traité (capacité RUN récupérée)</a:t>
            </a:r>
          </a:p>
          <a:p>
            <a:pPr algn="l">
              <a:lnSpc>
                <a:spcPct val="115000"/>
              </a:lnSpc>
              <a:spcAft>
                <a:spcPts val="400"/>
              </a:spcAft>
            </a:pPr>
            <a:r>
              <a:rPr sz="850" b="0" i="0">
                <a:solidFill>
                  <a:srgbClr val="0E2356"/>
                </a:solidFill>
                <a:latin typeface="Outfit"/>
              </a:rPr>
              <a:t>·  Adoption produit (self-service)</a:t>
            </a:r>
          </a:p>
          <a:p>
            <a:pPr algn="l">
              <a:lnSpc>
                <a:spcPct val="115000"/>
              </a:lnSpc>
              <a:spcAft>
                <a:spcPts val="400"/>
              </a:spcAft>
            </a:pPr>
            <a:r>
              <a:rPr sz="850" b="0" i="0">
                <a:solidFill>
                  <a:srgbClr val="0E2356"/>
                </a:solidFill>
                <a:latin typeface="Outfit"/>
              </a:rPr>
              <a:t>·  Fiabilité &amp; SLA (MTTR, respect des engagements de service, coût/capacité)</a:t>
            </a:r>
          </a:p>
          <a:p>
            <a:pPr algn="l">
              <a:lnSpc>
                <a:spcPct val="115000"/>
              </a:lnSpc>
              <a:spcAft>
                <a:spcPts val="400"/>
              </a:spcAft>
            </a:pPr>
            <a:r>
              <a:rPr sz="850" b="0" i="0">
                <a:solidFill>
                  <a:srgbClr val="0E2356"/>
                </a:solidFill>
                <a:latin typeface="Outfit"/>
              </a:rPr>
              <a:t>·  Gouvernance IA (supervision, incidents)</a:t>
            </a:r>
          </a:p>
          <a:p>
            <a:pPr algn="l">
              <a:lnSpc>
                <a:spcPct val="115000"/>
              </a:lnSpc>
              <a:spcAft>
                <a:spcPts val="400"/>
              </a:spcAft>
            </a:pPr>
            <a:r>
              <a:rPr sz="850" b="0" i="0">
                <a:solidFill>
                  <a:srgbClr val="0E2356"/>
                </a:solidFill>
                <a:latin typeface="Outfit"/>
              </a:rPr>
              <a:t>·  Maturité (delta par pilier, T0→réévaluation)</a:t>
            </a:r>
          </a:p>
        </p:txBody>
      </p:sp>
      <p:sp>
        <p:nvSpPr>
          <p:cNvPr id="7" name="Rounded Rectangle 6"/>
          <p:cNvSpPr/>
          <p:nvPr/>
        </p:nvSpPr>
        <p:spPr>
          <a:xfrm>
            <a:off x="3224783" y="1741392"/>
            <a:ext cx="2479548" cy="2552255"/>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224783" y="1741392"/>
            <a:ext cx="64008" cy="2552255"/>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89376" y="1887696"/>
            <a:ext cx="2150364" cy="50292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KPIs d'usage du module</a:t>
            </a:r>
          </a:p>
          <a:p>
            <a:pPr algn="l">
              <a:spcBef>
                <a:spcPts val="200"/>
              </a:spcBef>
            </a:pPr>
            <a:r>
              <a:rPr sz="850" b="0" i="1">
                <a:solidFill>
                  <a:srgbClr val="586586"/>
                </a:solidFill>
                <a:latin typeface="Outfit"/>
              </a:rPr>
              <a:t>Côté cabinet</a:t>
            </a:r>
          </a:p>
        </p:txBody>
      </p:sp>
      <p:sp>
        <p:nvSpPr>
          <p:cNvPr id="10" name="TextBox 9"/>
          <p:cNvSpPr txBox="1"/>
          <p:nvPr/>
        </p:nvSpPr>
        <p:spPr>
          <a:xfrm>
            <a:off x="3389376" y="2472912"/>
            <a:ext cx="2150364" cy="1683575"/>
          </a:xfrm>
          <a:prstGeom prst="rect">
            <a:avLst/>
          </a:prstGeom>
          <a:noFill/>
        </p:spPr>
        <p:txBody>
          <a:bodyPr wrap="square" anchor="t" lIns="0" rIns="0" tIns="0" bIns="0">
            <a:noAutofit/>
          </a:bodyPr>
          <a:lstStyle/>
          <a:p>
            <a:pPr algn="l">
              <a:lnSpc>
                <a:spcPct val="115000"/>
              </a:lnSpc>
              <a:spcAft>
                <a:spcPts val="400"/>
              </a:spcAft>
            </a:pPr>
            <a:r>
              <a:rPr sz="850" b="0" i="0">
                <a:solidFill>
                  <a:srgbClr val="0E2356"/>
                </a:solidFill>
                <a:latin typeface="Outfit"/>
              </a:rPr>
              <a:t>·  Accélération (temps pour un cadrage flash)</a:t>
            </a:r>
          </a:p>
          <a:p>
            <a:pPr algn="l">
              <a:lnSpc>
                <a:spcPct val="115000"/>
              </a:lnSpc>
              <a:spcAft>
                <a:spcPts val="400"/>
              </a:spcAft>
            </a:pPr>
            <a:r>
              <a:rPr sz="850" b="0" i="0">
                <a:solidFill>
                  <a:srgbClr val="0E2356"/>
                </a:solidFill>
                <a:latin typeface="Outfit"/>
              </a:rPr>
              <a:t>·  Réutilisation (templates vs ad hoc)</a:t>
            </a:r>
          </a:p>
          <a:p>
            <a:pPr algn="l">
              <a:lnSpc>
                <a:spcPct val="115000"/>
              </a:lnSpc>
              <a:spcAft>
                <a:spcPts val="400"/>
              </a:spcAft>
            </a:pPr>
            <a:r>
              <a:rPr sz="850" b="0" i="0">
                <a:solidFill>
                  <a:srgbClr val="0E2356"/>
                </a:solidFill>
                <a:latin typeface="Outfit"/>
              </a:rPr>
              <a:t>·  Cohérence (écarts détectés par risk-reviewer)</a:t>
            </a:r>
          </a:p>
          <a:p>
            <a:pPr algn="l">
              <a:lnSpc>
                <a:spcPct val="115000"/>
              </a:lnSpc>
              <a:spcAft>
                <a:spcPts val="400"/>
              </a:spcAft>
            </a:pPr>
            <a:r>
              <a:rPr sz="850" b="0" i="0">
                <a:solidFill>
                  <a:srgbClr val="0E2356"/>
                </a:solidFill>
                <a:latin typeface="Outfit"/>
              </a:rPr>
              <a:t>·  Capitalisation (REX ajoutés)</a:t>
            </a:r>
          </a:p>
          <a:p>
            <a:pPr algn="l">
              <a:lnSpc>
                <a:spcPct val="115000"/>
              </a:lnSpc>
              <a:spcAft>
                <a:spcPts val="400"/>
              </a:spcAft>
            </a:pPr>
            <a:r>
              <a:rPr sz="850" b="0" i="0">
                <a:solidFill>
                  <a:srgbClr val="0E2356"/>
                </a:solidFill>
                <a:latin typeface="Outfit"/>
              </a:rPr>
              <a:t>·  Adoption interne (consultants, missions)</a:t>
            </a:r>
          </a:p>
        </p:txBody>
      </p:sp>
      <p:sp>
        <p:nvSpPr>
          <p:cNvPr id="11" name="Rounded Rectangle 10"/>
          <p:cNvSpPr/>
          <p:nvPr/>
        </p:nvSpPr>
        <p:spPr>
          <a:xfrm>
            <a:off x="5887212" y="1741392"/>
            <a:ext cx="2479548" cy="2552255"/>
          </a:xfrm>
          <a:prstGeom prst="roundRect">
            <a:avLst>
              <a:gd name="adj" fmla="val 6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887212" y="1741392"/>
            <a:ext cx="64008" cy="2552255"/>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51804" y="1887696"/>
            <a:ext cx="2150364" cy="502920"/>
          </a:xfrm>
          <a:prstGeom prst="rect">
            <a:avLst/>
          </a:prstGeom>
          <a:noFill/>
        </p:spPr>
        <p:txBody>
          <a:bodyPr wrap="square" anchor="t" lIns="0" rIns="0" tIns="0" bIns="0">
            <a:noAutofit/>
          </a:bodyPr>
          <a:lstStyle/>
          <a:p>
            <a:pPr algn="l">
              <a:lnSpc>
                <a:spcPct val="105000"/>
              </a:lnSpc>
            </a:pPr>
            <a:r>
              <a:rPr sz="1050" b="1" i="0">
                <a:solidFill>
                  <a:srgbClr val="FFFFFF"/>
                </a:solidFill>
                <a:latin typeface="Outfit"/>
              </a:rPr>
              <a:t>Grille de maturité</a:t>
            </a:r>
          </a:p>
          <a:p>
            <a:pPr algn="l">
              <a:spcBef>
                <a:spcPts val="200"/>
              </a:spcBef>
            </a:pPr>
            <a:r>
              <a:rPr sz="850" b="0" i="1">
                <a:solidFill>
                  <a:srgbClr val="AEB6D4"/>
                </a:solidFill>
                <a:latin typeface="Outfit"/>
              </a:rPr>
              <a:t>Progression dans le temps</a:t>
            </a:r>
          </a:p>
        </p:txBody>
      </p:sp>
      <p:sp>
        <p:nvSpPr>
          <p:cNvPr id="14" name="TextBox 13"/>
          <p:cNvSpPr txBox="1"/>
          <p:nvPr/>
        </p:nvSpPr>
        <p:spPr>
          <a:xfrm>
            <a:off x="6051804" y="2472912"/>
            <a:ext cx="2150364" cy="1683575"/>
          </a:xfrm>
          <a:prstGeom prst="rect">
            <a:avLst/>
          </a:prstGeom>
          <a:noFill/>
        </p:spPr>
        <p:txBody>
          <a:bodyPr wrap="square" anchor="t" lIns="0" rIns="0" tIns="0" bIns="0">
            <a:noAutofit/>
          </a:bodyPr>
          <a:lstStyle/>
          <a:p>
            <a:pPr algn="l">
              <a:lnSpc>
                <a:spcPct val="115000"/>
              </a:lnSpc>
              <a:spcAft>
                <a:spcPts val="400"/>
              </a:spcAft>
            </a:pPr>
            <a:r>
              <a:rPr sz="850" b="0" i="0">
                <a:solidFill>
                  <a:srgbClr val="E8EBF5"/>
                </a:solidFill>
                <a:latin typeface="Outfit"/>
              </a:rPr>
              <a:t>·  Delta par pilier (Excellence Tech., Agilité, IA/Agentic)</a:t>
            </a:r>
          </a:p>
          <a:p>
            <a:pPr algn="l">
              <a:lnSpc>
                <a:spcPct val="115000"/>
              </a:lnSpc>
              <a:spcAft>
                <a:spcPts val="400"/>
              </a:spcAft>
            </a:pPr>
            <a:r>
              <a:rPr sz="850" b="0" i="0">
                <a:solidFill>
                  <a:srgbClr val="E8EBF5"/>
                </a:solidFill>
                <a:latin typeface="Outfit"/>
              </a:rPr>
              <a:t>·  Re-assessment T+6–12 mois</a:t>
            </a:r>
          </a:p>
          <a:p>
            <a:pPr algn="l">
              <a:lnSpc>
                <a:spcPct val="115000"/>
              </a:lnSpc>
              <a:spcAft>
                <a:spcPts val="400"/>
              </a:spcAft>
            </a:pPr>
            <a:r>
              <a:rPr sz="850" b="0" i="0">
                <a:solidFill>
                  <a:srgbClr val="E8EBF5"/>
                </a:solidFill>
                <a:latin typeface="Outfit"/>
              </a:rPr>
              <a:t>·  Score de priorisation ≠ KPI de résultat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550">
                <a:solidFill>
                  <a:srgbClr val="0E2356"/>
                </a:solidFill>
                <a:latin typeface="Outfit"/>
              </a:rPr>
              <a:t>KPI   ·   </a:t>
            </a:r>
            <a:r>
              <a:rPr b="1" sz="1550">
                <a:solidFill>
                  <a:srgbClr val="0E2356"/>
                </a:solidFill>
                <a:latin typeface="Outfit"/>
              </a:rPr>
              <a:t>KPIs : pourquoi chaque famille, et quoi mesurer précisément</a:t>
            </a:r>
          </a:p>
        </p:txBody>
      </p:sp>
      <p:sp>
        <p:nvSpPr>
          <p:cNvPr id="3" name="Rounded Rectangle 2"/>
          <p:cNvSpPr/>
          <p:nvPr/>
        </p:nvSpPr>
        <p:spPr>
          <a:xfrm>
            <a:off x="1573530" y="1195133"/>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573530" y="1195133"/>
            <a:ext cx="457200" cy="457200"/>
          </a:xfrm>
          <a:prstGeom prst="rect">
            <a:avLst/>
          </a:prstGeom>
          <a:noFill/>
        </p:spPr>
        <p:txBody>
          <a:bodyPr wrap="square" anchor="ctr" lIns="0" rIns="0" tIns="0" bIns="0">
            <a:noAutofit/>
          </a:bodyPr>
          <a:lstStyle/>
          <a:p>
            <a:pPr algn="ctr"/>
            <a:r>
              <a:rPr sz="1500" b="1" i="0">
                <a:solidFill>
                  <a:srgbClr val="FFFFFF"/>
                </a:solidFill>
                <a:latin typeface="Outfit"/>
              </a:rPr>
              <a:t>M</a:t>
            </a:r>
          </a:p>
        </p:txBody>
      </p:sp>
      <p:sp>
        <p:nvSpPr>
          <p:cNvPr id="5" name="TextBox 4"/>
          <p:cNvSpPr txBox="1"/>
          <p:nvPr/>
        </p:nvSpPr>
        <p:spPr>
          <a:xfrm>
            <a:off x="562356" y="1743773"/>
            <a:ext cx="2479548" cy="274320"/>
          </a:xfrm>
          <a:prstGeom prst="rect">
            <a:avLst/>
          </a:prstGeom>
          <a:noFill/>
        </p:spPr>
        <p:txBody>
          <a:bodyPr wrap="square" anchor="ctr" lIns="0" rIns="0" tIns="0" bIns="0">
            <a:noAutofit/>
          </a:bodyPr>
          <a:lstStyle/>
          <a:p>
            <a:pPr algn="ctr">
              <a:lnSpc>
                <a:spcPct val="105000"/>
              </a:lnSpc>
            </a:pPr>
            <a:r>
              <a:rPr sz="950" b="1" i="0">
                <a:solidFill>
                  <a:srgbClr val="0E2356"/>
                </a:solidFill>
                <a:latin typeface="Outfit"/>
              </a:rPr>
              <a:t>KPIs de mission</a:t>
            </a:r>
          </a:p>
        </p:txBody>
      </p:sp>
      <p:sp>
        <p:nvSpPr>
          <p:cNvPr id="6" name="Rounded Rectangle 5"/>
          <p:cNvSpPr/>
          <p:nvPr/>
        </p:nvSpPr>
        <p:spPr>
          <a:xfrm>
            <a:off x="562356" y="2109533"/>
            <a:ext cx="2479548" cy="2730373"/>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5236" y="2255837"/>
            <a:ext cx="2113788" cy="146304"/>
          </a:xfrm>
          <a:prstGeom prst="rect">
            <a:avLst/>
          </a:prstGeom>
          <a:noFill/>
        </p:spPr>
        <p:txBody>
          <a:bodyPr wrap="square" anchor="t" lIns="0" rIns="0" tIns="0" bIns="0">
            <a:noAutofit/>
          </a:bodyPr>
          <a:lstStyle/>
          <a:p>
            <a:pPr algn="l"/>
            <a:r>
              <a:rPr sz="700" b="1" i="0">
                <a:solidFill>
                  <a:srgbClr val="586586"/>
                </a:solidFill>
                <a:latin typeface="Outfit"/>
              </a:rPr>
              <a:t>POURQUOI</a:t>
            </a:r>
          </a:p>
        </p:txBody>
      </p:sp>
      <p:sp>
        <p:nvSpPr>
          <p:cNvPr id="8" name="TextBox 7"/>
          <p:cNvSpPr txBox="1"/>
          <p:nvPr/>
        </p:nvSpPr>
        <p:spPr>
          <a:xfrm>
            <a:off x="745236" y="2438717"/>
            <a:ext cx="2113788" cy="944562"/>
          </a:xfrm>
          <a:prstGeom prst="rect">
            <a:avLst/>
          </a:prstGeom>
          <a:noFill/>
        </p:spPr>
        <p:txBody>
          <a:bodyPr wrap="square" anchor="t" lIns="0" rIns="0" tIns="0" bIns="0">
            <a:noAutofit/>
          </a:bodyPr>
          <a:lstStyle/>
          <a:p>
            <a:pPr algn="l">
              <a:lnSpc>
                <a:spcPct val="125000"/>
              </a:lnSpc>
            </a:pPr>
            <a:r>
              <a:rPr sz="850" b="0" i="0">
                <a:solidFill>
                  <a:srgbClr val="0E2356"/>
                </a:solidFill>
                <a:latin typeface="Outfit"/>
              </a:rPr>
              <a:t>Sans eux, un deck peut être livré dans les règles sans jamais savoir si le client va réellement mieux — la « transformation cosmétique » appliquée cette fois au résultat.</a:t>
            </a:r>
          </a:p>
        </p:txBody>
      </p:sp>
      <p:sp>
        <p:nvSpPr>
          <p:cNvPr id="9" name="Rectangle 8"/>
          <p:cNvSpPr/>
          <p:nvPr/>
        </p:nvSpPr>
        <p:spPr>
          <a:xfrm>
            <a:off x="745236" y="3469233"/>
            <a:ext cx="2113788"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 y="3566160"/>
            <a:ext cx="2113788" cy="146304"/>
          </a:xfrm>
          <a:prstGeom prst="rect">
            <a:avLst/>
          </a:prstGeom>
          <a:noFill/>
        </p:spPr>
        <p:txBody>
          <a:bodyPr wrap="square" anchor="t" lIns="0" rIns="0" tIns="0" bIns="0">
            <a:noAutofit/>
          </a:bodyPr>
          <a:lstStyle/>
          <a:p>
            <a:pPr algn="l"/>
            <a:r>
              <a:rPr sz="700" b="1" i="0">
                <a:solidFill>
                  <a:srgbClr val="586586"/>
                </a:solidFill>
                <a:latin typeface="Outfit"/>
              </a:rPr>
              <a:t>QUOI, PRÉCISÉMENT</a:t>
            </a:r>
          </a:p>
        </p:txBody>
      </p:sp>
      <p:sp>
        <p:nvSpPr>
          <p:cNvPr id="11" name="TextBox 10"/>
          <p:cNvSpPr txBox="1"/>
          <p:nvPr/>
        </p:nvSpPr>
        <p:spPr>
          <a:xfrm>
            <a:off x="745236" y="3749040"/>
            <a:ext cx="2113788" cy="944562"/>
          </a:xfrm>
          <a:prstGeom prst="rect">
            <a:avLst/>
          </a:prstGeom>
          <a:noFill/>
        </p:spPr>
        <p:txBody>
          <a:bodyPr wrap="square" anchor="t" lIns="0" rIns="0" tIns="0" bIns="0">
            <a:noAutofit/>
          </a:bodyPr>
          <a:lstStyle/>
          <a:p>
            <a:pPr algn="l">
              <a:lnSpc>
                <a:spcPct val="125000"/>
              </a:lnSpc>
            </a:pPr>
            <a:r>
              <a:rPr sz="850" b="0" i="0">
                <a:solidFill>
                  <a:srgbClr val="0E2356"/>
                </a:solidFill>
                <a:latin typeface="Outfit"/>
              </a:rPr>
              <a:t>Capacité RUN récupérée en heures/mois ; delta de MTTR en minutes ; SLA/SLO tenus vs promis (iap-product-definition) ; taux de self-service sur la capacité livrée — pas un pourcentage vague.</a:t>
            </a:r>
          </a:p>
        </p:txBody>
      </p:sp>
      <p:sp>
        <p:nvSpPr>
          <p:cNvPr id="12" name="Rounded Rectangle 11"/>
          <p:cNvSpPr/>
          <p:nvPr/>
        </p:nvSpPr>
        <p:spPr>
          <a:xfrm>
            <a:off x="4235957" y="1195133"/>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35957" y="1195133"/>
            <a:ext cx="457200" cy="457200"/>
          </a:xfrm>
          <a:prstGeom prst="rect">
            <a:avLst/>
          </a:prstGeom>
          <a:noFill/>
        </p:spPr>
        <p:txBody>
          <a:bodyPr wrap="square" anchor="ctr" lIns="0" rIns="0" tIns="0" bIns="0">
            <a:noAutofit/>
          </a:bodyPr>
          <a:lstStyle/>
          <a:p>
            <a:pPr algn="ctr"/>
            <a:r>
              <a:rPr sz="1500" b="1" i="0">
                <a:solidFill>
                  <a:srgbClr val="FFFFFF"/>
                </a:solidFill>
                <a:latin typeface="Outfit"/>
              </a:rPr>
              <a:t>U</a:t>
            </a:r>
          </a:p>
        </p:txBody>
      </p:sp>
      <p:sp>
        <p:nvSpPr>
          <p:cNvPr id="14" name="TextBox 13"/>
          <p:cNvSpPr txBox="1"/>
          <p:nvPr/>
        </p:nvSpPr>
        <p:spPr>
          <a:xfrm>
            <a:off x="3224783" y="1743773"/>
            <a:ext cx="2479548" cy="274320"/>
          </a:xfrm>
          <a:prstGeom prst="rect">
            <a:avLst/>
          </a:prstGeom>
          <a:noFill/>
        </p:spPr>
        <p:txBody>
          <a:bodyPr wrap="square" anchor="ctr" lIns="0" rIns="0" tIns="0" bIns="0">
            <a:noAutofit/>
          </a:bodyPr>
          <a:lstStyle/>
          <a:p>
            <a:pPr algn="ctr">
              <a:lnSpc>
                <a:spcPct val="105000"/>
              </a:lnSpc>
            </a:pPr>
            <a:r>
              <a:rPr sz="950" b="1" i="0">
                <a:solidFill>
                  <a:srgbClr val="0E2356"/>
                </a:solidFill>
                <a:latin typeface="Outfit"/>
              </a:rPr>
              <a:t>KPIs d'usage du module</a:t>
            </a:r>
          </a:p>
        </p:txBody>
      </p:sp>
      <p:sp>
        <p:nvSpPr>
          <p:cNvPr id="15" name="Rounded Rectangle 14"/>
          <p:cNvSpPr/>
          <p:nvPr/>
        </p:nvSpPr>
        <p:spPr>
          <a:xfrm>
            <a:off x="3224783" y="2109533"/>
            <a:ext cx="2479548" cy="2730373"/>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07664" y="2255837"/>
            <a:ext cx="2113788" cy="146304"/>
          </a:xfrm>
          <a:prstGeom prst="rect">
            <a:avLst/>
          </a:prstGeom>
          <a:noFill/>
        </p:spPr>
        <p:txBody>
          <a:bodyPr wrap="square" anchor="t" lIns="0" rIns="0" tIns="0" bIns="0">
            <a:noAutofit/>
          </a:bodyPr>
          <a:lstStyle/>
          <a:p>
            <a:pPr algn="l"/>
            <a:r>
              <a:rPr sz="700" b="1" i="0">
                <a:solidFill>
                  <a:srgbClr val="586586"/>
                </a:solidFill>
                <a:latin typeface="Outfit"/>
              </a:rPr>
              <a:t>POURQUOI</a:t>
            </a:r>
          </a:p>
        </p:txBody>
      </p:sp>
      <p:sp>
        <p:nvSpPr>
          <p:cNvPr id="17" name="TextBox 16"/>
          <p:cNvSpPr txBox="1"/>
          <p:nvPr/>
        </p:nvSpPr>
        <p:spPr>
          <a:xfrm>
            <a:off x="3407664" y="2438717"/>
            <a:ext cx="2113788" cy="944562"/>
          </a:xfrm>
          <a:prstGeom prst="rect">
            <a:avLst/>
          </a:prstGeom>
          <a:noFill/>
        </p:spPr>
        <p:txBody>
          <a:bodyPr wrap="square" anchor="t" lIns="0" rIns="0" tIns="0" bIns="0">
            <a:noAutofit/>
          </a:bodyPr>
          <a:lstStyle/>
          <a:p>
            <a:pPr algn="l">
              <a:lnSpc>
                <a:spcPct val="125000"/>
              </a:lnSpc>
            </a:pPr>
            <a:r>
              <a:rPr sz="850" b="0" i="0">
                <a:solidFill>
                  <a:srgbClr val="0E2356"/>
                </a:solidFill>
                <a:latin typeface="Outfit"/>
              </a:rPr>
              <a:t>Le module est réutilisé mission après mission — sans mesure d'usage, impossible de distinguer une méthode qui s'améliore d'une méthode qui stagne.</a:t>
            </a:r>
          </a:p>
        </p:txBody>
      </p:sp>
      <p:sp>
        <p:nvSpPr>
          <p:cNvPr id="18" name="Rectangle 17"/>
          <p:cNvSpPr/>
          <p:nvPr/>
        </p:nvSpPr>
        <p:spPr>
          <a:xfrm>
            <a:off x="3407664" y="3469233"/>
            <a:ext cx="2113788"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07664" y="3566160"/>
            <a:ext cx="2113788" cy="146304"/>
          </a:xfrm>
          <a:prstGeom prst="rect">
            <a:avLst/>
          </a:prstGeom>
          <a:noFill/>
        </p:spPr>
        <p:txBody>
          <a:bodyPr wrap="square" anchor="t" lIns="0" rIns="0" tIns="0" bIns="0">
            <a:noAutofit/>
          </a:bodyPr>
          <a:lstStyle/>
          <a:p>
            <a:pPr algn="l"/>
            <a:r>
              <a:rPr sz="700" b="1" i="0">
                <a:solidFill>
                  <a:srgbClr val="586586"/>
                </a:solidFill>
                <a:latin typeface="Outfit"/>
              </a:rPr>
              <a:t>QUOI, PRÉCISÉMENT</a:t>
            </a:r>
          </a:p>
        </p:txBody>
      </p:sp>
      <p:sp>
        <p:nvSpPr>
          <p:cNvPr id="20" name="TextBox 19"/>
          <p:cNvSpPr txBox="1"/>
          <p:nvPr/>
        </p:nvSpPr>
        <p:spPr>
          <a:xfrm>
            <a:off x="3407664" y="3749040"/>
            <a:ext cx="2113788" cy="944562"/>
          </a:xfrm>
          <a:prstGeom prst="rect">
            <a:avLst/>
          </a:prstGeom>
          <a:noFill/>
        </p:spPr>
        <p:txBody>
          <a:bodyPr wrap="square" anchor="t" lIns="0" rIns="0" tIns="0" bIns="0">
            <a:noAutofit/>
          </a:bodyPr>
          <a:lstStyle/>
          <a:p>
            <a:pPr algn="l">
              <a:lnSpc>
                <a:spcPct val="125000"/>
              </a:lnSpc>
            </a:pPr>
            <a:r>
              <a:rPr sz="850" b="0" i="0">
                <a:solidFill>
                  <a:srgbClr val="0E2356"/>
                </a:solidFill>
                <a:latin typeface="Outfit"/>
              </a:rPr>
              <a:t>Temps en heures consultant pour un cadrage flash ; part des livrables issus d'un template sans réécriture substantielle — pas juste « utilisé un template ».</a:t>
            </a:r>
          </a:p>
        </p:txBody>
      </p:sp>
      <p:sp>
        <p:nvSpPr>
          <p:cNvPr id="21" name="Rounded Rectangle 20"/>
          <p:cNvSpPr/>
          <p:nvPr/>
        </p:nvSpPr>
        <p:spPr>
          <a:xfrm>
            <a:off x="6898386" y="1195133"/>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98386" y="1195133"/>
            <a:ext cx="457200" cy="457200"/>
          </a:xfrm>
          <a:prstGeom prst="rect">
            <a:avLst/>
          </a:prstGeom>
          <a:noFill/>
        </p:spPr>
        <p:txBody>
          <a:bodyPr wrap="square" anchor="ctr" lIns="0" rIns="0" tIns="0" bIns="0">
            <a:noAutofit/>
          </a:bodyPr>
          <a:lstStyle/>
          <a:p>
            <a:pPr algn="ctr"/>
            <a:r>
              <a:rPr sz="1500" b="1" i="0">
                <a:solidFill>
                  <a:srgbClr val="FFFFFF"/>
                </a:solidFill>
                <a:latin typeface="Outfit"/>
              </a:rPr>
              <a:t>G</a:t>
            </a:r>
          </a:p>
        </p:txBody>
      </p:sp>
      <p:sp>
        <p:nvSpPr>
          <p:cNvPr id="23" name="TextBox 22"/>
          <p:cNvSpPr txBox="1"/>
          <p:nvPr/>
        </p:nvSpPr>
        <p:spPr>
          <a:xfrm>
            <a:off x="5887212" y="1743773"/>
            <a:ext cx="2479548" cy="274320"/>
          </a:xfrm>
          <a:prstGeom prst="rect">
            <a:avLst/>
          </a:prstGeom>
          <a:noFill/>
        </p:spPr>
        <p:txBody>
          <a:bodyPr wrap="square" anchor="ctr" lIns="0" rIns="0" tIns="0" bIns="0">
            <a:noAutofit/>
          </a:bodyPr>
          <a:lstStyle/>
          <a:p>
            <a:pPr algn="ctr">
              <a:lnSpc>
                <a:spcPct val="105000"/>
              </a:lnSpc>
            </a:pPr>
            <a:r>
              <a:rPr sz="950" b="1" i="0">
                <a:solidFill>
                  <a:srgbClr val="0E2356"/>
                </a:solidFill>
                <a:latin typeface="Outfit"/>
              </a:rPr>
              <a:t>Grille de maturité</a:t>
            </a:r>
          </a:p>
        </p:txBody>
      </p:sp>
      <p:sp>
        <p:nvSpPr>
          <p:cNvPr id="24" name="Rounded Rectangle 23"/>
          <p:cNvSpPr/>
          <p:nvPr/>
        </p:nvSpPr>
        <p:spPr>
          <a:xfrm>
            <a:off x="5887212" y="2109533"/>
            <a:ext cx="2479548" cy="2730373"/>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070092" y="2255837"/>
            <a:ext cx="2113788" cy="146304"/>
          </a:xfrm>
          <a:prstGeom prst="rect">
            <a:avLst/>
          </a:prstGeom>
          <a:noFill/>
        </p:spPr>
        <p:txBody>
          <a:bodyPr wrap="square" anchor="t" lIns="0" rIns="0" tIns="0" bIns="0">
            <a:noAutofit/>
          </a:bodyPr>
          <a:lstStyle/>
          <a:p>
            <a:pPr algn="l"/>
            <a:r>
              <a:rPr sz="700" b="1" i="0">
                <a:solidFill>
                  <a:srgbClr val="586586"/>
                </a:solidFill>
                <a:latin typeface="Outfit"/>
              </a:rPr>
              <a:t>POURQUOI</a:t>
            </a:r>
          </a:p>
        </p:txBody>
      </p:sp>
      <p:sp>
        <p:nvSpPr>
          <p:cNvPr id="26" name="TextBox 25"/>
          <p:cNvSpPr txBox="1"/>
          <p:nvPr/>
        </p:nvSpPr>
        <p:spPr>
          <a:xfrm>
            <a:off x="6070092" y="2438717"/>
            <a:ext cx="2113788" cy="944562"/>
          </a:xfrm>
          <a:prstGeom prst="rect">
            <a:avLst/>
          </a:prstGeom>
          <a:noFill/>
        </p:spPr>
        <p:txBody>
          <a:bodyPr wrap="square" anchor="t" lIns="0" rIns="0" tIns="0" bIns="0">
            <a:noAutofit/>
          </a:bodyPr>
          <a:lstStyle/>
          <a:p>
            <a:pPr algn="l">
              <a:lnSpc>
                <a:spcPct val="125000"/>
              </a:lnSpc>
            </a:pPr>
            <a:r>
              <a:rPr sz="850" b="0" i="0">
                <a:solidFill>
                  <a:srgbClr val="0E2356"/>
                </a:solidFill>
                <a:latin typeface="Outfit"/>
              </a:rPr>
              <a:t>Sans mesure répétée dans le temps, la maturité reste une opinion de consultant, pas un delta objectivable — ce qui rend la boucle ⟲ vérifiable plutôt que déclarative.</a:t>
            </a:r>
          </a:p>
        </p:txBody>
      </p:sp>
      <p:sp>
        <p:nvSpPr>
          <p:cNvPr id="27" name="Rectangle 26"/>
          <p:cNvSpPr/>
          <p:nvPr/>
        </p:nvSpPr>
        <p:spPr>
          <a:xfrm>
            <a:off x="6070092" y="3469233"/>
            <a:ext cx="2113788"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070092" y="3566160"/>
            <a:ext cx="2113788" cy="146304"/>
          </a:xfrm>
          <a:prstGeom prst="rect">
            <a:avLst/>
          </a:prstGeom>
          <a:noFill/>
        </p:spPr>
        <p:txBody>
          <a:bodyPr wrap="square" anchor="t" lIns="0" rIns="0" tIns="0" bIns="0">
            <a:noAutofit/>
          </a:bodyPr>
          <a:lstStyle/>
          <a:p>
            <a:pPr algn="l"/>
            <a:r>
              <a:rPr sz="700" b="1" i="0">
                <a:solidFill>
                  <a:srgbClr val="586586"/>
                </a:solidFill>
                <a:latin typeface="Outfit"/>
              </a:rPr>
              <a:t>QUOI, PRÉCISÉMENT</a:t>
            </a:r>
          </a:p>
        </p:txBody>
      </p:sp>
      <p:sp>
        <p:nvSpPr>
          <p:cNvPr id="29" name="TextBox 28"/>
          <p:cNvSpPr txBox="1"/>
          <p:nvPr/>
        </p:nvSpPr>
        <p:spPr>
          <a:xfrm>
            <a:off x="6070092" y="3749040"/>
            <a:ext cx="2113788" cy="944562"/>
          </a:xfrm>
          <a:prstGeom prst="rect">
            <a:avLst/>
          </a:prstGeom>
          <a:noFill/>
        </p:spPr>
        <p:txBody>
          <a:bodyPr wrap="square" anchor="t" lIns="0" rIns="0" tIns="0" bIns="0">
            <a:noAutofit/>
          </a:bodyPr>
          <a:lstStyle/>
          <a:p>
            <a:pPr algn="l">
              <a:lnSpc>
                <a:spcPct val="125000"/>
              </a:lnSpc>
            </a:pPr>
            <a:r>
              <a:rPr sz="850" b="0" i="0">
                <a:solidFill>
                  <a:srgbClr val="0E2356"/>
                </a:solidFill>
                <a:latin typeface="Outfit"/>
              </a:rPr>
              <a:t>Delta par pilier (pas un score agrégé qui masquerait un recul) ; même instrument (grille V3.2) à T0 et à chaque re-assessment.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KPI   ·   </a:t>
            </a:r>
            <a:r>
              <a:rPr b="1" sz="1700">
                <a:solidFill>
                  <a:srgbClr val="0E2356"/>
                </a:solidFill>
                <a:latin typeface="Outfit"/>
              </a:rPr>
              <a:t>KPIs : comment on les met en place, concrètement</a:t>
            </a:r>
          </a:p>
        </p:txBody>
      </p:sp>
      <p:sp>
        <p:nvSpPr>
          <p:cNvPr id="3" name="Rounded Rectangle 2"/>
          <p:cNvSpPr/>
          <p:nvPr/>
        </p:nvSpPr>
        <p:spPr>
          <a:xfrm>
            <a:off x="562356" y="1395984"/>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2356" y="1395984"/>
            <a:ext cx="310896" cy="310896"/>
          </a:xfrm>
          <a:prstGeom prst="rect">
            <a:avLst/>
          </a:prstGeom>
          <a:noFill/>
        </p:spPr>
        <p:txBody>
          <a:bodyPr wrap="square" anchor="ctr" lIns="0" rIns="0" tIns="0" bIns="0">
            <a:noAutofit/>
          </a:bodyPr>
          <a:lstStyle/>
          <a:p>
            <a:pPr algn="ctr"/>
            <a:r>
              <a:rPr sz="1100" b="1" i="0">
                <a:solidFill>
                  <a:srgbClr val="FFFFFF"/>
                </a:solidFill>
                <a:latin typeface="Outfit"/>
              </a:rPr>
              <a:t>M</a:t>
            </a:r>
          </a:p>
        </p:txBody>
      </p:sp>
      <p:sp>
        <p:nvSpPr>
          <p:cNvPr id="5" name="TextBox 4"/>
          <p:cNvSpPr txBox="1"/>
          <p:nvPr/>
        </p:nvSpPr>
        <p:spPr>
          <a:xfrm>
            <a:off x="1001268" y="1097280"/>
            <a:ext cx="978407" cy="908304"/>
          </a:xfrm>
          <a:prstGeom prst="rect">
            <a:avLst/>
          </a:prstGeom>
          <a:noFill/>
        </p:spPr>
        <p:txBody>
          <a:bodyPr wrap="square" anchor="ctr" lIns="0" rIns="0" tIns="0" bIns="0">
            <a:noAutofit/>
          </a:bodyPr>
          <a:lstStyle/>
          <a:p>
            <a:pPr algn="l">
              <a:lnSpc>
                <a:spcPct val="115000"/>
              </a:lnSpc>
            </a:pPr>
            <a:r>
              <a:rPr sz="850" b="1" i="0">
                <a:solidFill>
                  <a:srgbClr val="0E2356"/>
                </a:solidFill>
                <a:latin typeface="Outfit"/>
              </a:rPr>
              <a:t>KPIs de mission</a:t>
            </a:r>
          </a:p>
        </p:txBody>
      </p:sp>
      <p:sp>
        <p:nvSpPr>
          <p:cNvPr id="6" name="Rounded Rectangle 5"/>
          <p:cNvSpPr/>
          <p:nvPr/>
        </p:nvSpPr>
        <p:spPr>
          <a:xfrm>
            <a:off x="2125980" y="1097280"/>
            <a:ext cx="1921764" cy="908304"/>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53996" y="1225295"/>
            <a:ext cx="1665732" cy="652272"/>
          </a:xfrm>
          <a:prstGeom prst="rect">
            <a:avLst/>
          </a:prstGeom>
          <a:noFill/>
        </p:spPr>
        <p:txBody>
          <a:bodyPr wrap="square" anchor="t" lIns="0" rIns="0" tIns="0" bIns="0">
            <a:noAutofit/>
          </a:bodyPr>
          <a:lstStyle/>
          <a:p>
            <a:pPr algn="l"/>
            <a:r>
              <a:rPr sz="650" b="1" i="0">
                <a:solidFill>
                  <a:srgbClr val="586586"/>
                </a:solidFill>
                <a:latin typeface="Outfit"/>
              </a:rPr>
              <a:t>OWNER</a:t>
            </a:r>
          </a:p>
          <a:p>
            <a:pPr algn="l">
              <a:lnSpc>
                <a:spcPct val="120000"/>
              </a:lnSpc>
              <a:spcBef>
                <a:spcPts val="300"/>
              </a:spcBef>
            </a:pPr>
            <a:r>
              <a:rPr sz="800" b="0" i="0">
                <a:solidFill>
                  <a:srgbClr val="0E2356"/>
                </a:solidFill>
                <a:latin typeface="Outfit"/>
              </a:rPr>
              <a:t>iap-metrics-sre-finops-lead</a:t>
            </a:r>
          </a:p>
        </p:txBody>
      </p:sp>
      <p:sp>
        <p:nvSpPr>
          <p:cNvPr id="8" name="Chevron 7"/>
          <p:cNvSpPr/>
          <p:nvPr/>
        </p:nvSpPr>
        <p:spPr>
          <a:xfrm>
            <a:off x="4081028" y="1324356"/>
            <a:ext cx="171175" cy="454152"/>
          </a:xfrm>
          <a:prstGeom prst="chevron">
            <a:avLst/>
          </a:prstGeom>
          <a:solidFill>
            <a:srgbClr val="FFFFFF"/>
          </a:solidFill>
          <a:ln w="1778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285488" y="1097280"/>
            <a:ext cx="1921764" cy="908304"/>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13504" y="1225295"/>
            <a:ext cx="1665732" cy="652272"/>
          </a:xfrm>
          <a:prstGeom prst="rect">
            <a:avLst/>
          </a:prstGeom>
          <a:noFill/>
        </p:spPr>
        <p:txBody>
          <a:bodyPr wrap="square" anchor="t" lIns="0" rIns="0" tIns="0" bIns="0">
            <a:noAutofit/>
          </a:bodyPr>
          <a:lstStyle/>
          <a:p>
            <a:pPr algn="l"/>
            <a:r>
              <a:rPr sz="650" b="1" i="0">
                <a:solidFill>
                  <a:srgbClr val="586586"/>
                </a:solidFill>
                <a:latin typeface="Outfit"/>
              </a:rPr>
              <a:t>SOURCE DES DONNÉES</a:t>
            </a:r>
          </a:p>
          <a:p>
            <a:pPr algn="l">
              <a:lnSpc>
                <a:spcPct val="120000"/>
              </a:lnSpc>
              <a:spcBef>
                <a:spcPts val="300"/>
              </a:spcBef>
            </a:pPr>
            <a:r>
              <a:rPr sz="800" b="0" i="0">
                <a:solidFill>
                  <a:srgbClr val="0E2356"/>
                </a:solidFill>
                <a:latin typeface="Outfit"/>
              </a:rPr>
              <a:t>ServiceNow/Jira/CMDB si accès (preuves externes), sinon déclaratif — tagué DÉDUIT</a:t>
            </a:r>
          </a:p>
        </p:txBody>
      </p:sp>
      <p:sp>
        <p:nvSpPr>
          <p:cNvPr id="11" name="Chevron 10"/>
          <p:cNvSpPr/>
          <p:nvPr/>
        </p:nvSpPr>
        <p:spPr>
          <a:xfrm>
            <a:off x="6240536" y="1324356"/>
            <a:ext cx="171175" cy="454152"/>
          </a:xfrm>
          <a:prstGeom prst="chevron">
            <a:avLst/>
          </a:prstGeom>
          <a:solidFill>
            <a:srgbClr val="FFFFFF"/>
          </a:solidFill>
          <a:ln w="1778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444996" y="1097280"/>
            <a:ext cx="1921764" cy="908304"/>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73011" y="1225295"/>
            <a:ext cx="1665732" cy="652272"/>
          </a:xfrm>
          <a:prstGeom prst="rect">
            <a:avLst/>
          </a:prstGeom>
          <a:noFill/>
        </p:spPr>
        <p:txBody>
          <a:bodyPr wrap="square" anchor="t" lIns="0" rIns="0" tIns="0" bIns="0">
            <a:noAutofit/>
          </a:bodyPr>
          <a:lstStyle/>
          <a:p>
            <a:pPr algn="l"/>
            <a:r>
              <a:rPr sz="650" b="1" i="0">
                <a:solidFill>
                  <a:srgbClr val="586586"/>
                </a:solidFill>
                <a:latin typeface="Outfit"/>
              </a:rPr>
              <a:t>CADENCE</a:t>
            </a:r>
          </a:p>
          <a:p>
            <a:pPr algn="l">
              <a:lnSpc>
                <a:spcPct val="120000"/>
              </a:lnSpc>
              <a:spcBef>
                <a:spcPts val="300"/>
              </a:spcBef>
            </a:pPr>
            <a:r>
              <a:rPr sz="800" b="0" i="0">
                <a:solidFill>
                  <a:srgbClr val="0E2356"/>
                </a:solidFill>
                <a:latin typeface="Outfit"/>
              </a:rPr>
              <a:t>Continu, lu à chaque étape ②③⟲</a:t>
            </a:r>
          </a:p>
        </p:txBody>
      </p:sp>
      <p:sp>
        <p:nvSpPr>
          <p:cNvPr id="14" name="Rounded Rectangle 13"/>
          <p:cNvSpPr/>
          <p:nvPr/>
        </p:nvSpPr>
        <p:spPr>
          <a:xfrm>
            <a:off x="562356" y="2450592"/>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2356" y="2450592"/>
            <a:ext cx="310896" cy="310896"/>
          </a:xfrm>
          <a:prstGeom prst="rect">
            <a:avLst/>
          </a:prstGeom>
          <a:noFill/>
        </p:spPr>
        <p:txBody>
          <a:bodyPr wrap="square" anchor="ctr" lIns="0" rIns="0" tIns="0" bIns="0">
            <a:noAutofit/>
          </a:bodyPr>
          <a:lstStyle/>
          <a:p>
            <a:pPr algn="ctr"/>
            <a:r>
              <a:rPr sz="1100" b="1" i="0">
                <a:solidFill>
                  <a:srgbClr val="FFFFFF"/>
                </a:solidFill>
                <a:latin typeface="Outfit"/>
              </a:rPr>
              <a:t>U</a:t>
            </a:r>
          </a:p>
        </p:txBody>
      </p:sp>
      <p:sp>
        <p:nvSpPr>
          <p:cNvPr id="16" name="TextBox 15"/>
          <p:cNvSpPr txBox="1"/>
          <p:nvPr/>
        </p:nvSpPr>
        <p:spPr>
          <a:xfrm>
            <a:off x="1001268" y="2151888"/>
            <a:ext cx="978407" cy="908304"/>
          </a:xfrm>
          <a:prstGeom prst="rect">
            <a:avLst/>
          </a:prstGeom>
          <a:noFill/>
        </p:spPr>
        <p:txBody>
          <a:bodyPr wrap="square" anchor="ctr" lIns="0" rIns="0" tIns="0" bIns="0">
            <a:noAutofit/>
          </a:bodyPr>
          <a:lstStyle/>
          <a:p>
            <a:pPr algn="l">
              <a:lnSpc>
                <a:spcPct val="115000"/>
              </a:lnSpc>
            </a:pPr>
            <a:r>
              <a:rPr sz="850" b="1" i="0">
                <a:solidFill>
                  <a:srgbClr val="0E2356"/>
                </a:solidFill>
                <a:latin typeface="Outfit"/>
              </a:rPr>
              <a:t>KPIs d'usage du module</a:t>
            </a:r>
          </a:p>
        </p:txBody>
      </p:sp>
      <p:sp>
        <p:nvSpPr>
          <p:cNvPr id="17" name="Rounded Rectangle 16"/>
          <p:cNvSpPr/>
          <p:nvPr/>
        </p:nvSpPr>
        <p:spPr>
          <a:xfrm>
            <a:off x="2125980" y="2151888"/>
            <a:ext cx="1921764" cy="908304"/>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253996" y="2279904"/>
            <a:ext cx="1665732" cy="652272"/>
          </a:xfrm>
          <a:prstGeom prst="rect">
            <a:avLst/>
          </a:prstGeom>
          <a:noFill/>
        </p:spPr>
        <p:txBody>
          <a:bodyPr wrap="square" anchor="t" lIns="0" rIns="0" tIns="0" bIns="0">
            <a:noAutofit/>
          </a:bodyPr>
          <a:lstStyle/>
          <a:p>
            <a:pPr algn="l"/>
            <a:r>
              <a:rPr sz="650" b="1" i="0">
                <a:solidFill>
                  <a:srgbClr val="586586"/>
                </a:solidFill>
                <a:latin typeface="Outfit"/>
              </a:rPr>
              <a:t>OWNER</a:t>
            </a:r>
          </a:p>
          <a:p>
            <a:pPr algn="l">
              <a:lnSpc>
                <a:spcPct val="120000"/>
              </a:lnSpc>
              <a:spcBef>
                <a:spcPts val="300"/>
              </a:spcBef>
            </a:pPr>
            <a:r>
              <a:rPr sz="800" b="0" i="0">
                <a:solidFill>
                  <a:srgbClr val="0E2356"/>
                </a:solidFill>
                <a:latin typeface="Outfit"/>
              </a:rPr>
              <a:t>Le consultant, au fil des missions</a:t>
            </a:r>
          </a:p>
        </p:txBody>
      </p:sp>
      <p:sp>
        <p:nvSpPr>
          <p:cNvPr id="19" name="Chevron 18"/>
          <p:cNvSpPr/>
          <p:nvPr/>
        </p:nvSpPr>
        <p:spPr>
          <a:xfrm>
            <a:off x="4081028" y="2378964"/>
            <a:ext cx="171175" cy="454152"/>
          </a:xfrm>
          <a:prstGeom prst="chevron">
            <a:avLst/>
          </a:prstGeom>
          <a:solidFill>
            <a:srgbClr val="FFFFFF"/>
          </a:solidFill>
          <a:ln w="1778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285488" y="2151888"/>
            <a:ext cx="1921764" cy="908304"/>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13504" y="2279904"/>
            <a:ext cx="1665732" cy="652272"/>
          </a:xfrm>
          <a:prstGeom prst="rect">
            <a:avLst/>
          </a:prstGeom>
          <a:noFill/>
        </p:spPr>
        <p:txBody>
          <a:bodyPr wrap="square" anchor="t" lIns="0" rIns="0" tIns="0" bIns="0">
            <a:noAutofit/>
          </a:bodyPr>
          <a:lstStyle/>
          <a:p>
            <a:pPr algn="l"/>
            <a:r>
              <a:rPr sz="650" b="1" i="0">
                <a:solidFill>
                  <a:srgbClr val="586586"/>
                </a:solidFill>
                <a:latin typeface="Outfit"/>
              </a:rPr>
              <a:t>SOURCE DES DONNÉES</a:t>
            </a:r>
          </a:p>
          <a:p>
            <a:pPr algn="l">
              <a:lnSpc>
                <a:spcPct val="120000"/>
              </a:lnSpc>
              <a:spcBef>
                <a:spcPts val="300"/>
              </a:spcBef>
            </a:pPr>
            <a:r>
              <a:rPr sz="800" b="0" i="0">
                <a:solidFill>
                  <a:srgbClr val="0E2356"/>
                </a:solidFill>
                <a:latin typeface="Outfit"/>
              </a:rPr>
              <a:t>Journal de mission + bibliothèque de REX</a:t>
            </a:r>
          </a:p>
        </p:txBody>
      </p:sp>
      <p:sp>
        <p:nvSpPr>
          <p:cNvPr id="22" name="Chevron 21"/>
          <p:cNvSpPr/>
          <p:nvPr/>
        </p:nvSpPr>
        <p:spPr>
          <a:xfrm>
            <a:off x="6240536" y="2378964"/>
            <a:ext cx="171175" cy="454152"/>
          </a:xfrm>
          <a:prstGeom prst="chevron">
            <a:avLst/>
          </a:prstGeom>
          <a:solidFill>
            <a:srgbClr val="FFFFFF"/>
          </a:solidFill>
          <a:ln w="1778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444996" y="2151888"/>
            <a:ext cx="1921764" cy="908304"/>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73011" y="2279904"/>
            <a:ext cx="1665732" cy="652272"/>
          </a:xfrm>
          <a:prstGeom prst="rect">
            <a:avLst/>
          </a:prstGeom>
          <a:noFill/>
        </p:spPr>
        <p:txBody>
          <a:bodyPr wrap="square" anchor="t" lIns="0" rIns="0" tIns="0" bIns="0">
            <a:noAutofit/>
          </a:bodyPr>
          <a:lstStyle/>
          <a:p>
            <a:pPr algn="l"/>
            <a:r>
              <a:rPr sz="650" b="1" i="0">
                <a:solidFill>
                  <a:srgbClr val="586586"/>
                </a:solidFill>
                <a:latin typeface="Outfit"/>
              </a:rPr>
              <a:t>CADENCE</a:t>
            </a:r>
          </a:p>
          <a:p>
            <a:pPr algn="l">
              <a:lnSpc>
                <a:spcPct val="120000"/>
              </a:lnSpc>
              <a:spcBef>
                <a:spcPts val="300"/>
              </a:spcBef>
            </a:pPr>
            <a:r>
              <a:rPr sz="800" b="0" i="0">
                <a:solidFill>
                  <a:srgbClr val="0E2356"/>
                </a:solidFill>
                <a:latin typeface="Outfit"/>
              </a:rPr>
              <a:t>Par mission, consolidé à MVP5</a:t>
            </a:r>
          </a:p>
        </p:txBody>
      </p:sp>
      <p:sp>
        <p:nvSpPr>
          <p:cNvPr id="25" name="Rounded Rectangle 24"/>
          <p:cNvSpPr/>
          <p:nvPr/>
        </p:nvSpPr>
        <p:spPr>
          <a:xfrm>
            <a:off x="562356" y="3505200"/>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2356" y="3505200"/>
            <a:ext cx="310896" cy="310896"/>
          </a:xfrm>
          <a:prstGeom prst="rect">
            <a:avLst/>
          </a:prstGeom>
          <a:noFill/>
        </p:spPr>
        <p:txBody>
          <a:bodyPr wrap="square" anchor="ctr" lIns="0" rIns="0" tIns="0" bIns="0">
            <a:noAutofit/>
          </a:bodyPr>
          <a:lstStyle/>
          <a:p>
            <a:pPr algn="ctr"/>
            <a:r>
              <a:rPr sz="1100" b="1" i="0">
                <a:solidFill>
                  <a:srgbClr val="FFFFFF"/>
                </a:solidFill>
                <a:latin typeface="Outfit"/>
              </a:rPr>
              <a:t>G</a:t>
            </a:r>
          </a:p>
        </p:txBody>
      </p:sp>
      <p:sp>
        <p:nvSpPr>
          <p:cNvPr id="27" name="TextBox 26"/>
          <p:cNvSpPr txBox="1"/>
          <p:nvPr/>
        </p:nvSpPr>
        <p:spPr>
          <a:xfrm>
            <a:off x="1001268" y="3206496"/>
            <a:ext cx="978407" cy="908304"/>
          </a:xfrm>
          <a:prstGeom prst="rect">
            <a:avLst/>
          </a:prstGeom>
          <a:noFill/>
        </p:spPr>
        <p:txBody>
          <a:bodyPr wrap="square" anchor="ctr" lIns="0" rIns="0" tIns="0" bIns="0">
            <a:noAutofit/>
          </a:bodyPr>
          <a:lstStyle/>
          <a:p>
            <a:pPr algn="l">
              <a:lnSpc>
                <a:spcPct val="115000"/>
              </a:lnSpc>
            </a:pPr>
            <a:r>
              <a:rPr sz="850" b="1" i="0">
                <a:solidFill>
                  <a:srgbClr val="0E2356"/>
                </a:solidFill>
                <a:latin typeface="Outfit"/>
              </a:rPr>
              <a:t>Grille de maturité</a:t>
            </a:r>
          </a:p>
        </p:txBody>
      </p:sp>
      <p:sp>
        <p:nvSpPr>
          <p:cNvPr id="28" name="Rounded Rectangle 27"/>
          <p:cNvSpPr/>
          <p:nvPr/>
        </p:nvSpPr>
        <p:spPr>
          <a:xfrm>
            <a:off x="2125980" y="3206496"/>
            <a:ext cx="1921764" cy="908304"/>
          </a:xfrm>
          <a:prstGeom prst="roundRect">
            <a:avLst>
              <a:gd name="adj" fmla="val 14000"/>
            </a:avLst>
          </a:prstGeom>
          <a:solidFill>
            <a:srgbClr val="E6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253996" y="3334512"/>
            <a:ext cx="1665732" cy="652272"/>
          </a:xfrm>
          <a:prstGeom prst="rect">
            <a:avLst/>
          </a:prstGeom>
          <a:noFill/>
        </p:spPr>
        <p:txBody>
          <a:bodyPr wrap="square" anchor="t" lIns="0" rIns="0" tIns="0" bIns="0">
            <a:noAutofit/>
          </a:bodyPr>
          <a:lstStyle/>
          <a:p>
            <a:pPr algn="l"/>
            <a:r>
              <a:rPr sz="650" b="1" i="0">
                <a:solidFill>
                  <a:srgbClr val="586586"/>
                </a:solidFill>
                <a:latin typeface="Outfit"/>
              </a:rPr>
              <a:t>OWNER</a:t>
            </a:r>
          </a:p>
          <a:p>
            <a:pPr algn="l">
              <a:lnSpc>
                <a:spcPct val="120000"/>
              </a:lnSpc>
              <a:spcBef>
                <a:spcPts val="300"/>
              </a:spcBef>
            </a:pPr>
            <a:r>
              <a:rPr sz="800" b="0" i="0">
                <a:solidFill>
                  <a:srgbClr val="0E2356"/>
                </a:solidFill>
                <a:latin typeface="Outfit"/>
              </a:rPr>
              <a:t>iap-strategy-lead</a:t>
            </a:r>
          </a:p>
        </p:txBody>
      </p:sp>
      <p:sp>
        <p:nvSpPr>
          <p:cNvPr id="30" name="Chevron 29"/>
          <p:cNvSpPr/>
          <p:nvPr/>
        </p:nvSpPr>
        <p:spPr>
          <a:xfrm>
            <a:off x="4081028" y="3433572"/>
            <a:ext cx="171175" cy="454152"/>
          </a:xfrm>
          <a:prstGeom prst="chevron">
            <a:avLst/>
          </a:prstGeom>
          <a:solidFill>
            <a:srgbClr val="FFFFFF"/>
          </a:solidFill>
          <a:ln w="1778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285488" y="3206496"/>
            <a:ext cx="1921764" cy="908304"/>
          </a:xfrm>
          <a:prstGeom prst="roundRect">
            <a:avLst>
              <a:gd name="adj" fmla="val 14000"/>
            </a:avLst>
          </a:prstGeom>
          <a:solidFill>
            <a:srgbClr val="E6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13504" y="3334512"/>
            <a:ext cx="1665732" cy="652272"/>
          </a:xfrm>
          <a:prstGeom prst="rect">
            <a:avLst/>
          </a:prstGeom>
          <a:noFill/>
        </p:spPr>
        <p:txBody>
          <a:bodyPr wrap="square" anchor="t" lIns="0" rIns="0" tIns="0" bIns="0">
            <a:noAutofit/>
          </a:bodyPr>
          <a:lstStyle/>
          <a:p>
            <a:pPr algn="l"/>
            <a:r>
              <a:rPr sz="650" b="1" i="0">
                <a:solidFill>
                  <a:srgbClr val="586586"/>
                </a:solidFill>
                <a:latin typeface="Outfit"/>
              </a:rPr>
              <a:t>SOURCE DES DONNÉES</a:t>
            </a:r>
          </a:p>
          <a:p>
            <a:pPr algn="l">
              <a:lnSpc>
                <a:spcPct val="120000"/>
              </a:lnSpc>
              <a:spcBef>
                <a:spcPts val="300"/>
              </a:spcBef>
            </a:pPr>
            <a:r>
              <a:rPr sz="800" b="0" i="0">
                <a:solidFill>
                  <a:srgbClr val="0E2356"/>
                </a:solidFill>
                <a:latin typeface="Outfit"/>
              </a:rPr>
              <a:t>Grille V3.2 repassée en atelier ou en interview</a:t>
            </a:r>
          </a:p>
        </p:txBody>
      </p:sp>
      <p:sp>
        <p:nvSpPr>
          <p:cNvPr id="33" name="Chevron 32"/>
          <p:cNvSpPr/>
          <p:nvPr/>
        </p:nvSpPr>
        <p:spPr>
          <a:xfrm>
            <a:off x="6240536" y="3433572"/>
            <a:ext cx="171175" cy="454152"/>
          </a:xfrm>
          <a:prstGeom prst="chevron">
            <a:avLst/>
          </a:prstGeom>
          <a:solidFill>
            <a:srgbClr val="FFFFFF"/>
          </a:solidFill>
          <a:ln w="1778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444996" y="3206496"/>
            <a:ext cx="1921764" cy="908304"/>
          </a:xfrm>
          <a:prstGeom prst="roundRect">
            <a:avLst>
              <a:gd name="adj" fmla="val 14000"/>
            </a:avLst>
          </a:prstGeom>
          <a:solidFill>
            <a:srgbClr val="E6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73011" y="3334512"/>
            <a:ext cx="1665732" cy="652272"/>
          </a:xfrm>
          <a:prstGeom prst="rect">
            <a:avLst/>
          </a:prstGeom>
          <a:noFill/>
        </p:spPr>
        <p:txBody>
          <a:bodyPr wrap="square" anchor="t" lIns="0" rIns="0" tIns="0" bIns="0">
            <a:noAutofit/>
          </a:bodyPr>
          <a:lstStyle/>
          <a:p>
            <a:pPr algn="l"/>
            <a:r>
              <a:rPr sz="650" b="1" i="0">
                <a:solidFill>
                  <a:srgbClr val="586586"/>
                </a:solidFill>
                <a:latin typeface="Outfit"/>
              </a:rPr>
              <a:t>CADENCE</a:t>
            </a:r>
          </a:p>
          <a:p>
            <a:pPr algn="l">
              <a:lnSpc>
                <a:spcPct val="120000"/>
              </a:lnSpc>
              <a:spcBef>
                <a:spcPts val="300"/>
              </a:spcBef>
            </a:pPr>
            <a:r>
              <a:rPr sz="800" b="0" i="0">
                <a:solidFill>
                  <a:srgbClr val="0E2356"/>
                </a:solidFill>
                <a:latin typeface="Outfit"/>
              </a:rPr>
              <a:t>T0 (① Assessment flash) puis chaque boucle ⟲</a:t>
            </a:r>
          </a:p>
        </p:txBody>
      </p:sp>
      <p:sp>
        <p:nvSpPr>
          <p:cNvPr id="36" name="Rounded Rectangle 35"/>
          <p:cNvSpPr/>
          <p:nvPr/>
        </p:nvSpPr>
        <p:spPr>
          <a:xfrm>
            <a:off x="562356" y="4261104"/>
            <a:ext cx="7804404" cy="722375"/>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5236" y="4261104"/>
            <a:ext cx="7438644" cy="722375"/>
          </a:xfrm>
          <a:prstGeom prst="rect">
            <a:avLst/>
          </a:prstGeom>
          <a:noFill/>
        </p:spPr>
        <p:txBody>
          <a:bodyPr wrap="square" anchor="ctr" lIns="0" rIns="0" tIns="0" bIns="0">
            <a:noAutofit/>
          </a:bodyPr>
          <a:lstStyle/>
          <a:p>
            <a:pPr algn="l"/>
            <a:r>
              <a:rPr sz="800" b="1" i="0">
                <a:solidFill>
                  <a:srgbClr val="0E2356"/>
                </a:solidFill>
                <a:latin typeface="Outfit"/>
              </a:rPr>
              <a:t>Pas d'instrumentation automatique en MVP1</a:t>
            </a:r>
          </a:p>
          <a:p>
            <a:pPr algn="l">
              <a:lnSpc>
                <a:spcPct val="120000"/>
              </a:lnSpc>
              <a:spcBef>
                <a:spcPts val="300"/>
              </a:spcBef>
            </a:pPr>
            <a:r>
              <a:rPr sz="800" b="0" i="0">
                <a:solidFill>
                  <a:srgbClr val="586586"/>
                </a:solidFill>
                <a:latin typeface="Outfit"/>
              </a:rPr>
              <a:t>Cohérent avec le Niveau A/B assumé (§Ambition de l'outil) : recueil et rapport à la main tant qu'aucun tableau de bord temps réel n'est promis avant le Niveau C.</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KPI   ·   </a:t>
            </a:r>
            <a:r>
              <a:rPr b="1" sz="1250">
                <a:solidFill>
                  <a:srgbClr val="0E2356"/>
                </a:solidFill>
                <a:latin typeface="Outfit"/>
              </a:rPr>
              <a:t>La grille de maturité : deux échelles distinctes, mesurées dans le temps</a:t>
            </a:r>
          </a:p>
        </p:txBody>
      </p:sp>
      <p:sp>
        <p:nvSpPr>
          <p:cNvPr id="3" name="TextBox 2"/>
          <p:cNvSpPr txBox="1"/>
          <p:nvPr/>
        </p:nvSpPr>
        <p:spPr>
          <a:xfrm>
            <a:off x="562356" y="1051560"/>
            <a:ext cx="7804404" cy="384048"/>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La 3e famille de KPIs. Deux lectures qui ne mesurent pas la même chose et se lisent séparément ; le KPI de progression, c'est le DELTA par pilier entre T0 et chaque réévaluation — pas le niveau absolu.</a:t>
            </a:r>
          </a:p>
        </p:txBody>
      </p:sp>
      <p:sp>
        <p:nvSpPr>
          <p:cNvPr id="4" name="TextBox 3"/>
          <p:cNvSpPr txBox="1"/>
          <p:nvPr/>
        </p:nvSpPr>
        <p:spPr>
          <a:xfrm>
            <a:off x="562356" y="1508760"/>
            <a:ext cx="3810762" cy="457200"/>
          </a:xfrm>
          <a:prstGeom prst="rect">
            <a:avLst/>
          </a:prstGeom>
          <a:noFill/>
        </p:spPr>
        <p:txBody>
          <a:bodyPr wrap="square" anchor="t" lIns="0" rIns="0" tIns="0" bIns="0">
            <a:noAutofit/>
          </a:bodyPr>
          <a:lstStyle/>
          <a:p>
            <a:pPr algn="l"/>
            <a:r>
              <a:rPr sz="900" b="1" i="0">
                <a:solidFill>
                  <a:srgbClr val="0E2356"/>
                </a:solidFill>
                <a:latin typeface="Outfit"/>
              </a:rPr>
              <a:t>CAPACITÉ IA DU CLIENT (M0–M4)</a:t>
            </a:r>
          </a:p>
          <a:p>
            <a:pPr algn="l">
              <a:lnSpc>
                <a:spcPct val="105000"/>
              </a:lnSpc>
              <a:spcBef>
                <a:spcPts val="200"/>
              </a:spcBef>
            </a:pPr>
            <a:r>
              <a:rPr sz="750" b="0" i="0">
                <a:solidFill>
                  <a:srgbClr val="0E2356"/>
                </a:solidFill>
                <a:latin typeface="Outfit"/>
              </a:rPr>
              <a:t>→ gouverne le choix du modèle IA et le gate</a:t>
            </a:r>
          </a:p>
        </p:txBody>
      </p:sp>
      <p:sp>
        <p:nvSpPr>
          <p:cNvPr id="5" name="Rounded Rectangle 4"/>
          <p:cNvSpPr/>
          <p:nvPr/>
        </p:nvSpPr>
        <p:spPr>
          <a:xfrm>
            <a:off x="562356" y="1984248"/>
            <a:ext cx="566928" cy="53035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2356" y="1984248"/>
            <a:ext cx="566928" cy="530352"/>
          </a:xfrm>
          <a:prstGeom prst="rect">
            <a:avLst/>
          </a:prstGeom>
          <a:noFill/>
        </p:spPr>
        <p:txBody>
          <a:bodyPr wrap="square" anchor="ctr" lIns="0" rIns="0" tIns="0" bIns="0">
            <a:noAutofit/>
          </a:bodyPr>
          <a:lstStyle/>
          <a:p>
            <a:pPr algn="ctr"/>
            <a:r>
              <a:rPr sz="900" b="1" i="0">
                <a:solidFill>
                  <a:srgbClr val="FFFFFF"/>
                </a:solidFill>
                <a:latin typeface="Outfit"/>
              </a:rPr>
              <a:t>M0</a:t>
            </a:r>
          </a:p>
        </p:txBody>
      </p:sp>
      <p:sp>
        <p:nvSpPr>
          <p:cNvPr id="7" name="TextBox 6"/>
          <p:cNvSpPr txBox="1"/>
          <p:nvPr/>
        </p:nvSpPr>
        <p:spPr>
          <a:xfrm>
            <a:off x="1266443" y="1984248"/>
            <a:ext cx="2969514" cy="530352"/>
          </a:xfrm>
          <a:prstGeom prst="rect">
            <a:avLst/>
          </a:prstGeom>
          <a:noFill/>
        </p:spPr>
        <p:txBody>
          <a:bodyPr wrap="square" anchor="ctr" lIns="0" rIns="0" tIns="0" bIns="0">
            <a:noAutofit/>
          </a:bodyPr>
          <a:lstStyle/>
          <a:p>
            <a:pPr algn="l"/>
            <a:r>
              <a:rPr sz="900" b="1" i="0">
                <a:solidFill>
                  <a:srgbClr val="0E2356"/>
                </a:solidFill>
                <a:latin typeface="Outfit"/>
              </a:rPr>
              <a:t>Pas d'IA interne utilisable</a:t>
            </a:r>
          </a:p>
          <a:p>
            <a:pPr algn="l">
              <a:lnSpc>
                <a:spcPct val="110000"/>
              </a:lnSpc>
              <a:spcBef>
                <a:spcPts val="100"/>
              </a:spcBef>
            </a:pPr>
            <a:r>
              <a:rPr sz="800" b="0" i="0">
                <a:solidFill>
                  <a:srgbClr val="586586"/>
                </a:solidFill>
                <a:latin typeface="Outfit"/>
              </a:rPr>
              <a:t>Méthodo générique, données anonymisées</a:t>
            </a:r>
          </a:p>
        </p:txBody>
      </p:sp>
      <p:sp>
        <p:nvSpPr>
          <p:cNvPr id="8" name="Rounded Rectangle 7"/>
          <p:cNvSpPr/>
          <p:nvPr/>
        </p:nvSpPr>
        <p:spPr>
          <a:xfrm>
            <a:off x="562356" y="2569463"/>
            <a:ext cx="566928" cy="53035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2356" y="2569463"/>
            <a:ext cx="566928" cy="530352"/>
          </a:xfrm>
          <a:prstGeom prst="rect">
            <a:avLst/>
          </a:prstGeom>
          <a:noFill/>
        </p:spPr>
        <p:txBody>
          <a:bodyPr wrap="square" anchor="ctr" lIns="0" rIns="0" tIns="0" bIns="0">
            <a:noAutofit/>
          </a:bodyPr>
          <a:lstStyle/>
          <a:p>
            <a:pPr algn="ctr"/>
            <a:r>
              <a:rPr sz="900" b="1" i="0">
                <a:solidFill>
                  <a:srgbClr val="FFFFFF"/>
                </a:solidFill>
                <a:latin typeface="Outfit"/>
              </a:rPr>
              <a:t>M1</a:t>
            </a:r>
          </a:p>
        </p:txBody>
      </p:sp>
      <p:sp>
        <p:nvSpPr>
          <p:cNvPr id="10" name="TextBox 9"/>
          <p:cNvSpPr txBox="1"/>
          <p:nvPr/>
        </p:nvSpPr>
        <p:spPr>
          <a:xfrm>
            <a:off x="1266443" y="2569463"/>
            <a:ext cx="2969514" cy="530352"/>
          </a:xfrm>
          <a:prstGeom prst="rect">
            <a:avLst/>
          </a:prstGeom>
          <a:noFill/>
        </p:spPr>
        <p:txBody>
          <a:bodyPr wrap="square" anchor="ctr" lIns="0" rIns="0" tIns="0" bIns="0">
            <a:noAutofit/>
          </a:bodyPr>
          <a:lstStyle/>
          <a:p>
            <a:pPr algn="l"/>
            <a:r>
              <a:rPr sz="900" b="1" i="0">
                <a:solidFill>
                  <a:srgbClr val="0E2356"/>
                </a:solidFill>
                <a:latin typeface="Outfit"/>
              </a:rPr>
              <a:t>IA interne basique</a:t>
            </a:r>
          </a:p>
          <a:p>
            <a:pPr algn="l">
              <a:lnSpc>
                <a:spcPct val="110000"/>
              </a:lnSpc>
              <a:spcBef>
                <a:spcPts val="100"/>
              </a:spcBef>
            </a:pPr>
            <a:r>
              <a:rPr sz="800" b="0" i="0">
                <a:solidFill>
                  <a:srgbClr val="586586"/>
                </a:solidFill>
                <a:latin typeface="Outfit"/>
              </a:rPr>
              <a:t>Synthèses internes, pas d'analyse critique auto</a:t>
            </a:r>
          </a:p>
        </p:txBody>
      </p:sp>
      <p:sp>
        <p:nvSpPr>
          <p:cNvPr id="11" name="Rounded Rectangle 10"/>
          <p:cNvSpPr/>
          <p:nvPr/>
        </p:nvSpPr>
        <p:spPr>
          <a:xfrm>
            <a:off x="562356" y="3154679"/>
            <a:ext cx="566928" cy="53035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2356" y="3154679"/>
            <a:ext cx="566928" cy="530352"/>
          </a:xfrm>
          <a:prstGeom prst="rect">
            <a:avLst/>
          </a:prstGeom>
          <a:noFill/>
        </p:spPr>
        <p:txBody>
          <a:bodyPr wrap="square" anchor="ctr" lIns="0" rIns="0" tIns="0" bIns="0">
            <a:noAutofit/>
          </a:bodyPr>
          <a:lstStyle/>
          <a:p>
            <a:pPr algn="ctr"/>
            <a:r>
              <a:rPr sz="900" b="1" i="0">
                <a:solidFill>
                  <a:srgbClr val="FFFFFF"/>
                </a:solidFill>
                <a:latin typeface="Outfit"/>
              </a:rPr>
              <a:t>M2</a:t>
            </a:r>
          </a:p>
        </p:txBody>
      </p:sp>
      <p:sp>
        <p:nvSpPr>
          <p:cNvPr id="13" name="TextBox 12"/>
          <p:cNvSpPr txBox="1"/>
          <p:nvPr/>
        </p:nvSpPr>
        <p:spPr>
          <a:xfrm>
            <a:off x="1266443" y="3154679"/>
            <a:ext cx="2969514" cy="530352"/>
          </a:xfrm>
          <a:prstGeom prst="rect">
            <a:avLst/>
          </a:prstGeom>
          <a:noFill/>
        </p:spPr>
        <p:txBody>
          <a:bodyPr wrap="square" anchor="ctr" lIns="0" rIns="0" tIns="0" bIns="0">
            <a:noAutofit/>
          </a:bodyPr>
          <a:lstStyle/>
          <a:p>
            <a:pPr algn="l"/>
            <a:r>
              <a:rPr sz="900" b="1" i="0">
                <a:solidFill>
                  <a:srgbClr val="0E2356"/>
                </a:solidFill>
                <a:latin typeface="Outfit"/>
              </a:rPr>
              <a:t>IA privée avec RAG</a:t>
            </a:r>
          </a:p>
          <a:p>
            <a:pPr algn="l">
              <a:lnSpc>
                <a:spcPct val="110000"/>
              </a:lnSpc>
              <a:spcBef>
                <a:spcPts val="100"/>
              </a:spcBef>
            </a:pPr>
            <a:r>
              <a:rPr sz="800" b="0" i="0">
                <a:solidFill>
                  <a:srgbClr val="586586"/>
                </a:solidFill>
                <a:latin typeface="Outfit"/>
              </a:rPr>
              <a:t>Diagnostic documentaire, consolidation</a:t>
            </a:r>
          </a:p>
        </p:txBody>
      </p:sp>
      <p:sp>
        <p:nvSpPr>
          <p:cNvPr id="14" name="Rounded Rectangle 13"/>
          <p:cNvSpPr/>
          <p:nvPr/>
        </p:nvSpPr>
        <p:spPr>
          <a:xfrm>
            <a:off x="562356" y="3739896"/>
            <a:ext cx="566928" cy="53035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2356" y="3739896"/>
            <a:ext cx="566928" cy="530352"/>
          </a:xfrm>
          <a:prstGeom prst="rect">
            <a:avLst/>
          </a:prstGeom>
          <a:noFill/>
        </p:spPr>
        <p:txBody>
          <a:bodyPr wrap="square" anchor="ctr" lIns="0" rIns="0" tIns="0" bIns="0">
            <a:noAutofit/>
          </a:bodyPr>
          <a:lstStyle/>
          <a:p>
            <a:pPr algn="ctr"/>
            <a:r>
              <a:rPr sz="900" b="1" i="0">
                <a:solidFill>
                  <a:srgbClr val="FFFFFF"/>
                </a:solidFill>
                <a:latin typeface="Outfit"/>
              </a:rPr>
              <a:t>M3</a:t>
            </a:r>
          </a:p>
        </p:txBody>
      </p:sp>
      <p:sp>
        <p:nvSpPr>
          <p:cNvPr id="16" name="TextBox 15"/>
          <p:cNvSpPr txBox="1"/>
          <p:nvPr/>
        </p:nvSpPr>
        <p:spPr>
          <a:xfrm>
            <a:off x="1266443" y="3739896"/>
            <a:ext cx="2969514" cy="530352"/>
          </a:xfrm>
          <a:prstGeom prst="rect">
            <a:avLst/>
          </a:prstGeom>
          <a:noFill/>
        </p:spPr>
        <p:txBody>
          <a:bodyPr wrap="square" anchor="ctr" lIns="0" rIns="0" tIns="0" bIns="0">
            <a:noAutofit/>
          </a:bodyPr>
          <a:lstStyle/>
          <a:p>
            <a:pPr algn="l"/>
            <a:r>
              <a:rPr sz="900" b="1" i="0">
                <a:solidFill>
                  <a:srgbClr val="0E2356"/>
                </a:solidFill>
                <a:latin typeface="Outfit"/>
              </a:rPr>
              <a:t>Plateforme IA gouvernée</a:t>
            </a:r>
          </a:p>
          <a:p>
            <a:pPr algn="l">
              <a:lnSpc>
                <a:spcPct val="110000"/>
              </a:lnSpc>
              <a:spcBef>
                <a:spcPts val="100"/>
              </a:spcBef>
            </a:pPr>
            <a:r>
              <a:rPr sz="800" b="0" i="0">
                <a:solidFill>
                  <a:srgbClr val="586586"/>
                </a:solidFill>
                <a:latin typeface="Outfit"/>
              </a:rPr>
              <a:t>Workflows agentic contrôlés</a:t>
            </a:r>
          </a:p>
        </p:txBody>
      </p:sp>
      <p:sp>
        <p:nvSpPr>
          <p:cNvPr id="17" name="Rounded Rectangle 16"/>
          <p:cNvSpPr/>
          <p:nvPr/>
        </p:nvSpPr>
        <p:spPr>
          <a:xfrm>
            <a:off x="562356" y="4325112"/>
            <a:ext cx="566928" cy="53035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2356" y="4325112"/>
            <a:ext cx="566928" cy="530352"/>
          </a:xfrm>
          <a:prstGeom prst="rect">
            <a:avLst/>
          </a:prstGeom>
          <a:noFill/>
        </p:spPr>
        <p:txBody>
          <a:bodyPr wrap="square" anchor="ctr" lIns="0" rIns="0" tIns="0" bIns="0">
            <a:noAutofit/>
          </a:bodyPr>
          <a:lstStyle/>
          <a:p>
            <a:pPr algn="ctr"/>
            <a:r>
              <a:rPr sz="900" b="1" i="0">
                <a:solidFill>
                  <a:srgbClr val="FFFFFF"/>
                </a:solidFill>
                <a:latin typeface="Outfit"/>
              </a:rPr>
              <a:t>M4</a:t>
            </a:r>
          </a:p>
        </p:txBody>
      </p:sp>
      <p:sp>
        <p:nvSpPr>
          <p:cNvPr id="19" name="TextBox 18"/>
          <p:cNvSpPr txBox="1"/>
          <p:nvPr/>
        </p:nvSpPr>
        <p:spPr>
          <a:xfrm>
            <a:off x="1266443" y="4325112"/>
            <a:ext cx="2969514" cy="530352"/>
          </a:xfrm>
          <a:prstGeom prst="rect">
            <a:avLst/>
          </a:prstGeom>
          <a:noFill/>
        </p:spPr>
        <p:txBody>
          <a:bodyPr wrap="square" anchor="ctr" lIns="0" rIns="0" tIns="0" bIns="0">
            <a:noAutofit/>
          </a:bodyPr>
          <a:lstStyle/>
          <a:p>
            <a:pPr algn="l"/>
            <a:r>
              <a:rPr sz="900" b="1" i="0">
                <a:solidFill>
                  <a:srgbClr val="0E2356"/>
                </a:solidFill>
                <a:latin typeface="Outfit"/>
              </a:rPr>
              <a:t>IA industrielle</a:t>
            </a:r>
          </a:p>
          <a:p>
            <a:pPr algn="l">
              <a:lnSpc>
                <a:spcPct val="110000"/>
              </a:lnSpc>
              <a:spcBef>
                <a:spcPts val="100"/>
              </a:spcBef>
            </a:pPr>
            <a:r>
              <a:rPr sz="800" b="0" i="0">
                <a:solidFill>
                  <a:srgbClr val="586586"/>
                </a:solidFill>
                <a:latin typeface="Outfit"/>
              </a:rPr>
              <a:t>Agents spécialisés à fort volume, contrôle humain</a:t>
            </a:r>
          </a:p>
        </p:txBody>
      </p:sp>
      <p:sp>
        <p:nvSpPr>
          <p:cNvPr id="20" name="TextBox 19"/>
          <p:cNvSpPr txBox="1"/>
          <p:nvPr/>
        </p:nvSpPr>
        <p:spPr>
          <a:xfrm>
            <a:off x="4555998" y="1508760"/>
            <a:ext cx="3810762" cy="457200"/>
          </a:xfrm>
          <a:prstGeom prst="rect">
            <a:avLst/>
          </a:prstGeom>
          <a:noFill/>
        </p:spPr>
        <p:txBody>
          <a:bodyPr wrap="square" anchor="t" lIns="0" rIns="0" tIns="0" bIns="0">
            <a:noAutofit/>
          </a:bodyPr>
          <a:lstStyle/>
          <a:p>
            <a:pPr algn="l"/>
            <a:r>
              <a:rPr sz="900" b="1" i="0">
                <a:solidFill>
                  <a:srgbClr val="0E2356"/>
                </a:solidFill>
                <a:latin typeface="Outfit"/>
              </a:rPr>
              <a:t>MATURITÉ PRODUIT / PLATEFORME (grille V3.2)</a:t>
            </a:r>
          </a:p>
          <a:p>
            <a:pPr algn="l">
              <a:lnSpc>
                <a:spcPct val="105000"/>
              </a:lnSpc>
              <a:spcBef>
                <a:spcPts val="200"/>
              </a:spcBef>
            </a:pPr>
            <a:r>
              <a:rPr sz="750" b="0" i="0">
                <a:solidFill>
                  <a:srgbClr val="0E2356"/>
                </a:solidFill>
                <a:latin typeface="Outfit"/>
              </a:rPr>
              <a:t>→ gouverne la trajectoire de transformation</a:t>
            </a:r>
          </a:p>
        </p:txBody>
      </p:sp>
      <p:sp>
        <p:nvSpPr>
          <p:cNvPr id="21" name="Rounded Rectangle 20"/>
          <p:cNvSpPr/>
          <p:nvPr/>
        </p:nvSpPr>
        <p:spPr>
          <a:xfrm>
            <a:off x="4555998" y="2185416"/>
            <a:ext cx="128016" cy="12801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12030" y="1984248"/>
            <a:ext cx="3554730" cy="530352"/>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Équipe Produit</a:t>
            </a:r>
          </a:p>
          <a:p>
            <a:pPr algn="l">
              <a:spcBef>
                <a:spcPts val="100"/>
              </a:spcBef>
            </a:pPr>
            <a:r>
              <a:rPr sz="800" b="0" i="0">
                <a:solidFill>
                  <a:srgbClr val="586586"/>
                </a:solidFill>
                <a:latin typeface="Outfit"/>
              </a:rPr>
              <a:t>Adjacent</a:t>
            </a:r>
          </a:p>
        </p:txBody>
      </p:sp>
      <p:sp>
        <p:nvSpPr>
          <p:cNvPr id="23" name="Rounded Rectangle 22"/>
          <p:cNvSpPr/>
          <p:nvPr/>
        </p:nvSpPr>
        <p:spPr>
          <a:xfrm>
            <a:off x="4555998" y="2770632"/>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12030" y="2569463"/>
            <a:ext cx="3554730" cy="530352"/>
          </a:xfrm>
          <a:prstGeom prst="rect">
            <a:avLst/>
          </a:prstGeom>
          <a:noFill/>
        </p:spPr>
        <p:txBody>
          <a:bodyPr wrap="square" anchor="ctr" lIns="0" rIns="0" tIns="0" bIns="0">
            <a:noAutofit/>
          </a:bodyPr>
          <a:lstStyle/>
          <a:p>
            <a:pPr algn="l">
              <a:lnSpc>
                <a:spcPct val="110000"/>
              </a:lnSpc>
            </a:pPr>
            <a:r>
              <a:rPr sz="900" b="1" i="0">
                <a:solidFill>
                  <a:srgbClr val="0E2356"/>
                </a:solidFill>
                <a:latin typeface="Outfit"/>
              </a:rPr>
              <a:t>Excellence Technique</a:t>
            </a:r>
          </a:p>
          <a:p>
            <a:pPr algn="l">
              <a:spcBef>
                <a:spcPts val="100"/>
              </a:spcBef>
            </a:pPr>
            <a:r>
              <a:rPr sz="800" b="0" i="0">
                <a:solidFill>
                  <a:srgbClr val="0E2356"/>
                </a:solidFill>
                <a:latin typeface="Outfit"/>
              </a:rPr>
              <a:t>Cœur du périmètre</a:t>
            </a:r>
          </a:p>
        </p:txBody>
      </p:sp>
      <p:sp>
        <p:nvSpPr>
          <p:cNvPr id="25" name="Rounded Rectangle 24"/>
          <p:cNvSpPr/>
          <p:nvPr/>
        </p:nvSpPr>
        <p:spPr>
          <a:xfrm>
            <a:off x="4555998" y="3355848"/>
            <a:ext cx="128016" cy="12801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12030" y="3154679"/>
            <a:ext cx="3554730" cy="530352"/>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Culture de l'Entreprise Agile</a:t>
            </a:r>
          </a:p>
          <a:p>
            <a:pPr algn="l">
              <a:spcBef>
                <a:spcPts val="100"/>
              </a:spcBef>
            </a:pPr>
            <a:r>
              <a:rPr sz="800" b="0" i="0">
                <a:solidFill>
                  <a:srgbClr val="586586"/>
                </a:solidFill>
                <a:latin typeface="Outfit"/>
              </a:rPr>
              <a:t>Adjacent</a:t>
            </a:r>
          </a:p>
        </p:txBody>
      </p:sp>
      <p:sp>
        <p:nvSpPr>
          <p:cNvPr id="27" name="Rounded Rectangle 26"/>
          <p:cNvSpPr/>
          <p:nvPr/>
        </p:nvSpPr>
        <p:spPr>
          <a:xfrm>
            <a:off x="4555998" y="3941063"/>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812030" y="3739896"/>
            <a:ext cx="3554730" cy="530352"/>
          </a:xfrm>
          <a:prstGeom prst="rect">
            <a:avLst/>
          </a:prstGeom>
          <a:noFill/>
        </p:spPr>
        <p:txBody>
          <a:bodyPr wrap="square" anchor="ctr" lIns="0" rIns="0" tIns="0" bIns="0">
            <a:noAutofit/>
          </a:bodyPr>
          <a:lstStyle/>
          <a:p>
            <a:pPr algn="l">
              <a:lnSpc>
                <a:spcPct val="110000"/>
              </a:lnSpc>
            </a:pPr>
            <a:r>
              <a:rPr sz="900" b="1" i="0">
                <a:solidFill>
                  <a:srgbClr val="0E2356"/>
                </a:solidFill>
                <a:latin typeface="Outfit"/>
              </a:rPr>
              <a:t>Agilité à l'Échelle</a:t>
            </a:r>
          </a:p>
          <a:p>
            <a:pPr algn="l">
              <a:spcBef>
                <a:spcPts val="100"/>
              </a:spcBef>
            </a:pPr>
            <a:r>
              <a:rPr sz="800" b="0" i="0">
                <a:solidFill>
                  <a:srgbClr val="0E2356"/>
                </a:solidFill>
                <a:latin typeface="Outfit"/>
              </a:rPr>
              <a:t>Cœur du périmètre</a:t>
            </a:r>
          </a:p>
        </p:txBody>
      </p:sp>
      <p:sp>
        <p:nvSpPr>
          <p:cNvPr id="29" name="Rounded Rectangle 28"/>
          <p:cNvSpPr/>
          <p:nvPr/>
        </p:nvSpPr>
        <p:spPr>
          <a:xfrm>
            <a:off x="4555998" y="4526279"/>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12030" y="4325112"/>
            <a:ext cx="3554730" cy="530352"/>
          </a:xfrm>
          <a:prstGeom prst="rect">
            <a:avLst/>
          </a:prstGeom>
          <a:noFill/>
        </p:spPr>
        <p:txBody>
          <a:bodyPr wrap="square" anchor="ctr" lIns="0" rIns="0" tIns="0" bIns="0">
            <a:noAutofit/>
          </a:bodyPr>
          <a:lstStyle/>
          <a:p>
            <a:pPr algn="l">
              <a:lnSpc>
                <a:spcPct val="110000"/>
              </a:lnSpc>
            </a:pPr>
            <a:r>
              <a:rPr sz="900" b="1" i="0">
                <a:solidFill>
                  <a:srgbClr val="0E2356"/>
                </a:solidFill>
                <a:latin typeface="Outfit"/>
              </a:rPr>
              <a:t>IA, Agentic et Organisation Augmentée</a:t>
            </a:r>
          </a:p>
          <a:p>
            <a:pPr algn="l">
              <a:spcBef>
                <a:spcPts val="100"/>
              </a:spcBef>
            </a:pPr>
            <a:r>
              <a:rPr sz="800" b="0" i="0">
                <a:solidFill>
                  <a:srgbClr val="0E2356"/>
                </a:solidFill>
                <a:latin typeface="Outfit"/>
              </a:rPr>
              <a:t>Où se lit l'axe IA (M0–M4)</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600">
                <a:solidFill>
                  <a:srgbClr val="0E2356"/>
                </a:solidFill>
                <a:latin typeface="Outfit"/>
              </a:rPr>
              <a:t>KPI   ·   </a:t>
            </a:r>
            <a:r>
              <a:rPr b="1" sz="1600">
                <a:solidFill>
                  <a:srgbClr val="0E2356"/>
                </a:solidFill>
                <a:latin typeface="Outfit"/>
              </a:rPr>
              <a:t>KPIs en pratique : le cas nominal RUN massif, avant/après</a:t>
            </a:r>
          </a:p>
        </p:txBody>
      </p:sp>
      <p:sp>
        <p:nvSpPr>
          <p:cNvPr id="3" name="TextBox 2"/>
          <p:cNvSpPr txBox="1"/>
          <p:nvPr/>
        </p:nvSpPr>
        <p:spPr>
          <a:xfrm>
            <a:off x="562356" y="1051560"/>
            <a:ext cx="7804404" cy="256032"/>
          </a:xfrm>
          <a:prstGeom prst="rect">
            <a:avLst/>
          </a:prstGeom>
          <a:noFill/>
        </p:spPr>
        <p:txBody>
          <a:bodyPr wrap="square" anchor="t" lIns="0" rIns="0" tIns="0" bIns="0">
            <a:noAutofit/>
          </a:bodyPr>
          <a:lstStyle/>
          <a:p>
            <a:pPr algn="l"/>
            <a:r>
              <a:rPr sz="800" b="0" i="1">
                <a:solidFill>
                  <a:srgbClr val="586586"/>
                </a:solidFill>
                <a:latin typeface="Outfit"/>
              </a:rPr>
              <a:t>Même fixture illustrative que l'agent de triage de tickets et le cas nominal de l'export markdown (chapitre IA) — pas un client réel.</a:t>
            </a:r>
          </a:p>
        </p:txBody>
      </p:sp>
      <p:sp>
        <p:nvSpPr>
          <p:cNvPr id="4" name="TextBox 3"/>
          <p:cNvSpPr txBox="1"/>
          <p:nvPr/>
        </p:nvSpPr>
        <p:spPr>
          <a:xfrm>
            <a:off x="562356" y="1417319"/>
            <a:ext cx="2606040" cy="219456"/>
          </a:xfrm>
          <a:prstGeom prst="rect">
            <a:avLst/>
          </a:prstGeom>
          <a:noFill/>
        </p:spPr>
        <p:txBody>
          <a:bodyPr wrap="square" anchor="t" lIns="0" rIns="0" tIns="0" bIns="0">
            <a:spAutoFit/>
          </a:bodyPr>
          <a:lstStyle/>
          <a:p>
            <a:r>
              <a:rPr sz="700" b="1">
                <a:solidFill>
                  <a:srgbClr val="586586"/>
                </a:solidFill>
                <a:latin typeface="Outfit"/>
              </a:rPr>
              <a:t>KPI</a:t>
            </a:r>
          </a:p>
        </p:txBody>
      </p:sp>
      <p:sp>
        <p:nvSpPr>
          <p:cNvPr id="5" name="TextBox 4"/>
          <p:cNvSpPr txBox="1"/>
          <p:nvPr/>
        </p:nvSpPr>
        <p:spPr>
          <a:xfrm>
            <a:off x="3278124" y="1417319"/>
            <a:ext cx="1600200" cy="219456"/>
          </a:xfrm>
          <a:prstGeom prst="rect">
            <a:avLst/>
          </a:prstGeom>
          <a:noFill/>
        </p:spPr>
        <p:txBody>
          <a:bodyPr wrap="square" anchor="t" lIns="0" rIns="0" tIns="0" bIns="0">
            <a:spAutoFit/>
          </a:bodyPr>
          <a:lstStyle/>
          <a:p>
            <a:r>
              <a:rPr sz="700" b="1">
                <a:solidFill>
                  <a:srgbClr val="586586"/>
                </a:solidFill>
                <a:latin typeface="Outfit"/>
              </a:rPr>
              <a:t>T0 · ① ASSESSMENT FLASH</a:t>
            </a:r>
          </a:p>
        </p:txBody>
      </p:sp>
      <p:sp>
        <p:nvSpPr>
          <p:cNvPr id="6" name="TextBox 5"/>
          <p:cNvSpPr txBox="1"/>
          <p:nvPr/>
        </p:nvSpPr>
        <p:spPr>
          <a:xfrm>
            <a:off x="4988052" y="1417319"/>
            <a:ext cx="1691640" cy="219456"/>
          </a:xfrm>
          <a:prstGeom prst="rect">
            <a:avLst/>
          </a:prstGeom>
          <a:noFill/>
        </p:spPr>
        <p:txBody>
          <a:bodyPr wrap="square" anchor="t" lIns="0" rIns="0" tIns="0" bIns="0">
            <a:spAutoFit/>
          </a:bodyPr>
          <a:lstStyle/>
          <a:p>
            <a:r>
              <a:rPr sz="700" b="1">
                <a:solidFill>
                  <a:srgbClr val="586586"/>
                </a:solidFill>
                <a:latin typeface="Outfit"/>
              </a:rPr>
              <a:t>T+6-12 MOIS · </a:t>
            </a:r>
            <a:r>
              <a:rPr sz="700" b="0">
                <a:solidFill>
                  <a:srgbClr val="586586"/>
                </a:solidFill>
                <a:latin typeface="Arial"/>
              </a:rPr>
              <a:t>⟲</a:t>
            </a:r>
            <a:r>
              <a:rPr sz="700" b="1">
                <a:solidFill>
                  <a:srgbClr val="586586"/>
                </a:solidFill>
                <a:latin typeface="Outfit"/>
              </a:rPr>
              <a:t> RÉÉVALUATION</a:t>
            </a:r>
          </a:p>
        </p:txBody>
      </p:sp>
      <p:sp>
        <p:nvSpPr>
          <p:cNvPr id="7" name="TextBox 6"/>
          <p:cNvSpPr txBox="1"/>
          <p:nvPr/>
        </p:nvSpPr>
        <p:spPr>
          <a:xfrm>
            <a:off x="6789420" y="1417319"/>
            <a:ext cx="1577340" cy="219456"/>
          </a:xfrm>
          <a:prstGeom prst="rect">
            <a:avLst/>
          </a:prstGeom>
          <a:noFill/>
        </p:spPr>
        <p:txBody>
          <a:bodyPr wrap="square" anchor="t" lIns="0" rIns="0" tIns="0" bIns="0">
            <a:spAutoFit/>
          </a:bodyPr>
          <a:lstStyle/>
          <a:p>
            <a:r>
              <a:rPr sz="700" b="1">
                <a:solidFill>
                  <a:srgbClr val="586586"/>
                </a:solidFill>
                <a:latin typeface="Outfit"/>
              </a:rPr>
              <a:t>TAG</a:t>
            </a:r>
          </a:p>
        </p:txBody>
      </p:sp>
      <p:sp>
        <p:nvSpPr>
          <p:cNvPr id="8" name="Rectangle 7"/>
          <p:cNvSpPr/>
          <p:nvPr/>
        </p:nvSpPr>
        <p:spPr>
          <a:xfrm>
            <a:off x="562356" y="2276856"/>
            <a:ext cx="7804404"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2356" y="1709928"/>
            <a:ext cx="2606040" cy="566928"/>
          </a:xfrm>
          <a:prstGeom prst="rect">
            <a:avLst/>
          </a:prstGeom>
          <a:noFill/>
        </p:spPr>
        <p:txBody>
          <a:bodyPr wrap="square" anchor="ctr" lIns="0" rIns="0" tIns="0" bIns="0">
            <a:noAutofit/>
          </a:bodyPr>
          <a:lstStyle/>
          <a:p>
            <a:pPr algn="l">
              <a:lnSpc>
                <a:spcPct val="115000"/>
              </a:lnSpc>
            </a:pPr>
            <a:r>
              <a:rPr sz="800" b="1" i="0">
                <a:solidFill>
                  <a:srgbClr val="0E2356"/>
                </a:solidFill>
                <a:latin typeface="Outfit"/>
              </a:rPr>
              <a:t>Pilier Agentic Readiness</a:t>
            </a:r>
          </a:p>
        </p:txBody>
      </p:sp>
      <p:sp>
        <p:nvSpPr>
          <p:cNvPr id="10" name="TextBox 9"/>
          <p:cNvSpPr txBox="1"/>
          <p:nvPr/>
        </p:nvSpPr>
        <p:spPr>
          <a:xfrm>
            <a:off x="3278124" y="1709928"/>
            <a:ext cx="160020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[1] — process pas assez explicite</a:t>
            </a:r>
          </a:p>
        </p:txBody>
      </p:sp>
      <p:sp>
        <p:nvSpPr>
          <p:cNvPr id="11" name="TextBox 10"/>
          <p:cNvSpPr txBox="1"/>
          <p:nvPr/>
        </p:nvSpPr>
        <p:spPr>
          <a:xfrm>
            <a:off x="4988052" y="1709928"/>
            <a:ext cx="169164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[2] — process explicite, rôles définis</a:t>
            </a:r>
          </a:p>
        </p:txBody>
      </p:sp>
      <p:sp>
        <p:nvSpPr>
          <p:cNvPr id="12" name="Rounded Rectangle 11"/>
          <p:cNvSpPr/>
          <p:nvPr/>
        </p:nvSpPr>
        <p:spPr>
          <a:xfrm>
            <a:off x="6789420" y="1874519"/>
            <a:ext cx="1005840" cy="237744"/>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89420" y="1874519"/>
            <a:ext cx="1005840" cy="237744"/>
          </a:xfrm>
          <a:prstGeom prst="rect">
            <a:avLst/>
          </a:prstGeom>
          <a:noFill/>
        </p:spPr>
        <p:txBody>
          <a:bodyPr wrap="square" anchor="ctr" lIns="0" rIns="0" tIns="0" bIns="0">
            <a:noAutofit/>
          </a:bodyPr>
          <a:lstStyle/>
          <a:p>
            <a:pPr algn="ctr"/>
            <a:r>
              <a:rPr sz="700" b="1" i="0">
                <a:solidFill>
                  <a:srgbClr val="FFFFFF"/>
                </a:solidFill>
                <a:latin typeface="Outfit"/>
              </a:rPr>
              <a:t>CONFIRMÉ</a:t>
            </a:r>
          </a:p>
        </p:txBody>
      </p:sp>
      <p:sp>
        <p:nvSpPr>
          <p:cNvPr id="14" name="Rectangle 13"/>
          <p:cNvSpPr/>
          <p:nvPr/>
        </p:nvSpPr>
        <p:spPr>
          <a:xfrm>
            <a:off x="562356" y="2916936"/>
            <a:ext cx="7804404"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2356" y="2350008"/>
            <a:ext cx="2606040" cy="566928"/>
          </a:xfrm>
          <a:prstGeom prst="rect">
            <a:avLst/>
          </a:prstGeom>
          <a:noFill/>
        </p:spPr>
        <p:txBody>
          <a:bodyPr wrap="square" anchor="ctr" lIns="0" rIns="0" tIns="0" bIns="0">
            <a:noAutofit/>
          </a:bodyPr>
          <a:lstStyle/>
          <a:p>
            <a:pPr algn="l">
              <a:lnSpc>
                <a:spcPct val="115000"/>
              </a:lnSpc>
            </a:pPr>
            <a:r>
              <a:rPr sz="800" b="1" i="0">
                <a:solidFill>
                  <a:srgbClr val="0E2356"/>
                </a:solidFill>
                <a:latin typeface="Outfit"/>
              </a:rPr>
              <a:t>Tickets récurrents évités / mois</a:t>
            </a:r>
          </a:p>
        </p:txBody>
      </p:sp>
      <p:sp>
        <p:nvSpPr>
          <p:cNvPr id="16" name="TextBox 15"/>
          <p:cNvSpPr txBox="1"/>
          <p:nvPr/>
        </p:nvSpPr>
        <p:spPr>
          <a:xfrm>
            <a:off x="3278124" y="2350008"/>
            <a:ext cx="160020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0</a:t>
            </a:r>
          </a:p>
        </p:txBody>
      </p:sp>
      <p:sp>
        <p:nvSpPr>
          <p:cNvPr id="17" name="TextBox 16"/>
          <p:cNvSpPr txBox="1"/>
          <p:nvPr/>
        </p:nvSpPr>
        <p:spPr>
          <a:xfrm>
            <a:off x="4988052" y="2350008"/>
            <a:ext cx="169164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 15</a:t>
            </a:r>
          </a:p>
        </p:txBody>
      </p:sp>
      <p:sp>
        <p:nvSpPr>
          <p:cNvPr id="18" name="Rounded Rectangle 17"/>
          <p:cNvSpPr/>
          <p:nvPr/>
        </p:nvSpPr>
        <p:spPr>
          <a:xfrm>
            <a:off x="6789420" y="2514600"/>
            <a:ext cx="1005840" cy="237744"/>
          </a:xfrm>
          <a:prstGeom prst="roundRect">
            <a:avLst>
              <a:gd name="adj" fmla="val 50000"/>
            </a:avLst>
          </a:prstGeom>
          <a:solidFill>
            <a:srgbClr val="3E4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89420" y="2514600"/>
            <a:ext cx="1005840" cy="237744"/>
          </a:xfrm>
          <a:prstGeom prst="rect">
            <a:avLst/>
          </a:prstGeom>
          <a:noFill/>
        </p:spPr>
        <p:txBody>
          <a:bodyPr wrap="square" anchor="ctr" lIns="0" rIns="0" tIns="0" bIns="0">
            <a:noAutofit/>
          </a:bodyPr>
          <a:lstStyle/>
          <a:p>
            <a:pPr algn="ctr"/>
            <a:r>
              <a:rPr sz="700" b="1" i="0">
                <a:solidFill>
                  <a:srgbClr val="FFFFFF"/>
                </a:solidFill>
                <a:latin typeface="Outfit"/>
              </a:rPr>
              <a:t>DÉDUIT</a:t>
            </a:r>
          </a:p>
        </p:txBody>
      </p:sp>
      <p:sp>
        <p:nvSpPr>
          <p:cNvPr id="20" name="Rectangle 19"/>
          <p:cNvSpPr/>
          <p:nvPr/>
        </p:nvSpPr>
        <p:spPr>
          <a:xfrm>
            <a:off x="562356" y="3557015"/>
            <a:ext cx="7804404"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2356" y="2990087"/>
            <a:ext cx="2606040" cy="566928"/>
          </a:xfrm>
          <a:prstGeom prst="rect">
            <a:avLst/>
          </a:prstGeom>
          <a:noFill/>
        </p:spPr>
        <p:txBody>
          <a:bodyPr wrap="square" anchor="ctr" lIns="0" rIns="0" tIns="0" bIns="0">
            <a:noAutofit/>
          </a:bodyPr>
          <a:lstStyle/>
          <a:p>
            <a:pPr algn="l">
              <a:lnSpc>
                <a:spcPct val="115000"/>
              </a:lnSpc>
            </a:pPr>
            <a:r>
              <a:rPr sz="800" b="1" i="0">
                <a:solidFill>
                  <a:srgbClr val="0E2356"/>
                </a:solidFill>
                <a:latin typeface="Outfit"/>
              </a:rPr>
              <a:t>Temps de triage moyen / ticket</a:t>
            </a:r>
          </a:p>
        </p:txBody>
      </p:sp>
      <p:sp>
        <p:nvSpPr>
          <p:cNvPr id="22" name="TextBox 21"/>
          <p:cNvSpPr txBox="1"/>
          <p:nvPr/>
        </p:nvSpPr>
        <p:spPr>
          <a:xfrm>
            <a:off x="3278124" y="2990087"/>
            <a:ext cx="160020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25 min</a:t>
            </a:r>
          </a:p>
        </p:txBody>
      </p:sp>
      <p:sp>
        <p:nvSpPr>
          <p:cNvPr id="23" name="TextBox 22"/>
          <p:cNvSpPr txBox="1"/>
          <p:nvPr/>
        </p:nvSpPr>
        <p:spPr>
          <a:xfrm>
            <a:off x="4988052" y="2990087"/>
            <a:ext cx="169164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12 min</a:t>
            </a:r>
          </a:p>
        </p:txBody>
      </p:sp>
      <p:sp>
        <p:nvSpPr>
          <p:cNvPr id="24" name="Rounded Rectangle 23"/>
          <p:cNvSpPr/>
          <p:nvPr/>
        </p:nvSpPr>
        <p:spPr>
          <a:xfrm>
            <a:off x="6789420" y="3154679"/>
            <a:ext cx="1005840" cy="237744"/>
          </a:xfrm>
          <a:prstGeom prst="roundRect">
            <a:avLst>
              <a:gd name="adj" fmla="val 50000"/>
            </a:avLst>
          </a:prstGeom>
          <a:solidFill>
            <a:srgbClr val="3E4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89420" y="3154679"/>
            <a:ext cx="1005840" cy="237744"/>
          </a:xfrm>
          <a:prstGeom prst="rect">
            <a:avLst/>
          </a:prstGeom>
          <a:noFill/>
        </p:spPr>
        <p:txBody>
          <a:bodyPr wrap="square" anchor="ctr" lIns="0" rIns="0" tIns="0" bIns="0">
            <a:noAutofit/>
          </a:bodyPr>
          <a:lstStyle/>
          <a:p>
            <a:pPr algn="ctr"/>
            <a:r>
              <a:rPr sz="700" b="1" i="0">
                <a:solidFill>
                  <a:srgbClr val="FFFFFF"/>
                </a:solidFill>
                <a:latin typeface="Outfit"/>
              </a:rPr>
              <a:t>DÉDUIT</a:t>
            </a:r>
          </a:p>
        </p:txBody>
      </p:sp>
      <p:sp>
        <p:nvSpPr>
          <p:cNvPr id="26" name="Rectangle 25"/>
          <p:cNvSpPr/>
          <p:nvPr/>
        </p:nvSpPr>
        <p:spPr>
          <a:xfrm>
            <a:off x="562356" y="4197096"/>
            <a:ext cx="7804404" cy="1097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2356" y="3630168"/>
            <a:ext cx="2606040" cy="566928"/>
          </a:xfrm>
          <a:prstGeom prst="rect">
            <a:avLst/>
          </a:prstGeom>
          <a:noFill/>
        </p:spPr>
        <p:txBody>
          <a:bodyPr wrap="square" anchor="ctr" lIns="0" rIns="0" tIns="0" bIns="0">
            <a:noAutofit/>
          </a:bodyPr>
          <a:lstStyle/>
          <a:p>
            <a:pPr algn="l">
              <a:lnSpc>
                <a:spcPct val="115000"/>
              </a:lnSpc>
            </a:pPr>
            <a:r>
              <a:rPr sz="800" b="1" i="0">
                <a:solidFill>
                  <a:srgbClr val="0E2356"/>
                </a:solidFill>
                <a:latin typeface="Outfit"/>
              </a:rPr>
              <a:t>Recommandation associée</a:t>
            </a:r>
          </a:p>
        </p:txBody>
      </p:sp>
      <p:sp>
        <p:nvSpPr>
          <p:cNvPr id="28" name="TextBox 27"/>
          <p:cNvSpPr txBox="1"/>
          <p:nvPr/>
        </p:nvSpPr>
        <p:spPr>
          <a:xfrm>
            <a:off x="3278124" y="3630168"/>
            <a:ext cx="160020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Documentation-first (runbook)</a:t>
            </a:r>
          </a:p>
        </p:txBody>
      </p:sp>
      <p:sp>
        <p:nvSpPr>
          <p:cNvPr id="29" name="TextBox 28"/>
          <p:cNvSpPr txBox="1"/>
          <p:nvPr/>
        </p:nvSpPr>
        <p:spPr>
          <a:xfrm>
            <a:off x="4988052" y="3630168"/>
            <a:ext cx="1691640" cy="566928"/>
          </a:xfrm>
          <a:prstGeom prst="rect">
            <a:avLst/>
          </a:prstGeom>
          <a:noFill/>
        </p:spPr>
        <p:txBody>
          <a:bodyPr wrap="square" anchor="ctr" lIns="0" rIns="0" tIns="0" bIns="0">
            <a:noAutofit/>
          </a:bodyPr>
          <a:lstStyle/>
          <a:p>
            <a:pPr algn="l">
              <a:lnSpc>
                <a:spcPct val="115000"/>
              </a:lnSpc>
            </a:pPr>
            <a:r>
              <a:rPr sz="800" b="0" i="0">
                <a:solidFill>
                  <a:srgbClr val="0E2356"/>
                </a:solidFill>
                <a:latin typeface="Outfit"/>
              </a:rPr>
              <a:t>Agentic-implementation (même fichier amendé)</a:t>
            </a:r>
          </a:p>
        </p:txBody>
      </p:sp>
      <p:sp>
        <p:nvSpPr>
          <p:cNvPr id="30" name="TextBox 29"/>
          <p:cNvSpPr txBox="1"/>
          <p:nvPr/>
        </p:nvSpPr>
        <p:spPr>
          <a:xfrm>
            <a:off x="6789420" y="3630168"/>
            <a:ext cx="1577340" cy="566928"/>
          </a:xfrm>
          <a:prstGeom prst="rect">
            <a:avLst/>
          </a:prstGeom>
          <a:noFill/>
        </p:spPr>
        <p:txBody>
          <a:bodyPr wrap="square" anchor="ctr" lIns="0" rIns="0" tIns="0" bIns="0">
            <a:noAutofit/>
          </a:bodyPr>
          <a:lstStyle/>
          <a:p>
            <a:pPr algn="ctr"/>
            <a:r>
              <a:rPr sz="800" b="0" i="0">
                <a:solidFill>
                  <a:srgbClr val="586586"/>
                </a:solidFill>
                <a:latin typeface="Outfit"/>
              </a:rPr>
              <a:t>—</a:t>
            </a:r>
          </a:p>
        </p:txBody>
      </p:sp>
      <p:sp>
        <p:nvSpPr>
          <p:cNvPr id="31" name="TextBox 30"/>
          <p:cNvSpPr txBox="1"/>
          <p:nvPr/>
        </p:nvSpPr>
        <p:spPr>
          <a:xfrm>
            <a:off x="562356" y="4334256"/>
            <a:ext cx="7804404" cy="548640"/>
          </a:xfrm>
          <a:prstGeom prst="rect">
            <a:avLst/>
          </a:prstGeom>
          <a:noFill/>
        </p:spPr>
        <p:txBody>
          <a:bodyPr wrap="square" anchor="t" lIns="0" rIns="0" tIns="0" bIns="0">
            <a:noAutofit/>
          </a:bodyPr>
          <a:lstStyle/>
          <a:p>
            <a:pPr algn="l">
              <a:lnSpc>
                <a:spcPct val="125000"/>
              </a:lnSpc>
            </a:pPr>
            <a:r>
              <a:rPr sz="800" b="0" i="1">
                <a:solidFill>
                  <a:srgbClr val="586586"/>
                </a:solidFill>
                <a:latin typeface="Outfit"/>
              </a:rPr>
              <a:t>Le point à retenir n'est pas l'ampleur des chiffres (fixture, pas une preuve) mais la discipline de mesure : même instrument aux deux instants, tag de confiance explicite, et un KPI de maturité qui déclenche directement le changement de recommandation.</a:t>
            </a:r>
          </a:p>
        </p:txBody>
      </p:sp>
    </p:spTree>
  </p:cSld>
  <p:clrMapOvr>
    <a:masterClrMapping/>
  </p:clrMapOvr>
</p:sld>
</file>

<file path=ppt/theme/theme1.xml><?xml version="1.0" encoding="utf-8"?>
<a:theme xmlns:a="http://schemas.openxmlformats.org/drawingml/2006/main" name="2026 - OCTO">
  <a:themeElements>
    <a:clrScheme name="Custom">
      <a:dk1>
        <a:srgbClr val="0E2356"/>
      </a:dk1>
      <a:lt1>
        <a:srgbClr val="FFFFFF"/>
      </a:lt1>
      <a:dk2>
        <a:srgbClr val="3E4F78"/>
      </a:dk2>
      <a:lt2>
        <a:srgbClr val="586586"/>
      </a:lt2>
      <a:accent1>
        <a:srgbClr val="6E7B9A"/>
      </a:accent1>
      <a:accent2>
        <a:srgbClr val="9FA7BB"/>
      </a:accent2>
      <a:accent3>
        <a:srgbClr val="00D2DD"/>
      </a:accent3>
      <a:accent4>
        <a:srgbClr val="B7BDCC"/>
      </a:accent4>
      <a:accent5>
        <a:srgbClr val="CFD3DD"/>
      </a:accent5>
      <a:accent6>
        <a:srgbClr val="E7E9EE"/>
      </a:accent6>
      <a:hlink>
        <a:srgbClr val="33B5CB"/>
      </a:hlink>
      <a:folHlink>
        <a:srgbClr val="33B5C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Custom">
      <a:dk1>
        <a:srgbClr val="0E2356"/>
      </a:dk1>
      <a:lt1>
        <a:srgbClr val="FFFFFF"/>
      </a:lt1>
      <a:dk2>
        <a:srgbClr val="566589"/>
      </a:dk2>
      <a:lt2>
        <a:srgbClr val="8691AA"/>
      </a:lt2>
      <a:accent1>
        <a:srgbClr val="B7BDCC"/>
      </a:accent1>
      <a:accent2>
        <a:srgbClr val="ECEDF3"/>
      </a:accent2>
      <a:accent3>
        <a:srgbClr val="DDF4F8"/>
      </a:accent3>
      <a:accent4>
        <a:srgbClr val="B6E8F0"/>
      </a:accent4>
      <a:accent5>
        <a:srgbClr val="80D7E5"/>
      </a:accent5>
      <a:accent6>
        <a:srgbClr val="00AFCB"/>
      </a:accent6>
      <a:hlink>
        <a:srgbClr val="26BBD3"/>
      </a:hlink>
      <a:folHlink>
        <a:srgbClr val="26BBD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429</Words>
  <Application>Microsoft Office PowerPoint</Application>
  <PresentationFormat>On-screen Show (16:9)</PresentationFormat>
  <Paragraphs>76</Paragraphs>
  <Slides>9</Slides>
  <Notes>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vt:i4>
      </vt:variant>
    </vt:vector>
  </HeadingPairs>
  <TitlesOfParts>
    <vt:vector size="17" baseType="lpstr">
      <vt:lpstr>Arial</vt:lpstr>
      <vt:lpstr>Outfit Light</vt:lpstr>
      <vt:lpstr>Century Gothic</vt:lpstr>
      <vt:lpstr>Helvetica Neue Light</vt:lpstr>
      <vt:lpstr>Outfit</vt:lpstr>
      <vt:lpstr>Outfit Medium</vt:lpstr>
      <vt:lpstr>Outfit SemiBold</vt:lpstr>
      <vt:lpstr>2026 - OCTO</vt:lpstr>
      <vt:lpstr>OCTO Technology</vt:lpstr>
      <vt:lpstr>Sommaire</vt:lpstr>
      <vt:lpstr>Contexte</vt:lpstr>
      <vt:lpstr>xxx</vt:lpstr>
      <vt:lpstr>Notre approche</vt:lpstr>
      <vt:lpstr>Notre approche </vt:lpstr>
      <vt:lpstr>Une approche contextualisée pour un premier déploiement aligné </vt:lpstr>
      <vt:lpstr>Planning des interventions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Camus, Claude</cp:lastModifiedBy>
  <cp:revision>1</cp:revision>
  <dcterms:modified xsi:type="dcterms:W3CDTF">2026-06-19T16:03:54Z</dcterms:modified>
</cp:coreProperties>
</file>