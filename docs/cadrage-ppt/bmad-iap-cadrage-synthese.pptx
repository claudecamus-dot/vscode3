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 id="297" r:id="rId64"/>
    <p:sldId id="298" r:id="rId65"/>
    <p:sldId id="299" r:id="rId66"/>
    <p:sldId id="300" r:id="rId67"/>
    <p:sldId id="301" r:id="rId68"/>
    <p:sldId id="302" r:id="rId69"/>
    <p:sldId id="303" r:id="rId70"/>
    <p:sldId id="304" r:id="rId71"/>
    <p:sldId id="305" r:id="rId72"/>
    <p:sldId id="306" r:id="rId73"/>
    <p:sldId id="307" r:id="rId74"/>
    <p:sldId id="308" r:id="rId75"/>
    <p:sldId id="309" r:id="rId76"/>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 Id="rId64" Type="http://schemas.openxmlformats.org/officeDocument/2006/relationships/slide" Target="slides/slide42.xml"/><Relationship Id="rId65" Type="http://schemas.openxmlformats.org/officeDocument/2006/relationships/slide" Target="slides/slide43.xml"/><Relationship Id="rId66" Type="http://schemas.openxmlformats.org/officeDocument/2006/relationships/slide" Target="slides/slide44.xml"/><Relationship Id="rId67" Type="http://schemas.openxmlformats.org/officeDocument/2006/relationships/slide" Target="slides/slide45.xml"/><Relationship Id="rId68" Type="http://schemas.openxmlformats.org/officeDocument/2006/relationships/slide" Target="slides/slide46.xml"/><Relationship Id="rId69" Type="http://schemas.openxmlformats.org/officeDocument/2006/relationships/slide" Target="slides/slide47.xml"/><Relationship Id="rId70" Type="http://schemas.openxmlformats.org/officeDocument/2006/relationships/slide" Target="slides/slide48.xml"/><Relationship Id="rId71" Type="http://schemas.openxmlformats.org/officeDocument/2006/relationships/slide" Target="slides/slide49.xml"/><Relationship Id="rId72" Type="http://schemas.openxmlformats.org/officeDocument/2006/relationships/slide" Target="slides/slide50.xml"/><Relationship Id="rId73" Type="http://schemas.openxmlformats.org/officeDocument/2006/relationships/slide" Target="slides/slide51.xml"/><Relationship Id="rId74" Type="http://schemas.openxmlformats.org/officeDocument/2006/relationships/slide" Target="slides/slide52.xml"/><Relationship Id="rId75" Type="http://schemas.openxmlformats.org/officeDocument/2006/relationships/slide" Target="slides/slide53.xml"/><Relationship Id="rId76"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v2.33 · 2026-09-10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Exec summary</a:t>
            </a:r>
          </a:p>
          <a:p>
            <a:r>
              <a:rPr sz="1050" i="1">
                <a:solidFill>
                  <a:srgbClr val="586586"/>
                </a:solidFill>
                <a:latin typeface="Outfit"/>
              </a:rPr>
              <a:t>Les trois faces de l'offre — leurs douleurs, notre outillage de consultant, l'agentic déployé chez eux en option — et la démarche qui les absorbe.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l'offre, pourquoi, qui, quoi, comment, avec quoi, la preuve.</a:t>
            </a:r>
          </a:p>
        </p:txBody>
      </p:sp>
      <p:sp>
        <p:nvSpPr>
          <p:cNvPr id="4" name="Rounded Rectangle 3"/>
          <p:cNvSpPr/>
          <p:nvPr/>
        </p:nvSpPr>
        <p:spPr>
          <a:xfrm>
            <a:off x="489204" y="1746504"/>
            <a:ext cx="7950708" cy="334162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OFFRE</a:t>
            </a:r>
          </a:p>
        </p:txBody>
      </p:sp>
      <p:sp>
        <p:nvSpPr>
          <p:cNvPr id="7" name="TextBox 6"/>
          <p:cNvSpPr txBox="1"/>
          <p:nvPr/>
        </p:nvSpPr>
        <p:spPr>
          <a:xfrm>
            <a:off x="708660"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Trois faces à ne pas confondre, une démarche avec ou sans IA.</a:t>
            </a:r>
          </a:p>
        </p:txBody>
      </p:sp>
      <p:sp>
        <p:nvSpPr>
          <p:cNvPr id="8" name="TextBox 7"/>
          <p:cNvSpPr txBox="1"/>
          <p:nvPr/>
        </p:nvSpPr>
        <p:spPr>
          <a:xfrm>
            <a:off x="708660"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Leurs douleurs, notre outillage de consultant, l'agentic chez eux en option — déclinés sur les trois mêmes temps, outillés ou non.</a:t>
            </a:r>
          </a:p>
        </p:txBody>
      </p:sp>
      <p:sp>
        <p:nvSpPr>
          <p:cNvPr id="9" name="TextBox 8"/>
          <p:cNvSpPr txBox="1"/>
          <p:nvPr/>
        </p:nvSpPr>
        <p:spPr>
          <a:xfrm>
            <a:off x="708660"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Exec summary</a:t>
            </a:r>
          </a:p>
        </p:txBody>
      </p:sp>
      <p:sp>
        <p:nvSpPr>
          <p:cNvPr id="10" name="TextBox 9"/>
          <p:cNvSpPr txBox="1"/>
          <p:nvPr/>
        </p:nvSpPr>
        <p:spPr>
          <a:xfrm>
            <a:off x="1958644"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3" name="TextBox 12"/>
          <p:cNvSpPr txBox="1"/>
          <p:nvPr/>
        </p:nvSpPr>
        <p:spPr>
          <a:xfrm>
            <a:off x="2306116"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14" name="TextBox 13"/>
          <p:cNvSpPr txBox="1"/>
          <p:nvPr/>
        </p:nvSpPr>
        <p:spPr>
          <a:xfrm>
            <a:off x="2306116"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quatre personas interrogés séparément, des douleurs mesurables plutôt que des plaintes.</a:t>
            </a:r>
          </a:p>
        </p:txBody>
      </p:sp>
      <p:sp>
        <p:nvSpPr>
          <p:cNvPr id="15" name="TextBox 14"/>
          <p:cNvSpPr txBox="1"/>
          <p:nvPr/>
        </p:nvSpPr>
        <p:spPr>
          <a:xfrm>
            <a:off x="2306116"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Contexte → Besoins &amp; douleurs</a:t>
            </a:r>
          </a:p>
        </p:txBody>
      </p:sp>
      <p:sp>
        <p:nvSpPr>
          <p:cNvPr id="16" name="TextBox 15"/>
          <p:cNvSpPr txBox="1"/>
          <p:nvPr/>
        </p:nvSpPr>
        <p:spPr>
          <a:xfrm>
            <a:off x="3556101"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QUOI</a:t>
            </a:r>
          </a:p>
        </p:txBody>
      </p:sp>
      <p:sp>
        <p:nvSpPr>
          <p:cNvPr id="19" name="TextBox 18"/>
          <p:cNvSpPr txBox="1"/>
          <p:nvPr/>
        </p:nvSpPr>
        <p:spPr>
          <a:xfrm>
            <a:off x="3903573"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Traiter l'infra comme un produit — et assainir.</a:t>
            </a:r>
          </a:p>
        </p:txBody>
      </p:sp>
      <p:sp>
        <p:nvSpPr>
          <p:cNvPr id="20" name="TextBox 19"/>
          <p:cNvSpPr txBox="1"/>
          <p:nvPr/>
        </p:nvSpPr>
        <p:spPr>
          <a:xfrm>
            <a:off x="3903573"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Double mission, méthode scorée (impact × faisabilité − prudence IA), IA sous gate : jamais la réponse à un problème d'abord organisationnel.</a:t>
            </a:r>
          </a:p>
        </p:txBody>
      </p:sp>
      <p:sp>
        <p:nvSpPr>
          <p:cNvPr id="21" name="TextBox 20"/>
          <p:cNvSpPr txBox="1"/>
          <p:nvPr/>
        </p:nvSpPr>
        <p:spPr>
          <a:xfrm>
            <a:off x="3903573"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Proposition → IA</a:t>
            </a:r>
          </a:p>
        </p:txBody>
      </p:sp>
      <p:sp>
        <p:nvSpPr>
          <p:cNvPr id="22" name="TextBox 21"/>
          <p:cNvSpPr txBox="1"/>
          <p:nvPr/>
        </p:nvSpPr>
        <p:spPr>
          <a:xfrm>
            <a:off x="5153558"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avec son fil humain de bout en bout ; l'outillage IAP au service de la démarche — jamais l'inverse.</a:t>
            </a:r>
          </a:p>
        </p:txBody>
      </p:sp>
      <p:sp>
        <p:nvSpPr>
          <p:cNvPr id="27" name="TextBox 26"/>
          <p:cNvSpPr txBox="1"/>
          <p:nvPr/>
        </p:nvSpPr>
        <p:spPr>
          <a:xfrm>
            <a:off x="5501030"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Démarche → Outillage IAP</a:t>
            </a:r>
          </a:p>
        </p:txBody>
      </p:sp>
      <p:sp>
        <p:nvSpPr>
          <p:cNvPr id="28" name="TextBox 27"/>
          <p:cNvSpPr txBox="1"/>
          <p:nvPr/>
        </p:nvSpPr>
        <p:spPr>
          <a:xfrm>
            <a:off x="6751015"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RÉSULTAT</a:t>
            </a:r>
          </a:p>
        </p:txBody>
      </p:sp>
      <p:sp>
        <p:nvSpPr>
          <p:cNvPr id="31" name="TextBox 30"/>
          <p:cNvSpPr txBox="1"/>
          <p:nvPr/>
        </p:nvSpPr>
        <p:spPr>
          <a:xfrm>
            <a:off x="7098487"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Le delta instrumenté T0 → réévaluation.</a:t>
            </a:r>
          </a:p>
        </p:txBody>
      </p:sp>
      <p:sp>
        <p:nvSpPr>
          <p:cNvPr id="32" name="TextBox 31"/>
          <p:cNvSpPr txBox="1"/>
          <p:nvPr/>
        </p:nvSpPr>
        <p:spPr>
          <a:xfrm>
            <a:off x="7098487"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Trois familles de KPIs, même instrument aux deux instants — la preuve, pas une opinion.</a:t>
            </a:r>
          </a:p>
        </p:txBody>
      </p:sp>
      <p:sp>
        <p:nvSpPr>
          <p:cNvPr id="33" name="TextBox 32"/>
          <p:cNvSpPr txBox="1"/>
          <p:nvPr/>
        </p:nvSpPr>
        <p:spPr>
          <a:xfrm>
            <a:off x="7098487"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KPI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 SUMMARY   ·   </a:t>
            </a:r>
            <a:r>
              <a:rPr b="1" sz="1200">
                <a:solidFill>
                  <a:srgbClr val="0E2356"/>
                </a:solidFill>
                <a:latin typeface="Outfit"/>
              </a:rPr>
              <a:t>Comment aller vers l'infra as a product — le volet organisationnel d'une mission tech.</a:t>
            </a:r>
          </a:p>
        </p:txBody>
      </p:sp>
      <p:sp>
        <p:nvSpPr>
          <p:cNvPr id="3" name="Rounded Rectangle 2"/>
          <p:cNvSpPr/>
          <p:nvPr/>
        </p:nvSpPr>
        <p:spPr>
          <a:xfrm>
            <a:off x="347472" y="758952"/>
            <a:ext cx="1616659" cy="2828035"/>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055571" y="758952"/>
            <a:ext cx="1616659" cy="2828035"/>
          </a:xfrm>
          <a:prstGeom prst="roundRect">
            <a:avLst>
              <a:gd name="adj" fmla="val 8000"/>
            </a:avLst>
          </a:prstGeom>
          <a:solidFill>
            <a:srgbClr val="FFFFFF"/>
          </a:solidFill>
          <a:ln w="13970">
            <a:solidFill>
              <a:srgbClr val="9FA7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763670" y="758952"/>
            <a:ext cx="1616659" cy="2828035"/>
          </a:xfrm>
          <a:prstGeom prst="roundRect">
            <a:avLst>
              <a:gd name="adj" fmla="val 8000"/>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71769" y="758952"/>
            <a:ext cx="1616659" cy="2828035"/>
          </a:xfrm>
          <a:prstGeom prst="roundRect">
            <a:avLst>
              <a:gd name="adj" fmla="val 8000"/>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179868" y="758952"/>
            <a:ext cx="1616659" cy="2828035"/>
          </a:xfrm>
          <a:prstGeom prst="roundRect">
            <a:avLst>
              <a:gd name="adj" fmla="val 8000"/>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395971" y="1097280"/>
            <a:ext cx="1519659" cy="29184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119"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Assessment flash</a:t>
            </a:r>
          </a:p>
        </p:txBody>
      </p:sp>
      <p:sp>
        <p:nvSpPr>
          <p:cNvPr id="10" name="Rounded Rectangle 9"/>
          <p:cNvSpPr/>
          <p:nvPr/>
        </p:nvSpPr>
        <p:spPr>
          <a:xfrm>
            <a:off x="972921" y="777240"/>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2921" y="777240"/>
            <a:ext cx="365760" cy="365760"/>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12" name="Rounded Rectangle 11"/>
          <p:cNvSpPr/>
          <p:nvPr/>
        </p:nvSpPr>
        <p:spPr>
          <a:xfrm>
            <a:off x="716889" y="1443990"/>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6889" y="1443990"/>
            <a:ext cx="877824" cy="182880"/>
          </a:xfrm>
          <a:prstGeom prst="rect">
            <a:avLst/>
          </a:prstGeom>
          <a:noFill/>
        </p:spPr>
        <p:txBody>
          <a:bodyPr wrap="square" anchor="ctr" lIns="0" rIns="0" tIns="0" bIns="0">
            <a:noAutofit/>
          </a:bodyPr>
          <a:lstStyle/>
          <a:p>
            <a:pPr algn="ctr"/>
            <a:r>
              <a:rPr sz="750" b="1" i="0">
                <a:solidFill>
                  <a:srgbClr val="FFFFFF"/>
                </a:solidFill>
                <a:latin typeface="Outfit"/>
              </a:rPr>
              <a:t>1–2 sem.</a:t>
            </a:r>
          </a:p>
        </p:txBody>
      </p:sp>
      <p:sp>
        <p:nvSpPr>
          <p:cNvPr id="14" name="TextBox 13"/>
          <p:cNvSpPr txBox="1"/>
          <p:nvPr/>
        </p:nvSpPr>
        <p:spPr>
          <a:xfrm>
            <a:off x="374904"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Schéma déjà cadré : </a:t>
            </a:r>
            <a:r>
              <a:rPr sz="800" b="1" i="0">
                <a:solidFill>
                  <a:srgbClr val="0E2356"/>
                </a:solidFill>
                <a:latin typeface="Outfit"/>
              </a:rPr>
              <a:t>Collecte → Diagnostic → Conception → Restitution.</a:t>
            </a:r>
            <a:r>
              <a:rPr sz="800" b="0" i="0">
                <a:solidFill>
                  <a:srgbClr val="586586"/>
                </a:solidFill>
                <a:latin typeface="Outfit"/>
              </a:rPr>
              <a:t/>
            </a:r>
          </a:p>
        </p:txBody>
      </p:sp>
      <p:sp>
        <p:nvSpPr>
          <p:cNvPr id="15" name="TextBox 14"/>
          <p:cNvSpPr txBox="1"/>
          <p:nvPr/>
        </p:nvSpPr>
        <p:spPr>
          <a:xfrm>
            <a:off x="374904"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dette et risques cartographiés</a:t>
            </a:r>
          </a:p>
        </p:txBody>
      </p:sp>
      <p:sp>
        <p:nvSpPr>
          <p:cNvPr id="16" name="Rectangle 15"/>
          <p:cNvSpPr/>
          <p:nvPr/>
        </p:nvSpPr>
        <p:spPr>
          <a:xfrm>
            <a:off x="493776"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Partager un diagnostic et argumenter la décision d'engager ou non.</a:t>
            </a:r>
          </a:p>
        </p:txBody>
      </p:sp>
      <p:sp>
        <p:nvSpPr>
          <p:cNvPr id="18" name="TextBox 17"/>
          <p:cNvSpPr txBox="1"/>
          <p:nvPr/>
        </p:nvSpPr>
        <p:spPr>
          <a:xfrm>
            <a:off x="365760" y="3318764"/>
            <a:ext cx="1580083" cy="240791"/>
          </a:xfrm>
          <a:prstGeom prst="rect">
            <a:avLst/>
          </a:prstGeom>
          <a:noFill/>
        </p:spPr>
        <p:txBody>
          <a:bodyPr wrap="square" anchor="t" lIns="0" rIns="0" tIns="0" bIns="0">
            <a:noAutofit/>
          </a:bodyPr>
          <a:lstStyle/>
          <a:p>
            <a:pPr algn="ctr">
              <a:lnSpc>
                <a:spcPct val="120000"/>
              </a:lnSpc>
            </a:pPr>
            <a:r>
              <a:rPr sz="700" b="1" i="1">
                <a:solidFill>
                  <a:srgbClr val="0E2356"/>
                </a:solidFill>
                <a:latin typeface="Outfit"/>
              </a:rPr>
              <a:t>Livrer un deck exécutif de restitution.</a:t>
            </a:r>
          </a:p>
        </p:txBody>
      </p:sp>
      <p:sp>
        <p:nvSpPr>
          <p:cNvPr id="19" name="Chevron 18"/>
          <p:cNvSpPr/>
          <p:nvPr/>
        </p:nvSpPr>
        <p:spPr>
          <a:xfrm>
            <a:off x="2104070" y="1097280"/>
            <a:ext cx="1519659" cy="291846"/>
          </a:xfrm>
          <a:prstGeom prst="chevron">
            <a:avLst/>
          </a:prstGeom>
          <a:solidFill>
            <a:srgbClr val="FFFFFF"/>
          </a:solidFill>
          <a:ln w="13970">
            <a:solidFill>
              <a:srgbClr val="9FA7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45218" y="1097280"/>
            <a:ext cx="1437363" cy="291846"/>
          </a:xfrm>
          <a:prstGeom prst="rect">
            <a:avLst/>
          </a:prstGeom>
          <a:noFill/>
        </p:spPr>
        <p:txBody>
          <a:bodyPr wrap="square" anchor="ctr" lIns="0" rIns="0" tIns="0" bIns="0">
            <a:noAutofit/>
          </a:bodyPr>
          <a:lstStyle/>
          <a:p>
            <a:pPr algn="ctr">
              <a:lnSpc>
                <a:spcPct val="105000"/>
              </a:lnSpc>
            </a:pPr>
            <a:r>
              <a:rPr sz="750" b="1" i="0">
                <a:solidFill>
                  <a:srgbClr val="586586"/>
                </a:solidFill>
                <a:latin typeface="Outfit"/>
              </a:rPr>
              <a:t>OPTIONNEL — Constitution du TOM</a:t>
            </a:r>
          </a:p>
        </p:txBody>
      </p:sp>
      <p:sp>
        <p:nvSpPr>
          <p:cNvPr id="21" name="Rounded Rectangle 20"/>
          <p:cNvSpPr/>
          <p:nvPr/>
        </p:nvSpPr>
        <p:spPr>
          <a:xfrm>
            <a:off x="2681020" y="777240"/>
            <a:ext cx="365760" cy="365760"/>
          </a:xfrm>
          <a:prstGeom prst="roundRect">
            <a:avLst>
              <a:gd name="adj" fmla="val 50000"/>
            </a:avLst>
          </a:prstGeom>
          <a:solidFill>
            <a:srgbClr val="E7E9EE"/>
          </a:solidFill>
          <a:ln w="15240">
            <a:solidFill>
              <a:srgbClr val="9FA7B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81020" y="777240"/>
            <a:ext cx="365760" cy="365760"/>
          </a:xfrm>
          <a:prstGeom prst="rect">
            <a:avLst/>
          </a:prstGeom>
          <a:noFill/>
        </p:spPr>
        <p:txBody>
          <a:bodyPr wrap="square" anchor="ctr" lIns="0" rIns="0" tIns="0" bIns="0">
            <a:noAutofit/>
          </a:bodyPr>
          <a:lstStyle/>
          <a:p>
            <a:pPr algn="ctr"/>
            <a:r>
              <a:rPr sz="1200" b="0" i="0">
                <a:solidFill>
                  <a:srgbClr val="9FA7BB"/>
                </a:solidFill>
                <a:latin typeface="Outfit"/>
              </a:rPr>
              <a:t>+</a:t>
            </a:r>
          </a:p>
        </p:txBody>
      </p:sp>
      <p:sp>
        <p:nvSpPr>
          <p:cNvPr id="23" name="Rounded Rectangle 22"/>
          <p:cNvSpPr/>
          <p:nvPr/>
        </p:nvSpPr>
        <p:spPr>
          <a:xfrm>
            <a:off x="2424988" y="1443990"/>
            <a:ext cx="877824" cy="182880"/>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24988" y="1443990"/>
            <a:ext cx="877824" cy="182880"/>
          </a:xfrm>
          <a:prstGeom prst="rect">
            <a:avLst/>
          </a:prstGeom>
          <a:noFill/>
        </p:spPr>
        <p:txBody>
          <a:bodyPr wrap="square" anchor="ctr" lIns="0" rIns="0" tIns="0" bIns="0">
            <a:noAutofit/>
          </a:bodyPr>
          <a:lstStyle/>
          <a:p>
            <a:pPr algn="ctr"/>
            <a:r>
              <a:rPr sz="750" b="1" i="0">
                <a:solidFill>
                  <a:srgbClr val="0E2356"/>
                </a:solidFill>
                <a:latin typeface="Outfit"/>
              </a:rPr>
              <a:t>3–4 sem.</a:t>
            </a:r>
          </a:p>
        </p:txBody>
      </p:sp>
      <p:sp>
        <p:nvSpPr>
          <p:cNvPr id="25" name="TextBox 24"/>
          <p:cNvSpPr txBox="1"/>
          <p:nvPr/>
        </p:nvSpPr>
        <p:spPr>
          <a:xfrm>
            <a:off x="2083003"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Formalise le </a:t>
            </a:r>
            <a:r>
              <a:rPr sz="800" b="1" i="0">
                <a:solidFill>
                  <a:srgbClr val="0E2356"/>
                </a:solidFill>
                <a:latin typeface="Outfit"/>
              </a:rPr>
              <a:t>Target Operating Model</a:t>
            </a:r>
            <a:r>
              <a:rPr sz="800" b="0" i="0">
                <a:solidFill>
                  <a:srgbClr val="586586"/>
                </a:solidFill>
                <a:latin typeface="Outfit"/>
              </a:rPr>
              <a:t> : rôles, gouvernance, adapté à l'organisation et aux contraintes du client INFRA.</a:t>
            </a:r>
          </a:p>
        </p:txBody>
      </p:sp>
      <p:sp>
        <p:nvSpPr>
          <p:cNvPr id="26" name="TextBox 25"/>
          <p:cNvSpPr txBox="1"/>
          <p:nvPr/>
        </p:nvSpPr>
        <p:spPr>
          <a:xfrm>
            <a:off x="2083003"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référentiel standards/outillage</a:t>
            </a:r>
          </a:p>
        </p:txBody>
      </p:sp>
      <p:sp>
        <p:nvSpPr>
          <p:cNvPr id="27" name="Rectangle 26"/>
          <p:cNvSpPr/>
          <p:nvPr/>
        </p:nvSpPr>
        <p:spPr>
          <a:xfrm>
            <a:off x="2201875"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73859"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Adapter le cadre de référence à l'organisation et aux contraintes du client.</a:t>
            </a:r>
          </a:p>
        </p:txBody>
      </p:sp>
      <p:sp>
        <p:nvSpPr>
          <p:cNvPr id="29" name="TextBox 28"/>
          <p:cNvSpPr txBox="1"/>
          <p:nvPr/>
        </p:nvSpPr>
        <p:spPr>
          <a:xfrm>
            <a:off x="2073859" y="3318764"/>
            <a:ext cx="1580083" cy="240791"/>
          </a:xfrm>
          <a:prstGeom prst="rect">
            <a:avLst/>
          </a:prstGeom>
          <a:noFill/>
        </p:spPr>
        <p:txBody>
          <a:bodyPr wrap="square" anchor="t" lIns="0" rIns="0" tIns="0" bIns="0">
            <a:noAutofit/>
          </a:bodyPr>
          <a:lstStyle/>
          <a:p>
            <a:pPr algn="ctr">
              <a:lnSpc>
                <a:spcPct val="120000"/>
              </a:lnSpc>
            </a:pPr>
            <a:r>
              <a:rPr sz="700" b="1" i="1">
                <a:solidFill>
                  <a:srgbClr val="586586"/>
                </a:solidFill>
                <a:latin typeface="Outfit"/>
              </a:rPr>
              <a:t>Livrer le TOM et la roadmap de déploiement.</a:t>
            </a:r>
          </a:p>
        </p:txBody>
      </p:sp>
      <p:sp>
        <p:nvSpPr>
          <p:cNvPr id="30" name="Chevron 29"/>
          <p:cNvSpPr/>
          <p:nvPr/>
        </p:nvSpPr>
        <p:spPr>
          <a:xfrm>
            <a:off x="3812170" y="1097280"/>
            <a:ext cx="1519659" cy="291846"/>
          </a:xfrm>
          <a:prstGeom prst="chevron">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53318"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Premier déploiement</a:t>
            </a:r>
          </a:p>
        </p:txBody>
      </p:sp>
      <p:sp>
        <p:nvSpPr>
          <p:cNvPr id="32" name="Rounded Rectangle 31"/>
          <p:cNvSpPr/>
          <p:nvPr/>
        </p:nvSpPr>
        <p:spPr>
          <a:xfrm>
            <a:off x="4389119" y="777240"/>
            <a:ext cx="365760" cy="36576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19" y="777240"/>
            <a:ext cx="365760" cy="365760"/>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34" name="Rounded Rectangle 33"/>
          <p:cNvSpPr/>
          <p:nvPr/>
        </p:nvSpPr>
        <p:spPr>
          <a:xfrm>
            <a:off x="4133087" y="1443990"/>
            <a:ext cx="877824" cy="18288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3087" y="1443990"/>
            <a:ext cx="877824" cy="182880"/>
          </a:xfrm>
          <a:prstGeom prst="rect">
            <a:avLst/>
          </a:prstGeom>
          <a:noFill/>
        </p:spPr>
        <p:txBody>
          <a:bodyPr wrap="square" anchor="ctr" lIns="0" rIns="0" tIns="0" bIns="0">
            <a:noAutofit/>
          </a:bodyPr>
          <a:lstStyle/>
          <a:p>
            <a:pPr algn="ctr"/>
            <a:r>
              <a:rPr sz="750" b="1" i="0">
                <a:solidFill>
                  <a:srgbClr val="FFFFFF"/>
                </a:solidFill>
                <a:latin typeface="Outfit"/>
              </a:rPr>
              <a:t>4–5 sem.</a:t>
            </a:r>
          </a:p>
        </p:txBody>
      </p:sp>
      <p:sp>
        <p:nvSpPr>
          <p:cNvPr id="36" name="TextBox 35"/>
          <p:cNvSpPr txBox="1"/>
          <p:nvPr/>
        </p:nvSpPr>
        <p:spPr>
          <a:xfrm>
            <a:off x="3791102"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Des </a:t>
            </a:r>
            <a:r>
              <a:rPr sz="800" b="1" i="0">
                <a:solidFill>
                  <a:srgbClr val="0E2356"/>
                </a:solidFill>
                <a:latin typeface="Outfit"/>
              </a:rPr>
              <a:t>équipes pilotes volontaires</a:t>
            </a:r>
            <a:r>
              <a:rPr sz="800" b="0" i="0">
                <a:solidFill>
                  <a:srgbClr val="586586"/>
                </a:solidFill>
                <a:latin typeface="Outfit"/>
              </a:rPr>
              <a:t> ; agent IA si retenu : qualifier, cadrer, mandater.</a:t>
            </a:r>
          </a:p>
        </p:txBody>
      </p:sp>
      <p:sp>
        <p:nvSpPr>
          <p:cNvPr id="37" name="TextBox 36"/>
          <p:cNvSpPr txBox="1"/>
          <p:nvPr/>
        </p:nvSpPr>
        <p:spPr>
          <a:xfrm>
            <a:off x="3791102"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décommissionnement, observabilité</a:t>
            </a:r>
          </a:p>
        </p:txBody>
      </p:sp>
      <p:sp>
        <p:nvSpPr>
          <p:cNvPr id="38" name="Rectangle 37"/>
          <p:cNvSpPr/>
          <p:nvPr/>
        </p:nvSpPr>
        <p:spPr>
          <a:xfrm>
            <a:off x="3909974"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81958"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Prouver la valeur sur le pilote et identifier les ajustements avant généralisation.</a:t>
            </a:r>
          </a:p>
        </p:txBody>
      </p:sp>
      <p:sp>
        <p:nvSpPr>
          <p:cNvPr id="40" name="TextBox 39"/>
          <p:cNvSpPr txBox="1"/>
          <p:nvPr/>
        </p:nvSpPr>
        <p:spPr>
          <a:xfrm>
            <a:off x="3781958" y="3318764"/>
            <a:ext cx="1580083" cy="240791"/>
          </a:xfrm>
          <a:prstGeom prst="rect">
            <a:avLst/>
          </a:prstGeom>
          <a:noFill/>
        </p:spPr>
        <p:txBody>
          <a:bodyPr wrap="square" anchor="t" lIns="0" rIns="0" tIns="0" bIns="0">
            <a:noAutofit/>
          </a:bodyPr>
          <a:lstStyle/>
          <a:p>
            <a:pPr algn="ctr">
              <a:lnSpc>
                <a:spcPct val="120000"/>
              </a:lnSpc>
            </a:pPr>
            <a:r>
              <a:rPr sz="700" b="1" i="1">
                <a:solidFill>
                  <a:srgbClr val="3E4F78"/>
                </a:solidFill>
                <a:latin typeface="Outfit"/>
              </a:rPr>
              <a:t>Livrer l'évaluation du déploiement pilote (deck).</a:t>
            </a:r>
          </a:p>
        </p:txBody>
      </p:sp>
      <p:sp>
        <p:nvSpPr>
          <p:cNvPr id="41" name="Chevron 40"/>
          <p:cNvSpPr/>
          <p:nvPr/>
        </p:nvSpPr>
        <p:spPr>
          <a:xfrm>
            <a:off x="5520269" y="1097280"/>
            <a:ext cx="1519659" cy="291846"/>
          </a:xfrm>
          <a:prstGeom prst="chevron">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61417"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Implémentation itérative</a:t>
            </a:r>
          </a:p>
        </p:txBody>
      </p:sp>
      <p:sp>
        <p:nvSpPr>
          <p:cNvPr id="43" name="Rounded Rectangle 42"/>
          <p:cNvSpPr/>
          <p:nvPr/>
        </p:nvSpPr>
        <p:spPr>
          <a:xfrm>
            <a:off x="6097219" y="777240"/>
            <a:ext cx="365760" cy="36576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97219" y="777240"/>
            <a:ext cx="365760" cy="365760"/>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45" name="Rounded Rectangle 44"/>
          <p:cNvSpPr/>
          <p:nvPr/>
        </p:nvSpPr>
        <p:spPr>
          <a:xfrm>
            <a:off x="5841187" y="1443990"/>
            <a:ext cx="877824" cy="18288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1187" y="1443990"/>
            <a:ext cx="877824" cy="182880"/>
          </a:xfrm>
          <a:prstGeom prst="rect">
            <a:avLst/>
          </a:prstGeom>
          <a:noFill/>
        </p:spPr>
        <p:txBody>
          <a:bodyPr wrap="square" anchor="ctr" lIns="0" rIns="0" tIns="0" bIns="0">
            <a:noAutofit/>
          </a:bodyPr>
          <a:lstStyle/>
          <a:p>
            <a:pPr algn="ctr"/>
            <a:r>
              <a:rPr sz="750" b="1" i="0">
                <a:solidFill>
                  <a:srgbClr val="FFFFFF"/>
                </a:solidFill>
                <a:latin typeface="Outfit"/>
              </a:rPr>
              <a:t>→ T+6-12 mois</a:t>
            </a:r>
          </a:p>
        </p:txBody>
      </p:sp>
      <p:sp>
        <p:nvSpPr>
          <p:cNvPr id="47" name="TextBox 46"/>
          <p:cNvSpPr txBox="1"/>
          <p:nvPr/>
        </p:nvSpPr>
        <p:spPr>
          <a:xfrm>
            <a:off x="5499201"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Généralisation équipe par équipe, bascule </a:t>
            </a:r>
            <a:r>
              <a:rPr sz="800" b="1" i="0">
                <a:solidFill>
                  <a:srgbClr val="0E2356"/>
                </a:solidFill>
                <a:latin typeface="Outfit"/>
              </a:rPr>
              <a:t>Coach → Délégué</a:t>
            </a:r>
            <a:r>
              <a:rPr sz="800" b="0" i="0">
                <a:solidFill>
                  <a:srgbClr val="586586"/>
                </a:solidFill>
                <a:latin typeface="Outfit"/>
              </a:rPr>
              <a:t> ; agent IA supervisé puis délégué.</a:t>
            </a:r>
          </a:p>
        </p:txBody>
      </p:sp>
      <p:sp>
        <p:nvSpPr>
          <p:cNvPr id="48" name="TextBox 47"/>
          <p:cNvSpPr txBox="1"/>
          <p:nvPr/>
        </p:nvSpPr>
        <p:spPr>
          <a:xfrm>
            <a:off x="5499201"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CI/CD, infra as code</a:t>
            </a:r>
          </a:p>
        </p:txBody>
      </p:sp>
      <p:sp>
        <p:nvSpPr>
          <p:cNvPr id="49" name="Rectangle 48"/>
          <p:cNvSpPr/>
          <p:nvPr/>
        </p:nvSpPr>
        <p:spPr>
          <a:xfrm>
            <a:off x="5618073"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90057"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Généraliser l'adoption et déléguer l'agent IA si la piste est retenue.</a:t>
            </a:r>
          </a:p>
        </p:txBody>
      </p:sp>
      <p:sp>
        <p:nvSpPr>
          <p:cNvPr id="51" name="TextBox 50"/>
          <p:cNvSpPr txBox="1"/>
          <p:nvPr/>
        </p:nvSpPr>
        <p:spPr>
          <a:xfrm>
            <a:off x="5490057" y="3318764"/>
            <a:ext cx="1580083" cy="240791"/>
          </a:xfrm>
          <a:prstGeom prst="rect">
            <a:avLst/>
          </a:prstGeom>
          <a:noFill/>
        </p:spPr>
        <p:txBody>
          <a:bodyPr wrap="square" anchor="t" lIns="0" rIns="0" tIns="0" bIns="0">
            <a:noAutofit/>
          </a:bodyPr>
          <a:lstStyle/>
          <a:p>
            <a:pPr algn="ctr">
              <a:lnSpc>
                <a:spcPct val="120000"/>
              </a:lnSpc>
            </a:pPr>
            <a:r>
              <a:rPr sz="700" b="1" i="1">
                <a:solidFill>
                  <a:srgbClr val="3E4F78"/>
                </a:solidFill>
                <a:latin typeface="Outfit"/>
              </a:rPr>
              <a:t>Livrer un deck de comité de pilotage (périodique).</a:t>
            </a:r>
          </a:p>
        </p:txBody>
      </p:sp>
      <p:sp>
        <p:nvSpPr>
          <p:cNvPr id="52" name="Chevron 51"/>
          <p:cNvSpPr/>
          <p:nvPr/>
        </p:nvSpPr>
        <p:spPr>
          <a:xfrm>
            <a:off x="7228368" y="1097280"/>
            <a:ext cx="1519659" cy="291846"/>
          </a:xfrm>
          <a:prstGeom prst="chevron">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69516"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Boucle de réévaluation</a:t>
            </a:r>
          </a:p>
        </p:txBody>
      </p:sp>
      <p:sp>
        <p:nvSpPr>
          <p:cNvPr id="54" name="Rounded Rectangle 53"/>
          <p:cNvSpPr/>
          <p:nvPr/>
        </p:nvSpPr>
        <p:spPr>
          <a:xfrm>
            <a:off x="7805318" y="777240"/>
            <a:ext cx="365760" cy="3657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05318" y="777240"/>
            <a:ext cx="365760" cy="365760"/>
          </a:xfrm>
          <a:prstGeom prst="rect">
            <a:avLst/>
          </a:prstGeom>
          <a:noFill/>
        </p:spPr>
        <p:txBody>
          <a:bodyPr wrap="square" anchor="ctr" lIns="0" rIns="0" tIns="0" bIns="0">
            <a:noAutofit/>
          </a:bodyPr>
          <a:lstStyle/>
          <a:p>
            <a:pPr algn="ctr"/>
            <a:r>
              <a:rPr sz="1200" b="0" i="0">
                <a:solidFill>
                  <a:srgbClr val="0E2356"/>
                </a:solidFill>
                <a:latin typeface="Arial"/>
              </a:rPr>
              <a:t>⟲</a:t>
            </a:r>
          </a:p>
        </p:txBody>
      </p:sp>
      <p:sp>
        <p:nvSpPr>
          <p:cNvPr id="56" name="Rounded Rectangle 55"/>
          <p:cNvSpPr/>
          <p:nvPr/>
        </p:nvSpPr>
        <p:spPr>
          <a:xfrm>
            <a:off x="7549286" y="1443990"/>
            <a:ext cx="877824" cy="18288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49286" y="1443990"/>
            <a:ext cx="877824" cy="182880"/>
          </a:xfrm>
          <a:prstGeom prst="rect">
            <a:avLst/>
          </a:prstGeom>
          <a:noFill/>
        </p:spPr>
        <p:txBody>
          <a:bodyPr wrap="square" anchor="ctr" lIns="0" rIns="0" tIns="0" bIns="0">
            <a:noAutofit/>
          </a:bodyPr>
          <a:lstStyle/>
          <a:p>
            <a:pPr algn="ctr"/>
            <a:r>
              <a:rPr sz="750" b="1" i="0">
                <a:solidFill>
                  <a:srgbClr val="0E2356"/>
                </a:solidFill>
                <a:latin typeface="Outfit"/>
              </a:rPr>
              <a:t>T+6-12 mois</a:t>
            </a:r>
          </a:p>
        </p:txBody>
      </p:sp>
      <p:sp>
        <p:nvSpPr>
          <p:cNvPr id="58" name="TextBox 57"/>
          <p:cNvSpPr txBox="1"/>
          <p:nvPr/>
        </p:nvSpPr>
        <p:spPr>
          <a:xfrm>
            <a:off x="7207300"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iap-re-assessment reboucle vers la Collecte — alimente la </a:t>
            </a:r>
            <a:r>
              <a:rPr sz="800" b="1" i="0">
                <a:solidFill>
                  <a:srgbClr val="0E2356"/>
                </a:solidFill>
                <a:latin typeface="Outfit"/>
              </a:rPr>
              <a:t>bibliothèque de REX</a:t>
            </a:r>
            <a:r>
              <a:rPr sz="800" b="0" i="0">
                <a:solidFill>
                  <a:srgbClr val="586586"/>
                </a:solidFill>
                <a:latin typeface="Outfit"/>
              </a:rPr>
              <a:t>.</a:t>
            </a:r>
          </a:p>
        </p:txBody>
      </p:sp>
      <p:sp>
        <p:nvSpPr>
          <p:cNvPr id="59" name="TextBox 58"/>
          <p:cNvSpPr txBox="1"/>
          <p:nvPr/>
        </p:nvSpPr>
        <p:spPr>
          <a:xfrm>
            <a:off x="7207300"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dette technique et KPI infra</a:t>
            </a:r>
          </a:p>
        </p:txBody>
      </p:sp>
      <p:sp>
        <p:nvSpPr>
          <p:cNvPr id="60" name="Rectangle 59"/>
          <p:cNvSpPr/>
          <p:nvPr/>
        </p:nvSpPr>
        <p:spPr>
          <a:xfrm>
            <a:off x="7326172"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98156"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Mesurer le delta T0 → réévaluation et capitaliser le REX pour la mission suivante.</a:t>
            </a:r>
          </a:p>
        </p:txBody>
      </p:sp>
      <p:sp>
        <p:nvSpPr>
          <p:cNvPr id="62" name="TextBox 61"/>
          <p:cNvSpPr txBox="1"/>
          <p:nvPr/>
        </p:nvSpPr>
        <p:spPr>
          <a:xfrm>
            <a:off x="7198156" y="3318764"/>
            <a:ext cx="1580083" cy="240791"/>
          </a:xfrm>
          <a:prstGeom prst="rect">
            <a:avLst/>
          </a:prstGeom>
          <a:noFill/>
        </p:spPr>
        <p:txBody>
          <a:bodyPr wrap="square" anchor="t" lIns="0" rIns="0" tIns="0" bIns="0">
            <a:noAutofit/>
          </a:bodyPr>
          <a:lstStyle/>
          <a:p>
            <a:pPr algn="ctr">
              <a:lnSpc>
                <a:spcPct val="120000"/>
              </a:lnSpc>
            </a:pPr>
            <a:r>
              <a:rPr sz="700" b="1" i="1">
                <a:solidFill>
                  <a:srgbClr val="0E2356"/>
                </a:solidFill>
                <a:latin typeface="Outfit"/>
              </a:rPr>
              <a:t>Livrer un deck de bilan / ré-évaluation.</a:t>
            </a:r>
          </a:p>
        </p:txBody>
      </p:sp>
      <p:sp>
        <p:nvSpPr>
          <p:cNvPr id="63" name="Rounded Rectangle 62"/>
          <p:cNvSpPr/>
          <p:nvPr/>
        </p:nvSpPr>
        <p:spPr>
          <a:xfrm>
            <a:off x="347472" y="3614419"/>
            <a:ext cx="3950207" cy="659892"/>
          </a:xfrm>
          <a:prstGeom prst="roundRect">
            <a:avLst>
              <a:gd name="adj" fmla="val 7000"/>
            </a:avLst>
          </a:prstGeom>
          <a:solidFill>
            <a:srgbClr val="FFFFFF"/>
          </a:solidFill>
          <a:ln w="14604">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57200" y="3663797"/>
            <a:ext cx="41148" cy="561136"/>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71500" y="3655567"/>
            <a:ext cx="3634739" cy="577596"/>
          </a:xfrm>
          <a:prstGeom prst="rect">
            <a:avLst/>
          </a:prstGeom>
          <a:noFill/>
        </p:spPr>
        <p:txBody>
          <a:bodyPr wrap="square" anchor="ctr" lIns="0" rIns="0" tIns="0" bIns="0">
            <a:noAutofit/>
          </a:bodyPr>
          <a:lstStyle/>
          <a:p>
            <a:pPr algn="l">
              <a:lnSpc>
                <a:spcPct val="110000"/>
              </a:lnSpc>
            </a:pPr>
            <a:r>
              <a:rPr sz="750" b="1" i="0">
                <a:solidFill>
                  <a:srgbClr val="586586"/>
                </a:solidFill>
                <a:latin typeface="Outfit"/>
              </a:rPr>
              <a:t>AGENTIQUE — POUR LA PRODUCTIVITÉ DU CONSULTANT</a:t>
            </a:r>
          </a:p>
          <a:p>
            <a:pPr algn="l">
              <a:lnSpc>
                <a:spcPct val="120000"/>
              </a:lnSpc>
              <a:spcBef>
                <a:spcPts val="300"/>
              </a:spcBef>
            </a:pPr>
            <a:r>
              <a:rPr sz="750" b="0" i="0">
                <a:solidFill>
                  <a:srgbClr val="0E2356"/>
                </a:solidFill>
                <a:latin typeface="Outfit"/>
              </a:rPr>
              <a:t>Un fait acquis : des agents outillent déjà chaque étape de la démarche, sans remplacer le consultant.</a:t>
            </a:r>
          </a:p>
        </p:txBody>
      </p:sp>
      <p:sp>
        <p:nvSpPr>
          <p:cNvPr id="66" name="Rounded Rectangle 65"/>
          <p:cNvSpPr/>
          <p:nvPr/>
        </p:nvSpPr>
        <p:spPr>
          <a:xfrm>
            <a:off x="4462271" y="3614419"/>
            <a:ext cx="4334255" cy="659892"/>
          </a:xfrm>
          <a:prstGeom prst="roundRect">
            <a:avLst>
              <a:gd name="adj" fmla="val 7000"/>
            </a:avLst>
          </a:prstGeom>
          <a:solidFill>
            <a:srgbClr val="FFFFFF"/>
          </a:solidFill>
          <a:ln w="14604">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71999" y="3663797"/>
            <a:ext cx="41148" cy="56113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686299" y="3655567"/>
            <a:ext cx="4018787" cy="577596"/>
          </a:xfrm>
          <a:prstGeom prst="rect">
            <a:avLst/>
          </a:prstGeom>
          <a:noFill/>
        </p:spPr>
        <p:txBody>
          <a:bodyPr wrap="square" anchor="ctr" lIns="0" rIns="0" tIns="0" bIns="0">
            <a:noAutofit/>
          </a:bodyPr>
          <a:lstStyle/>
          <a:p>
            <a:pPr algn="l">
              <a:lnSpc>
                <a:spcPct val="110000"/>
              </a:lnSpc>
            </a:pPr>
            <a:r>
              <a:rPr sz="750" b="1" i="0">
                <a:solidFill>
                  <a:srgbClr val="0E2356"/>
                </a:solidFill>
                <a:latin typeface="Outfit"/>
              </a:rPr>
              <a:t>AGENTIQUE — UN DÉPLOIEMENT CHEZ LE CLIENT POUR ACCOMPAGNER LA TRANSFO</a:t>
            </a:r>
          </a:p>
          <a:p>
            <a:pPr algn="l">
              <a:lnSpc>
                <a:spcPct val="120000"/>
              </a:lnSpc>
              <a:spcBef>
                <a:spcPts val="300"/>
              </a:spcBef>
            </a:pPr>
            <a:r>
              <a:rPr sz="750" b="0" i="0">
                <a:solidFill>
                  <a:srgbClr val="0E2356"/>
                </a:solidFill>
                <a:latin typeface="Outfit"/>
              </a:rPr>
              <a:t>Une piste à l'étude : accompagner la transformation du volet orga et tech en aidant le client à déployer ses propres agents.</a:t>
            </a:r>
          </a:p>
        </p:txBody>
      </p:sp>
      <p:sp>
        <p:nvSpPr>
          <p:cNvPr id="69" name="Rounded Rectangle 68"/>
          <p:cNvSpPr/>
          <p:nvPr/>
        </p:nvSpPr>
        <p:spPr>
          <a:xfrm>
            <a:off x="347472" y="4306316"/>
            <a:ext cx="8065007" cy="2743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75488" y="4324603"/>
            <a:ext cx="365760" cy="237744"/>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71" name="TextBox 70"/>
          <p:cNvSpPr txBox="1"/>
          <p:nvPr/>
        </p:nvSpPr>
        <p:spPr>
          <a:xfrm>
            <a:off x="530352" y="4306316"/>
            <a:ext cx="7699247" cy="274320"/>
          </a:xfrm>
          <a:prstGeom prst="rect">
            <a:avLst/>
          </a:prstGeom>
          <a:noFill/>
        </p:spPr>
        <p:txBody>
          <a:bodyPr wrap="square" anchor="ctr" lIns="0" rIns="0" tIns="0" bIns="0">
            <a:spAutoFit/>
          </a:bodyPr>
          <a:lstStyle/>
          <a:p>
            <a:pPr algn="ctr"/>
            <a:r>
              <a:rPr sz="1200" b="1" i="0">
                <a:solidFill>
                  <a:srgbClr val="FFFFFF"/>
                </a:solidFill>
                <a:latin typeface="Outfit"/>
              </a:rPr>
              <a:t>Le volet organisationnel fait réussir le volet tech — pas l'inverse.</a:t>
            </a:r>
            <a:r>
              <a:rPr sz="1200" b="1" i="0">
                <a:solidFill>
                  <a:srgbClr val="00D2DD"/>
                </a:solidFill>
                <a:latin typeface="Outfit"/>
              </a:rPr>
              <a: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 SUMMARY   ·   </a:t>
            </a:r>
            <a:r>
              <a:rPr b="1" sz="1200">
                <a:solidFill>
                  <a:srgbClr val="0E2356"/>
                </a:solidFill>
                <a:latin typeface="Outfit"/>
              </a:rPr>
              <a:t>Trois faces à ne pas confondre : leurs douleurs, notre outillage, l'agentic chez eux</a:t>
            </a:r>
          </a:p>
        </p:txBody>
      </p:sp>
      <p:sp>
        <p:nvSpPr>
          <p:cNvPr id="3" name="TextBox 2"/>
          <p:cNvSpPr txBox="1"/>
          <p:nvPr/>
        </p:nvSpPr>
        <p:spPr>
          <a:xfrm>
            <a:off x="562356" y="1051560"/>
            <a:ext cx="7804404" cy="324739"/>
          </a:xfrm>
          <a:prstGeom prst="rect">
            <a:avLst/>
          </a:prstGeom>
          <a:noFill/>
        </p:spPr>
        <p:txBody>
          <a:bodyPr wrap="square" anchor="t" lIns="0" rIns="0" tIns="0" bIns="0">
            <a:noAutofit/>
          </a:bodyPr>
          <a:lstStyle/>
          <a:p>
            <a:pPr algn="l">
              <a:lnSpc>
                <a:spcPct val="125000"/>
              </a:lnSpc>
            </a:pPr>
            <a:r>
              <a:rPr sz="850" b="0" i="1">
                <a:solidFill>
                  <a:srgbClr val="0E2356"/>
                </a:solidFill>
                <a:latin typeface="Outfit"/>
              </a:rPr>
              <a:t>L'offre part des douleurs de ces organisations ; un module agentic accélère le consultant qui les traite ; déployer de l'agentic chez le client reste une option, sous gate IA.</a:t>
            </a:r>
          </a:p>
        </p:txBody>
      </p:sp>
      <p:sp>
        <p:nvSpPr>
          <p:cNvPr id="4" name="Rounded Rectangle 3"/>
          <p:cNvSpPr/>
          <p:nvPr/>
        </p:nvSpPr>
        <p:spPr>
          <a:xfrm>
            <a:off x="562356" y="1504315"/>
            <a:ext cx="2479548" cy="2967101"/>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04315"/>
            <a:ext cx="2479548" cy="685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99516" y="1650619"/>
            <a:ext cx="274320" cy="274320"/>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 y="1650619"/>
            <a:ext cx="274320" cy="274320"/>
          </a:xfrm>
          <a:prstGeom prst="rect">
            <a:avLst/>
          </a:prstGeom>
          <a:noFill/>
        </p:spPr>
        <p:txBody>
          <a:bodyPr wrap="square" anchor="ctr" lIns="0" rIns="0" tIns="0" bIns="0">
            <a:noAutofit/>
          </a:bodyPr>
          <a:lstStyle/>
          <a:p>
            <a:pPr algn="ctr"/>
            <a:r>
              <a:rPr sz="1100" b="1" i="0">
                <a:solidFill>
                  <a:srgbClr val="FFFFFF"/>
                </a:solidFill>
                <a:latin typeface="Outfit"/>
              </a:rPr>
              <a:t>!</a:t>
            </a:r>
          </a:p>
        </p:txBody>
      </p:sp>
      <p:sp>
        <p:nvSpPr>
          <p:cNvPr id="8" name="TextBox 7"/>
          <p:cNvSpPr txBox="1"/>
          <p:nvPr/>
        </p:nvSpPr>
        <p:spPr>
          <a:xfrm>
            <a:off x="1065276" y="1650619"/>
            <a:ext cx="1839468" cy="274320"/>
          </a:xfrm>
          <a:prstGeom prst="rect">
            <a:avLst/>
          </a:prstGeom>
          <a:noFill/>
        </p:spPr>
        <p:txBody>
          <a:bodyPr wrap="square" anchor="ctr" lIns="0" rIns="0" tIns="0" bIns="0">
            <a:noAutofit/>
          </a:bodyPr>
          <a:lstStyle/>
          <a:p>
            <a:pPr algn="l">
              <a:lnSpc>
                <a:spcPct val="110000"/>
              </a:lnSpc>
            </a:pPr>
            <a:r>
              <a:rPr sz="650" b="1" i="0">
                <a:solidFill>
                  <a:srgbClr val="0E2356"/>
                </a:solidFill>
                <a:latin typeface="Outfit"/>
              </a:rPr>
              <a:t>CE QU'ILS VIVENT</a:t>
            </a:r>
          </a:p>
        </p:txBody>
      </p:sp>
      <p:sp>
        <p:nvSpPr>
          <p:cNvPr id="9" name="TextBox 8"/>
          <p:cNvSpPr txBox="1"/>
          <p:nvPr/>
        </p:nvSpPr>
        <p:spPr>
          <a:xfrm>
            <a:off x="699516" y="2016379"/>
            <a:ext cx="2205228" cy="326135"/>
          </a:xfrm>
          <a:prstGeom prst="rect">
            <a:avLst/>
          </a:prstGeom>
          <a:noFill/>
        </p:spPr>
        <p:txBody>
          <a:bodyPr wrap="square" anchor="t" lIns="0" rIns="0" tIns="0" bIns="0">
            <a:noAutofit/>
          </a:bodyPr>
          <a:lstStyle/>
          <a:p>
            <a:pPr algn="l">
              <a:lnSpc>
                <a:spcPct val="120000"/>
              </a:lnSpc>
            </a:pPr>
            <a:r>
              <a:rPr sz="950" b="1" i="0">
                <a:solidFill>
                  <a:srgbClr val="0E2356"/>
                </a:solidFill>
                <a:latin typeface="Outfit"/>
              </a:rPr>
              <a:t>Douleurs &amp; besoins de ces organisations</a:t>
            </a:r>
          </a:p>
        </p:txBody>
      </p:sp>
      <p:sp>
        <p:nvSpPr>
          <p:cNvPr id="10" name="TextBox 9"/>
          <p:cNvSpPr txBox="1"/>
          <p:nvPr/>
        </p:nvSpPr>
        <p:spPr>
          <a:xfrm>
            <a:off x="699516" y="2379091"/>
            <a:ext cx="2205228" cy="379476"/>
          </a:xfrm>
          <a:prstGeom prst="rect">
            <a:avLst/>
          </a:prstGeom>
          <a:noFill/>
        </p:spPr>
        <p:txBody>
          <a:bodyPr wrap="square" anchor="t" lIns="0" rIns="0" tIns="0" bIns="0">
            <a:noAutofit/>
          </a:bodyPr>
          <a:lstStyle/>
          <a:p>
            <a:pPr algn="l">
              <a:lnSpc>
                <a:spcPct val="120000"/>
              </a:lnSpc>
            </a:pPr>
            <a:r>
              <a:rPr sz="750" b="0" i="1">
                <a:solidFill>
                  <a:srgbClr val="586586"/>
                </a:solidFill>
                <a:latin typeface="Outfit"/>
              </a:rPr>
              <a:t>Quatre personas interrogés séparément, huit familles de gaspillage.</a:t>
            </a:r>
          </a:p>
        </p:txBody>
      </p:sp>
      <p:sp>
        <p:nvSpPr>
          <p:cNvPr id="11" name="Rectangle 10"/>
          <p:cNvSpPr/>
          <p:nvPr/>
        </p:nvSpPr>
        <p:spPr>
          <a:xfrm>
            <a:off x="699516" y="2850007"/>
            <a:ext cx="220522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08660" y="3000883"/>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2" y="2959735"/>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Infra &amp; RUN — incidents subis en boucle, BUILD sacrifié à l'astreinte</a:t>
            </a:r>
          </a:p>
        </p:txBody>
      </p:sp>
      <p:sp>
        <p:nvSpPr>
          <p:cNvPr id="14" name="Rounded Rectangle 13"/>
          <p:cNvSpPr/>
          <p:nvPr/>
        </p:nvSpPr>
        <p:spPr>
          <a:xfrm>
            <a:off x="708660" y="3258650"/>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 y="3217502"/>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Utilisateur applicatif — sans self-service : guichet, contournements</a:t>
            </a:r>
          </a:p>
        </p:txBody>
      </p:sp>
      <p:sp>
        <p:nvSpPr>
          <p:cNvPr id="16" name="Rounded Rectangle 15"/>
          <p:cNvSpPr/>
          <p:nvPr/>
        </p:nvSpPr>
        <p:spPr>
          <a:xfrm>
            <a:off x="708660" y="3516418"/>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 y="3475270"/>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Management — expert devenu manager malgré lui, reporting miroir</a:t>
            </a:r>
          </a:p>
        </p:txBody>
      </p:sp>
      <p:sp>
        <p:nvSpPr>
          <p:cNvPr id="18" name="Rounded Rectangle 17"/>
          <p:cNvSpPr/>
          <p:nvPr/>
        </p:nvSpPr>
        <p:spPr>
          <a:xfrm>
            <a:off x="708660" y="3774186"/>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 y="3733038"/>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Sponsor — pression à « mettre de l'IA » sans cas d'usage démontré</a:t>
            </a:r>
          </a:p>
        </p:txBody>
      </p:sp>
      <p:sp>
        <p:nvSpPr>
          <p:cNvPr id="20" name="Rounded Rectangle 19"/>
          <p:cNvSpPr/>
          <p:nvPr/>
        </p:nvSpPr>
        <p:spPr>
          <a:xfrm>
            <a:off x="699516" y="4032504"/>
            <a:ext cx="2205228"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516" y="4032504"/>
            <a:ext cx="2205228" cy="310896"/>
          </a:xfrm>
          <a:prstGeom prst="rect">
            <a:avLst/>
          </a:prstGeom>
          <a:noFill/>
        </p:spPr>
        <p:txBody>
          <a:bodyPr wrap="square" anchor="ctr" lIns="0" rIns="0" tIns="0" bIns="0">
            <a:noAutofit/>
          </a:bodyPr>
          <a:lstStyle/>
          <a:p>
            <a:pPr algn="ctr"/>
            <a:r>
              <a:rPr sz="650" b="1" i="0">
                <a:solidFill>
                  <a:srgbClr val="FFFFFF"/>
                </a:solidFill>
                <a:latin typeface="Outfit"/>
              </a:rPr>
              <a:t>Détaillé aux chapitres Personas et Besoins &amp; douleurs</a:t>
            </a:r>
          </a:p>
        </p:txBody>
      </p:sp>
      <p:sp>
        <p:nvSpPr>
          <p:cNvPr id="22" name="Rounded Rectangle 21"/>
          <p:cNvSpPr/>
          <p:nvPr/>
        </p:nvSpPr>
        <p:spPr>
          <a:xfrm>
            <a:off x="3224783" y="1504315"/>
            <a:ext cx="2479548" cy="2967101"/>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224783" y="1504315"/>
            <a:ext cx="2479548" cy="685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ear 6 23"/>
          <p:cNvSpPr/>
          <p:nvPr/>
        </p:nvSpPr>
        <p:spPr>
          <a:xfrm>
            <a:off x="3361943" y="1650619"/>
            <a:ext cx="274320" cy="27432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27703" y="1650619"/>
            <a:ext cx="1839468" cy="274320"/>
          </a:xfrm>
          <a:prstGeom prst="rect">
            <a:avLst/>
          </a:prstGeom>
          <a:noFill/>
        </p:spPr>
        <p:txBody>
          <a:bodyPr wrap="square" anchor="ctr" lIns="0" rIns="0" tIns="0" bIns="0">
            <a:noAutofit/>
          </a:bodyPr>
          <a:lstStyle/>
          <a:p>
            <a:pPr algn="l">
              <a:lnSpc>
                <a:spcPct val="110000"/>
              </a:lnSpc>
            </a:pPr>
            <a:r>
              <a:rPr sz="650" b="1" i="0">
                <a:solidFill>
                  <a:srgbClr val="0E2356"/>
                </a:solidFill>
                <a:latin typeface="Outfit"/>
              </a:rPr>
              <a:t>NOTRE OUTILLAGE · CÔTÉ CONSULTANT</a:t>
            </a:r>
          </a:p>
        </p:txBody>
      </p:sp>
      <p:sp>
        <p:nvSpPr>
          <p:cNvPr id="26" name="TextBox 25"/>
          <p:cNvSpPr txBox="1"/>
          <p:nvPr/>
        </p:nvSpPr>
        <p:spPr>
          <a:xfrm>
            <a:off x="3361943" y="2016379"/>
            <a:ext cx="2205228" cy="326135"/>
          </a:xfrm>
          <a:prstGeom prst="rect">
            <a:avLst/>
          </a:prstGeom>
          <a:noFill/>
        </p:spPr>
        <p:txBody>
          <a:bodyPr wrap="square" anchor="t" lIns="0" rIns="0" tIns="0" bIns="0">
            <a:noAutofit/>
          </a:bodyPr>
          <a:lstStyle/>
          <a:p>
            <a:pPr algn="l">
              <a:lnSpc>
                <a:spcPct val="120000"/>
              </a:lnSpc>
            </a:pPr>
            <a:r>
              <a:rPr sz="950" b="1" i="0">
                <a:solidFill>
                  <a:srgbClr val="0E2356"/>
                </a:solidFill>
                <a:latin typeface="Outfit"/>
              </a:rPr>
              <a:t>Notre démarche, outillée par un module agentic</a:t>
            </a:r>
          </a:p>
        </p:txBody>
      </p:sp>
      <p:sp>
        <p:nvSpPr>
          <p:cNvPr id="27" name="TextBox 26"/>
          <p:cNvSpPr txBox="1"/>
          <p:nvPr/>
        </p:nvSpPr>
        <p:spPr>
          <a:xfrm>
            <a:off x="3361943" y="2379091"/>
            <a:ext cx="2205228" cy="379476"/>
          </a:xfrm>
          <a:prstGeom prst="rect">
            <a:avLst/>
          </a:prstGeom>
          <a:noFill/>
        </p:spPr>
        <p:txBody>
          <a:bodyPr wrap="square" anchor="t" lIns="0" rIns="0" tIns="0" bIns="0">
            <a:noAutofit/>
          </a:bodyPr>
          <a:lstStyle/>
          <a:p>
            <a:pPr algn="l">
              <a:lnSpc>
                <a:spcPct val="120000"/>
              </a:lnSpc>
            </a:pPr>
            <a:r>
              <a:rPr sz="750" b="0" i="1">
                <a:solidFill>
                  <a:srgbClr val="586586"/>
                </a:solidFill>
                <a:latin typeface="Outfit"/>
              </a:rPr>
              <a:t>Le module BMAD IAP tourne sur le poste du consultant.</a:t>
            </a:r>
          </a:p>
        </p:txBody>
      </p:sp>
      <p:sp>
        <p:nvSpPr>
          <p:cNvPr id="28" name="Rectangle 27"/>
          <p:cNvSpPr/>
          <p:nvPr/>
        </p:nvSpPr>
        <p:spPr>
          <a:xfrm>
            <a:off x="3361943" y="2850007"/>
            <a:ext cx="220522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371087" y="3000883"/>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89960" y="2959735"/>
            <a:ext cx="2077211" cy="265938"/>
          </a:xfrm>
          <a:prstGeom prst="rect">
            <a:avLst/>
          </a:prstGeom>
          <a:noFill/>
        </p:spPr>
        <p:txBody>
          <a:bodyPr wrap="square" anchor="t" lIns="0" rIns="0" tIns="0" bIns="0">
            <a:noAutofit/>
          </a:bodyPr>
          <a:lstStyle/>
          <a:p>
            <a:pPr algn="l">
              <a:lnSpc>
                <a:spcPct val="100000"/>
              </a:lnSpc>
            </a:pPr>
            <a:r>
              <a:rPr sz="650" b="0" i="0">
                <a:solidFill>
                  <a:srgbClr val="0E2356"/>
                </a:solidFill>
                <a:latin typeface="Outfit"/>
              </a:rPr>
              <a:t>11 agents spécialisés : stratégie, produit, RUN, gaspillages, métriques, IA, changement</a:t>
            </a:r>
          </a:p>
        </p:txBody>
      </p:sp>
      <p:sp>
        <p:nvSpPr>
          <p:cNvPr id="31" name="Rounded Rectangle 30"/>
          <p:cNvSpPr/>
          <p:nvPr/>
        </p:nvSpPr>
        <p:spPr>
          <a:xfrm>
            <a:off x="3371087" y="3349434"/>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89960" y="3308286"/>
            <a:ext cx="2077211" cy="265938"/>
          </a:xfrm>
          <a:prstGeom prst="rect">
            <a:avLst/>
          </a:prstGeom>
          <a:noFill/>
        </p:spPr>
        <p:txBody>
          <a:bodyPr wrap="square" anchor="t" lIns="0" rIns="0" tIns="0" bIns="0">
            <a:noAutofit/>
          </a:bodyPr>
          <a:lstStyle/>
          <a:p>
            <a:pPr algn="l">
              <a:lnSpc>
                <a:spcPct val="100000"/>
              </a:lnSpc>
            </a:pPr>
            <a:r>
              <a:rPr sz="650" b="0" i="0">
                <a:solidFill>
                  <a:srgbClr val="0E2356"/>
                </a:solidFill>
                <a:latin typeface="Outfit"/>
              </a:rPr>
              <a:t>Workflows, templates et checklists outillent la démarche — ils ne la remplacent pas</a:t>
            </a:r>
          </a:p>
        </p:txBody>
      </p:sp>
      <p:sp>
        <p:nvSpPr>
          <p:cNvPr id="33" name="Rounded Rectangle 32"/>
          <p:cNvSpPr/>
          <p:nvPr/>
        </p:nvSpPr>
        <p:spPr>
          <a:xfrm>
            <a:off x="3371087" y="3697986"/>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89960" y="3656838"/>
            <a:ext cx="2077211" cy="265938"/>
          </a:xfrm>
          <a:prstGeom prst="rect">
            <a:avLst/>
          </a:prstGeom>
          <a:noFill/>
        </p:spPr>
        <p:txBody>
          <a:bodyPr wrap="square" anchor="t" lIns="0" rIns="0" tIns="0" bIns="0">
            <a:noAutofit/>
          </a:bodyPr>
          <a:lstStyle/>
          <a:p>
            <a:pPr algn="l">
              <a:lnSpc>
                <a:spcPct val="100000"/>
              </a:lnSpc>
            </a:pPr>
            <a:r>
              <a:rPr sz="650" b="0" i="0">
                <a:solidFill>
                  <a:srgbClr val="0E2356"/>
                </a:solidFill>
                <a:latin typeface="Outfit"/>
              </a:rPr>
              <a:t>Rien ne s'installe chez le client par défaut : les livrables sortent, c'est tout</a:t>
            </a:r>
          </a:p>
        </p:txBody>
      </p:sp>
      <p:sp>
        <p:nvSpPr>
          <p:cNvPr id="35" name="Rounded Rectangle 34"/>
          <p:cNvSpPr/>
          <p:nvPr/>
        </p:nvSpPr>
        <p:spPr>
          <a:xfrm>
            <a:off x="3361943" y="4032504"/>
            <a:ext cx="2205228"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61943" y="4032504"/>
            <a:ext cx="2205228" cy="310896"/>
          </a:xfrm>
          <a:prstGeom prst="rect">
            <a:avLst/>
          </a:prstGeom>
          <a:noFill/>
        </p:spPr>
        <p:txBody>
          <a:bodyPr wrap="square" anchor="ctr" lIns="0" rIns="0" tIns="0" bIns="0">
            <a:noAutofit/>
          </a:bodyPr>
          <a:lstStyle/>
          <a:p>
            <a:pPr algn="ctr"/>
            <a:r>
              <a:rPr sz="650" b="1" i="0">
                <a:solidFill>
                  <a:srgbClr val="FFFFFF"/>
                </a:solidFill>
                <a:latin typeface="Outfit"/>
              </a:rPr>
              <a:t>L'outil du consultant — chapitres Démarche et Outillage IAP</a:t>
            </a:r>
          </a:p>
        </p:txBody>
      </p:sp>
      <p:sp>
        <p:nvSpPr>
          <p:cNvPr id="37" name="Rounded Rectangle 36"/>
          <p:cNvSpPr/>
          <p:nvPr/>
        </p:nvSpPr>
        <p:spPr>
          <a:xfrm>
            <a:off x="5887212" y="1504315"/>
            <a:ext cx="2479548" cy="2967101"/>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887212" y="1504315"/>
            <a:ext cx="2479548" cy="685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entagon 38"/>
          <p:cNvSpPr/>
          <p:nvPr/>
        </p:nvSpPr>
        <p:spPr>
          <a:xfrm>
            <a:off x="6024372" y="1650619"/>
            <a:ext cx="274320" cy="274320"/>
          </a:xfrm>
          <a:prstGeom prst="homePlat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90132" y="1650619"/>
            <a:ext cx="1839468" cy="274320"/>
          </a:xfrm>
          <a:prstGeom prst="rect">
            <a:avLst/>
          </a:prstGeom>
          <a:noFill/>
        </p:spPr>
        <p:txBody>
          <a:bodyPr wrap="square" anchor="ctr" lIns="0" rIns="0" tIns="0" bIns="0">
            <a:noAutofit/>
          </a:bodyPr>
          <a:lstStyle/>
          <a:p>
            <a:pPr algn="l">
              <a:lnSpc>
                <a:spcPct val="110000"/>
              </a:lnSpc>
            </a:pPr>
            <a:r>
              <a:rPr sz="650" b="1" i="0">
                <a:solidFill>
                  <a:srgbClr val="0E2356"/>
                </a:solidFill>
                <a:latin typeface="Outfit"/>
              </a:rPr>
              <a:t>EN OPTION · CÔTÉ CLIENT</a:t>
            </a:r>
          </a:p>
        </p:txBody>
      </p:sp>
      <p:sp>
        <p:nvSpPr>
          <p:cNvPr id="41" name="TextBox 40"/>
          <p:cNvSpPr txBox="1"/>
          <p:nvPr/>
        </p:nvSpPr>
        <p:spPr>
          <a:xfrm>
            <a:off x="6024372" y="2016379"/>
            <a:ext cx="2205228" cy="326135"/>
          </a:xfrm>
          <a:prstGeom prst="rect">
            <a:avLst/>
          </a:prstGeom>
          <a:noFill/>
        </p:spPr>
        <p:txBody>
          <a:bodyPr wrap="square" anchor="t" lIns="0" rIns="0" tIns="0" bIns="0">
            <a:noAutofit/>
          </a:bodyPr>
          <a:lstStyle/>
          <a:p>
            <a:pPr algn="l">
              <a:lnSpc>
                <a:spcPct val="120000"/>
              </a:lnSpc>
            </a:pPr>
            <a:r>
              <a:rPr sz="950" b="1" i="0">
                <a:solidFill>
                  <a:srgbClr val="0E2356"/>
                </a:solidFill>
                <a:latin typeface="Outfit"/>
              </a:rPr>
              <a:t>Déployer de l'agentic chez le client</a:t>
            </a:r>
          </a:p>
        </p:txBody>
      </p:sp>
      <p:sp>
        <p:nvSpPr>
          <p:cNvPr id="42" name="TextBox 41"/>
          <p:cNvSpPr txBox="1"/>
          <p:nvPr/>
        </p:nvSpPr>
        <p:spPr>
          <a:xfrm>
            <a:off x="6024372" y="2379091"/>
            <a:ext cx="2205228" cy="379476"/>
          </a:xfrm>
          <a:prstGeom prst="rect">
            <a:avLst/>
          </a:prstGeom>
          <a:noFill/>
        </p:spPr>
        <p:txBody>
          <a:bodyPr wrap="square" anchor="t" lIns="0" rIns="0" tIns="0" bIns="0">
            <a:noAutofit/>
          </a:bodyPr>
          <a:lstStyle/>
          <a:p>
            <a:pPr algn="l">
              <a:lnSpc>
                <a:spcPct val="120000"/>
              </a:lnSpc>
            </a:pPr>
            <a:r>
              <a:rPr sz="750" b="0" i="1">
                <a:solidFill>
                  <a:srgbClr val="586586"/>
                </a:solidFill>
                <a:latin typeface="Outfit"/>
              </a:rPr>
              <a:t>Ouverte seulement si le contexte du client s'y prête.</a:t>
            </a:r>
          </a:p>
        </p:txBody>
      </p:sp>
      <p:sp>
        <p:nvSpPr>
          <p:cNvPr id="43" name="Rectangle 42"/>
          <p:cNvSpPr/>
          <p:nvPr/>
        </p:nvSpPr>
        <p:spPr>
          <a:xfrm>
            <a:off x="6024372" y="2850007"/>
            <a:ext cx="220522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033516" y="3000883"/>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52388" y="2959735"/>
            <a:ext cx="2077211" cy="231648"/>
          </a:xfrm>
          <a:prstGeom prst="rect">
            <a:avLst/>
          </a:prstGeom>
          <a:noFill/>
        </p:spPr>
        <p:txBody>
          <a:bodyPr wrap="square" anchor="t" lIns="0" rIns="0" tIns="0" bIns="0">
            <a:noAutofit/>
          </a:bodyPr>
          <a:lstStyle/>
          <a:p>
            <a:pPr algn="l">
              <a:lnSpc>
                <a:spcPct val="120000"/>
              </a:lnSpc>
            </a:pPr>
            <a:r>
              <a:rPr sz="700" b="0" i="0">
                <a:solidFill>
                  <a:srgbClr val="0E2356"/>
                </a:solidFill>
                <a:latin typeface="Outfit"/>
              </a:rPr>
              <a:t>Gate IA d'abord : la donnée est classée (D0–D4) avant tout usage d'IA</a:t>
            </a:r>
          </a:p>
        </p:txBody>
      </p:sp>
      <p:sp>
        <p:nvSpPr>
          <p:cNvPr id="46" name="Rounded Rectangle 45"/>
          <p:cNvSpPr/>
          <p:nvPr/>
        </p:nvSpPr>
        <p:spPr>
          <a:xfrm>
            <a:off x="6033516" y="3313239"/>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52388" y="3272091"/>
            <a:ext cx="2077211" cy="338328"/>
          </a:xfrm>
          <a:prstGeom prst="rect">
            <a:avLst/>
          </a:prstGeom>
          <a:noFill/>
        </p:spPr>
        <p:txBody>
          <a:bodyPr wrap="square" anchor="t" lIns="0" rIns="0" tIns="0" bIns="0">
            <a:noAutofit/>
          </a:bodyPr>
          <a:lstStyle/>
          <a:p>
            <a:pPr algn="l">
              <a:lnSpc>
                <a:spcPct val="120000"/>
              </a:lnSpc>
            </a:pPr>
            <a:r>
              <a:rPr sz="700" b="0" i="0">
                <a:solidFill>
                  <a:srgbClr val="0E2356"/>
                </a:solidFill>
                <a:latin typeface="Outfit"/>
              </a:rPr>
              <a:t>Agentic Readiness [0]–[1] oriente vers documentation-first ; [2]–[3] ouvre agentic-implementation</a:t>
            </a:r>
          </a:p>
        </p:txBody>
      </p:sp>
      <p:sp>
        <p:nvSpPr>
          <p:cNvPr id="48" name="Rounded Rectangle 47"/>
          <p:cNvSpPr/>
          <p:nvPr/>
        </p:nvSpPr>
        <p:spPr>
          <a:xfrm>
            <a:off x="6033516" y="3732276"/>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52388" y="3691128"/>
            <a:ext cx="2077211" cy="231648"/>
          </a:xfrm>
          <a:prstGeom prst="rect">
            <a:avLst/>
          </a:prstGeom>
          <a:noFill/>
        </p:spPr>
        <p:txBody>
          <a:bodyPr wrap="square" anchor="t" lIns="0" rIns="0" tIns="0" bIns="0">
            <a:noAutofit/>
          </a:bodyPr>
          <a:lstStyle/>
          <a:p>
            <a:pPr algn="l">
              <a:lnSpc>
                <a:spcPct val="120000"/>
              </a:lnSpc>
            </a:pPr>
            <a:r>
              <a:rPr sz="700" b="0" i="0">
                <a:solidFill>
                  <a:srgbClr val="0E2356"/>
                </a:solidFill>
                <a:latin typeface="Outfit"/>
              </a:rPr>
              <a:t>Le processus doit être explicite avant l'agent, jamais l'inverse</a:t>
            </a:r>
          </a:p>
        </p:txBody>
      </p:sp>
      <p:sp>
        <p:nvSpPr>
          <p:cNvPr id="50" name="Rounded Rectangle 49"/>
          <p:cNvSpPr/>
          <p:nvPr/>
        </p:nvSpPr>
        <p:spPr>
          <a:xfrm>
            <a:off x="6024372" y="4032504"/>
            <a:ext cx="2205228"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024372" y="4032504"/>
            <a:ext cx="2205228" cy="310896"/>
          </a:xfrm>
          <a:prstGeom prst="rect">
            <a:avLst/>
          </a:prstGeom>
          <a:noFill/>
        </p:spPr>
        <p:txBody>
          <a:bodyPr wrap="square" anchor="ctr" lIns="0" rIns="0" tIns="0" bIns="0">
            <a:noAutofit/>
          </a:bodyPr>
          <a:lstStyle/>
          <a:p>
            <a:pPr algn="ctr"/>
            <a:r>
              <a:rPr sz="650" b="1" i="0">
                <a:solidFill>
                  <a:srgbClr val="FFFFFF"/>
                </a:solidFill>
                <a:latin typeface="Outfit"/>
              </a:rPr>
              <a:t>Une décision de mission — chapitre IA</a:t>
            </a:r>
          </a:p>
        </p:txBody>
      </p:sp>
      <p:sp>
        <p:nvSpPr>
          <p:cNvPr id="52" name="Rounded Rectangle 51"/>
          <p:cNvSpPr/>
          <p:nvPr/>
        </p:nvSpPr>
        <p:spPr>
          <a:xfrm>
            <a:off x="562356" y="4471416"/>
            <a:ext cx="7804404" cy="51206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5236" y="4471416"/>
            <a:ext cx="7438644" cy="512064"/>
          </a:xfrm>
          <a:prstGeom prst="rect">
            <a:avLst/>
          </a:prstGeom>
          <a:noFill/>
        </p:spPr>
        <p:txBody>
          <a:bodyPr wrap="square" anchor="ctr" lIns="0" rIns="0" tIns="0" bIns="0">
            <a:noAutofit/>
          </a:bodyPr>
          <a:lstStyle/>
          <a:p>
            <a:pPr algn="l"/>
            <a:r>
              <a:rPr sz="650" b="1" i="0">
                <a:solidFill>
                  <a:srgbClr val="586586"/>
                </a:solidFill>
                <a:latin typeface="Outfit"/>
              </a:rPr>
              <a:t>MATÉRIAU DE CADRAGE</a:t>
            </a:r>
          </a:p>
          <a:p>
            <a:pPr algn="l">
              <a:lnSpc>
                <a:spcPct val="120000"/>
              </a:lnSpc>
              <a:spcBef>
                <a:spcPts val="200"/>
              </a:spcBef>
            </a:pPr>
            <a:r>
              <a:rPr sz="750" b="0" i="0">
                <a:solidFill>
                  <a:srgbClr val="0E2356"/>
                </a:solidFill>
                <a:latin typeface="Outfit"/>
              </a:rPr>
              <a:t>Les personas, les douleurs et les familles de gaspillage de ce cadrage sont nourris de trois contextes sectoriels réels : télécom et plateformes numériques, banque de détail, GIE informatique bancaire.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EXEC SUMMARY   ·   </a:t>
            </a:r>
            <a:r>
              <a:rPr b="1" sz="1250">
                <a:solidFill>
                  <a:srgbClr val="0E2356"/>
                </a:solidFill>
                <a:latin typeface="Outfit"/>
              </a:rPr>
              <a:t>La même démarche absorbe l'outillage : elle n'est jamais dédoublée</a:t>
            </a:r>
          </a:p>
        </p:txBody>
      </p:sp>
      <p:sp>
        <p:nvSpPr>
          <p:cNvPr id="3" name="TextBox 2"/>
          <p:cNvSpPr txBox="1"/>
          <p:nvPr/>
        </p:nvSpPr>
        <p:spPr>
          <a:xfrm>
            <a:off x="562356" y="1051560"/>
            <a:ext cx="7804404" cy="324739"/>
          </a:xfrm>
          <a:prstGeom prst="rect">
            <a:avLst/>
          </a:prstGeom>
          <a:noFill/>
        </p:spPr>
        <p:txBody>
          <a:bodyPr wrap="square" anchor="t" lIns="0" rIns="0" tIns="0" bIns="0">
            <a:noAutofit/>
          </a:bodyPr>
          <a:lstStyle/>
          <a:p>
            <a:pPr algn="l">
              <a:lnSpc>
                <a:spcPct val="125000"/>
              </a:lnSpc>
            </a:pPr>
            <a:r>
              <a:rPr sz="850" b="0" i="1">
                <a:solidFill>
                  <a:srgbClr val="0E2356"/>
                </a:solidFill>
                <a:latin typeface="Outfit"/>
              </a:rPr>
              <a:t>Trois temps identiques avec ou sans outillage — ce qui change, c'est ce que le consultant a dans les mains, et ce qui peut être déployé chez le client.</a:t>
            </a:r>
          </a:p>
        </p:txBody>
      </p:sp>
      <p:sp>
        <p:nvSpPr>
          <p:cNvPr id="4" name="Rectangle 3"/>
          <p:cNvSpPr/>
          <p:nvPr/>
        </p:nvSpPr>
        <p:spPr>
          <a:xfrm>
            <a:off x="2911602" y="1722856"/>
            <a:ext cx="4422648" cy="201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540890"/>
            <a:ext cx="1188720" cy="38404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LA MÊME DÉMARCHE</a:t>
            </a:r>
          </a:p>
          <a:p>
            <a:pPr algn="l">
              <a:spcBef>
                <a:spcPts val="100"/>
              </a:spcBef>
            </a:pPr>
            <a:r>
              <a:rPr sz="620" b="0" i="1">
                <a:solidFill>
                  <a:srgbClr val="586586"/>
                </a:solidFill>
                <a:latin typeface="Outfit"/>
              </a:rPr>
              <a:t>quel que soit l'outillage</a:t>
            </a:r>
          </a:p>
        </p:txBody>
      </p:sp>
      <p:sp>
        <p:nvSpPr>
          <p:cNvPr id="6" name="Rounded Rectangle 5"/>
          <p:cNvSpPr/>
          <p:nvPr/>
        </p:nvSpPr>
        <p:spPr>
          <a:xfrm>
            <a:off x="2719578" y="154089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19578" y="1540890"/>
            <a:ext cx="384048" cy="384048"/>
          </a:xfrm>
          <a:prstGeom prst="rect">
            <a:avLst/>
          </a:prstGeom>
          <a:noFill/>
        </p:spPr>
        <p:txBody>
          <a:bodyPr wrap="square" anchor="ctr" lIns="0" rIns="0" tIns="0" bIns="0">
            <a:noAutofit/>
          </a:bodyPr>
          <a:lstStyle/>
          <a:p>
            <a:pPr algn="ctr"/>
            <a:r>
              <a:rPr sz="1400" b="1" i="0">
                <a:solidFill>
                  <a:srgbClr val="FFFFFF"/>
                </a:solidFill>
                <a:latin typeface="Arial"/>
              </a:rPr>
              <a:t>①</a:t>
            </a:r>
          </a:p>
        </p:txBody>
      </p:sp>
      <p:sp>
        <p:nvSpPr>
          <p:cNvPr id="8" name="TextBox 7"/>
          <p:cNvSpPr txBox="1"/>
          <p:nvPr/>
        </p:nvSpPr>
        <p:spPr>
          <a:xfrm>
            <a:off x="1879092" y="1998091"/>
            <a:ext cx="2065020" cy="201168"/>
          </a:xfrm>
          <a:prstGeom prst="rect">
            <a:avLst/>
          </a:prstGeom>
          <a:noFill/>
        </p:spPr>
        <p:txBody>
          <a:bodyPr wrap="square" anchor="t" lIns="0" rIns="0" tIns="0" bIns="0">
            <a:noAutofit/>
          </a:bodyPr>
          <a:lstStyle/>
          <a:p>
            <a:pPr algn="ctr"/>
            <a:r>
              <a:rPr sz="900" b="1" i="0">
                <a:solidFill>
                  <a:srgbClr val="0E2356"/>
                </a:solidFill>
                <a:latin typeface="Outfit"/>
              </a:rPr>
              <a:t>COMPRENDRE</a:t>
            </a:r>
          </a:p>
        </p:txBody>
      </p:sp>
      <p:sp>
        <p:nvSpPr>
          <p:cNvPr id="9" name="TextBox 8"/>
          <p:cNvSpPr txBox="1"/>
          <p:nvPr/>
        </p:nvSpPr>
        <p:spPr>
          <a:xfrm>
            <a:off x="1879092" y="2217547"/>
            <a:ext cx="2065020" cy="360425"/>
          </a:xfrm>
          <a:prstGeom prst="rect">
            <a:avLst/>
          </a:prstGeom>
          <a:noFill/>
        </p:spPr>
        <p:txBody>
          <a:bodyPr wrap="square" anchor="t" lIns="0" rIns="0" tIns="0" bIns="0">
            <a:noAutofit/>
          </a:bodyPr>
          <a:lstStyle/>
          <a:p>
            <a:pPr algn="ctr">
              <a:lnSpc>
                <a:spcPct val="125000"/>
              </a:lnSpc>
            </a:pPr>
            <a:r>
              <a:rPr sz="680" b="0" i="1">
                <a:solidFill>
                  <a:srgbClr val="586586"/>
                </a:solidFill>
                <a:latin typeface="Outfit"/>
              </a:rPr>
              <a:t>Le matériau est structuré par le module — les questions posées, elles, ne changent pas.</a:t>
            </a:r>
          </a:p>
        </p:txBody>
      </p:sp>
      <p:sp>
        <p:nvSpPr>
          <p:cNvPr id="10" name="TextBox 9"/>
          <p:cNvSpPr txBox="1"/>
          <p:nvPr/>
        </p:nvSpPr>
        <p:spPr>
          <a:xfrm>
            <a:off x="3944112" y="1540890"/>
            <a:ext cx="146304" cy="384048"/>
          </a:xfrm>
          <a:prstGeom prst="rect">
            <a:avLst/>
          </a:prstGeom>
          <a:noFill/>
        </p:spPr>
        <p:txBody>
          <a:bodyPr wrap="square" anchor="ctr" lIns="0" rIns="0" tIns="0" bIns="0">
            <a:noAutofit/>
          </a:bodyPr>
          <a:lstStyle/>
          <a:p>
            <a:pPr algn="ctr"/>
            <a:r>
              <a:rPr sz="1200" b="1" i="0">
                <a:solidFill>
                  <a:srgbClr val="586586"/>
                </a:solidFill>
                <a:latin typeface="Outfit"/>
              </a:rPr>
              <a:t>→</a:t>
            </a:r>
          </a:p>
        </p:txBody>
      </p:sp>
      <p:sp>
        <p:nvSpPr>
          <p:cNvPr id="11" name="Rounded Rectangle 10"/>
          <p:cNvSpPr/>
          <p:nvPr/>
        </p:nvSpPr>
        <p:spPr>
          <a:xfrm>
            <a:off x="4930902" y="154089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0902" y="1540890"/>
            <a:ext cx="384048" cy="384048"/>
          </a:xfrm>
          <a:prstGeom prst="rect">
            <a:avLst/>
          </a:prstGeom>
          <a:noFill/>
        </p:spPr>
        <p:txBody>
          <a:bodyPr wrap="square" anchor="ctr" lIns="0" rIns="0" tIns="0" bIns="0">
            <a:noAutofit/>
          </a:bodyPr>
          <a:lstStyle/>
          <a:p>
            <a:pPr algn="ctr"/>
            <a:r>
              <a:rPr sz="1400" b="1" i="0">
                <a:solidFill>
                  <a:srgbClr val="FFFFFF"/>
                </a:solidFill>
                <a:latin typeface="Arial"/>
              </a:rPr>
              <a:t>②</a:t>
            </a:r>
          </a:p>
        </p:txBody>
      </p:sp>
      <p:sp>
        <p:nvSpPr>
          <p:cNvPr id="13" name="TextBox 12"/>
          <p:cNvSpPr txBox="1"/>
          <p:nvPr/>
        </p:nvSpPr>
        <p:spPr>
          <a:xfrm>
            <a:off x="4090416" y="1998091"/>
            <a:ext cx="2065020" cy="201168"/>
          </a:xfrm>
          <a:prstGeom prst="rect">
            <a:avLst/>
          </a:prstGeom>
          <a:noFill/>
        </p:spPr>
        <p:txBody>
          <a:bodyPr wrap="square" anchor="t" lIns="0" rIns="0" tIns="0" bIns="0">
            <a:noAutofit/>
          </a:bodyPr>
          <a:lstStyle/>
          <a:p>
            <a:pPr algn="ctr"/>
            <a:r>
              <a:rPr sz="900" b="1" i="0">
                <a:solidFill>
                  <a:srgbClr val="0E2356"/>
                </a:solidFill>
                <a:latin typeface="Outfit"/>
              </a:rPr>
              <a:t>DÉFINIR</a:t>
            </a:r>
          </a:p>
        </p:txBody>
      </p:sp>
      <p:sp>
        <p:nvSpPr>
          <p:cNvPr id="14" name="TextBox 13"/>
          <p:cNvSpPr txBox="1"/>
          <p:nvPr/>
        </p:nvSpPr>
        <p:spPr>
          <a:xfrm>
            <a:off x="4090416" y="2217547"/>
            <a:ext cx="2065020" cy="360425"/>
          </a:xfrm>
          <a:prstGeom prst="rect">
            <a:avLst/>
          </a:prstGeom>
          <a:noFill/>
        </p:spPr>
        <p:txBody>
          <a:bodyPr wrap="square" anchor="t" lIns="0" rIns="0" tIns="0" bIns="0">
            <a:noAutofit/>
          </a:bodyPr>
          <a:lstStyle/>
          <a:p>
            <a:pPr algn="ctr">
              <a:lnSpc>
                <a:spcPct val="125000"/>
              </a:lnSpc>
            </a:pPr>
            <a:r>
              <a:rPr sz="680" b="0" i="1">
                <a:solidFill>
                  <a:srgbClr val="586586"/>
                </a:solidFill>
                <a:latin typeface="Outfit"/>
              </a:rPr>
              <a:t>Le scoring devient explicite et rejouable ; la décision, elle, reste humaine.</a:t>
            </a:r>
          </a:p>
        </p:txBody>
      </p:sp>
      <p:sp>
        <p:nvSpPr>
          <p:cNvPr id="15" name="TextBox 14"/>
          <p:cNvSpPr txBox="1"/>
          <p:nvPr/>
        </p:nvSpPr>
        <p:spPr>
          <a:xfrm>
            <a:off x="6155436" y="1540890"/>
            <a:ext cx="146304" cy="384048"/>
          </a:xfrm>
          <a:prstGeom prst="rect">
            <a:avLst/>
          </a:prstGeom>
          <a:noFill/>
        </p:spPr>
        <p:txBody>
          <a:bodyPr wrap="square" anchor="ctr" lIns="0" rIns="0" tIns="0" bIns="0">
            <a:noAutofit/>
          </a:bodyPr>
          <a:lstStyle/>
          <a:p>
            <a:pPr algn="ctr"/>
            <a:r>
              <a:rPr sz="1200" b="1" i="0">
                <a:solidFill>
                  <a:srgbClr val="586586"/>
                </a:solidFill>
                <a:latin typeface="Outfit"/>
              </a:rPr>
              <a:t>→</a:t>
            </a:r>
          </a:p>
        </p:txBody>
      </p:sp>
      <p:sp>
        <p:nvSpPr>
          <p:cNvPr id="16" name="Rounded Rectangle 15"/>
          <p:cNvSpPr/>
          <p:nvPr/>
        </p:nvSpPr>
        <p:spPr>
          <a:xfrm>
            <a:off x="7142226" y="154089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42226" y="1540890"/>
            <a:ext cx="384048" cy="384048"/>
          </a:xfrm>
          <a:prstGeom prst="rect">
            <a:avLst/>
          </a:prstGeom>
          <a:noFill/>
        </p:spPr>
        <p:txBody>
          <a:bodyPr wrap="square" anchor="ctr" lIns="0" rIns="0" tIns="0" bIns="0">
            <a:noAutofit/>
          </a:bodyPr>
          <a:lstStyle/>
          <a:p>
            <a:pPr algn="ctr"/>
            <a:r>
              <a:rPr sz="1400" b="1" i="0">
                <a:solidFill>
                  <a:srgbClr val="FFFFFF"/>
                </a:solidFill>
                <a:latin typeface="Arial"/>
              </a:rPr>
              <a:t>③</a:t>
            </a:r>
          </a:p>
        </p:txBody>
      </p:sp>
      <p:sp>
        <p:nvSpPr>
          <p:cNvPr id="18" name="TextBox 17"/>
          <p:cNvSpPr txBox="1"/>
          <p:nvPr/>
        </p:nvSpPr>
        <p:spPr>
          <a:xfrm>
            <a:off x="6301740" y="1998091"/>
            <a:ext cx="2065020" cy="201168"/>
          </a:xfrm>
          <a:prstGeom prst="rect">
            <a:avLst/>
          </a:prstGeom>
          <a:noFill/>
        </p:spPr>
        <p:txBody>
          <a:bodyPr wrap="square" anchor="t" lIns="0" rIns="0" tIns="0" bIns="0">
            <a:noAutofit/>
          </a:bodyPr>
          <a:lstStyle/>
          <a:p>
            <a:pPr algn="ctr"/>
            <a:r>
              <a:rPr sz="900" b="1" i="0">
                <a:solidFill>
                  <a:srgbClr val="0E2356"/>
                </a:solidFill>
                <a:latin typeface="Outfit"/>
              </a:rPr>
              <a:t>FAIRE ADOPTER &amp; PROUVER</a:t>
            </a:r>
          </a:p>
        </p:txBody>
      </p:sp>
      <p:sp>
        <p:nvSpPr>
          <p:cNvPr id="19" name="TextBox 18"/>
          <p:cNvSpPr txBox="1"/>
          <p:nvPr/>
        </p:nvSpPr>
        <p:spPr>
          <a:xfrm>
            <a:off x="6301740" y="2217547"/>
            <a:ext cx="2065020" cy="360425"/>
          </a:xfrm>
          <a:prstGeom prst="rect">
            <a:avLst/>
          </a:prstGeom>
          <a:noFill/>
        </p:spPr>
        <p:txBody>
          <a:bodyPr wrap="square" anchor="t" lIns="0" rIns="0" tIns="0" bIns="0">
            <a:noAutofit/>
          </a:bodyPr>
          <a:lstStyle/>
          <a:p>
            <a:pPr algn="ctr">
              <a:lnSpc>
                <a:spcPct val="125000"/>
              </a:lnSpc>
            </a:pPr>
            <a:r>
              <a:rPr sz="680" b="0" i="1">
                <a:solidFill>
                  <a:srgbClr val="586586"/>
                </a:solidFill>
                <a:latin typeface="Outfit"/>
              </a:rPr>
              <a:t>Les livrables sont générés ; l'adoption, elle, reste de la présence de consultant.</a:t>
            </a:r>
          </a:p>
        </p:txBody>
      </p:sp>
      <p:sp>
        <p:nvSpPr>
          <p:cNvPr id="20" name="TextBox 19"/>
          <p:cNvSpPr txBox="1"/>
          <p:nvPr/>
        </p:nvSpPr>
        <p:spPr>
          <a:xfrm>
            <a:off x="562356" y="2199259"/>
            <a:ext cx="1188720" cy="360425"/>
          </a:xfrm>
          <a:prstGeom prst="rect">
            <a:avLst/>
          </a:prstGeom>
          <a:noFill/>
        </p:spPr>
        <p:txBody>
          <a:bodyPr wrap="square" anchor="t" lIns="0" rIns="0" tIns="0" bIns="0">
            <a:noAutofit/>
          </a:bodyPr>
          <a:lstStyle/>
          <a:p>
            <a:pPr algn="l">
              <a:lnSpc>
                <a:spcPct val="110000"/>
              </a:lnSpc>
            </a:pPr>
            <a:r>
              <a:rPr sz="650" b="1" i="0">
                <a:solidFill>
                  <a:srgbClr val="586586"/>
                </a:solidFill>
                <a:latin typeface="Outfit"/>
              </a:rPr>
              <a:t>CE QUE ÇA CHANGE</a:t>
            </a:r>
          </a:p>
        </p:txBody>
      </p:sp>
      <p:sp>
        <p:nvSpPr>
          <p:cNvPr id="21" name="TextBox 20"/>
          <p:cNvSpPr txBox="1"/>
          <p:nvPr/>
        </p:nvSpPr>
        <p:spPr>
          <a:xfrm>
            <a:off x="562356" y="2724277"/>
            <a:ext cx="1188720" cy="432519"/>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SANS OUTILLAGE</a:t>
            </a:r>
          </a:p>
          <a:p>
            <a:pPr algn="l">
              <a:lnSpc>
                <a:spcPct val="115000"/>
              </a:lnSpc>
              <a:spcBef>
                <a:spcPts val="200"/>
              </a:spcBef>
            </a:pPr>
            <a:r>
              <a:rPr sz="600" b="0" i="1">
                <a:solidFill>
                  <a:srgbClr val="586586"/>
                </a:solidFill>
                <a:latin typeface="Outfit"/>
              </a:rPr>
              <a:t>présence du consultant</a:t>
            </a:r>
          </a:p>
        </p:txBody>
      </p:sp>
      <p:sp>
        <p:nvSpPr>
          <p:cNvPr id="22" name="Rounded Rectangle 21"/>
          <p:cNvSpPr/>
          <p:nvPr/>
        </p:nvSpPr>
        <p:spPr>
          <a:xfrm>
            <a:off x="1879092" y="2724277"/>
            <a:ext cx="2065020" cy="432519"/>
          </a:xfrm>
          <a:prstGeom prst="roundRect">
            <a:avLst>
              <a:gd name="adj" fmla="val 22000"/>
            </a:avLst>
          </a:prstGeom>
          <a:solidFill>
            <a:srgbClr val="DCE6F5"/>
          </a:solidFill>
          <a:ln w="1270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70532" y="2724277"/>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Interviews et terrain</a:t>
            </a:r>
          </a:p>
        </p:txBody>
      </p:sp>
      <p:sp>
        <p:nvSpPr>
          <p:cNvPr id="24" name="Rounded Rectangle 23"/>
          <p:cNvSpPr/>
          <p:nvPr/>
        </p:nvSpPr>
        <p:spPr>
          <a:xfrm>
            <a:off x="4090416" y="2724277"/>
            <a:ext cx="2065020" cy="432519"/>
          </a:xfrm>
          <a:prstGeom prst="roundRect">
            <a:avLst>
              <a:gd name="adj" fmla="val 22000"/>
            </a:avLst>
          </a:prstGeom>
          <a:solidFill>
            <a:srgbClr val="DCE6F5"/>
          </a:solidFill>
          <a:ln w="1270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81856" y="2724277"/>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Ateliers de conception</a:t>
            </a:r>
          </a:p>
        </p:txBody>
      </p:sp>
      <p:sp>
        <p:nvSpPr>
          <p:cNvPr id="26" name="Rounded Rectangle 25"/>
          <p:cNvSpPr/>
          <p:nvPr/>
        </p:nvSpPr>
        <p:spPr>
          <a:xfrm>
            <a:off x="6301740" y="2724277"/>
            <a:ext cx="2065020" cy="432519"/>
          </a:xfrm>
          <a:prstGeom prst="roundRect">
            <a:avLst>
              <a:gd name="adj" fmla="val 22000"/>
            </a:avLst>
          </a:prstGeom>
          <a:solidFill>
            <a:srgbClr val="DCE6F5"/>
          </a:solidFill>
          <a:ln w="1270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3180" y="2724277"/>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Coaching, présence dégressive</a:t>
            </a:r>
          </a:p>
        </p:txBody>
      </p:sp>
      <p:sp>
        <p:nvSpPr>
          <p:cNvPr id="28" name="Gear 6 27"/>
          <p:cNvSpPr/>
          <p:nvPr/>
        </p:nvSpPr>
        <p:spPr>
          <a:xfrm>
            <a:off x="562356" y="3382200"/>
            <a:ext cx="201168" cy="201168"/>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6676" y="3266524"/>
            <a:ext cx="914400" cy="432519"/>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AVEC LE MODULE</a:t>
            </a:r>
          </a:p>
          <a:p>
            <a:pPr algn="l">
              <a:lnSpc>
                <a:spcPct val="115000"/>
              </a:lnSpc>
              <a:spcBef>
                <a:spcPts val="200"/>
              </a:spcBef>
            </a:pPr>
            <a:r>
              <a:rPr sz="600" b="0" i="1">
                <a:solidFill>
                  <a:srgbClr val="586586"/>
                </a:solidFill>
                <a:latin typeface="Outfit"/>
              </a:rPr>
              <a:t>côté consultant · décliné au chapitre Démarche</a:t>
            </a:r>
          </a:p>
        </p:txBody>
      </p:sp>
      <p:sp>
        <p:nvSpPr>
          <p:cNvPr id="30" name="Rounded Rectangle 29"/>
          <p:cNvSpPr/>
          <p:nvPr/>
        </p:nvSpPr>
        <p:spPr>
          <a:xfrm>
            <a:off x="1879092" y="3266524"/>
            <a:ext cx="2065020" cy="432519"/>
          </a:xfrm>
          <a:prstGeom prst="roundRect">
            <a:avLst>
              <a:gd name="adj" fmla="val 22000"/>
            </a:avLst>
          </a:prstGeom>
          <a:solidFill>
            <a:srgbClr val="E1FDFA"/>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70532" y="3266524"/>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Trames et synthèse outillées</a:t>
            </a:r>
          </a:p>
        </p:txBody>
      </p:sp>
      <p:sp>
        <p:nvSpPr>
          <p:cNvPr id="32" name="Rounded Rectangle 31"/>
          <p:cNvSpPr/>
          <p:nvPr/>
        </p:nvSpPr>
        <p:spPr>
          <a:xfrm>
            <a:off x="4090416" y="3266524"/>
            <a:ext cx="2065020" cy="432519"/>
          </a:xfrm>
          <a:prstGeom prst="roundRect">
            <a:avLst>
              <a:gd name="adj" fmla="val 22000"/>
            </a:avLst>
          </a:prstGeom>
          <a:solidFill>
            <a:srgbClr val="E1FDFA"/>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81856" y="3266524"/>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Fiche produit et scoring</a:t>
            </a:r>
          </a:p>
        </p:txBody>
      </p:sp>
      <p:sp>
        <p:nvSpPr>
          <p:cNvPr id="34" name="Rounded Rectangle 33"/>
          <p:cNvSpPr/>
          <p:nvPr/>
        </p:nvSpPr>
        <p:spPr>
          <a:xfrm>
            <a:off x="6301740" y="3266524"/>
            <a:ext cx="2065020" cy="432519"/>
          </a:xfrm>
          <a:prstGeom prst="roundRect">
            <a:avLst>
              <a:gd name="adj" fmla="val 22000"/>
            </a:avLst>
          </a:prstGeom>
          <a:solidFill>
            <a:srgbClr val="E1FDFA"/>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93180" y="3266524"/>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Decks et export markdown</a:t>
            </a:r>
          </a:p>
        </p:txBody>
      </p:sp>
      <p:sp>
        <p:nvSpPr>
          <p:cNvPr id="36" name="Pentagon 35"/>
          <p:cNvSpPr/>
          <p:nvPr/>
        </p:nvSpPr>
        <p:spPr>
          <a:xfrm>
            <a:off x="562356" y="3924448"/>
            <a:ext cx="201168" cy="201168"/>
          </a:xfrm>
          <a:prstGeom prst="homePlat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 y="3808772"/>
            <a:ext cx="914400" cy="432519"/>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AGENTIC CHEZ LE CLIENT</a:t>
            </a:r>
          </a:p>
          <a:p>
            <a:pPr algn="l">
              <a:lnSpc>
                <a:spcPct val="115000"/>
              </a:lnSpc>
              <a:spcBef>
                <a:spcPts val="200"/>
              </a:spcBef>
            </a:pPr>
            <a:r>
              <a:rPr sz="600" b="0" i="1">
                <a:solidFill>
                  <a:srgbClr val="586586"/>
                </a:solidFill>
                <a:latin typeface="Outfit"/>
              </a:rPr>
              <a:t>en option, sous gate IA · déployé au chapitre Outillage IAP</a:t>
            </a:r>
          </a:p>
        </p:txBody>
      </p:sp>
      <p:sp>
        <p:nvSpPr>
          <p:cNvPr id="38" name="Rounded Rectangle 37"/>
          <p:cNvSpPr/>
          <p:nvPr/>
        </p:nvSpPr>
        <p:spPr>
          <a:xfrm>
            <a:off x="1879092" y="3808772"/>
            <a:ext cx="2065020" cy="432519"/>
          </a:xfrm>
          <a:prstGeom prst="roundRect">
            <a:avLst>
              <a:gd name="adj" fmla="val 22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70532" y="3808772"/>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Rien de déployé à ce stade</a:t>
            </a:r>
          </a:p>
        </p:txBody>
      </p:sp>
      <p:sp>
        <p:nvSpPr>
          <p:cNvPr id="40" name="Rounded Rectangle 39"/>
          <p:cNvSpPr/>
          <p:nvPr/>
        </p:nvSpPr>
        <p:spPr>
          <a:xfrm>
            <a:off x="4090416" y="3808772"/>
            <a:ext cx="2065020" cy="432519"/>
          </a:xfrm>
          <a:prstGeom prst="roundRect">
            <a:avLst>
              <a:gd name="adj" fmla="val 22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181856" y="3808772"/>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Candidats qualifiés, gate IA</a:t>
            </a:r>
          </a:p>
        </p:txBody>
      </p:sp>
      <p:sp>
        <p:nvSpPr>
          <p:cNvPr id="42" name="Rounded Rectangle 41"/>
          <p:cNvSpPr/>
          <p:nvPr/>
        </p:nvSpPr>
        <p:spPr>
          <a:xfrm>
            <a:off x="6301740" y="3808772"/>
            <a:ext cx="2065020" cy="432519"/>
          </a:xfrm>
          <a:prstGeom prst="roundRect">
            <a:avLst>
              <a:gd name="adj" fmla="val 22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93180" y="3808772"/>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Supervisé, puis délégué</a:t>
            </a:r>
          </a:p>
        </p:txBody>
      </p:sp>
      <p:sp>
        <p:nvSpPr>
          <p:cNvPr id="44" name="Rounded Rectangle 43"/>
          <p:cNvSpPr/>
          <p:nvPr/>
        </p:nvSpPr>
        <p:spPr>
          <a:xfrm>
            <a:off x="562356" y="4387596"/>
            <a:ext cx="7804404" cy="595884"/>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62356" y="4387596"/>
            <a:ext cx="64008" cy="59588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81812" y="4442460"/>
            <a:ext cx="7402068" cy="486156"/>
          </a:xfrm>
          <a:prstGeom prst="rect">
            <a:avLst/>
          </a:prstGeom>
          <a:noFill/>
        </p:spPr>
        <p:txBody>
          <a:bodyPr wrap="square" anchor="t" lIns="0" rIns="0" tIns="0" bIns="0">
            <a:noAutofit/>
          </a:bodyPr>
          <a:lstStyle/>
          <a:p>
            <a:pPr algn="l"/>
            <a:r>
              <a:rPr sz="680" b="1" i="0">
                <a:solidFill>
                  <a:srgbClr val="8FD6DB"/>
                </a:solidFill>
                <a:latin typeface="Outfit"/>
              </a:rPr>
              <a:t>CE QUE LE DECK DÉCLINE ENSUITE</a:t>
            </a:r>
          </a:p>
          <a:p>
            <a:pPr algn="l">
              <a:lnSpc>
                <a:spcPct val="125000"/>
              </a:lnSpc>
              <a:spcBef>
                <a:spcPts val="300"/>
              </a:spcBef>
            </a:pPr>
            <a:r>
              <a:rPr sz="800" b="0" i="0">
                <a:solidFill>
                  <a:srgbClr val="FFFFFF"/>
                </a:solidFill>
                <a:latin typeface="Outfit"/>
              </a:rPr>
              <a:t>Une seule démarche, deux faces de l'agentic : le module outille le consultant (décliné au chapitre Démarche) ; déployer des agents chez le client est une décision distincte, sous gate IA (déployé au chapitre Outillage IAP).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8FD6DB"/>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déroulent tous les chapitres qui suivent.</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La double mission, et pourquoi cette transformation a du sens pour un client infra maintenant.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622046"/>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Round Diagonal Corner Rectangle 3"/>
          <p:cNvSpPr/>
          <p:nvPr/>
        </p:nvSpPr>
        <p:spPr>
          <a:xfrm>
            <a:off x="562356" y="1879123"/>
            <a:ext cx="1813941" cy="1930336"/>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8076" y="2783935"/>
            <a:ext cx="1722501" cy="979805"/>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 y="1943131"/>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Ne rien faire</a:t>
            </a:r>
          </a:p>
          <a:p>
            <a:pPr algn="l">
              <a:lnSpc>
                <a:spcPct val="120000"/>
              </a:lnSpc>
              <a:spcBef>
                <a:spcPts val="400"/>
              </a:spcBef>
            </a:pPr>
            <a:r>
              <a:rPr sz="730" b="0" i="0">
                <a:solidFill>
                  <a:srgbClr val="0E2356"/>
                </a:solidFill>
                <a:latin typeface="Outfit"/>
              </a:rPr>
              <a:t>Zéro coût apparent.</a:t>
            </a:r>
          </a:p>
        </p:txBody>
      </p:sp>
      <p:sp>
        <p:nvSpPr>
          <p:cNvPr id="7" name="TextBox 6"/>
          <p:cNvSpPr txBox="1"/>
          <p:nvPr/>
        </p:nvSpPr>
        <p:spPr>
          <a:xfrm>
            <a:off x="681228" y="2857087"/>
            <a:ext cx="1576197" cy="952373"/>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Le coût du statu quo monte</a:t>
            </a:r>
          </a:p>
          <a:p>
            <a:pPr algn="l">
              <a:lnSpc>
                <a:spcPct val="120000"/>
              </a:lnSpc>
              <a:spcBef>
                <a:spcPts val="300"/>
              </a:spcBef>
            </a:pPr>
            <a:r>
              <a:rPr sz="730" b="0" i="0">
                <a:solidFill>
                  <a:srgbClr val="FFFFFF"/>
                </a:solidFill>
                <a:latin typeface="Outfit"/>
              </a:rPr>
              <a:t>C'est lui que l'Assessment flash chiffre (déclencheur ①).</a:t>
            </a:r>
          </a:p>
        </p:txBody>
      </p:sp>
      <p:sp>
        <p:nvSpPr>
          <p:cNvPr id="8" name="Round Diagonal Corner Rectangle 7"/>
          <p:cNvSpPr/>
          <p:nvPr/>
        </p:nvSpPr>
        <p:spPr>
          <a:xfrm>
            <a:off x="2559177" y="1879123"/>
            <a:ext cx="1813941" cy="1930336"/>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4897" y="2783935"/>
            <a:ext cx="1722501" cy="979805"/>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8049" y="1943131"/>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FinOps outillé seul</a:t>
            </a:r>
          </a:p>
          <a:p>
            <a:pPr algn="l">
              <a:lnSpc>
                <a:spcPct val="120000"/>
              </a:lnSpc>
              <a:spcBef>
                <a:spcPts val="400"/>
              </a:spcBef>
            </a:pPr>
            <a:r>
              <a:rPr sz="730" b="0" i="0">
                <a:solidFill>
                  <a:srgbClr val="0E2356"/>
                </a:solidFill>
                <a:latin typeface="Outfit"/>
              </a:rPr>
              <a:t>Mesure le gaspillage : marché mature, gaspillage cloud estimé à 29 % (Flexera).</a:t>
            </a:r>
          </a:p>
        </p:txBody>
      </p:sp>
      <p:sp>
        <p:nvSpPr>
          <p:cNvPr id="11" name="TextBox 10"/>
          <p:cNvSpPr txBox="1"/>
          <p:nvPr/>
        </p:nvSpPr>
        <p:spPr>
          <a:xfrm>
            <a:off x="2678049" y="2857087"/>
            <a:ext cx="1576197" cy="952373"/>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Ni cible produit, ni réallocation</a:t>
            </a:r>
          </a:p>
          <a:p>
            <a:pPr algn="l">
              <a:lnSpc>
                <a:spcPct val="120000"/>
              </a:lnSpc>
              <a:spcBef>
                <a:spcPts val="300"/>
              </a:spcBef>
            </a:pPr>
            <a:r>
              <a:rPr sz="730" b="0" i="0">
                <a:solidFill>
                  <a:srgbClr val="FFFFFF"/>
                </a:solidFill>
                <a:latin typeface="Outfit"/>
              </a:rPr>
              <a:t>IAP se place en aval : le chiffre devient une capacité produit gouvernée, pas seulement une économie.</a:t>
            </a:r>
          </a:p>
        </p:txBody>
      </p:sp>
      <p:sp>
        <p:nvSpPr>
          <p:cNvPr id="12" name="Round Diagonal Corner Rectangle 11"/>
          <p:cNvSpPr/>
          <p:nvPr/>
        </p:nvSpPr>
        <p:spPr>
          <a:xfrm>
            <a:off x="4555998" y="1879123"/>
            <a:ext cx="1813941" cy="1930336"/>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01718" y="2783935"/>
            <a:ext cx="1722501" cy="979805"/>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4870" y="1943131"/>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Platform engineering pur</a:t>
            </a:r>
          </a:p>
          <a:p>
            <a:pPr algn="l">
              <a:lnSpc>
                <a:spcPct val="120000"/>
              </a:lnSpc>
              <a:spcBef>
                <a:spcPts val="400"/>
              </a:spcBef>
            </a:pPr>
            <a:r>
              <a:rPr sz="730" b="0" i="0">
                <a:solidFill>
                  <a:srgbClr val="0E2356"/>
                </a:solidFill>
                <a:latin typeface="Outfit"/>
              </a:rPr>
              <a:t>La cible produit/plateforme, un modèle devenu standard.</a:t>
            </a:r>
          </a:p>
        </p:txBody>
      </p:sp>
      <p:sp>
        <p:nvSpPr>
          <p:cNvPr id="15" name="TextBox 14"/>
          <p:cNvSpPr txBox="1"/>
          <p:nvPr/>
        </p:nvSpPr>
        <p:spPr>
          <a:xfrm>
            <a:off x="4674870" y="2857087"/>
            <a:ext cx="1576197" cy="952373"/>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La cible sans le financement</a:t>
            </a:r>
          </a:p>
          <a:p>
            <a:pPr algn="l">
              <a:lnSpc>
                <a:spcPct val="120000"/>
              </a:lnSpc>
              <a:spcBef>
                <a:spcPts val="300"/>
              </a:spcBef>
            </a:pPr>
            <a:r>
              <a:rPr sz="730" b="0" i="0">
                <a:solidFill>
                  <a:srgbClr val="FFFFFF"/>
                </a:solidFill>
                <a:latin typeface="Outfit"/>
              </a:rPr>
              <a:t>Reproduit l'écart 80/30 : 80 % de platform teams en 2026, moins de 30 % de gains mesurables (Gartner).</a:t>
            </a:r>
          </a:p>
        </p:txBody>
      </p:sp>
      <p:sp>
        <p:nvSpPr>
          <p:cNvPr id="16" name="Round Diagonal Corner Rectangle 15"/>
          <p:cNvSpPr/>
          <p:nvPr/>
        </p:nvSpPr>
        <p:spPr>
          <a:xfrm>
            <a:off x="6552819" y="1879123"/>
            <a:ext cx="1813941" cy="1930336"/>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8539" y="2783935"/>
            <a:ext cx="1722501" cy="979805"/>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1691" y="1943131"/>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AIOps / agentic outillé</a:t>
            </a:r>
          </a:p>
          <a:p>
            <a:pPr algn="l">
              <a:lnSpc>
                <a:spcPct val="120000"/>
              </a:lnSpc>
              <a:spcBef>
                <a:spcPts val="400"/>
              </a:spcBef>
            </a:pPr>
            <a:r>
              <a:rPr sz="730" b="0" i="0">
                <a:solidFill>
                  <a:srgbClr val="0E2356"/>
                </a:solidFill>
                <a:latin typeface="Outfit"/>
              </a:rPr>
              <a:t>Time-to-value court (ServiceNow, Datadog).</a:t>
            </a:r>
          </a:p>
        </p:txBody>
      </p:sp>
      <p:sp>
        <p:nvSpPr>
          <p:cNvPr id="19" name="TextBox 18"/>
          <p:cNvSpPr txBox="1"/>
          <p:nvPr/>
        </p:nvSpPr>
        <p:spPr>
          <a:xfrm>
            <a:off x="6671691" y="2857087"/>
            <a:ext cx="1576197" cy="952373"/>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Automatise le RUN sans transformer</a:t>
            </a:r>
          </a:p>
          <a:p>
            <a:pPr algn="l">
              <a:lnSpc>
                <a:spcPct val="120000"/>
              </a:lnSpc>
              <a:spcBef>
                <a:spcPts val="300"/>
              </a:spcBef>
            </a:pPr>
            <a:r>
              <a:rPr sz="730" b="0" i="0">
                <a:solidFill>
                  <a:srgbClr val="FFFFFF"/>
                </a:solidFill>
                <a:latin typeface="Outfit"/>
              </a:rPr>
              <a:t>Plus de 40 % des projets agentic seront abandonnés d'ici 2027 (Gartner, juin 2025).</a:t>
            </a:r>
          </a:p>
        </p:txBody>
      </p:sp>
      <p:sp>
        <p:nvSpPr>
          <p:cNvPr id="20" name="Rounded Rectangle 19"/>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est déjà prise — Thoughtworks (conseil), Itential (plateforme). Le différenciateur n'est pas le nom mais le couplage produit + gaspillage + doctrine IA, angle mort commun des quatre.</a:t>
            </a:r>
          </a:p>
        </p:txBody>
      </p:sp>
      <p:sp>
        <p:nvSpPr>
          <p:cNvPr id="22" name="Rounded Rectangle 21"/>
          <p:cNvSpPr/>
          <p:nvPr/>
        </p:nvSpPr>
        <p:spPr>
          <a:xfrm>
            <a:off x="4555998" y="4033266"/>
            <a:ext cx="3810762" cy="950213"/>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8891B3"/>
                </a:solidFill>
                <a:latin typeface="Outfit"/>
              </a:rPr>
              <a:t>LA RÉPONSE AU « JE NE VEUX QUE LA BAISSE DE COÛTS »</a:t>
            </a:r>
          </a:p>
          <a:p>
            <a:pPr algn="l">
              <a:lnSpc>
                <a:spcPct val="125000"/>
              </a:lnSpc>
              <a:spcBef>
                <a:spcPts val="300"/>
              </a:spcBef>
            </a:pPr>
            <a:r>
              <a:rPr sz="700" b="0" i="0">
                <a:solidFill>
                  <a:srgbClr val="FFFFFF"/>
                </a:solidFill>
                <a:latin typeface="Outfit"/>
              </a:rPr>
              <a:t>Une mission flash d'entrée — intake, gate confidentialité, pilote court — puis la trajectoire ; jamais l'assainissement seul. Sous pression IA, un cas d'usage sur données publiques est packagé dès l'intake : « celui-ci, tout de suite, sous gate » (chapitre 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Spécificités de l'infra</a:t>
            </a:r>
          </a:p>
          <a:p>
            <a:r>
              <a:rPr sz="1050" i="1">
                <a:solidFill>
                  <a:srgbClr val="586586"/>
                </a:solidFill>
                <a:latin typeface="Outfit"/>
              </a:rPr>
              <a:t>Le RUN comme régime permanent, une infra transverse que personne ne porte en propre — et ce que ça change à la façon de la traiter.</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2" name="TextBox 21"/>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r>
              <a:rPr sz="1200" b="1" i="0">
                <a:solidFill>
                  <a:srgbClr val="00D2DD"/>
                </a:solidFill>
                <a:latin typeface="Outfit"/>
              </a:rPr>
              <a: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Le RUN n'est pas une phase du projet : c'est un régime permanent, et c'est ce qui le rend impossible à traiter comme du BUILD</a:t>
            </a:r>
          </a:p>
        </p:txBody>
      </p:sp>
      <p:sp>
        <p:nvSpPr>
          <p:cNvPr id="3" name="Rounded Rectangle 2"/>
          <p:cNvSpPr/>
          <p:nvPr/>
        </p:nvSpPr>
        <p:spPr>
          <a:xfrm>
            <a:off x="1254442"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5" name="Rectangle 4"/>
          <p:cNvSpPr/>
          <p:nvPr/>
        </p:nvSpPr>
        <p:spPr>
          <a:xfrm>
            <a:off x="1472984"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ne s'arrête jamais</a:t>
            </a:r>
          </a:p>
        </p:txBody>
      </p:sp>
      <p:sp>
        <p:nvSpPr>
          <p:cNvPr id="7" name="TextBox 6"/>
          <p:cNvSpPr txBox="1"/>
          <p:nvPr/>
        </p:nvSpPr>
        <p:spPr>
          <a:xfrm>
            <a:off x="617220"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Un projet se termine, le RUN non. L'astreinte, la veille et le maintien en condition sont un coût fixe qu'aucune fin de phase ne libère.</a:t>
            </a:r>
          </a:p>
        </p:txBody>
      </p:sp>
      <p:sp>
        <p:nvSpPr>
          <p:cNvPr id="8" name="TextBox 7"/>
          <p:cNvSpPr txBox="1"/>
          <p:nvPr/>
        </p:nvSpPr>
        <p:spPr>
          <a:xfrm>
            <a:off x="617220"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9" name="TextBox 8"/>
          <p:cNvSpPr txBox="1"/>
          <p:nvPr/>
        </p:nvSpPr>
        <p:spPr>
          <a:xfrm>
            <a:off x="617220"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Aucune date de fin ne le fait retomber</a:t>
            </a:r>
          </a:p>
        </p:txBody>
      </p:sp>
      <p:sp>
        <p:nvSpPr>
          <p:cNvPr id="10" name="Rounded Rectangle 9"/>
          <p:cNvSpPr/>
          <p:nvPr/>
        </p:nvSpPr>
        <p:spPr>
          <a:xfrm>
            <a:off x="3242119"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0033"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2" name="Rectangle 11"/>
          <p:cNvSpPr/>
          <p:nvPr/>
        </p:nvSpPr>
        <p:spPr>
          <a:xfrm>
            <a:off x="3460661"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0033"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charge arrive de l'extérieur</a:t>
            </a:r>
          </a:p>
        </p:txBody>
      </p:sp>
      <p:sp>
        <p:nvSpPr>
          <p:cNvPr id="14" name="TextBox 13"/>
          <p:cNvSpPr txBox="1"/>
          <p:nvPr/>
        </p:nvSpPr>
        <p:spPr>
          <a:xfrm>
            <a:off x="2604897"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Elle n'est pas planifiée : elle est déclenchée par les incidents, les demandes et les obsolescences. On subit le rythme au lieu de le choisir.</a:t>
            </a:r>
          </a:p>
        </p:txBody>
      </p:sp>
      <p:sp>
        <p:nvSpPr>
          <p:cNvPr id="15" name="TextBox 14"/>
          <p:cNvSpPr txBox="1"/>
          <p:nvPr/>
        </p:nvSpPr>
        <p:spPr>
          <a:xfrm>
            <a:off x="2604897"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16" name="TextBox 15"/>
          <p:cNvSpPr txBox="1"/>
          <p:nvPr/>
        </p:nvSpPr>
        <p:spPr>
          <a:xfrm>
            <a:off x="2604897"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carnet se remplit sans arbitrage</a:t>
            </a:r>
          </a:p>
        </p:txBody>
      </p:sp>
      <p:sp>
        <p:nvSpPr>
          <p:cNvPr id="17" name="Rounded Rectangle 16"/>
          <p:cNvSpPr/>
          <p:nvPr/>
        </p:nvSpPr>
        <p:spPr>
          <a:xfrm>
            <a:off x="5229796" y="1325880"/>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7710" y="1325880"/>
            <a:ext cx="1841373" cy="457200"/>
          </a:xfrm>
          <a:prstGeom prst="rect">
            <a:avLst/>
          </a:prstGeom>
          <a:noFill/>
        </p:spPr>
        <p:txBody>
          <a:bodyPr wrap="square" anchor="ctr" lIns="0" rIns="0" tIns="0" bIns="0">
            <a:noAutofit/>
          </a:bodyPr>
          <a:lstStyle/>
          <a:p>
            <a:pPr algn="ctr"/>
            <a:r>
              <a:rPr sz="1300" b="1" i="0">
                <a:solidFill>
                  <a:srgbClr val="0E2356"/>
                </a:solidFill>
                <a:latin typeface="Outfit"/>
              </a:rPr>
              <a:t>3</a:t>
            </a:r>
          </a:p>
        </p:txBody>
      </p:sp>
      <p:sp>
        <p:nvSpPr>
          <p:cNvPr id="19" name="Rectangle 18"/>
          <p:cNvSpPr/>
          <p:nvPr/>
        </p:nvSpPr>
        <p:spPr>
          <a:xfrm>
            <a:off x="5448338" y="1783080"/>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7710"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puise dans les MÊMES experts que le BUILD</a:t>
            </a:r>
          </a:p>
        </p:txBody>
      </p:sp>
      <p:sp>
        <p:nvSpPr>
          <p:cNvPr id="21" name="TextBox 20"/>
          <p:cNvSpPr txBox="1"/>
          <p:nvPr/>
        </p:nvSpPr>
        <p:spPr>
          <a:xfrm>
            <a:off x="4592574"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seniors capables de tenir la production sont ceux qui construisent. À chaque conflit, l'incident du jour gagne contre le chantier de fond.</a:t>
            </a:r>
          </a:p>
        </p:txBody>
      </p:sp>
      <p:sp>
        <p:nvSpPr>
          <p:cNvPr id="22" name="TextBox 21"/>
          <p:cNvSpPr txBox="1"/>
          <p:nvPr/>
        </p:nvSpPr>
        <p:spPr>
          <a:xfrm>
            <a:off x="4592574"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23" name="TextBox 22"/>
          <p:cNvSpPr txBox="1"/>
          <p:nvPr/>
        </p:nvSpPr>
        <p:spPr>
          <a:xfrm>
            <a:off x="4592574"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BUILD paie, toujours dans le même sens</a:t>
            </a:r>
          </a:p>
        </p:txBody>
      </p:sp>
      <p:sp>
        <p:nvSpPr>
          <p:cNvPr id="24" name="Rounded Rectangle 23"/>
          <p:cNvSpPr/>
          <p:nvPr/>
        </p:nvSpPr>
        <p:spPr>
          <a:xfrm>
            <a:off x="7217473"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387"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26" name="Rectangle 25"/>
          <p:cNvSpPr/>
          <p:nvPr/>
        </p:nvSpPr>
        <p:spPr>
          <a:xfrm>
            <a:off x="7436015"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5387"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dette ne se voit pas le jour où on la crée</a:t>
            </a:r>
          </a:p>
        </p:txBody>
      </p:sp>
      <p:sp>
        <p:nvSpPr>
          <p:cNvPr id="28" name="TextBox 27"/>
          <p:cNvSpPr txBox="1"/>
          <p:nvPr/>
        </p:nvSpPr>
        <p:spPr>
          <a:xfrm>
            <a:off x="6580251"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Ne pas décommissionner, ne pas documenter, ne pas automatiser ne casse rien aujourd'hui. Le coût se paie plus tard, et ailleurs.</a:t>
            </a:r>
          </a:p>
        </p:txBody>
      </p:sp>
      <p:sp>
        <p:nvSpPr>
          <p:cNvPr id="29" name="TextBox 28"/>
          <p:cNvSpPr txBox="1"/>
          <p:nvPr/>
        </p:nvSpPr>
        <p:spPr>
          <a:xfrm>
            <a:off x="6580251"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30" name="TextBox 29"/>
          <p:cNvSpPr txBox="1"/>
          <p:nvPr/>
        </p:nvSpPr>
        <p:spPr>
          <a:xfrm>
            <a:off x="6580251"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Rien ne tombe le jour de l'arbitrage</a:t>
            </a:r>
          </a:p>
        </p:txBody>
      </p:sp>
      <p:sp>
        <p:nvSpPr>
          <p:cNvPr id="31" name="Rounded Rectangle 30"/>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33" name="TextBox 32"/>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Traiter le RUN comme un projet, c'est le perdre à chaque arbitrage.</a:t>
            </a:r>
            <a:r>
              <a:rPr sz="1200" b="1" i="0">
                <a:solidFill>
                  <a:srgbClr val="00D2DD"/>
                </a:solidFill>
                <a:latin typeface="Outfit"/>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L'infra sert toutes les équipes et n'appartient à aucune — c'est ce qui rend son gaspillage orphelin</a:t>
            </a:r>
          </a:p>
        </p:txBody>
      </p:sp>
      <p:sp>
        <p:nvSpPr>
          <p:cNvPr id="3" name="TextBox 2"/>
          <p:cNvSpPr txBox="1"/>
          <p:nvPr/>
        </p:nvSpPr>
        <p:spPr>
          <a:xfrm>
            <a:off x="562356" y="1033271"/>
            <a:ext cx="7804404" cy="164592"/>
          </a:xfrm>
          <a:prstGeom prst="rect">
            <a:avLst/>
          </a:prstGeom>
          <a:noFill/>
        </p:spPr>
        <p:txBody>
          <a:bodyPr wrap="square" anchor="t" lIns="0" rIns="0" tIns="0" bIns="0">
            <a:noAutofit/>
          </a:bodyPr>
          <a:lstStyle/>
          <a:p>
            <a:pPr algn="l"/>
            <a:r>
              <a:rPr sz="800" b="1" i="0">
                <a:solidFill>
                  <a:srgbClr val="586586"/>
                </a:solidFill>
                <a:latin typeface="Outfit"/>
              </a:rPr>
              <a:t>CE QUE L'INFRA SERT</a:t>
            </a:r>
          </a:p>
        </p:txBody>
      </p:sp>
      <p:sp>
        <p:nvSpPr>
          <p:cNvPr id="4" name="Rounded Rectangle 3"/>
          <p:cNvSpPr/>
          <p:nvPr/>
        </p:nvSpPr>
        <p:spPr>
          <a:xfrm>
            <a:off x="562356"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2084"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produit</a:t>
            </a:r>
          </a:p>
        </p:txBody>
      </p:sp>
      <p:sp>
        <p:nvSpPr>
          <p:cNvPr id="6" name="TextBox 5"/>
          <p:cNvSpPr txBox="1"/>
          <p:nvPr/>
        </p:nvSpPr>
        <p:spPr>
          <a:xfrm>
            <a:off x="672084"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Livrent de la valeur métier — l'infra est un moyen, jamais leur sujet.</a:t>
            </a:r>
          </a:p>
        </p:txBody>
      </p:sp>
      <p:sp>
        <p:nvSpPr>
          <p:cNvPr id="7" name="Rounded Rectangle 6"/>
          <p:cNvSpPr/>
          <p:nvPr/>
        </p:nvSpPr>
        <p:spPr>
          <a:xfrm>
            <a:off x="2550033"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9761"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applicatives</a:t>
            </a:r>
          </a:p>
        </p:txBody>
      </p:sp>
      <p:sp>
        <p:nvSpPr>
          <p:cNvPr id="9" name="TextBox 8"/>
          <p:cNvSpPr txBox="1"/>
          <p:nvPr/>
        </p:nvSpPr>
        <p:spPr>
          <a:xfrm>
            <a:off x="2659761"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Consomment la plateforme, ou la contournent si elle freine.</a:t>
            </a:r>
          </a:p>
        </p:txBody>
      </p:sp>
      <p:sp>
        <p:nvSpPr>
          <p:cNvPr id="10" name="Rounded Rectangle 9"/>
          <p:cNvSpPr/>
          <p:nvPr/>
        </p:nvSpPr>
        <p:spPr>
          <a:xfrm>
            <a:off x="4537710"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7438"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Sécurité, conformité &amp; résilience</a:t>
            </a:r>
          </a:p>
        </p:txBody>
      </p:sp>
      <p:sp>
        <p:nvSpPr>
          <p:cNvPr id="12" name="TextBox 11"/>
          <p:cNvSpPr txBox="1"/>
          <p:nvPr/>
        </p:nvSpPr>
        <p:spPr>
          <a:xfrm>
            <a:off x="4647438"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Exigences transverses que personne ne budgète — l'offre s'y arrime, ne les remplace pas (cf. chapitre Démarche).</a:t>
            </a:r>
          </a:p>
        </p:txBody>
      </p:sp>
      <p:sp>
        <p:nvSpPr>
          <p:cNvPr id="13" name="Rounded Rectangle 12"/>
          <p:cNvSpPr/>
          <p:nvPr/>
        </p:nvSpPr>
        <p:spPr>
          <a:xfrm>
            <a:off x="6525387"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5115"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Direction</a:t>
            </a:r>
          </a:p>
        </p:txBody>
      </p:sp>
      <p:sp>
        <p:nvSpPr>
          <p:cNvPr id="15" name="TextBox 14"/>
          <p:cNvSpPr txBox="1"/>
          <p:nvPr/>
        </p:nvSpPr>
        <p:spPr>
          <a:xfrm>
            <a:off x="6635115"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Voit une ligne de coût, pas les arbitrages qui la produisent.</a:t>
            </a:r>
          </a:p>
        </p:txBody>
      </p:sp>
      <p:sp>
        <p:nvSpPr>
          <p:cNvPr id="16" name="Rounded Rectangle 15"/>
          <p:cNvSpPr/>
          <p:nvPr/>
        </p:nvSpPr>
        <p:spPr>
          <a:xfrm>
            <a:off x="562356" y="2664968"/>
            <a:ext cx="7804404" cy="384048"/>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664968"/>
            <a:ext cx="7804404" cy="384048"/>
          </a:xfrm>
          <a:prstGeom prst="rect">
            <a:avLst/>
          </a:prstGeom>
          <a:noFill/>
        </p:spPr>
        <p:txBody>
          <a:bodyPr wrap="square" anchor="ctr" lIns="0" rIns="0" tIns="0" bIns="0">
            <a:noAutofit/>
          </a:bodyPr>
          <a:lstStyle/>
          <a:p>
            <a:pPr algn="ctr"/>
            <a:r>
              <a:rPr sz="1000" b="1" i="0">
                <a:solidFill>
                  <a:srgbClr val="FFFFFF"/>
                </a:solidFill>
                <a:latin typeface="Outfit"/>
              </a:rPr>
              <a:t>UNE SEULE INFRA, SOUS TOUTES CES ÉQUIPES</a:t>
            </a:r>
          </a:p>
        </p:txBody>
      </p:sp>
      <p:sp>
        <p:nvSpPr>
          <p:cNvPr id="18" name="Rounded Rectangle 17"/>
          <p:cNvSpPr/>
          <p:nvPr/>
        </p:nvSpPr>
        <p:spPr>
          <a:xfrm>
            <a:off x="562356"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NE PORTE LE COÛT</a:t>
            </a:r>
          </a:p>
        </p:txBody>
      </p:sp>
      <p:sp>
        <p:nvSpPr>
          <p:cNvPr id="21" name="TextBox 20"/>
          <p:cNvSpPr txBox="1"/>
          <p:nvPr/>
        </p:nvSpPr>
        <p:spPr>
          <a:xfrm>
            <a:off x="800100"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gaspillage d'infra est mutualisé : il ne pèse sur le budget d'aucune équipe en particulier, donc aucune n'a de raison propre de le réduire.</a:t>
            </a:r>
          </a:p>
        </p:txBody>
      </p:sp>
      <p:sp>
        <p:nvSpPr>
          <p:cNvPr id="22" name="Rounded Rectangle 21"/>
          <p:cNvSpPr/>
          <p:nvPr/>
        </p:nvSpPr>
        <p:spPr>
          <a:xfrm>
            <a:off x="4546854"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638294"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4598"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N'ARBITRE SEUL</a:t>
            </a:r>
          </a:p>
        </p:txBody>
      </p:sp>
      <p:sp>
        <p:nvSpPr>
          <p:cNvPr id="25" name="TextBox 24"/>
          <p:cNvSpPr txBox="1"/>
          <p:nvPr/>
        </p:nvSpPr>
        <p:spPr>
          <a:xfrm>
            <a:off x="4784598"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Décommissionner, standardiser ou fermer un service touche tous les consommateurs à la fois — la décision ne peut pas être prise dans un seul couloir.</a:t>
            </a:r>
          </a:p>
        </p:txBody>
      </p:sp>
      <p:sp>
        <p:nvSpPr>
          <p:cNvPr id="26" name="Rounded Rectangle 25"/>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8" name="TextBox 27"/>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Un gaspillage que personne ne porte, personne ne le réduit.</a:t>
            </a:r>
            <a:r>
              <a:rPr sz="1200" b="1" i="0">
                <a:solidFill>
                  <a:srgbClr val="00D2DD"/>
                </a:solidFill>
                <a:latin typeface="Outfit"/>
              </a:rPr>
              <a:t>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CONTEXTE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822045"/>
            <a:ext cx="3490722" cy="3017520"/>
          </a:xfrm>
          <a:prstGeom prst="roundRect">
            <a:avLst>
              <a:gd name="adj" fmla="val 9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7" y="968349"/>
            <a:ext cx="960120" cy="27432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968349"/>
            <a:ext cx="960120" cy="274320"/>
          </a:xfrm>
          <a:prstGeom prst="rect">
            <a:avLst/>
          </a:prstGeom>
          <a:noFill/>
        </p:spPr>
        <p:txBody>
          <a:bodyPr wrap="square" anchor="ctr" lIns="0" rIns="0" tIns="0" bIns="0">
            <a:noAutofit/>
          </a:bodyPr>
          <a:lstStyle/>
          <a:p>
            <a:pPr algn="ctr"/>
            <a:r>
              <a:rPr sz="1100" b="1" i="0">
                <a:solidFill>
                  <a:srgbClr val="FFFFFF"/>
                </a:solidFill>
                <a:latin typeface="Outfit"/>
              </a:rPr>
              <a:t>AVANT</a:t>
            </a:r>
          </a:p>
        </p:txBody>
      </p:sp>
      <p:sp>
        <p:nvSpPr>
          <p:cNvPr id="6" name="TextBox 5"/>
          <p:cNvSpPr txBox="1"/>
          <p:nvPr/>
        </p:nvSpPr>
        <p:spPr>
          <a:xfrm>
            <a:off x="781812" y="1425549"/>
            <a:ext cx="3051810" cy="2194560"/>
          </a:xfrm>
          <a:prstGeom prst="rect">
            <a:avLst/>
          </a:prstGeom>
          <a:noFill/>
        </p:spPr>
        <p:txBody>
          <a:bodyPr wrap="square" anchor="ctr" lIns="0" rIns="0" tIns="0" bIns="0">
            <a:spAutoFit/>
          </a:bodyPr>
          <a:lstStyle/>
          <a:p>
            <a:pPr algn="l">
              <a:lnSpc>
                <a:spcPct val="120000"/>
              </a:lnSpc>
              <a:spcBef>
                <a:spcPts val="0"/>
              </a:spcBef>
            </a:pPr>
            <a:r>
              <a:rPr sz="900" b="0" i="0">
                <a:solidFill>
                  <a:srgbClr val="586586"/>
                </a:solidFill>
                <a:latin typeface="Outfit"/>
              </a:rPr>
              <a:t>—  </a:t>
            </a:r>
            <a:r>
              <a:rPr sz="900" b="1" i="0">
                <a:solidFill>
                  <a:srgbClr val="0E2356"/>
                </a:solidFill>
                <a:latin typeface="Outfit"/>
              </a:rPr>
              <a:t>Guichet de tickets</a:t>
            </a:r>
            <a:r>
              <a:rPr sz="900" b="0" i="0">
                <a:solidFill>
                  <a:srgbClr val="586586"/>
                </a:solidFill>
                <a:latin typeface="Outfit"/>
              </a:rPr>
              <a:t> — personne n'est propriétaire du service.</a:t>
            </a:r>
          </a:p>
          <a:p>
            <a:pPr algn="l">
              <a:lnSpc>
                <a:spcPct val="120000"/>
              </a:lnSpc>
              <a:spcBef>
                <a:spcPts val="700"/>
              </a:spcBef>
            </a:pPr>
            <a:r>
              <a:rPr sz="900" b="0" i="0">
                <a:solidFill>
                  <a:srgbClr val="586586"/>
                </a:solidFill>
                <a:latin typeface="Outfit"/>
              </a:rPr>
              <a:t>—  </a:t>
            </a:r>
            <a:r>
              <a:rPr sz="900" b="1" i="0">
                <a:solidFill>
                  <a:srgbClr val="0E2356"/>
                </a:solidFill>
                <a:latin typeface="Outfit"/>
              </a:rPr>
              <a:t>Le triage du RUN trop long</a:t>
            </a:r>
            <a:r>
              <a:rPr sz="900" b="0" i="0">
                <a:solidFill>
                  <a:srgbClr val="586586"/>
                </a:solidFill>
                <a:latin typeface="Outfit"/>
              </a:rPr>
              <a:t>, traité au fil de l'eau.</a:t>
            </a:r>
          </a:p>
          <a:p>
            <a:pPr algn="l">
              <a:lnSpc>
                <a:spcPct val="120000"/>
              </a:lnSpc>
              <a:spcBef>
                <a:spcPts val="700"/>
              </a:spcBef>
            </a:pPr>
            <a:r>
              <a:rPr sz="900" b="0" i="0">
                <a:solidFill>
                  <a:srgbClr val="586586"/>
                </a:solidFill>
                <a:latin typeface="Outfit"/>
              </a:rPr>
              <a:t>—  </a:t>
            </a:r>
            <a:r>
              <a:rPr sz="900" b="1" i="0">
                <a:solidFill>
                  <a:srgbClr val="0E2356"/>
                </a:solidFill>
                <a:latin typeface="Outfit"/>
              </a:rPr>
              <a:t>Backlog invisible</a:t>
            </a:r>
            <a:r>
              <a:rPr sz="900" b="0" i="0">
                <a:solidFill>
                  <a:srgbClr val="586586"/>
                </a:solidFill>
                <a:latin typeface="Outfit"/>
              </a:rPr>
              <a:t>, aucun indicateur de pilotage.</a:t>
            </a:r>
          </a:p>
          <a:p>
            <a:pPr algn="l">
              <a:lnSpc>
                <a:spcPct val="120000"/>
              </a:lnSpc>
              <a:spcBef>
                <a:spcPts val="700"/>
              </a:spcBef>
            </a:pPr>
            <a:r>
              <a:rPr sz="900" b="0" i="0">
                <a:solidFill>
                  <a:srgbClr val="586586"/>
                </a:solidFill>
                <a:latin typeface="Outfit"/>
              </a:rPr>
              <a:t>—  </a:t>
            </a:r>
            <a:r>
              <a:rPr sz="900" b="1" i="0">
                <a:solidFill>
                  <a:srgbClr val="0E2356"/>
                </a:solidFill>
                <a:latin typeface="Outfit"/>
              </a:rPr>
              <a:t>Plein de projets lancés, peu d'indicateurs</a:t>
            </a:r>
            <a:r>
              <a:rPr sz="900" b="0" i="0">
                <a:solidFill>
                  <a:srgbClr val="586586"/>
                </a:solidFill>
                <a:latin typeface="Outfit"/>
              </a:rPr>
              <a:t>, du contrôle et du reporting à tous les niveaux.</a:t>
            </a:r>
          </a:p>
          <a:p>
            <a:pPr algn="l">
              <a:lnSpc>
                <a:spcPct val="120000"/>
              </a:lnSpc>
              <a:spcBef>
                <a:spcPts val="700"/>
              </a:spcBef>
            </a:pPr>
            <a:r>
              <a:rPr sz="900" b="0" i="0">
                <a:solidFill>
                  <a:srgbClr val="586586"/>
                </a:solidFill>
                <a:latin typeface="Outfit"/>
              </a:rPr>
              <a:t>—  </a:t>
            </a:r>
            <a:r>
              <a:rPr sz="900" b="1" i="0">
                <a:solidFill>
                  <a:srgbClr val="0E2356"/>
                </a:solidFill>
                <a:latin typeface="Outfit"/>
              </a:rPr>
              <a:t>Un pilotage dans la douleur</a:t>
            </a:r>
            <a:r>
              <a:rPr sz="900" b="0" i="0">
                <a:solidFill>
                  <a:srgbClr val="586586"/>
                </a:solidFill>
                <a:latin typeface="Outfit"/>
              </a:rPr>
              <a:t>, on prend tout et l'on ne sait plus comment bien prioriser les bons sujets à réaliser avec trop peu de capacité à faire.</a:t>
            </a:r>
          </a:p>
        </p:txBody>
      </p:sp>
      <p:sp>
        <p:nvSpPr>
          <p:cNvPr id="7" name="Right Arrow 6"/>
          <p:cNvSpPr/>
          <p:nvPr/>
        </p:nvSpPr>
        <p:spPr>
          <a:xfrm>
            <a:off x="4181094" y="1727301"/>
            <a:ext cx="566928" cy="1207008"/>
          </a:xfrm>
          <a:prstGeom prst="rightArrow">
            <a:avLst/>
          </a:prstGeom>
          <a:solidFill>
            <a:srgbClr val="FFFFFF"/>
          </a:solidFill>
          <a:ln w="28575">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76038" y="822045"/>
            <a:ext cx="3490722" cy="3017520"/>
          </a:xfrm>
          <a:prstGeom prst="roundRect">
            <a:avLst>
              <a:gd name="adj" fmla="val 9000"/>
            </a:avLst>
          </a:prstGeom>
          <a:solidFill>
            <a:srgbClr val="FFFFFF"/>
          </a:solidFill>
          <a:ln w="2032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40630" y="968349"/>
            <a:ext cx="2331720"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0630" y="968349"/>
            <a:ext cx="2331720" cy="274320"/>
          </a:xfrm>
          <a:prstGeom prst="rect">
            <a:avLst/>
          </a:prstGeom>
          <a:noFill/>
        </p:spPr>
        <p:txBody>
          <a:bodyPr wrap="square" anchor="ctr" lIns="0" rIns="0" tIns="0" bIns="0">
            <a:noAutofit/>
          </a:bodyPr>
          <a:lstStyle/>
          <a:p>
            <a:pPr algn="ctr"/>
            <a:r>
              <a:rPr sz="1000" b="1" i="0">
                <a:solidFill>
                  <a:srgbClr val="0E2356"/>
                </a:solidFill>
                <a:latin typeface="Outfit"/>
              </a:rPr>
              <a:t>APRÈS — démarche + agentique</a:t>
            </a:r>
          </a:p>
        </p:txBody>
      </p:sp>
      <p:sp>
        <p:nvSpPr>
          <p:cNvPr id="11" name="TextBox 10"/>
          <p:cNvSpPr txBox="1"/>
          <p:nvPr/>
        </p:nvSpPr>
        <p:spPr>
          <a:xfrm>
            <a:off x="5095494" y="1425549"/>
            <a:ext cx="3051810" cy="2194560"/>
          </a:xfrm>
          <a:prstGeom prst="rect">
            <a:avLst/>
          </a:prstGeom>
          <a:noFill/>
        </p:spPr>
        <p:txBody>
          <a:bodyPr wrap="square" anchor="ctr" lIns="0" rIns="0" tIns="0" bIns="0">
            <a:spAutoFit/>
          </a:bodyPr>
          <a:lstStyle/>
          <a:p>
            <a:pPr algn="l">
              <a:lnSpc>
                <a:spcPct val="120000"/>
              </a:lnSpc>
              <a:spcBef>
                <a:spcPts val="0"/>
              </a:spcBef>
            </a:pPr>
            <a:r>
              <a:rPr sz="900" b="1" i="0">
                <a:solidFill>
                  <a:srgbClr val="00D2DD"/>
                </a:solidFill>
                <a:latin typeface="Outfit"/>
              </a:rPr>
              <a:t>✓  </a:t>
            </a:r>
            <a:r>
              <a:rPr sz="900" b="1" i="0">
                <a:solidFill>
                  <a:srgbClr val="0E2356"/>
                </a:solidFill>
                <a:latin typeface="Outfit"/>
              </a:rPr>
              <a:t>Un propriétaire produit et un pilotage serein</a:t>
            </a:r>
            <a:r>
              <a:rPr sz="900" b="0" i="0">
                <a:solidFill>
                  <a:srgbClr val="0E2356"/>
                </a:solidFill>
                <a:latin typeface="Outfit"/>
              </a:rPr>
              <a:t>, une roadmap, des indicateurs de pilotage.</a:t>
            </a:r>
          </a:p>
          <a:p>
            <a:pPr algn="l">
              <a:lnSpc>
                <a:spcPct val="120000"/>
              </a:lnSpc>
              <a:spcBef>
                <a:spcPts val="600"/>
              </a:spcBef>
            </a:pPr>
            <a:r>
              <a:rPr sz="900" b="1" i="0">
                <a:solidFill>
                  <a:srgbClr val="00D2DD"/>
                </a:solidFill>
                <a:latin typeface="Outfit"/>
              </a:rPr>
              <a:t>✓  </a:t>
            </a:r>
            <a:r>
              <a:rPr sz="900" b="1" i="0">
                <a:solidFill>
                  <a:srgbClr val="0E2356"/>
                </a:solidFill>
                <a:latin typeface="Outfit"/>
              </a:rPr>
              <a:t>Temps de triage du RUN fortement réduit</a:t>
            </a:r>
            <a:r>
              <a:rPr sz="900" b="0" i="0">
                <a:solidFill>
                  <a:srgbClr val="0E2356"/>
                </a:solidFill>
                <a:latin typeface="Outfit"/>
              </a:rPr>
              <a:t> — capacité RUN récupérée.</a:t>
            </a:r>
          </a:p>
          <a:p>
            <a:pPr algn="l">
              <a:lnSpc>
                <a:spcPct val="120000"/>
              </a:lnSpc>
              <a:spcBef>
                <a:spcPts val="600"/>
              </a:spcBef>
            </a:pPr>
            <a:r>
              <a:rPr sz="900" b="1" i="0">
                <a:solidFill>
                  <a:srgbClr val="00D2DD"/>
                </a:solidFill>
                <a:latin typeface="Outfit"/>
              </a:rPr>
              <a:t>✓  </a:t>
            </a:r>
            <a:r>
              <a:rPr sz="900" b="1" i="0">
                <a:solidFill>
                  <a:srgbClr val="0E2356"/>
                </a:solidFill>
                <a:latin typeface="Outfit"/>
              </a:rPr>
              <a:t>Backlog visible</a:t>
            </a:r>
            <a:r>
              <a:rPr sz="900" b="0" i="0">
                <a:solidFill>
                  <a:srgbClr val="0E2356"/>
                </a:solidFill>
                <a:latin typeface="Outfit"/>
              </a:rPr>
              <a:t>, priorisé, mesuré dans le temps.</a:t>
            </a:r>
          </a:p>
          <a:p>
            <a:pPr algn="l">
              <a:lnSpc>
                <a:spcPct val="120000"/>
              </a:lnSpc>
              <a:spcBef>
                <a:spcPts val="600"/>
              </a:spcBef>
            </a:pPr>
            <a:r>
              <a:rPr sz="900" b="1" i="0">
                <a:solidFill>
                  <a:srgbClr val="00D2DD"/>
                </a:solidFill>
                <a:latin typeface="Outfit"/>
              </a:rPr>
              <a:t>✓  </a:t>
            </a:r>
            <a:r>
              <a:rPr sz="900" b="1" i="0">
                <a:solidFill>
                  <a:srgbClr val="0E2356"/>
                </a:solidFill>
                <a:latin typeface="Outfit"/>
              </a:rPr>
              <a:t>Process explicite, rôles définis</a:t>
            </a:r>
            <a:r>
              <a:rPr sz="900" b="0" i="0">
                <a:solidFill>
                  <a:srgbClr val="0E2356"/>
                </a:solidFill>
                <a:latin typeface="Outfit"/>
              </a:rPr>
              <a:t> — piste retenue : agentique-implementation.</a:t>
            </a:r>
          </a:p>
          <a:p>
            <a:pPr algn="l">
              <a:lnSpc>
                <a:spcPct val="120000"/>
              </a:lnSpc>
              <a:spcBef>
                <a:spcPts val="600"/>
              </a:spcBef>
            </a:pPr>
            <a:r>
              <a:rPr sz="900" b="1" i="0">
                <a:solidFill>
                  <a:srgbClr val="00D2DD"/>
                </a:solidFill>
                <a:latin typeface="Outfit"/>
              </a:rPr>
              <a:t>✓  </a:t>
            </a:r>
            <a:r>
              <a:rPr sz="900" b="1" i="0">
                <a:solidFill>
                  <a:srgbClr val="0E2356"/>
                </a:solidFill>
                <a:latin typeface="Outfit"/>
              </a:rPr>
              <a:t>Des évolutions tech</a:t>
            </a:r>
            <a:r>
              <a:rPr sz="900" b="0" i="0">
                <a:solidFill>
                  <a:srgbClr val="0E2356"/>
                </a:solidFill>
                <a:latin typeface="Outfit"/>
              </a:rPr>
              <a:t> qui sont possibles et atteignables.</a:t>
            </a:r>
          </a:p>
        </p:txBody>
      </p:sp>
      <p:sp>
        <p:nvSpPr>
          <p:cNvPr id="12" name="Rounded Rectangle 11"/>
          <p:cNvSpPr/>
          <p:nvPr/>
        </p:nvSpPr>
        <p:spPr>
          <a:xfrm>
            <a:off x="562356" y="4123944"/>
            <a:ext cx="7804404" cy="859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4142231"/>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14" name="TextBox 13"/>
          <p:cNvSpPr txBox="1"/>
          <p:nvPr/>
        </p:nvSpPr>
        <p:spPr>
          <a:xfrm>
            <a:off x="745236" y="4123944"/>
            <a:ext cx="7438644" cy="859536"/>
          </a:xfrm>
          <a:prstGeom prst="rect">
            <a:avLst/>
          </a:prstGeom>
          <a:noFill/>
        </p:spPr>
        <p:txBody>
          <a:bodyPr wrap="square" anchor="ctr" lIns="0" rIns="0" tIns="0" bIns="0">
            <a:spAutoFit/>
          </a:bodyPr>
          <a:lstStyle/>
          <a:p>
            <a:pPr algn="ctr"/>
            <a:r>
              <a:rPr sz="1200" b="1" i="0">
                <a:solidFill>
                  <a:srgbClr val="FFFFFF"/>
                </a:solidFill>
                <a:latin typeface="Outfit"/>
              </a:rPr>
              <a:t>Infra as a product, concrètement : le retour à une maîtrise de faire les bonnes choses au bon moment, un backlog piloté, des résultats concrets — dans notre approche l'agentique accélère la démarche, il ne la remplace pas.</a:t>
            </a:r>
            <a:r>
              <a:rPr sz="1200" b="1" i="0">
                <a:solidFill>
                  <a:srgbClr val="00D2DD"/>
                </a:solidFill>
                <a:latin typeface="Outfit"/>
              </a:rPr>
              <a: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Personas</a:t>
            </a:r>
          </a:p>
          <a:p>
            <a:r>
              <a:rPr sz="1050" i="1">
                <a:solidFill>
                  <a:srgbClr val="586586"/>
                </a:solidFill>
                <a:latin typeface="Outfit"/>
              </a:rPr>
              <a:t>Quatre parties prenantes interrogées séparément — leurs voix, leurs postures, les tensions.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forest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Quatre parties prenantes interrogées séparément — leur voix, leur posture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Product Discovery fusionnée dans iap-product-definition en MVP1 — mais chaque partie prenante répond à la même trame, pour révéler convergences ET divergences plutôt qu'un diagnostic monolithique.</a:t>
            </a:r>
          </a:p>
        </p:txBody>
      </p:sp>
      <p:sp>
        <p:nvSpPr>
          <p:cNvPr id="4" name="Rounded Rectangle 3"/>
          <p:cNvSpPr/>
          <p:nvPr/>
        </p:nvSpPr>
        <p:spPr>
          <a:xfrm>
            <a:off x="562356"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600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Infra &amp; RUN</a:t>
            </a:r>
          </a:p>
          <a:p>
            <a:pPr algn="l">
              <a:lnSpc>
                <a:spcPct val="110000"/>
              </a:lnSpc>
              <a:spcBef>
                <a:spcPts val="100"/>
              </a:spcBef>
            </a:pPr>
            <a:r>
              <a:rPr sz="800" b="0" i="0">
                <a:solidFill>
                  <a:srgbClr val="586586"/>
                </a:solidFill>
                <a:latin typeface="Outfit"/>
              </a:rPr>
              <a:t>Tient l'exploitation, subit les astreintes.</a:t>
            </a:r>
          </a:p>
          <a:p>
            <a:pPr algn="l">
              <a:lnSpc>
                <a:spcPct val="110000"/>
              </a:lnSpc>
              <a:spcBef>
                <a:spcPts val="500"/>
              </a:spcBef>
            </a:pPr>
            <a:r>
              <a:rPr sz="800" b="0" i="1">
                <a:solidFill>
                  <a:srgbClr val="0E2356"/>
                </a:solidFill>
                <a:latin typeface="Outfit"/>
              </a:rPr>
              <a:t>« Opérable sans sacrifier le delivery ? »</a:t>
            </a:r>
          </a:p>
          <a:p>
            <a:pPr algn="l">
              <a:lnSpc>
                <a:spcPct val="110000"/>
              </a:lnSpc>
              <a:spcBef>
                <a:spcPts val="600"/>
              </a:spcBef>
            </a:pPr>
            <a:r>
              <a:rPr sz="800" b="0" i="0">
                <a:solidFill>
                  <a:srgbClr val="586586"/>
                </a:solidFill>
                <a:latin typeface="Outfit"/>
              </a:rPr>
              <a:t>Subit — Experts seniors mobilisés sur du répétitif.</a:t>
            </a:r>
          </a:p>
          <a:p>
            <a:pPr algn="l">
              <a:lnSpc>
                <a:spcPct val="110000"/>
              </a:lnSpc>
              <a:spcBef>
                <a:spcPts val="300"/>
              </a:spcBef>
            </a:pPr>
            <a:r>
              <a:rPr sz="800" b="0" i="0">
                <a:solidFill>
                  <a:srgbClr val="0E2356"/>
                </a:solidFill>
                <a:latin typeface="Outfit"/>
              </a:rPr>
              <a:t>Vise — Capacité récupérée, RUN maîtrisé.</a:t>
            </a:r>
          </a:p>
        </p:txBody>
      </p:sp>
      <p:sp>
        <p:nvSpPr>
          <p:cNvPr id="7" name="Rounded Rectangle 6"/>
          <p:cNvSpPr/>
          <p:nvPr/>
        </p:nvSpPr>
        <p:spPr>
          <a:xfrm>
            <a:off x="3092958"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92958"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VIGILANT</a:t>
            </a:r>
          </a:p>
        </p:txBody>
      </p:sp>
      <p:sp>
        <p:nvSpPr>
          <p:cNvPr id="9" name="Rounded Rectangle 8"/>
          <p:cNvSpPr/>
          <p:nvPr/>
        </p:nvSpPr>
        <p:spPr>
          <a:xfrm>
            <a:off x="4555998"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2886"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Utilisateur applicatif</a:t>
            </a:r>
          </a:p>
          <a:p>
            <a:pPr algn="l">
              <a:lnSpc>
                <a:spcPct val="110000"/>
              </a:lnSpc>
              <a:spcBef>
                <a:spcPts val="100"/>
              </a:spcBef>
            </a:pPr>
            <a:r>
              <a:rPr sz="800" b="0" i="0">
                <a:solidFill>
                  <a:srgbClr val="586586"/>
                </a:solidFill>
                <a:latin typeface="Outfit"/>
              </a:rPr>
              <a:t>Consomme la plateforme — ou la contourne.</a:t>
            </a:r>
          </a:p>
          <a:p>
            <a:pPr algn="l">
              <a:lnSpc>
                <a:spcPct val="110000"/>
              </a:lnSpc>
              <a:spcBef>
                <a:spcPts val="500"/>
              </a:spcBef>
            </a:pPr>
            <a:r>
              <a:rPr sz="800" b="0" i="1">
                <a:solidFill>
                  <a:srgbClr val="0E2356"/>
                </a:solidFill>
                <a:latin typeface="Outfit"/>
              </a:rPr>
              <a:t>« Pourquoi adopterais-je la plateforme ? »</a:t>
            </a:r>
          </a:p>
          <a:p>
            <a:pPr algn="l">
              <a:lnSpc>
                <a:spcPct val="110000"/>
              </a:lnSpc>
              <a:spcBef>
                <a:spcPts val="600"/>
              </a:spcBef>
            </a:pPr>
            <a:r>
              <a:rPr sz="800" b="0" i="0">
                <a:solidFill>
                  <a:srgbClr val="586586"/>
                </a:solidFill>
                <a:latin typeface="Outfit"/>
              </a:rPr>
              <a:t>Subit — Guichet unique, contournement plus rapide.</a:t>
            </a:r>
          </a:p>
          <a:p>
            <a:pPr algn="l">
              <a:lnSpc>
                <a:spcPct val="110000"/>
              </a:lnSpc>
              <a:spcBef>
                <a:spcPts val="300"/>
              </a:spcBef>
            </a:pPr>
            <a:r>
              <a:rPr sz="800" b="0" i="0">
                <a:solidFill>
                  <a:srgbClr val="0E2356"/>
                </a:solidFill>
                <a:latin typeface="Outfit"/>
              </a:rPr>
              <a:t>Vise — Un self-service adopté par choix.</a:t>
            </a:r>
          </a:p>
        </p:txBody>
      </p:sp>
      <p:sp>
        <p:nvSpPr>
          <p:cNvPr id="12" name="Rounded Rectangle 11"/>
          <p:cNvSpPr/>
          <p:nvPr/>
        </p:nvSpPr>
        <p:spPr>
          <a:xfrm>
            <a:off x="7086600"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0"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SCEPTIQUE</a:t>
            </a:r>
          </a:p>
        </p:txBody>
      </p:sp>
      <p:sp>
        <p:nvSpPr>
          <p:cNvPr id="14" name="Rounded Rectangle 13"/>
          <p:cNvSpPr/>
          <p:nvPr/>
        </p:nvSpPr>
        <p:spPr>
          <a:xfrm>
            <a:off x="562356"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Management</a:t>
            </a:r>
          </a:p>
          <a:p>
            <a:pPr algn="l">
              <a:lnSpc>
                <a:spcPct val="110000"/>
              </a:lnSpc>
              <a:spcBef>
                <a:spcPts val="100"/>
              </a:spcBef>
            </a:pPr>
            <a:r>
              <a:rPr sz="800" b="0" i="0">
                <a:solidFill>
                  <a:srgbClr val="586586"/>
                </a:solidFill>
                <a:latin typeface="Outfit"/>
              </a:rPr>
              <a:t>Expert devenu manager, pilote à vue.</a:t>
            </a:r>
          </a:p>
          <a:p>
            <a:pPr algn="l">
              <a:lnSpc>
                <a:spcPct val="110000"/>
              </a:lnSpc>
              <a:spcBef>
                <a:spcPts val="500"/>
              </a:spcBef>
            </a:pPr>
            <a:r>
              <a:rPr sz="800" b="0" i="1">
                <a:solidFill>
                  <a:srgbClr val="0E2356"/>
                </a:solidFill>
                <a:latin typeface="Outfit"/>
              </a:rPr>
              <a:t>« Comment piloter avec un signal fiable ? »</a:t>
            </a:r>
          </a:p>
          <a:p>
            <a:pPr algn="l">
              <a:lnSpc>
                <a:spcPct val="110000"/>
              </a:lnSpc>
              <a:spcBef>
                <a:spcPts val="600"/>
              </a:spcBef>
            </a:pPr>
            <a:r>
              <a:rPr sz="800" b="0" i="0">
                <a:solidFill>
                  <a:srgbClr val="586586"/>
                </a:solidFill>
                <a:latin typeface="Outfit"/>
              </a:rPr>
              <a:t>Subit — Reporting-miroir et micromanagement.</a:t>
            </a:r>
          </a:p>
          <a:p>
            <a:pPr algn="l">
              <a:lnSpc>
                <a:spcPct val="110000"/>
              </a:lnSpc>
              <a:spcBef>
                <a:spcPts val="300"/>
              </a:spcBef>
            </a:pPr>
            <a:r>
              <a:rPr sz="800" b="0" i="0">
                <a:solidFill>
                  <a:srgbClr val="0E2356"/>
                </a:solidFill>
                <a:latin typeface="Outfit"/>
              </a:rPr>
              <a:t>Vise — Un signal de flux de confiance.</a:t>
            </a:r>
          </a:p>
        </p:txBody>
      </p:sp>
      <p:sp>
        <p:nvSpPr>
          <p:cNvPr id="17" name="Rounded Rectangle 16"/>
          <p:cNvSpPr/>
          <p:nvPr/>
        </p:nvSpPr>
        <p:spPr>
          <a:xfrm>
            <a:off x="3092958"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2958"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a:t>
            </a:r>
          </a:p>
        </p:txBody>
      </p:sp>
      <p:sp>
        <p:nvSpPr>
          <p:cNvPr id="19" name="Rounded Rectangle 18"/>
          <p:cNvSpPr/>
          <p:nvPr/>
        </p:nvSpPr>
        <p:spPr>
          <a:xfrm>
            <a:off x="4555998"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2886"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Sponsor</a:t>
            </a:r>
          </a:p>
          <a:p>
            <a:pPr algn="l">
              <a:lnSpc>
                <a:spcPct val="110000"/>
              </a:lnSpc>
              <a:spcBef>
                <a:spcPts val="100"/>
              </a:spcBef>
            </a:pPr>
            <a:r>
              <a:rPr sz="800" b="0" i="0">
                <a:solidFill>
                  <a:srgbClr val="586586"/>
                </a:solidFill>
                <a:latin typeface="Outfit"/>
              </a:rPr>
              <a:t>Porte le budget et la promesse business.</a:t>
            </a:r>
          </a:p>
          <a:p>
            <a:pPr algn="l">
              <a:lnSpc>
                <a:spcPct val="110000"/>
              </a:lnSpc>
              <a:spcBef>
                <a:spcPts val="500"/>
              </a:spcBef>
            </a:pPr>
            <a:r>
              <a:rPr sz="800" b="0" i="1">
                <a:solidFill>
                  <a:srgbClr val="0E2356"/>
                </a:solidFill>
                <a:latin typeface="Outfit"/>
              </a:rPr>
              <a:t>« Quel problème business règle-t-on ? »</a:t>
            </a:r>
          </a:p>
          <a:p>
            <a:pPr algn="l">
              <a:lnSpc>
                <a:spcPct val="110000"/>
              </a:lnSpc>
              <a:spcBef>
                <a:spcPts val="600"/>
              </a:spcBef>
            </a:pPr>
            <a:r>
              <a:rPr sz="800" b="0" i="0">
                <a:solidFill>
                  <a:srgbClr val="586586"/>
                </a:solidFill>
                <a:latin typeface="Outfit"/>
              </a:rPr>
              <a:t>Subit — Craint une transformation cosmétique.</a:t>
            </a:r>
          </a:p>
          <a:p>
            <a:pPr algn="l">
              <a:lnSpc>
                <a:spcPct val="110000"/>
              </a:lnSpc>
              <a:spcBef>
                <a:spcPts val="300"/>
              </a:spcBef>
            </a:pPr>
            <a:r>
              <a:rPr sz="800" b="0" i="0">
                <a:solidFill>
                  <a:srgbClr val="0E2356"/>
                </a:solidFill>
                <a:latin typeface="Outfit"/>
              </a:rPr>
              <a:t>Vise — Problème business réglé, KPIs de mission.</a:t>
            </a:r>
          </a:p>
        </p:txBody>
      </p:sp>
      <p:sp>
        <p:nvSpPr>
          <p:cNvPr id="22" name="Rounded Rectangle 21"/>
          <p:cNvSpPr/>
          <p:nvPr/>
        </p:nvSpPr>
        <p:spPr>
          <a:xfrm>
            <a:off x="7086600"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 EXIGEANT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Interroger chaque persona séparément révèle des tensions qu'un diagnostic fusionné lisserait</a:t>
            </a:r>
          </a:p>
        </p:txBody>
      </p:sp>
      <p:sp>
        <p:nvSpPr>
          <p:cNvPr id="3" name="Rounded Rectangle 2"/>
          <p:cNvSpPr/>
          <p:nvPr/>
        </p:nvSpPr>
        <p:spPr>
          <a:xfrm>
            <a:off x="562356" y="1143000"/>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14300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45161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216152"/>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Management</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7" name="TextBox 6"/>
          <p:cNvSpPr txBox="1"/>
          <p:nvPr/>
        </p:nvSpPr>
        <p:spPr>
          <a:xfrm>
            <a:off x="3442716" y="1216152"/>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Le même métrique de flux, lu « signal de pilotage de confiance » d'un côté, « surveillance » de l'autre.</a:t>
            </a:r>
          </a:p>
        </p:txBody>
      </p:sp>
      <p:sp>
        <p:nvSpPr>
          <p:cNvPr id="8" name="Rounded Rectangle 7"/>
          <p:cNvSpPr/>
          <p:nvPr/>
        </p:nvSpPr>
        <p:spPr>
          <a:xfrm>
            <a:off x="562356" y="1869948"/>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2356" y="186994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2356" y="217855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 y="1943100"/>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2" name="TextBox 11"/>
          <p:cNvSpPr txBox="1"/>
          <p:nvPr/>
        </p:nvSpPr>
        <p:spPr>
          <a:xfrm>
            <a:off x="3442716" y="1943100"/>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Horizon : valeur business rapide et visible d'un côté, soulagement durable et structurel du RUN de l'autre.</a:t>
            </a:r>
          </a:p>
        </p:txBody>
      </p:sp>
      <p:sp>
        <p:nvSpPr>
          <p:cNvPr id="13" name="Rounded Rectangle 12"/>
          <p:cNvSpPr/>
          <p:nvPr/>
        </p:nvSpPr>
        <p:spPr>
          <a:xfrm>
            <a:off x="562356" y="2596896"/>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 y="259689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90550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5236" y="2670048"/>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Utilisateur applicatif</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7" name="TextBox 16"/>
          <p:cNvSpPr txBox="1"/>
          <p:nvPr/>
        </p:nvSpPr>
        <p:spPr>
          <a:xfrm>
            <a:off x="3442716" y="2670048"/>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Self-service adopté par choix face à l'opérabilité sans sacrifier le delivery : qui absorbe le coût du self-service ?</a:t>
            </a:r>
          </a:p>
        </p:txBody>
      </p:sp>
      <p:sp>
        <p:nvSpPr>
          <p:cNvPr id="18" name="Rounded Rectangle 17"/>
          <p:cNvSpPr/>
          <p:nvPr/>
        </p:nvSpPr>
        <p:spPr>
          <a:xfrm>
            <a:off x="562356" y="3323844"/>
            <a:ext cx="7804404" cy="617220"/>
          </a:xfrm>
          <a:prstGeom prst="roundRect">
            <a:avLst>
              <a:gd name="adj" fmla="val 8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2356" y="332384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2356" y="363245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 y="3396996"/>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RSSI</a:t>
            </a:r>
          </a:p>
          <a:p>
            <a:pPr algn="l">
              <a:spcBef>
                <a:spcPts val="300"/>
              </a:spcBef>
            </a:pPr>
            <a:r>
              <a:rPr sz="650" b="1" i="0">
                <a:solidFill>
                  <a:srgbClr val="0E2356"/>
                </a:solidFill>
                <a:latin typeface="Outfit"/>
              </a:rPr>
              <a:t>ANGLE MORT</a:t>
            </a:r>
          </a:p>
        </p:txBody>
      </p:sp>
      <p:sp>
        <p:nvSpPr>
          <p:cNvPr id="22" name="TextBox 21"/>
          <p:cNvSpPr txBox="1"/>
          <p:nvPr/>
        </p:nvSpPr>
        <p:spPr>
          <a:xfrm>
            <a:off x="3442716" y="3396996"/>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Vitesse de démonstration face au gate confidentialité, bloquant sur donnée client.</a:t>
            </a:r>
          </a:p>
        </p:txBody>
      </p:sp>
      <p:sp>
        <p:nvSpPr>
          <p:cNvPr id="23" name="Rounded Rectangle 22"/>
          <p:cNvSpPr/>
          <p:nvPr/>
        </p:nvSpPr>
        <p:spPr>
          <a:xfrm>
            <a:off x="562356" y="4069080"/>
            <a:ext cx="7804404" cy="512064"/>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2356" y="4069080"/>
            <a:ext cx="64008"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4069080"/>
            <a:ext cx="7420356" cy="512064"/>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Ces tensions ne se tranchent pas — on les tient des deux bouts.</a:t>
            </a:r>
          </a:p>
          <a:p>
            <a:pPr algn="l">
              <a:lnSpc>
                <a:spcPct val="110000"/>
              </a:lnSpc>
              <a:spcBef>
                <a:spcPts val="200"/>
              </a:spcBef>
            </a:pPr>
            <a:r>
              <a:rPr sz="800" b="0" i="0">
                <a:solidFill>
                  <a:srgbClr val="0E2356"/>
                </a:solidFill>
                <a:latin typeface="Outfit"/>
              </a:rPr>
              <a:t>La méthode (ch. Proposition) : la métrique de flux = signal partagé, le gate confidentialité = non négociable.</a:t>
            </a:r>
          </a:p>
        </p:txBody>
      </p:sp>
      <p:sp>
        <p:nvSpPr>
          <p:cNvPr id="26" name="TextBox 25"/>
          <p:cNvSpPr txBox="1"/>
          <p:nvPr/>
        </p:nvSpPr>
        <p:spPr>
          <a:xfrm>
            <a:off x="562356" y="4672583"/>
            <a:ext cx="7804404" cy="310896"/>
          </a:xfrm>
          <a:prstGeom prst="rect">
            <a:avLst/>
          </a:prstGeom>
          <a:noFill/>
        </p:spPr>
        <p:txBody>
          <a:bodyPr wrap="square" anchor="t" lIns="0" rIns="0" tIns="0" bIns="0">
            <a:noAutofit/>
          </a:bodyPr>
          <a:lstStyle/>
          <a:p>
            <a:pPr algn="l">
              <a:lnSpc>
                <a:spcPct val="115000"/>
              </a:lnSpc>
            </a:pPr>
            <a:r>
              <a:rPr sz="750" b="0" i="1">
                <a:solidFill>
                  <a:srgbClr val="586586"/>
                </a:solidFill>
                <a:latin typeface="Outfit"/>
              </a:rPr>
              <a:t>Angles morts, non interrogés à ce stade : le client métier consommateur des services, le RSSI (porteur du gate), le junior / nouvel arrivant.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Besoins &amp; douleurs</a:t>
            </a:r>
          </a:p>
          <a:p>
            <a:r>
              <a:rPr sz="1050" i="1">
                <a:solidFill>
                  <a:srgbClr val="586586"/>
                </a:solidFill>
                <a:latin typeface="Outfit"/>
              </a:rPr>
              <a:t>Les douleurs approfondies et mesurables, et les 8 familles de gaspillage qui les rangent.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 slide suivante.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Nommer la famille, c'est déjà pouvoir la détecter, la quantifier et la prioriser (méthode de traitement → chapitre Proposition).</a:t>
            </a:r>
          </a:p>
        </p:txBody>
      </p:sp>
      <p:sp>
        <p:nvSpPr>
          <p:cNvPr id="4" name="Rounded Rectangle 3"/>
          <p:cNvSpPr/>
          <p:nvPr/>
        </p:nvSpPr>
        <p:spPr>
          <a:xfrm>
            <a:off x="562356"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1. Flux</a:t>
            </a:r>
          </a:p>
          <a:p>
            <a:pPr algn="l">
              <a:lnSpc>
                <a:spcPct val="110000"/>
              </a:lnSpc>
              <a:spcBef>
                <a:spcPts val="200"/>
              </a:spcBef>
            </a:pPr>
            <a:r>
              <a:rPr sz="800" b="0" i="0">
                <a:solidFill>
                  <a:srgbClr val="586586"/>
                </a:solidFill>
                <a:latin typeface="Outfit"/>
              </a:rPr>
              <a:t>Attentes, validations multiples</a:t>
            </a:r>
          </a:p>
        </p:txBody>
      </p:sp>
      <p:sp>
        <p:nvSpPr>
          <p:cNvPr id="7" name="Rounded Rectangle 6"/>
          <p:cNvSpPr/>
          <p:nvPr/>
        </p:nvSpPr>
        <p:spPr>
          <a:xfrm>
            <a:off x="4555998"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2. Humain</a:t>
            </a:r>
          </a:p>
          <a:p>
            <a:pPr algn="l">
              <a:lnSpc>
                <a:spcPct val="110000"/>
              </a:lnSpc>
              <a:spcBef>
                <a:spcPts val="200"/>
              </a:spcBef>
            </a:pPr>
            <a:r>
              <a:rPr sz="800" b="0" i="0">
                <a:solidFill>
                  <a:srgbClr val="586586"/>
                </a:solidFill>
                <a:latin typeface="Outfit"/>
              </a:rPr>
              <a:t>Experts seniors sur tâches répétitives</a:t>
            </a:r>
          </a:p>
        </p:txBody>
      </p:sp>
      <p:sp>
        <p:nvSpPr>
          <p:cNvPr id="10" name="Rounded Rectangle 9"/>
          <p:cNvSpPr/>
          <p:nvPr/>
        </p:nvSpPr>
        <p:spPr>
          <a:xfrm>
            <a:off x="562356"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3. RUN</a:t>
            </a:r>
          </a:p>
          <a:p>
            <a:pPr algn="l">
              <a:lnSpc>
                <a:spcPct val="110000"/>
              </a:lnSpc>
              <a:spcBef>
                <a:spcPts val="200"/>
              </a:spcBef>
            </a:pPr>
            <a:r>
              <a:rPr sz="800" b="0" i="0">
                <a:solidFill>
                  <a:srgbClr val="586586"/>
                </a:solidFill>
                <a:latin typeface="Outfit"/>
              </a:rPr>
              <a:t>Incidents récurrents, demandes répétées</a:t>
            </a:r>
          </a:p>
        </p:txBody>
      </p:sp>
      <p:sp>
        <p:nvSpPr>
          <p:cNvPr id="13" name="Rounded Rectangle 12"/>
          <p:cNvSpPr/>
          <p:nvPr/>
        </p:nvSpPr>
        <p:spPr>
          <a:xfrm>
            <a:off x="4555998"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4. Financier</a:t>
            </a:r>
          </a:p>
          <a:p>
            <a:pPr algn="l">
              <a:lnSpc>
                <a:spcPct val="110000"/>
              </a:lnSpc>
              <a:spcBef>
                <a:spcPts val="200"/>
              </a:spcBef>
            </a:pPr>
            <a:r>
              <a:rPr sz="800" b="0" i="0">
                <a:solidFill>
                  <a:srgbClr val="586586"/>
                </a:solidFill>
                <a:latin typeface="Outfit"/>
              </a:rPr>
              <a:t>Surdimensionnement, ressources non décommissionnées</a:t>
            </a:r>
          </a:p>
        </p:txBody>
      </p:sp>
      <p:sp>
        <p:nvSpPr>
          <p:cNvPr id="16" name="Rounded Rectangle 15"/>
          <p:cNvSpPr/>
          <p:nvPr/>
        </p:nvSpPr>
        <p:spPr>
          <a:xfrm>
            <a:off x="562356"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5. Cognitif</a:t>
            </a:r>
          </a:p>
          <a:p>
            <a:pPr algn="l">
              <a:lnSpc>
                <a:spcPct val="110000"/>
              </a:lnSpc>
              <a:spcBef>
                <a:spcPts val="200"/>
              </a:spcBef>
            </a:pPr>
            <a:r>
              <a:rPr sz="800" b="0" i="0">
                <a:solidFill>
                  <a:srgbClr val="586586"/>
                </a:solidFill>
                <a:latin typeface="Outfit"/>
              </a:rPr>
              <a:t>Trop d'outils, procédures complexes</a:t>
            </a:r>
          </a:p>
        </p:txBody>
      </p:sp>
      <p:sp>
        <p:nvSpPr>
          <p:cNvPr id="19" name="Rounded Rectangle 18"/>
          <p:cNvSpPr/>
          <p:nvPr/>
        </p:nvSpPr>
        <p:spPr>
          <a:xfrm>
            <a:off x="4555998"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38878"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6. Décisionnel</a:t>
            </a:r>
          </a:p>
          <a:p>
            <a:pPr algn="l">
              <a:lnSpc>
                <a:spcPct val="110000"/>
              </a:lnSpc>
              <a:spcBef>
                <a:spcPts val="200"/>
              </a:spcBef>
            </a:pPr>
            <a:r>
              <a:rPr sz="800" b="0" i="0">
                <a:solidFill>
                  <a:srgbClr val="586586"/>
                </a:solidFill>
                <a:latin typeface="Outfit"/>
              </a:rPr>
              <a:t>Arbitrages subjectifs, priorisation opaque</a:t>
            </a:r>
          </a:p>
        </p:txBody>
      </p:sp>
      <p:sp>
        <p:nvSpPr>
          <p:cNvPr id="22" name="Rounded Rectangle 21"/>
          <p:cNvSpPr/>
          <p:nvPr/>
        </p:nvSpPr>
        <p:spPr>
          <a:xfrm>
            <a:off x="562356" y="4222242"/>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 y="4277105"/>
            <a:ext cx="3499866" cy="651510"/>
          </a:xfrm>
          <a:prstGeom prst="rect">
            <a:avLst/>
          </a:prstGeom>
          <a:noFill/>
        </p:spPr>
        <p:txBody>
          <a:bodyPr wrap="square" anchor="ctr" lIns="0" rIns="0" tIns="0" bIns="0">
            <a:noAutofit/>
          </a:bodyPr>
          <a:lstStyle/>
          <a:p>
            <a:pPr algn="l"/>
            <a:r>
              <a:rPr sz="1050" b="1" i="0">
                <a:solidFill>
                  <a:srgbClr val="0E2356"/>
                </a:solidFill>
                <a:latin typeface="Outfit"/>
              </a:rPr>
              <a:t>7. Environnemental</a:t>
            </a:r>
          </a:p>
          <a:p>
            <a:pPr algn="l">
              <a:lnSpc>
                <a:spcPct val="110000"/>
              </a:lnSpc>
              <a:spcBef>
                <a:spcPts val="200"/>
              </a:spcBef>
            </a:pPr>
            <a:r>
              <a:rPr sz="800" b="0" i="0">
                <a:solidFill>
                  <a:srgbClr val="586586"/>
                </a:solidFill>
                <a:latin typeface="Outfit"/>
              </a:rPr>
              <a:t>Ressources inutilisées, environnements non éteints</a:t>
            </a:r>
          </a:p>
        </p:txBody>
      </p:sp>
      <p:sp>
        <p:nvSpPr>
          <p:cNvPr id="25" name="Rounded Rectangle 24"/>
          <p:cNvSpPr/>
          <p:nvPr/>
        </p:nvSpPr>
        <p:spPr>
          <a:xfrm>
            <a:off x="4555998" y="4222242"/>
            <a:ext cx="3810762" cy="76123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55998"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8878" y="4277105"/>
            <a:ext cx="3499866" cy="651510"/>
          </a:xfrm>
          <a:prstGeom prst="rect">
            <a:avLst/>
          </a:prstGeom>
          <a:noFill/>
        </p:spPr>
        <p:txBody>
          <a:bodyPr wrap="square" anchor="ctr" lIns="0" rIns="0" tIns="0" bIns="0">
            <a:noAutofit/>
          </a:bodyPr>
          <a:lstStyle/>
          <a:p>
            <a:pPr algn="l"/>
            <a:r>
              <a:rPr sz="1050" b="1" i="0">
                <a:solidFill>
                  <a:srgbClr val="FFFFFF"/>
                </a:solidFill>
                <a:latin typeface="Outfit"/>
              </a:rPr>
              <a:t>8. IA</a:t>
            </a:r>
          </a:p>
          <a:p>
            <a:pPr algn="l">
              <a:lnSpc>
                <a:spcPct val="110000"/>
              </a:lnSpc>
              <a:spcBef>
                <a:spcPts val="200"/>
              </a:spcBef>
            </a:pPr>
            <a:r>
              <a:rPr sz="800" b="0" i="0">
                <a:solidFill>
                  <a:srgbClr val="C7CBE0"/>
                </a:solidFill>
                <a:latin typeface="Outfit"/>
              </a:rPr>
              <a:t>Cas d'usage gadget, automatisation sans garde-fous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Proposition</a:t>
            </a:r>
          </a:p>
          <a:p>
            <a:r>
              <a:rPr sz="1050" i="1">
                <a:solidFill>
                  <a:srgbClr val="586586"/>
                </a:solidFill>
                <a:latin typeface="Outfit"/>
              </a:rPr>
              <a:t>Traiter l'infra comme un produit : la thèse, la méthode scorée et l'organisation cible.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PROPOSITION   ·   </a:t>
            </a:r>
            <a:r>
              <a:rPr b="1" sz="1250">
                <a:solidFill>
                  <a:srgbClr val="0E2356"/>
                </a:solidFill>
                <a:latin typeface="Outfit"/>
              </a:rPr>
              <a:t>Du gaspillage au backlog priorisé : chaîne de traitement + score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Chaque famille de gaspillage (chapitre précédent) passe par la même chaîne de traitement, puis reçoit un score explicite qui la classe dans un backlog priorisé — jamais un tri à l'intuition.</a:t>
            </a:r>
          </a:p>
        </p:txBody>
      </p:sp>
      <p:sp>
        <p:nvSpPr>
          <p:cNvPr id="4" name="TextBox 3"/>
          <p:cNvSpPr txBox="1"/>
          <p:nvPr/>
        </p:nvSpPr>
        <p:spPr>
          <a:xfrm>
            <a:off x="562356" y="1645919"/>
            <a:ext cx="7804404" cy="219456"/>
          </a:xfrm>
          <a:prstGeom prst="rect">
            <a:avLst/>
          </a:prstGeom>
          <a:noFill/>
        </p:spPr>
        <p:txBody>
          <a:bodyPr wrap="square" anchor="t" lIns="0" rIns="0" tIns="0" bIns="0">
            <a:noAutofit/>
          </a:bodyPr>
          <a:lstStyle/>
          <a:p>
            <a:pPr algn="l"/>
            <a:r>
              <a:rPr sz="800" b="1" i="0">
                <a:solidFill>
                  <a:srgbClr val="586586"/>
                </a:solidFill>
                <a:latin typeface="Outfit"/>
              </a:rPr>
              <a:t>CHAÎNE DE TRAITEMENT — de la détection à la prévention</a:t>
            </a:r>
          </a:p>
        </p:txBody>
      </p:sp>
      <p:sp>
        <p:nvSpPr>
          <p:cNvPr id="5" name="Rectangle 4"/>
          <p:cNvSpPr/>
          <p:nvPr/>
        </p:nvSpPr>
        <p:spPr>
          <a:xfrm>
            <a:off x="1271847" y="2093976"/>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2554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2554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1</a:t>
            </a:r>
          </a:p>
        </p:txBody>
      </p:sp>
      <p:sp>
        <p:nvSpPr>
          <p:cNvPr id="8" name="TextBox 7"/>
          <p:cNvSpPr txBox="1"/>
          <p:nvPr/>
        </p:nvSpPr>
        <p:spPr>
          <a:xfrm>
            <a:off x="56235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Détecter</a:t>
            </a:r>
          </a:p>
        </p:txBody>
      </p:sp>
      <p:sp>
        <p:nvSpPr>
          <p:cNvPr id="9" name="Rounded Rectangle 8"/>
          <p:cNvSpPr/>
          <p:nvPr/>
        </p:nvSpPr>
        <p:spPr>
          <a:xfrm>
            <a:off x="2544525"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4525"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1" name="TextBox 10"/>
          <p:cNvSpPr txBox="1"/>
          <p:nvPr/>
        </p:nvSpPr>
        <p:spPr>
          <a:xfrm>
            <a:off x="1981338"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Qualifier</a:t>
            </a:r>
          </a:p>
        </p:txBody>
      </p:sp>
      <p:sp>
        <p:nvSpPr>
          <p:cNvPr id="12" name="Rounded Rectangle 11"/>
          <p:cNvSpPr/>
          <p:nvPr/>
        </p:nvSpPr>
        <p:spPr>
          <a:xfrm>
            <a:off x="3963508"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3508"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4" name="TextBox 13"/>
          <p:cNvSpPr txBox="1"/>
          <p:nvPr/>
        </p:nvSpPr>
        <p:spPr>
          <a:xfrm>
            <a:off x="3400321"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Quantifier</a:t>
            </a:r>
          </a:p>
        </p:txBody>
      </p:sp>
      <p:sp>
        <p:nvSpPr>
          <p:cNvPr id="15" name="Rounded Rectangle 14"/>
          <p:cNvSpPr/>
          <p:nvPr/>
        </p:nvSpPr>
        <p:spPr>
          <a:xfrm>
            <a:off x="5382490"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82490"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17" name="TextBox 16"/>
          <p:cNvSpPr txBox="1"/>
          <p:nvPr/>
        </p:nvSpPr>
        <p:spPr>
          <a:xfrm>
            <a:off x="4819303"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Cause racine</a:t>
            </a:r>
          </a:p>
        </p:txBody>
      </p:sp>
      <p:sp>
        <p:nvSpPr>
          <p:cNvPr id="18" name="Rounded Rectangle 17"/>
          <p:cNvSpPr/>
          <p:nvPr/>
        </p:nvSpPr>
        <p:spPr>
          <a:xfrm>
            <a:off x="680147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147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5</a:t>
            </a:r>
          </a:p>
        </p:txBody>
      </p:sp>
      <p:sp>
        <p:nvSpPr>
          <p:cNvPr id="20" name="TextBox 19"/>
          <p:cNvSpPr txBox="1"/>
          <p:nvPr/>
        </p:nvSpPr>
        <p:spPr>
          <a:xfrm>
            <a:off x="623828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Pattern</a:t>
            </a:r>
          </a:p>
        </p:txBody>
      </p:sp>
      <p:sp>
        <p:nvSpPr>
          <p:cNvPr id="21" name="Rectangle 20"/>
          <p:cNvSpPr/>
          <p:nvPr/>
        </p:nvSpPr>
        <p:spPr>
          <a:xfrm>
            <a:off x="1981338" y="2752344"/>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5034" y="261518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35034" y="2615183"/>
            <a:ext cx="292608" cy="292608"/>
          </a:xfrm>
          <a:prstGeom prst="rect">
            <a:avLst/>
          </a:prstGeom>
          <a:noFill/>
        </p:spPr>
        <p:txBody>
          <a:bodyPr wrap="square" anchor="ctr" lIns="0" rIns="0" tIns="0" bIns="0">
            <a:noAutofit/>
          </a:bodyPr>
          <a:lstStyle/>
          <a:p>
            <a:pPr algn="ctr"/>
            <a:r>
              <a:rPr sz="800" b="1" i="0">
                <a:solidFill>
                  <a:srgbClr val="FFFFFF"/>
                </a:solidFill>
                <a:latin typeface="Outfit"/>
              </a:rPr>
              <a:t>6</a:t>
            </a:r>
          </a:p>
        </p:txBody>
      </p:sp>
      <p:sp>
        <p:nvSpPr>
          <p:cNvPr id="24" name="TextBox 23"/>
          <p:cNvSpPr txBox="1"/>
          <p:nvPr/>
        </p:nvSpPr>
        <p:spPr>
          <a:xfrm>
            <a:off x="127184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Prioriser</a:t>
            </a:r>
          </a:p>
        </p:txBody>
      </p:sp>
      <p:sp>
        <p:nvSpPr>
          <p:cNvPr id="25" name="Rounded Rectangle 24"/>
          <p:cNvSpPr/>
          <p:nvPr/>
        </p:nvSpPr>
        <p:spPr>
          <a:xfrm>
            <a:off x="3254017"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017"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7</a:t>
            </a:r>
          </a:p>
        </p:txBody>
      </p:sp>
      <p:sp>
        <p:nvSpPr>
          <p:cNvPr id="27" name="TextBox 26"/>
          <p:cNvSpPr txBox="1"/>
          <p:nvPr/>
        </p:nvSpPr>
        <p:spPr>
          <a:xfrm>
            <a:off x="2690829"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Expérimenter</a:t>
            </a:r>
          </a:p>
        </p:txBody>
      </p:sp>
      <p:sp>
        <p:nvSpPr>
          <p:cNvPr id="28" name="Rounded Rectangle 27"/>
          <p:cNvSpPr/>
          <p:nvPr/>
        </p:nvSpPr>
        <p:spPr>
          <a:xfrm>
            <a:off x="4672999"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2999"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8</a:t>
            </a:r>
          </a:p>
        </p:txBody>
      </p:sp>
      <p:sp>
        <p:nvSpPr>
          <p:cNvPr id="30" name="TextBox 29"/>
          <p:cNvSpPr txBox="1"/>
          <p:nvPr/>
        </p:nvSpPr>
        <p:spPr>
          <a:xfrm>
            <a:off x="4109812"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Mesurer</a:t>
            </a:r>
          </a:p>
        </p:txBody>
      </p:sp>
      <p:sp>
        <p:nvSpPr>
          <p:cNvPr id="31" name="Rounded Rectangle 30"/>
          <p:cNvSpPr/>
          <p:nvPr/>
        </p:nvSpPr>
        <p:spPr>
          <a:xfrm>
            <a:off x="6091982"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91982"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9</a:t>
            </a:r>
          </a:p>
        </p:txBody>
      </p:sp>
      <p:sp>
        <p:nvSpPr>
          <p:cNvPr id="33" name="TextBox 32"/>
          <p:cNvSpPr txBox="1"/>
          <p:nvPr/>
        </p:nvSpPr>
        <p:spPr>
          <a:xfrm>
            <a:off x="5528794"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Industrialiser</a:t>
            </a:r>
          </a:p>
        </p:txBody>
      </p:sp>
      <p:sp>
        <p:nvSpPr>
          <p:cNvPr id="34" name="Rounded Rectangle 33"/>
          <p:cNvSpPr/>
          <p:nvPr/>
        </p:nvSpPr>
        <p:spPr>
          <a:xfrm>
            <a:off x="7510964"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0964"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10</a:t>
            </a:r>
          </a:p>
        </p:txBody>
      </p:sp>
      <p:sp>
        <p:nvSpPr>
          <p:cNvPr id="36" name="TextBox 35"/>
          <p:cNvSpPr txBox="1"/>
          <p:nvPr/>
        </p:nvSpPr>
        <p:spPr>
          <a:xfrm>
            <a:off x="694777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Prévenir</a:t>
            </a:r>
          </a:p>
        </p:txBody>
      </p:sp>
      <p:sp>
        <p:nvSpPr>
          <p:cNvPr id="37" name="Rounded Rectangle 36"/>
          <p:cNvSpPr/>
          <p:nvPr/>
        </p:nvSpPr>
        <p:spPr>
          <a:xfrm>
            <a:off x="562356" y="3456432"/>
            <a:ext cx="7804404" cy="14173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 y="3456432"/>
            <a:ext cx="3627882" cy="1417320"/>
          </a:xfrm>
          <a:prstGeom prst="rect">
            <a:avLst/>
          </a:prstGeom>
          <a:noFill/>
        </p:spPr>
        <p:txBody>
          <a:bodyPr wrap="square" anchor="ctr" lIns="0" rIns="0" tIns="0" bIns="0">
            <a:noAutofit/>
          </a:bodyPr>
          <a:lstStyle/>
          <a:p>
            <a:pPr algn="l">
              <a:lnSpc>
                <a:spcPct val="115000"/>
              </a:lnSpc>
            </a:pPr>
            <a:r>
              <a:rPr sz="1050" b="1" i="0">
                <a:solidFill>
                  <a:srgbClr val="FFFFFF"/>
                </a:solidFill>
                <a:latin typeface="Outfit"/>
              </a:rPr>
              <a:t>Priorité = (impact × faisabilité) − prudence IA</a:t>
            </a:r>
          </a:p>
          <a:p>
            <a:pPr algn="l">
              <a:lnSpc>
                <a:spcPct val="120000"/>
              </a:lnSpc>
              <a:spcBef>
                <a:spcPts val="400"/>
              </a:spcBef>
            </a:pPr>
            <a:r>
              <a:rPr sz="800" b="0" i="0">
                <a:solidFill>
                  <a:srgbClr val="C7CBE0"/>
                </a:solidFill>
                <a:latin typeface="Outfit"/>
              </a:rPr>
              <a:t>Support de discussion ORDINAL, pas une métrique calculée : à lire en paliers (fort / moyen / faible), jamais comme un nombre exact. Il rend la discussion explicite et classe les candidats — il ne remplace pas l'arbitrage humain.</a:t>
            </a:r>
          </a:p>
        </p:txBody>
      </p:sp>
      <p:sp>
        <p:nvSpPr>
          <p:cNvPr id="39" name="TextBox 38"/>
          <p:cNvSpPr txBox="1"/>
          <p:nvPr/>
        </p:nvSpPr>
        <p:spPr>
          <a:xfrm>
            <a:off x="4464558" y="3566160"/>
            <a:ext cx="3765041" cy="164592"/>
          </a:xfrm>
          <a:prstGeom prst="rect">
            <a:avLst/>
          </a:prstGeom>
          <a:noFill/>
        </p:spPr>
        <p:txBody>
          <a:bodyPr wrap="square" anchor="t" lIns="0" rIns="0" tIns="0" bIns="0">
            <a:noAutofit/>
          </a:bodyPr>
          <a:lstStyle/>
          <a:p>
            <a:pPr algn="l"/>
            <a:r>
              <a:rPr sz="700" b="1" i="0">
                <a:solidFill>
                  <a:srgbClr val="8891B3"/>
                </a:solidFill>
                <a:latin typeface="Outfit"/>
              </a:rPr>
              <a:t>SCORE ILLUSTRATIF · ORDINAL</a:t>
            </a:r>
          </a:p>
        </p:txBody>
      </p:sp>
      <p:sp>
        <p:nvSpPr>
          <p:cNvPr id="40" name="TextBox 39"/>
          <p:cNvSpPr txBox="1"/>
          <p:nvPr/>
        </p:nvSpPr>
        <p:spPr>
          <a:xfrm>
            <a:off x="4464558" y="3803904"/>
            <a:ext cx="1097280" cy="326136"/>
          </a:xfrm>
          <a:prstGeom prst="rect">
            <a:avLst/>
          </a:prstGeom>
          <a:noFill/>
        </p:spPr>
        <p:txBody>
          <a:bodyPr wrap="square" anchor="ctr" lIns="0" rIns="0" tIns="0" bIns="0">
            <a:noAutofit/>
          </a:bodyPr>
          <a:lstStyle/>
          <a:p>
            <a:pPr algn="l"/>
            <a:r>
              <a:rPr sz="700" b="0" i="0">
                <a:solidFill>
                  <a:srgbClr val="C7CBE0"/>
                </a:solidFill>
                <a:latin typeface="Outfit"/>
              </a:rPr>
              <a:t>Impact</a:t>
            </a:r>
          </a:p>
        </p:txBody>
      </p:sp>
      <p:sp>
        <p:nvSpPr>
          <p:cNvPr id="41" name="Rounded Rectangle 40"/>
          <p:cNvSpPr/>
          <p:nvPr/>
        </p:nvSpPr>
        <p:spPr>
          <a:xfrm>
            <a:off x="560755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79043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97331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619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39078" y="3902964"/>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4558" y="4130040"/>
            <a:ext cx="1097280" cy="326136"/>
          </a:xfrm>
          <a:prstGeom prst="rect">
            <a:avLst/>
          </a:prstGeom>
          <a:noFill/>
        </p:spPr>
        <p:txBody>
          <a:bodyPr wrap="square" anchor="ctr" lIns="0" rIns="0" tIns="0" bIns="0">
            <a:noAutofit/>
          </a:bodyPr>
          <a:lstStyle/>
          <a:p>
            <a:pPr algn="l"/>
            <a:r>
              <a:rPr sz="700" b="0" i="0">
                <a:solidFill>
                  <a:srgbClr val="C7CBE0"/>
                </a:solidFill>
                <a:latin typeface="Outfit"/>
              </a:rPr>
              <a:t>Faisabilité</a:t>
            </a:r>
          </a:p>
        </p:txBody>
      </p:sp>
      <p:sp>
        <p:nvSpPr>
          <p:cNvPr id="47" name="Rounded Rectangle 46"/>
          <p:cNvSpPr/>
          <p:nvPr/>
        </p:nvSpPr>
        <p:spPr>
          <a:xfrm>
            <a:off x="560755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79043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7331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5619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3907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64558" y="4456176"/>
            <a:ext cx="1097280" cy="326136"/>
          </a:xfrm>
          <a:prstGeom prst="rect">
            <a:avLst/>
          </a:prstGeom>
          <a:noFill/>
        </p:spPr>
        <p:txBody>
          <a:bodyPr wrap="square" anchor="ctr" lIns="0" rIns="0" tIns="0" bIns="0">
            <a:noAutofit/>
          </a:bodyPr>
          <a:lstStyle/>
          <a:p>
            <a:pPr algn="l"/>
            <a:r>
              <a:rPr sz="700" b="0" i="0">
                <a:solidFill>
                  <a:srgbClr val="C7CBE0"/>
                </a:solidFill>
                <a:latin typeface="Outfit"/>
              </a:rPr>
              <a:t>Prudence IA</a:t>
            </a:r>
          </a:p>
        </p:txBody>
      </p:sp>
      <p:sp>
        <p:nvSpPr>
          <p:cNvPr id="53" name="Rounded Rectangle 52"/>
          <p:cNvSpPr/>
          <p:nvPr/>
        </p:nvSpPr>
        <p:spPr>
          <a:xfrm>
            <a:off x="5607558" y="4555236"/>
            <a:ext cx="128016" cy="128016"/>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79043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97331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15619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33907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Un gaspillage partagé se traite à deux — sinon il retourne à personne</a:t>
            </a:r>
          </a:p>
        </p:txBody>
      </p:sp>
      <p:sp>
        <p:nvSpPr>
          <p:cNvPr id="3" name="TextBox 2"/>
          <p:cNvSpPr txBox="1"/>
          <p:nvPr/>
        </p:nvSpPr>
        <p:spPr>
          <a:xfrm>
            <a:off x="562356" y="1033271"/>
            <a:ext cx="7804404" cy="36995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Cette chaîne se joue AVEC le client, moment par moment. Sans décision partagée, une économie qui ne pèse sur aucun budget d'équipe ne trouve pas de porteur.</a:t>
            </a:r>
          </a:p>
        </p:txBody>
      </p:sp>
      <p:sp>
        <p:nvSpPr>
          <p:cNvPr id="4" name="Rounded Rectangle 3"/>
          <p:cNvSpPr/>
          <p:nvPr/>
        </p:nvSpPr>
        <p:spPr>
          <a:xfrm>
            <a:off x="562356"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1.  Objectiver ensemble</a:t>
            </a:r>
          </a:p>
        </p:txBody>
      </p:sp>
      <p:sp>
        <p:nvSpPr>
          <p:cNvPr id="6" name="TextBox 5"/>
          <p:cNvSpPr txBox="1"/>
          <p:nvPr/>
        </p:nvSpPr>
        <p:spPr>
          <a:xfrm>
            <a:off x="562356"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Détecter → Quantifier</a:t>
            </a:r>
          </a:p>
        </p:txBody>
      </p:sp>
      <p:sp>
        <p:nvSpPr>
          <p:cNvPr id="7" name="Rounded Rectangle 6"/>
          <p:cNvSpPr/>
          <p:nvPr/>
        </p:nvSpPr>
        <p:spPr>
          <a:xfrm>
            <a:off x="562356"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9" name="TextBox 8"/>
          <p:cNvSpPr txBox="1"/>
          <p:nvPr/>
        </p:nvSpPr>
        <p:spPr>
          <a:xfrm>
            <a:off x="681228"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Ouvre ses données — CMDB, facturation, tickets — et nomme ce qui le gêne vraiment, au-delà de ce qui se mesure facilement.</a:t>
            </a:r>
          </a:p>
        </p:txBody>
      </p:sp>
      <p:sp>
        <p:nvSpPr>
          <p:cNvPr id="10" name="TextBox 9"/>
          <p:cNvSpPr txBox="1"/>
          <p:nvPr/>
        </p:nvSpPr>
        <p:spPr>
          <a:xfrm>
            <a:off x="681228"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11" name="TextBox 10"/>
          <p:cNvSpPr txBox="1"/>
          <p:nvPr/>
        </p:nvSpPr>
        <p:spPr>
          <a:xfrm>
            <a:off x="681228"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Apporte la grille des 8 familles et la méthode de quantification, sans présumer du résultat.</a:t>
            </a:r>
          </a:p>
        </p:txBody>
      </p:sp>
      <p:sp>
        <p:nvSpPr>
          <p:cNvPr id="12" name="Rounded Rectangle 11"/>
          <p:cNvSpPr/>
          <p:nvPr/>
        </p:nvSpPr>
        <p:spPr>
          <a:xfrm>
            <a:off x="626364"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0372"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15" name="TextBox 14"/>
          <p:cNvSpPr txBox="1"/>
          <p:nvPr/>
        </p:nvSpPr>
        <p:spPr>
          <a:xfrm>
            <a:off x="818388"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périmètre mesuré, et ce qu'on accepte d'appeler gaspillage.</a:t>
            </a:r>
          </a:p>
        </p:txBody>
      </p:sp>
      <p:sp>
        <p:nvSpPr>
          <p:cNvPr id="16" name="Rounded Rectangle 15"/>
          <p:cNvSpPr/>
          <p:nvPr/>
        </p:nvSpPr>
        <p:spPr>
          <a:xfrm>
            <a:off x="3218688"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18688"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2.  Décider ensemble</a:t>
            </a:r>
          </a:p>
        </p:txBody>
      </p:sp>
      <p:sp>
        <p:nvSpPr>
          <p:cNvPr id="18" name="TextBox 17"/>
          <p:cNvSpPr txBox="1"/>
          <p:nvPr/>
        </p:nvSpPr>
        <p:spPr>
          <a:xfrm>
            <a:off x="3218688"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Cause racine → Prioriser</a:t>
            </a:r>
          </a:p>
        </p:txBody>
      </p:sp>
      <p:sp>
        <p:nvSpPr>
          <p:cNvPr id="19" name="Rounded Rectangle 18"/>
          <p:cNvSpPr/>
          <p:nvPr/>
        </p:nvSpPr>
        <p:spPr>
          <a:xfrm>
            <a:off x="3218688"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21" name="TextBox 20"/>
          <p:cNvSpPr txBox="1"/>
          <p:nvPr/>
        </p:nvSpPr>
        <p:spPr>
          <a:xfrm>
            <a:off x="3337560"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Arbitre entre ses équipes ce qu'aucune ne peut trancher seule : fermer un service, standardiser, décommissionner.</a:t>
            </a:r>
          </a:p>
        </p:txBody>
      </p:sp>
      <p:sp>
        <p:nvSpPr>
          <p:cNvPr id="22" name="TextBox 21"/>
          <p:cNvSpPr txBox="1"/>
          <p:nvPr/>
        </p:nvSpPr>
        <p:spPr>
          <a:xfrm>
            <a:off x="3337560"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23" name="TextBox 22"/>
          <p:cNvSpPr txBox="1"/>
          <p:nvPr/>
        </p:nvSpPr>
        <p:spPr>
          <a:xfrm>
            <a:off x="3337560"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Instruit les causes racines et propose le score — une proposition argumentée, jamais un verdict.</a:t>
            </a:r>
          </a:p>
        </p:txBody>
      </p:sp>
      <p:sp>
        <p:nvSpPr>
          <p:cNvPr id="24" name="Rounded Rectangle 23"/>
          <p:cNvSpPr/>
          <p:nvPr/>
        </p:nvSpPr>
        <p:spPr>
          <a:xfrm>
            <a:off x="3282696"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346704"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27" name="TextBox 26"/>
          <p:cNvSpPr txBox="1"/>
          <p:nvPr/>
        </p:nvSpPr>
        <p:spPr>
          <a:xfrm>
            <a:off x="3474720"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backlog priorisé et, pour chaque ligne, le porteur nommé.</a:t>
            </a:r>
          </a:p>
        </p:txBody>
      </p:sp>
      <p:sp>
        <p:nvSpPr>
          <p:cNvPr id="28" name="Rounded Rectangle 27"/>
          <p:cNvSpPr/>
          <p:nvPr/>
        </p:nvSpPr>
        <p:spPr>
          <a:xfrm>
            <a:off x="5875020"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5020"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3.  Tenir dans la durée</a:t>
            </a:r>
          </a:p>
        </p:txBody>
      </p:sp>
      <p:sp>
        <p:nvSpPr>
          <p:cNvPr id="30" name="TextBox 29"/>
          <p:cNvSpPr txBox="1"/>
          <p:nvPr/>
        </p:nvSpPr>
        <p:spPr>
          <a:xfrm>
            <a:off x="5875020"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Expérimenter → Prévenir</a:t>
            </a:r>
          </a:p>
        </p:txBody>
      </p:sp>
      <p:sp>
        <p:nvSpPr>
          <p:cNvPr id="31" name="Rounded Rectangle 30"/>
          <p:cNvSpPr/>
          <p:nvPr/>
        </p:nvSpPr>
        <p:spPr>
          <a:xfrm>
            <a:off x="5875020"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93892"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33" name="TextBox 32"/>
          <p:cNvSpPr txBox="1"/>
          <p:nvPr/>
        </p:nvSpPr>
        <p:spPr>
          <a:xfrm>
            <a:off x="5993892"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Porte les expérimentations dans ses équipes et libère le temps qu'elles demandent.</a:t>
            </a:r>
          </a:p>
        </p:txBody>
      </p:sp>
      <p:sp>
        <p:nvSpPr>
          <p:cNvPr id="34" name="TextBox 33"/>
          <p:cNvSpPr txBox="1"/>
          <p:nvPr/>
        </p:nvSpPr>
        <p:spPr>
          <a:xfrm>
            <a:off x="5993892"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35" name="TextBox 34"/>
          <p:cNvSpPr txBox="1"/>
          <p:nvPr/>
        </p:nvSpPr>
        <p:spPr>
          <a:xfrm>
            <a:off x="5993892"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Outille, mesure le delta réel et industrialise ce qui a marché.</a:t>
            </a:r>
          </a:p>
        </p:txBody>
      </p:sp>
      <p:sp>
        <p:nvSpPr>
          <p:cNvPr id="36" name="Rounded Rectangle 35"/>
          <p:cNvSpPr/>
          <p:nvPr/>
        </p:nvSpPr>
        <p:spPr>
          <a:xfrm>
            <a:off x="5939028"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3036"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1052"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39" name="TextBox 38"/>
          <p:cNvSpPr txBox="1"/>
          <p:nvPr/>
        </p:nvSpPr>
        <p:spPr>
          <a:xfrm>
            <a:off x="6131052"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seuil au-delà duquel on généralise — ou on arrête.</a:t>
            </a:r>
          </a:p>
        </p:txBody>
      </p:sp>
      <p:sp>
        <p:nvSpPr>
          <p:cNvPr id="40" name="Rounded Rectangle 39"/>
          <p:cNvSpPr/>
          <p:nvPr/>
        </p:nvSpPr>
        <p:spPr>
          <a:xfrm>
            <a:off x="562356" y="4306824"/>
            <a:ext cx="7804404" cy="67665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 y="432511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42" name="TextBox 41"/>
          <p:cNvSpPr txBox="1"/>
          <p:nvPr/>
        </p:nvSpPr>
        <p:spPr>
          <a:xfrm>
            <a:off x="745236" y="4306824"/>
            <a:ext cx="7438644" cy="676656"/>
          </a:xfrm>
          <a:prstGeom prst="rect">
            <a:avLst/>
          </a:prstGeom>
          <a:noFill/>
        </p:spPr>
        <p:txBody>
          <a:bodyPr wrap="square" anchor="ctr" lIns="0" rIns="0" tIns="0" bIns="0">
            <a:spAutoFit/>
          </a:bodyPr>
          <a:lstStyle/>
          <a:p>
            <a:pPr algn="ctr"/>
            <a:r>
              <a:rPr sz="1200" b="1" i="0">
                <a:solidFill>
                  <a:srgbClr val="FFFFFF"/>
                </a:solidFill>
                <a:latin typeface="Outfit"/>
              </a:rPr>
              <a:t>Ce qui change : le gaspillage cesse d'être orphelin — il a un porteur nommé et un objectif partagé.</a:t>
            </a:r>
            <a:r>
              <a:rPr sz="1200" b="1" i="0">
                <a:solidFill>
                  <a:srgbClr val="00D2DD"/>
                </a:solidFill>
                <a:latin typeface="Outfit"/>
              </a:rPr>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50">
                <a:solidFill>
                  <a:srgbClr val="0E2356"/>
                </a:solidFill>
                <a:latin typeface="Outfit"/>
              </a:rPr>
              <a:t>PROPOSITION   ·   </a:t>
            </a:r>
            <a:r>
              <a:rPr b="1" sz="1450">
                <a:solidFill>
                  <a:srgbClr val="0E2356"/>
                </a:solidFill>
                <a:latin typeface="Outfit"/>
              </a:rPr>
              <a:t>La cible IAP est une Platform Team — agents IA compris</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Team Topologies décrit 4 archétypes reliés entre eux, pas des silos : les 3 autres s'articulent tous autour de la Platform Team.</a:t>
            </a:r>
          </a:p>
        </p:txBody>
      </p:sp>
      <p:sp>
        <p:nvSpPr>
          <p:cNvPr id="4" name="Rounded Rectangle 3"/>
          <p:cNvSpPr/>
          <p:nvPr/>
        </p:nvSpPr>
        <p:spPr>
          <a:xfrm>
            <a:off x="562356"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Stream-aligned</a:t>
            </a:r>
          </a:p>
          <a:p>
            <a:pPr algn="l">
              <a:lnSpc>
                <a:spcPct val="110000"/>
              </a:lnSpc>
              <a:spcBef>
                <a:spcPts val="300"/>
              </a:spcBef>
            </a:pPr>
            <a:r>
              <a:rPr sz="750" b="0" i="0">
                <a:solidFill>
                  <a:srgbClr val="0E2356"/>
                </a:solidFill>
                <a:latin typeface="Outfit"/>
              </a:rPr>
              <a:t>Flux de valeur métier continu</a:t>
            </a:r>
          </a:p>
          <a:p>
            <a:pPr algn="l">
              <a:lnSpc>
                <a:spcPct val="110000"/>
              </a:lnSpc>
              <a:spcBef>
                <a:spcPts val="300"/>
              </a:spcBef>
            </a:pPr>
            <a:r>
              <a:rPr sz="700" b="0" i="1">
                <a:solidFill>
                  <a:srgbClr val="586586"/>
                </a:solidFill>
                <a:latin typeface="Outfit"/>
              </a:rPr>
              <a:t>Équipes applicatives clientes de la plateforme infra</a:t>
            </a:r>
          </a:p>
        </p:txBody>
      </p:sp>
      <p:sp>
        <p:nvSpPr>
          <p:cNvPr id="7" name="Rounded Rectangle 6"/>
          <p:cNvSpPr/>
          <p:nvPr/>
        </p:nvSpPr>
        <p:spPr>
          <a:xfrm>
            <a:off x="3224783"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2800"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Enabling</a:t>
            </a:r>
          </a:p>
          <a:p>
            <a:pPr algn="l">
              <a:lnSpc>
                <a:spcPct val="110000"/>
              </a:lnSpc>
              <a:spcBef>
                <a:spcPts val="300"/>
              </a:spcBef>
            </a:pPr>
            <a:r>
              <a:rPr sz="750" b="0" i="0">
                <a:solidFill>
                  <a:srgbClr val="0E2356"/>
                </a:solidFill>
                <a:latin typeface="Outfit"/>
              </a:rPr>
              <a:t>Montée en compétence temporaire</a:t>
            </a:r>
          </a:p>
          <a:p>
            <a:pPr algn="l">
              <a:lnSpc>
                <a:spcPct val="110000"/>
              </a:lnSpc>
              <a:spcBef>
                <a:spcPts val="300"/>
              </a:spcBef>
            </a:pPr>
            <a:r>
              <a:rPr sz="700" b="0" i="1">
                <a:solidFill>
                  <a:srgbClr val="586586"/>
                </a:solidFill>
                <a:latin typeface="Outfit"/>
              </a:rPr>
              <a:t>Posture du coach BMAD IAP — jamais permanente</a:t>
            </a:r>
          </a:p>
        </p:txBody>
      </p:sp>
      <p:sp>
        <p:nvSpPr>
          <p:cNvPr id="10" name="Rounded Rectangle 9"/>
          <p:cNvSpPr/>
          <p:nvPr/>
        </p:nvSpPr>
        <p:spPr>
          <a:xfrm>
            <a:off x="5887212"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87212"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5228"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Complicated-subsystem</a:t>
            </a:r>
          </a:p>
          <a:p>
            <a:pPr algn="l">
              <a:lnSpc>
                <a:spcPct val="110000"/>
              </a:lnSpc>
              <a:spcBef>
                <a:spcPts val="300"/>
              </a:spcBef>
            </a:pPr>
            <a:r>
              <a:rPr sz="750" b="0" i="0">
                <a:solidFill>
                  <a:srgbClr val="0E2356"/>
                </a:solidFill>
                <a:latin typeface="Outfit"/>
              </a:rPr>
              <a:t>Expertise pointue, compétences rares</a:t>
            </a:r>
          </a:p>
          <a:p>
            <a:pPr algn="l">
              <a:lnSpc>
                <a:spcPct val="110000"/>
              </a:lnSpc>
              <a:spcBef>
                <a:spcPts val="300"/>
              </a:spcBef>
            </a:pPr>
            <a:r>
              <a:rPr sz="700" b="0" i="1">
                <a:solidFill>
                  <a:srgbClr val="586586"/>
                </a:solidFill>
                <a:latin typeface="Outfit"/>
              </a:rPr>
              <a:t>Un vrai sous-système complexe, pas un produit plateforme classique</a:t>
            </a:r>
          </a:p>
        </p:txBody>
      </p:sp>
      <p:sp>
        <p:nvSpPr>
          <p:cNvPr id="13" name="Rectangle 12"/>
          <p:cNvSpPr/>
          <p:nvPr/>
        </p:nvSpPr>
        <p:spPr>
          <a:xfrm>
            <a:off x="1802130" y="2340864"/>
            <a:ext cx="5324856"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071"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70126"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4499"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32553"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16927"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94982"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51756" y="2350008"/>
            <a:ext cx="25603" cy="29260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1678" y="2496311"/>
            <a:ext cx="365760" cy="146304"/>
          </a:xfrm>
          <a:prstGeom prst="rect">
            <a:avLst/>
          </a:prstGeom>
          <a:noFill/>
        </p:spPr>
        <p:txBody>
          <a:bodyPr wrap="square" anchor="ctr" lIns="0" rIns="0" tIns="0" bIns="0">
            <a:noAutofit/>
          </a:bodyPr>
          <a:lstStyle/>
          <a:p>
            <a:pPr algn="ctr"/>
            <a:r>
              <a:rPr sz="900" b="1" i="0">
                <a:solidFill>
                  <a:srgbClr val="0E2356"/>
                </a:solidFill>
                <a:latin typeface="Outfit"/>
              </a:rPr>
              <a:t>▾</a:t>
            </a:r>
          </a:p>
        </p:txBody>
      </p:sp>
      <p:sp>
        <p:nvSpPr>
          <p:cNvPr id="22" name="Rounded Rectangle 21"/>
          <p:cNvSpPr/>
          <p:nvPr/>
        </p:nvSpPr>
        <p:spPr>
          <a:xfrm>
            <a:off x="2818638" y="2642615"/>
            <a:ext cx="3291840" cy="914400"/>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92958" y="2642615"/>
            <a:ext cx="2743200" cy="914400"/>
          </a:xfrm>
          <a:prstGeom prst="rect">
            <a:avLst/>
          </a:prstGeom>
          <a:noFill/>
        </p:spPr>
        <p:txBody>
          <a:bodyPr wrap="square" anchor="ctr" lIns="0" rIns="0" tIns="0" bIns="0">
            <a:noAutofit/>
          </a:bodyPr>
          <a:lstStyle/>
          <a:p>
            <a:pPr algn="l">
              <a:lnSpc>
                <a:spcPct val="105000"/>
              </a:lnSpc>
            </a:pPr>
            <a:r>
              <a:rPr sz="1100" b="1" i="0">
                <a:solidFill>
                  <a:srgbClr val="FFFFFF"/>
                </a:solidFill>
                <a:latin typeface="Outfit"/>
              </a:rPr>
              <a:t>PLATFORM</a:t>
            </a:r>
          </a:p>
          <a:p>
            <a:pPr algn="l">
              <a:lnSpc>
                <a:spcPct val="115000"/>
              </a:lnSpc>
              <a:spcBef>
                <a:spcPts val="400"/>
              </a:spcBef>
            </a:pPr>
            <a:r>
              <a:rPr sz="850" b="0" i="0">
                <a:solidFill>
                  <a:srgbClr val="FFFFFF"/>
                </a:solidFill>
                <a:latin typeface="Outfit"/>
              </a:rPr>
              <a:t>Capacités en self-service (X-as-a-Service)</a:t>
            </a:r>
          </a:p>
          <a:p>
            <a:pPr algn="l">
              <a:lnSpc>
                <a:spcPct val="115000"/>
              </a:lnSpc>
              <a:spcBef>
                <a:spcPts val="400"/>
              </a:spcBef>
            </a:pPr>
            <a:r>
              <a:rPr sz="800" b="1" i="0">
                <a:solidFill>
                  <a:srgbClr val="FFFFFF"/>
                </a:solidFill>
                <a:latin typeface="Outfit"/>
              </a:rPr>
              <a:t>La cible même de la transformation IAP</a:t>
            </a:r>
          </a:p>
        </p:txBody>
      </p:sp>
      <p:sp>
        <p:nvSpPr>
          <p:cNvPr id="24" name="Rounded Rectangle 23"/>
          <p:cNvSpPr/>
          <p:nvPr/>
        </p:nvSpPr>
        <p:spPr>
          <a:xfrm>
            <a:off x="562356" y="3703320"/>
            <a:ext cx="7804404" cy="12801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 y="3703320"/>
            <a:ext cx="7402068" cy="1280160"/>
          </a:xfrm>
          <a:prstGeom prst="rect">
            <a:avLst/>
          </a:prstGeom>
          <a:noFill/>
        </p:spPr>
        <p:txBody>
          <a:bodyPr wrap="square" anchor="ctr" lIns="0" rIns="0" tIns="0" bIns="0">
            <a:noAutofit/>
          </a:bodyPr>
          <a:lstStyle/>
          <a:p>
            <a:pPr algn="l"/>
            <a:r>
              <a:rPr sz="900" b="1" i="0">
                <a:solidFill>
                  <a:srgbClr val="0E2356"/>
                </a:solidFill>
                <a:latin typeface="Outfit"/>
              </a:rPr>
              <a:t>Extension — les agents IA comme coéquipiers, et leur mise en œuvre (v1.7)</a:t>
            </a:r>
          </a:p>
          <a:p>
            <a:pPr algn="l">
              <a:lnSpc>
                <a:spcPct val="125000"/>
              </a:lnSpc>
              <a:spcBef>
                <a:spcPts val="300"/>
              </a:spcBef>
            </a:pPr>
            <a:r>
              <a:rPr sz="800" b="0" i="0">
                <a:solidFill>
                  <a:srgbClr val="0E2356"/>
                </a:solidFill>
                <a:latin typeface="Outfit"/>
              </a:rPr>
              <a:t>Un agent peut être membre d'une Stream-aligned team ou capacité exposée par la Platform Team. Aux 3 modes d'interaction Team Topologies — Collaboration, X-as-a-Service, Facilitating — s'ajoute un 4e candidat : Supervision. L'adoption suit la trajectoire Coach → Délégué (assisté → supervisé → délégué) : mandat écrit (ce que l'agent décide seul / ce qui escalade / qui répond de ses erreurs) avant tout palier au-delà de l'assisté — jamais un usage qui dérive à l'implicite.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IA</a:t>
            </a:r>
          </a:p>
          <a:p>
            <a:r>
              <a:rPr sz="1050" i="1">
                <a:solidFill>
                  <a:srgbClr val="586586"/>
                </a:solidFill>
                <a:latin typeface="Outfit"/>
              </a:rPr>
              <a:t>L'IA au service de la réponse : le gate confidentialité, la prudence, les agents candidats, l'export.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nightsky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Les données du client gouvernent le choix du modèle IA</a:t>
            </a:r>
          </a:p>
        </p:txBody>
      </p:sp>
      <p:sp>
        <p:nvSpPr>
          <p:cNvPr id="3" name="TextBox 2"/>
          <p:cNvSpPr txBox="1"/>
          <p:nvPr/>
        </p:nvSpPr>
        <p:spPr>
          <a:xfrm>
            <a:off x="562356" y="1051560"/>
            <a:ext cx="7804404" cy="320040"/>
          </a:xfrm>
          <a:prstGeom prst="rect">
            <a:avLst/>
          </a:prstGeom>
          <a:noFill/>
        </p:spPr>
        <p:txBody>
          <a:bodyPr wrap="square" anchor="t" lIns="0" rIns="0" tIns="0" bIns="0">
            <a:noAutofit/>
          </a:bodyPr>
          <a:lstStyle/>
          <a:p>
            <a:pPr algn="l">
              <a:lnSpc>
                <a:spcPct val="120000"/>
              </a:lnSpc>
            </a:pPr>
            <a:r>
              <a:rPr sz="900" b="0" i="0">
                <a:solidFill>
                  <a:srgbClr val="586586"/>
                </a:solidFill>
                <a:latin typeface="Outfit"/>
              </a:rPr>
              <a:t>Checkpoint toujours humain avant tout usage IA sur données client — iap-ai-data-confidentiality-gate, quel que soit le mode d'exécution retenu.</a:t>
            </a:r>
          </a:p>
        </p:txBody>
      </p:sp>
      <p:sp>
        <p:nvSpPr>
          <p:cNvPr id="4" name="Rounded Rectangle 3"/>
          <p:cNvSpPr/>
          <p:nvPr/>
        </p:nvSpPr>
        <p:spPr>
          <a:xfrm>
            <a:off x="562356" y="1463039"/>
            <a:ext cx="1234440" cy="56692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63039"/>
            <a:ext cx="1234440" cy="566928"/>
          </a:xfrm>
          <a:prstGeom prst="rect">
            <a:avLst/>
          </a:prstGeom>
          <a:noFill/>
        </p:spPr>
        <p:txBody>
          <a:bodyPr wrap="square" anchor="ctr" lIns="0" rIns="0" tIns="0" bIns="0">
            <a:noAutofit/>
          </a:bodyPr>
          <a:lstStyle/>
          <a:p>
            <a:pPr algn="ctr"/>
            <a:r>
              <a:rPr sz="900" b="1" i="0">
                <a:solidFill>
                  <a:srgbClr val="FFFFFF"/>
                </a:solidFill>
                <a:latin typeface="Outfit"/>
              </a:rPr>
              <a:t>D0 · Public</a:t>
            </a:r>
          </a:p>
        </p:txBody>
      </p:sp>
      <p:sp>
        <p:nvSpPr>
          <p:cNvPr id="6" name="TextBox 5"/>
          <p:cNvSpPr txBox="1"/>
          <p:nvPr/>
        </p:nvSpPr>
        <p:spPr>
          <a:xfrm>
            <a:off x="1979676" y="1463039"/>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Articles publics, docs méthodo</a:t>
            </a:r>
          </a:p>
        </p:txBody>
      </p:sp>
      <p:sp>
        <p:nvSpPr>
          <p:cNvPr id="7" name="TextBox 6"/>
          <p:cNvSpPr txBox="1"/>
          <p:nvPr/>
        </p:nvSpPr>
        <p:spPr>
          <a:xfrm>
            <a:off x="6003036" y="1463039"/>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externe possible</a:t>
            </a:r>
          </a:p>
        </p:txBody>
      </p:sp>
      <p:sp>
        <p:nvSpPr>
          <p:cNvPr id="8" name="Rounded Rectangle 7"/>
          <p:cNvSpPr/>
          <p:nvPr/>
        </p:nvSpPr>
        <p:spPr>
          <a:xfrm>
            <a:off x="562356" y="2121408"/>
            <a:ext cx="1234440" cy="566928"/>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21408"/>
            <a:ext cx="1234440" cy="566928"/>
          </a:xfrm>
          <a:prstGeom prst="rect">
            <a:avLst/>
          </a:prstGeom>
          <a:noFill/>
        </p:spPr>
        <p:txBody>
          <a:bodyPr wrap="square" anchor="ctr" lIns="0" rIns="0" tIns="0" bIns="0">
            <a:noAutofit/>
          </a:bodyPr>
          <a:lstStyle/>
          <a:p>
            <a:pPr algn="ctr"/>
            <a:r>
              <a:rPr sz="900" b="1" i="0">
                <a:solidFill>
                  <a:srgbClr val="FFFFFF"/>
                </a:solidFill>
                <a:latin typeface="Outfit"/>
              </a:rPr>
              <a:t>D1 · Interne</a:t>
            </a:r>
          </a:p>
        </p:txBody>
      </p:sp>
      <p:sp>
        <p:nvSpPr>
          <p:cNvPr id="10" name="TextBox 9"/>
          <p:cNvSpPr txBox="1"/>
          <p:nvPr/>
        </p:nvSpPr>
        <p:spPr>
          <a:xfrm>
            <a:off x="1979676" y="2121408"/>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Organisation macro, catalogue anonymisé</a:t>
            </a:r>
          </a:p>
        </p:txBody>
      </p:sp>
      <p:sp>
        <p:nvSpPr>
          <p:cNvPr id="11" name="TextBox 10"/>
          <p:cNvSpPr txBox="1"/>
          <p:nvPr/>
        </p:nvSpPr>
        <p:spPr>
          <a:xfrm>
            <a:off x="6003036" y="2121408"/>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recommandée</a:t>
            </a:r>
          </a:p>
        </p:txBody>
      </p:sp>
      <p:sp>
        <p:nvSpPr>
          <p:cNvPr id="12" name="Rounded Rectangle 11"/>
          <p:cNvSpPr/>
          <p:nvPr/>
        </p:nvSpPr>
        <p:spPr>
          <a:xfrm>
            <a:off x="562356" y="2779776"/>
            <a:ext cx="1234440" cy="566928"/>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779776"/>
            <a:ext cx="1234440" cy="566928"/>
          </a:xfrm>
          <a:prstGeom prst="rect">
            <a:avLst/>
          </a:prstGeom>
          <a:noFill/>
        </p:spPr>
        <p:txBody>
          <a:bodyPr wrap="square" anchor="ctr" lIns="0" rIns="0" tIns="0" bIns="0">
            <a:noAutofit/>
          </a:bodyPr>
          <a:lstStyle/>
          <a:p>
            <a:pPr algn="ctr"/>
            <a:r>
              <a:rPr sz="900" b="1" i="0">
                <a:solidFill>
                  <a:srgbClr val="FFFFFF"/>
                </a:solidFill>
                <a:latin typeface="Outfit"/>
              </a:rPr>
              <a:t>D2 · Confidentiel</a:t>
            </a:r>
          </a:p>
        </p:txBody>
      </p:sp>
      <p:sp>
        <p:nvSpPr>
          <p:cNvPr id="14" name="TextBox 13"/>
          <p:cNvSpPr txBox="1"/>
          <p:nvPr/>
        </p:nvSpPr>
        <p:spPr>
          <a:xfrm>
            <a:off x="1979676" y="2779776"/>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Notes d'interview, reporting, portefeuille</a:t>
            </a:r>
          </a:p>
        </p:txBody>
      </p:sp>
      <p:sp>
        <p:nvSpPr>
          <p:cNvPr id="15" name="TextBox 14"/>
          <p:cNvSpPr txBox="1"/>
          <p:nvPr/>
        </p:nvSpPr>
        <p:spPr>
          <a:xfrm>
            <a:off x="6003036" y="2779776"/>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ou LLM privé</a:t>
            </a:r>
          </a:p>
        </p:txBody>
      </p:sp>
      <p:sp>
        <p:nvSpPr>
          <p:cNvPr id="16" name="Rounded Rectangle 15"/>
          <p:cNvSpPr/>
          <p:nvPr/>
        </p:nvSpPr>
        <p:spPr>
          <a:xfrm>
            <a:off x="562356" y="3438144"/>
            <a:ext cx="1234440" cy="566928"/>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438144"/>
            <a:ext cx="1234440" cy="566928"/>
          </a:xfrm>
          <a:prstGeom prst="rect">
            <a:avLst/>
          </a:prstGeom>
          <a:noFill/>
        </p:spPr>
        <p:txBody>
          <a:bodyPr wrap="square" anchor="ctr" lIns="0" rIns="0" tIns="0" bIns="0">
            <a:noAutofit/>
          </a:bodyPr>
          <a:lstStyle/>
          <a:p>
            <a:pPr algn="ctr"/>
            <a:r>
              <a:rPr sz="900" b="1" i="0">
                <a:solidFill>
                  <a:srgbClr val="FFFFFF"/>
                </a:solidFill>
                <a:latin typeface="Outfit"/>
              </a:rPr>
              <a:t>D3 · Restreint</a:t>
            </a:r>
          </a:p>
        </p:txBody>
      </p:sp>
      <p:sp>
        <p:nvSpPr>
          <p:cNvPr id="18" name="TextBox 17"/>
          <p:cNvSpPr txBox="1"/>
          <p:nvPr/>
        </p:nvSpPr>
        <p:spPr>
          <a:xfrm>
            <a:off x="1979676" y="3438144"/>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Tickets détaillés, logs, CMDB, IAM</a:t>
            </a:r>
          </a:p>
        </p:txBody>
      </p:sp>
      <p:sp>
        <p:nvSpPr>
          <p:cNvPr id="19" name="TextBox 18"/>
          <p:cNvSpPr txBox="1"/>
          <p:nvPr/>
        </p:nvSpPr>
        <p:spPr>
          <a:xfrm>
            <a:off x="6003036" y="3438144"/>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LLM local, contrôles forts</a:t>
            </a:r>
          </a:p>
        </p:txBody>
      </p:sp>
      <p:sp>
        <p:nvSpPr>
          <p:cNvPr id="20" name="Rounded Rectangle 19"/>
          <p:cNvSpPr/>
          <p:nvPr/>
        </p:nvSpPr>
        <p:spPr>
          <a:xfrm>
            <a:off x="562356" y="4096511"/>
            <a:ext cx="1234440" cy="5669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4096511"/>
            <a:ext cx="1234440" cy="566928"/>
          </a:xfrm>
          <a:prstGeom prst="rect">
            <a:avLst/>
          </a:prstGeom>
          <a:noFill/>
        </p:spPr>
        <p:txBody>
          <a:bodyPr wrap="square" anchor="ctr" lIns="0" rIns="0" tIns="0" bIns="0">
            <a:noAutofit/>
          </a:bodyPr>
          <a:lstStyle/>
          <a:p>
            <a:pPr algn="ctr"/>
            <a:r>
              <a:rPr sz="900" b="1" i="0">
                <a:solidFill>
                  <a:srgbClr val="FFFFFF"/>
                </a:solidFill>
                <a:latin typeface="Outfit"/>
              </a:rPr>
              <a:t>D4 · Critique</a:t>
            </a:r>
          </a:p>
        </p:txBody>
      </p:sp>
      <p:sp>
        <p:nvSpPr>
          <p:cNvPr id="22" name="TextBox 21"/>
          <p:cNvSpPr txBox="1"/>
          <p:nvPr/>
        </p:nvSpPr>
        <p:spPr>
          <a:xfrm>
            <a:off x="1979676" y="4096511"/>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Secrets de production, données réglementées</a:t>
            </a:r>
          </a:p>
        </p:txBody>
      </p:sp>
      <p:sp>
        <p:nvSpPr>
          <p:cNvPr id="23" name="TextBox 22"/>
          <p:cNvSpPr txBox="1"/>
          <p:nvPr/>
        </p:nvSpPr>
        <p:spPr>
          <a:xfrm>
            <a:off x="6003036" y="4096511"/>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Local/on-prem, sans IA générative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La prudence IA est un frein chiffré, pas un veto</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Prudence IA = confidentialité + besoin de supervision + criticité de la décision</a:t>
            </a:r>
          </a:p>
        </p:txBody>
      </p:sp>
      <p:sp>
        <p:nvSpPr>
          <p:cNvPr id="4" name="Rounded Rectangle 3"/>
          <p:cNvSpPr/>
          <p:nvPr/>
        </p:nvSpPr>
        <p:spPr>
          <a:xfrm>
            <a:off x="562356" y="1746504"/>
            <a:ext cx="7804404" cy="1330960"/>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671066"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71066"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7" name="TextBox 6"/>
          <p:cNvSpPr txBox="1"/>
          <p:nvPr/>
        </p:nvSpPr>
        <p:spPr>
          <a:xfrm>
            <a:off x="708660"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CONFIDENTIALITÉ</a:t>
            </a:r>
          </a:p>
        </p:txBody>
      </p:sp>
      <p:sp>
        <p:nvSpPr>
          <p:cNvPr id="8" name="TextBox 7"/>
          <p:cNvSpPr txBox="1"/>
          <p:nvPr/>
        </p:nvSpPr>
        <p:spPr>
          <a:xfrm>
            <a:off x="708660"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Reprend directement la classification du gate IA (D0-D4, slide précédente) — plus la donnée est sensible, plus le score monte.</a:t>
            </a:r>
          </a:p>
        </p:txBody>
      </p:sp>
      <p:sp>
        <p:nvSpPr>
          <p:cNvPr id="9" name="Rectangle 8"/>
          <p:cNvSpPr/>
          <p:nvPr/>
        </p:nvSpPr>
        <p:spPr>
          <a:xfrm>
            <a:off x="3163824"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2"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1" name="Rounded Rectangle 10"/>
          <p:cNvSpPr/>
          <p:nvPr/>
        </p:nvSpPr>
        <p:spPr>
          <a:xfrm>
            <a:off x="4272534"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2534"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3" name="TextBox 12"/>
          <p:cNvSpPr txBox="1"/>
          <p:nvPr/>
        </p:nvSpPr>
        <p:spPr>
          <a:xfrm>
            <a:off x="3310128"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BESOIN DE SUPERVISION</a:t>
            </a:r>
          </a:p>
        </p:txBody>
      </p:sp>
      <p:sp>
        <p:nvSpPr>
          <p:cNvPr id="14" name="TextBox 13"/>
          <p:cNvSpPr txBox="1"/>
          <p:nvPr/>
        </p:nvSpPr>
        <p:spPr>
          <a:xfrm>
            <a:off x="3310128"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palier d'adoption visé (assisté / supervisé / délégué) — un agent encore au stade assisté pèse plus lourd qu'un agent déjà éprouvé.</a:t>
            </a:r>
          </a:p>
        </p:txBody>
      </p:sp>
      <p:sp>
        <p:nvSpPr>
          <p:cNvPr id="15" name="Rectangle 14"/>
          <p:cNvSpPr/>
          <p:nvPr/>
        </p:nvSpPr>
        <p:spPr>
          <a:xfrm>
            <a:off x="5765292"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0700"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7" name="Rounded Rectangle 16"/>
          <p:cNvSpPr/>
          <p:nvPr/>
        </p:nvSpPr>
        <p:spPr>
          <a:xfrm>
            <a:off x="6874002"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4002"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19" name="TextBox 18"/>
          <p:cNvSpPr txBox="1"/>
          <p:nvPr/>
        </p:nvSpPr>
        <p:spPr>
          <a:xfrm>
            <a:off x="5911596"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CRITICITÉ DE LA DÉCISION</a:t>
            </a:r>
          </a:p>
        </p:txBody>
      </p:sp>
      <p:sp>
        <p:nvSpPr>
          <p:cNvPr id="20" name="TextBox 19"/>
          <p:cNvSpPr txBox="1"/>
          <p:nvPr/>
        </p:nvSpPr>
        <p:spPr>
          <a:xfrm>
            <a:off x="5911596"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L'impact d'une erreur si l'agent se trompe seul — une recommandation réversible pèse moins qu'une décision irréversible.</a:t>
            </a:r>
          </a:p>
        </p:txBody>
      </p:sp>
      <p:sp>
        <p:nvSpPr>
          <p:cNvPr id="21" name="Rounded Rectangle 20"/>
          <p:cNvSpPr/>
          <p:nvPr/>
        </p:nvSpPr>
        <p:spPr>
          <a:xfrm>
            <a:off x="3230118" y="3205480"/>
            <a:ext cx="2468880"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0118" y="3205480"/>
            <a:ext cx="2468880" cy="292608"/>
          </a:xfrm>
          <a:prstGeom prst="rect">
            <a:avLst/>
          </a:prstGeom>
          <a:noFill/>
        </p:spPr>
        <p:txBody>
          <a:bodyPr wrap="square" anchor="ctr" lIns="0" rIns="0" tIns="0" bIns="0">
            <a:noAutofit/>
          </a:bodyPr>
          <a:lstStyle/>
          <a:p>
            <a:pPr algn="ctr"/>
            <a:r>
              <a:rPr sz="850" b="1" i="0">
                <a:solidFill>
                  <a:srgbClr val="FFFFFF"/>
                </a:solidFill>
                <a:latin typeface="Outfit"/>
              </a:rPr>
              <a:t>=  SCORE DE PRUDENCE IA</a:t>
            </a:r>
          </a:p>
        </p:txBody>
      </p:sp>
      <p:sp>
        <p:nvSpPr>
          <p:cNvPr id="23" name="Rounded Rectangle 22"/>
          <p:cNvSpPr/>
          <p:nvPr/>
        </p:nvSpPr>
        <p:spPr>
          <a:xfrm>
            <a:off x="562356" y="3626104"/>
            <a:ext cx="7804404" cy="94691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 y="3626104"/>
            <a:ext cx="7402068" cy="946912"/>
          </a:xfrm>
          <a:prstGeom prst="rect">
            <a:avLst/>
          </a:prstGeom>
          <a:noFill/>
        </p:spPr>
        <p:txBody>
          <a:bodyPr wrap="square" anchor="ctr" lIns="0" rIns="0" tIns="0" bIns="0">
            <a:noAutofit/>
          </a:bodyPr>
          <a:lstStyle/>
          <a:p>
            <a:pPr algn="l"/>
            <a:r>
              <a:rPr sz="900" b="1" i="0">
                <a:solidFill>
                  <a:srgbClr val="FFFFFF"/>
                </a:solidFill>
                <a:latin typeface="Outfit"/>
              </a:rPr>
              <a:t>Un frein, pas un veto automatique</a:t>
            </a:r>
          </a:p>
          <a:p>
            <a:pPr algn="l">
              <a:lnSpc>
                <a:spcPct val="125000"/>
              </a:lnSpc>
              <a:spcBef>
                <a:spcPts val="300"/>
              </a:spcBef>
            </a:pPr>
            <a:r>
              <a:rPr sz="800" b="0" i="0">
                <a:solidFill>
                  <a:srgbClr val="C7CBE0"/>
                </a:solidFill>
                <a:latin typeface="Outfit"/>
              </a:rPr>
              <a:t>Le score est SOUSTRAIT de impact × faisabilité — un candidat facile et à fort impact peut quand même être écarté si sa prudence IA est trop haute. Le score ne remplace pas l'arbitrage humain : il le rend explicite. Avancer malgré un score élevé reste possible, mais se documente comme une décision à part entière (même discipline que la dérogation du gate DevOps).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IA   ·   </a:t>
            </a:r>
            <a:r>
              <a:rPr b="1" sz="1350">
                <a:solidFill>
                  <a:srgbClr val="0E2356"/>
                </a:solidFill>
                <a:latin typeface="Outfit"/>
              </a:rPr>
              <a:t>Un agent de triage peut absorber le gaspillage RUN le plus répétitif</a:t>
            </a:r>
          </a:p>
        </p:txBody>
      </p:sp>
      <p:sp>
        <p:nvSpPr>
          <p:cNvPr id="3" name="Gear 6 2"/>
          <p:cNvSpPr/>
          <p:nvPr/>
        </p:nvSpPr>
        <p:spPr>
          <a:xfrm>
            <a:off x="562356" y="1051560"/>
            <a:ext cx="365760" cy="36576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triage de tickets</a:t>
            </a:r>
          </a:p>
          <a:p>
            <a:pPr algn="l">
              <a:spcBef>
                <a:spcPts val="200"/>
              </a:spcBef>
            </a:pPr>
            <a:r>
              <a:rPr sz="800" b="0" i="1">
                <a:solidFill>
                  <a:srgbClr val="586586"/>
                </a:solidFill>
                <a:latin typeface="Outfit"/>
              </a:rPr>
              <a:t>Gaspillage RUN</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mêmes types de tickets reviennent depuis des années et mobilisent des experts seniors sur un travail répétitif à faible valeur — le gaspillage RUN le plus classique.</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Lit chaque ticket entrant, le classe selon un runbook déjà documenté et le route vers la bonne équipe. Le processus doit être explicite avant l'agent (préalable non négociable) — jamais l'inverse.</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Capacité RUN récupérée : dans le cas nominal du cadrage, jusqu'à 15 tickets/mois traités sans intervention humaine, temps de triage divisé par deux.</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IA   ·   </a:t>
            </a:r>
            <a:r>
              <a:rPr b="1" sz="1250">
                <a:solidFill>
                  <a:srgbClr val="0E2356"/>
                </a:solidFill>
                <a:latin typeface="Outfit"/>
              </a:rPr>
              <a:t>Un agent de veille FinOps rend le décommissionnement continu, pas ponctuel</a:t>
            </a:r>
          </a:p>
        </p:txBody>
      </p:sp>
      <p:sp>
        <p:nvSpPr>
          <p:cNvPr id="3" name="Cloud 2"/>
          <p:cNvSpPr/>
          <p:nvPr/>
        </p:nvSpPr>
        <p:spPr>
          <a:xfrm>
            <a:off x="562356" y="1051560"/>
            <a:ext cx="365760" cy="36576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veille FinOps</a:t>
            </a:r>
          </a:p>
          <a:p>
            <a:pPr algn="l">
              <a:spcBef>
                <a:spcPts val="200"/>
              </a:spcBef>
            </a:pPr>
            <a:r>
              <a:rPr sz="800" b="0" i="1">
                <a:solidFill>
                  <a:srgbClr val="586586"/>
                </a:solidFill>
                <a:latin typeface="Outfit"/>
              </a:rPr>
              <a:t>Gaspillage Financier</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ressources cloud surdimensionnées ou orphelines ne sont détectées qu'à l'occasion d'audits ponctuels — le gaspillage s'accumule entre deux revues manuelles.</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Scanne en continu la CMDB et la facturation cloud, détecte les ressources inactives ou surdimensionnées, et propose une liste de décommissionnement à valider — ne décommissionne jamais seul.</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Coût récupéré et directement mesurable (ressources décommissionnées par mois) — un KPI de mission déjà cadré, pas à inventer.</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00">
                <a:solidFill>
                  <a:srgbClr val="0E2356"/>
                </a:solidFill>
                <a:latin typeface="Outfit"/>
              </a:rPr>
              <a:t>IA   ·   </a:t>
            </a:r>
            <a:r>
              <a:rPr b="1" sz="1300">
                <a:solidFill>
                  <a:srgbClr val="0E2356"/>
                </a:solidFill>
                <a:latin typeface="Outfit"/>
              </a:rPr>
              <a:t>Un agent documentaire réduit la charge cognitive sans remplacer l'expert</a:t>
            </a:r>
          </a:p>
        </p:txBody>
      </p:sp>
      <p:sp>
        <p:nvSpPr>
          <p:cNvPr id="3" name="Folded Corner 2"/>
          <p:cNvSpPr/>
          <p:nvPr/>
        </p:nvSpPr>
        <p:spPr>
          <a:xfrm>
            <a:off x="562356" y="1051560"/>
            <a:ext cx="365760" cy="36576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documentaire (RAG)</a:t>
            </a:r>
          </a:p>
          <a:p>
            <a:pPr algn="l">
              <a:spcBef>
                <a:spcPts val="200"/>
              </a:spcBef>
            </a:pPr>
            <a:r>
              <a:rPr sz="800" b="0" i="1">
                <a:solidFill>
                  <a:srgbClr val="586586"/>
                </a:solidFill>
                <a:latin typeface="Outfit"/>
              </a:rPr>
              <a:t>Gaspillage Cognitif</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756791"/>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756791"/>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067687"/>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Trop d'outils, procédures dispersées : la charge cognitive pour retrouver l'information ralentit les équipes et sollicite en permanence les mêmes experts.</a:t>
            </a:r>
          </a:p>
        </p:txBody>
      </p:sp>
      <p:sp>
        <p:nvSpPr>
          <p:cNvPr id="10" name="Rounded Rectangle 9"/>
          <p:cNvSpPr/>
          <p:nvPr/>
        </p:nvSpPr>
        <p:spPr>
          <a:xfrm>
            <a:off x="873252" y="2755773"/>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755773"/>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0666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Indexe la documentation existante (runbooks, wikis, tickets résolus) et répond aux questions fréquentes avec la source citée — jamais une réponse sans preuve.</a:t>
            </a:r>
          </a:p>
        </p:txBody>
      </p:sp>
      <p:sp>
        <p:nvSpPr>
          <p:cNvPr id="13" name="Rounded Rectangle 12"/>
          <p:cNvSpPr/>
          <p:nvPr/>
        </p:nvSpPr>
        <p:spPr>
          <a:xfrm>
            <a:off x="873252" y="3754755"/>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754755"/>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065651"/>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Charge cognitive réduite, onboarding plus rapide, moins d'interruptions des experts seniors pour des questions déjà documentées.</a:t>
            </a:r>
          </a:p>
        </p:txBody>
      </p:sp>
      <p:sp>
        <p:nvSpPr>
          <p:cNvPr id="16" name="Rectangle 15"/>
          <p:cNvSpPr/>
          <p:nvPr/>
        </p:nvSpPr>
        <p:spPr>
          <a:xfrm>
            <a:off x="739749" y="1472184"/>
            <a:ext cx="10972" cy="240144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1820799"/>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2819781"/>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3818763"/>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 y="4515993"/>
            <a:ext cx="7804404" cy="41148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(chapitre Proposition) et au gate IA (ouverture de ce chapitre) avant toute décision — des exemples illustratifs, pas une liste actée.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IA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Démarche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iap-adoption-plan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iap-agentic-opportunities</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Démarche</a:t>
            </a:r>
          </a:p>
          <a:p>
            <a:r>
              <a:rPr sz="1050" i="1">
                <a:solidFill>
                  <a:srgbClr val="586586"/>
                </a:solidFill>
                <a:latin typeface="Outfit"/>
              </a:rPr>
              <a:t>La trajectoire et ses livrables par phase, le fil humain, le schéma de fonctionnement et l'inventaire des agents.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1–2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 Schéma de fonctionnement déjà cadré (Collecte → Diagnostic → Conception → Restitution).</a:t>
            </a:r>
          </a:p>
        </p:txBody>
      </p:sp>
      <p:sp>
        <p:nvSpPr>
          <p:cNvPr id="10" name="Rounded Rectangle 9"/>
          <p:cNvSpPr/>
          <p:nvPr/>
        </p:nvSpPr>
        <p:spPr>
          <a:xfrm>
            <a:off x="562356"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 (1re version)</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iap-re-assessment reboucle vers la Collecte — alimente la bibliothèque de REX.</a:t>
            </a:r>
          </a:p>
        </p:txBody>
      </p:sp>
      <p:sp>
        <p:nvSpPr>
          <p:cNvPr id="34" name="Rounded Rectangle 33"/>
          <p:cNvSpPr/>
          <p:nvPr/>
        </p:nvSpPr>
        <p:spPr>
          <a:xfrm>
            <a:off x="6552819"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p:txBody>
      </p:sp>
      <p:sp>
        <p:nvSpPr>
          <p:cNvPr id="36" name="Rounded Rectangle 35"/>
          <p:cNvSpPr/>
          <p:nvPr/>
        </p:nvSpPr>
        <p:spPr>
          <a:xfrm>
            <a:off x="562356" y="368655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68655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Owner proposé (non tranché) : iap-operating-model-architect + iap-change-coach sur le volet humain.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DÉMARCHE   ·   </a:t>
            </a:r>
            <a:r>
              <a:rPr b="1" sz="1350">
                <a:solidFill>
                  <a:srgbClr val="0E2356"/>
                </a:solidFill>
                <a:latin typeface="Outfit"/>
              </a:rPr>
              <a:t>La trajectoire accompagne aussi les personnes, de bout en bout</a:t>
            </a:r>
          </a:p>
        </p:txBody>
      </p:sp>
      <p:sp>
        <p:nvSpPr>
          <p:cNvPr id="3" name="Rounded Rectangle 2"/>
          <p:cNvSpPr/>
          <p:nvPr/>
        </p:nvSpPr>
        <p:spPr>
          <a:xfrm>
            <a:off x="562356" y="1069848"/>
            <a:ext cx="960120" cy="566928"/>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66928"/>
          </a:xfrm>
          <a:prstGeom prst="rect">
            <a:avLst/>
          </a:prstGeom>
          <a:noFill/>
        </p:spPr>
        <p:txBody>
          <a:bodyPr wrap="square" anchor="ctr" lIns="0" rIns="0" tIns="0" bIns="0">
            <a:noAutofit/>
          </a:bodyPr>
          <a:lstStyle/>
          <a:p>
            <a:pPr algn="ctr"/>
            <a:r>
              <a:rPr sz="1800" b="1" i="0">
                <a:solidFill>
                  <a:srgbClr val="FFFFFF"/>
                </a:solidFill>
                <a:latin typeface="Outfit"/>
              </a:rPr>
              <a:t>70 %</a:t>
            </a:r>
          </a:p>
        </p:txBody>
      </p:sp>
      <p:sp>
        <p:nvSpPr>
          <p:cNvPr id="5" name="TextBox 4"/>
          <p:cNvSpPr txBox="1"/>
          <p:nvPr/>
        </p:nvSpPr>
        <p:spPr>
          <a:xfrm>
            <a:off x="1687068" y="1069848"/>
            <a:ext cx="6679692"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Le fil humain suit la même trame ①②③⟲ que la trajectoire — un fil dans les phases, pas un stream séparé, porté par iap-change-coach de bout en bout.</a:t>
            </a:r>
          </a:p>
        </p:txBody>
      </p:sp>
      <p:sp>
        <p:nvSpPr>
          <p:cNvPr id="6" name="Rounded Rectangle 5"/>
          <p:cNvSpPr/>
          <p:nvPr/>
        </p:nvSpPr>
        <p:spPr>
          <a:xfrm>
            <a:off x="562356" y="2103977"/>
            <a:ext cx="7804404" cy="2051113"/>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332166"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32166"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9" name="TextBox 8"/>
          <p:cNvSpPr txBox="1"/>
          <p:nvPr/>
        </p:nvSpPr>
        <p:spPr>
          <a:xfrm>
            <a:off x="708660"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Engager</a:t>
            </a:r>
          </a:p>
        </p:txBody>
      </p:sp>
      <p:sp>
        <p:nvSpPr>
          <p:cNvPr id="10" name="TextBox 9"/>
          <p:cNvSpPr txBox="1"/>
          <p:nvPr/>
        </p:nvSpPr>
        <p:spPr>
          <a:xfrm>
            <a:off x="708660"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1" name="TextBox 10"/>
          <p:cNvSpPr txBox="1"/>
          <p:nvPr/>
        </p:nvSpPr>
        <p:spPr>
          <a:xfrm>
            <a:off x="708660"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L'engagement personnel du sponsor est testé dès l'intake, avant signature ; les interviews écoutent les tensions ; la restitution revient aux interviewés, pas au seul sponsor.</a:t>
            </a:r>
          </a:p>
        </p:txBody>
      </p:sp>
      <p:sp>
        <p:nvSpPr>
          <p:cNvPr id="12" name="Rectangle 11"/>
          <p:cNvSpPr/>
          <p:nvPr/>
        </p:nvSpPr>
        <p:spPr>
          <a:xfrm>
            <a:off x="708660"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iap-intake</a:t>
            </a:r>
          </a:p>
        </p:txBody>
      </p:sp>
      <p:sp>
        <p:nvSpPr>
          <p:cNvPr id="14" name="Rectangle 13"/>
          <p:cNvSpPr/>
          <p:nvPr/>
        </p:nvSpPr>
        <p:spPr>
          <a:xfrm>
            <a:off x="2513457"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83267"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3267"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7" name="TextBox 16"/>
          <p:cNvSpPr txBox="1"/>
          <p:nvPr/>
        </p:nvSpPr>
        <p:spPr>
          <a:xfrm>
            <a:off x="2659761"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Expérimenter</a:t>
            </a:r>
          </a:p>
        </p:txBody>
      </p:sp>
      <p:sp>
        <p:nvSpPr>
          <p:cNvPr id="18" name="TextBox 17"/>
          <p:cNvSpPr txBox="1"/>
          <p:nvPr/>
        </p:nvSpPr>
        <p:spPr>
          <a:xfrm>
            <a:off x="2659761"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9" name="TextBox 18"/>
          <p:cNvSpPr txBox="1"/>
          <p:nvPr/>
        </p:nvSpPr>
        <p:spPr>
          <a:xfrm>
            <a:off x="2659761"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Équipes pilotes volontaires, jamais désignées d'office ; formation sur les cas réels de l'équipe — « pas de formation sans coaching ».</a:t>
            </a:r>
          </a:p>
        </p:txBody>
      </p:sp>
      <p:sp>
        <p:nvSpPr>
          <p:cNvPr id="20" name="Rectangle 19"/>
          <p:cNvSpPr/>
          <p:nvPr/>
        </p:nvSpPr>
        <p:spPr>
          <a:xfrm>
            <a:off x="2659761"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9761"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équipe pilote</a:t>
            </a:r>
          </a:p>
        </p:txBody>
      </p:sp>
      <p:sp>
        <p:nvSpPr>
          <p:cNvPr id="22" name="Rectangle 21"/>
          <p:cNvSpPr/>
          <p:nvPr/>
        </p:nvSpPr>
        <p:spPr>
          <a:xfrm>
            <a:off x="4464558"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34368"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34368"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5" name="TextBox 24"/>
          <p:cNvSpPr txBox="1"/>
          <p:nvPr/>
        </p:nvSpPr>
        <p:spPr>
          <a:xfrm>
            <a:off x="4610862"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Outiller &amp; relayer</a:t>
            </a:r>
          </a:p>
        </p:txBody>
      </p:sp>
      <p:sp>
        <p:nvSpPr>
          <p:cNvPr id="26" name="TextBox 25"/>
          <p:cNvSpPr txBox="1"/>
          <p:nvPr/>
        </p:nvSpPr>
        <p:spPr>
          <a:xfrm>
            <a:off x="4610862"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7" name="TextBox 26"/>
          <p:cNvSpPr txBox="1"/>
          <p:nvPr/>
        </p:nvSpPr>
        <p:spPr>
          <a:xfrm>
            <a:off x="4610862"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Les résistances sont un signal à écouter ; communauté de managers (N+1/N+2 embarqués) ; relais internes formés — le consultant se rend dispensable.</a:t>
            </a:r>
          </a:p>
        </p:txBody>
      </p:sp>
      <p:sp>
        <p:nvSpPr>
          <p:cNvPr id="28" name="Rectangle 27"/>
          <p:cNvSpPr/>
          <p:nvPr/>
        </p:nvSpPr>
        <p:spPr>
          <a:xfrm>
            <a:off x="4610862"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0862"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operating-model-architect</a:t>
            </a:r>
          </a:p>
        </p:txBody>
      </p:sp>
      <p:sp>
        <p:nvSpPr>
          <p:cNvPr id="30" name="Rectangle 29"/>
          <p:cNvSpPr/>
          <p:nvPr/>
        </p:nvSpPr>
        <p:spPr>
          <a:xfrm>
            <a:off x="6415659"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185469"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5469" y="1898237"/>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3" name="TextBox 32"/>
          <p:cNvSpPr txBox="1"/>
          <p:nvPr/>
        </p:nvSpPr>
        <p:spPr>
          <a:xfrm>
            <a:off x="6561963"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a:t>
            </a:r>
          </a:p>
        </p:txBody>
      </p:sp>
      <p:sp>
        <p:nvSpPr>
          <p:cNvPr id="34" name="TextBox 33"/>
          <p:cNvSpPr txBox="1"/>
          <p:nvPr/>
        </p:nvSpPr>
        <p:spPr>
          <a:xfrm>
            <a:off x="6561963"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5" name="TextBox 34"/>
          <p:cNvSpPr txBox="1"/>
          <p:nvPr/>
        </p:nvSpPr>
        <p:spPr>
          <a:xfrm>
            <a:off x="6561963"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Satisfaction et adhésion mesurées au même instrument à T0 et à la réévaluation — le delta humain se lit à côté du delta de maturité.</a:t>
            </a:r>
          </a:p>
        </p:txBody>
      </p:sp>
      <p:sp>
        <p:nvSpPr>
          <p:cNvPr id="36" name="Rectangle 35"/>
          <p:cNvSpPr/>
          <p:nvPr/>
        </p:nvSpPr>
        <p:spPr>
          <a:xfrm>
            <a:off x="6561963"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61963"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metrics-sre-finops-lead</a:t>
            </a:r>
          </a:p>
        </p:txBody>
      </p:sp>
      <p:sp>
        <p:nvSpPr>
          <p:cNvPr id="38" name="Rounded Rectangle 37"/>
          <p:cNvSpPr/>
          <p:nvPr/>
        </p:nvSpPr>
        <p:spPr>
          <a:xfrm>
            <a:off x="562356" y="4319682"/>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 y="4319682"/>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ça ne crée pas</a:t>
            </a:r>
          </a:p>
          <a:p>
            <a:pPr algn="l">
              <a:lnSpc>
                <a:spcPct val="125000"/>
              </a:lnSpc>
              <a:spcBef>
                <a:spcPts val="300"/>
              </a:spcBef>
            </a:pPr>
            <a:r>
              <a:rPr sz="700" b="0" i="0">
                <a:solidFill>
                  <a:srgbClr val="0E2356"/>
                </a:solidFill>
                <a:latin typeface="Outfit"/>
              </a:rPr>
              <a:t>Pas de nouvel agent (iap-change-coach porte le fil de bout en bout), pas de phase en plus — et jamais d'évaluation individuelle des personnes (déontologie du consultant, transposée telle quelle).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00">
                <a:solidFill>
                  <a:srgbClr val="0E2356"/>
                </a:solidFill>
                <a:latin typeface="Outfit"/>
              </a:rPr>
              <a:t>DÉMARCHE   ·   </a:t>
            </a:r>
            <a:r>
              <a:rPr b="1" sz="1400">
                <a:solidFill>
                  <a:srgbClr val="0E2356"/>
                </a:solidFill>
                <a:latin typeface="Outfit"/>
              </a:rPr>
              <a:t>La trajectoire porte aussi un fil technique, de bout en bout</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fil technique suit la même trame ①②③⟲ que la trajectoire et le fil humain — un fil dans les phases, pas un chantier d'architecture séparé à maintenir.</a:t>
            </a:r>
          </a:p>
        </p:txBody>
      </p:sp>
      <p:sp>
        <p:nvSpPr>
          <p:cNvPr id="4" name="Rounded Rectangle 3"/>
          <p:cNvSpPr/>
          <p:nvPr/>
        </p:nvSpPr>
        <p:spPr>
          <a:xfrm>
            <a:off x="562356" y="1820322"/>
            <a:ext cx="7804404" cy="228923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32166"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32166"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7" name="TextBox 6"/>
          <p:cNvSpPr txBox="1"/>
          <p:nvPr/>
        </p:nvSpPr>
        <p:spPr>
          <a:xfrm>
            <a:off x="708660"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Cartographier</a:t>
            </a:r>
          </a:p>
        </p:txBody>
      </p:sp>
      <p:sp>
        <p:nvSpPr>
          <p:cNvPr id="8" name="TextBox 7"/>
          <p:cNvSpPr txBox="1"/>
          <p:nvPr/>
        </p:nvSpPr>
        <p:spPr>
          <a:xfrm>
            <a:off x="708660"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9" name="TextBox 8"/>
          <p:cNvSpPr txBox="1"/>
          <p:nvPr/>
        </p:nvSpPr>
        <p:spPr>
          <a:xfrm>
            <a:off x="708660"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risques — plateformes vieillissantes, dépendances non maîtrisées, licences en tension — cartographiés avant toute décision d'engager : une base factuelle, pas une checklist de conformité.</a:t>
            </a:r>
          </a:p>
        </p:txBody>
      </p:sp>
      <p:sp>
        <p:nvSpPr>
          <p:cNvPr id="10" name="Rectangle 9"/>
          <p:cNvSpPr/>
          <p:nvPr/>
        </p:nvSpPr>
        <p:spPr>
          <a:xfrm>
            <a:off x="708660"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iap-diagnostic-systemique</a:t>
            </a:r>
          </a:p>
        </p:txBody>
      </p:sp>
      <p:sp>
        <p:nvSpPr>
          <p:cNvPr id="12" name="Rectangle 11"/>
          <p:cNvSpPr/>
          <p:nvPr/>
        </p:nvSpPr>
        <p:spPr>
          <a:xfrm>
            <a:off x="2513457"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283267"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3267"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5" name="TextBox 14"/>
          <p:cNvSpPr txBox="1"/>
          <p:nvPr/>
        </p:nvSpPr>
        <p:spPr>
          <a:xfrm>
            <a:off x="2659761"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Décommissionner &amp; observer</a:t>
            </a:r>
          </a:p>
        </p:txBody>
      </p:sp>
      <p:sp>
        <p:nvSpPr>
          <p:cNvPr id="16" name="TextBox 15"/>
          <p:cNvSpPr txBox="1"/>
          <p:nvPr/>
        </p:nvSpPr>
        <p:spPr>
          <a:xfrm>
            <a:off x="2659761"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7" name="TextBox 16"/>
          <p:cNvSpPr txBox="1"/>
          <p:nvPr/>
        </p:nvSpPr>
        <p:spPr>
          <a:xfrm>
            <a:off x="2659761"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Sur les équipes pilotes : ce qui peut être décommissionné l'est, l'observabilité de ce qui reste est posée — la base sur laquelle la généralisation s'appuie.</a:t>
            </a:r>
          </a:p>
        </p:txBody>
      </p:sp>
      <p:sp>
        <p:nvSpPr>
          <p:cNvPr id="18" name="Rectangle 17"/>
          <p:cNvSpPr/>
          <p:nvPr/>
        </p:nvSpPr>
        <p:spPr>
          <a:xfrm>
            <a:off x="2659761"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9761"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iap-run-tma-specialist</a:t>
            </a:r>
          </a:p>
        </p:txBody>
      </p:sp>
      <p:sp>
        <p:nvSpPr>
          <p:cNvPr id="20" name="Rectangle 19"/>
          <p:cNvSpPr/>
          <p:nvPr/>
        </p:nvSpPr>
        <p:spPr>
          <a:xfrm>
            <a:off x="4464558"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34368"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4368"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3" name="TextBox 22"/>
          <p:cNvSpPr txBox="1"/>
          <p:nvPr/>
        </p:nvSpPr>
        <p:spPr>
          <a:xfrm>
            <a:off x="4610862"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Standardiser &amp; outiller</a:t>
            </a:r>
          </a:p>
        </p:txBody>
      </p:sp>
      <p:sp>
        <p:nvSpPr>
          <p:cNvPr id="24" name="TextBox 23"/>
          <p:cNvSpPr txBox="1"/>
          <p:nvPr/>
        </p:nvSpPr>
        <p:spPr>
          <a:xfrm>
            <a:off x="4610862"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5" name="TextBox 24"/>
          <p:cNvSpPr txBox="1"/>
          <p:nvPr/>
        </p:nvSpPr>
        <p:spPr>
          <a:xfrm>
            <a:off x="4610862"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Généralisation équipe par équipe : CI/CD et infra as code deviennent le mode par défaut — la plateforme produit (cloud interne, orchestration, observabilité) prend forme.</a:t>
            </a:r>
          </a:p>
        </p:txBody>
      </p:sp>
      <p:sp>
        <p:nvSpPr>
          <p:cNvPr id="26" name="Rectangle 25"/>
          <p:cNvSpPr/>
          <p:nvPr/>
        </p:nvSpPr>
        <p:spPr>
          <a:xfrm>
            <a:off x="4610862"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0862"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iap-platform-product-pm</a:t>
            </a:r>
          </a:p>
        </p:txBody>
      </p:sp>
      <p:sp>
        <p:nvSpPr>
          <p:cNvPr id="28" name="Rectangle 27"/>
          <p:cNvSpPr/>
          <p:nvPr/>
        </p:nvSpPr>
        <p:spPr>
          <a:xfrm>
            <a:off x="6415659"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185469"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85469" y="1614582"/>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1" name="TextBox 30"/>
          <p:cNvSpPr txBox="1"/>
          <p:nvPr/>
        </p:nvSpPr>
        <p:spPr>
          <a:xfrm>
            <a:off x="6561963"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 &amp; réengager</a:t>
            </a:r>
          </a:p>
        </p:txBody>
      </p:sp>
      <p:sp>
        <p:nvSpPr>
          <p:cNvPr id="32" name="TextBox 31"/>
          <p:cNvSpPr txBox="1"/>
          <p:nvPr/>
        </p:nvSpPr>
        <p:spPr>
          <a:xfrm>
            <a:off x="6561963"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3" name="TextBox 32"/>
          <p:cNvSpPr txBox="1"/>
          <p:nvPr/>
        </p:nvSpPr>
        <p:spPr>
          <a:xfrm>
            <a:off x="6561963"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KPI infra rejoués au même instrument qu'à T0 — le delta technique se lit à côté du delta de maturité et du delta humain.</a:t>
            </a:r>
          </a:p>
        </p:txBody>
      </p:sp>
      <p:sp>
        <p:nvSpPr>
          <p:cNvPr id="34" name="Rectangle 33"/>
          <p:cNvSpPr/>
          <p:nvPr/>
        </p:nvSpPr>
        <p:spPr>
          <a:xfrm>
            <a:off x="6561963"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61963"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iap-metrics-sre-finops-lead · iap-run-tma-specialist</a:t>
            </a:r>
          </a:p>
        </p:txBody>
      </p:sp>
      <p:sp>
        <p:nvSpPr>
          <p:cNvPr id="36" name="Rounded Rectangle 35"/>
          <p:cNvSpPr/>
          <p:nvPr/>
        </p:nvSpPr>
        <p:spPr>
          <a:xfrm>
            <a:off x="562356" y="4274153"/>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74153"/>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ce fil n'est pas</a:t>
            </a:r>
          </a:p>
          <a:p>
            <a:pPr algn="l">
              <a:lnSpc>
                <a:spcPct val="125000"/>
              </a:lnSpc>
              <a:spcBef>
                <a:spcPts val="300"/>
              </a:spcBef>
            </a:pPr>
            <a:r>
              <a:rPr sz="700" b="0" i="0">
                <a:solidFill>
                  <a:srgbClr val="0E2356"/>
                </a:solidFill>
                <a:latin typeface="Outfit"/>
              </a:rPr>
              <a:t>Pas une architecture technique détaillée (objet d'une mission dédiée si le contexte l'exige) ; la gouvernance sécurité, conformité et résilience opérationnelle reste celle du client — ce fil s'y arrime, il ne la remplace pas.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IAP outille une partie du fil humain — le reste est de la présence de consultant</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459992"/>
          </a:xfrm>
          <a:prstGeom prst="roundRect">
            <a:avLst>
              <a:gd name="adj" fmla="val 6000"/>
            </a:avLst>
          </a:prstGeom>
          <a:solidFill>
            <a:srgbClr val="E1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1819656"/>
            <a:ext cx="850392" cy="145999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8" name="Rectangle 17"/>
          <p:cNvSpPr/>
          <p:nvPr/>
        </p:nvSpPr>
        <p:spPr>
          <a:xfrm>
            <a:off x="1540764"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5356"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0" name="Rectangle 19"/>
          <p:cNvSpPr/>
          <p:nvPr/>
        </p:nvSpPr>
        <p:spPr>
          <a:xfrm>
            <a:off x="3297555"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7283"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2" name="Rectangle 21"/>
          <p:cNvSpPr/>
          <p:nvPr/>
        </p:nvSpPr>
        <p:spPr>
          <a:xfrm>
            <a:off x="4999482"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09210"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4" name="Rectangle 23"/>
          <p:cNvSpPr/>
          <p:nvPr/>
        </p:nvSpPr>
        <p:spPr>
          <a:xfrm>
            <a:off x="6701409"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1137"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6" name="Rounded Rectangle 25"/>
          <p:cNvSpPr/>
          <p:nvPr/>
        </p:nvSpPr>
        <p:spPr>
          <a:xfrm>
            <a:off x="562356" y="3371088"/>
            <a:ext cx="7804404" cy="119176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 y="3371088"/>
            <a:ext cx="850392" cy="119176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8" name="Rectangle 27"/>
          <p:cNvSpPr/>
          <p:nvPr/>
        </p:nvSpPr>
        <p:spPr>
          <a:xfrm>
            <a:off x="1540764"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5356"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0" name="Rectangle 29"/>
          <p:cNvSpPr/>
          <p:nvPr/>
        </p:nvSpPr>
        <p:spPr>
          <a:xfrm>
            <a:off x="3297555"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7283"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2" name="Rectangle 31"/>
          <p:cNvSpPr/>
          <p:nvPr/>
        </p:nvSpPr>
        <p:spPr>
          <a:xfrm>
            <a:off x="4999482"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09210"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4" name="Rectangle 33"/>
          <p:cNvSpPr/>
          <p:nvPr/>
        </p:nvSpPr>
        <p:spPr>
          <a:xfrm>
            <a:off x="6701409"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1137"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6" name="TextBox 35"/>
          <p:cNvSpPr txBox="1"/>
          <p:nvPr/>
        </p:nvSpPr>
        <p:spPr>
          <a:xfrm>
            <a:off x="562356" y="4672584"/>
            <a:ext cx="7804404" cy="310896"/>
          </a:xfrm>
          <a:prstGeom prst="rect">
            <a:avLst/>
          </a:prstGeom>
          <a:noFill/>
        </p:spPr>
        <p:txBody>
          <a:bodyPr wrap="square" anchor="b" lIns="0" rIns="0" tIns="0" bIns="0">
            <a:noAutofit/>
          </a:bodyPr>
          <a:lstStyle/>
          <a:p>
            <a:pPr algn="l">
              <a:lnSpc>
                <a:spcPct val="120000"/>
              </a:lnSpc>
            </a:pPr>
            <a:r>
              <a:rPr sz="800" b="0" i="1">
                <a:solidFill>
                  <a:srgbClr val="586586"/>
                </a:solidFill>
                <a:latin typeface="Outfit"/>
              </a:rPr>
              <a:t>La rangée du bas ne s'outille pas : c'est la présence du consultant — dégressive, jusqu'aux relais internes qui portent le modèle après la mission (offre SCALE, transposée).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DÉMARCHE   ·   </a:t>
            </a:r>
            <a:r>
              <a:rPr b="1" sz="1550">
                <a:solidFill>
                  <a:srgbClr val="0E2356"/>
                </a:solidFill>
                <a:latin typeface="Outfit"/>
              </a:rPr>
              <a:t>Sans ces quatre conditions, la mission ne s'engage pas</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Le test d'engagement porté par le fil humain n'a de valeur que s'il peut conclure « non » : voici ce qu'il vérifie avant signature — et ce que son échec déclenche.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c'est son engagement personnel qui se teste, pas son budget.</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NON-ENGAGEMENT</a:t>
            </a:r>
          </a:p>
        </p:txBody>
      </p:sp>
      <p:sp>
        <p:nvSpPr>
          <p:cNvPr id="28" name="TextBox 27"/>
          <p:cNvSpPr txBox="1"/>
          <p:nvPr/>
        </p:nvSpPr>
        <p:spPr>
          <a:xfrm>
            <a:off x="4265676" y="1901825"/>
            <a:ext cx="3954780" cy="560451"/>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Un sponsor qui achète un audit mais ne portera pas la cible est un critère de non-engagement, pas un aléa.</a:t>
            </a:r>
          </a:p>
          <a:p>
            <a:pPr algn="l">
              <a:lnSpc>
                <a:spcPct val="125000"/>
              </a:lnSpc>
              <a:spcBef>
                <a:spcPts val="300"/>
              </a:spcBef>
            </a:pPr>
            <a:r>
              <a:rPr sz="750" b="0" i="0">
                <a:solidFill>
                  <a:srgbClr val="C7CBE0"/>
                </a:solidFill>
                <a:latin typeface="Outfit"/>
              </a:rPr>
              <a:t>Le refus de mission reste un point ouvert du cadrage ; le test d'engagement, lui, est acté — il conditionne la signature.</a:t>
            </a:r>
          </a:p>
        </p:txBody>
      </p:sp>
      <p:sp>
        <p:nvSpPr>
          <p:cNvPr id="29" name="Rectangle 28"/>
          <p:cNvSpPr/>
          <p:nvPr/>
        </p:nvSpPr>
        <p:spPr>
          <a:xfrm>
            <a:off x="4265676" y="2548540"/>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634805"/>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09938"/>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773362"/>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2948495"/>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11919"/>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087052"/>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050476"/>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24786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34131"/>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472688"/>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deskilling-risk — perte de la capacité tacite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40658"/>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management-posture-risk — 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43434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a:t>
            </a:r>
          </a:p>
        </p:txBody>
      </p:sp>
      <p:sp>
        <p:nvSpPr>
          <p:cNvPr id="4" name="Rounded Rectangle 3"/>
          <p:cNvSpPr/>
          <p:nvPr/>
        </p:nvSpPr>
        <p:spPr>
          <a:xfrm>
            <a:off x="562356" y="154076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56270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54076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56270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entre Diagnostic et Segmentation, si sites hétérogènes.</a:t>
            </a:r>
          </a:p>
        </p:txBody>
      </p:sp>
      <p:sp>
        <p:nvSpPr>
          <p:cNvPr id="8" name="TextBox 7"/>
          <p:cNvSpPr txBox="1"/>
          <p:nvPr/>
        </p:nvSpPr>
        <p:spPr>
          <a:xfrm>
            <a:off x="2820009" y="154076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65049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65049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182422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182422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10769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6 catégories</a:t>
            </a:r>
          </a:p>
        </p:txBody>
      </p:sp>
      <p:sp>
        <p:nvSpPr>
          <p:cNvPr id="26" name="TextBox 25"/>
          <p:cNvSpPr txBox="1"/>
          <p:nvPr/>
        </p:nvSpPr>
        <p:spPr>
          <a:xfrm>
            <a:off x="6769303"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50088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50088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45516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287350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287350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286435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296494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35813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35813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63397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65592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393903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393903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393903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277614"/>
            <a:ext cx="7804404" cy="70586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277614"/>
            <a:ext cx="64008" cy="70586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23334"/>
            <a:ext cx="7402068" cy="614426"/>
          </a:xfrm>
          <a:prstGeom prst="rect">
            <a:avLst/>
          </a:prstGeom>
          <a:noFill/>
        </p:spPr>
        <p:txBody>
          <a:bodyPr wrap="square" anchor="t" lIns="0" rIns="0" tIns="0" bIns="0">
            <a:noAutofit/>
          </a:bodyPr>
          <a:lstStyle/>
          <a:p>
            <a:pPr algn="l"/>
            <a:r>
              <a:rPr sz="700" b="1" i="0">
                <a:solidFill>
                  <a:srgbClr val="8FD6DB"/>
                </a:solidFill>
                <a:latin typeface="Outfit"/>
              </a:rPr>
              <a:t>LA THÈSE</a:t>
            </a:r>
          </a:p>
          <a:p>
            <a:pPr algn="l">
              <a:lnSpc>
                <a:spcPct val="120000"/>
              </a:lnSpc>
              <a:spcBef>
                <a:spcPts val="300"/>
              </a:spcBef>
            </a:pP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La Gate IA s'applique à chaque étape, de la collecte à la boucle de réévaluation</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0000"/>
              </a:lnSpc>
            </a:pPr>
            <a:r>
              <a:rPr sz="800" b="0" i="1">
                <a:solidFill>
                  <a:srgbClr val="586586"/>
                </a:solidFill>
                <a:latin typeface="Outfit"/>
              </a:rPr>
              <a:t>Deux sources de collecte convergent vers un diagnostic structuré ; une boucle de réévaluation referme le cycle.</a:t>
            </a:r>
          </a:p>
        </p:txBody>
      </p:sp>
      <p:sp>
        <p:nvSpPr>
          <p:cNvPr id="4" name="Rounded Rectangle 3"/>
          <p:cNvSpPr/>
          <p:nvPr/>
        </p:nvSpPr>
        <p:spPr>
          <a:xfrm>
            <a:off x="562356" y="1325880"/>
            <a:ext cx="7804404" cy="32918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325880"/>
            <a:ext cx="7438644" cy="329184"/>
          </a:xfrm>
          <a:prstGeom prst="rect">
            <a:avLst/>
          </a:prstGeom>
          <a:noFill/>
        </p:spPr>
        <p:txBody>
          <a:bodyPr wrap="square" anchor="ctr" lIns="0" rIns="0" tIns="0" bIns="0">
            <a:noAutofit/>
          </a:bodyPr>
          <a:lstStyle/>
          <a:p>
            <a:pPr algn="l">
              <a:lnSpc>
                <a:spcPct val="110000"/>
              </a:lnSpc>
            </a:pPr>
            <a:r>
              <a:rPr sz="800" b="1" i="0">
                <a:solidFill>
                  <a:srgbClr val="FFFFFF"/>
                </a:solidFill>
                <a:latin typeface="Outfit"/>
              </a:rPr>
              <a:t>GATE IA &amp; CONFIDENTIALITÉ — checkpoint humain, transversal à chaque étape qui invoque un LLM</a:t>
            </a:r>
          </a:p>
        </p:txBody>
      </p:sp>
      <p:sp>
        <p:nvSpPr>
          <p:cNvPr id="6" name="Rectangle 5"/>
          <p:cNvSpPr/>
          <p:nvPr/>
        </p:nvSpPr>
        <p:spPr>
          <a:xfrm>
            <a:off x="562356"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COLLECTE</a:t>
            </a:r>
          </a:p>
        </p:txBody>
      </p:sp>
      <p:sp>
        <p:nvSpPr>
          <p:cNvPr id="8" name="Rounded Rectangle 7"/>
          <p:cNvSpPr/>
          <p:nvPr/>
        </p:nvSpPr>
        <p:spPr>
          <a:xfrm>
            <a:off x="562356"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Interviews par persona (trame / thème / question)</a:t>
            </a:r>
          </a:p>
          <a:p>
            <a:pPr algn="l">
              <a:lnSpc>
                <a:spcPct val="120000"/>
              </a:lnSpc>
              <a:spcAft>
                <a:spcPts val="400"/>
              </a:spcAft>
            </a:pPr>
            <a:r>
              <a:rPr sz="700" b="0" i="0">
                <a:solidFill>
                  <a:srgbClr val="0E2356"/>
                </a:solidFill>
                <a:latin typeface="Outfit"/>
              </a:rPr>
              <a:t>·  Import outils : ServiceNow/Jira/CMDB si accès</a:t>
            </a:r>
          </a:p>
        </p:txBody>
      </p:sp>
      <p:sp>
        <p:nvSpPr>
          <p:cNvPr id="10" name="TextBox 9"/>
          <p:cNvSpPr txBox="1"/>
          <p:nvPr/>
        </p:nvSpPr>
        <p:spPr>
          <a:xfrm>
            <a:off x="2376297"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1" name="Rectangle 10"/>
          <p:cNvSpPr/>
          <p:nvPr/>
        </p:nvSpPr>
        <p:spPr>
          <a:xfrm>
            <a:off x="2559177"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9177"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DIAGNOSTIC</a:t>
            </a:r>
          </a:p>
        </p:txBody>
      </p:sp>
      <p:sp>
        <p:nvSpPr>
          <p:cNvPr id="13" name="Rounded Rectangle 12"/>
          <p:cNvSpPr/>
          <p:nvPr/>
        </p:nvSpPr>
        <p:spPr>
          <a:xfrm>
            <a:off x="2559177"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0617"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Synthèse par thème puis synthèse globale</a:t>
            </a:r>
          </a:p>
          <a:p>
            <a:pPr algn="l">
              <a:lnSpc>
                <a:spcPct val="120000"/>
              </a:lnSpc>
              <a:spcAft>
                <a:spcPts val="400"/>
              </a:spcAft>
            </a:pPr>
            <a:r>
              <a:rPr sz="700" b="0" i="0">
                <a:solidFill>
                  <a:srgbClr val="0E2356"/>
                </a:solidFill>
                <a:latin typeface="Outfit"/>
              </a:rPr>
              <a:t>·  Registre de gaspillage (tags CONFIRMÉ/DÉDUIT/INCERTAIN)</a:t>
            </a:r>
          </a:p>
        </p:txBody>
      </p:sp>
      <p:sp>
        <p:nvSpPr>
          <p:cNvPr id="15" name="TextBox 14"/>
          <p:cNvSpPr txBox="1"/>
          <p:nvPr/>
        </p:nvSpPr>
        <p:spPr>
          <a:xfrm>
            <a:off x="4373118"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6" name="Rectangle 15"/>
          <p:cNvSpPr/>
          <p:nvPr/>
        </p:nvSpPr>
        <p:spPr>
          <a:xfrm>
            <a:off x="4555998"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5998"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CONCEPTION</a:t>
            </a:r>
          </a:p>
        </p:txBody>
      </p:sp>
      <p:sp>
        <p:nvSpPr>
          <p:cNvPr id="18" name="Rounded Rectangle 17"/>
          <p:cNvSpPr/>
          <p:nvPr/>
        </p:nvSpPr>
        <p:spPr>
          <a:xfrm>
            <a:off x="4555998"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7438"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Définition produit (+ cible MVP)</a:t>
            </a:r>
          </a:p>
          <a:p>
            <a:pPr algn="l">
              <a:lnSpc>
                <a:spcPct val="120000"/>
              </a:lnSpc>
              <a:spcAft>
                <a:spcPts val="400"/>
              </a:spcAft>
            </a:pPr>
            <a:r>
              <a:rPr sz="700" b="0" i="0">
                <a:solidFill>
                  <a:srgbClr val="0E2356"/>
                </a:solidFill>
                <a:latin typeface="Outfit"/>
              </a:rPr>
              <a:t>·  Operating model + traitement du gaspillage (décisions actées)</a:t>
            </a:r>
          </a:p>
        </p:txBody>
      </p:sp>
      <p:sp>
        <p:nvSpPr>
          <p:cNvPr id="20" name="TextBox 19"/>
          <p:cNvSpPr txBox="1"/>
          <p:nvPr/>
        </p:nvSpPr>
        <p:spPr>
          <a:xfrm>
            <a:off x="6369939"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ectangle 20"/>
          <p:cNvSpPr/>
          <p:nvPr/>
        </p:nvSpPr>
        <p:spPr>
          <a:xfrm>
            <a:off x="6552819"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819"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RESTITUTION</a:t>
            </a:r>
          </a:p>
        </p:txBody>
      </p:sp>
      <p:sp>
        <p:nvSpPr>
          <p:cNvPr id="23" name="Rounded Rectangle 22"/>
          <p:cNvSpPr/>
          <p:nvPr/>
        </p:nvSpPr>
        <p:spPr>
          <a:xfrm>
            <a:off x="6552819"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4259"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Deck exécutif : axes valeur/complexité</a:t>
            </a:r>
          </a:p>
          <a:p>
            <a:pPr algn="l">
              <a:lnSpc>
                <a:spcPct val="120000"/>
              </a:lnSpc>
              <a:spcAft>
                <a:spcPts val="400"/>
              </a:spcAft>
            </a:pPr>
            <a:r>
              <a:rPr sz="700" b="0" i="0">
                <a:solidFill>
                  <a:srgbClr val="0E2356"/>
                </a:solidFill>
                <a:latin typeface="Outfit"/>
              </a:rPr>
              <a:t>·  + radar de maturité</a:t>
            </a:r>
          </a:p>
        </p:txBody>
      </p:sp>
      <p:sp>
        <p:nvSpPr>
          <p:cNvPr id="25" name="Rounded Rectangle 24"/>
          <p:cNvSpPr/>
          <p:nvPr/>
        </p:nvSpPr>
        <p:spPr>
          <a:xfrm>
            <a:off x="562356" y="3639312"/>
            <a:ext cx="7804404" cy="365760"/>
          </a:xfrm>
          <a:prstGeom prst="roundRect">
            <a:avLst>
              <a:gd name="adj" fmla="val 10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3639312"/>
            <a:ext cx="7438644" cy="365760"/>
          </a:xfrm>
          <a:prstGeom prst="rect">
            <a:avLst/>
          </a:prstGeom>
          <a:noFill/>
        </p:spPr>
        <p:txBody>
          <a:bodyPr wrap="square" anchor="ctr" lIns="0" rIns="0" tIns="0" bIns="0">
            <a:noAutofit/>
          </a:bodyPr>
          <a:lstStyle/>
          <a:p>
            <a:pPr algn="l">
              <a:lnSpc>
                <a:spcPct val="110000"/>
              </a:lnSpc>
            </a:pPr>
            <a:r>
              <a:rPr sz="750" b="0" i="1">
                <a:solidFill>
                  <a:srgbClr val="586586"/>
                </a:solidFill>
                <a:latin typeface="Outfit"/>
              </a:rPr>
              <a:t>iap-risk-reviewer — lecture seule, challenge Product definition / Operating model → Deck exécutif</a:t>
            </a:r>
          </a:p>
        </p:txBody>
      </p:sp>
      <p:sp>
        <p:nvSpPr>
          <p:cNvPr id="27" name="Rounded Rectangle 26"/>
          <p:cNvSpPr/>
          <p:nvPr/>
        </p:nvSpPr>
        <p:spPr>
          <a:xfrm>
            <a:off x="562356" y="4133088"/>
            <a:ext cx="7804404" cy="5029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 y="4133088"/>
            <a:ext cx="7438644" cy="502920"/>
          </a:xfrm>
          <a:prstGeom prst="rect">
            <a:avLst/>
          </a:prstGeom>
          <a:noFill/>
        </p:spPr>
        <p:txBody>
          <a:bodyPr wrap="square" anchor="ctr" lIns="0" rIns="0" tIns="0" bIns="0">
            <a:noAutofit/>
          </a:bodyPr>
          <a:lstStyle/>
          <a:p>
            <a:pPr algn="l">
              <a:lnSpc>
                <a:spcPct val="115000"/>
              </a:lnSpc>
            </a:pPr>
            <a:r>
              <a:rPr sz="800" b="0" i="0">
                <a:solidFill>
                  <a:srgbClr val="FFFFFF"/>
                </a:solidFill>
                <a:latin typeface="Outfit"/>
              </a:rPr>
              <a:t>⟲ Boucle de réévaluation — iap-re-assessment, T+6-12 mois, alimente la bibliothèque de REX, reboucle vers la Collecte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Onze workflows outillés, un seul bloquant : le gate confidentialité les traverse tous</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Un mandat unique par workflow, regroupés par étape. Le gate confidentialité est le seul à pouvoir arrêter la chaîne — transversal, il précède tout usage d'un modèle IA sur donnée client.</a:t>
            </a:r>
          </a:p>
        </p:txBody>
      </p:sp>
      <p:sp>
        <p:nvSpPr>
          <p:cNvPr id="4" name="Rounded Rectangle 3"/>
          <p:cNvSpPr/>
          <p:nvPr/>
        </p:nvSpPr>
        <p:spPr>
          <a:xfrm>
            <a:off x="562356"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INTAKE</a:t>
            </a:r>
          </a:p>
          <a:p>
            <a:pPr algn="l">
              <a:spcBef>
                <a:spcPts val="100"/>
              </a:spcBef>
            </a:pPr>
            <a:r>
              <a:rPr sz="650" b="0" i="0">
                <a:solidFill>
                  <a:srgbClr val="586586"/>
                </a:solidFill>
                <a:latin typeface="Outfit"/>
              </a:rPr>
              <a:t>1 workflow</a:t>
            </a:r>
          </a:p>
        </p:txBody>
      </p:sp>
      <p:sp>
        <p:nvSpPr>
          <p:cNvPr id="7" name="TextBox 6"/>
          <p:cNvSpPr txBox="1"/>
          <p:nvPr/>
        </p:nvSpPr>
        <p:spPr>
          <a:xfrm>
            <a:off x="690372" y="2075688"/>
            <a:ext cx="1557909" cy="71589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iap-intake</a:t>
            </a:r>
          </a:p>
          <a:p>
            <a:pPr algn="l">
              <a:lnSpc>
                <a:spcPct val="110000"/>
              </a:lnSpc>
              <a:spcBef>
                <a:spcPts val="200"/>
              </a:spcBef>
            </a:pPr>
            <a:r>
              <a:rPr sz="650" b="0" i="0">
                <a:solidFill>
                  <a:srgbClr val="586586"/>
                </a:solidFill>
                <a:latin typeface="Outfit"/>
              </a:rPr>
              <a:t>Qualifie le contexte client, le positionne sur les deux échelles de maturité, puis choisit le chemin de mission : diagnostic, pilote, adoption ou gate d'abord.</a:t>
            </a:r>
          </a:p>
        </p:txBody>
      </p:sp>
      <p:sp>
        <p:nvSpPr>
          <p:cNvPr id="8" name="Rounded Rectangle 7"/>
          <p:cNvSpPr/>
          <p:nvPr/>
        </p:nvSpPr>
        <p:spPr>
          <a:xfrm>
            <a:off x="2559177"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559177"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87193"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DIAGNOSTIC</a:t>
            </a:r>
          </a:p>
          <a:p>
            <a:pPr algn="l">
              <a:spcBef>
                <a:spcPts val="100"/>
              </a:spcBef>
            </a:pPr>
            <a:r>
              <a:rPr sz="650" b="0" i="0">
                <a:solidFill>
                  <a:srgbClr val="586586"/>
                </a:solidFill>
                <a:latin typeface="Outfit"/>
              </a:rPr>
              <a:t>2 workflows</a:t>
            </a:r>
          </a:p>
        </p:txBody>
      </p:sp>
      <p:sp>
        <p:nvSpPr>
          <p:cNvPr id="11" name="TextBox 10"/>
          <p:cNvSpPr txBox="1"/>
          <p:nvPr/>
        </p:nvSpPr>
        <p:spPr>
          <a:xfrm>
            <a:off x="2687193" y="2365883"/>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iap-diagnostic-systemique</a:t>
            </a:r>
          </a:p>
          <a:p>
            <a:pPr algn="l">
              <a:lnSpc>
                <a:spcPct val="110000"/>
              </a:lnSpc>
              <a:spcBef>
                <a:spcPts val="200"/>
              </a:spcBef>
            </a:pPr>
            <a:r>
              <a:rPr sz="650" b="0" i="0">
                <a:solidFill>
                  <a:srgbClr val="586586"/>
                </a:solidFill>
                <a:latin typeface="Outfit"/>
              </a:rPr>
              <a:t>Structure, flux, RUN, posture management</a:t>
            </a:r>
          </a:p>
        </p:txBody>
      </p:sp>
      <p:sp>
        <p:nvSpPr>
          <p:cNvPr id="12" name="TextBox 11"/>
          <p:cNvSpPr txBox="1"/>
          <p:nvPr/>
        </p:nvSpPr>
        <p:spPr>
          <a:xfrm>
            <a:off x="2687193" y="3159252"/>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iap-discovery-gaspillage</a:t>
            </a:r>
          </a:p>
          <a:p>
            <a:pPr algn="l">
              <a:lnSpc>
                <a:spcPct val="110000"/>
              </a:lnSpc>
              <a:spcBef>
                <a:spcPts val="200"/>
              </a:spcBef>
            </a:pPr>
            <a:r>
              <a:rPr sz="650" b="0" i="0">
                <a:solidFill>
                  <a:srgbClr val="586586"/>
                </a:solidFill>
                <a:latin typeface="Outfit"/>
              </a:rPr>
              <a:t>Preuves, causes racines, options de traitement</a:t>
            </a:r>
          </a:p>
        </p:txBody>
      </p:sp>
      <p:sp>
        <p:nvSpPr>
          <p:cNvPr id="13" name="Rounded Rectangle 12"/>
          <p:cNvSpPr/>
          <p:nvPr/>
        </p:nvSpPr>
        <p:spPr>
          <a:xfrm>
            <a:off x="4555998"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4014"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CONCEPTION</a:t>
            </a:r>
          </a:p>
          <a:p>
            <a:pPr algn="l">
              <a:spcBef>
                <a:spcPts val="100"/>
              </a:spcBef>
            </a:pPr>
            <a:r>
              <a:rPr sz="650" b="0" i="0">
                <a:solidFill>
                  <a:srgbClr val="586586"/>
                </a:solidFill>
                <a:latin typeface="Outfit"/>
              </a:rPr>
              <a:t>4 workflows</a:t>
            </a:r>
          </a:p>
        </p:txBody>
      </p:sp>
      <p:sp>
        <p:nvSpPr>
          <p:cNvPr id="16" name="TextBox 15"/>
          <p:cNvSpPr txBox="1"/>
          <p:nvPr/>
        </p:nvSpPr>
        <p:spPr>
          <a:xfrm>
            <a:off x="4684014"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iap-waste-treatment</a:t>
            </a:r>
          </a:p>
          <a:p>
            <a:pPr algn="l">
              <a:lnSpc>
                <a:spcPct val="110000"/>
              </a:lnSpc>
              <a:spcBef>
                <a:spcPts val="200"/>
              </a:spcBef>
            </a:pPr>
            <a:r>
              <a:rPr sz="650" b="0" i="0">
                <a:solidFill>
                  <a:srgbClr val="586586"/>
                </a:solidFill>
                <a:latin typeface="Outfit"/>
              </a:rPr>
              <a:t>Backlog priorisé et scoré des gaspillages</a:t>
            </a:r>
          </a:p>
        </p:txBody>
      </p:sp>
      <p:sp>
        <p:nvSpPr>
          <p:cNvPr id="17" name="TextBox 16"/>
          <p:cNvSpPr txBox="1"/>
          <p:nvPr/>
        </p:nvSpPr>
        <p:spPr>
          <a:xfrm>
            <a:off x="4684014" y="253360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iap-product-definition</a:t>
            </a:r>
          </a:p>
          <a:p>
            <a:pPr algn="l">
              <a:lnSpc>
                <a:spcPct val="110000"/>
              </a:lnSpc>
              <a:spcBef>
                <a:spcPts val="200"/>
              </a:spcBef>
            </a:pPr>
            <a:r>
              <a:rPr sz="650" b="0" i="0">
                <a:solidFill>
                  <a:srgbClr val="586586"/>
                </a:solidFill>
                <a:latin typeface="Outfit"/>
              </a:rPr>
              <a:t>Personas, capacités, valeur, roadmap</a:t>
            </a:r>
          </a:p>
        </p:txBody>
      </p:sp>
      <p:sp>
        <p:nvSpPr>
          <p:cNvPr id="18" name="TextBox 17"/>
          <p:cNvSpPr txBox="1"/>
          <p:nvPr/>
        </p:nvSpPr>
        <p:spPr>
          <a:xfrm>
            <a:off x="4684014" y="299152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iap-operating-model</a:t>
            </a:r>
          </a:p>
          <a:p>
            <a:pPr algn="l">
              <a:lnSpc>
                <a:spcPct val="110000"/>
              </a:lnSpc>
              <a:spcBef>
                <a:spcPts val="200"/>
              </a:spcBef>
            </a:pPr>
            <a:r>
              <a:rPr sz="650" b="0" i="0">
                <a:solidFill>
                  <a:srgbClr val="586586"/>
                </a:solidFill>
                <a:latin typeface="Outfit"/>
              </a:rPr>
              <a:t>Rôles, gouvernance, financement (décisions actées)</a:t>
            </a:r>
          </a:p>
        </p:txBody>
      </p:sp>
      <p:sp>
        <p:nvSpPr>
          <p:cNvPr id="19" name="TextBox 18"/>
          <p:cNvSpPr txBox="1"/>
          <p:nvPr/>
        </p:nvSpPr>
        <p:spPr>
          <a:xfrm>
            <a:off x="4684014"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iap-agentic-opportunities</a:t>
            </a:r>
          </a:p>
          <a:p>
            <a:pPr algn="l">
              <a:lnSpc>
                <a:spcPct val="110000"/>
              </a:lnSpc>
              <a:spcBef>
                <a:spcPts val="200"/>
              </a:spcBef>
            </a:pPr>
            <a:r>
              <a:rPr sz="650" b="0" i="0">
                <a:solidFill>
                  <a:srgbClr val="586586"/>
                </a:solidFill>
                <a:latin typeface="Outfit"/>
              </a:rPr>
              <a:t>Le gaspillage d'abord, l'IA ensuite</a:t>
            </a:r>
          </a:p>
        </p:txBody>
      </p:sp>
      <p:sp>
        <p:nvSpPr>
          <p:cNvPr id="20" name="Rounded Rectangle 19"/>
          <p:cNvSpPr/>
          <p:nvPr/>
        </p:nvSpPr>
        <p:spPr>
          <a:xfrm>
            <a:off x="6552819"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52819"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0835"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ADOPTION &amp; RESTITUTION</a:t>
            </a:r>
          </a:p>
          <a:p>
            <a:pPr algn="l">
              <a:spcBef>
                <a:spcPts val="100"/>
              </a:spcBef>
            </a:pPr>
            <a:r>
              <a:rPr sz="650" b="0" i="0">
                <a:solidFill>
                  <a:srgbClr val="586586"/>
                </a:solidFill>
                <a:latin typeface="Outfit"/>
              </a:rPr>
              <a:t>3 workflows</a:t>
            </a:r>
          </a:p>
        </p:txBody>
      </p:sp>
      <p:sp>
        <p:nvSpPr>
          <p:cNvPr id="23" name="TextBox 22"/>
          <p:cNvSpPr txBox="1"/>
          <p:nvPr/>
        </p:nvSpPr>
        <p:spPr>
          <a:xfrm>
            <a:off x="6680835"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iap-adoption-plan</a:t>
            </a:r>
          </a:p>
          <a:p>
            <a:pPr algn="l">
              <a:lnSpc>
                <a:spcPct val="110000"/>
              </a:lnSpc>
              <a:spcBef>
                <a:spcPts val="200"/>
              </a:spcBef>
            </a:pPr>
            <a:r>
              <a:rPr sz="650" b="0" i="0">
                <a:solidFill>
                  <a:srgbClr val="586586"/>
                </a:solidFill>
                <a:latin typeface="Outfit"/>
              </a:rPr>
              <a:t>Onboarding, documentation, communautés</a:t>
            </a:r>
          </a:p>
        </p:txBody>
      </p:sp>
      <p:sp>
        <p:nvSpPr>
          <p:cNvPr id="24" name="TextBox 23"/>
          <p:cNvSpPr txBox="1"/>
          <p:nvPr/>
        </p:nvSpPr>
        <p:spPr>
          <a:xfrm>
            <a:off x="6680835" y="276256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iap-scenario-playbook</a:t>
            </a:r>
          </a:p>
          <a:p>
            <a:pPr algn="l">
              <a:lnSpc>
                <a:spcPct val="110000"/>
              </a:lnSpc>
              <a:spcBef>
                <a:spcPts val="200"/>
              </a:spcBef>
            </a:pPr>
            <a:r>
              <a:rPr sz="650" b="0" i="0">
                <a:solidFill>
                  <a:srgbClr val="586586"/>
                </a:solidFill>
                <a:latin typeface="Outfit"/>
              </a:rPr>
              <a:t>Adapte la démarche au scénario client</a:t>
            </a:r>
          </a:p>
        </p:txBody>
      </p:sp>
      <p:sp>
        <p:nvSpPr>
          <p:cNvPr id="25" name="TextBox 24"/>
          <p:cNvSpPr txBox="1"/>
          <p:nvPr/>
        </p:nvSpPr>
        <p:spPr>
          <a:xfrm>
            <a:off x="6680835"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iap-deck-builder</a:t>
            </a:r>
          </a:p>
          <a:p>
            <a:pPr algn="l">
              <a:lnSpc>
                <a:spcPct val="110000"/>
              </a:lnSpc>
              <a:spcBef>
                <a:spcPts val="200"/>
              </a:spcBef>
            </a:pPr>
            <a:r>
              <a:rPr sz="650" b="0" i="0">
                <a:solidFill>
                  <a:srgbClr val="586586"/>
                </a:solidFill>
                <a:latin typeface="Outfit"/>
              </a:rPr>
              <a:t>Deck modulaire, restitution exécutive</a:t>
            </a:r>
          </a:p>
        </p:txBody>
      </p:sp>
      <p:sp>
        <p:nvSpPr>
          <p:cNvPr id="26" name="Rounded Rectangle 25"/>
          <p:cNvSpPr/>
          <p:nvPr/>
        </p:nvSpPr>
        <p:spPr>
          <a:xfrm>
            <a:off x="562356" y="3995928"/>
            <a:ext cx="7804404" cy="54864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8660" y="4142232"/>
            <a:ext cx="1051560" cy="2560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8660" y="4142232"/>
            <a:ext cx="1051560" cy="256032"/>
          </a:xfrm>
          <a:prstGeom prst="rect">
            <a:avLst/>
          </a:prstGeom>
          <a:noFill/>
        </p:spPr>
        <p:txBody>
          <a:bodyPr wrap="square" anchor="ctr" lIns="0" rIns="0" tIns="0" bIns="0">
            <a:noAutofit/>
          </a:bodyPr>
          <a:lstStyle/>
          <a:p>
            <a:pPr algn="ctr"/>
            <a:r>
              <a:rPr sz="700" b="1" i="0">
                <a:solidFill>
                  <a:srgbClr val="0E2356"/>
                </a:solidFill>
                <a:latin typeface="Outfit"/>
              </a:rPr>
              <a:t>BLOQUANT</a:t>
            </a:r>
          </a:p>
        </p:txBody>
      </p:sp>
      <p:sp>
        <p:nvSpPr>
          <p:cNvPr id="29" name="TextBox 28"/>
          <p:cNvSpPr txBox="1"/>
          <p:nvPr/>
        </p:nvSpPr>
        <p:spPr>
          <a:xfrm>
            <a:off x="1943100" y="4087368"/>
            <a:ext cx="6249924" cy="365759"/>
          </a:xfrm>
          <a:prstGeom prst="rect">
            <a:avLst/>
          </a:prstGeom>
          <a:noFill/>
        </p:spPr>
        <p:txBody>
          <a:bodyPr wrap="square" anchor="ctr" lIns="0" rIns="0" tIns="0" bIns="0">
            <a:noAutofit/>
          </a:bodyPr>
          <a:lstStyle/>
          <a:p>
            <a:pPr algn="l"/>
            <a:r>
              <a:rPr sz="800" b="1" i="0">
                <a:solidFill>
                  <a:srgbClr val="FFFFFF"/>
                </a:solidFill>
                <a:latin typeface="Outfit"/>
              </a:rPr>
              <a:t>iap-ai-data-confidentiality-gate</a:t>
            </a:r>
          </a:p>
          <a:p>
            <a:pPr algn="l">
              <a:lnSpc>
                <a:spcPct val="115000"/>
              </a:lnSpc>
              <a:spcBef>
                <a:spcPts val="200"/>
              </a:spcBef>
            </a:pPr>
            <a:r>
              <a:rPr sz="750" b="0" i="0">
                <a:solidFill>
                  <a:srgbClr val="C7CBE0"/>
                </a:solidFill>
                <a:latin typeface="Outfit"/>
              </a:rPr>
              <a:t>Classe les données (D0-D4), décide le mode d'exécution IA et pose les garde-fous — transversal, avant tout usage d'un modèle IA sur donnée client.</a:t>
            </a:r>
          </a:p>
        </p:txBody>
      </p:sp>
      <p:sp>
        <p:nvSpPr>
          <p:cNvPr id="30" name="TextBox 29"/>
          <p:cNvSpPr txBox="1"/>
          <p:nvPr/>
        </p:nvSpPr>
        <p:spPr>
          <a:xfrm>
            <a:off x="562356" y="4654296"/>
            <a:ext cx="7804404" cy="329183"/>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Onze mandats distincts, un seul peut arrêter la chaîne — tous les autres proposent et produisent, la décision finale reste humaine.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DÉMARCHE   ·   </a:t>
            </a:r>
            <a:r>
              <a:rPr b="1" sz="1700">
                <a:solidFill>
                  <a:srgbClr val="0E2356"/>
                </a:solidFill>
                <a:latin typeface="Outfit"/>
              </a:rPr>
              <a:t>Livrables PPT par étape — piste à valider</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iap-deck-builder est cadré comme un seul deck modulaire 16 sections, produit une fois à la Restitution — la trajectoire ci-avant implique plusieurs publics et moments de décision distincts. Piste : un profil de sections par étape, pas 4 générateurs séparés.</a:t>
            </a:r>
          </a:p>
        </p:txBody>
      </p:sp>
      <p:sp>
        <p:nvSpPr>
          <p:cNvPr id="4" name="Rounded Rectangle 3"/>
          <p:cNvSpPr/>
          <p:nvPr/>
        </p:nvSpPr>
        <p:spPr>
          <a:xfrm>
            <a:off x="562356"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08660"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①</a:t>
            </a:r>
          </a:p>
        </p:txBody>
      </p:sp>
      <p:sp>
        <p:nvSpPr>
          <p:cNvPr id="8" name="TextBox 7"/>
          <p:cNvSpPr txBox="1"/>
          <p:nvPr/>
        </p:nvSpPr>
        <p:spPr>
          <a:xfrm>
            <a:off x="1092708"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Assessment flash</a:t>
            </a:r>
          </a:p>
        </p:txBody>
      </p:sp>
      <p:sp>
        <p:nvSpPr>
          <p:cNvPr id="9" name="Rectangle 8"/>
          <p:cNvSpPr/>
          <p:nvPr/>
        </p:nvSpPr>
        <p:spPr>
          <a:xfrm>
            <a:off x="708660"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 comité de lancement</a:t>
            </a:r>
          </a:p>
        </p:txBody>
      </p:sp>
      <p:sp>
        <p:nvSpPr>
          <p:cNvPr id="11" name="TextBox 10"/>
          <p:cNvSpPr txBox="1"/>
          <p:nvPr/>
        </p:nvSpPr>
        <p:spPr>
          <a:xfrm>
            <a:off x="708660"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exécutif de restitution</a:t>
            </a:r>
          </a:p>
        </p:txBody>
      </p:sp>
      <p:sp>
        <p:nvSpPr>
          <p:cNvPr id="12" name="TextBox 11"/>
          <p:cNvSpPr txBox="1"/>
          <p:nvPr/>
        </p:nvSpPr>
        <p:spPr>
          <a:xfrm>
            <a:off x="708660"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(déjà cadré) synthèse globale, axes valeur/complexité, radar T0</a:t>
            </a:r>
          </a:p>
        </p:txBody>
      </p:sp>
      <p:sp>
        <p:nvSpPr>
          <p:cNvPr id="13" name="Rounded Rectangle 12"/>
          <p:cNvSpPr/>
          <p:nvPr/>
        </p:nvSpPr>
        <p:spPr>
          <a:xfrm>
            <a:off x="2559177"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559177"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705481"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5481"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②</a:t>
            </a:r>
          </a:p>
        </p:txBody>
      </p:sp>
      <p:sp>
        <p:nvSpPr>
          <p:cNvPr id="17" name="TextBox 16"/>
          <p:cNvSpPr txBox="1"/>
          <p:nvPr/>
        </p:nvSpPr>
        <p:spPr>
          <a:xfrm>
            <a:off x="3089529"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Premier déploiement</a:t>
            </a:r>
          </a:p>
        </p:txBody>
      </p:sp>
      <p:sp>
        <p:nvSpPr>
          <p:cNvPr id="18" name="Rectangle 17"/>
          <p:cNvSpPr/>
          <p:nvPr/>
        </p:nvSpPr>
        <p:spPr>
          <a:xfrm>
            <a:off x="2705481"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05481"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Équipes pilotes + management</a:t>
            </a:r>
          </a:p>
        </p:txBody>
      </p:sp>
      <p:sp>
        <p:nvSpPr>
          <p:cNvPr id="20" name="TextBox 19"/>
          <p:cNvSpPr txBox="1"/>
          <p:nvPr/>
        </p:nvSpPr>
        <p:spPr>
          <a:xfrm>
            <a:off x="2705481"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plan de déploiement</a:t>
            </a:r>
          </a:p>
        </p:txBody>
      </p:sp>
      <p:sp>
        <p:nvSpPr>
          <p:cNvPr id="21" name="TextBox 20"/>
          <p:cNvSpPr txBox="1"/>
          <p:nvPr/>
        </p:nvSpPr>
        <p:spPr>
          <a:xfrm>
            <a:off x="2705481"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Cible TOM détaillée, backlog Coach/Délégué, mandat agent IA</a:t>
            </a:r>
          </a:p>
        </p:txBody>
      </p:sp>
      <p:sp>
        <p:nvSpPr>
          <p:cNvPr id="22" name="Rounded Rectangle 21"/>
          <p:cNvSpPr/>
          <p:nvPr/>
        </p:nvSpPr>
        <p:spPr>
          <a:xfrm>
            <a:off x="4555998"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55998"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702302"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02302"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③</a:t>
            </a:r>
          </a:p>
        </p:txBody>
      </p:sp>
      <p:sp>
        <p:nvSpPr>
          <p:cNvPr id="26" name="TextBox 25"/>
          <p:cNvSpPr txBox="1"/>
          <p:nvPr/>
        </p:nvSpPr>
        <p:spPr>
          <a:xfrm>
            <a:off x="5086350"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Implémentation itérative</a:t>
            </a:r>
          </a:p>
        </p:txBody>
      </p:sp>
      <p:sp>
        <p:nvSpPr>
          <p:cNvPr id="27" name="Rectangle 26"/>
          <p:cNvSpPr/>
          <p:nvPr/>
        </p:nvSpPr>
        <p:spPr>
          <a:xfrm>
            <a:off x="4702302"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2302"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Instance de comitologie</a:t>
            </a:r>
          </a:p>
        </p:txBody>
      </p:sp>
      <p:sp>
        <p:nvSpPr>
          <p:cNvPr id="29" name="TextBox 28"/>
          <p:cNvSpPr txBox="1"/>
          <p:nvPr/>
        </p:nvSpPr>
        <p:spPr>
          <a:xfrm>
            <a:off x="4702302"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comité de pilotage</a:t>
            </a:r>
          </a:p>
        </p:txBody>
      </p:sp>
      <p:sp>
        <p:nvSpPr>
          <p:cNvPr id="30" name="TextBox 29"/>
          <p:cNvSpPr txBox="1"/>
          <p:nvPr/>
        </p:nvSpPr>
        <p:spPr>
          <a:xfrm>
            <a:off x="4702302"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périodique) Avancement backlog, delta KPIs, risques actifs</a:t>
            </a:r>
          </a:p>
        </p:txBody>
      </p:sp>
      <p:sp>
        <p:nvSpPr>
          <p:cNvPr id="31" name="Rounded Rectangle 30"/>
          <p:cNvSpPr/>
          <p:nvPr/>
        </p:nvSpPr>
        <p:spPr>
          <a:xfrm>
            <a:off x="6552819"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52819"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99123"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99123" y="2048256"/>
            <a:ext cx="310896" cy="310896"/>
          </a:xfrm>
          <a:prstGeom prst="rect">
            <a:avLst/>
          </a:prstGeom>
          <a:noFill/>
        </p:spPr>
        <p:txBody>
          <a:bodyPr wrap="square" anchor="ctr" lIns="0" rIns="0" tIns="0" bIns="0">
            <a:noAutofit/>
          </a:bodyPr>
          <a:lstStyle/>
          <a:p>
            <a:pPr algn="ctr"/>
            <a:r>
              <a:rPr sz="1100" b="0" i="0">
                <a:solidFill>
                  <a:srgbClr val="FFFFFF"/>
                </a:solidFill>
                <a:latin typeface="Arial"/>
              </a:rPr>
              <a:t>⟲</a:t>
            </a:r>
          </a:p>
        </p:txBody>
      </p:sp>
      <p:sp>
        <p:nvSpPr>
          <p:cNvPr id="35" name="TextBox 34"/>
          <p:cNvSpPr txBox="1"/>
          <p:nvPr/>
        </p:nvSpPr>
        <p:spPr>
          <a:xfrm>
            <a:off x="7083171"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Boucle de réévaluation</a:t>
            </a:r>
          </a:p>
        </p:txBody>
      </p:sp>
      <p:sp>
        <p:nvSpPr>
          <p:cNvPr id="36" name="Rectangle 35"/>
          <p:cNvSpPr/>
          <p:nvPr/>
        </p:nvSpPr>
        <p:spPr>
          <a:xfrm>
            <a:off x="6699123"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99123"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a:t>
            </a:r>
          </a:p>
        </p:txBody>
      </p:sp>
      <p:sp>
        <p:nvSpPr>
          <p:cNvPr id="38" name="TextBox 37"/>
          <p:cNvSpPr txBox="1"/>
          <p:nvPr/>
        </p:nvSpPr>
        <p:spPr>
          <a:xfrm>
            <a:off x="6699123"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bilan / ré-évaluation</a:t>
            </a:r>
          </a:p>
        </p:txBody>
      </p:sp>
      <p:sp>
        <p:nvSpPr>
          <p:cNvPr id="39" name="TextBox 38"/>
          <p:cNvSpPr txBox="1"/>
          <p:nvPr/>
        </p:nvSpPr>
        <p:spPr>
          <a:xfrm>
            <a:off x="6699123"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Delta maturité T0→T+6-12, REX consolidé</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Outillage IAP</a:t>
            </a:r>
          </a:p>
          <a:p>
            <a:r>
              <a:rPr sz="1050" i="1">
                <a:solidFill>
                  <a:srgbClr val="586586"/>
                </a:solidFill>
                <a:latin typeface="Outfit"/>
              </a:rPr>
              <a:t>Ce que le module met dans les mains du consultant : l'architecture en contexte client, trois niveaux d'ambition, le lien avec le SI.</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09</a:t>
            </a:r>
          </a:p>
        </p:txBody>
      </p:sp>
      <p:pic>
        <p:nvPicPr>
          <p:cNvPr id="4" name="Picture 3" descr="tropical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IAP tourne sur le poste du consultant — seuls les agents retenus passent chez le client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Rien ne s'installe côté client par défaut : les interviews et les exports entrent, les livrables sortent — le déploiement d'agents est une décision de ②/③, pas un prérequis.</a:t>
            </a:r>
          </a:p>
        </p:txBody>
      </p:sp>
      <p:sp>
        <p:nvSpPr>
          <p:cNvPr id="4" name="Rounded Rectangle 3"/>
          <p:cNvSpPr/>
          <p:nvPr/>
        </p:nvSpPr>
        <p:spPr>
          <a:xfrm>
            <a:off x="562356" y="1417319"/>
            <a:ext cx="3017520" cy="265176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8660" y="1527048"/>
            <a:ext cx="2724912" cy="384048"/>
          </a:xfrm>
          <a:prstGeom prst="rect">
            <a:avLst/>
          </a:prstGeom>
          <a:noFill/>
        </p:spPr>
        <p:txBody>
          <a:bodyPr wrap="square" anchor="t" lIns="0" rIns="0" tIns="0" bIns="0">
            <a:noAutofit/>
          </a:bodyPr>
          <a:lstStyle/>
          <a:p>
            <a:pPr algn="l"/>
            <a:r>
              <a:rPr sz="800" b="1" i="0">
                <a:solidFill>
                  <a:srgbClr val="0E2356"/>
                </a:solidFill>
                <a:latin typeface="Outfit"/>
              </a:rPr>
              <a:t>POSTE DU CONSULTANT</a:t>
            </a:r>
          </a:p>
          <a:p>
            <a:pPr algn="l">
              <a:spcBef>
                <a:spcPts val="200"/>
              </a:spcBef>
            </a:pPr>
            <a:r>
              <a:rPr sz="700" b="0" i="0">
                <a:solidFill>
                  <a:srgbClr val="586586"/>
                </a:solidFill>
                <a:latin typeface="Outfit"/>
              </a:rPr>
              <a:t>Le module IAP · 11 workflows outillés</a:t>
            </a:r>
          </a:p>
        </p:txBody>
      </p:sp>
      <p:sp>
        <p:nvSpPr>
          <p:cNvPr id="6" name="Rounded Rectangle 5"/>
          <p:cNvSpPr/>
          <p:nvPr/>
        </p:nvSpPr>
        <p:spPr>
          <a:xfrm>
            <a:off x="708660"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COLLECTE</a:t>
            </a:r>
          </a:p>
        </p:txBody>
      </p:sp>
      <p:sp>
        <p:nvSpPr>
          <p:cNvPr id="8" name="Rounded Rectangle 7"/>
          <p:cNvSpPr/>
          <p:nvPr/>
        </p:nvSpPr>
        <p:spPr>
          <a:xfrm>
            <a:off x="2116836"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16836"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DIAGNOSTIC</a:t>
            </a:r>
          </a:p>
        </p:txBody>
      </p:sp>
      <p:sp>
        <p:nvSpPr>
          <p:cNvPr id="10" name="Rounded Rectangle 9"/>
          <p:cNvSpPr/>
          <p:nvPr/>
        </p:nvSpPr>
        <p:spPr>
          <a:xfrm>
            <a:off x="708660"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CONCEPTION</a:t>
            </a:r>
          </a:p>
        </p:txBody>
      </p:sp>
      <p:sp>
        <p:nvSpPr>
          <p:cNvPr id="12" name="Rounded Rectangle 11"/>
          <p:cNvSpPr/>
          <p:nvPr/>
        </p:nvSpPr>
        <p:spPr>
          <a:xfrm>
            <a:off x="2116836"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16836"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RESTITUTION</a:t>
            </a:r>
          </a:p>
        </p:txBody>
      </p:sp>
      <p:sp>
        <p:nvSpPr>
          <p:cNvPr id="14" name="TextBox 13"/>
          <p:cNvSpPr txBox="1"/>
          <p:nvPr/>
        </p:nvSpPr>
        <p:spPr>
          <a:xfrm>
            <a:off x="708660" y="2679192"/>
            <a:ext cx="2724912" cy="365760"/>
          </a:xfrm>
          <a:prstGeom prst="rect">
            <a:avLst/>
          </a:prstGeom>
          <a:noFill/>
        </p:spPr>
        <p:txBody>
          <a:bodyPr wrap="square" anchor="t" lIns="0" rIns="0" tIns="0" bIns="0">
            <a:noAutofit/>
          </a:bodyPr>
          <a:lstStyle/>
          <a:p>
            <a:pPr algn="l">
              <a:lnSpc>
                <a:spcPct val="120000"/>
              </a:lnSpc>
            </a:pPr>
            <a:r>
              <a:rPr sz="650" b="0" i="1">
                <a:solidFill>
                  <a:srgbClr val="586586"/>
                </a:solidFill>
                <a:latin typeface="Outfit"/>
              </a:rPr>
              <a:t>Mêmes étapes que le schéma de fonctionnement (chapitre Démarche) — fonctionne aussi sans IA externe si le gate l'impose (mode M0).</a:t>
            </a:r>
          </a:p>
        </p:txBody>
      </p:sp>
      <p:sp>
        <p:nvSpPr>
          <p:cNvPr id="15" name="Rounded Rectangle 14"/>
          <p:cNvSpPr/>
          <p:nvPr/>
        </p:nvSpPr>
        <p:spPr>
          <a:xfrm>
            <a:off x="672084" y="3392423"/>
            <a:ext cx="2798064" cy="56692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 y="3392423"/>
            <a:ext cx="2578608" cy="566928"/>
          </a:xfrm>
          <a:prstGeom prst="rect">
            <a:avLst/>
          </a:prstGeom>
          <a:noFill/>
        </p:spPr>
        <p:txBody>
          <a:bodyPr wrap="square" anchor="ctr" lIns="0" rIns="0" tIns="0" bIns="0">
            <a:noAutofit/>
          </a:bodyPr>
          <a:lstStyle/>
          <a:p>
            <a:pPr algn="l"/>
            <a:r>
              <a:rPr sz="700" b="1" i="0">
                <a:solidFill>
                  <a:srgbClr val="FFFFFF"/>
                </a:solidFill>
                <a:latin typeface="Outfit"/>
              </a:rPr>
              <a:t>GATE CONFIDENTIALITÉ — BLOQUANT</a:t>
            </a:r>
          </a:p>
          <a:p>
            <a:pPr algn="l">
              <a:lnSpc>
                <a:spcPct val="115000"/>
              </a:lnSpc>
              <a:spcBef>
                <a:spcPts val="200"/>
              </a:spcBef>
            </a:pPr>
            <a:r>
              <a:rPr sz="650" b="0" i="0">
                <a:solidFill>
                  <a:srgbClr val="C7CBE0"/>
                </a:solidFill>
                <a:latin typeface="Outfit"/>
              </a:rPr>
              <a:t>Classe la donnée (D0-D4) avant tout usage IA sur donnée client</a:t>
            </a:r>
          </a:p>
        </p:txBody>
      </p:sp>
      <p:sp>
        <p:nvSpPr>
          <p:cNvPr id="17" name="TextBox 16"/>
          <p:cNvSpPr txBox="1"/>
          <p:nvPr/>
        </p:nvSpPr>
        <p:spPr>
          <a:xfrm>
            <a:off x="3689604" y="1417319"/>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18" name="TextBox 17"/>
          <p:cNvSpPr txBox="1"/>
          <p:nvPr/>
        </p:nvSpPr>
        <p:spPr>
          <a:xfrm>
            <a:off x="3634740" y="1691639"/>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COLLECTE ENTRANTE</a:t>
            </a:r>
          </a:p>
          <a:p>
            <a:pPr algn="ctr">
              <a:lnSpc>
                <a:spcPct val="110000"/>
              </a:lnSpc>
              <a:spcBef>
                <a:spcPts val="100"/>
              </a:spcBef>
            </a:pPr>
            <a:r>
              <a:rPr sz="600" b="0" i="0">
                <a:solidFill>
                  <a:srgbClr val="586586"/>
                </a:solidFill>
                <a:latin typeface="Outfit"/>
              </a:rPr>
              <a:t>interviews · exports d'outils</a:t>
            </a:r>
          </a:p>
        </p:txBody>
      </p:sp>
      <p:sp>
        <p:nvSpPr>
          <p:cNvPr id="19" name="TextBox 18"/>
          <p:cNvSpPr txBox="1"/>
          <p:nvPr/>
        </p:nvSpPr>
        <p:spPr>
          <a:xfrm>
            <a:off x="3689604" y="2414015"/>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0" name="TextBox 19"/>
          <p:cNvSpPr txBox="1"/>
          <p:nvPr/>
        </p:nvSpPr>
        <p:spPr>
          <a:xfrm>
            <a:off x="3634740" y="2688335"/>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LIVRABLES SORTANTS</a:t>
            </a:r>
          </a:p>
          <a:p>
            <a:pPr algn="ctr">
              <a:lnSpc>
                <a:spcPct val="110000"/>
              </a:lnSpc>
              <a:spcBef>
                <a:spcPts val="100"/>
              </a:spcBef>
            </a:pPr>
            <a:r>
              <a:rPr sz="600" b="0" i="0">
                <a:solidFill>
                  <a:srgbClr val="586586"/>
                </a:solidFill>
                <a:latin typeface="Outfit"/>
              </a:rPr>
              <a:t>deck exécutif · export markdown</a:t>
            </a:r>
          </a:p>
        </p:txBody>
      </p:sp>
      <p:sp>
        <p:nvSpPr>
          <p:cNvPr id="21" name="TextBox 20"/>
          <p:cNvSpPr txBox="1"/>
          <p:nvPr/>
        </p:nvSpPr>
        <p:spPr>
          <a:xfrm>
            <a:off x="3689604" y="3410711"/>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2" name="TextBox 21"/>
          <p:cNvSpPr txBox="1"/>
          <p:nvPr/>
        </p:nvSpPr>
        <p:spPr>
          <a:xfrm>
            <a:off x="3634740" y="3685031"/>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AGENTS RETENUS (②/③)</a:t>
            </a:r>
          </a:p>
          <a:p>
            <a:pPr algn="ctr">
              <a:lnSpc>
                <a:spcPct val="110000"/>
              </a:lnSpc>
              <a:spcBef>
                <a:spcPts val="100"/>
              </a:spcBef>
            </a:pPr>
            <a:r>
              <a:rPr sz="600" b="0" i="0">
                <a:solidFill>
                  <a:srgbClr val="586586"/>
                </a:solidFill>
                <a:latin typeface="Outfit"/>
              </a:rPr>
              <a:t>supervisés puis délégués</a:t>
            </a:r>
          </a:p>
        </p:txBody>
      </p:sp>
      <p:sp>
        <p:nvSpPr>
          <p:cNvPr id="23" name="Rounded Rectangle 22"/>
          <p:cNvSpPr/>
          <p:nvPr/>
        </p:nvSpPr>
        <p:spPr>
          <a:xfrm>
            <a:off x="4988052" y="1417319"/>
            <a:ext cx="3378708" cy="2651760"/>
          </a:xfrm>
          <a:prstGeom prst="roundRect">
            <a:avLst>
              <a:gd name="adj" fmla="val 6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4356" y="1527048"/>
            <a:ext cx="3086100" cy="219456"/>
          </a:xfrm>
          <a:prstGeom prst="rect">
            <a:avLst/>
          </a:prstGeom>
          <a:noFill/>
        </p:spPr>
        <p:txBody>
          <a:bodyPr wrap="square" anchor="t" lIns="0" rIns="0" tIns="0" bIns="0">
            <a:noAutofit/>
          </a:bodyPr>
          <a:lstStyle/>
          <a:p>
            <a:pPr algn="l"/>
            <a:r>
              <a:rPr sz="800" b="1" i="0">
                <a:solidFill>
                  <a:srgbClr val="0E2356"/>
                </a:solidFill>
                <a:latin typeface="Outfit"/>
              </a:rPr>
              <a:t>CONTEXTE CLIENT</a:t>
            </a:r>
          </a:p>
        </p:txBody>
      </p:sp>
      <p:sp>
        <p:nvSpPr>
          <p:cNvPr id="25" name="Rounded Rectangle 24"/>
          <p:cNvSpPr/>
          <p:nvPr/>
        </p:nvSpPr>
        <p:spPr>
          <a:xfrm>
            <a:off x="5134356" y="1801367"/>
            <a:ext cx="3086100"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4084" y="1801367"/>
            <a:ext cx="2866644" cy="502920"/>
          </a:xfrm>
          <a:prstGeom prst="rect">
            <a:avLst/>
          </a:prstGeom>
          <a:noFill/>
        </p:spPr>
        <p:txBody>
          <a:bodyPr wrap="square" anchor="ctr" lIns="0" rIns="0" tIns="0" bIns="0">
            <a:noAutofit/>
          </a:bodyPr>
          <a:lstStyle/>
          <a:p>
            <a:pPr algn="l"/>
            <a:r>
              <a:rPr sz="700" b="1" i="0">
                <a:solidFill>
                  <a:srgbClr val="0E2356"/>
                </a:solidFill>
                <a:latin typeface="Outfit"/>
              </a:rPr>
              <a:t>SPONSOR &amp; ÉQUIPES INTERVIEWÉES</a:t>
            </a:r>
          </a:p>
          <a:p>
            <a:pPr algn="l">
              <a:lnSpc>
                <a:spcPct val="115000"/>
              </a:lnSpc>
              <a:spcBef>
                <a:spcPts val="100"/>
              </a:spcBef>
            </a:pPr>
            <a:r>
              <a:rPr sz="650" b="0" i="0">
                <a:solidFill>
                  <a:srgbClr val="586586"/>
                </a:solidFill>
                <a:latin typeface="Outfit"/>
              </a:rPr>
              <a:t>les voix du diagnostic — interviews par persona</a:t>
            </a:r>
          </a:p>
        </p:txBody>
      </p:sp>
      <p:sp>
        <p:nvSpPr>
          <p:cNvPr id="27" name="Rounded Rectangle 26"/>
          <p:cNvSpPr/>
          <p:nvPr/>
        </p:nvSpPr>
        <p:spPr>
          <a:xfrm>
            <a:off x="5134356" y="2395727"/>
            <a:ext cx="3086100"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4084" y="2395727"/>
            <a:ext cx="2866644" cy="658368"/>
          </a:xfrm>
          <a:prstGeom prst="rect">
            <a:avLst/>
          </a:prstGeom>
          <a:noFill/>
        </p:spPr>
        <p:txBody>
          <a:bodyPr wrap="square" anchor="ctr" lIns="0" rIns="0" tIns="0" bIns="0">
            <a:noAutofit/>
          </a:bodyPr>
          <a:lstStyle/>
          <a:p>
            <a:pPr algn="l"/>
            <a:r>
              <a:rPr sz="700" b="1" i="0">
                <a:solidFill>
                  <a:srgbClr val="0E2356"/>
                </a:solidFill>
                <a:latin typeface="Outfit"/>
              </a:rPr>
              <a:t>SI CLIENT</a:t>
            </a:r>
          </a:p>
          <a:p>
            <a:pPr algn="l">
              <a:lnSpc>
                <a:spcPct val="115000"/>
              </a:lnSpc>
              <a:spcBef>
                <a:spcPts val="100"/>
              </a:spcBef>
            </a:pPr>
            <a:r>
              <a:rPr sz="650" b="0" i="0">
                <a:solidFill>
                  <a:srgbClr val="586586"/>
                </a:solidFill>
                <a:latin typeface="Outfit"/>
              </a:rPr>
              <a:t>ServiceNow · Jira · Confluence · Datadog · CMDB · FinOps — accès selon l'ambition A/B/C (slides suivantes)</a:t>
            </a:r>
          </a:p>
        </p:txBody>
      </p:sp>
      <p:sp>
        <p:nvSpPr>
          <p:cNvPr id="29" name="Rounded Rectangle 28"/>
          <p:cNvSpPr/>
          <p:nvPr/>
        </p:nvSpPr>
        <p:spPr>
          <a:xfrm>
            <a:off x="5134356" y="3163824"/>
            <a:ext cx="3086100" cy="777239"/>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4084" y="3163824"/>
            <a:ext cx="2866644" cy="777239"/>
          </a:xfrm>
          <a:prstGeom prst="rect">
            <a:avLst/>
          </a:prstGeom>
          <a:noFill/>
        </p:spPr>
        <p:txBody>
          <a:bodyPr wrap="square" anchor="ctr" lIns="0" rIns="0" tIns="0" bIns="0">
            <a:noAutofit/>
          </a:bodyPr>
          <a:lstStyle/>
          <a:p>
            <a:pPr algn="l"/>
            <a:r>
              <a:rPr sz="700" b="1" i="0">
                <a:solidFill>
                  <a:srgbClr val="FFFFFF"/>
                </a:solidFill>
                <a:latin typeface="Outfit"/>
              </a:rPr>
              <a:t>DÉPLOIEMENT AGENTIC CHEZ LE CLIENT</a:t>
            </a:r>
          </a:p>
          <a:p>
            <a:pPr algn="l">
              <a:lnSpc>
                <a:spcPct val="120000"/>
              </a:lnSpc>
              <a:spcBef>
                <a:spcPts val="200"/>
              </a:spcBef>
            </a:pPr>
            <a:r>
              <a:rPr sz="650" b="0" i="0">
                <a:solidFill>
                  <a:srgbClr val="CFD3DD"/>
                </a:solidFill>
                <a:latin typeface="Outfit"/>
              </a:rPr>
              <a:t>Les agents candidats retenus se déploient ici en ②/③ — supervisés puis délégués</a:t>
            </a:r>
          </a:p>
        </p:txBody>
      </p:sp>
      <p:sp>
        <p:nvSpPr>
          <p:cNvPr id="31" name="Rounded Rectangle 30"/>
          <p:cNvSpPr/>
          <p:nvPr/>
        </p:nvSpPr>
        <p:spPr>
          <a:xfrm>
            <a:off x="562356" y="4215383"/>
            <a:ext cx="7804404" cy="603504"/>
          </a:xfrm>
          <a:prstGeom prst="roundRect">
            <a:avLst>
              <a:gd name="adj" fmla="val 1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 y="4215383"/>
            <a:ext cx="7438644" cy="603504"/>
          </a:xfrm>
          <a:prstGeom prst="rect">
            <a:avLst/>
          </a:prstGeom>
          <a:noFill/>
        </p:spPr>
        <p:txBody>
          <a:bodyPr wrap="square" anchor="ctr" lIns="0" rIns="0" tIns="0" bIns="0">
            <a:noAutofit/>
          </a:bodyPr>
          <a:lstStyle/>
          <a:p>
            <a:pPr algn="l"/>
            <a:r>
              <a:rPr sz="700" b="1" i="0">
                <a:solidFill>
                  <a:srgbClr val="0E2356"/>
                </a:solidFill>
                <a:latin typeface="Outfit"/>
              </a:rPr>
              <a:t>QUATRE PROPOSITIONS DE DÉPLOIEMENT AGENTIC — DÉTAILLÉES AU CHAPITRE IA</a:t>
            </a:r>
          </a:p>
          <a:p>
            <a:pPr algn="l">
              <a:lnSpc>
                <a:spcPct val="120000"/>
              </a:lnSpc>
              <a:spcBef>
                <a:spcPts val="200"/>
              </a:spcBef>
            </a:pPr>
            <a:r>
              <a:rPr sz="700" b="0" i="0">
                <a:solidFill>
                  <a:srgbClr val="0E2356"/>
                </a:solidFill>
                <a:latin typeface="Outfit"/>
              </a:rPr>
              <a:t>Agent de triage RUN · veille FinOps · agent documentaire (RAG) · export markdown (qui porte la décision agentic/documentation) — chacune porte le badge « déploiement agentic chez le client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OUTILLAGE IAP   ·   </a:t>
            </a:r>
            <a:r>
              <a:rPr b="1" sz="1550">
                <a:solidFill>
                  <a:srgbClr val="0E2356"/>
                </a:solidFill>
                <a:latin typeface="Outfit"/>
              </a:rPr>
              <a:t>Trois niveaux d'ambition, pas un spectre linéaire</a:t>
            </a:r>
          </a:p>
        </p:txBody>
      </p:sp>
      <p:sp>
        <p:nvSpPr>
          <p:cNvPr id="3" name="Rounded Rectangle 2"/>
          <p:cNvSpPr/>
          <p:nvPr/>
        </p:nvSpPr>
        <p:spPr>
          <a:xfrm>
            <a:off x="562356" y="1463039"/>
            <a:ext cx="2479548" cy="1686560"/>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63039"/>
            <a:ext cx="64008" cy="16865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00199"/>
            <a:ext cx="2113788" cy="320040"/>
          </a:xfrm>
          <a:prstGeom prst="rect">
            <a:avLst/>
          </a:prstGeom>
          <a:noFill/>
        </p:spPr>
        <p:txBody>
          <a:bodyPr wrap="square" anchor="t" lIns="0" rIns="0" tIns="0" bIns="0">
            <a:noAutofit/>
          </a:bodyPr>
          <a:lstStyle/>
          <a:p>
            <a:pPr algn="l"/>
            <a:r>
              <a:rPr sz="1050" b="1" i="0">
                <a:solidFill>
                  <a:srgbClr val="FFFFFF"/>
                </a:solidFill>
                <a:latin typeface="Outfit"/>
              </a:rPr>
              <a:t>A · Aide au coach</a:t>
            </a:r>
          </a:p>
        </p:txBody>
      </p:sp>
      <p:sp>
        <p:nvSpPr>
          <p:cNvPr id="6" name="TextBox 5"/>
          <p:cNvSpPr txBox="1"/>
          <p:nvPr/>
        </p:nvSpPr>
        <p:spPr>
          <a:xfrm>
            <a:off x="745236" y="1965960"/>
            <a:ext cx="2113788" cy="689864"/>
          </a:xfrm>
          <a:prstGeom prst="rect">
            <a:avLst/>
          </a:prstGeom>
          <a:noFill/>
        </p:spPr>
        <p:txBody>
          <a:bodyPr wrap="square" anchor="t" lIns="0" rIns="0" tIns="0" bIns="0">
            <a:noAutofit/>
          </a:bodyPr>
          <a:lstStyle/>
          <a:p>
            <a:pPr algn="l">
              <a:lnSpc>
                <a:spcPct val="125000"/>
              </a:lnSpc>
            </a:pPr>
            <a:r>
              <a:rPr sz="800" b="0" i="0">
                <a:solidFill>
                  <a:srgbClr val="E8EBF5"/>
                </a:solidFill>
                <a:latin typeface="Outfit"/>
              </a:rPr>
              <a:t>Génère un livrable à la demande — aucune initiative propre. Le consultant pilote à 100 %.</a:t>
            </a:r>
          </a:p>
        </p:txBody>
      </p:sp>
      <p:sp>
        <p:nvSpPr>
          <p:cNvPr id="7" name="TextBox 6"/>
          <p:cNvSpPr txBox="1"/>
          <p:nvPr/>
        </p:nvSpPr>
        <p:spPr>
          <a:xfrm>
            <a:off x="745236" y="2765552"/>
            <a:ext cx="2113788" cy="274320"/>
          </a:xfrm>
          <a:prstGeom prst="rect">
            <a:avLst/>
          </a:prstGeom>
          <a:noFill/>
        </p:spPr>
        <p:txBody>
          <a:bodyPr wrap="square" anchor="t" lIns="0" rIns="0" tIns="0" bIns="0">
            <a:noAutofit/>
          </a:bodyPr>
          <a:lstStyle/>
          <a:p>
            <a:pPr algn="l"/>
            <a:r>
              <a:rPr sz="800" b="1" i="0">
                <a:solidFill>
                  <a:srgbClr val="FFFFFF"/>
                </a:solidFill>
                <a:latin typeface="Outfit"/>
              </a:rPr>
              <a:t>État actuel du cadrage (MVP0–MVP5)</a:t>
            </a:r>
          </a:p>
        </p:txBody>
      </p:sp>
      <p:sp>
        <p:nvSpPr>
          <p:cNvPr id="8" name="Rounded Rectangle 7"/>
          <p:cNvSpPr/>
          <p:nvPr/>
        </p:nvSpPr>
        <p:spPr>
          <a:xfrm>
            <a:off x="3224783"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24783"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7664"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B · Assistant interactif</a:t>
            </a:r>
          </a:p>
        </p:txBody>
      </p:sp>
      <p:sp>
        <p:nvSpPr>
          <p:cNvPr id="11" name="TextBox 10"/>
          <p:cNvSpPr txBox="1"/>
          <p:nvPr/>
        </p:nvSpPr>
        <p:spPr>
          <a:xfrm>
            <a:off x="3407664"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Guide pas à pas, pose des questions de clarification, signale les incohérences.</a:t>
            </a:r>
          </a:p>
        </p:txBody>
      </p:sp>
      <p:sp>
        <p:nvSpPr>
          <p:cNvPr id="12" name="TextBox 11"/>
          <p:cNvSpPr txBox="1"/>
          <p:nvPr/>
        </p:nvSpPr>
        <p:spPr>
          <a:xfrm>
            <a:off x="3407664"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Palier intermédiaire, entre MVP5 et MVP6</a:t>
            </a:r>
          </a:p>
        </p:txBody>
      </p:sp>
      <p:sp>
        <p:nvSpPr>
          <p:cNvPr id="13" name="Rounded Rectangle 12"/>
          <p:cNvSpPr/>
          <p:nvPr/>
        </p:nvSpPr>
        <p:spPr>
          <a:xfrm>
            <a:off x="5887212"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7212"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0092"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C · Companion connecté</a:t>
            </a:r>
          </a:p>
        </p:txBody>
      </p:sp>
      <p:sp>
        <p:nvSpPr>
          <p:cNvPr id="16" name="TextBox 15"/>
          <p:cNvSpPr txBox="1"/>
          <p:nvPr/>
        </p:nvSpPr>
        <p:spPr>
          <a:xfrm>
            <a:off x="6070092"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Connecté en direct à ServiceNow/Jira/Confluence/Datadog/CMDB/FinOps : quasi autonome sur la collecte et la préparation — jamais sur l'arbitrage.</a:t>
            </a:r>
          </a:p>
        </p:txBody>
      </p:sp>
      <p:sp>
        <p:nvSpPr>
          <p:cNvPr id="17" name="TextBox 16"/>
          <p:cNvSpPr txBox="1"/>
          <p:nvPr/>
        </p:nvSpPr>
        <p:spPr>
          <a:xfrm>
            <a:off x="6070092"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 MVP6, non engagé</a:t>
            </a:r>
          </a:p>
        </p:txBody>
      </p:sp>
      <p:sp>
        <p:nvSpPr>
          <p:cNvPr id="18" name="TextBox 17"/>
          <p:cNvSpPr txBox="1"/>
          <p:nvPr/>
        </p:nvSpPr>
        <p:spPr>
          <a:xfrm>
            <a:off x="562356" y="3314192"/>
            <a:ext cx="7804404" cy="1669287"/>
          </a:xfrm>
          <a:prstGeom prst="rect">
            <a:avLst/>
          </a:prstGeom>
          <a:noFill/>
        </p:spPr>
        <p:txBody>
          <a:bodyPr wrap="square" anchor="t" lIns="0" rIns="0" tIns="0" bIns="0">
            <a:noAutofit/>
          </a:bodyPr>
          <a:lstStyle/>
          <a:p>
            <a:pPr algn="l">
              <a:lnSpc>
                <a:spcPct val="130000"/>
              </a:lnSpc>
            </a:pPr>
            <a:r>
              <a:rPr sz="800" b="0" i="1">
                <a:solidFill>
                  <a:srgbClr val="586586"/>
                </a:solidFill>
                <a:latin typeface="Outfit"/>
              </a:rPr>
              <a:t>Monter de A à C n'est pas qu'une question de fonctionnalités : le niveau C suppose un accès direct aux données de production du client — risque sécurité/confidentialité d'un tout autre ordre. Un cabinet peut durablement rester au niveau A ou B par choix de gouvernance, pas seulement par contrainte technique transitoire. MVP0–6 = jalons de la roadmap de mise en œuvre ; MVP6, le « companion connecté », n'est pas engagé.</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Le lien avec le SI du client change avec le niveau d'ambition, pas la méthode</a:t>
            </a:r>
          </a:p>
        </p:txBody>
      </p:sp>
      <p:sp>
        <p:nvSpPr>
          <p:cNvPr id="3" name="Rounded Rectangle 2"/>
          <p:cNvSpPr/>
          <p:nvPr/>
        </p:nvSpPr>
        <p:spPr>
          <a:xfrm>
            <a:off x="562356" y="1425448"/>
            <a:ext cx="7804404" cy="847344"/>
          </a:xfrm>
          <a:prstGeom prst="roundRect">
            <a:avLst>
              <a:gd name="adj" fmla="val 8000"/>
            </a:avLst>
          </a:prstGeom>
          <a:solidFill>
            <a:srgbClr val="DB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25448"/>
            <a:ext cx="54864" cy="84734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3524" y="1657096"/>
            <a:ext cx="384048" cy="38404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657096"/>
            <a:ext cx="384048" cy="384048"/>
          </a:xfrm>
          <a:prstGeom prst="rect">
            <a:avLst/>
          </a:prstGeom>
          <a:noFill/>
        </p:spPr>
        <p:txBody>
          <a:bodyPr wrap="square" anchor="ctr" lIns="0" rIns="0" tIns="0" bIns="0">
            <a:noAutofit/>
          </a:bodyPr>
          <a:lstStyle/>
          <a:p>
            <a:pPr algn="ctr"/>
            <a:r>
              <a:rPr sz="1400" b="1" i="0">
                <a:solidFill>
                  <a:srgbClr val="FFFFFF"/>
                </a:solidFill>
                <a:latin typeface="Outfit"/>
              </a:rPr>
              <a:t>A</a:t>
            </a:r>
          </a:p>
        </p:txBody>
      </p:sp>
      <p:sp>
        <p:nvSpPr>
          <p:cNvPr id="7" name="TextBox 6"/>
          <p:cNvSpPr txBox="1"/>
          <p:nvPr/>
        </p:nvSpPr>
        <p:spPr>
          <a:xfrm>
            <a:off x="1275588" y="1425448"/>
            <a:ext cx="1069848" cy="847344"/>
          </a:xfrm>
          <a:prstGeom prst="rect">
            <a:avLst/>
          </a:prstGeom>
          <a:noFill/>
        </p:spPr>
        <p:txBody>
          <a:bodyPr wrap="square" anchor="ctr" lIns="0" rIns="0" tIns="0" bIns="0">
            <a:noAutofit/>
          </a:bodyPr>
          <a:lstStyle/>
          <a:p>
            <a:pPr algn="l"/>
            <a:r>
              <a:rPr sz="650" b="1" i="0">
                <a:solidFill>
                  <a:srgbClr val="586586"/>
                </a:solidFill>
                <a:latin typeface="Outfit"/>
              </a:rPr>
              <a:t>NIVEAU A</a:t>
            </a:r>
          </a:p>
          <a:p>
            <a:pPr algn="l">
              <a:lnSpc>
                <a:spcPct val="110000"/>
              </a:lnSpc>
              <a:spcBef>
                <a:spcPts val="200"/>
              </a:spcBef>
            </a:pPr>
            <a:r>
              <a:rPr sz="900" b="1" i="0">
                <a:solidFill>
                  <a:srgbClr val="0E2356"/>
                </a:solidFill>
                <a:latin typeface="Outfit"/>
              </a:rPr>
              <a:t>Aide au coach</a:t>
            </a:r>
          </a:p>
        </p:txBody>
      </p:sp>
      <p:sp>
        <p:nvSpPr>
          <p:cNvPr id="8" name="Rectangle 7"/>
          <p:cNvSpPr/>
          <p:nvPr/>
        </p:nvSpPr>
        <p:spPr>
          <a:xfrm>
            <a:off x="2345436"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0028"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ponctuels (ServiceNow/Jira), interviews</a:t>
            </a:r>
          </a:p>
        </p:txBody>
      </p:sp>
      <p:sp>
        <p:nvSpPr>
          <p:cNvPr id="10" name="Rectangle 9"/>
          <p:cNvSpPr/>
          <p:nvPr/>
        </p:nvSpPr>
        <p:spPr>
          <a:xfrm>
            <a:off x="4437888"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Aucune — tout est apporté par le consultant</a:t>
            </a:r>
          </a:p>
        </p:txBody>
      </p:sp>
      <p:sp>
        <p:nvSpPr>
          <p:cNvPr id="12" name="Rectangle 11"/>
          <p:cNvSpPr/>
          <p:nvPr/>
        </p:nvSpPr>
        <p:spPr>
          <a:xfrm>
            <a:off x="6438900"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2052"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Markdown + deck, à la demande</a:t>
            </a:r>
          </a:p>
        </p:txBody>
      </p:sp>
      <p:sp>
        <p:nvSpPr>
          <p:cNvPr id="14" name="Rounded Rectangle 13"/>
          <p:cNvSpPr/>
          <p:nvPr/>
        </p:nvSpPr>
        <p:spPr>
          <a:xfrm>
            <a:off x="562356" y="2419096"/>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419096"/>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 y="2587244"/>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 y="2587244"/>
            <a:ext cx="384048" cy="384048"/>
          </a:xfrm>
          <a:prstGeom prst="rect">
            <a:avLst/>
          </a:prstGeom>
          <a:noFill/>
        </p:spPr>
        <p:txBody>
          <a:bodyPr wrap="square" anchor="ctr" lIns="0" rIns="0" tIns="0" bIns="0">
            <a:noAutofit/>
          </a:bodyPr>
          <a:lstStyle/>
          <a:p>
            <a:pPr algn="ctr"/>
            <a:r>
              <a:rPr sz="1400" b="1" i="0">
                <a:solidFill>
                  <a:srgbClr val="FFFFFF"/>
                </a:solidFill>
                <a:latin typeface="Outfit"/>
              </a:rPr>
              <a:t>B</a:t>
            </a:r>
          </a:p>
        </p:txBody>
      </p:sp>
      <p:sp>
        <p:nvSpPr>
          <p:cNvPr id="18" name="TextBox 17"/>
          <p:cNvSpPr txBox="1"/>
          <p:nvPr/>
        </p:nvSpPr>
        <p:spPr>
          <a:xfrm>
            <a:off x="1275588" y="2419096"/>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B</a:t>
            </a:r>
          </a:p>
          <a:p>
            <a:pPr algn="l">
              <a:lnSpc>
                <a:spcPct val="110000"/>
              </a:lnSpc>
              <a:spcBef>
                <a:spcPts val="200"/>
              </a:spcBef>
            </a:pPr>
            <a:r>
              <a:rPr sz="900" b="1" i="0">
                <a:solidFill>
                  <a:srgbClr val="0E2356"/>
                </a:solidFill>
                <a:latin typeface="Outfit"/>
              </a:rPr>
              <a:t>Assistant interactif</a:t>
            </a:r>
          </a:p>
        </p:txBody>
      </p:sp>
      <p:sp>
        <p:nvSpPr>
          <p:cNvPr id="19" name="Rectangle 18"/>
          <p:cNvSpPr/>
          <p:nvPr/>
        </p:nvSpPr>
        <p:spPr>
          <a:xfrm>
            <a:off x="2345436"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0028"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 App companion (capture terrain)</a:t>
            </a:r>
          </a:p>
        </p:txBody>
      </p:sp>
      <p:sp>
        <p:nvSpPr>
          <p:cNvPr id="21" name="Rectangle 20"/>
          <p:cNvSpPr/>
          <p:nvPr/>
        </p:nvSpPr>
        <p:spPr>
          <a:xfrm>
            <a:off x="4437888"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11040"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Site web centralisé, orchestration assistée</a:t>
            </a:r>
          </a:p>
        </p:txBody>
      </p:sp>
      <p:sp>
        <p:nvSpPr>
          <p:cNvPr id="23" name="Rectangle 22"/>
          <p:cNvSpPr/>
          <p:nvPr/>
        </p:nvSpPr>
        <p:spPr>
          <a:xfrm>
            <a:off x="6438900"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2052"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 tableau de bord multi-engagements</a:t>
            </a:r>
          </a:p>
        </p:txBody>
      </p:sp>
      <p:sp>
        <p:nvSpPr>
          <p:cNvPr id="25" name="Rounded Rectangle 24"/>
          <p:cNvSpPr/>
          <p:nvPr/>
        </p:nvSpPr>
        <p:spPr>
          <a:xfrm>
            <a:off x="562356" y="3285744"/>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2356" y="3285744"/>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3524" y="3453892"/>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 y="3453892"/>
            <a:ext cx="384048" cy="384048"/>
          </a:xfrm>
          <a:prstGeom prst="rect">
            <a:avLst/>
          </a:prstGeom>
          <a:noFill/>
        </p:spPr>
        <p:txBody>
          <a:bodyPr wrap="square" anchor="ctr" lIns="0" rIns="0" tIns="0" bIns="0">
            <a:noAutofit/>
          </a:bodyPr>
          <a:lstStyle/>
          <a:p>
            <a:pPr algn="ctr"/>
            <a:r>
              <a:rPr sz="1400" b="1" i="0">
                <a:solidFill>
                  <a:srgbClr val="FFFFFF"/>
                </a:solidFill>
                <a:latin typeface="Outfit"/>
              </a:rPr>
              <a:t>C</a:t>
            </a:r>
          </a:p>
        </p:txBody>
      </p:sp>
      <p:sp>
        <p:nvSpPr>
          <p:cNvPr id="29" name="TextBox 28"/>
          <p:cNvSpPr txBox="1"/>
          <p:nvPr/>
        </p:nvSpPr>
        <p:spPr>
          <a:xfrm>
            <a:off x="1275588" y="3285744"/>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C</a:t>
            </a:r>
          </a:p>
          <a:p>
            <a:pPr algn="l">
              <a:lnSpc>
                <a:spcPct val="110000"/>
              </a:lnSpc>
              <a:spcBef>
                <a:spcPts val="200"/>
              </a:spcBef>
            </a:pPr>
            <a:r>
              <a:rPr sz="900" b="1" i="0">
                <a:solidFill>
                  <a:srgbClr val="0E2356"/>
                </a:solidFill>
                <a:latin typeface="Outfit"/>
              </a:rPr>
              <a:t>Companion connecté (non engagé)</a:t>
            </a:r>
          </a:p>
        </p:txBody>
      </p:sp>
      <p:sp>
        <p:nvSpPr>
          <p:cNvPr id="30" name="Rectangle 29"/>
          <p:cNvSpPr/>
          <p:nvPr/>
        </p:nvSpPr>
        <p:spPr>
          <a:xfrm>
            <a:off x="2345436"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0028"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ServiceNow/Jira/Confluence/Datadog/CMDB/FinOps</a:t>
            </a:r>
          </a:p>
        </p:txBody>
      </p:sp>
      <p:sp>
        <p:nvSpPr>
          <p:cNvPr id="32" name="Rectangle 31"/>
          <p:cNvSpPr/>
          <p:nvPr/>
        </p:nvSpPr>
        <p:spPr>
          <a:xfrm>
            <a:off x="4437888"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1040"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Connecteurs API directs, en continu</a:t>
            </a:r>
          </a:p>
        </p:txBody>
      </p:sp>
      <p:sp>
        <p:nvSpPr>
          <p:cNvPr id="34" name="Rectangle 33"/>
          <p:cNvSpPr/>
          <p:nvPr/>
        </p:nvSpPr>
        <p:spPr>
          <a:xfrm>
            <a:off x="6438900"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2052"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Livrables mis à jour en continu</a:t>
            </a:r>
          </a:p>
        </p:txBody>
      </p:sp>
      <p:sp>
        <p:nvSpPr>
          <p:cNvPr id="36" name="TextBox 35"/>
          <p:cNvSpPr txBox="1"/>
          <p:nvPr/>
        </p:nvSpPr>
        <p:spPr>
          <a:xfrm>
            <a:off x="562356" y="4152392"/>
            <a:ext cx="7804404" cy="45720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niveau C suppose un accès direct aux données de production du client — un cabinet peut durablement rester au niveau A ou B par choix de gouvernance (slide précédente).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KPI</a:t>
            </a:r>
          </a:p>
          <a:p>
            <a:r>
              <a:rPr sz="1050" i="1">
                <a:solidFill>
                  <a:srgbClr val="586586"/>
                </a:solidFill>
                <a:latin typeface="Outfit"/>
              </a:rPr>
              <a:t>Trois familles de KPIs à ne jamais confondre, leur mise en place, la grille de maturité, et le cas chiffré.</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10</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Trois familles de KPIs, à ne jamais confondre</a:t>
            </a:r>
          </a:p>
        </p:txBody>
      </p:sp>
      <p:sp>
        <p:nvSpPr>
          <p:cNvPr id="3" name="Rounded Rectangle 2"/>
          <p:cNvSpPr/>
          <p:nvPr/>
        </p:nvSpPr>
        <p:spPr>
          <a:xfrm>
            <a:off x="562356"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de mission</a:t>
            </a:r>
          </a:p>
          <a:p>
            <a:pPr algn="l">
              <a:spcBef>
                <a:spcPts val="200"/>
              </a:spcBef>
            </a:pPr>
            <a:r>
              <a:rPr sz="850" b="0" i="1">
                <a:solidFill>
                  <a:srgbClr val="586586"/>
                </a:solidFill>
                <a:latin typeface="Outfit"/>
              </a:rPr>
              <a:t>Côté client</a:t>
            </a:r>
          </a:p>
        </p:txBody>
      </p:sp>
      <p:sp>
        <p:nvSpPr>
          <p:cNvPr id="6" name="TextBox 5"/>
          <p:cNvSpPr txBox="1"/>
          <p:nvPr/>
        </p:nvSpPr>
        <p:spPr>
          <a:xfrm>
            <a:off x="726947"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Gaspillage traité (capacité RUN récupérée)</a:t>
            </a:r>
          </a:p>
          <a:p>
            <a:pPr algn="l">
              <a:lnSpc>
                <a:spcPct val="115000"/>
              </a:lnSpc>
              <a:spcAft>
                <a:spcPts val="400"/>
              </a:spcAft>
            </a:pPr>
            <a:r>
              <a:rPr sz="850" b="0" i="0">
                <a:solidFill>
                  <a:srgbClr val="0E2356"/>
                </a:solidFill>
                <a:latin typeface="Outfit"/>
              </a:rPr>
              <a:t>·  Adoption produit (self-service)</a:t>
            </a:r>
          </a:p>
          <a:p>
            <a:pPr algn="l">
              <a:lnSpc>
                <a:spcPct val="115000"/>
              </a:lnSpc>
              <a:spcAft>
                <a:spcPts val="400"/>
              </a:spcAft>
            </a:pPr>
            <a:r>
              <a:rPr sz="850" b="0" i="0">
                <a:solidFill>
                  <a:srgbClr val="0E2356"/>
                </a:solidFill>
                <a:latin typeface="Outfit"/>
              </a:rPr>
              <a:t>·  Fiabilité &amp; SLA (MTTR, respect des engagements de service, coût/capacité)</a:t>
            </a:r>
          </a:p>
          <a:p>
            <a:pPr algn="l">
              <a:lnSpc>
                <a:spcPct val="115000"/>
              </a:lnSpc>
              <a:spcAft>
                <a:spcPts val="400"/>
              </a:spcAft>
            </a:pPr>
            <a:r>
              <a:rPr sz="850" b="0" i="0">
                <a:solidFill>
                  <a:srgbClr val="0E2356"/>
                </a:solidFill>
                <a:latin typeface="Outfit"/>
              </a:rPr>
              <a:t>·  Gouvernance IA (supervision, incidents)</a:t>
            </a:r>
          </a:p>
          <a:p>
            <a:pPr algn="l">
              <a:lnSpc>
                <a:spcPct val="115000"/>
              </a:lnSpc>
              <a:spcAft>
                <a:spcPts val="400"/>
              </a:spcAft>
            </a:pPr>
            <a:r>
              <a:rPr sz="850" b="0" i="0">
                <a:solidFill>
                  <a:srgbClr val="0E2356"/>
                </a:solidFill>
                <a:latin typeface="Outfit"/>
              </a:rPr>
              <a:t>·  Maturité (delta par pilier, T0→réévaluation)</a:t>
            </a:r>
          </a:p>
        </p:txBody>
      </p:sp>
      <p:sp>
        <p:nvSpPr>
          <p:cNvPr id="7" name="Rounded Rectangle 6"/>
          <p:cNvSpPr/>
          <p:nvPr/>
        </p:nvSpPr>
        <p:spPr>
          <a:xfrm>
            <a:off x="3224783"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9376"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d'usage du module</a:t>
            </a:r>
          </a:p>
          <a:p>
            <a:pPr algn="l">
              <a:spcBef>
                <a:spcPts val="200"/>
              </a:spcBef>
            </a:pPr>
            <a:r>
              <a:rPr sz="850" b="0" i="1">
                <a:solidFill>
                  <a:srgbClr val="586586"/>
                </a:solidFill>
                <a:latin typeface="Outfit"/>
              </a:rPr>
              <a:t>Côté cabinet</a:t>
            </a:r>
          </a:p>
        </p:txBody>
      </p:sp>
      <p:sp>
        <p:nvSpPr>
          <p:cNvPr id="10" name="TextBox 9"/>
          <p:cNvSpPr txBox="1"/>
          <p:nvPr/>
        </p:nvSpPr>
        <p:spPr>
          <a:xfrm>
            <a:off x="3389376"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Accélération (temps pour un cadrage flash)</a:t>
            </a:r>
          </a:p>
          <a:p>
            <a:pPr algn="l">
              <a:lnSpc>
                <a:spcPct val="115000"/>
              </a:lnSpc>
              <a:spcAft>
                <a:spcPts val="400"/>
              </a:spcAft>
            </a:pPr>
            <a:r>
              <a:rPr sz="850" b="0" i="0">
                <a:solidFill>
                  <a:srgbClr val="0E2356"/>
                </a:solidFill>
                <a:latin typeface="Outfit"/>
              </a:rPr>
              <a:t>·  Réutilisation (templates vs ad hoc)</a:t>
            </a:r>
          </a:p>
          <a:p>
            <a:pPr algn="l">
              <a:lnSpc>
                <a:spcPct val="115000"/>
              </a:lnSpc>
              <a:spcAft>
                <a:spcPts val="400"/>
              </a:spcAft>
            </a:pPr>
            <a:r>
              <a:rPr sz="850" b="0" i="0">
                <a:solidFill>
                  <a:srgbClr val="0E2356"/>
                </a:solidFill>
                <a:latin typeface="Outfit"/>
              </a:rPr>
              <a:t>·  Cohérence (écarts détectés par risk-reviewer)</a:t>
            </a:r>
          </a:p>
          <a:p>
            <a:pPr algn="l">
              <a:lnSpc>
                <a:spcPct val="115000"/>
              </a:lnSpc>
              <a:spcAft>
                <a:spcPts val="400"/>
              </a:spcAft>
            </a:pPr>
            <a:r>
              <a:rPr sz="850" b="0" i="0">
                <a:solidFill>
                  <a:srgbClr val="0E2356"/>
                </a:solidFill>
                <a:latin typeface="Outfit"/>
              </a:rPr>
              <a:t>·  Capitalisation (REX ajoutés)</a:t>
            </a:r>
          </a:p>
          <a:p>
            <a:pPr algn="l">
              <a:lnSpc>
                <a:spcPct val="115000"/>
              </a:lnSpc>
              <a:spcAft>
                <a:spcPts val="400"/>
              </a:spcAft>
            </a:pPr>
            <a:r>
              <a:rPr sz="850" b="0" i="0">
                <a:solidFill>
                  <a:srgbClr val="0E2356"/>
                </a:solidFill>
                <a:latin typeface="Outfit"/>
              </a:rPr>
              <a:t>·  Adoption interne (consultants, missions)</a:t>
            </a:r>
          </a:p>
        </p:txBody>
      </p:sp>
      <p:sp>
        <p:nvSpPr>
          <p:cNvPr id="11" name="Rounded Rectangle 10"/>
          <p:cNvSpPr/>
          <p:nvPr/>
        </p:nvSpPr>
        <p:spPr>
          <a:xfrm>
            <a:off x="5887212" y="1741392"/>
            <a:ext cx="2479548" cy="2552255"/>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87212" y="1741392"/>
            <a:ext cx="64008" cy="2552255"/>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51804" y="1887696"/>
            <a:ext cx="2150364" cy="502920"/>
          </a:xfrm>
          <a:prstGeom prst="rect">
            <a:avLst/>
          </a:prstGeom>
          <a:noFill/>
        </p:spPr>
        <p:txBody>
          <a:bodyPr wrap="square" anchor="t" lIns="0" rIns="0" tIns="0" bIns="0">
            <a:noAutofit/>
          </a:bodyPr>
          <a:lstStyle/>
          <a:p>
            <a:pPr algn="l">
              <a:lnSpc>
                <a:spcPct val="105000"/>
              </a:lnSpc>
            </a:pPr>
            <a:r>
              <a:rPr sz="1050" b="1" i="0">
                <a:solidFill>
                  <a:srgbClr val="FFFFFF"/>
                </a:solidFill>
                <a:latin typeface="Outfit"/>
              </a:rPr>
              <a:t>Grille de maturité</a:t>
            </a:r>
          </a:p>
          <a:p>
            <a:pPr algn="l">
              <a:spcBef>
                <a:spcPts val="200"/>
              </a:spcBef>
            </a:pPr>
            <a:r>
              <a:rPr sz="850" b="0" i="1">
                <a:solidFill>
                  <a:srgbClr val="AEB6D4"/>
                </a:solidFill>
                <a:latin typeface="Outfit"/>
              </a:rPr>
              <a:t>Progression dans le temps</a:t>
            </a:r>
          </a:p>
        </p:txBody>
      </p:sp>
      <p:sp>
        <p:nvSpPr>
          <p:cNvPr id="14" name="TextBox 13"/>
          <p:cNvSpPr txBox="1"/>
          <p:nvPr/>
        </p:nvSpPr>
        <p:spPr>
          <a:xfrm>
            <a:off x="6051804"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E8EBF5"/>
                </a:solidFill>
                <a:latin typeface="Outfit"/>
              </a:rPr>
              <a:t>·  Delta par pilier (Excellence Tech., Agilité, IA/Agentic)</a:t>
            </a:r>
          </a:p>
          <a:p>
            <a:pPr algn="l">
              <a:lnSpc>
                <a:spcPct val="115000"/>
              </a:lnSpc>
              <a:spcAft>
                <a:spcPts val="400"/>
              </a:spcAft>
            </a:pPr>
            <a:r>
              <a:rPr sz="850" b="0" i="0">
                <a:solidFill>
                  <a:srgbClr val="E8EBF5"/>
                </a:solidFill>
                <a:latin typeface="Outfit"/>
              </a:rPr>
              <a:t>·  Re-assessment T+6–12 mois</a:t>
            </a:r>
          </a:p>
          <a:p>
            <a:pPr algn="l">
              <a:lnSpc>
                <a:spcPct val="115000"/>
              </a:lnSpc>
              <a:spcAft>
                <a:spcPts val="400"/>
              </a:spcAft>
            </a:pPr>
            <a:r>
              <a:rPr sz="850" b="0" i="0">
                <a:solidFill>
                  <a:srgbClr val="E8EBF5"/>
                </a:solidFill>
                <a:latin typeface="Outfit"/>
              </a:rPr>
              <a:t>·  Score de priorisation ≠ KPI de résultat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KPI   ·   </a:t>
            </a:r>
            <a:r>
              <a:rPr b="1" sz="1550">
                <a:solidFill>
                  <a:srgbClr val="0E2356"/>
                </a:solidFill>
                <a:latin typeface="Outfit"/>
              </a:rPr>
              <a:t>KPIs : pourquoi chaque famille, et quoi mesurer précisément</a:t>
            </a:r>
          </a:p>
        </p:txBody>
      </p:sp>
      <p:sp>
        <p:nvSpPr>
          <p:cNvPr id="3" name="Rounded Rectangle 2"/>
          <p:cNvSpPr/>
          <p:nvPr/>
        </p:nvSpPr>
        <p:spPr>
          <a:xfrm>
            <a:off x="1573530"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573530"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M</a:t>
            </a:r>
          </a:p>
        </p:txBody>
      </p:sp>
      <p:sp>
        <p:nvSpPr>
          <p:cNvPr id="5" name="TextBox 4"/>
          <p:cNvSpPr txBox="1"/>
          <p:nvPr/>
        </p:nvSpPr>
        <p:spPr>
          <a:xfrm>
            <a:off x="562356"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de mission</a:t>
            </a:r>
          </a:p>
        </p:txBody>
      </p:sp>
      <p:sp>
        <p:nvSpPr>
          <p:cNvPr id="6" name="Rounded Rectangle 5"/>
          <p:cNvSpPr/>
          <p:nvPr/>
        </p:nvSpPr>
        <p:spPr>
          <a:xfrm>
            <a:off x="562356"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8" name="TextBox 7"/>
          <p:cNvSpPr txBox="1"/>
          <p:nvPr/>
        </p:nvSpPr>
        <p:spPr>
          <a:xfrm>
            <a:off x="745236"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eux, un deck peut être livré dans les règles sans jamais savoir si le client va réellement mieux — la « transformation cosmétique » appliquée cette fois au résultat.</a:t>
            </a:r>
          </a:p>
        </p:txBody>
      </p:sp>
      <p:sp>
        <p:nvSpPr>
          <p:cNvPr id="9" name="Rectangle 8"/>
          <p:cNvSpPr/>
          <p:nvPr/>
        </p:nvSpPr>
        <p:spPr>
          <a:xfrm>
            <a:off x="745236"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11" name="TextBox 10"/>
          <p:cNvSpPr txBox="1"/>
          <p:nvPr/>
        </p:nvSpPr>
        <p:spPr>
          <a:xfrm>
            <a:off x="745236"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Capacité RUN récupérée en heures/mois ; delta de MTTR en minutes ; SLA/SLO tenus vs promis (iap-product-definition) ; taux de self-service sur la capacité livrée — pas un pourcentage vague.</a:t>
            </a:r>
          </a:p>
        </p:txBody>
      </p:sp>
      <p:sp>
        <p:nvSpPr>
          <p:cNvPr id="12" name="Rounded Rectangle 11"/>
          <p:cNvSpPr/>
          <p:nvPr/>
        </p:nvSpPr>
        <p:spPr>
          <a:xfrm>
            <a:off x="4235957"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35957"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U</a:t>
            </a:r>
          </a:p>
        </p:txBody>
      </p:sp>
      <p:sp>
        <p:nvSpPr>
          <p:cNvPr id="14" name="TextBox 13"/>
          <p:cNvSpPr txBox="1"/>
          <p:nvPr/>
        </p:nvSpPr>
        <p:spPr>
          <a:xfrm>
            <a:off x="3224783"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d'usage du module</a:t>
            </a:r>
          </a:p>
        </p:txBody>
      </p:sp>
      <p:sp>
        <p:nvSpPr>
          <p:cNvPr id="15" name="Rounded Rectangle 14"/>
          <p:cNvSpPr/>
          <p:nvPr/>
        </p:nvSpPr>
        <p:spPr>
          <a:xfrm>
            <a:off x="3224783"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07664"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17" name="TextBox 16"/>
          <p:cNvSpPr txBox="1"/>
          <p:nvPr/>
        </p:nvSpPr>
        <p:spPr>
          <a:xfrm>
            <a:off x="3407664"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Le module est réutilisé mission après mission — sans mesure d'usage, impossible de distinguer une méthode qui s'améliore d'une méthode qui stagne.</a:t>
            </a:r>
          </a:p>
        </p:txBody>
      </p:sp>
      <p:sp>
        <p:nvSpPr>
          <p:cNvPr id="18" name="Rectangle 17"/>
          <p:cNvSpPr/>
          <p:nvPr/>
        </p:nvSpPr>
        <p:spPr>
          <a:xfrm>
            <a:off x="3407664"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07664"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0" name="TextBox 19"/>
          <p:cNvSpPr txBox="1"/>
          <p:nvPr/>
        </p:nvSpPr>
        <p:spPr>
          <a:xfrm>
            <a:off x="3407664"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Temps en heures consultant pour un cadrage flash ; part des livrables issus d'un template sans réécriture substantielle — pas juste « utilisé un template ».</a:t>
            </a:r>
          </a:p>
        </p:txBody>
      </p:sp>
      <p:sp>
        <p:nvSpPr>
          <p:cNvPr id="21" name="Rounded Rectangle 20"/>
          <p:cNvSpPr/>
          <p:nvPr/>
        </p:nvSpPr>
        <p:spPr>
          <a:xfrm>
            <a:off x="6898386" y="1195133"/>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98386"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G</a:t>
            </a:r>
          </a:p>
        </p:txBody>
      </p:sp>
      <p:sp>
        <p:nvSpPr>
          <p:cNvPr id="23" name="TextBox 22"/>
          <p:cNvSpPr txBox="1"/>
          <p:nvPr/>
        </p:nvSpPr>
        <p:spPr>
          <a:xfrm>
            <a:off x="5887212"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Grille de maturité</a:t>
            </a:r>
          </a:p>
        </p:txBody>
      </p:sp>
      <p:sp>
        <p:nvSpPr>
          <p:cNvPr id="24" name="Rounded Rectangle 23"/>
          <p:cNvSpPr/>
          <p:nvPr/>
        </p:nvSpPr>
        <p:spPr>
          <a:xfrm>
            <a:off x="5887212"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70092"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26" name="TextBox 25"/>
          <p:cNvSpPr txBox="1"/>
          <p:nvPr/>
        </p:nvSpPr>
        <p:spPr>
          <a:xfrm>
            <a:off x="6070092"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mesure répétée dans le temps, la maturité reste une opinion de consultant, pas un delta objectivable — ce qui rend la boucle ⟲ vérifiable plutôt que déclarative.</a:t>
            </a:r>
          </a:p>
        </p:txBody>
      </p:sp>
      <p:sp>
        <p:nvSpPr>
          <p:cNvPr id="27" name="Rectangle 26"/>
          <p:cNvSpPr/>
          <p:nvPr/>
        </p:nvSpPr>
        <p:spPr>
          <a:xfrm>
            <a:off x="6070092"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70092"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9" name="TextBox 28"/>
          <p:cNvSpPr txBox="1"/>
          <p:nvPr/>
        </p:nvSpPr>
        <p:spPr>
          <a:xfrm>
            <a:off x="6070092"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Delta par pilier (pas un score agrégé qui masquerait un recul) ; même instrument (grille V3.2) à T0 et à chaque re-assessment.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KPIs : comment on les met en place, concrètement</a:t>
            </a:r>
          </a:p>
        </p:txBody>
      </p:sp>
      <p:sp>
        <p:nvSpPr>
          <p:cNvPr id="3" name="Rounded Rectangle 2"/>
          <p:cNvSpPr/>
          <p:nvPr/>
        </p:nvSpPr>
        <p:spPr>
          <a:xfrm>
            <a:off x="562356" y="1395984"/>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95984"/>
            <a:ext cx="310896" cy="310896"/>
          </a:xfrm>
          <a:prstGeom prst="rect">
            <a:avLst/>
          </a:prstGeom>
          <a:noFill/>
        </p:spPr>
        <p:txBody>
          <a:bodyPr wrap="square" anchor="ctr" lIns="0" rIns="0" tIns="0" bIns="0">
            <a:noAutofit/>
          </a:bodyPr>
          <a:lstStyle/>
          <a:p>
            <a:pPr algn="ctr"/>
            <a:r>
              <a:rPr sz="1100" b="1" i="0">
                <a:solidFill>
                  <a:srgbClr val="FFFFFF"/>
                </a:solidFill>
                <a:latin typeface="Outfit"/>
              </a:rPr>
              <a:t>M</a:t>
            </a:r>
          </a:p>
        </p:txBody>
      </p:sp>
      <p:sp>
        <p:nvSpPr>
          <p:cNvPr id="5" name="TextBox 4"/>
          <p:cNvSpPr txBox="1"/>
          <p:nvPr/>
        </p:nvSpPr>
        <p:spPr>
          <a:xfrm>
            <a:off x="1001268" y="1097280"/>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de mission</a:t>
            </a:r>
          </a:p>
        </p:txBody>
      </p:sp>
      <p:sp>
        <p:nvSpPr>
          <p:cNvPr id="6" name="Rounded Rectangle 5"/>
          <p:cNvSpPr/>
          <p:nvPr/>
        </p:nvSpPr>
        <p:spPr>
          <a:xfrm>
            <a:off x="2125980"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53996"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iap-metrics-sre-finops-lead</a:t>
            </a:r>
          </a:p>
        </p:txBody>
      </p:sp>
      <p:sp>
        <p:nvSpPr>
          <p:cNvPr id="8" name="Chevron 7"/>
          <p:cNvSpPr/>
          <p:nvPr/>
        </p:nvSpPr>
        <p:spPr>
          <a:xfrm>
            <a:off x="4081028"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85488"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3504"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ServiceNow/Jira/CMDB si accès (preuves externes), sinon déclaratif — tagué DÉDUIT</a:t>
            </a:r>
          </a:p>
        </p:txBody>
      </p:sp>
      <p:sp>
        <p:nvSpPr>
          <p:cNvPr id="11" name="Chevron 10"/>
          <p:cNvSpPr/>
          <p:nvPr/>
        </p:nvSpPr>
        <p:spPr>
          <a:xfrm>
            <a:off x="6240536"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4996"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3011"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Continu, lu à chaque étape ②③⟲</a:t>
            </a:r>
          </a:p>
        </p:txBody>
      </p:sp>
      <p:sp>
        <p:nvSpPr>
          <p:cNvPr id="14" name="Rounded Rectangle 13"/>
          <p:cNvSpPr/>
          <p:nvPr/>
        </p:nvSpPr>
        <p:spPr>
          <a:xfrm>
            <a:off x="562356" y="2450592"/>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450592"/>
            <a:ext cx="310896" cy="310896"/>
          </a:xfrm>
          <a:prstGeom prst="rect">
            <a:avLst/>
          </a:prstGeom>
          <a:noFill/>
        </p:spPr>
        <p:txBody>
          <a:bodyPr wrap="square" anchor="ctr" lIns="0" rIns="0" tIns="0" bIns="0">
            <a:noAutofit/>
          </a:bodyPr>
          <a:lstStyle/>
          <a:p>
            <a:pPr algn="ctr"/>
            <a:r>
              <a:rPr sz="1100" b="1" i="0">
                <a:solidFill>
                  <a:srgbClr val="FFFFFF"/>
                </a:solidFill>
                <a:latin typeface="Outfit"/>
              </a:rPr>
              <a:t>U</a:t>
            </a:r>
          </a:p>
        </p:txBody>
      </p:sp>
      <p:sp>
        <p:nvSpPr>
          <p:cNvPr id="16" name="TextBox 15"/>
          <p:cNvSpPr txBox="1"/>
          <p:nvPr/>
        </p:nvSpPr>
        <p:spPr>
          <a:xfrm>
            <a:off x="1001268" y="2151888"/>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d'usage du module</a:t>
            </a:r>
          </a:p>
        </p:txBody>
      </p:sp>
      <p:sp>
        <p:nvSpPr>
          <p:cNvPr id="17" name="Rounded Rectangle 16"/>
          <p:cNvSpPr/>
          <p:nvPr/>
        </p:nvSpPr>
        <p:spPr>
          <a:xfrm>
            <a:off x="2125980"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53996"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Le consultant, au fil des missions</a:t>
            </a:r>
          </a:p>
        </p:txBody>
      </p:sp>
      <p:sp>
        <p:nvSpPr>
          <p:cNvPr id="19" name="Chevron 18"/>
          <p:cNvSpPr/>
          <p:nvPr/>
        </p:nvSpPr>
        <p:spPr>
          <a:xfrm>
            <a:off x="4081028"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85488"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3504"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Journal de mission + bibliothèque de REX</a:t>
            </a:r>
          </a:p>
        </p:txBody>
      </p:sp>
      <p:sp>
        <p:nvSpPr>
          <p:cNvPr id="22" name="Chevron 21"/>
          <p:cNvSpPr/>
          <p:nvPr/>
        </p:nvSpPr>
        <p:spPr>
          <a:xfrm>
            <a:off x="6240536"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44996"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73011"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Par mission, consolidé à MVP5</a:t>
            </a:r>
          </a:p>
        </p:txBody>
      </p:sp>
      <p:sp>
        <p:nvSpPr>
          <p:cNvPr id="25" name="Rounded Rectangle 24"/>
          <p:cNvSpPr/>
          <p:nvPr/>
        </p:nvSpPr>
        <p:spPr>
          <a:xfrm>
            <a:off x="562356" y="3505200"/>
            <a:ext cx="310896" cy="31089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2356" y="3505200"/>
            <a:ext cx="310896" cy="310896"/>
          </a:xfrm>
          <a:prstGeom prst="rect">
            <a:avLst/>
          </a:prstGeom>
          <a:noFill/>
        </p:spPr>
        <p:txBody>
          <a:bodyPr wrap="square" anchor="ctr" lIns="0" rIns="0" tIns="0" bIns="0">
            <a:noAutofit/>
          </a:bodyPr>
          <a:lstStyle/>
          <a:p>
            <a:pPr algn="ctr"/>
            <a:r>
              <a:rPr sz="1100" b="1" i="0">
                <a:solidFill>
                  <a:srgbClr val="FFFFFF"/>
                </a:solidFill>
                <a:latin typeface="Outfit"/>
              </a:rPr>
              <a:t>G</a:t>
            </a:r>
          </a:p>
        </p:txBody>
      </p:sp>
      <p:sp>
        <p:nvSpPr>
          <p:cNvPr id="27" name="TextBox 26"/>
          <p:cNvSpPr txBox="1"/>
          <p:nvPr/>
        </p:nvSpPr>
        <p:spPr>
          <a:xfrm>
            <a:off x="1001268" y="3206496"/>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Grille de maturité</a:t>
            </a:r>
          </a:p>
        </p:txBody>
      </p:sp>
      <p:sp>
        <p:nvSpPr>
          <p:cNvPr id="28" name="Rounded Rectangle 27"/>
          <p:cNvSpPr/>
          <p:nvPr/>
        </p:nvSpPr>
        <p:spPr>
          <a:xfrm>
            <a:off x="2125980"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53996"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iap-strategy-lead</a:t>
            </a:r>
          </a:p>
        </p:txBody>
      </p:sp>
      <p:sp>
        <p:nvSpPr>
          <p:cNvPr id="30" name="Chevron 29"/>
          <p:cNvSpPr/>
          <p:nvPr/>
        </p:nvSpPr>
        <p:spPr>
          <a:xfrm>
            <a:off x="4081028"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285488"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13504"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Grille V3.2 repassée en atelier ou en interview</a:t>
            </a:r>
          </a:p>
        </p:txBody>
      </p:sp>
      <p:sp>
        <p:nvSpPr>
          <p:cNvPr id="33" name="Chevron 32"/>
          <p:cNvSpPr/>
          <p:nvPr/>
        </p:nvSpPr>
        <p:spPr>
          <a:xfrm>
            <a:off x="6240536"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44996"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73011"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T0 (① Assessment flash) puis chaque boucle ⟲</a:t>
            </a:r>
          </a:p>
        </p:txBody>
      </p:sp>
      <p:sp>
        <p:nvSpPr>
          <p:cNvPr id="36" name="Rounded Rectangle 35"/>
          <p:cNvSpPr/>
          <p:nvPr/>
        </p:nvSpPr>
        <p:spPr>
          <a:xfrm>
            <a:off x="562356" y="4261104"/>
            <a:ext cx="7804404" cy="722375"/>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61104"/>
            <a:ext cx="7438644" cy="722375"/>
          </a:xfrm>
          <a:prstGeom prst="rect">
            <a:avLst/>
          </a:prstGeom>
          <a:noFill/>
        </p:spPr>
        <p:txBody>
          <a:bodyPr wrap="square" anchor="ctr" lIns="0" rIns="0" tIns="0" bIns="0">
            <a:noAutofit/>
          </a:bodyPr>
          <a:lstStyle/>
          <a:p>
            <a:pPr algn="l"/>
            <a:r>
              <a:rPr sz="800" b="1" i="0">
                <a:solidFill>
                  <a:srgbClr val="0E2356"/>
                </a:solidFill>
                <a:latin typeface="Outfit"/>
              </a:rPr>
              <a:t>Pas d'instrumentation automatique en MVP1</a:t>
            </a:r>
          </a:p>
          <a:p>
            <a:pPr algn="l">
              <a:lnSpc>
                <a:spcPct val="120000"/>
              </a:lnSpc>
              <a:spcBef>
                <a:spcPts val="300"/>
              </a:spcBef>
            </a:pPr>
            <a:r>
              <a:rPr sz="800" b="0" i="0">
                <a:solidFill>
                  <a:srgbClr val="586586"/>
                </a:solidFill>
                <a:latin typeface="Outfit"/>
              </a:rPr>
              <a:t>Cohérent avec le Niveau A/B assumé (§Ambition de l'outil) : recueil et rapport à la main tant qu'aucun tableau de bord temps réel n'est promis avant le Niveau C.</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KPI   ·   </a:t>
            </a:r>
            <a:r>
              <a:rPr b="1" sz="1250">
                <a:solidFill>
                  <a:srgbClr val="0E2356"/>
                </a:solidFill>
                <a:latin typeface="Outfit"/>
              </a:rPr>
              <a:t>La grille de maturité : deux échelles distinctes, mesurées dans le temps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La 3e famille de KPIs. Deux lectures qui ne mesurent pas la même chose et se lisent séparément ; le KPI de progression, c'est le DELTA par pilier entre T0 et chaque réévaluation — pas le niveau absolu.</a:t>
            </a:r>
          </a:p>
        </p:txBody>
      </p:sp>
      <p:sp>
        <p:nvSpPr>
          <p:cNvPr id="4" name="TextBox 3"/>
          <p:cNvSpPr txBox="1"/>
          <p:nvPr/>
        </p:nvSpPr>
        <p:spPr>
          <a:xfrm>
            <a:off x="562356"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CAPACITÉ IA DU CLIENT (M0–M4)</a:t>
            </a:r>
          </a:p>
          <a:p>
            <a:pPr algn="l">
              <a:lnSpc>
                <a:spcPct val="105000"/>
              </a:lnSpc>
              <a:spcBef>
                <a:spcPts val="200"/>
              </a:spcBef>
            </a:pPr>
            <a:r>
              <a:rPr sz="750" b="0" i="0">
                <a:solidFill>
                  <a:srgbClr val="0E2356"/>
                </a:solidFill>
                <a:latin typeface="Outfit"/>
              </a:rPr>
              <a:t>→ gouverne le choix du modèle IA et le gate</a:t>
            </a:r>
          </a:p>
        </p:txBody>
      </p:sp>
      <p:sp>
        <p:nvSpPr>
          <p:cNvPr id="5" name="Rounded Rectangle 4"/>
          <p:cNvSpPr/>
          <p:nvPr/>
        </p:nvSpPr>
        <p:spPr>
          <a:xfrm>
            <a:off x="562356" y="1984248"/>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84248"/>
            <a:ext cx="566928" cy="530352"/>
          </a:xfrm>
          <a:prstGeom prst="rect">
            <a:avLst/>
          </a:prstGeom>
          <a:noFill/>
        </p:spPr>
        <p:txBody>
          <a:bodyPr wrap="square" anchor="ctr" lIns="0" rIns="0" tIns="0" bIns="0">
            <a:noAutofit/>
          </a:bodyPr>
          <a:lstStyle/>
          <a:p>
            <a:pPr algn="ctr"/>
            <a:r>
              <a:rPr sz="900" b="1" i="0">
                <a:solidFill>
                  <a:srgbClr val="FFFFFF"/>
                </a:solidFill>
                <a:latin typeface="Outfit"/>
              </a:rPr>
              <a:t>M0</a:t>
            </a:r>
          </a:p>
        </p:txBody>
      </p:sp>
      <p:sp>
        <p:nvSpPr>
          <p:cNvPr id="7" name="TextBox 6"/>
          <p:cNvSpPr txBox="1"/>
          <p:nvPr/>
        </p:nvSpPr>
        <p:spPr>
          <a:xfrm>
            <a:off x="1266443" y="1984248"/>
            <a:ext cx="2969514" cy="530352"/>
          </a:xfrm>
          <a:prstGeom prst="rect">
            <a:avLst/>
          </a:prstGeom>
          <a:noFill/>
        </p:spPr>
        <p:txBody>
          <a:bodyPr wrap="square" anchor="ctr" lIns="0" rIns="0" tIns="0" bIns="0">
            <a:noAutofit/>
          </a:bodyPr>
          <a:lstStyle/>
          <a:p>
            <a:pPr algn="l"/>
            <a:r>
              <a:rPr sz="900" b="1" i="0">
                <a:solidFill>
                  <a:srgbClr val="0E2356"/>
                </a:solidFill>
                <a:latin typeface="Outfit"/>
              </a:rPr>
              <a:t>Pas d'IA interne utilisable</a:t>
            </a:r>
          </a:p>
          <a:p>
            <a:pPr algn="l">
              <a:lnSpc>
                <a:spcPct val="110000"/>
              </a:lnSpc>
              <a:spcBef>
                <a:spcPts val="100"/>
              </a:spcBef>
            </a:pPr>
            <a:r>
              <a:rPr sz="800" b="0" i="0">
                <a:solidFill>
                  <a:srgbClr val="586586"/>
                </a:solidFill>
                <a:latin typeface="Outfit"/>
              </a:rPr>
              <a:t>Méthodo générique, données anonymisées</a:t>
            </a:r>
          </a:p>
        </p:txBody>
      </p:sp>
      <p:sp>
        <p:nvSpPr>
          <p:cNvPr id="8" name="Rounded Rectangle 7"/>
          <p:cNvSpPr/>
          <p:nvPr/>
        </p:nvSpPr>
        <p:spPr>
          <a:xfrm>
            <a:off x="562356" y="2569463"/>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569463"/>
            <a:ext cx="566928" cy="530352"/>
          </a:xfrm>
          <a:prstGeom prst="rect">
            <a:avLst/>
          </a:prstGeom>
          <a:noFill/>
        </p:spPr>
        <p:txBody>
          <a:bodyPr wrap="square" anchor="ctr" lIns="0" rIns="0" tIns="0" bIns="0">
            <a:noAutofit/>
          </a:bodyPr>
          <a:lstStyle/>
          <a:p>
            <a:pPr algn="ctr"/>
            <a:r>
              <a:rPr sz="900" b="1" i="0">
                <a:solidFill>
                  <a:srgbClr val="FFFFFF"/>
                </a:solidFill>
                <a:latin typeface="Outfit"/>
              </a:rPr>
              <a:t>M1</a:t>
            </a:r>
          </a:p>
        </p:txBody>
      </p:sp>
      <p:sp>
        <p:nvSpPr>
          <p:cNvPr id="10" name="TextBox 9"/>
          <p:cNvSpPr txBox="1"/>
          <p:nvPr/>
        </p:nvSpPr>
        <p:spPr>
          <a:xfrm>
            <a:off x="1266443" y="2569463"/>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interne basique</a:t>
            </a:r>
          </a:p>
          <a:p>
            <a:pPr algn="l">
              <a:lnSpc>
                <a:spcPct val="110000"/>
              </a:lnSpc>
              <a:spcBef>
                <a:spcPts val="100"/>
              </a:spcBef>
            </a:pPr>
            <a:r>
              <a:rPr sz="800" b="0" i="0">
                <a:solidFill>
                  <a:srgbClr val="586586"/>
                </a:solidFill>
                <a:latin typeface="Outfit"/>
              </a:rPr>
              <a:t>Synthèses internes, pas d'analyse critique auto</a:t>
            </a:r>
          </a:p>
        </p:txBody>
      </p:sp>
      <p:sp>
        <p:nvSpPr>
          <p:cNvPr id="11" name="Rounded Rectangle 10"/>
          <p:cNvSpPr/>
          <p:nvPr/>
        </p:nvSpPr>
        <p:spPr>
          <a:xfrm>
            <a:off x="562356" y="3154679"/>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356" y="3154679"/>
            <a:ext cx="566928" cy="530352"/>
          </a:xfrm>
          <a:prstGeom prst="rect">
            <a:avLst/>
          </a:prstGeom>
          <a:noFill/>
        </p:spPr>
        <p:txBody>
          <a:bodyPr wrap="square" anchor="ctr" lIns="0" rIns="0" tIns="0" bIns="0">
            <a:noAutofit/>
          </a:bodyPr>
          <a:lstStyle/>
          <a:p>
            <a:pPr algn="ctr"/>
            <a:r>
              <a:rPr sz="900" b="1" i="0">
                <a:solidFill>
                  <a:srgbClr val="FFFFFF"/>
                </a:solidFill>
                <a:latin typeface="Outfit"/>
              </a:rPr>
              <a:t>M2</a:t>
            </a:r>
          </a:p>
        </p:txBody>
      </p:sp>
      <p:sp>
        <p:nvSpPr>
          <p:cNvPr id="13" name="TextBox 12"/>
          <p:cNvSpPr txBox="1"/>
          <p:nvPr/>
        </p:nvSpPr>
        <p:spPr>
          <a:xfrm>
            <a:off x="1266443" y="3154679"/>
            <a:ext cx="2969514" cy="530352"/>
          </a:xfrm>
          <a:prstGeom prst="rect">
            <a:avLst/>
          </a:prstGeom>
          <a:noFill/>
        </p:spPr>
        <p:txBody>
          <a:bodyPr wrap="square" anchor="ctr" lIns="0" rIns="0" tIns="0" bIns="0">
            <a:noAutofit/>
          </a:bodyPr>
          <a:lstStyle/>
          <a:p>
            <a:pPr algn="l"/>
            <a:r>
              <a:rPr sz="900" b="1" i="0">
                <a:solidFill>
                  <a:srgbClr val="0E2356"/>
                </a:solidFill>
                <a:latin typeface="Outfit"/>
              </a:rPr>
              <a:t>IA privée avec RAG</a:t>
            </a:r>
          </a:p>
          <a:p>
            <a:pPr algn="l">
              <a:lnSpc>
                <a:spcPct val="110000"/>
              </a:lnSpc>
              <a:spcBef>
                <a:spcPts val="100"/>
              </a:spcBef>
            </a:pPr>
            <a:r>
              <a:rPr sz="800" b="0" i="0">
                <a:solidFill>
                  <a:srgbClr val="586586"/>
                </a:solidFill>
                <a:latin typeface="Outfit"/>
              </a:rPr>
              <a:t>Diagnostic documentaire, consolidation</a:t>
            </a:r>
          </a:p>
        </p:txBody>
      </p:sp>
      <p:sp>
        <p:nvSpPr>
          <p:cNvPr id="14" name="Rounded Rectangle 13"/>
          <p:cNvSpPr/>
          <p:nvPr/>
        </p:nvSpPr>
        <p:spPr>
          <a:xfrm>
            <a:off x="562356" y="3739896"/>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3739896"/>
            <a:ext cx="566928" cy="530352"/>
          </a:xfrm>
          <a:prstGeom prst="rect">
            <a:avLst/>
          </a:prstGeom>
          <a:noFill/>
        </p:spPr>
        <p:txBody>
          <a:bodyPr wrap="square" anchor="ctr" lIns="0" rIns="0" tIns="0" bIns="0">
            <a:noAutofit/>
          </a:bodyPr>
          <a:lstStyle/>
          <a:p>
            <a:pPr algn="ctr"/>
            <a:r>
              <a:rPr sz="900" b="1" i="0">
                <a:solidFill>
                  <a:srgbClr val="FFFFFF"/>
                </a:solidFill>
                <a:latin typeface="Outfit"/>
              </a:rPr>
              <a:t>M3</a:t>
            </a:r>
          </a:p>
        </p:txBody>
      </p:sp>
      <p:sp>
        <p:nvSpPr>
          <p:cNvPr id="16" name="TextBox 15"/>
          <p:cNvSpPr txBox="1"/>
          <p:nvPr/>
        </p:nvSpPr>
        <p:spPr>
          <a:xfrm>
            <a:off x="1266443" y="3739896"/>
            <a:ext cx="2969514" cy="530352"/>
          </a:xfrm>
          <a:prstGeom prst="rect">
            <a:avLst/>
          </a:prstGeom>
          <a:noFill/>
        </p:spPr>
        <p:txBody>
          <a:bodyPr wrap="square" anchor="ctr" lIns="0" rIns="0" tIns="0" bIns="0">
            <a:noAutofit/>
          </a:bodyPr>
          <a:lstStyle/>
          <a:p>
            <a:pPr algn="l"/>
            <a:r>
              <a:rPr sz="900" b="1" i="0">
                <a:solidFill>
                  <a:srgbClr val="0E2356"/>
                </a:solidFill>
                <a:latin typeface="Outfit"/>
              </a:rPr>
              <a:t>Plateforme IA gouvernée</a:t>
            </a:r>
          </a:p>
          <a:p>
            <a:pPr algn="l">
              <a:lnSpc>
                <a:spcPct val="110000"/>
              </a:lnSpc>
              <a:spcBef>
                <a:spcPts val="100"/>
              </a:spcBef>
            </a:pPr>
            <a:r>
              <a:rPr sz="800" b="0" i="0">
                <a:solidFill>
                  <a:srgbClr val="586586"/>
                </a:solidFill>
                <a:latin typeface="Outfit"/>
              </a:rPr>
              <a:t>Workflows agentic contrôlés</a:t>
            </a:r>
          </a:p>
        </p:txBody>
      </p:sp>
      <p:sp>
        <p:nvSpPr>
          <p:cNvPr id="17" name="Rounded Rectangle 16"/>
          <p:cNvSpPr/>
          <p:nvPr/>
        </p:nvSpPr>
        <p:spPr>
          <a:xfrm>
            <a:off x="562356" y="4325112"/>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4325112"/>
            <a:ext cx="566928" cy="530352"/>
          </a:xfrm>
          <a:prstGeom prst="rect">
            <a:avLst/>
          </a:prstGeom>
          <a:noFill/>
        </p:spPr>
        <p:txBody>
          <a:bodyPr wrap="square" anchor="ctr" lIns="0" rIns="0" tIns="0" bIns="0">
            <a:noAutofit/>
          </a:bodyPr>
          <a:lstStyle/>
          <a:p>
            <a:pPr algn="ctr"/>
            <a:r>
              <a:rPr sz="900" b="1" i="0">
                <a:solidFill>
                  <a:srgbClr val="FFFFFF"/>
                </a:solidFill>
                <a:latin typeface="Outfit"/>
              </a:rPr>
              <a:t>M4</a:t>
            </a:r>
          </a:p>
        </p:txBody>
      </p:sp>
      <p:sp>
        <p:nvSpPr>
          <p:cNvPr id="19" name="TextBox 18"/>
          <p:cNvSpPr txBox="1"/>
          <p:nvPr/>
        </p:nvSpPr>
        <p:spPr>
          <a:xfrm>
            <a:off x="1266443" y="4325112"/>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industrielle</a:t>
            </a:r>
          </a:p>
          <a:p>
            <a:pPr algn="l">
              <a:lnSpc>
                <a:spcPct val="110000"/>
              </a:lnSpc>
              <a:spcBef>
                <a:spcPts val="100"/>
              </a:spcBef>
            </a:pPr>
            <a:r>
              <a:rPr sz="800" b="0" i="0">
                <a:solidFill>
                  <a:srgbClr val="586586"/>
                </a:solidFill>
                <a:latin typeface="Outfit"/>
              </a:rPr>
              <a:t>Agents spécialisés à fort volume, contrôle humain</a:t>
            </a:r>
          </a:p>
        </p:txBody>
      </p:sp>
      <p:sp>
        <p:nvSpPr>
          <p:cNvPr id="20" name="TextBox 19"/>
          <p:cNvSpPr txBox="1"/>
          <p:nvPr/>
        </p:nvSpPr>
        <p:spPr>
          <a:xfrm>
            <a:off x="4555998"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MATURITÉ PRODUIT / PLATEFORME (grille V3.2)</a:t>
            </a:r>
          </a:p>
          <a:p>
            <a:pPr algn="l">
              <a:lnSpc>
                <a:spcPct val="105000"/>
              </a:lnSpc>
              <a:spcBef>
                <a:spcPts val="200"/>
              </a:spcBef>
            </a:pPr>
            <a:r>
              <a:rPr sz="750" b="0" i="0">
                <a:solidFill>
                  <a:srgbClr val="0E2356"/>
                </a:solidFill>
                <a:latin typeface="Outfit"/>
              </a:rPr>
              <a:t>→ gouverne la trajectoire de transformation</a:t>
            </a:r>
          </a:p>
        </p:txBody>
      </p:sp>
      <p:sp>
        <p:nvSpPr>
          <p:cNvPr id="21" name="Rounded Rectangle 20"/>
          <p:cNvSpPr/>
          <p:nvPr/>
        </p:nvSpPr>
        <p:spPr>
          <a:xfrm>
            <a:off x="4555998" y="2185416"/>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12030" y="1984248"/>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Équipe Produit</a:t>
            </a:r>
          </a:p>
          <a:p>
            <a:pPr algn="l">
              <a:spcBef>
                <a:spcPts val="100"/>
              </a:spcBef>
            </a:pPr>
            <a:r>
              <a:rPr sz="800" b="0" i="0">
                <a:solidFill>
                  <a:srgbClr val="586586"/>
                </a:solidFill>
                <a:latin typeface="Outfit"/>
              </a:rPr>
              <a:t>Adjacent</a:t>
            </a:r>
          </a:p>
        </p:txBody>
      </p:sp>
      <p:sp>
        <p:nvSpPr>
          <p:cNvPr id="23" name="Rounded Rectangle 22"/>
          <p:cNvSpPr/>
          <p:nvPr/>
        </p:nvSpPr>
        <p:spPr>
          <a:xfrm>
            <a:off x="4555998" y="2770632"/>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12030" y="2569463"/>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Excellence Technique</a:t>
            </a:r>
          </a:p>
          <a:p>
            <a:pPr algn="l">
              <a:spcBef>
                <a:spcPts val="100"/>
              </a:spcBef>
            </a:pPr>
            <a:r>
              <a:rPr sz="800" b="0" i="0">
                <a:solidFill>
                  <a:srgbClr val="0E2356"/>
                </a:solidFill>
                <a:latin typeface="Outfit"/>
              </a:rPr>
              <a:t>Cœur du périmètre</a:t>
            </a:r>
          </a:p>
        </p:txBody>
      </p:sp>
      <p:sp>
        <p:nvSpPr>
          <p:cNvPr id="25" name="Rounded Rectangle 24"/>
          <p:cNvSpPr/>
          <p:nvPr/>
        </p:nvSpPr>
        <p:spPr>
          <a:xfrm>
            <a:off x="4555998" y="3355848"/>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2030" y="3154679"/>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Culture de l'Entreprise Agile</a:t>
            </a:r>
          </a:p>
          <a:p>
            <a:pPr algn="l">
              <a:spcBef>
                <a:spcPts val="100"/>
              </a:spcBef>
            </a:pPr>
            <a:r>
              <a:rPr sz="800" b="0" i="0">
                <a:solidFill>
                  <a:srgbClr val="586586"/>
                </a:solidFill>
                <a:latin typeface="Outfit"/>
              </a:rPr>
              <a:t>Adjacent</a:t>
            </a:r>
          </a:p>
        </p:txBody>
      </p:sp>
      <p:sp>
        <p:nvSpPr>
          <p:cNvPr id="27" name="Rounded Rectangle 26"/>
          <p:cNvSpPr/>
          <p:nvPr/>
        </p:nvSpPr>
        <p:spPr>
          <a:xfrm>
            <a:off x="4555998" y="3941063"/>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12030" y="3739896"/>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Agilité à l'Échelle</a:t>
            </a:r>
          </a:p>
          <a:p>
            <a:pPr algn="l">
              <a:spcBef>
                <a:spcPts val="100"/>
              </a:spcBef>
            </a:pPr>
            <a:r>
              <a:rPr sz="800" b="0" i="0">
                <a:solidFill>
                  <a:srgbClr val="0E2356"/>
                </a:solidFill>
                <a:latin typeface="Outfit"/>
              </a:rPr>
              <a:t>Cœur du périmètre</a:t>
            </a:r>
          </a:p>
        </p:txBody>
      </p:sp>
      <p:sp>
        <p:nvSpPr>
          <p:cNvPr id="29" name="Rounded Rectangle 28"/>
          <p:cNvSpPr/>
          <p:nvPr/>
        </p:nvSpPr>
        <p:spPr>
          <a:xfrm>
            <a:off x="4555998" y="4526279"/>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2030" y="4325112"/>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IA, Agentic et Organisation Augmentée</a:t>
            </a:r>
          </a:p>
          <a:p>
            <a:pPr algn="l">
              <a:spcBef>
                <a:spcPts val="100"/>
              </a:spcBef>
            </a:pPr>
            <a:r>
              <a:rPr sz="800" b="0" i="0">
                <a:solidFill>
                  <a:srgbClr val="0E2356"/>
                </a:solidFill>
                <a:latin typeface="Outfit"/>
              </a:rPr>
              <a:t>Où se lit l'axe IA (M0–M4)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600">
                <a:solidFill>
                  <a:srgbClr val="0E2356"/>
                </a:solidFill>
                <a:latin typeface="Outfit"/>
              </a:rPr>
              <a:t>KPI   ·   </a:t>
            </a:r>
            <a:r>
              <a:rPr b="1" sz="1600">
                <a:solidFill>
                  <a:srgbClr val="0E2356"/>
                </a:solidFill>
                <a:latin typeface="Outfit"/>
              </a:rPr>
              <a:t>KPIs en pratique : le cas nominal RUN massif, avant/après</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800" b="0" i="1">
                <a:solidFill>
                  <a:srgbClr val="586586"/>
                </a:solidFill>
                <a:latin typeface="Outfit"/>
              </a:rPr>
              <a:t>Même fixture illustrative que le cas nominal de l'export markdown (chapitre IA) — pas un client réel.</a:t>
            </a:r>
          </a:p>
        </p:txBody>
      </p:sp>
      <p:sp>
        <p:nvSpPr>
          <p:cNvPr id="4" name="TextBox 3"/>
          <p:cNvSpPr txBox="1"/>
          <p:nvPr/>
        </p:nvSpPr>
        <p:spPr>
          <a:xfrm>
            <a:off x="562356" y="1417319"/>
            <a:ext cx="2606040" cy="219456"/>
          </a:xfrm>
          <a:prstGeom prst="rect">
            <a:avLst/>
          </a:prstGeom>
          <a:noFill/>
        </p:spPr>
        <p:txBody>
          <a:bodyPr wrap="square" anchor="t" lIns="0" rIns="0" tIns="0" bIns="0">
            <a:spAutoFit/>
          </a:bodyPr>
          <a:lstStyle/>
          <a:p>
            <a:r>
              <a:rPr sz="700" b="1">
                <a:solidFill>
                  <a:srgbClr val="586586"/>
                </a:solidFill>
                <a:latin typeface="Outfit"/>
              </a:rPr>
              <a:t>KPI</a:t>
            </a:r>
          </a:p>
        </p:txBody>
      </p:sp>
      <p:sp>
        <p:nvSpPr>
          <p:cNvPr id="5" name="TextBox 4"/>
          <p:cNvSpPr txBox="1"/>
          <p:nvPr/>
        </p:nvSpPr>
        <p:spPr>
          <a:xfrm>
            <a:off x="3278124" y="1417319"/>
            <a:ext cx="1600200" cy="219456"/>
          </a:xfrm>
          <a:prstGeom prst="rect">
            <a:avLst/>
          </a:prstGeom>
          <a:noFill/>
        </p:spPr>
        <p:txBody>
          <a:bodyPr wrap="square" anchor="t" lIns="0" rIns="0" tIns="0" bIns="0">
            <a:spAutoFit/>
          </a:bodyPr>
          <a:lstStyle/>
          <a:p>
            <a:r>
              <a:rPr sz="700" b="1">
                <a:solidFill>
                  <a:srgbClr val="586586"/>
                </a:solidFill>
                <a:latin typeface="Outfit"/>
              </a:rPr>
              <a:t>T0 · ① ASSESSMENT FLASH</a:t>
            </a:r>
          </a:p>
        </p:txBody>
      </p:sp>
      <p:sp>
        <p:nvSpPr>
          <p:cNvPr id="6" name="TextBox 5"/>
          <p:cNvSpPr txBox="1"/>
          <p:nvPr/>
        </p:nvSpPr>
        <p:spPr>
          <a:xfrm>
            <a:off x="4988052" y="1417319"/>
            <a:ext cx="1691640" cy="219456"/>
          </a:xfrm>
          <a:prstGeom prst="rect">
            <a:avLst/>
          </a:prstGeom>
          <a:noFill/>
        </p:spPr>
        <p:txBody>
          <a:bodyPr wrap="square" anchor="t" lIns="0" rIns="0" tIns="0" bIns="0">
            <a:spAutoFit/>
          </a:bodyPr>
          <a:lstStyle/>
          <a:p>
            <a:r>
              <a:rPr sz="700" b="1">
                <a:solidFill>
                  <a:srgbClr val="586586"/>
                </a:solidFill>
                <a:latin typeface="Outfit"/>
              </a:rPr>
              <a:t>T+6-12 MOIS · </a:t>
            </a:r>
            <a:r>
              <a:rPr sz="700" b="0">
                <a:solidFill>
                  <a:srgbClr val="586586"/>
                </a:solidFill>
                <a:latin typeface="Arial"/>
              </a:rPr>
              <a:t>⟲</a:t>
            </a:r>
            <a:r>
              <a:rPr sz="700" b="1">
                <a:solidFill>
                  <a:srgbClr val="586586"/>
                </a:solidFill>
                <a:latin typeface="Outfit"/>
              </a:rPr>
              <a:t> RÉÉVALUATION</a:t>
            </a:r>
          </a:p>
        </p:txBody>
      </p:sp>
      <p:sp>
        <p:nvSpPr>
          <p:cNvPr id="7" name="TextBox 6"/>
          <p:cNvSpPr txBox="1"/>
          <p:nvPr/>
        </p:nvSpPr>
        <p:spPr>
          <a:xfrm>
            <a:off x="6789420" y="1417319"/>
            <a:ext cx="1577340" cy="219456"/>
          </a:xfrm>
          <a:prstGeom prst="rect">
            <a:avLst/>
          </a:prstGeom>
          <a:noFill/>
        </p:spPr>
        <p:txBody>
          <a:bodyPr wrap="square" anchor="t" lIns="0" rIns="0" tIns="0" bIns="0">
            <a:spAutoFit/>
          </a:bodyPr>
          <a:lstStyle/>
          <a:p>
            <a:r>
              <a:rPr sz="700" b="1">
                <a:solidFill>
                  <a:srgbClr val="586586"/>
                </a:solidFill>
                <a:latin typeface="Outfit"/>
              </a:rPr>
              <a:t>TAG</a:t>
            </a:r>
          </a:p>
        </p:txBody>
      </p:sp>
      <p:sp>
        <p:nvSpPr>
          <p:cNvPr id="8" name="Rectangle 7"/>
          <p:cNvSpPr/>
          <p:nvPr/>
        </p:nvSpPr>
        <p:spPr>
          <a:xfrm>
            <a:off x="562356" y="227685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70992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Pilier Agentic Readiness</a:t>
            </a:r>
          </a:p>
        </p:txBody>
      </p:sp>
      <p:sp>
        <p:nvSpPr>
          <p:cNvPr id="10" name="TextBox 9"/>
          <p:cNvSpPr txBox="1"/>
          <p:nvPr/>
        </p:nvSpPr>
        <p:spPr>
          <a:xfrm>
            <a:off x="3278124" y="170992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 — process pas assez explicite</a:t>
            </a:r>
          </a:p>
        </p:txBody>
      </p:sp>
      <p:sp>
        <p:nvSpPr>
          <p:cNvPr id="11" name="TextBox 10"/>
          <p:cNvSpPr txBox="1"/>
          <p:nvPr/>
        </p:nvSpPr>
        <p:spPr>
          <a:xfrm>
            <a:off x="4988052" y="170992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 — process explicite, rôles définis</a:t>
            </a:r>
          </a:p>
        </p:txBody>
      </p:sp>
      <p:sp>
        <p:nvSpPr>
          <p:cNvPr id="12" name="Rounded Rectangle 11"/>
          <p:cNvSpPr/>
          <p:nvPr/>
        </p:nvSpPr>
        <p:spPr>
          <a:xfrm>
            <a:off x="6789420" y="1874519"/>
            <a:ext cx="1005840" cy="237744"/>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9420" y="1874519"/>
            <a:ext cx="1005840" cy="237744"/>
          </a:xfrm>
          <a:prstGeom prst="rect">
            <a:avLst/>
          </a:prstGeom>
          <a:noFill/>
        </p:spPr>
        <p:txBody>
          <a:bodyPr wrap="square" anchor="ctr" lIns="0" rIns="0" tIns="0" bIns="0">
            <a:noAutofit/>
          </a:bodyPr>
          <a:lstStyle/>
          <a:p>
            <a:pPr algn="ctr"/>
            <a:r>
              <a:rPr sz="700" b="1" i="0">
                <a:solidFill>
                  <a:srgbClr val="FFFFFF"/>
                </a:solidFill>
                <a:latin typeface="Outfit"/>
              </a:rPr>
              <a:t>CONFIRMÉ</a:t>
            </a:r>
          </a:p>
        </p:txBody>
      </p:sp>
      <p:sp>
        <p:nvSpPr>
          <p:cNvPr id="14" name="Rectangle 13"/>
          <p:cNvSpPr/>
          <p:nvPr/>
        </p:nvSpPr>
        <p:spPr>
          <a:xfrm>
            <a:off x="562356" y="291693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35000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Tickets récurrents évités / mois</a:t>
            </a:r>
          </a:p>
        </p:txBody>
      </p:sp>
      <p:sp>
        <p:nvSpPr>
          <p:cNvPr id="16" name="TextBox 15"/>
          <p:cNvSpPr txBox="1"/>
          <p:nvPr/>
        </p:nvSpPr>
        <p:spPr>
          <a:xfrm>
            <a:off x="3278124" y="235000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0</a:t>
            </a:r>
          </a:p>
        </p:txBody>
      </p:sp>
      <p:sp>
        <p:nvSpPr>
          <p:cNvPr id="17" name="TextBox 16"/>
          <p:cNvSpPr txBox="1"/>
          <p:nvPr/>
        </p:nvSpPr>
        <p:spPr>
          <a:xfrm>
            <a:off x="4988052" y="235000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 15</a:t>
            </a:r>
          </a:p>
        </p:txBody>
      </p:sp>
      <p:sp>
        <p:nvSpPr>
          <p:cNvPr id="18" name="Rounded Rectangle 17"/>
          <p:cNvSpPr/>
          <p:nvPr/>
        </p:nvSpPr>
        <p:spPr>
          <a:xfrm>
            <a:off x="6789420" y="2514600"/>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9420" y="2514600"/>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0" name="Rectangle 19"/>
          <p:cNvSpPr/>
          <p:nvPr/>
        </p:nvSpPr>
        <p:spPr>
          <a:xfrm>
            <a:off x="562356" y="3557015"/>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2990087"/>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Temps de triage moyen / ticket</a:t>
            </a:r>
          </a:p>
        </p:txBody>
      </p:sp>
      <p:sp>
        <p:nvSpPr>
          <p:cNvPr id="22" name="TextBox 21"/>
          <p:cNvSpPr txBox="1"/>
          <p:nvPr/>
        </p:nvSpPr>
        <p:spPr>
          <a:xfrm>
            <a:off x="3278124" y="2990087"/>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25 min</a:t>
            </a:r>
          </a:p>
        </p:txBody>
      </p:sp>
      <p:sp>
        <p:nvSpPr>
          <p:cNvPr id="23" name="TextBox 22"/>
          <p:cNvSpPr txBox="1"/>
          <p:nvPr/>
        </p:nvSpPr>
        <p:spPr>
          <a:xfrm>
            <a:off x="4988052" y="2990087"/>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12 min</a:t>
            </a:r>
          </a:p>
        </p:txBody>
      </p:sp>
      <p:sp>
        <p:nvSpPr>
          <p:cNvPr id="24" name="Rounded Rectangle 23"/>
          <p:cNvSpPr/>
          <p:nvPr/>
        </p:nvSpPr>
        <p:spPr>
          <a:xfrm>
            <a:off x="6789420" y="3154679"/>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89420" y="3154679"/>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6" name="Rectangle 25"/>
          <p:cNvSpPr/>
          <p:nvPr/>
        </p:nvSpPr>
        <p:spPr>
          <a:xfrm>
            <a:off x="562356" y="419709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2356" y="363016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Recommandation associée</a:t>
            </a:r>
          </a:p>
        </p:txBody>
      </p:sp>
      <p:sp>
        <p:nvSpPr>
          <p:cNvPr id="28" name="TextBox 27"/>
          <p:cNvSpPr txBox="1"/>
          <p:nvPr/>
        </p:nvSpPr>
        <p:spPr>
          <a:xfrm>
            <a:off x="3278124" y="363016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Documentation-first (runbook)</a:t>
            </a:r>
          </a:p>
        </p:txBody>
      </p:sp>
      <p:sp>
        <p:nvSpPr>
          <p:cNvPr id="29" name="TextBox 28"/>
          <p:cNvSpPr txBox="1"/>
          <p:nvPr/>
        </p:nvSpPr>
        <p:spPr>
          <a:xfrm>
            <a:off x="4988052" y="363016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Agentic-implementation (même fichier amendé)</a:t>
            </a:r>
          </a:p>
        </p:txBody>
      </p:sp>
      <p:sp>
        <p:nvSpPr>
          <p:cNvPr id="30" name="TextBox 29"/>
          <p:cNvSpPr txBox="1"/>
          <p:nvPr/>
        </p:nvSpPr>
        <p:spPr>
          <a:xfrm>
            <a:off x="6789420" y="3630168"/>
            <a:ext cx="1577340" cy="566928"/>
          </a:xfrm>
          <a:prstGeom prst="rect">
            <a:avLst/>
          </a:prstGeom>
          <a:noFill/>
        </p:spPr>
        <p:txBody>
          <a:bodyPr wrap="square" anchor="ctr" lIns="0" rIns="0" tIns="0" bIns="0">
            <a:noAutofit/>
          </a:bodyPr>
          <a:lstStyle/>
          <a:p>
            <a:pPr algn="ctr"/>
            <a:r>
              <a:rPr sz="800" b="0" i="0">
                <a:solidFill>
                  <a:srgbClr val="586586"/>
                </a:solidFill>
                <a:latin typeface="Outfit"/>
              </a:rPr>
              <a:t>—</a:t>
            </a:r>
          </a:p>
        </p:txBody>
      </p:sp>
      <p:sp>
        <p:nvSpPr>
          <p:cNvPr id="31" name="TextBox 30"/>
          <p:cNvSpPr txBox="1"/>
          <p:nvPr/>
        </p:nvSpPr>
        <p:spPr>
          <a:xfrm>
            <a:off x="562356" y="4334256"/>
            <a:ext cx="7804404" cy="54864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point à retenir n'est pas l'ampleur des chiffres (fixture, pas une preuve) mais la discipline de mesure : même instrument aux deux instants, tag de confiance explicite, et un KPI de maturité qui déclenche directement le changement de recommandation.</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