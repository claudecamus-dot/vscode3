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v2.45 · 2026-09-23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pourquoi, nos convictions, l'offre, comment, et comment démarrer.</a:t>
            </a:r>
          </a:p>
        </p:txBody>
      </p:sp>
      <p:sp>
        <p:nvSpPr>
          <p:cNvPr id="4" name="Rounded Rectangle 3"/>
          <p:cNvSpPr/>
          <p:nvPr/>
        </p:nvSpPr>
        <p:spPr>
          <a:xfrm>
            <a:off x="489204" y="1746504"/>
            <a:ext cx="7950708" cy="2872740"/>
          </a:xfrm>
          <a:prstGeom prst="roundRect">
            <a:avLst>
              <a:gd name="adj" fmla="val 636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58013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7" name="TextBox 6"/>
          <p:cNvSpPr txBox="1"/>
          <p:nvPr/>
        </p:nvSpPr>
        <p:spPr>
          <a:xfrm>
            <a:off x="708660"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8" name="TextBox 7"/>
          <p:cNvSpPr txBox="1"/>
          <p:nvPr/>
        </p:nvSpPr>
        <p:spPr>
          <a:xfrm>
            <a:off x="708660"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que coûte le statu quo, des douleurs mesurables et nommées.</a:t>
            </a:r>
          </a:p>
        </p:txBody>
      </p:sp>
      <p:sp>
        <p:nvSpPr>
          <p:cNvPr id="9" name="TextBox 8"/>
          <p:cNvSpPr txBox="1"/>
          <p:nvPr/>
        </p:nvSpPr>
        <p:spPr>
          <a:xfrm>
            <a:off x="708660" y="3947160"/>
            <a:ext cx="1121968" cy="397764"/>
          </a:xfrm>
          <a:prstGeom prst="rect">
            <a:avLst/>
          </a:prstGeom>
          <a:noFill/>
        </p:spPr>
        <p:txBody>
          <a:bodyPr wrap="square" anchor="b" lIns="0" rIns="0" tIns="0" bIns="0">
            <a:noAutofit/>
          </a:bodyPr>
          <a:lstStyle/>
          <a:p>
            <a:pPr algn="l"/>
            <a:r>
              <a:rPr sz="800" b="1" i="0">
                <a:solidFill>
                  <a:srgbClr val="0E2356"/>
                </a:solidFill>
                <a:latin typeface="Outfit"/>
              </a:rPr>
              <a:t>Contexte · Ce que ça coûte</a:t>
            </a:r>
          </a:p>
        </p:txBody>
      </p:sp>
      <p:sp>
        <p:nvSpPr>
          <p:cNvPr id="10" name="TextBox 9"/>
          <p:cNvSpPr txBox="1"/>
          <p:nvPr/>
        </p:nvSpPr>
        <p:spPr>
          <a:xfrm>
            <a:off x="1958644"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58013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CONVICTIONS</a:t>
            </a:r>
          </a:p>
        </p:txBody>
      </p:sp>
      <p:sp>
        <p:nvSpPr>
          <p:cNvPr id="13" name="TextBox 12"/>
          <p:cNvSpPr txBox="1"/>
          <p:nvPr/>
        </p:nvSpPr>
        <p:spPr>
          <a:xfrm>
            <a:off x="2306116"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Partir des utilisateurs, traiter le gaspillage d'abord.</a:t>
            </a:r>
          </a:p>
        </p:txBody>
      </p:sp>
      <p:sp>
        <p:nvSpPr>
          <p:cNvPr id="14" name="TextBox 13"/>
          <p:cNvSpPr txBox="1"/>
          <p:nvPr/>
        </p:nvSpPr>
        <p:spPr>
          <a:xfrm>
            <a:off x="2306116"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Sept convictions et une conviction agentic sur ce qui fait réussir — et un exemple avant/après de ce qu'elle change.</a:t>
            </a:r>
          </a:p>
        </p:txBody>
      </p:sp>
      <p:sp>
        <p:nvSpPr>
          <p:cNvPr id="15" name="TextBox 14"/>
          <p:cNvSpPr txBox="1"/>
          <p:nvPr/>
        </p:nvSpPr>
        <p:spPr>
          <a:xfrm>
            <a:off x="2306116" y="3947160"/>
            <a:ext cx="1121968" cy="397764"/>
          </a:xfrm>
          <a:prstGeom prst="rect">
            <a:avLst/>
          </a:prstGeom>
          <a:noFill/>
        </p:spPr>
        <p:txBody>
          <a:bodyPr wrap="square" anchor="b" lIns="0" rIns="0" tIns="0" bIns="0">
            <a:noAutofit/>
          </a:bodyPr>
          <a:lstStyle/>
          <a:p>
            <a:pPr algn="l"/>
            <a:r>
              <a:rPr sz="800" b="1" i="0">
                <a:solidFill>
                  <a:srgbClr val="0E2356"/>
                </a:solidFill>
                <a:latin typeface="Outfit"/>
              </a:rPr>
              <a:t>Nos convictions</a:t>
            </a:r>
          </a:p>
        </p:txBody>
      </p:sp>
      <p:sp>
        <p:nvSpPr>
          <p:cNvPr id="16" name="TextBox 15"/>
          <p:cNvSpPr txBox="1"/>
          <p:nvPr/>
        </p:nvSpPr>
        <p:spPr>
          <a:xfrm>
            <a:off x="3556101"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580132"/>
          </a:xfrm>
          <a:prstGeom prst="roundRect">
            <a:avLst>
              <a:gd name="adj" fmla="val 12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FFFFFF"/>
                </a:solidFill>
                <a:latin typeface="Outfit"/>
              </a:rPr>
              <a:t>OFFRE</a:t>
            </a:r>
          </a:p>
        </p:txBody>
      </p:sp>
      <p:sp>
        <p:nvSpPr>
          <p:cNvPr id="19" name="TextBox 18"/>
          <p:cNvSpPr txBox="1"/>
          <p:nvPr/>
        </p:nvSpPr>
        <p:spPr>
          <a:xfrm>
            <a:off x="3903573" y="2240279"/>
            <a:ext cx="1121968" cy="621792"/>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Traiter l'infra comme un produit, sans prérequis d'IA.</a:t>
            </a:r>
          </a:p>
        </p:txBody>
      </p:sp>
      <p:sp>
        <p:nvSpPr>
          <p:cNvPr id="20" name="TextBox 19"/>
          <p:cNvSpPr txBox="1"/>
          <p:nvPr/>
        </p:nvSpPr>
        <p:spPr>
          <a:xfrm>
            <a:off x="3903573" y="2953512"/>
            <a:ext cx="1121968" cy="865632"/>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La thèse, le gaspillage traité à deux — repéré, priorisé, tenu dans la durée — et la cible Platform Team.</a:t>
            </a:r>
          </a:p>
        </p:txBody>
      </p:sp>
      <p:sp>
        <p:nvSpPr>
          <p:cNvPr id="21" name="TextBox 20"/>
          <p:cNvSpPr txBox="1"/>
          <p:nvPr/>
        </p:nvSpPr>
        <p:spPr>
          <a:xfrm>
            <a:off x="3903573" y="3947160"/>
            <a:ext cx="1121968" cy="397764"/>
          </a:xfrm>
          <a:prstGeom prst="rect">
            <a:avLst/>
          </a:prstGeom>
          <a:noFill/>
        </p:spPr>
        <p:txBody>
          <a:bodyPr wrap="square" anchor="b" lIns="0" rIns="0" tIns="0" bIns="0">
            <a:noAutofit/>
          </a:bodyPr>
          <a:lstStyle/>
          <a:p>
            <a:pPr algn="l"/>
            <a:r>
              <a:rPr sz="800" b="1" i="0">
                <a:solidFill>
                  <a:srgbClr val="FFFFFF"/>
                </a:solidFill>
                <a:latin typeface="Outfit"/>
              </a:rPr>
              <a:t>L'offre</a:t>
            </a:r>
          </a:p>
        </p:txBody>
      </p:sp>
      <p:sp>
        <p:nvSpPr>
          <p:cNvPr id="22" name="TextBox 21"/>
          <p:cNvSpPr txBox="1"/>
          <p:nvPr/>
        </p:nvSpPr>
        <p:spPr>
          <a:xfrm>
            <a:off x="5153558"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58013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et ses deux fils ; en complément, jamais en prérequis, le chapitre L'expertise agentic d'OCTO.</a:t>
            </a:r>
          </a:p>
        </p:txBody>
      </p:sp>
      <p:sp>
        <p:nvSpPr>
          <p:cNvPr id="27" name="TextBox 26"/>
          <p:cNvSpPr txBox="1"/>
          <p:nvPr/>
        </p:nvSpPr>
        <p:spPr>
          <a:xfrm>
            <a:off x="5501030" y="3947160"/>
            <a:ext cx="1121968" cy="397764"/>
          </a:xfrm>
          <a:prstGeom prst="rect">
            <a:avLst/>
          </a:prstGeom>
          <a:noFill/>
        </p:spPr>
        <p:txBody>
          <a:bodyPr wrap="square" anchor="b" lIns="0" rIns="0" tIns="0" bIns="0">
            <a:noAutofit/>
          </a:bodyPr>
          <a:lstStyle/>
          <a:p>
            <a:pPr algn="l"/>
            <a:r>
              <a:rPr sz="800" b="1" i="0">
                <a:solidFill>
                  <a:srgbClr val="0E2356"/>
                </a:solidFill>
                <a:latin typeface="Outfit"/>
              </a:rPr>
              <a:t>La démarche · L'expertise agentic d'OCTO</a:t>
            </a:r>
          </a:p>
        </p:txBody>
      </p:sp>
      <p:sp>
        <p:nvSpPr>
          <p:cNvPr id="28" name="TextBox 27"/>
          <p:cNvSpPr txBox="1"/>
          <p:nvPr/>
        </p:nvSpPr>
        <p:spPr>
          <a:xfrm>
            <a:off x="6751015"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58013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DÉMARRER</a:t>
            </a:r>
          </a:p>
        </p:txBody>
      </p:sp>
      <p:sp>
        <p:nvSpPr>
          <p:cNvPr id="31" name="TextBox 30"/>
          <p:cNvSpPr txBox="1"/>
          <p:nvPr/>
        </p:nvSpPr>
        <p:spPr>
          <a:xfrm>
            <a:off x="7098487"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Deux semaines pour un premier signal mesuré.</a:t>
            </a:r>
          </a:p>
        </p:txBody>
      </p:sp>
      <p:sp>
        <p:nvSpPr>
          <p:cNvPr id="32" name="TextBox 31"/>
          <p:cNvSpPr txBox="1"/>
          <p:nvPr/>
        </p:nvSpPr>
        <p:spPr>
          <a:xfrm>
            <a:off x="7098487"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Les conditions de réussite, ce que la DSI engage, et le signal minimal suivi dès le T0 — la preuve, pas une opinion.</a:t>
            </a:r>
          </a:p>
        </p:txBody>
      </p:sp>
      <p:sp>
        <p:nvSpPr>
          <p:cNvPr id="33" name="TextBox 32"/>
          <p:cNvSpPr txBox="1"/>
          <p:nvPr/>
        </p:nvSpPr>
        <p:spPr>
          <a:xfrm>
            <a:off x="7098487" y="3947160"/>
            <a:ext cx="1121968" cy="397764"/>
          </a:xfrm>
          <a:prstGeom prst="rect">
            <a:avLst/>
          </a:prstGeom>
          <a:noFill/>
        </p:spPr>
        <p:txBody>
          <a:bodyPr wrap="square" anchor="b" lIns="0" rIns="0" tIns="0" bIns="0">
            <a:noAutofit/>
          </a:bodyPr>
          <a:lstStyle/>
          <a:p>
            <a:pPr algn="l"/>
            <a:r>
              <a:rPr sz="800" b="1" i="0">
                <a:solidFill>
                  <a:srgbClr val="0E2356"/>
                </a:solidFill>
                <a:latin typeface="Outfit"/>
              </a:rPr>
              <a:t>Réussir et démarrer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000" b="1">
                <a:solidFill>
                  <a:srgbClr val="0E2356"/>
                </a:solidFill>
                <a:latin typeface="Outfit"/>
              </a:rPr>
              <a:t>EXECUTIVE SUMMARY   ·   </a:t>
            </a:r>
            <a:r>
              <a:rPr sz="2000" b="1">
                <a:solidFill>
                  <a:srgbClr val="0E2356"/>
                </a:solidFill>
                <a:latin typeface="Outfit"/>
              </a:rPr>
              <a:t>Le vrai risque :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17817"/>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18018"/>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1781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FFFFFF"/>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 tout le deck, du constat à la démarche.</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Ce qui rend le terrain infra à part, la double mission, pourquoi maintenant, et qui achète.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CONTEXTE   ·   </a:t>
            </a:r>
            <a:r>
              <a:rPr b="1" sz="1200">
                <a:solidFill>
                  <a:srgbClr val="0E2356"/>
                </a:solidFill>
                <a:latin typeface="Outfit"/>
              </a:rPr>
              <a:t>D'un guichet sursollicité à une infra as a product — l'IA rend ce virage nécessaire.</a:t>
            </a:r>
          </a:p>
        </p:txBody>
      </p:sp>
      <p:sp>
        <p:nvSpPr>
          <p:cNvPr id="3" name="TextBox 2"/>
          <p:cNvSpPr txBox="1"/>
          <p:nvPr/>
        </p:nvSpPr>
        <p:spPr>
          <a:xfrm>
            <a:off x="562356" y="1069848"/>
            <a:ext cx="4069080" cy="182880"/>
          </a:xfrm>
          <a:prstGeom prst="rect">
            <a:avLst/>
          </a:prstGeom>
          <a:noFill/>
        </p:spPr>
        <p:txBody>
          <a:bodyPr wrap="square" anchor="t" lIns="0" rIns="0" tIns="0" bIns="0">
            <a:noAutofit/>
          </a:bodyPr>
          <a:lstStyle/>
          <a:p>
            <a:pPr algn="l"/>
            <a:r>
              <a:rPr sz="800" b="1" i="0">
                <a:solidFill>
                  <a:srgbClr val="586586"/>
                </a:solidFill>
                <a:latin typeface="Outfit"/>
              </a:rPr>
              <a:t>CE QUE VIT L'INFRA</a:t>
            </a:r>
          </a:p>
        </p:txBody>
      </p:sp>
      <p:sp>
        <p:nvSpPr>
          <p:cNvPr id="4" name="TextBox 3"/>
          <p:cNvSpPr txBox="1"/>
          <p:nvPr/>
        </p:nvSpPr>
        <p:spPr>
          <a:xfrm>
            <a:off x="5134356" y="1069848"/>
            <a:ext cx="3232404" cy="182880"/>
          </a:xfrm>
          <a:prstGeom prst="rect">
            <a:avLst/>
          </a:prstGeom>
          <a:noFill/>
        </p:spPr>
        <p:txBody>
          <a:bodyPr wrap="square" anchor="t" lIns="0" rIns="0" tIns="0" bIns="0">
            <a:noAutofit/>
          </a:bodyPr>
          <a:lstStyle/>
          <a:p>
            <a:pPr algn="l"/>
            <a:r>
              <a:rPr sz="800" b="1" i="0">
                <a:solidFill>
                  <a:srgbClr val="586586"/>
                </a:solidFill>
                <a:latin typeface="Outfit"/>
              </a:rPr>
              <a:t>CE QU'ON VISE</a:t>
            </a:r>
          </a:p>
        </p:txBody>
      </p:sp>
      <p:sp>
        <p:nvSpPr>
          <p:cNvPr id="5" name="Rounded Rectangle 4"/>
          <p:cNvSpPr/>
          <p:nvPr/>
        </p:nvSpPr>
        <p:spPr>
          <a:xfrm>
            <a:off x="562356" y="1307592"/>
            <a:ext cx="4069080" cy="804672"/>
          </a:xfrm>
          <a:prstGeom prst="roundRect">
            <a:avLst>
              <a:gd name="adj" fmla="val 2272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307592"/>
            <a:ext cx="3703320" cy="804672"/>
          </a:xfrm>
          <a:prstGeom prst="rect">
            <a:avLst/>
          </a:prstGeom>
          <a:noFill/>
        </p:spPr>
        <p:txBody>
          <a:bodyPr wrap="square" anchor="ctr" lIns="0" rIns="0" tIns="0" bIns="0">
            <a:noAutofit/>
          </a:bodyPr>
          <a:lstStyle/>
          <a:p>
            <a:pPr algn="l"/>
            <a:r>
              <a:rPr sz="1100" b="1" i="0">
                <a:solidFill>
                  <a:srgbClr val="0E2356"/>
                </a:solidFill>
                <a:latin typeface="Outfit"/>
              </a:rPr>
              <a:t>Sortir de la sursollicitation et du guichet</a:t>
            </a:r>
          </a:p>
          <a:p>
            <a:pPr algn="l">
              <a:lnSpc>
                <a:spcPct val="120000"/>
              </a:lnSpc>
              <a:spcBef>
                <a:spcPts val="200"/>
              </a:spcBef>
            </a:pPr>
            <a:r>
              <a:rPr sz="900" b="0" i="0">
                <a:solidFill>
                  <a:srgbClr val="586586"/>
                </a:solidFill>
                <a:latin typeface="Outfit"/>
              </a:rPr>
              <a:t>Des équipiers qui font trop de choses, engorgés — décommissionnement jamais fait, trop de RUN au quotidien.</a:t>
            </a:r>
          </a:p>
        </p:txBody>
      </p:sp>
      <p:sp>
        <p:nvSpPr>
          <p:cNvPr id="7" name="Chevron 6"/>
          <p:cNvSpPr/>
          <p:nvPr/>
        </p:nvSpPr>
        <p:spPr>
          <a:xfrm>
            <a:off x="4741164" y="1527048"/>
            <a:ext cx="283464" cy="365760"/>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34356" y="1307592"/>
            <a:ext cx="3232404" cy="804672"/>
          </a:xfrm>
          <a:prstGeom prst="roundRect">
            <a:avLst>
              <a:gd name="adj" fmla="val 22727"/>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17236" y="1307592"/>
            <a:ext cx="2866644" cy="804672"/>
          </a:xfrm>
          <a:prstGeom prst="rect">
            <a:avLst/>
          </a:prstGeom>
          <a:noFill/>
        </p:spPr>
        <p:txBody>
          <a:bodyPr wrap="square" anchor="ctr" lIns="0" rIns="0" tIns="0" bIns="0">
            <a:noAutofit/>
          </a:bodyPr>
          <a:lstStyle/>
          <a:p>
            <a:pPr algn="l"/>
            <a:r>
              <a:rPr sz="1150" b="1" i="0">
                <a:solidFill>
                  <a:srgbClr val="0E2356"/>
                </a:solidFill>
                <a:latin typeface="Outfit"/>
              </a:rPr>
              <a:t>Assainir et travailler le gaspillage</a:t>
            </a:r>
          </a:p>
        </p:txBody>
      </p:sp>
      <p:sp>
        <p:nvSpPr>
          <p:cNvPr id="10" name="Rounded Rectangle 9"/>
          <p:cNvSpPr/>
          <p:nvPr/>
        </p:nvSpPr>
        <p:spPr>
          <a:xfrm>
            <a:off x="562356" y="2240280"/>
            <a:ext cx="4069080" cy="804672"/>
          </a:xfrm>
          <a:prstGeom prst="roundRect">
            <a:avLst>
              <a:gd name="adj" fmla="val 2272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2240280"/>
            <a:ext cx="3703320" cy="804672"/>
          </a:xfrm>
          <a:prstGeom prst="rect">
            <a:avLst/>
          </a:prstGeom>
          <a:noFill/>
        </p:spPr>
        <p:txBody>
          <a:bodyPr wrap="square" anchor="ctr" lIns="0" rIns="0" tIns="0" bIns="0">
            <a:noAutofit/>
          </a:bodyPr>
          <a:lstStyle/>
          <a:p>
            <a:pPr algn="l"/>
            <a:r>
              <a:rPr sz="1100" b="1" i="0">
                <a:solidFill>
                  <a:srgbClr val="0E2356"/>
                </a:solidFill>
                <a:latin typeface="Outfit"/>
              </a:rPr>
              <a:t>Mieux servir les utilisateurs</a:t>
            </a:r>
          </a:p>
          <a:p>
            <a:pPr algn="l">
              <a:lnSpc>
                <a:spcPct val="120000"/>
              </a:lnSpc>
              <a:spcBef>
                <a:spcPts val="200"/>
              </a:spcBef>
            </a:pPr>
            <a:r>
              <a:rPr sz="900" b="0" i="0">
                <a:solidFill>
                  <a:srgbClr val="586586"/>
                </a:solidFill>
                <a:latin typeface="Outfit"/>
              </a:rPr>
              <a:t>Passer d'un guichet de demandes à une approche as a service.</a:t>
            </a:r>
          </a:p>
        </p:txBody>
      </p:sp>
      <p:sp>
        <p:nvSpPr>
          <p:cNvPr id="12" name="Chevron 11"/>
          <p:cNvSpPr/>
          <p:nvPr/>
        </p:nvSpPr>
        <p:spPr>
          <a:xfrm>
            <a:off x="4741164" y="2459736"/>
            <a:ext cx="283464" cy="365760"/>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134356" y="2240280"/>
            <a:ext cx="3232404" cy="804672"/>
          </a:xfrm>
          <a:prstGeom prst="roundRect">
            <a:avLst>
              <a:gd name="adj" fmla="val 22727"/>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7236" y="2240280"/>
            <a:ext cx="2866644" cy="804672"/>
          </a:xfrm>
          <a:prstGeom prst="rect">
            <a:avLst/>
          </a:prstGeom>
          <a:noFill/>
        </p:spPr>
        <p:txBody>
          <a:bodyPr wrap="square" anchor="ctr" lIns="0" rIns="0" tIns="0" bIns="0">
            <a:noAutofit/>
          </a:bodyPr>
          <a:lstStyle/>
          <a:p>
            <a:pPr algn="l"/>
            <a:r>
              <a:rPr sz="1150" b="1" i="0">
                <a:solidFill>
                  <a:srgbClr val="0E2356"/>
                </a:solidFill>
                <a:latin typeface="Outfit"/>
              </a:rPr>
              <a:t>Une infra recentrée sur ses utilisateurs</a:t>
            </a:r>
          </a:p>
        </p:txBody>
      </p:sp>
      <p:sp>
        <p:nvSpPr>
          <p:cNvPr id="15" name="Rounded Rectangle 14"/>
          <p:cNvSpPr/>
          <p:nvPr/>
        </p:nvSpPr>
        <p:spPr>
          <a:xfrm>
            <a:off x="562356" y="3246120"/>
            <a:ext cx="7804404" cy="731520"/>
          </a:xfrm>
          <a:prstGeom prst="roundRect">
            <a:avLst>
              <a:gd name="adj" fmla="val 25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5236" y="33832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 y="3383280"/>
            <a:ext cx="457200" cy="457200"/>
          </a:xfrm>
          <a:prstGeom prst="rect">
            <a:avLst/>
          </a:prstGeom>
          <a:noFill/>
        </p:spPr>
        <p:txBody>
          <a:bodyPr wrap="square" anchor="ctr" lIns="0" rIns="0" tIns="0" bIns="0">
            <a:noAutofit/>
          </a:bodyPr>
          <a:lstStyle/>
          <a:p>
            <a:pPr algn="ctr"/>
            <a:r>
              <a:rPr sz="1200" b="1" i="0">
                <a:solidFill>
                  <a:srgbClr val="FFFFFF"/>
                </a:solidFill>
                <a:latin typeface="Outfit"/>
              </a:rPr>
              <a:t>IA</a:t>
            </a:r>
          </a:p>
        </p:txBody>
      </p:sp>
      <p:sp>
        <p:nvSpPr>
          <p:cNvPr id="18" name="TextBox 17"/>
          <p:cNvSpPr txBox="1"/>
          <p:nvPr/>
        </p:nvSpPr>
        <p:spPr>
          <a:xfrm>
            <a:off x="1385316" y="3246120"/>
            <a:ext cx="6798564" cy="731520"/>
          </a:xfrm>
          <a:prstGeom prst="rect">
            <a:avLst/>
          </a:prstGeom>
          <a:noFill/>
        </p:spPr>
        <p:txBody>
          <a:bodyPr wrap="square" anchor="ctr" lIns="0" rIns="0" tIns="0" bIns="0">
            <a:noAutofit/>
          </a:bodyPr>
          <a:lstStyle/>
          <a:p>
            <a:pPr algn="l"/>
            <a:r>
              <a:rPr sz="850" b="1" i="0">
                <a:solidFill>
                  <a:srgbClr val="0E2356"/>
                </a:solidFill>
                <a:latin typeface="Outfit"/>
              </a:rPr>
              <a:t>AVEC L'ARRIVÉE DE L'IA — UNE SURSOLLICITATION EXACERBÉE</a:t>
            </a:r>
          </a:p>
          <a:p>
            <a:pPr algn="l">
              <a:lnSpc>
                <a:spcPct val="120000"/>
              </a:lnSpc>
              <a:spcBef>
                <a:spcPts val="300"/>
              </a:spcBef>
            </a:pPr>
            <a:r>
              <a:rPr sz="950" b="0" i="0">
                <a:solidFill>
                  <a:srgbClr val="0E2356"/>
                </a:solidFill>
                <a:latin typeface="Outfit"/>
              </a:rPr>
              <a:t>Trop de demandes, des équipes engorgées : la même pression que le guichet d'hier, amplifiée par l'IA plutôt que résolue par elle.</a:t>
            </a:r>
          </a:p>
        </p:txBody>
      </p:sp>
      <p:sp>
        <p:nvSpPr>
          <p:cNvPr id="19" name="Rounded Rectangle 18"/>
          <p:cNvSpPr/>
          <p:nvPr/>
        </p:nvSpPr>
        <p:spPr>
          <a:xfrm>
            <a:off x="562356" y="4489704"/>
            <a:ext cx="7804404" cy="493776"/>
          </a:xfrm>
          <a:prstGeom prst="roundRect">
            <a:avLst>
              <a:gd name="adj" fmla="val 3703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 y="4581144"/>
            <a:ext cx="45720" cy="31089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7" y="450799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22" name="TextBox 21"/>
          <p:cNvSpPr txBox="1"/>
          <p:nvPr/>
        </p:nvSpPr>
        <p:spPr>
          <a:xfrm>
            <a:off x="1074420" y="4489704"/>
            <a:ext cx="7109460"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Rounded Rectangle 2"/>
          <p:cNvSpPr/>
          <p:nvPr/>
        </p:nvSpPr>
        <p:spPr>
          <a:xfrm>
            <a:off x="562356" y="1051560"/>
            <a:ext cx="7804404" cy="475488"/>
          </a:xfrm>
          <a:prstGeom prst="roundRect">
            <a:avLst>
              <a:gd name="adj" fmla="val 38461"/>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90956" y="1051560"/>
            <a:ext cx="7347204" cy="475488"/>
          </a:xfrm>
          <a:prstGeom prst="rect">
            <a:avLst/>
          </a:prstGeom>
          <a:noFill/>
        </p:spPr>
        <p:txBody>
          <a:bodyPr wrap="square" anchor="ctr" lIns="0" rIns="0" tIns="0" bIns="0">
            <a:noAutofit/>
          </a:bodyPr>
          <a:lstStyle/>
          <a:p>
            <a:pPr algn="l">
              <a:lnSpc>
                <a:spcPct val="120000"/>
              </a:lnSpc>
            </a:pPr>
            <a:r>
              <a:rPr sz="9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5" name="Rounded Rectangle 4"/>
          <p:cNvSpPr/>
          <p:nvPr/>
        </p:nvSpPr>
        <p:spPr>
          <a:xfrm>
            <a:off x="562356" y="1709928"/>
            <a:ext cx="3810762" cy="2011680"/>
          </a:xfrm>
          <a:prstGeom prst="roundRect">
            <a:avLst>
              <a:gd name="adj" fmla="val 909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8" y="1874519"/>
            <a:ext cx="3298698" cy="1737360"/>
          </a:xfrm>
          <a:prstGeom prst="rect">
            <a:avLst/>
          </a:prstGeom>
          <a:noFill/>
        </p:spPr>
        <p:txBody>
          <a:bodyPr wrap="square" anchor="t" lIns="0" rIns="0" tIns="0" bIns="0">
            <a:noAutofit/>
          </a:bodyPr>
          <a:lstStyle/>
          <a:p>
            <a:pPr algn="l"/>
            <a:r>
              <a:rPr sz="1800" b="1" i="0">
                <a:solidFill>
                  <a:srgbClr val="FFFFFF"/>
                </a:solidFill>
                <a:latin typeface="Outfit"/>
              </a:rPr>
              <a:t>TRANSFORMER</a:t>
            </a:r>
          </a:p>
          <a:p>
            <a:pPr algn="l">
              <a:spcBef>
                <a:spcPts val="1000"/>
              </a:spcBef>
            </a:pPr>
            <a:r>
              <a:rPr sz="800" b="1" i="0">
                <a:solidFill>
                  <a:srgbClr val="C7CBE0"/>
                </a:solidFill>
                <a:latin typeface="Outfit"/>
              </a:rPr>
              <a:t>CE QU'IL VISE</a:t>
            </a:r>
          </a:p>
          <a:p>
            <a:pPr algn="l">
              <a:lnSpc>
                <a:spcPct val="120000"/>
              </a:lnSpc>
              <a:spcBef>
                <a:spcPts val="200"/>
              </a:spcBef>
            </a:pPr>
            <a:r>
              <a:rPr sz="950" b="0" i="0">
                <a:solidFill>
                  <a:srgbClr val="FFFFFF"/>
                </a:solidFill>
                <a:latin typeface="Outfit"/>
              </a:rPr>
              <a:t>Cible produit/plateforme : utilisateurs identifiés, valeur, roadmap, engagements de qualité, gouvernance lisible.</a:t>
            </a:r>
          </a:p>
          <a:p>
            <a:pPr algn="l">
              <a:spcBef>
                <a:spcPts val="1000"/>
              </a:spcBef>
            </a:pPr>
            <a:r>
              <a:rPr sz="800" b="1" i="0">
                <a:solidFill>
                  <a:srgbClr val="C7CBE0"/>
                </a:solidFill>
                <a:latin typeface="Outfit"/>
              </a:rPr>
              <a:t>CE QU'IL FINANCE</a:t>
            </a:r>
          </a:p>
          <a:p>
            <a:pPr algn="l">
              <a:lnSpc>
                <a:spcPct val="120000"/>
              </a:lnSpc>
              <a:spcBef>
                <a:spcPts val="200"/>
              </a:spcBef>
            </a:pPr>
            <a:r>
              <a:rPr sz="950" b="0" i="0">
                <a:solidFill>
                  <a:srgbClr val="FFFFFF"/>
                </a:solidFill>
                <a:latin typeface="Outfit"/>
              </a:rPr>
              <a:t>La vision à moyen terme — ce que le sponsor achète.</a:t>
            </a:r>
          </a:p>
        </p:txBody>
      </p:sp>
      <p:sp>
        <p:nvSpPr>
          <p:cNvPr id="7" name="Rounded Rectangle 6"/>
          <p:cNvSpPr/>
          <p:nvPr/>
        </p:nvSpPr>
        <p:spPr>
          <a:xfrm>
            <a:off x="4555998" y="1709928"/>
            <a:ext cx="3810762" cy="2011680"/>
          </a:xfrm>
          <a:prstGeom prst="roundRect">
            <a:avLst>
              <a:gd name="adj" fmla="val 909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12030" y="1874519"/>
            <a:ext cx="3298698" cy="1737360"/>
          </a:xfrm>
          <a:prstGeom prst="rect">
            <a:avLst/>
          </a:prstGeom>
          <a:noFill/>
        </p:spPr>
        <p:txBody>
          <a:bodyPr wrap="square" anchor="t" lIns="0" rIns="0" tIns="0" bIns="0">
            <a:noAutofit/>
          </a:bodyPr>
          <a:lstStyle/>
          <a:p>
            <a:pPr algn="l"/>
            <a:r>
              <a:rPr sz="1800" b="1" i="0">
                <a:solidFill>
                  <a:srgbClr val="0E2356"/>
                </a:solidFill>
                <a:latin typeface="Outfit"/>
              </a:rPr>
              <a:t>ASSAINIR</a:t>
            </a:r>
          </a:p>
          <a:p>
            <a:pPr algn="l">
              <a:spcBef>
                <a:spcPts val="1000"/>
              </a:spcBef>
            </a:pPr>
            <a:r>
              <a:rPr sz="800" b="1" i="0">
                <a:solidFill>
                  <a:srgbClr val="586586"/>
                </a:solidFill>
                <a:latin typeface="Outfit"/>
              </a:rPr>
              <a:t>CE QU'IL VISE</a:t>
            </a:r>
          </a:p>
          <a:p>
            <a:pPr algn="l">
              <a:lnSpc>
                <a:spcPct val="120000"/>
              </a:lnSpc>
              <a:spcBef>
                <a:spcPts val="200"/>
              </a:spcBef>
            </a:pPr>
            <a:r>
              <a:rPr sz="950" b="0" i="0">
                <a:solidFill>
                  <a:srgbClr val="0E2356"/>
                </a:solidFill>
                <a:latin typeface="Outfit"/>
              </a:rPr>
              <a:t>Traitement mesurable des gaspillages : flux, RUN, humain, financier, cognitif, décisionnel, environnemental, IA.</a:t>
            </a:r>
          </a:p>
          <a:p>
            <a:pPr algn="l">
              <a:spcBef>
                <a:spcPts val="1000"/>
              </a:spcBef>
            </a:pPr>
            <a:r>
              <a:rPr sz="800" b="1" i="0">
                <a:solidFill>
                  <a:srgbClr val="586586"/>
                </a:solidFill>
                <a:latin typeface="Outfit"/>
              </a:rPr>
              <a:t>CE QU'IL FINANCE</a:t>
            </a:r>
          </a:p>
          <a:p>
            <a:pPr algn="l">
              <a:lnSpc>
                <a:spcPct val="120000"/>
              </a:lnSpc>
              <a:spcBef>
                <a:spcPts val="200"/>
              </a:spcBef>
            </a:pPr>
            <a:r>
              <a:rPr sz="950" b="0" i="0">
                <a:solidFill>
                  <a:srgbClr val="0E2356"/>
                </a:solidFill>
                <a:latin typeface="Outfit"/>
              </a:rPr>
              <a:t>La capacité récupérée finance la trajectoire produit — hypothèse à prouver, qui suppose une réallocation budgétaire côté client.</a:t>
            </a:r>
          </a:p>
        </p:txBody>
      </p:sp>
      <p:sp>
        <p:nvSpPr>
          <p:cNvPr id="9" name="TextBox 8"/>
          <p:cNvSpPr txBox="1"/>
          <p:nvPr/>
        </p:nvSpPr>
        <p:spPr>
          <a:xfrm>
            <a:off x="562356" y="3904488"/>
            <a:ext cx="7804404" cy="182880"/>
          </a:xfrm>
          <a:prstGeom prst="rect">
            <a:avLst/>
          </a:prstGeom>
          <a:noFill/>
        </p:spPr>
        <p:txBody>
          <a:bodyPr wrap="square" anchor="t" lIns="0" rIns="0" tIns="0" bIns="0">
            <a:noAutofit/>
          </a:bodyPr>
          <a:lstStyle/>
          <a:p>
            <a:pPr algn="l"/>
            <a:r>
              <a:rPr sz="800" b="1" i="0">
                <a:solidFill>
                  <a:srgbClr val="586586"/>
                </a:solidFill>
                <a:latin typeface="Outfit"/>
              </a:rPr>
              <a:t>L'ÉQUILIBRE QUE LA DOUBLE MISSION TIENT EN PERMANENCE</a:t>
            </a:r>
          </a:p>
        </p:txBody>
      </p:sp>
      <p:sp>
        <p:nvSpPr>
          <p:cNvPr id="10" name="Rounded Rectangle 9"/>
          <p:cNvSpPr/>
          <p:nvPr/>
        </p:nvSpPr>
        <p:spPr>
          <a:xfrm>
            <a:off x="562356"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Efficacité du delivery</a:t>
            </a:r>
          </a:p>
        </p:txBody>
      </p:sp>
      <p:sp>
        <p:nvSpPr>
          <p:cNvPr id="12" name="Rounded Rectangle 11"/>
          <p:cNvSpPr/>
          <p:nvPr/>
        </p:nvSpPr>
        <p:spPr>
          <a:xfrm>
            <a:off x="3224783"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4783"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Robustesse du RUN</a:t>
            </a:r>
          </a:p>
        </p:txBody>
      </p:sp>
      <p:sp>
        <p:nvSpPr>
          <p:cNvPr id="14" name="Rounded Rectangle 13"/>
          <p:cNvSpPr/>
          <p:nvPr/>
        </p:nvSpPr>
        <p:spPr>
          <a:xfrm>
            <a:off x="5887212"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Valeur perçue par les utilisateurs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950" b="0" i="1">
                <a:solidFill>
                  <a:srgbClr val="0E2356"/>
                </a:solidFill>
                <a:latin typeface="Outfit"/>
              </a:rPr>
              <a:t>Trois bascules rendent l'Infra-as-a-Product pertinente — et urgente — maintenant.</a:t>
            </a:r>
          </a:p>
        </p:txBody>
      </p:sp>
      <p:sp>
        <p:nvSpPr>
          <p:cNvPr id="4" name="Rounded Rectangle 3"/>
          <p:cNvSpPr/>
          <p:nvPr/>
        </p:nvSpPr>
        <p:spPr>
          <a:xfrm>
            <a:off x="562356" y="1618488"/>
            <a:ext cx="2479548" cy="1756791"/>
          </a:xfrm>
          <a:prstGeom prst="roundRect">
            <a:avLst>
              <a:gd name="adj" fmla="val 10409"/>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5236" y="1408176"/>
            <a:ext cx="420624" cy="4206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408176"/>
            <a:ext cx="420624" cy="420624"/>
          </a:xfrm>
          <a:prstGeom prst="rect">
            <a:avLst/>
          </a:prstGeom>
          <a:noFill/>
        </p:spPr>
        <p:txBody>
          <a:bodyPr wrap="square" anchor="ctr" lIns="0" rIns="0" tIns="0" bIns="0">
            <a:noAutofit/>
          </a:bodyPr>
          <a:lstStyle/>
          <a:p>
            <a:pPr algn="ctr"/>
            <a:r>
              <a:rPr sz="1400" b="1" i="0">
                <a:solidFill>
                  <a:srgbClr val="0E2356"/>
                </a:solidFill>
                <a:latin typeface="Outfit"/>
              </a:rPr>
              <a:t>1</a:t>
            </a:r>
          </a:p>
        </p:txBody>
      </p:sp>
      <p:sp>
        <p:nvSpPr>
          <p:cNvPr id="7" name="TextBox 6"/>
          <p:cNvSpPr txBox="1"/>
          <p:nvPr/>
        </p:nvSpPr>
        <p:spPr>
          <a:xfrm>
            <a:off x="745236" y="1956816"/>
            <a:ext cx="2113788" cy="374904"/>
          </a:xfrm>
          <a:prstGeom prst="rect">
            <a:avLst/>
          </a:prstGeom>
          <a:noFill/>
        </p:spPr>
        <p:txBody>
          <a:bodyPr wrap="square" anchor="t" lIns="0" rIns="0" tIns="0" bIns="0">
            <a:noAutofit/>
          </a:bodyPr>
          <a:lstStyle/>
          <a:p>
            <a:pPr algn="l">
              <a:lnSpc>
                <a:spcPct val="110000"/>
              </a:lnSpc>
            </a:pPr>
            <a:r>
              <a:rPr sz="1050" b="1" i="0">
                <a:solidFill>
                  <a:srgbClr val="FFFFFF"/>
                </a:solidFill>
                <a:latin typeface="Outfit"/>
              </a:rPr>
              <a:t>L'infra subie n'est plus tenable</a:t>
            </a:r>
          </a:p>
        </p:txBody>
      </p:sp>
      <p:sp>
        <p:nvSpPr>
          <p:cNvPr id="8" name="TextBox 7"/>
          <p:cNvSpPr txBox="1"/>
          <p:nvPr/>
        </p:nvSpPr>
        <p:spPr>
          <a:xfrm>
            <a:off x="745236" y="2404872"/>
            <a:ext cx="2113788" cy="805815"/>
          </a:xfrm>
          <a:prstGeom prst="rect">
            <a:avLst/>
          </a:prstGeom>
          <a:noFill/>
        </p:spPr>
        <p:txBody>
          <a:bodyPr wrap="square" anchor="t" lIns="0" rIns="0" tIns="0" bIns="0">
            <a:noAutofit/>
          </a:bodyPr>
          <a:lstStyle/>
          <a:p>
            <a:pPr algn="l">
              <a:lnSpc>
                <a:spcPct val="120000"/>
              </a:lnSpc>
            </a:pPr>
            <a:r>
              <a:rPr sz="900" b="0" i="0">
                <a:solidFill>
                  <a:srgbClr val="C7CBE0"/>
                </a:solidFill>
                <a:latin typeface="Outfit"/>
              </a:rPr>
              <a:t>RUN subi, experts seniors drainés sur du répétitif, gaspillage cloud non maîtrisé, plateforme contournée : le coût du statu quo ne cesse de monter.</a:t>
            </a:r>
          </a:p>
        </p:txBody>
      </p:sp>
      <p:sp>
        <p:nvSpPr>
          <p:cNvPr id="9" name="Rounded Rectangle 8"/>
          <p:cNvSpPr/>
          <p:nvPr/>
        </p:nvSpPr>
        <p:spPr>
          <a:xfrm>
            <a:off x="3224783" y="1618488"/>
            <a:ext cx="2479548" cy="1756791"/>
          </a:xfrm>
          <a:prstGeom prst="roundRect">
            <a:avLst>
              <a:gd name="adj" fmla="val 10409"/>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07664" y="1408176"/>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7664" y="1408176"/>
            <a:ext cx="420624" cy="420624"/>
          </a:xfrm>
          <a:prstGeom prst="rect">
            <a:avLst/>
          </a:prstGeom>
          <a:noFill/>
        </p:spPr>
        <p:txBody>
          <a:bodyPr wrap="square" anchor="ctr" lIns="0" rIns="0" tIns="0" bIns="0">
            <a:noAutofit/>
          </a:bodyPr>
          <a:lstStyle/>
          <a:p>
            <a:pPr algn="ctr"/>
            <a:r>
              <a:rPr sz="1400" b="1" i="0">
                <a:solidFill>
                  <a:srgbClr val="FFFFFF"/>
                </a:solidFill>
                <a:latin typeface="Outfit"/>
              </a:rPr>
              <a:t>2</a:t>
            </a:r>
          </a:p>
        </p:txBody>
      </p:sp>
      <p:sp>
        <p:nvSpPr>
          <p:cNvPr id="12" name="TextBox 11"/>
          <p:cNvSpPr txBox="1"/>
          <p:nvPr/>
        </p:nvSpPr>
        <p:spPr>
          <a:xfrm>
            <a:off x="3407664" y="1956816"/>
            <a:ext cx="2113788" cy="374904"/>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Le modèle produit/plateforme est prouvé</a:t>
            </a:r>
          </a:p>
        </p:txBody>
      </p:sp>
      <p:sp>
        <p:nvSpPr>
          <p:cNvPr id="13" name="TextBox 12"/>
          <p:cNvSpPr txBox="1"/>
          <p:nvPr/>
        </p:nvSpPr>
        <p:spPr>
          <a:xfrm>
            <a:off x="3407664" y="2404872"/>
            <a:ext cx="2113788" cy="805815"/>
          </a:xfrm>
          <a:prstGeom prst="rect">
            <a:avLst/>
          </a:prstGeom>
          <a:noFill/>
        </p:spPr>
        <p:txBody>
          <a:bodyPr wrap="square" anchor="t" lIns="0" rIns="0" tIns="0" bIns="0">
            <a:noAutofit/>
          </a:bodyPr>
          <a:lstStyle/>
          <a:p>
            <a:pPr algn="l">
              <a:lnSpc>
                <a:spcPct val="120000"/>
              </a:lnSpc>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4" name="Rounded Rectangle 13"/>
          <p:cNvSpPr/>
          <p:nvPr/>
        </p:nvSpPr>
        <p:spPr>
          <a:xfrm>
            <a:off x="5887212" y="1618488"/>
            <a:ext cx="2479548" cy="1756791"/>
          </a:xfrm>
          <a:prstGeom prst="roundRect">
            <a:avLst>
              <a:gd name="adj" fmla="val 10409"/>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70092" y="1408176"/>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70092" y="1408176"/>
            <a:ext cx="420624" cy="420624"/>
          </a:xfrm>
          <a:prstGeom prst="rect">
            <a:avLst/>
          </a:prstGeom>
          <a:noFill/>
        </p:spPr>
        <p:txBody>
          <a:bodyPr wrap="square" anchor="ctr" lIns="0" rIns="0" tIns="0" bIns="0">
            <a:noAutofit/>
          </a:bodyPr>
          <a:lstStyle/>
          <a:p>
            <a:pPr algn="ctr"/>
            <a:r>
              <a:rPr sz="1400" b="1" i="0">
                <a:solidFill>
                  <a:srgbClr val="FFFFFF"/>
                </a:solidFill>
                <a:latin typeface="Outfit"/>
              </a:rPr>
              <a:t>3</a:t>
            </a:r>
          </a:p>
        </p:txBody>
      </p:sp>
      <p:sp>
        <p:nvSpPr>
          <p:cNvPr id="17" name="TextBox 16"/>
          <p:cNvSpPr txBox="1"/>
          <p:nvPr/>
        </p:nvSpPr>
        <p:spPr>
          <a:xfrm>
            <a:off x="6070092" y="1956816"/>
            <a:ext cx="2113788" cy="374904"/>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L'IA rebat les cartes — l'organisation d'abord</a:t>
            </a:r>
          </a:p>
        </p:txBody>
      </p:sp>
      <p:sp>
        <p:nvSpPr>
          <p:cNvPr id="18" name="TextBox 17"/>
          <p:cNvSpPr txBox="1"/>
          <p:nvPr/>
        </p:nvSpPr>
        <p:spPr>
          <a:xfrm>
            <a:off x="6070092" y="2404872"/>
            <a:ext cx="2113788" cy="805815"/>
          </a:xfrm>
          <a:prstGeom prst="rect">
            <a:avLst/>
          </a:prstGeom>
          <a:noFill/>
        </p:spPr>
        <p:txBody>
          <a:bodyPr wrap="square" anchor="t" lIns="0" rIns="0" tIns="0" bIns="0">
            <a:noAutofit/>
          </a:bodyPr>
          <a:lstStyle/>
          <a:p>
            <a:pPr algn="l">
              <a:lnSpc>
                <a:spcPct val="120000"/>
              </a:lnSpc>
            </a:pPr>
            <a:r>
              <a:rPr sz="900" b="0" i="0">
                <a:solidFill>
                  <a:srgbClr val="0E2356"/>
                </a:solidFill>
                <a:latin typeface="Outfit"/>
              </a:rPr>
              <a:t>L'IA amplifie une organisation mûre, jamais l'inverse. S'y préparer maintenant (doctrine confidentialité-first) évite de la subir plus tard.</a:t>
            </a:r>
          </a:p>
        </p:txBody>
      </p:sp>
      <p:sp>
        <p:nvSpPr>
          <p:cNvPr id="19" name="TextBox 18"/>
          <p:cNvSpPr txBox="1"/>
          <p:nvPr/>
        </p:nvSpPr>
        <p:spPr>
          <a:xfrm>
            <a:off x="562356" y="3631311"/>
            <a:ext cx="7804404" cy="201168"/>
          </a:xfrm>
          <a:prstGeom prst="rect">
            <a:avLst/>
          </a:prstGeom>
          <a:noFill/>
        </p:spPr>
        <p:txBody>
          <a:bodyPr wrap="square" anchor="t" lIns="0" rIns="0" tIns="0" bIns="0">
            <a:noAutofit/>
          </a:bodyPr>
          <a:lstStyle/>
          <a:p>
            <a:pPr algn="l"/>
            <a:r>
              <a:rPr sz="800" b="1" i="0">
                <a:solidFill>
                  <a:srgbClr val="586586"/>
                </a:solidFill>
                <a:latin typeface="Outfit"/>
              </a:rPr>
              <a:t>ET SURTOUT — NOS DEUX MISSIONS RÉPONDENT TRAIT POUR TRAIT AUX DEUX DOULEURS DU CLIENT</a:t>
            </a:r>
          </a:p>
        </p:txBody>
      </p:sp>
      <p:sp>
        <p:nvSpPr>
          <p:cNvPr id="20" name="Rounded Rectangle 19"/>
          <p:cNvSpPr/>
          <p:nvPr/>
        </p:nvSpPr>
        <p:spPr>
          <a:xfrm>
            <a:off x="562356" y="3887343"/>
            <a:ext cx="1234440" cy="60350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3887343"/>
            <a:ext cx="1234440" cy="603504"/>
          </a:xfrm>
          <a:prstGeom prst="rect">
            <a:avLst/>
          </a:prstGeom>
          <a:noFill/>
        </p:spPr>
        <p:txBody>
          <a:bodyPr wrap="square" anchor="ctr" lIns="0" rIns="0" tIns="0" bIns="0">
            <a:noAutofit/>
          </a:bodyPr>
          <a:lstStyle/>
          <a:p>
            <a:pPr algn="ctr"/>
            <a:r>
              <a:rPr sz="950" b="1" i="0">
                <a:solidFill>
                  <a:srgbClr val="0E2356"/>
                </a:solidFill>
                <a:latin typeface="Outfit"/>
              </a:rPr>
              <a:t>Subir le RUN</a:t>
            </a:r>
          </a:p>
        </p:txBody>
      </p:sp>
      <p:sp>
        <p:nvSpPr>
          <p:cNvPr id="22" name="Chevron 21"/>
          <p:cNvSpPr/>
          <p:nvPr/>
        </p:nvSpPr>
        <p:spPr>
          <a:xfrm>
            <a:off x="1851660" y="4042791"/>
            <a:ext cx="219456" cy="292608"/>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25980" y="3887343"/>
            <a:ext cx="2247138" cy="60350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08860" y="3887343"/>
            <a:ext cx="1972818" cy="603504"/>
          </a:xfrm>
          <a:prstGeom prst="rect">
            <a:avLst/>
          </a:prstGeom>
          <a:noFill/>
        </p:spPr>
        <p:txBody>
          <a:bodyPr wrap="square" anchor="ctr" lIns="0" rIns="0" tIns="0" bIns="0">
            <a:noAutofit/>
          </a:bodyPr>
          <a:lstStyle/>
          <a:p>
            <a:pPr algn="l"/>
            <a:r>
              <a:rPr sz="1000" b="1" i="0">
                <a:solidFill>
                  <a:srgbClr val="0E2356"/>
                </a:solidFill>
                <a:latin typeface="Outfit"/>
              </a:rPr>
              <a:t>TRANSFORMER</a:t>
            </a:r>
          </a:p>
          <a:p>
            <a:pPr algn="l">
              <a:lnSpc>
                <a:spcPct val="110000"/>
              </a:lnSpc>
            </a:pPr>
            <a:r>
              <a:rPr sz="850" b="0" i="0">
                <a:solidFill>
                  <a:srgbClr val="586586"/>
                </a:solidFill>
                <a:latin typeface="Outfit"/>
              </a:rPr>
              <a:t>cible produit/plateforme</a:t>
            </a:r>
          </a:p>
        </p:txBody>
      </p:sp>
      <p:sp>
        <p:nvSpPr>
          <p:cNvPr id="25" name="Rounded Rectangle 24"/>
          <p:cNvSpPr/>
          <p:nvPr/>
        </p:nvSpPr>
        <p:spPr>
          <a:xfrm>
            <a:off x="4555998" y="3887343"/>
            <a:ext cx="1234440" cy="60350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5998" y="3887343"/>
            <a:ext cx="1234440" cy="603504"/>
          </a:xfrm>
          <a:prstGeom prst="rect">
            <a:avLst/>
          </a:prstGeom>
          <a:noFill/>
        </p:spPr>
        <p:txBody>
          <a:bodyPr wrap="square" anchor="ctr" lIns="0" rIns="0" tIns="0" bIns="0">
            <a:noAutofit/>
          </a:bodyPr>
          <a:lstStyle/>
          <a:p>
            <a:pPr algn="ctr"/>
            <a:r>
              <a:rPr sz="950" b="1" i="0">
                <a:solidFill>
                  <a:srgbClr val="0E2356"/>
                </a:solidFill>
                <a:latin typeface="Outfit"/>
              </a:rPr>
              <a:t>Le gaspillage</a:t>
            </a:r>
          </a:p>
        </p:txBody>
      </p:sp>
      <p:sp>
        <p:nvSpPr>
          <p:cNvPr id="27" name="Chevron 26"/>
          <p:cNvSpPr/>
          <p:nvPr/>
        </p:nvSpPr>
        <p:spPr>
          <a:xfrm>
            <a:off x="5845302" y="4042791"/>
            <a:ext cx="219456" cy="292608"/>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19622" y="3887343"/>
            <a:ext cx="2247138" cy="60350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2502" y="3887343"/>
            <a:ext cx="1972818" cy="603504"/>
          </a:xfrm>
          <a:prstGeom prst="rect">
            <a:avLst/>
          </a:prstGeom>
          <a:noFill/>
        </p:spPr>
        <p:txBody>
          <a:bodyPr wrap="square" anchor="ctr" lIns="0" rIns="0" tIns="0" bIns="0">
            <a:noAutofit/>
          </a:bodyPr>
          <a:lstStyle/>
          <a:p>
            <a:pPr algn="l"/>
            <a:r>
              <a:rPr sz="1000" b="1" i="0">
                <a:solidFill>
                  <a:srgbClr val="0E2356"/>
                </a:solidFill>
                <a:latin typeface="Outfit"/>
              </a:rPr>
              <a:t>ASSAINIR</a:t>
            </a:r>
          </a:p>
          <a:p>
            <a:pPr algn="l">
              <a:lnSpc>
                <a:spcPct val="110000"/>
              </a:lnSpc>
            </a:pPr>
            <a:r>
              <a:rPr sz="850" b="0" i="0">
                <a:solidFill>
                  <a:srgbClr val="586586"/>
                </a:solidFill>
                <a:latin typeface="Outfit"/>
              </a:rPr>
              <a:t>capacité récupérée à réinvestir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738504"/>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80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TextBox 3"/>
          <p:cNvSpPr txBox="1"/>
          <p:nvPr/>
        </p:nvSpPr>
        <p:spPr>
          <a:xfrm>
            <a:off x="562356" y="1863216"/>
            <a:ext cx="3017520" cy="154432"/>
          </a:xfrm>
          <a:prstGeom prst="rect">
            <a:avLst/>
          </a:prstGeom>
          <a:noFill/>
        </p:spPr>
        <p:txBody>
          <a:bodyPr wrap="square" anchor="t" lIns="0" rIns="0" tIns="0" bIns="0">
            <a:noAutofit/>
          </a:bodyPr>
          <a:lstStyle/>
          <a:p>
            <a:pPr algn="l"/>
            <a:r>
              <a:rPr sz="800" b="1" i="0">
                <a:solidFill>
                  <a:srgbClr val="586586"/>
                </a:solidFill>
                <a:latin typeface="Outfit"/>
              </a:rPr>
              <a:t>ACHAT ALTERNATIF</a:t>
            </a:r>
          </a:p>
        </p:txBody>
      </p:sp>
      <p:sp>
        <p:nvSpPr>
          <p:cNvPr id="5" name="TextBox 4"/>
          <p:cNvSpPr txBox="1"/>
          <p:nvPr/>
        </p:nvSpPr>
        <p:spPr>
          <a:xfrm>
            <a:off x="3963924" y="1863216"/>
            <a:ext cx="4402836" cy="154432"/>
          </a:xfrm>
          <a:prstGeom prst="rect">
            <a:avLst/>
          </a:prstGeom>
          <a:noFill/>
        </p:spPr>
        <p:txBody>
          <a:bodyPr wrap="square" anchor="t" lIns="0" rIns="0" tIns="0" bIns="0">
            <a:noAutofit/>
          </a:bodyPr>
          <a:lstStyle/>
          <a:p>
            <a:pPr algn="l"/>
            <a:r>
              <a:rPr sz="800" b="1" i="0">
                <a:solidFill>
                  <a:srgbClr val="586586"/>
                </a:solidFill>
                <a:latin typeface="Outfit"/>
              </a:rPr>
              <a:t>CE QUI LUI MANQUE — LA RÉPONSE IAP</a:t>
            </a:r>
          </a:p>
        </p:txBody>
      </p:sp>
      <p:sp>
        <p:nvSpPr>
          <p:cNvPr id="6" name="Rounded Rectangle 5"/>
          <p:cNvSpPr/>
          <p:nvPr/>
        </p:nvSpPr>
        <p:spPr>
          <a:xfrm>
            <a:off x="562356" y="2054225"/>
            <a:ext cx="3017520" cy="382016"/>
          </a:xfrm>
          <a:prstGeom prst="roundRect">
            <a:avLst>
              <a:gd name="adj" fmla="val 47872"/>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1228" y="2054225"/>
            <a:ext cx="2779776" cy="382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Ne rien faire</a:t>
            </a:r>
            <a:r>
              <a:rPr sz="800" b="0" i="0">
                <a:solidFill>
                  <a:srgbClr val="0E2356"/>
                </a:solidFill>
                <a:latin typeface="Outfit"/>
              </a:rPr>
              <a:t> — Zéro coût apparent.</a:t>
            </a:r>
          </a:p>
        </p:txBody>
      </p:sp>
      <p:sp>
        <p:nvSpPr>
          <p:cNvPr id="8" name="Chevron 7"/>
          <p:cNvSpPr/>
          <p:nvPr/>
        </p:nvSpPr>
        <p:spPr>
          <a:xfrm>
            <a:off x="3633642" y="2149729"/>
            <a:ext cx="276514" cy="1910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63924" y="2054225"/>
            <a:ext cx="4402836" cy="382016"/>
          </a:xfrm>
          <a:prstGeom prst="roundRect">
            <a:avLst>
              <a:gd name="adj" fmla="val 4787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82796" y="2054225"/>
            <a:ext cx="4165092" cy="382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Le coût du statu quo monte</a:t>
            </a:r>
            <a:r>
              <a:rPr sz="800" b="0" i="0">
                <a:solidFill>
                  <a:srgbClr val="FFFFFF"/>
                </a:solidFill>
                <a:latin typeface="Outfit"/>
              </a:rPr>
              <a:t> — C'est lui que l'Assessment flash chiffre (déclencheur ①).</a:t>
            </a:r>
          </a:p>
        </p:txBody>
      </p:sp>
      <p:sp>
        <p:nvSpPr>
          <p:cNvPr id="11" name="Rounded Rectangle 10"/>
          <p:cNvSpPr/>
          <p:nvPr/>
        </p:nvSpPr>
        <p:spPr>
          <a:xfrm>
            <a:off x="562356" y="2500249"/>
            <a:ext cx="3017520" cy="509016"/>
          </a:xfrm>
          <a:prstGeom prst="roundRect">
            <a:avLst>
              <a:gd name="adj" fmla="val 35928"/>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 y="2500249"/>
            <a:ext cx="2779776" cy="509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FinOps outillé seul</a:t>
            </a:r>
            <a:r>
              <a:rPr sz="800" b="0" i="0">
                <a:solidFill>
                  <a:srgbClr val="0E2356"/>
                </a:solidFill>
                <a:latin typeface="Outfit"/>
              </a:rPr>
              <a:t> — Mesure le gaspillage : marché mature, gaspillage cloud estimé à 29 % (Flexera).</a:t>
            </a:r>
          </a:p>
        </p:txBody>
      </p:sp>
      <p:sp>
        <p:nvSpPr>
          <p:cNvPr id="13" name="Chevron 12"/>
          <p:cNvSpPr/>
          <p:nvPr/>
        </p:nvSpPr>
        <p:spPr>
          <a:xfrm>
            <a:off x="3633642" y="2627503"/>
            <a:ext cx="276514" cy="2545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63924" y="2500249"/>
            <a:ext cx="4402836" cy="509016"/>
          </a:xfrm>
          <a:prstGeom prst="roundRect">
            <a:avLst>
              <a:gd name="adj" fmla="val 35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82796" y="2500249"/>
            <a:ext cx="4165092" cy="509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Ni cible produit, ni réallocation</a:t>
            </a:r>
            <a:r>
              <a:rPr sz="800" b="0" i="0">
                <a:solidFill>
                  <a:srgbClr val="FFFFFF"/>
                </a:solidFill>
                <a:latin typeface="Outfit"/>
              </a:rPr>
              <a:t> — IAP se place en aval : le chiffre devient une capacité produit gouvernée, pas seulement une économie.</a:t>
            </a:r>
          </a:p>
        </p:txBody>
      </p:sp>
      <p:sp>
        <p:nvSpPr>
          <p:cNvPr id="16" name="Rounded Rectangle 15"/>
          <p:cNvSpPr/>
          <p:nvPr/>
        </p:nvSpPr>
        <p:spPr>
          <a:xfrm>
            <a:off x="562356" y="3073273"/>
            <a:ext cx="3017520" cy="509016"/>
          </a:xfrm>
          <a:prstGeom prst="roundRect">
            <a:avLst>
              <a:gd name="adj" fmla="val 35928"/>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 y="3073273"/>
            <a:ext cx="2779776" cy="509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Platform engineering pur</a:t>
            </a:r>
            <a:r>
              <a:rPr sz="800" b="0" i="0">
                <a:solidFill>
                  <a:srgbClr val="0E2356"/>
                </a:solidFill>
                <a:latin typeface="Outfit"/>
              </a:rPr>
              <a:t> — La cible produit/plateforme, un modèle devenu standard.</a:t>
            </a:r>
          </a:p>
        </p:txBody>
      </p:sp>
      <p:sp>
        <p:nvSpPr>
          <p:cNvPr id="18" name="Chevron 17"/>
          <p:cNvSpPr/>
          <p:nvPr/>
        </p:nvSpPr>
        <p:spPr>
          <a:xfrm>
            <a:off x="3633642" y="3200527"/>
            <a:ext cx="276514" cy="2545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963924" y="3073273"/>
            <a:ext cx="4402836" cy="509016"/>
          </a:xfrm>
          <a:prstGeom prst="roundRect">
            <a:avLst>
              <a:gd name="adj" fmla="val 35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82796" y="3073273"/>
            <a:ext cx="4165092" cy="509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La cible sans le financement</a:t>
            </a:r>
            <a:r>
              <a:rPr sz="800" b="0" i="0">
                <a:solidFill>
                  <a:srgbClr val="FFFFFF"/>
                </a:solidFill>
                <a:latin typeface="Outfit"/>
              </a:rPr>
              <a:t> — Reproduit l'écart 80/30 déjà posé au déclencheur ② : 80 % de platform teams en 2026, moins de 30 % de gains mesurables (Gartner).</a:t>
            </a:r>
          </a:p>
        </p:txBody>
      </p:sp>
      <p:sp>
        <p:nvSpPr>
          <p:cNvPr id="21" name="Rounded Rectangle 20"/>
          <p:cNvSpPr/>
          <p:nvPr/>
        </p:nvSpPr>
        <p:spPr>
          <a:xfrm>
            <a:off x="562356" y="3646297"/>
            <a:ext cx="3017520" cy="382016"/>
          </a:xfrm>
          <a:prstGeom prst="roundRect">
            <a:avLst>
              <a:gd name="adj" fmla="val 47872"/>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 y="3646297"/>
            <a:ext cx="2779776" cy="382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AIOps / agentic outillé</a:t>
            </a:r>
            <a:r>
              <a:rPr sz="800" b="0" i="0">
                <a:solidFill>
                  <a:srgbClr val="0E2356"/>
                </a:solidFill>
                <a:latin typeface="Outfit"/>
              </a:rPr>
              <a:t> — Time-to-value court (ServiceNow, Datadog).</a:t>
            </a:r>
          </a:p>
        </p:txBody>
      </p:sp>
      <p:sp>
        <p:nvSpPr>
          <p:cNvPr id="23" name="Chevron 22"/>
          <p:cNvSpPr/>
          <p:nvPr/>
        </p:nvSpPr>
        <p:spPr>
          <a:xfrm>
            <a:off x="3633642" y="3741801"/>
            <a:ext cx="276514" cy="1910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963924" y="3646297"/>
            <a:ext cx="4402836" cy="382016"/>
          </a:xfrm>
          <a:prstGeom prst="roundRect">
            <a:avLst>
              <a:gd name="adj" fmla="val 4787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82796" y="3646297"/>
            <a:ext cx="4165092" cy="382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Automatise le RUN sans transformer</a:t>
            </a:r>
            <a:r>
              <a:rPr sz="800" b="0" i="0">
                <a:solidFill>
                  <a:srgbClr val="FFFFFF"/>
                </a:solidFill>
                <a:latin typeface="Outfit"/>
              </a:rPr>
              <a:t> — Plus de 40 % des projets agentic seront abandonnés d'ici 2027 (Gartner, juin 2025).</a:t>
            </a:r>
          </a:p>
        </p:txBody>
      </p:sp>
      <p:sp>
        <p:nvSpPr>
          <p:cNvPr id="26" name="Rounded Rectangle 25"/>
          <p:cNvSpPr/>
          <p:nvPr/>
        </p:nvSpPr>
        <p:spPr>
          <a:xfrm>
            <a:off x="562356" y="4192016"/>
            <a:ext cx="3810762" cy="791464"/>
          </a:xfrm>
          <a:prstGeom prst="roundRect">
            <a:avLst>
              <a:gd name="adj" fmla="val 231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301744"/>
            <a:ext cx="3554730" cy="572008"/>
          </a:xfrm>
          <a:prstGeom prst="rect">
            <a:avLst/>
          </a:prstGeom>
          <a:noFill/>
        </p:spPr>
        <p:txBody>
          <a:bodyPr wrap="square" anchor="t" lIns="0" rIns="0" tIns="0" bIns="0">
            <a:noAutofit/>
          </a:bodyPr>
          <a:lstStyle/>
          <a:p>
            <a:pPr algn="l"/>
            <a:r>
              <a:rPr sz="800" b="1" i="0">
                <a:solidFill>
                  <a:srgbClr val="586586"/>
                </a:solidFill>
                <a:latin typeface="Outfit"/>
              </a:rPr>
              <a:t>CE QUE LES QUATRE ALTERNATIVES N'ONT PAS</a:t>
            </a:r>
          </a:p>
          <a:p>
            <a:pPr algn="l">
              <a:lnSpc>
                <a:spcPct val="125000"/>
              </a:lnSpc>
              <a:spcBef>
                <a:spcPts val="300"/>
              </a:spcBef>
            </a:pPr>
            <a:r>
              <a:rPr sz="800" b="0" i="0">
                <a:solidFill>
                  <a:srgbClr val="0E2356"/>
                </a:solidFill>
                <a:latin typeface="Outfit"/>
              </a:rPr>
              <a:t>« Infrastructure as a Product » existe ailleurs (Thoughtworks, Itential) ; nous gardons l'étiquette. Le différenciateur : produit + gaspillage + doctrine IA.</a:t>
            </a:r>
          </a:p>
        </p:txBody>
      </p:sp>
      <p:sp>
        <p:nvSpPr>
          <p:cNvPr id="28" name="Rounded Rectangle 27"/>
          <p:cNvSpPr/>
          <p:nvPr/>
        </p:nvSpPr>
        <p:spPr>
          <a:xfrm>
            <a:off x="4555998" y="4192016"/>
            <a:ext cx="3810762" cy="791464"/>
          </a:xfrm>
          <a:prstGeom prst="roundRect">
            <a:avLst>
              <a:gd name="adj" fmla="val 231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4014" y="4301744"/>
            <a:ext cx="3554730" cy="572008"/>
          </a:xfrm>
          <a:prstGeom prst="rect">
            <a:avLst/>
          </a:prstGeom>
          <a:noFill/>
        </p:spPr>
        <p:txBody>
          <a:bodyPr wrap="square" anchor="t" lIns="0" rIns="0" tIns="0" bIns="0">
            <a:noAutofit/>
          </a:bodyPr>
          <a:lstStyle/>
          <a:p>
            <a:pPr algn="l"/>
            <a:r>
              <a:rPr sz="800" b="1" i="0">
                <a:solidFill>
                  <a:srgbClr val="586586"/>
                </a:solidFill>
                <a:latin typeface="Outfit"/>
              </a:rPr>
              <a:t>LA RÉPONSE AU « JE NE VEUX QUE LA BAISSE DE COÛTS »</a:t>
            </a:r>
          </a:p>
          <a:p>
            <a:pPr algn="l">
              <a:lnSpc>
                <a:spcPct val="125000"/>
              </a:lnSpc>
              <a:spcBef>
                <a:spcPts val="300"/>
              </a:spcBef>
            </a:pPr>
            <a:r>
              <a:rPr sz="800" b="0" i="0">
                <a:solidFill>
                  <a:srgbClr val="0E2356"/>
                </a:solidFill>
                <a:latin typeface="Outfit"/>
              </a:rPr>
              <a:t>Un Assessment flash d'entrée, puis la trajectoire — jamais l'assainissement seul. Sous pression IA : un cas d'usage public, « tout de suite, sous gate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Ce que ça coûte</a:t>
            </a:r>
          </a:p>
          <a:p>
            <a:r>
              <a:rPr sz="1050" i="1">
                <a:solidFill>
                  <a:srgbClr val="586586"/>
                </a:solidFill>
                <a:latin typeface="Outfit"/>
              </a:rPr>
              <a:t>Ce que coûte le statu quo, les douleurs mesurables, et les 8 familles qui les rendent traitables.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Si rien ne change : un RUN permanent, une infra orpheline, une DSI qui pilote à vue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Quatre parties prenantes interrogées séparément convergent sur un même constat, lu ici à l'échelle de la DSI.</a:t>
            </a:r>
          </a:p>
        </p:txBody>
      </p:sp>
      <p:sp>
        <p:nvSpPr>
          <p:cNvPr id="4" name="Rounded Rectangle 3"/>
          <p:cNvSpPr/>
          <p:nvPr/>
        </p:nvSpPr>
        <p:spPr>
          <a:xfrm>
            <a:off x="562356" y="1490472"/>
            <a:ext cx="2479548" cy="280492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55063"/>
            <a:ext cx="2113788" cy="201168"/>
          </a:xfrm>
          <a:prstGeom prst="rect">
            <a:avLst/>
          </a:prstGeom>
          <a:noFill/>
        </p:spPr>
        <p:txBody>
          <a:bodyPr wrap="square" anchor="t" lIns="0" rIns="0" tIns="0" bIns="0">
            <a:noAutofit/>
          </a:bodyPr>
          <a:lstStyle/>
          <a:p>
            <a:pPr algn="l"/>
            <a:r>
              <a:rPr sz="800" b="1" i="0">
                <a:solidFill>
                  <a:srgbClr val="C7CBE0"/>
                </a:solidFill>
                <a:latin typeface="Outfit"/>
              </a:rPr>
              <a:t>1 · LE RUN</a:t>
            </a:r>
          </a:p>
        </p:txBody>
      </p:sp>
      <p:sp>
        <p:nvSpPr>
          <p:cNvPr id="6" name="TextBox 5"/>
          <p:cNvSpPr txBox="1"/>
          <p:nvPr/>
        </p:nvSpPr>
        <p:spPr>
          <a:xfrm>
            <a:off x="745236" y="1856231"/>
            <a:ext cx="2113788" cy="534924"/>
          </a:xfrm>
          <a:prstGeom prst="rect">
            <a:avLst/>
          </a:prstGeom>
          <a:noFill/>
        </p:spPr>
        <p:txBody>
          <a:bodyPr wrap="square" anchor="t" lIns="0" rIns="0" tIns="0" bIns="0">
            <a:noAutofit/>
          </a:bodyPr>
          <a:lstStyle/>
          <a:p>
            <a:pPr algn="l">
              <a:lnSpc>
                <a:spcPct val="115000"/>
              </a:lnSpc>
            </a:pPr>
            <a:r>
              <a:rPr sz="1050" b="1" i="0">
                <a:solidFill>
                  <a:srgbClr val="FFFFFF"/>
                </a:solidFill>
                <a:latin typeface="Outfit"/>
              </a:rPr>
              <a:t>Il ne s'arrête jamais, et il puise dans les mêmes experts que le BUILD</a:t>
            </a:r>
          </a:p>
        </p:txBody>
      </p:sp>
      <p:sp>
        <p:nvSpPr>
          <p:cNvPr id="7" name="TextBox 6"/>
          <p:cNvSpPr txBox="1"/>
          <p:nvPr/>
        </p:nvSpPr>
        <p:spPr>
          <a:xfrm>
            <a:off x="745236"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C7CBE0"/>
                </a:solidFill>
                <a:latin typeface="Outfit"/>
              </a:rPr>
              <a:t>—  </a:t>
            </a:r>
            <a:r>
              <a:rPr sz="900" b="0" i="0">
                <a:solidFill>
                  <a:srgbClr val="FFFFFF"/>
                </a:solidFill>
                <a:latin typeface="Outfit"/>
              </a:rPr>
              <a:t>Régime permanent : aucune fin de phase ne libère l'astreinte ni le maintien.</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charge vient de l'extérieur — incidents, demandes, obsolescences.</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dette ne se voit pas le jour où on la crée : elle se paie plus tard.</a:t>
            </a:r>
          </a:p>
        </p:txBody>
      </p:sp>
      <p:sp>
        <p:nvSpPr>
          <p:cNvPr id="8" name="Rounded Rectangle 7"/>
          <p:cNvSpPr/>
          <p:nvPr/>
        </p:nvSpPr>
        <p:spPr>
          <a:xfrm>
            <a:off x="3224783"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7664"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2 · L'INFRA TRANSVERSE</a:t>
            </a:r>
          </a:p>
        </p:txBody>
      </p:sp>
      <p:sp>
        <p:nvSpPr>
          <p:cNvPr id="10" name="TextBox 9"/>
          <p:cNvSpPr txBox="1"/>
          <p:nvPr/>
        </p:nvSpPr>
        <p:spPr>
          <a:xfrm>
            <a:off x="3407664"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sert toutes les équipes et n'appartient à aucune</a:t>
            </a:r>
          </a:p>
        </p:txBody>
      </p:sp>
      <p:sp>
        <p:nvSpPr>
          <p:cNvPr id="11" name="TextBox 10"/>
          <p:cNvSpPr txBox="1"/>
          <p:nvPr/>
        </p:nvSpPr>
        <p:spPr>
          <a:xfrm>
            <a:off x="3407664"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Son gaspillage est mutualisé : il ne pèse sur le budget d'aucune équipe.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ne porte le coût, donc personne n'a de raison de le réduire.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n'arbitre seul : fermer un service touche tout le monde.</a:t>
            </a:r>
          </a:p>
        </p:txBody>
      </p:sp>
      <p:sp>
        <p:nvSpPr>
          <p:cNvPr id="12" name="Rounded Rectangle 11"/>
          <p:cNvSpPr/>
          <p:nvPr/>
        </p:nvSpPr>
        <p:spPr>
          <a:xfrm>
            <a:off x="5887212"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0092"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3 · LA DSI</a:t>
            </a:r>
          </a:p>
        </p:txBody>
      </p:sp>
      <p:sp>
        <p:nvSpPr>
          <p:cNvPr id="14" name="TextBox 13"/>
          <p:cNvSpPr txBox="1"/>
          <p:nvPr/>
        </p:nvSpPr>
        <p:spPr>
          <a:xfrm>
            <a:off x="6070092"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pilote à vue, et sa promesse reste déclarative</a:t>
            </a:r>
          </a:p>
        </p:txBody>
      </p:sp>
      <p:sp>
        <p:nvSpPr>
          <p:cNvPr id="15" name="TextBox 14"/>
          <p:cNvSpPr txBox="1"/>
          <p:nvPr/>
        </p:nvSpPr>
        <p:spPr>
          <a:xfrm>
            <a:off x="6070092"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Aucun signal de flux partagé : un reporting-miroir, pas un pilotage.</a:t>
            </a:r>
          </a:p>
          <a:p>
            <a:pPr algn="l">
              <a:lnSpc>
                <a:spcPct val="120000"/>
              </a:lnSpc>
              <a:spcBef>
                <a:spcPts val="400"/>
              </a:spcBef>
            </a:pPr>
            <a:r>
              <a:rPr sz="900" b="0" i="0">
                <a:solidFill>
                  <a:srgbClr val="586586"/>
                </a:solidFill>
                <a:latin typeface="Outfit"/>
              </a:rPr>
              <a:t>—  </a:t>
            </a:r>
            <a:r>
              <a:rPr sz="900" b="0" i="0">
                <a:solidFill>
                  <a:srgbClr val="0E2356"/>
                </a:solidFill>
                <a:latin typeface="Outfit"/>
              </a:rPr>
              <a:t>Le self-service reste un guichet tant que le contournement va plus vite.</a:t>
            </a:r>
          </a:p>
          <a:p>
            <a:pPr algn="l">
              <a:lnSpc>
                <a:spcPct val="120000"/>
              </a:lnSpc>
              <a:spcBef>
                <a:spcPts val="400"/>
              </a:spcBef>
            </a:pPr>
            <a:r>
              <a:rPr sz="900" b="0" i="0">
                <a:solidFill>
                  <a:srgbClr val="586586"/>
                </a:solidFill>
                <a:latin typeface="Outfit"/>
              </a:rPr>
              <a:t>—  </a:t>
            </a:r>
            <a:r>
              <a:rPr sz="900" b="0" i="0">
                <a:solidFill>
                  <a:srgbClr val="0E2356"/>
                </a:solidFill>
                <a:latin typeface="Outfit"/>
              </a:rPr>
              <a:t>Un gate de confidentialité non instruit peut bloquer toute preuve par l'IA.</a:t>
            </a:r>
          </a:p>
        </p:txBody>
      </p:sp>
      <p:sp>
        <p:nvSpPr>
          <p:cNvPr id="16" name="Rounded Rectangle 15"/>
          <p:cNvSpPr/>
          <p:nvPr/>
        </p:nvSpPr>
        <p:spPr>
          <a:xfrm>
            <a:off x="562356" y="4504944"/>
            <a:ext cx="7804404" cy="478536"/>
          </a:xfrm>
          <a:prstGeom prst="roundRect">
            <a:avLst>
              <a:gd name="adj" fmla="val 3821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 y="4596384"/>
            <a:ext cx="45720" cy="29565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7" y="452323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19" name="TextBox 18"/>
          <p:cNvSpPr txBox="1"/>
          <p:nvPr/>
        </p:nvSpPr>
        <p:spPr>
          <a:xfrm>
            <a:off x="1074420" y="4504944"/>
            <a:ext cx="7109460" cy="478536"/>
          </a:xfrm>
          <a:prstGeom prst="rect">
            <a:avLst/>
          </a:prstGeom>
          <a:noFill/>
        </p:spPr>
        <p:txBody>
          <a:bodyPr wrap="square" anchor="ctr" lIns="0" rIns="0" tIns="0" bIns="0">
            <a:spAutoFit/>
          </a:bodyPr>
          <a:lstStyle/>
          <a:p>
            <a:pPr algn="ctr"/>
            <a:r>
              <a:rPr sz="1100" b="1" i="0">
                <a:solidFill>
                  <a:srgbClr val="FFFFFF"/>
                </a:solidFill>
                <a:latin typeface="Outfit"/>
              </a:rPr>
              <a:t>Traiter le RUN comme un projet, c'est le perdre à chaque arbitrage.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CE QUE ÇA COÛTE   ·   </a:t>
            </a:r>
            <a:r>
              <a:rPr b="1" sz="125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0E2356"/>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4923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le langage commun qui les rend traitables.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Nommer la famille, c'est déjà pouvoir la détecter, la chiffrer et la prioriser.</a:t>
            </a:r>
          </a:p>
        </p:txBody>
      </p:sp>
      <p:sp>
        <p:nvSpPr>
          <p:cNvPr id="4" name="Rounded Rectangle 3"/>
          <p:cNvSpPr/>
          <p:nvPr/>
        </p:nvSpPr>
        <p:spPr>
          <a:xfrm>
            <a:off x="562356" y="1517904"/>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1</a:t>
            </a:r>
          </a:p>
        </p:txBody>
      </p:sp>
      <p:sp>
        <p:nvSpPr>
          <p:cNvPr id="6" name="Rounded Rectangle 5"/>
          <p:cNvSpPr/>
          <p:nvPr/>
        </p:nvSpPr>
        <p:spPr>
          <a:xfrm>
            <a:off x="1092707"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5"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Flux</a:t>
            </a:r>
            <a:r>
              <a:rPr sz="900" b="0" i="0">
                <a:solidFill>
                  <a:srgbClr val="586586"/>
                </a:solidFill>
                <a:latin typeface="Outfit"/>
              </a:rPr>
              <a:t>  —  Attentes, validations multiples</a:t>
            </a:r>
          </a:p>
        </p:txBody>
      </p:sp>
      <p:sp>
        <p:nvSpPr>
          <p:cNvPr id="8" name="Rounded Rectangle 7"/>
          <p:cNvSpPr/>
          <p:nvPr/>
        </p:nvSpPr>
        <p:spPr>
          <a:xfrm>
            <a:off x="562356" y="2103120"/>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2</a:t>
            </a:r>
          </a:p>
        </p:txBody>
      </p:sp>
      <p:sp>
        <p:nvSpPr>
          <p:cNvPr id="10" name="Rounded Rectangle 9"/>
          <p:cNvSpPr/>
          <p:nvPr/>
        </p:nvSpPr>
        <p:spPr>
          <a:xfrm>
            <a:off x="1092707"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3875"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Humain</a:t>
            </a:r>
            <a:r>
              <a:rPr sz="900" b="0" i="0">
                <a:solidFill>
                  <a:srgbClr val="586586"/>
                </a:solidFill>
                <a:latin typeface="Outfit"/>
              </a:rPr>
              <a:t>  —  Experts seniors sur des tâches répétitives</a:t>
            </a:r>
          </a:p>
        </p:txBody>
      </p:sp>
      <p:sp>
        <p:nvSpPr>
          <p:cNvPr id="12" name="Rounded Rectangle 11"/>
          <p:cNvSpPr/>
          <p:nvPr/>
        </p:nvSpPr>
        <p:spPr>
          <a:xfrm>
            <a:off x="562356" y="2688336"/>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3</a:t>
            </a:r>
          </a:p>
        </p:txBody>
      </p:sp>
      <p:sp>
        <p:nvSpPr>
          <p:cNvPr id="14" name="Rounded Rectangle 13"/>
          <p:cNvSpPr/>
          <p:nvPr/>
        </p:nvSpPr>
        <p:spPr>
          <a:xfrm>
            <a:off x="1092707"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3875"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RUN</a:t>
            </a:r>
            <a:r>
              <a:rPr sz="900" b="0" i="0">
                <a:solidFill>
                  <a:srgbClr val="586586"/>
                </a:solidFill>
                <a:latin typeface="Outfit"/>
              </a:rPr>
              <a:t>  —  Incidents récurrents, demandes répétées</a:t>
            </a:r>
          </a:p>
        </p:txBody>
      </p:sp>
      <p:sp>
        <p:nvSpPr>
          <p:cNvPr id="16" name="Rounded Rectangle 15"/>
          <p:cNvSpPr/>
          <p:nvPr/>
        </p:nvSpPr>
        <p:spPr>
          <a:xfrm>
            <a:off x="562356" y="3273551"/>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273551"/>
            <a:ext cx="420624" cy="420624"/>
          </a:xfrm>
          <a:prstGeom prst="rect">
            <a:avLst/>
          </a:prstGeom>
          <a:noFill/>
        </p:spPr>
        <p:txBody>
          <a:bodyPr wrap="square" anchor="ctr" lIns="0" rIns="0" tIns="0" bIns="0">
            <a:noAutofit/>
          </a:bodyPr>
          <a:lstStyle/>
          <a:p>
            <a:pPr algn="ctr"/>
            <a:r>
              <a:rPr sz="1600" b="1" i="0">
                <a:solidFill>
                  <a:srgbClr val="0E2356"/>
                </a:solidFill>
                <a:latin typeface="Outfit"/>
              </a:rPr>
              <a:t>4</a:t>
            </a:r>
          </a:p>
        </p:txBody>
      </p:sp>
      <p:sp>
        <p:nvSpPr>
          <p:cNvPr id="18" name="Rounded Rectangle 17"/>
          <p:cNvSpPr/>
          <p:nvPr/>
        </p:nvSpPr>
        <p:spPr>
          <a:xfrm>
            <a:off x="1092707"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3875"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Financier</a:t>
            </a:r>
            <a:r>
              <a:rPr sz="900" b="0" i="0">
                <a:solidFill>
                  <a:srgbClr val="586586"/>
                </a:solidFill>
                <a:latin typeface="Outfit"/>
              </a:rPr>
              <a:t>  —  Surdimensionnement, ressources non décommissionnées</a:t>
            </a:r>
          </a:p>
        </p:txBody>
      </p:sp>
      <p:sp>
        <p:nvSpPr>
          <p:cNvPr id="20" name="Rounded Rectangle 19"/>
          <p:cNvSpPr/>
          <p:nvPr/>
        </p:nvSpPr>
        <p:spPr>
          <a:xfrm>
            <a:off x="4624578" y="1517904"/>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4578"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5</a:t>
            </a:r>
          </a:p>
        </p:txBody>
      </p:sp>
      <p:sp>
        <p:nvSpPr>
          <p:cNvPr id="22" name="Rounded Rectangle 21"/>
          <p:cNvSpPr/>
          <p:nvPr/>
        </p:nvSpPr>
        <p:spPr>
          <a:xfrm>
            <a:off x="5154930"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6098"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Cognitif</a:t>
            </a:r>
            <a:r>
              <a:rPr sz="900" b="0" i="0">
                <a:solidFill>
                  <a:srgbClr val="586586"/>
                </a:solidFill>
                <a:latin typeface="Outfit"/>
              </a:rPr>
              <a:t>  —  Trop d'outils, procédures complexes</a:t>
            </a:r>
          </a:p>
        </p:txBody>
      </p:sp>
      <p:sp>
        <p:nvSpPr>
          <p:cNvPr id="24" name="Rounded Rectangle 23"/>
          <p:cNvSpPr/>
          <p:nvPr/>
        </p:nvSpPr>
        <p:spPr>
          <a:xfrm>
            <a:off x="4624578" y="2103120"/>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24578"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6</a:t>
            </a:r>
          </a:p>
        </p:txBody>
      </p:sp>
      <p:sp>
        <p:nvSpPr>
          <p:cNvPr id="26" name="Rounded Rectangle 25"/>
          <p:cNvSpPr/>
          <p:nvPr/>
        </p:nvSpPr>
        <p:spPr>
          <a:xfrm>
            <a:off x="5154930"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56098"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Décisionnel</a:t>
            </a:r>
            <a:r>
              <a:rPr sz="900" b="0" i="0">
                <a:solidFill>
                  <a:srgbClr val="586586"/>
                </a:solidFill>
                <a:latin typeface="Outfit"/>
              </a:rPr>
              <a:t>  —  Arbitrages subjectifs, priorisation opaque</a:t>
            </a:r>
          </a:p>
        </p:txBody>
      </p:sp>
      <p:sp>
        <p:nvSpPr>
          <p:cNvPr id="28" name="Rounded Rectangle 27"/>
          <p:cNvSpPr/>
          <p:nvPr/>
        </p:nvSpPr>
        <p:spPr>
          <a:xfrm>
            <a:off x="4624578" y="2688336"/>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4578"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7</a:t>
            </a:r>
          </a:p>
        </p:txBody>
      </p:sp>
      <p:sp>
        <p:nvSpPr>
          <p:cNvPr id="30" name="Rounded Rectangle 29"/>
          <p:cNvSpPr/>
          <p:nvPr/>
        </p:nvSpPr>
        <p:spPr>
          <a:xfrm>
            <a:off x="5154930"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6098"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Environnemental</a:t>
            </a:r>
            <a:r>
              <a:rPr sz="900" b="0" i="0">
                <a:solidFill>
                  <a:srgbClr val="586586"/>
                </a:solidFill>
                <a:latin typeface="Outfit"/>
              </a:rPr>
              <a:t>  —  Ressources inutilisées, environnements non éteints</a:t>
            </a:r>
          </a:p>
        </p:txBody>
      </p:sp>
      <p:sp>
        <p:nvSpPr>
          <p:cNvPr id="32" name="Rounded Rectangle 31"/>
          <p:cNvSpPr/>
          <p:nvPr/>
        </p:nvSpPr>
        <p:spPr>
          <a:xfrm>
            <a:off x="4624578" y="3273551"/>
            <a:ext cx="420624" cy="420624"/>
          </a:xfrm>
          <a:prstGeom prst="roundRect">
            <a:avLst>
              <a:gd name="adj" fmla="val 43478"/>
            </a:avLst>
          </a:prstGeom>
          <a:solidFill>
            <a:srgbClr val="0E2356"/>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24578" y="3273551"/>
            <a:ext cx="420624" cy="420624"/>
          </a:xfrm>
          <a:prstGeom prst="rect">
            <a:avLst/>
          </a:prstGeom>
          <a:noFill/>
        </p:spPr>
        <p:txBody>
          <a:bodyPr wrap="square" anchor="ctr" lIns="0" rIns="0" tIns="0" bIns="0">
            <a:noAutofit/>
          </a:bodyPr>
          <a:lstStyle/>
          <a:p>
            <a:pPr algn="ctr"/>
            <a:r>
              <a:rPr sz="1600" b="1" i="0">
                <a:solidFill>
                  <a:srgbClr val="FFFFFF"/>
                </a:solidFill>
                <a:latin typeface="Outfit"/>
              </a:rPr>
              <a:t>8</a:t>
            </a:r>
          </a:p>
        </p:txBody>
      </p:sp>
      <p:sp>
        <p:nvSpPr>
          <p:cNvPr id="34" name="Rounded Rectangle 33"/>
          <p:cNvSpPr/>
          <p:nvPr/>
        </p:nvSpPr>
        <p:spPr>
          <a:xfrm>
            <a:off x="5154930"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56098"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IA</a:t>
            </a:r>
            <a:r>
              <a:rPr sz="900" b="0" i="0">
                <a:solidFill>
                  <a:srgbClr val="586586"/>
                </a:solidFill>
                <a:latin typeface="Outfit"/>
              </a:rPr>
              <a:t>  —  Cas d'usage gadget, automatisation sans garde-fous</a:t>
            </a:r>
          </a:p>
        </p:txBody>
      </p:sp>
      <p:sp>
        <p:nvSpPr>
          <p:cNvPr id="36" name="Rounded Rectangle 35"/>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9" name="TextBox 38"/>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Nommé, un gaspillage devient traitable : la méthode existe déjà — détaillée au chapitre L'offre.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Nos convictions</a:t>
            </a:r>
          </a:p>
          <a:p>
            <a:r>
              <a:rPr sz="1050" i="1">
                <a:solidFill>
                  <a:srgbClr val="586586"/>
                </a:solidFill>
                <a:latin typeface="Outfit"/>
              </a:rPr>
              <a:t>Sept convictions, une conviction sur l'agentic, et un exemple avant/après de ce qu'elle change.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NOS CONVICTIONS   ·   </a:t>
            </a:r>
            <a:r>
              <a:rPr b="1" sz="1200">
                <a:solidFill>
                  <a:srgbClr val="0E2356"/>
                </a:solidFill>
                <a:latin typeface="Outfit"/>
              </a:rPr>
              <a:t>Nos convictions sur votre transformation en mode produit (1/2) — les conditions qui favorisent le succès</a:t>
            </a:r>
          </a:p>
        </p:txBody>
      </p:sp>
      <p:sp>
        <p:nvSpPr>
          <p:cNvPr id="3" name="Round Diagonal Corner Rectangle 2"/>
          <p:cNvSpPr/>
          <p:nvPr/>
        </p:nvSpPr>
        <p:spPr>
          <a:xfrm>
            <a:off x="562356" y="1143000"/>
            <a:ext cx="457200" cy="310896"/>
          </a:xfrm>
          <a:prstGeom prst="round2DiagRect">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143000"/>
            <a:ext cx="457200" cy="310896"/>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5" name="Rectangle 4"/>
          <p:cNvSpPr/>
          <p:nvPr/>
        </p:nvSpPr>
        <p:spPr>
          <a:xfrm>
            <a:off x="646480" y="1453896"/>
            <a:ext cx="14630" cy="48318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17219" y="1900504"/>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6" y="1124712"/>
            <a:ext cx="4695444" cy="690753"/>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Partir des utilisateurs et de leurs douleurs, pas du catalogue d'outils.</a:t>
            </a:r>
          </a:p>
          <a:p>
            <a:pPr algn="l">
              <a:lnSpc>
                <a:spcPct val="120000"/>
              </a:lnSpc>
              <a:spcBef>
                <a:spcPts val="200"/>
              </a:spcBef>
            </a:pPr>
            <a:r>
              <a:rPr sz="900" b="0" i="0">
                <a:solidFill>
                  <a:srgbClr val="586586"/>
                </a:solidFill>
                <a:latin typeface="Outfit"/>
              </a:rPr>
              <a:t>Une plateforme n'est adoptée que si elle résout une douleur mesurée chez ceux qui la consomment.</a:t>
            </a:r>
          </a:p>
        </p:txBody>
      </p:sp>
      <p:sp>
        <p:nvSpPr>
          <p:cNvPr id="8" name="Round Diagonal Corner Rectangle 7"/>
          <p:cNvSpPr/>
          <p:nvPr/>
        </p:nvSpPr>
        <p:spPr>
          <a:xfrm>
            <a:off x="562356" y="2108073"/>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08073"/>
            <a:ext cx="457200" cy="310896"/>
          </a:xfrm>
          <a:prstGeom prst="rect">
            <a:avLst/>
          </a:prstGeom>
          <a:noFill/>
        </p:spPr>
        <p:txBody>
          <a:bodyPr wrap="square" anchor="ctr" lIns="0" rIns="0" tIns="0" bIns="0">
            <a:noAutofit/>
          </a:bodyPr>
          <a:lstStyle/>
          <a:p>
            <a:pPr algn="ctr"/>
            <a:r>
              <a:rPr sz="1200" b="1" i="0">
                <a:solidFill>
                  <a:srgbClr val="0E2356"/>
                </a:solidFill>
                <a:latin typeface="Outfit"/>
              </a:rPr>
              <a:t>2.</a:t>
            </a:r>
          </a:p>
        </p:txBody>
      </p:sp>
      <p:sp>
        <p:nvSpPr>
          <p:cNvPr id="10" name="Rectangle 9"/>
          <p:cNvSpPr/>
          <p:nvPr/>
        </p:nvSpPr>
        <p:spPr>
          <a:xfrm>
            <a:off x="646480" y="2418969"/>
            <a:ext cx="14630" cy="63158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7219" y="301397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3876" y="2089785"/>
            <a:ext cx="4695444" cy="83915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Bien choisir les premiers périmètres de transformation.</a:t>
            </a:r>
          </a:p>
          <a:p>
            <a:pPr algn="l">
              <a:lnSpc>
                <a:spcPct val="120000"/>
              </a:lnSpc>
              <a:spcBef>
                <a:spcPts val="200"/>
              </a:spcBef>
            </a:pPr>
            <a:r>
              <a:rPr sz="900" b="1" i="0">
                <a:solidFill>
                  <a:srgbClr val="0E2356"/>
                </a:solidFill>
                <a:latin typeface="Outfit"/>
              </a:rPr>
              <a:t>–  </a:t>
            </a:r>
            <a:r>
              <a:rPr sz="900" b="0" i="0">
                <a:solidFill>
                  <a:srgbClr val="586586"/>
                </a:solidFill>
                <a:latin typeface="Outfit"/>
              </a:rPr>
              <a:t>Significatifs au regard de ce que la transformation doit résoudre.</a:t>
            </a:r>
          </a:p>
          <a:p>
            <a:pPr algn="l">
              <a:lnSpc>
                <a:spcPct val="120000"/>
              </a:lnSpc>
              <a:spcBef>
                <a:spcPts val="200"/>
              </a:spcBef>
            </a:pPr>
            <a:r>
              <a:rPr sz="900" b="1" i="0">
                <a:solidFill>
                  <a:srgbClr val="0E2356"/>
                </a:solidFill>
                <a:latin typeface="Outfit"/>
              </a:rPr>
              <a:t>–  </a:t>
            </a:r>
            <a:r>
              <a:rPr sz="900" b="0" i="0">
                <a:solidFill>
                  <a:srgbClr val="586586"/>
                </a:solidFill>
                <a:latin typeface="Outfit"/>
              </a:rPr>
              <a:t>Ni trop complexes, pour réussir et apprendre ; ni trop simples, pour créer du mouvement et faire émerger des promoteurs.</a:t>
            </a:r>
          </a:p>
        </p:txBody>
      </p:sp>
      <p:sp>
        <p:nvSpPr>
          <p:cNvPr id="13" name="Round Diagonal Corner Rectangle 12"/>
          <p:cNvSpPr/>
          <p:nvPr/>
        </p:nvSpPr>
        <p:spPr>
          <a:xfrm>
            <a:off x="562356" y="3221545"/>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3221545"/>
            <a:ext cx="457200" cy="310896"/>
          </a:xfrm>
          <a:prstGeom prst="rect">
            <a:avLst/>
          </a:prstGeom>
          <a:noFill/>
        </p:spPr>
        <p:txBody>
          <a:bodyPr wrap="square" anchor="ctr" lIns="0" rIns="0" tIns="0" bIns="0">
            <a:noAutofit/>
          </a:bodyPr>
          <a:lstStyle/>
          <a:p>
            <a:pPr algn="ctr"/>
            <a:r>
              <a:rPr sz="1200" b="1" i="0">
                <a:solidFill>
                  <a:srgbClr val="0E2356"/>
                </a:solidFill>
                <a:latin typeface="Outfit"/>
              </a:rPr>
              <a:t>3.</a:t>
            </a:r>
          </a:p>
        </p:txBody>
      </p:sp>
      <p:sp>
        <p:nvSpPr>
          <p:cNvPr id="15" name="Rectangle 14"/>
          <p:cNvSpPr/>
          <p:nvPr/>
        </p:nvSpPr>
        <p:spPr>
          <a:xfrm>
            <a:off x="646480" y="3532441"/>
            <a:ext cx="14630" cy="647776"/>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7219" y="4143641"/>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3876" y="3203257"/>
            <a:ext cx="4695444" cy="855345"/>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Traiter le gaspillage avant de construire, et prioriser sur des critères partagés.</a:t>
            </a:r>
          </a:p>
          <a:p>
            <a:pPr algn="l">
              <a:lnSpc>
                <a:spcPct val="120000"/>
              </a:lnSpc>
              <a:spcBef>
                <a:spcPts val="200"/>
              </a:spcBef>
            </a:pPr>
            <a:r>
              <a:rPr sz="900" b="1" i="0">
                <a:solidFill>
                  <a:srgbClr val="0E2356"/>
                </a:solidFill>
                <a:latin typeface="Outfit"/>
              </a:rPr>
              <a:t>–  </a:t>
            </a:r>
            <a:r>
              <a:rPr sz="900" b="0" i="0">
                <a:solidFill>
                  <a:srgbClr val="586586"/>
                </a:solidFill>
                <a:latin typeface="Outfit"/>
              </a:rPr>
              <a:t>Nommer, scorer, prioriser (valeur, coût, complexité) libère la capacité que le RUN confisque aujourd'hui.</a:t>
            </a:r>
          </a:p>
          <a:p>
            <a:pPr algn="l">
              <a:lnSpc>
                <a:spcPct val="120000"/>
              </a:lnSpc>
              <a:spcBef>
                <a:spcPts val="200"/>
              </a:spcBef>
            </a:pPr>
            <a:r>
              <a:rPr sz="900" b="1" i="0">
                <a:solidFill>
                  <a:srgbClr val="0E2356"/>
                </a:solidFill>
                <a:latin typeface="Outfit"/>
              </a:rPr>
              <a:t>–  </a:t>
            </a:r>
            <a:r>
              <a:rPr sz="900" b="0" i="0">
                <a:solidFill>
                  <a:srgbClr val="586586"/>
                </a:solidFill>
                <a:latin typeface="Outfit"/>
              </a:rPr>
              <a:t>Des décisions ritualisées, reliées au budget.</a:t>
            </a:r>
          </a:p>
        </p:txBody>
      </p:sp>
      <p:sp>
        <p:nvSpPr>
          <p:cNvPr id="18" name="Round Diagonal Corner Rectangle 17"/>
          <p:cNvSpPr/>
          <p:nvPr/>
        </p:nvSpPr>
        <p:spPr>
          <a:xfrm>
            <a:off x="562356" y="4351210"/>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4351210"/>
            <a:ext cx="457200" cy="310896"/>
          </a:xfrm>
          <a:prstGeom prst="rect">
            <a:avLst/>
          </a:prstGeom>
          <a:noFill/>
        </p:spPr>
        <p:txBody>
          <a:bodyPr wrap="square" anchor="ctr" lIns="0" rIns="0" tIns="0" bIns="0">
            <a:noAutofit/>
          </a:bodyPr>
          <a:lstStyle/>
          <a:p>
            <a:pPr algn="ctr"/>
            <a:r>
              <a:rPr sz="1200" b="1" i="0">
                <a:solidFill>
                  <a:srgbClr val="0E2356"/>
                </a:solidFill>
                <a:latin typeface="Outfit"/>
              </a:rPr>
              <a:t>4.</a:t>
            </a:r>
          </a:p>
        </p:txBody>
      </p:sp>
      <p:sp>
        <p:nvSpPr>
          <p:cNvPr id="20" name="Rectangle 19"/>
          <p:cNvSpPr/>
          <p:nvPr/>
        </p:nvSpPr>
        <p:spPr>
          <a:xfrm>
            <a:off x="646480" y="4662106"/>
            <a:ext cx="14630" cy="19267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7219" y="4818202"/>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3876" y="4332922"/>
            <a:ext cx="4695444" cy="40024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Un propriétaire, une roadmap, une valeur mesurée.</a:t>
            </a:r>
          </a:p>
          <a:p>
            <a:pPr algn="l">
              <a:lnSpc>
                <a:spcPct val="120000"/>
              </a:lnSpc>
              <a:spcBef>
                <a:spcPts val="200"/>
              </a:spcBef>
            </a:pPr>
            <a:r>
              <a:rPr sz="900" b="0" i="0">
                <a:solidFill>
                  <a:srgbClr val="586586"/>
                </a:solidFill>
                <a:latin typeface="Outfit"/>
              </a:rPr>
              <a:t>Sans porteur produit, l'infra retourne au guichet.</a:t>
            </a:r>
          </a:p>
        </p:txBody>
      </p:sp>
      <p:pic>
        <p:nvPicPr>
          <p:cNvPr id="23" name="Picture 22" descr="tropical_0_libre_960x1628.jpg"/>
          <p:cNvPicPr>
            <a:picLocks noChangeAspect="1"/>
          </p:cNvPicPr>
          <p:nvPr/>
        </p:nvPicPr>
        <p:blipFill>
          <a:blip r:embed="rId2"/>
          <a:stretch>
            <a:fillRect/>
          </a:stretch>
        </p:blipFill>
        <p:spPr>
          <a:xfrm>
            <a:off x="6263640" y="1143000"/>
            <a:ext cx="2103120" cy="3566160"/>
          </a:xfrm>
          <a:prstGeom prst="round2DiagRect">
            <a:avLst>
              <a:gd name="adj1" fmla="val 50000"/>
              <a:gd name="adj2" fmla="val 0"/>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NOS CONVICTIONS   ·   </a:t>
            </a:r>
            <a:r>
              <a:rPr b="1" sz="1250">
                <a:solidFill>
                  <a:srgbClr val="0E2356"/>
                </a:solidFill>
                <a:latin typeface="Outfit"/>
              </a:rPr>
              <a:t>Nos convictions sur votre transformation en mode produit (2/2)</a:t>
            </a:r>
          </a:p>
        </p:txBody>
      </p:sp>
      <p:sp>
        <p:nvSpPr>
          <p:cNvPr id="3" name="Round Diagonal Corner Rectangle 2"/>
          <p:cNvSpPr/>
          <p:nvPr/>
        </p:nvSpPr>
        <p:spPr>
          <a:xfrm>
            <a:off x="562356" y="1143000"/>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143000"/>
            <a:ext cx="457200" cy="310896"/>
          </a:xfrm>
          <a:prstGeom prst="rect">
            <a:avLst/>
          </a:prstGeom>
          <a:noFill/>
        </p:spPr>
        <p:txBody>
          <a:bodyPr wrap="square" anchor="ctr" lIns="0" rIns="0" tIns="0" bIns="0">
            <a:noAutofit/>
          </a:bodyPr>
          <a:lstStyle/>
          <a:p>
            <a:pPr algn="ctr"/>
            <a:r>
              <a:rPr sz="1200" b="1" i="0">
                <a:solidFill>
                  <a:srgbClr val="0E2356"/>
                </a:solidFill>
                <a:latin typeface="Outfit"/>
              </a:rPr>
              <a:t>5.</a:t>
            </a:r>
          </a:p>
        </p:txBody>
      </p:sp>
      <p:sp>
        <p:nvSpPr>
          <p:cNvPr id="5" name="Rectangle 4"/>
          <p:cNvSpPr/>
          <p:nvPr/>
        </p:nvSpPr>
        <p:spPr>
          <a:xfrm>
            <a:off x="646480" y="1453896"/>
            <a:ext cx="14630" cy="7687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17219" y="2186063"/>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6" y="1124712"/>
            <a:ext cx="3963924" cy="97631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Articuler la transformation à tous les niveaux.</a:t>
            </a:r>
          </a:p>
          <a:p>
            <a:pPr algn="l">
              <a:lnSpc>
                <a:spcPct val="120000"/>
              </a:lnSpc>
              <a:spcBef>
                <a:spcPts val="200"/>
              </a:spcBef>
            </a:pPr>
            <a:r>
              <a:rPr sz="900" b="1" i="0">
                <a:solidFill>
                  <a:srgbClr val="0E2356"/>
                </a:solidFill>
                <a:latin typeface="Outfit"/>
              </a:rPr>
              <a:t>–  </a:t>
            </a:r>
            <a:r>
              <a:rPr sz="900" b="0" i="0">
                <a:solidFill>
                  <a:srgbClr val="586586"/>
                </a:solidFill>
                <a:latin typeface="Outfit"/>
              </a:rPr>
              <a:t>Central (DSI et sponsor, garants de l'approche) ; opérationnel (animation des équipes) ; transverse (fluidifier les interactions entre équipes).</a:t>
            </a:r>
          </a:p>
          <a:p>
            <a:pPr algn="l">
              <a:lnSpc>
                <a:spcPct val="120000"/>
              </a:lnSpc>
              <a:spcBef>
                <a:spcPts val="200"/>
              </a:spcBef>
            </a:pPr>
            <a:r>
              <a:rPr sz="900" b="1" i="0">
                <a:solidFill>
                  <a:srgbClr val="0E2356"/>
                </a:solidFill>
                <a:latin typeface="Outfit"/>
              </a:rPr>
              <a:t>–  </a:t>
            </a:r>
            <a:r>
              <a:rPr sz="900" b="0" i="0">
                <a:solidFill>
                  <a:srgbClr val="586586"/>
                </a:solidFill>
                <a:latin typeface="Outfit"/>
              </a:rPr>
              <a:t>RH : rôles, parcours de formation, accompagnement des profils clés.</a:t>
            </a:r>
          </a:p>
        </p:txBody>
      </p:sp>
      <p:sp>
        <p:nvSpPr>
          <p:cNvPr id="8" name="Round Diagonal Corner Rectangle 7"/>
          <p:cNvSpPr/>
          <p:nvPr/>
        </p:nvSpPr>
        <p:spPr>
          <a:xfrm>
            <a:off x="562356" y="2393632"/>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393632"/>
            <a:ext cx="457200" cy="310896"/>
          </a:xfrm>
          <a:prstGeom prst="rect">
            <a:avLst/>
          </a:prstGeom>
          <a:noFill/>
        </p:spPr>
        <p:txBody>
          <a:bodyPr wrap="square" anchor="ctr" lIns="0" rIns="0" tIns="0" bIns="0">
            <a:noAutofit/>
          </a:bodyPr>
          <a:lstStyle/>
          <a:p>
            <a:pPr algn="ctr"/>
            <a:r>
              <a:rPr sz="1200" b="1" i="0">
                <a:solidFill>
                  <a:srgbClr val="0E2356"/>
                </a:solidFill>
                <a:latin typeface="Outfit"/>
              </a:rPr>
              <a:t>6.</a:t>
            </a:r>
          </a:p>
        </p:txBody>
      </p:sp>
      <p:sp>
        <p:nvSpPr>
          <p:cNvPr id="10" name="Rectangle 9"/>
          <p:cNvSpPr/>
          <p:nvPr/>
        </p:nvSpPr>
        <p:spPr>
          <a:xfrm>
            <a:off x="646480" y="2704528"/>
            <a:ext cx="14630" cy="63158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7219" y="329953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3876" y="2375344"/>
            <a:ext cx="3963924" cy="83915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S'améliorer en continu, au rythme des saisons.</a:t>
            </a:r>
          </a:p>
          <a:p>
            <a:pPr algn="l">
              <a:lnSpc>
                <a:spcPct val="120000"/>
              </a:lnSpc>
              <a:spcBef>
                <a:spcPts val="200"/>
              </a:spcBef>
            </a:pPr>
            <a:r>
              <a:rPr sz="900" b="1" i="0">
                <a:solidFill>
                  <a:srgbClr val="0E2356"/>
                </a:solidFill>
                <a:latin typeface="Outfit"/>
              </a:rPr>
              <a:t>–  </a:t>
            </a:r>
            <a:r>
              <a:rPr sz="900" b="0" i="0">
                <a:solidFill>
                  <a:srgbClr val="586586"/>
                </a:solidFill>
                <a:latin typeface="Outfit"/>
              </a:rPr>
              <a:t>Mesure systématique et transparente des progrès, à tous les niveaux.</a:t>
            </a:r>
          </a:p>
          <a:p>
            <a:pPr algn="l">
              <a:lnSpc>
                <a:spcPct val="120000"/>
              </a:lnSpc>
              <a:spcBef>
                <a:spcPts val="200"/>
              </a:spcBef>
            </a:pPr>
            <a:r>
              <a:rPr sz="900" b="1" i="0">
                <a:solidFill>
                  <a:srgbClr val="0E2356"/>
                </a:solidFill>
                <a:latin typeface="Outfit"/>
              </a:rPr>
              <a:t>–  </a:t>
            </a:r>
            <a:r>
              <a:rPr sz="900" b="0" i="0">
                <a:solidFill>
                  <a:srgbClr val="586586"/>
                </a:solidFill>
                <a:latin typeface="Outfit"/>
              </a:rPr>
              <a:t>Des équipes redevables de leurs améliorations ; succès et erreurs partagés.</a:t>
            </a:r>
          </a:p>
        </p:txBody>
      </p:sp>
      <p:sp>
        <p:nvSpPr>
          <p:cNvPr id="13" name="Round Diagonal Corner Rectangle 12"/>
          <p:cNvSpPr/>
          <p:nvPr/>
        </p:nvSpPr>
        <p:spPr>
          <a:xfrm>
            <a:off x="562356" y="3507105"/>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3507105"/>
            <a:ext cx="457200" cy="310896"/>
          </a:xfrm>
          <a:prstGeom prst="rect">
            <a:avLst/>
          </a:prstGeom>
          <a:noFill/>
        </p:spPr>
        <p:txBody>
          <a:bodyPr wrap="square" anchor="ctr" lIns="0" rIns="0" tIns="0" bIns="0">
            <a:noAutofit/>
          </a:bodyPr>
          <a:lstStyle/>
          <a:p>
            <a:pPr algn="ctr"/>
            <a:r>
              <a:rPr sz="1200" b="1" i="0">
                <a:solidFill>
                  <a:srgbClr val="0E2356"/>
                </a:solidFill>
                <a:latin typeface="Outfit"/>
              </a:rPr>
              <a:t>7.</a:t>
            </a:r>
          </a:p>
        </p:txBody>
      </p:sp>
      <p:sp>
        <p:nvSpPr>
          <p:cNvPr id="15" name="Rectangle 14"/>
          <p:cNvSpPr/>
          <p:nvPr/>
        </p:nvSpPr>
        <p:spPr>
          <a:xfrm>
            <a:off x="646480" y="3818001"/>
            <a:ext cx="14630" cy="46699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7219" y="424841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3876" y="3488817"/>
            <a:ext cx="3963924" cy="67456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Nous rendre dispensables.</a:t>
            </a:r>
          </a:p>
          <a:p>
            <a:pPr algn="l">
              <a:lnSpc>
                <a:spcPct val="120000"/>
              </a:lnSpc>
              <a:spcBef>
                <a:spcPts val="200"/>
              </a:spcBef>
            </a:pPr>
            <a:r>
              <a:rPr sz="900" b="0" i="0">
                <a:solidFill>
                  <a:srgbClr val="586586"/>
                </a:solidFill>
                <a:latin typeface="Outfit"/>
              </a:rPr>
              <a:t>Transmettre pour que vos équipes portent et incarnent la transformation : la réussite se mesure au jour où elles tiennent le modèle sans nous.</a:t>
            </a:r>
          </a:p>
        </p:txBody>
      </p:sp>
      <p:sp>
        <p:nvSpPr>
          <p:cNvPr id="18" name="Rounded Rectangle 17"/>
          <p:cNvSpPr/>
          <p:nvPr/>
        </p:nvSpPr>
        <p:spPr>
          <a:xfrm>
            <a:off x="5577840" y="1143000"/>
            <a:ext cx="2788920" cy="2697480"/>
          </a:xfrm>
          <a:prstGeom prst="roundRect">
            <a:avLst>
              <a:gd name="adj" fmla="val 8000"/>
            </a:avLst>
          </a:prstGeom>
          <a:solidFill>
            <a:srgbClr val="FFFFFF"/>
          </a:solidFill>
          <a:ln w="285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87568" y="1307592"/>
            <a:ext cx="54864" cy="23682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1344168"/>
            <a:ext cx="2313432" cy="2331720"/>
          </a:xfrm>
          <a:prstGeom prst="rect">
            <a:avLst/>
          </a:prstGeom>
          <a:noFill/>
        </p:spPr>
        <p:txBody>
          <a:bodyPr wrap="square" anchor="t" lIns="0" rIns="0" tIns="0" bIns="0">
            <a:spAutoFit/>
          </a:bodyPr>
          <a:lstStyle/>
          <a:p>
            <a:pPr algn="l"/>
            <a:r>
              <a:rPr sz="800" b="1" i="0">
                <a:solidFill>
                  <a:srgbClr val="586586"/>
                </a:solidFill>
                <a:latin typeface="Outfit"/>
              </a:rPr>
              <a:t>NOTRE CONVICTION SUR L'AGENTIC</a:t>
            </a:r>
          </a:p>
          <a:p>
            <a:pPr algn="l">
              <a:lnSpc>
                <a:spcPct val="115000"/>
              </a:lnSpc>
              <a:spcBef>
                <a:spcPts val="600"/>
              </a:spcBef>
            </a:pPr>
            <a:r>
              <a:rPr sz="1150" b="1" i="0">
                <a:solidFill>
                  <a:srgbClr val="0E2356"/>
                </a:solidFill>
                <a:latin typeface="Outfit"/>
              </a:rPr>
              <a:t>L'IA fait gagner du temps là où il est perdu, pas là où on décide.</a:t>
            </a:r>
          </a:p>
          <a:p>
            <a:pPr algn="l">
              <a:lnSpc>
                <a:spcPct val="125000"/>
              </a:lnSpc>
              <a:spcBef>
                <a:spcPts val="800"/>
              </a:spcBef>
            </a:pPr>
            <a:r>
              <a:rPr sz="900" b="1" i="0">
                <a:solidFill>
                  <a:srgbClr val="0E2356"/>
                </a:solidFill>
                <a:latin typeface="Outfit"/>
              </a:rPr>
              <a:t>–  </a:t>
            </a:r>
            <a:r>
              <a:rPr sz="900" b="0" i="0">
                <a:solidFill>
                  <a:srgbClr val="0E2356"/>
                </a:solidFill>
                <a:latin typeface="Outfit"/>
              </a:rPr>
              <a:t>Elle accélère le diagnostic, la qualification des demandes et la restitution : le temps de triage du RUN est rendu aux équipes, mesuré dès le T0, pas promis.</a:t>
            </a:r>
          </a:p>
          <a:p>
            <a:pPr algn="l">
              <a:lnSpc>
                <a:spcPct val="125000"/>
              </a:lnSpc>
              <a:spcBef>
                <a:spcPts val="800"/>
              </a:spcBef>
            </a:pPr>
            <a:r>
              <a:rPr sz="900" b="1" i="0">
                <a:solidFill>
                  <a:srgbClr val="0E2356"/>
                </a:solidFill>
                <a:latin typeface="Outfit"/>
              </a:rPr>
              <a:t>–  </a:t>
            </a:r>
            <a:r>
              <a:rPr sz="900" b="0" i="0">
                <a:solidFill>
                  <a:srgbClr val="0E2356"/>
                </a:solidFill>
                <a:latin typeface="Outfit"/>
              </a:rPr>
              <a:t>Une expertise OCTO qui complète notre démarche : jamais un prérequis, toujours après le gate de confidentialité.</a:t>
            </a:r>
          </a:p>
        </p:txBody>
      </p:sp>
      <p:pic>
        <p:nvPicPr>
          <p:cNvPr id="21" name="Picture 20" descr="nightsky_0_libre_960x337.jpg"/>
          <p:cNvPicPr>
            <a:picLocks noChangeAspect="1"/>
          </p:cNvPicPr>
          <p:nvPr/>
        </p:nvPicPr>
        <p:blipFill>
          <a:blip r:embed="rId2"/>
          <a:stretch>
            <a:fillRect/>
          </a:stretch>
        </p:blipFill>
        <p:spPr>
          <a:xfrm>
            <a:off x="5577840" y="4005072"/>
            <a:ext cx="2788920" cy="978408"/>
          </a:xfrm>
          <a:prstGeom prst="round2DiagRect">
            <a:avLst>
              <a:gd name="adj1" fmla="val 50000"/>
              <a:gd name="adj2" fmla="val 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NOS CONVICTIONS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1069848"/>
            <a:ext cx="914400" cy="256032"/>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14400" cy="256032"/>
          </a:xfrm>
          <a:prstGeom prst="rect">
            <a:avLst/>
          </a:prstGeom>
          <a:noFill/>
        </p:spPr>
        <p:txBody>
          <a:bodyPr wrap="square" anchor="ctr" lIns="0" rIns="0" tIns="0" bIns="0">
            <a:noAutofit/>
          </a:bodyPr>
          <a:lstStyle/>
          <a:p>
            <a:pPr algn="ctr"/>
            <a:r>
              <a:rPr sz="1000" b="1" i="0">
                <a:solidFill>
                  <a:srgbClr val="FFFFFF"/>
                </a:solidFill>
                <a:latin typeface="Outfit"/>
              </a:rPr>
              <a:t>AVANT</a:t>
            </a:r>
          </a:p>
        </p:txBody>
      </p:sp>
      <p:sp>
        <p:nvSpPr>
          <p:cNvPr id="5" name="Rounded Rectangle 4"/>
          <p:cNvSpPr/>
          <p:nvPr/>
        </p:nvSpPr>
        <p:spPr>
          <a:xfrm>
            <a:off x="4894326" y="1069848"/>
            <a:ext cx="2377440" cy="25603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94326" y="1069848"/>
            <a:ext cx="2377440" cy="256032"/>
          </a:xfrm>
          <a:prstGeom prst="rect">
            <a:avLst/>
          </a:prstGeom>
          <a:noFill/>
        </p:spPr>
        <p:txBody>
          <a:bodyPr wrap="square" anchor="ctr" lIns="0" rIns="0" tIns="0" bIns="0">
            <a:noAutofit/>
          </a:bodyPr>
          <a:lstStyle/>
          <a:p>
            <a:pPr algn="ctr"/>
            <a:r>
              <a:rPr sz="1000" b="1" i="0">
                <a:solidFill>
                  <a:srgbClr val="FFFFFF"/>
                </a:solidFill>
                <a:latin typeface="Outfit"/>
              </a:rPr>
              <a:t>APRÈS — infra as a product</a:t>
            </a:r>
          </a:p>
        </p:txBody>
      </p:sp>
      <p:sp>
        <p:nvSpPr>
          <p:cNvPr id="7" name="Rounded Rectangle 6"/>
          <p:cNvSpPr/>
          <p:nvPr/>
        </p:nvSpPr>
        <p:spPr>
          <a:xfrm>
            <a:off x="562356" y="1453895"/>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94326" y="1453895"/>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372" y="1453895"/>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Guichet de tickets</a:t>
            </a:r>
            <a:r>
              <a:rPr sz="850" b="0" i="0">
                <a:solidFill>
                  <a:srgbClr val="586586"/>
                </a:solidFill>
                <a:latin typeface="Outfit"/>
              </a:rPr>
              <a:t> — personne n'est propriétaire du service.</a:t>
            </a:r>
          </a:p>
        </p:txBody>
      </p:sp>
      <p:sp>
        <p:nvSpPr>
          <p:cNvPr id="10" name="TextBox 9"/>
          <p:cNvSpPr txBox="1"/>
          <p:nvPr/>
        </p:nvSpPr>
        <p:spPr>
          <a:xfrm>
            <a:off x="5022342" y="1453895"/>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Un propriétaire produit</a:t>
            </a:r>
            <a:r>
              <a:rPr sz="850" b="0" i="0">
                <a:solidFill>
                  <a:srgbClr val="0E2356"/>
                </a:solidFill>
                <a:latin typeface="Outfit"/>
              </a:rPr>
              <a:t> — une roadmap, des indicateurs de pilotage.</a:t>
            </a:r>
          </a:p>
        </p:txBody>
      </p:sp>
      <p:sp>
        <p:nvSpPr>
          <p:cNvPr id="11" name="Rounded Rectangle 10"/>
          <p:cNvSpPr/>
          <p:nvPr/>
        </p:nvSpPr>
        <p:spPr>
          <a:xfrm>
            <a:off x="562356" y="1979802"/>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94326" y="1979802"/>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1979802"/>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Le triage du RUN trop long</a:t>
            </a:r>
            <a:r>
              <a:rPr sz="850" b="0" i="0">
                <a:solidFill>
                  <a:srgbClr val="586586"/>
                </a:solidFill>
                <a:latin typeface="Outfit"/>
              </a:rPr>
              <a:t> — traité au fil de l'eau.</a:t>
            </a:r>
          </a:p>
        </p:txBody>
      </p:sp>
      <p:sp>
        <p:nvSpPr>
          <p:cNvPr id="14" name="TextBox 13"/>
          <p:cNvSpPr txBox="1"/>
          <p:nvPr/>
        </p:nvSpPr>
        <p:spPr>
          <a:xfrm>
            <a:off x="5022342" y="1979802"/>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Temps de triage du RUN réduit</a:t>
            </a:r>
            <a:r>
              <a:rPr sz="850" b="0" i="0">
                <a:solidFill>
                  <a:srgbClr val="0E2356"/>
                </a:solidFill>
                <a:latin typeface="Outfit"/>
              </a:rPr>
              <a:t> — capacité RUN récupérée.</a:t>
            </a:r>
          </a:p>
        </p:txBody>
      </p:sp>
      <p:sp>
        <p:nvSpPr>
          <p:cNvPr id="15" name="Rounded Rectangle 14"/>
          <p:cNvSpPr/>
          <p:nvPr/>
        </p:nvSpPr>
        <p:spPr>
          <a:xfrm>
            <a:off x="562356" y="2505710"/>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94326" y="2505710"/>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372" y="2505710"/>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Backlog invisible</a:t>
            </a:r>
            <a:r>
              <a:rPr sz="850" b="0" i="0">
                <a:solidFill>
                  <a:srgbClr val="586586"/>
                </a:solidFill>
                <a:latin typeface="Outfit"/>
              </a:rPr>
              <a:t> — aucun indicateur de pilotage.</a:t>
            </a:r>
          </a:p>
        </p:txBody>
      </p:sp>
      <p:sp>
        <p:nvSpPr>
          <p:cNvPr id="18" name="TextBox 17"/>
          <p:cNvSpPr txBox="1"/>
          <p:nvPr/>
        </p:nvSpPr>
        <p:spPr>
          <a:xfrm>
            <a:off x="5022342" y="2505710"/>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Backlog visible</a:t>
            </a:r>
            <a:r>
              <a:rPr sz="850" b="0" i="0">
                <a:solidFill>
                  <a:srgbClr val="0E2356"/>
                </a:solidFill>
                <a:latin typeface="Outfit"/>
              </a:rPr>
              <a:t> — priorisé, mesuré dans le temps.</a:t>
            </a:r>
          </a:p>
        </p:txBody>
      </p:sp>
      <p:sp>
        <p:nvSpPr>
          <p:cNvPr id="19" name="Rounded Rectangle 18"/>
          <p:cNvSpPr/>
          <p:nvPr/>
        </p:nvSpPr>
        <p:spPr>
          <a:xfrm>
            <a:off x="562356" y="3031617"/>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94326" y="3031617"/>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3031617"/>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Beaucoup de projets, peu d'indicateurs</a:t>
            </a:r>
            <a:r>
              <a:rPr sz="850" b="0" i="0">
                <a:solidFill>
                  <a:srgbClr val="586586"/>
                </a:solidFill>
                <a:latin typeface="Outfit"/>
              </a:rPr>
              <a:t> — du contrôle et du reporting partout.</a:t>
            </a:r>
          </a:p>
        </p:txBody>
      </p:sp>
      <p:sp>
        <p:nvSpPr>
          <p:cNvPr id="22" name="TextBox 21"/>
          <p:cNvSpPr txBox="1"/>
          <p:nvPr/>
        </p:nvSpPr>
        <p:spPr>
          <a:xfrm>
            <a:off x="5022342" y="3031617"/>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Process explicite, rôles définis</a:t>
            </a:r>
            <a:r>
              <a:rPr sz="850" b="0" i="0">
                <a:solidFill>
                  <a:srgbClr val="0E2356"/>
                </a:solidFill>
                <a:latin typeface="Outfit"/>
              </a:rPr>
              <a:t> — l'agent n'arrive qu'une fois le process écrit.</a:t>
            </a:r>
          </a:p>
        </p:txBody>
      </p:sp>
      <p:sp>
        <p:nvSpPr>
          <p:cNvPr id="23" name="Rounded Rectangle 22"/>
          <p:cNvSpPr/>
          <p:nvPr/>
        </p:nvSpPr>
        <p:spPr>
          <a:xfrm>
            <a:off x="562356" y="3557524"/>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894326" y="3557524"/>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 y="3557524"/>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Un pilotage dans la douleur</a:t>
            </a:r>
            <a:r>
              <a:rPr sz="850" b="0" i="0">
                <a:solidFill>
                  <a:srgbClr val="586586"/>
                </a:solidFill>
                <a:latin typeface="Outfit"/>
              </a:rPr>
              <a:t> — trop de sujets pour trop peu de capacité.</a:t>
            </a:r>
          </a:p>
        </p:txBody>
      </p:sp>
      <p:sp>
        <p:nvSpPr>
          <p:cNvPr id="26" name="TextBox 25"/>
          <p:cNvSpPr txBox="1"/>
          <p:nvPr/>
        </p:nvSpPr>
        <p:spPr>
          <a:xfrm>
            <a:off x="5022342" y="3557524"/>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Des évolutions tech atteignables</a:t>
            </a:r>
            <a:r>
              <a:rPr sz="850" b="0" i="0">
                <a:solidFill>
                  <a:srgbClr val="0E2356"/>
                </a:solidFill>
                <a:latin typeface="Outfit"/>
              </a:rPr>
              <a:t> — un pilotage serein, des priorités tenues.</a:t>
            </a:r>
          </a:p>
        </p:txBody>
      </p:sp>
      <p:sp>
        <p:nvSpPr>
          <p:cNvPr id="27" name="Right Arrow 26"/>
          <p:cNvSpPr/>
          <p:nvPr/>
        </p:nvSpPr>
        <p:spPr>
          <a:xfrm>
            <a:off x="4144518" y="1682495"/>
            <a:ext cx="640080" cy="2099183"/>
          </a:xfrm>
          <a:prstGeom prst="rightArrow">
            <a:avLst/>
          </a:prstGeom>
          <a:solidFill>
            <a:srgbClr val="FFFFFF"/>
          </a:solidFill>
          <a:ln w="285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Faire les bonnes choses au bon moment, un backlog piloté, des résultats concrets — l'agentique accélère la démarche, il ne la remplace pas.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L'offre</a:t>
            </a:r>
          </a:p>
          <a:p>
            <a:r>
              <a:rPr sz="1050" i="1">
                <a:solidFill>
                  <a:srgbClr val="586586"/>
                </a:solidFill>
                <a:latin typeface="Outfit"/>
              </a:rPr>
              <a:t>La thèse, le gaspillage traité à deux, et la cible Platform Team.</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L'OFFRE   ·   </a:t>
            </a:r>
            <a:r>
              <a:rPr b="1" sz="1250">
                <a:solidFill>
                  <a:srgbClr val="0E2356"/>
                </a:solidFill>
                <a:latin typeface="Outfit"/>
              </a:rPr>
              <a:t>Pourquoi « Infrastructure as a Product » — le socle de la proposition</a:t>
            </a:r>
          </a:p>
        </p:txBody>
      </p:sp>
      <p:sp>
        <p:nvSpPr>
          <p:cNvPr id="3" name="Rounded Rectangle 2"/>
          <p:cNvSpPr/>
          <p:nvPr/>
        </p:nvSpPr>
        <p:spPr>
          <a:xfrm>
            <a:off x="562356" y="1051560"/>
            <a:ext cx="5719572" cy="914400"/>
          </a:xfrm>
          <a:prstGeom prst="roundRect">
            <a:avLst>
              <a:gd name="adj" fmla="val 2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unset_1_libre_960x457.jpg"/>
          <p:cNvPicPr>
            <a:picLocks noChangeAspect="1"/>
          </p:cNvPicPr>
          <p:nvPr/>
        </p:nvPicPr>
        <p:blipFill>
          <a:blip r:embed="rId2"/>
          <a:stretch>
            <a:fillRect/>
          </a:stretch>
        </p:blipFill>
        <p:spPr>
          <a:xfrm>
            <a:off x="6446520" y="1051560"/>
            <a:ext cx="1920240" cy="914400"/>
          </a:xfrm>
          <a:prstGeom prst="round2DiagRect">
            <a:avLst>
              <a:gd name="adj1" fmla="val 50000"/>
              <a:gd name="adj2" fmla="val 0"/>
            </a:avLst>
          </a:prstGeom>
        </p:spPr>
      </p:pic>
      <p:sp>
        <p:nvSpPr>
          <p:cNvPr id="5" name="Rounded Rectangle 4"/>
          <p:cNvSpPr/>
          <p:nvPr/>
        </p:nvSpPr>
        <p:spPr>
          <a:xfrm>
            <a:off x="653796" y="1179576"/>
            <a:ext cx="54864" cy="6583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3252" y="1051560"/>
            <a:ext cx="5262372" cy="914400"/>
          </a:xfrm>
          <a:prstGeom prst="rect">
            <a:avLst/>
          </a:prstGeom>
          <a:noFill/>
        </p:spPr>
        <p:txBody>
          <a:bodyPr wrap="square" anchor="ctr" lIns="0" rIns="0" tIns="0" bIns="0">
            <a:noAutofit/>
          </a:bodyPr>
          <a:lstStyle/>
          <a:p>
            <a:pPr algn="l"/>
            <a:r>
              <a:rPr sz="1300" b="1" i="0">
                <a:solidFill>
                  <a:srgbClr val="FFFFFF"/>
                </a:solidFill>
                <a:latin typeface="Outfit"/>
              </a:rPr>
              <a:t>Traiter l'infrastructure comme un produit, pas comme un guichet.</a:t>
            </a:r>
          </a:p>
          <a:p>
            <a:pPr algn="l">
              <a:spcBef>
                <a:spcPts val="300"/>
              </a:spcBef>
            </a:pPr>
            <a:r>
              <a:rPr sz="900" b="0" i="0">
                <a:solidFill>
                  <a:srgbClr val="C7CBE0"/>
                </a:solidFill>
                <a:latin typeface="Outfit"/>
              </a:rPr>
              <a:t>Des utilisateurs, un cycle de vie, une valeur mesurée — trois bascules qui répondent aux personas et à leurs douleurs.</a:t>
            </a:r>
          </a:p>
        </p:txBody>
      </p:sp>
      <p:sp>
        <p:nvSpPr>
          <p:cNvPr id="7" name="Rounded Rectangle 6"/>
          <p:cNvSpPr/>
          <p:nvPr/>
        </p:nvSpPr>
        <p:spPr>
          <a:xfrm>
            <a:off x="562356" y="2240279"/>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3524" y="2420112"/>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 y="2420112"/>
            <a:ext cx="457200" cy="457200"/>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10" name="TextBox 9"/>
          <p:cNvSpPr txBox="1"/>
          <p:nvPr/>
        </p:nvSpPr>
        <p:spPr>
          <a:xfrm>
            <a:off x="1421892" y="2240279"/>
            <a:ext cx="4841748" cy="816864"/>
          </a:xfrm>
          <a:prstGeom prst="rect">
            <a:avLst/>
          </a:prstGeom>
          <a:noFill/>
        </p:spPr>
        <p:txBody>
          <a:bodyPr wrap="square" anchor="ctr" lIns="0" rIns="0" tIns="0" bIns="0">
            <a:noAutofit/>
          </a:bodyPr>
          <a:lstStyle/>
          <a:p>
            <a:pPr algn="l"/>
            <a:r>
              <a:rPr sz="1100" b="1" i="0">
                <a:solidFill>
                  <a:srgbClr val="0E2356"/>
                </a:solidFill>
                <a:latin typeface="Outfit"/>
              </a:rPr>
              <a:t>Des utilisateurs, pas des tickets</a:t>
            </a:r>
          </a:p>
          <a:p>
            <a:pPr algn="l">
              <a:lnSpc>
                <a:spcPct val="120000"/>
              </a:lnSpc>
              <a:spcBef>
                <a:spcPts val="200"/>
              </a:spcBef>
            </a:pPr>
            <a:r>
              <a:rPr sz="900" b="0" i="0">
                <a:solidFill>
                  <a:srgbClr val="586586"/>
                </a:solidFill>
                <a:latin typeface="Outfit"/>
              </a:rPr>
              <a:t>On conçoit l'adoption — self-service, onboarding, parcours — au lieu de subir un guichet que le contournement rend inutile.</a:t>
            </a:r>
          </a:p>
        </p:txBody>
      </p:sp>
      <p:sp>
        <p:nvSpPr>
          <p:cNvPr id="11" name="Rounded Rectangle 10"/>
          <p:cNvSpPr/>
          <p:nvPr/>
        </p:nvSpPr>
        <p:spPr>
          <a:xfrm>
            <a:off x="6419088" y="2420112"/>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420112"/>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l'utilisateur applicatif</a:t>
            </a:r>
          </a:p>
        </p:txBody>
      </p:sp>
      <p:sp>
        <p:nvSpPr>
          <p:cNvPr id="13" name="Rounded Rectangle 12"/>
          <p:cNvSpPr/>
          <p:nvPr/>
        </p:nvSpPr>
        <p:spPr>
          <a:xfrm>
            <a:off x="562356" y="3203447"/>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3524" y="3383279"/>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 y="3383279"/>
            <a:ext cx="457200" cy="457200"/>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6" name="TextBox 15"/>
          <p:cNvSpPr txBox="1"/>
          <p:nvPr/>
        </p:nvSpPr>
        <p:spPr>
          <a:xfrm>
            <a:off x="1421892" y="3203447"/>
            <a:ext cx="4841748" cy="816864"/>
          </a:xfrm>
          <a:prstGeom prst="rect">
            <a:avLst/>
          </a:prstGeom>
          <a:noFill/>
        </p:spPr>
        <p:txBody>
          <a:bodyPr wrap="square" anchor="ctr" lIns="0" rIns="0" tIns="0" bIns="0">
            <a:noAutofit/>
          </a:bodyPr>
          <a:lstStyle/>
          <a:p>
            <a:pPr algn="l"/>
            <a:r>
              <a:rPr sz="1100" b="1" i="0">
                <a:solidFill>
                  <a:srgbClr val="0E2356"/>
                </a:solidFill>
                <a:latin typeface="Outfit"/>
              </a:rPr>
              <a:t>Un cycle de vie, une équipe qui en répond</a:t>
            </a:r>
          </a:p>
          <a:p>
            <a:pPr algn="l">
              <a:lnSpc>
                <a:spcPct val="120000"/>
              </a:lnSpc>
              <a:spcBef>
                <a:spcPts val="200"/>
              </a:spcBef>
            </a:pPr>
            <a:r>
              <a:rPr sz="900" b="0" i="0">
                <a:solidFill>
                  <a:srgbClr val="586586"/>
                </a:solidFill>
                <a:latin typeface="Outfit"/>
              </a:rPr>
              <a:t>Le produit a un propriétaire, une roadmap et une dette gérée : on sort du RUN subi et on récupère de la capacité.</a:t>
            </a:r>
          </a:p>
        </p:txBody>
      </p:sp>
      <p:sp>
        <p:nvSpPr>
          <p:cNvPr id="17" name="Rounded Rectangle 16"/>
          <p:cNvSpPr/>
          <p:nvPr/>
        </p:nvSpPr>
        <p:spPr>
          <a:xfrm>
            <a:off x="6419088" y="3383279"/>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3383279"/>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l'infra &amp; le RUN</a:t>
            </a:r>
          </a:p>
        </p:txBody>
      </p:sp>
      <p:sp>
        <p:nvSpPr>
          <p:cNvPr id="19" name="Rounded Rectangle 18"/>
          <p:cNvSpPr/>
          <p:nvPr/>
        </p:nvSpPr>
        <p:spPr>
          <a:xfrm>
            <a:off x="562356" y="4166616"/>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 y="4346448"/>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524" y="4346448"/>
            <a:ext cx="457200" cy="457200"/>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22" name="TextBox 21"/>
          <p:cNvSpPr txBox="1"/>
          <p:nvPr/>
        </p:nvSpPr>
        <p:spPr>
          <a:xfrm>
            <a:off x="1421892" y="4166616"/>
            <a:ext cx="4841748" cy="816864"/>
          </a:xfrm>
          <a:prstGeom prst="rect">
            <a:avLst/>
          </a:prstGeom>
          <a:noFill/>
        </p:spPr>
        <p:txBody>
          <a:bodyPr wrap="square" anchor="ctr" lIns="0" rIns="0" tIns="0" bIns="0">
            <a:noAutofit/>
          </a:bodyPr>
          <a:lstStyle/>
          <a:p>
            <a:pPr algn="l"/>
            <a:r>
              <a:rPr sz="1100" b="1" i="0">
                <a:solidFill>
                  <a:srgbClr val="0E2356"/>
                </a:solidFill>
                <a:latin typeface="Outfit"/>
              </a:rPr>
              <a:t>Un pilotage par la valeur</a:t>
            </a:r>
          </a:p>
          <a:p>
            <a:pPr algn="l">
              <a:lnSpc>
                <a:spcPct val="120000"/>
              </a:lnSpc>
              <a:spcBef>
                <a:spcPts val="200"/>
              </a:spcBef>
            </a:pPr>
            <a:r>
              <a:rPr sz="900" b="0" i="0">
                <a:solidFill>
                  <a:srgbClr val="586586"/>
                </a:solidFill>
                <a:latin typeface="Outfit"/>
              </a:rPr>
              <a:t>On mesure l'usage et la valeur produite, pas l'activité : un signal de flux fiable, des KPIs de mission — pas du reporting-miroir.</a:t>
            </a:r>
          </a:p>
        </p:txBody>
      </p:sp>
      <p:sp>
        <p:nvSpPr>
          <p:cNvPr id="23" name="Rounded Rectangle 22"/>
          <p:cNvSpPr/>
          <p:nvPr/>
        </p:nvSpPr>
        <p:spPr>
          <a:xfrm>
            <a:off x="6419088" y="4346448"/>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4346448"/>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le management &amp; le sponsor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L'OFFRE   ·   </a:t>
            </a:r>
            <a:r>
              <a:rPr b="1" sz="1200">
                <a:solidFill>
                  <a:srgbClr val="0E2356"/>
                </a:solidFill>
                <a:latin typeface="Outfit"/>
              </a:rPr>
              <a:t>Repérer, prioriser, tenir : le gaspillage se traite à deux, sinon il retourne à personne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Même chemin pour chaque famille, avec le client — score = (impact × faisabilité) − prudence IA, ordinal : il éclaire l'arbitrage, sans le remplacer.</a:t>
            </a:r>
          </a:p>
        </p:txBody>
      </p:sp>
      <p:sp>
        <p:nvSpPr>
          <p:cNvPr id="4" name="Rounded Rectangle 3"/>
          <p:cNvSpPr/>
          <p:nvPr/>
        </p:nvSpPr>
        <p:spPr>
          <a:xfrm>
            <a:off x="562356"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8660"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7" name="TextBox 6"/>
          <p:cNvSpPr txBox="1"/>
          <p:nvPr/>
        </p:nvSpPr>
        <p:spPr>
          <a:xfrm>
            <a:off x="708660"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Repérer</a:t>
            </a:r>
            <a:r>
              <a:rPr sz="1000" b="0" i="0">
                <a:solidFill>
                  <a:srgbClr val="586586"/>
                </a:solidFill>
                <a:latin typeface="Outfit"/>
              </a:rPr>
              <a:t> et chiffrer</a:t>
            </a:r>
          </a:p>
        </p:txBody>
      </p:sp>
      <p:sp>
        <p:nvSpPr>
          <p:cNvPr id="8" name="TextBox 7"/>
          <p:cNvSpPr txBox="1"/>
          <p:nvPr/>
        </p:nvSpPr>
        <p:spPr>
          <a:xfrm>
            <a:off x="708660"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détecte chaque gaspillage et on le quantifie, preuves à l'appui.</a:t>
            </a:r>
          </a:p>
        </p:txBody>
      </p:sp>
      <p:sp>
        <p:nvSpPr>
          <p:cNvPr id="9" name="TextBox 8"/>
          <p:cNvSpPr txBox="1"/>
          <p:nvPr/>
        </p:nvSpPr>
        <p:spPr>
          <a:xfrm>
            <a:off x="708660"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Ouvre ses données — CMDB, facturation, tickets — et nomme ce qui le gêne vraiment.</a:t>
            </a:r>
          </a:p>
        </p:txBody>
      </p:sp>
      <p:sp>
        <p:nvSpPr>
          <p:cNvPr id="10" name="TextBox 9"/>
          <p:cNvSpPr txBox="1"/>
          <p:nvPr/>
        </p:nvSpPr>
        <p:spPr>
          <a:xfrm>
            <a:off x="708660"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Apporte la grille des 8 familles et la méthode de quantification.</a:t>
            </a:r>
          </a:p>
        </p:txBody>
      </p:sp>
      <p:sp>
        <p:nvSpPr>
          <p:cNvPr id="11" name="Rounded Rectangle 10"/>
          <p:cNvSpPr/>
          <p:nvPr/>
        </p:nvSpPr>
        <p:spPr>
          <a:xfrm>
            <a:off x="635508"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périmètre mesuré, et ce qu'on accepte d'appeler gaspillage.</a:t>
            </a:r>
          </a:p>
        </p:txBody>
      </p:sp>
      <p:sp>
        <p:nvSpPr>
          <p:cNvPr id="14" name="TextBox 13"/>
          <p:cNvSpPr txBox="1"/>
          <p:nvPr/>
        </p:nvSpPr>
        <p:spPr>
          <a:xfrm>
            <a:off x="2980944" y="3049523"/>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5" name="Rounded Rectangle 14"/>
          <p:cNvSpPr/>
          <p:nvPr/>
        </p:nvSpPr>
        <p:spPr>
          <a:xfrm>
            <a:off x="3255263"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01568"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2</a:t>
            </a:r>
          </a:p>
        </p:txBody>
      </p:sp>
      <p:sp>
        <p:nvSpPr>
          <p:cNvPr id="18" name="TextBox 17"/>
          <p:cNvSpPr txBox="1"/>
          <p:nvPr/>
        </p:nvSpPr>
        <p:spPr>
          <a:xfrm>
            <a:off x="3401568"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Prioriser</a:t>
            </a:r>
            <a:r>
              <a:rPr sz="1000" b="0" i="0">
                <a:solidFill>
                  <a:srgbClr val="586586"/>
                </a:solidFill>
                <a:latin typeface="Outfit"/>
              </a:rPr>
              <a:t> dans un backlog</a:t>
            </a:r>
          </a:p>
        </p:txBody>
      </p:sp>
      <p:sp>
        <p:nvSpPr>
          <p:cNvPr id="19" name="TextBox 18"/>
          <p:cNvSpPr txBox="1"/>
          <p:nvPr/>
        </p:nvSpPr>
        <p:spPr>
          <a:xfrm>
            <a:off x="3401568"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Chaque gaspillage reçoit un score et prend sa place dans le backlog.</a:t>
            </a:r>
          </a:p>
        </p:txBody>
      </p:sp>
      <p:sp>
        <p:nvSpPr>
          <p:cNvPr id="20" name="TextBox 19"/>
          <p:cNvSpPr txBox="1"/>
          <p:nvPr/>
        </p:nvSpPr>
        <p:spPr>
          <a:xfrm>
            <a:off x="3401568"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Arbitre ce qu'aucune équipe ne tranche seule : fermer, standardiser, décommissionner.</a:t>
            </a:r>
          </a:p>
        </p:txBody>
      </p:sp>
      <p:sp>
        <p:nvSpPr>
          <p:cNvPr id="21" name="TextBox 20"/>
          <p:cNvSpPr txBox="1"/>
          <p:nvPr/>
        </p:nvSpPr>
        <p:spPr>
          <a:xfrm>
            <a:off x="3401568"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Instruit les causes racines et propose le score — une proposition, jamais un verdict.</a:t>
            </a:r>
          </a:p>
        </p:txBody>
      </p:sp>
      <p:sp>
        <p:nvSpPr>
          <p:cNvPr id="22" name="Rounded Rectangle 21"/>
          <p:cNvSpPr/>
          <p:nvPr/>
        </p:nvSpPr>
        <p:spPr>
          <a:xfrm>
            <a:off x="3328415"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28415"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56432"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backlog priorisé et, pour chaque ligne, le porteur nommé.</a:t>
            </a:r>
          </a:p>
        </p:txBody>
      </p:sp>
      <p:sp>
        <p:nvSpPr>
          <p:cNvPr id="25" name="TextBox 24"/>
          <p:cNvSpPr txBox="1"/>
          <p:nvPr/>
        </p:nvSpPr>
        <p:spPr>
          <a:xfrm>
            <a:off x="5673852" y="3049523"/>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6" name="Rounded Rectangle 25"/>
          <p:cNvSpPr/>
          <p:nvPr/>
        </p:nvSpPr>
        <p:spPr>
          <a:xfrm>
            <a:off x="5948172"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094476"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4476"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3</a:t>
            </a:r>
          </a:p>
        </p:txBody>
      </p:sp>
      <p:sp>
        <p:nvSpPr>
          <p:cNvPr id="29" name="TextBox 28"/>
          <p:cNvSpPr txBox="1"/>
          <p:nvPr/>
        </p:nvSpPr>
        <p:spPr>
          <a:xfrm>
            <a:off x="6094476"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Tenir</a:t>
            </a:r>
            <a:r>
              <a:rPr sz="1000" b="0" i="0">
                <a:solidFill>
                  <a:srgbClr val="586586"/>
                </a:solidFill>
                <a:latin typeface="Outfit"/>
              </a:rPr>
              <a:t> dans la durée</a:t>
            </a:r>
          </a:p>
        </p:txBody>
      </p:sp>
      <p:sp>
        <p:nvSpPr>
          <p:cNvPr id="30" name="TextBox 29"/>
          <p:cNvSpPr txBox="1"/>
          <p:nvPr/>
        </p:nvSpPr>
        <p:spPr>
          <a:xfrm>
            <a:off x="6094476"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expérimente, on mesure le delta réel, puis on industrialise.</a:t>
            </a:r>
          </a:p>
        </p:txBody>
      </p:sp>
      <p:sp>
        <p:nvSpPr>
          <p:cNvPr id="31" name="TextBox 30"/>
          <p:cNvSpPr txBox="1"/>
          <p:nvPr/>
        </p:nvSpPr>
        <p:spPr>
          <a:xfrm>
            <a:off x="6094476"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Porte les expérimentations et libère le temps qu'elles demandent.</a:t>
            </a:r>
          </a:p>
        </p:txBody>
      </p:sp>
      <p:sp>
        <p:nvSpPr>
          <p:cNvPr id="32" name="TextBox 31"/>
          <p:cNvSpPr txBox="1"/>
          <p:nvPr/>
        </p:nvSpPr>
        <p:spPr>
          <a:xfrm>
            <a:off x="6094476"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Outille, mesure le delta réel et industrialise ce qui a marché.</a:t>
            </a:r>
          </a:p>
        </p:txBody>
      </p:sp>
      <p:sp>
        <p:nvSpPr>
          <p:cNvPr id="33" name="Rounded Rectangle 32"/>
          <p:cNvSpPr/>
          <p:nvPr/>
        </p:nvSpPr>
        <p:spPr>
          <a:xfrm>
            <a:off x="6021324"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21324"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9340"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seuil au-delà duquel on généralise — ou on arrête.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L'OFFRE   ·   </a:t>
            </a:r>
            <a:r>
              <a:rPr b="1" sz="1700">
                <a:solidFill>
                  <a:srgbClr val="0E2356"/>
                </a:solidFill>
                <a:latin typeface="Outfit"/>
              </a:rPr>
              <a:t>La cible IAP est une Platform Team</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Team Topologies décrit 4 archétypes reliés entre eux : les 3 autres s'articulent autour de la Platform Team.</a:t>
            </a:r>
          </a:p>
        </p:txBody>
      </p:sp>
      <p:sp>
        <p:nvSpPr>
          <p:cNvPr id="4" name="TextBox 3"/>
          <p:cNvSpPr txBox="1"/>
          <p:nvPr/>
        </p:nvSpPr>
        <p:spPr>
          <a:xfrm>
            <a:off x="278434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CE QU'IL APPORTE</a:t>
            </a:r>
          </a:p>
        </p:txBody>
      </p:sp>
      <p:sp>
        <p:nvSpPr>
          <p:cNvPr id="5" name="TextBox 4"/>
          <p:cNvSpPr txBox="1"/>
          <p:nvPr/>
        </p:nvSpPr>
        <p:spPr>
          <a:xfrm>
            <a:off x="561898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DANS LA CIBLE IAP</a:t>
            </a:r>
          </a:p>
        </p:txBody>
      </p:sp>
      <p:sp>
        <p:nvSpPr>
          <p:cNvPr id="6" name="Rounded Rectangle 5"/>
          <p:cNvSpPr/>
          <p:nvPr/>
        </p:nvSpPr>
        <p:spPr>
          <a:xfrm>
            <a:off x="562356" y="1490472"/>
            <a:ext cx="2057400" cy="512064"/>
          </a:xfrm>
          <a:prstGeom prst="roundRect">
            <a:avLst>
              <a:gd name="adj" fmla="val 50000"/>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490472"/>
            <a:ext cx="2057400" cy="512064"/>
          </a:xfrm>
          <a:prstGeom prst="rect">
            <a:avLst/>
          </a:prstGeom>
          <a:noFill/>
        </p:spPr>
        <p:txBody>
          <a:bodyPr wrap="square" anchor="ctr" lIns="0" rIns="0" tIns="0" bIns="0">
            <a:noAutofit/>
          </a:bodyPr>
          <a:lstStyle/>
          <a:p>
            <a:pPr algn="ctr"/>
            <a:r>
              <a:rPr sz="1050" b="1" i="0">
                <a:solidFill>
                  <a:srgbClr val="FFFFFF"/>
                </a:solidFill>
                <a:latin typeface="Outfit"/>
              </a:rPr>
              <a:t>Platform Team</a:t>
            </a:r>
          </a:p>
        </p:txBody>
      </p:sp>
      <p:sp>
        <p:nvSpPr>
          <p:cNvPr id="8" name="Rounded Rectangle 7"/>
          <p:cNvSpPr/>
          <p:nvPr/>
        </p:nvSpPr>
        <p:spPr>
          <a:xfrm>
            <a:off x="2711196" y="1490472"/>
            <a:ext cx="56555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9796" y="1490472"/>
            <a:ext cx="2606040"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Capacités en self-service (X-as-a-Service)</a:t>
            </a:r>
          </a:p>
        </p:txBody>
      </p:sp>
      <p:sp>
        <p:nvSpPr>
          <p:cNvPr id="10" name="TextBox 9"/>
          <p:cNvSpPr txBox="1"/>
          <p:nvPr/>
        </p:nvSpPr>
        <p:spPr>
          <a:xfrm>
            <a:off x="5545836" y="1490472"/>
            <a:ext cx="2683764"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La cible même de la transformation IAP</a:t>
            </a:r>
          </a:p>
        </p:txBody>
      </p:sp>
      <p:sp>
        <p:nvSpPr>
          <p:cNvPr id="11" name="Rounded Rectangle 10"/>
          <p:cNvSpPr/>
          <p:nvPr/>
        </p:nvSpPr>
        <p:spPr>
          <a:xfrm>
            <a:off x="562356" y="2112264"/>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2112264"/>
            <a:ext cx="2057400" cy="512064"/>
          </a:xfrm>
          <a:prstGeom prst="rect">
            <a:avLst/>
          </a:prstGeom>
          <a:noFill/>
        </p:spPr>
        <p:txBody>
          <a:bodyPr wrap="square" anchor="ctr" lIns="0" rIns="0" tIns="0" bIns="0">
            <a:noAutofit/>
          </a:bodyPr>
          <a:lstStyle/>
          <a:p>
            <a:pPr algn="ctr"/>
            <a:r>
              <a:rPr sz="1050" b="1" i="0">
                <a:solidFill>
                  <a:srgbClr val="0E2356"/>
                </a:solidFill>
                <a:latin typeface="Outfit"/>
              </a:rPr>
              <a:t>Stream-aligned</a:t>
            </a:r>
          </a:p>
        </p:txBody>
      </p:sp>
      <p:sp>
        <p:nvSpPr>
          <p:cNvPr id="13" name="Rounded Rectangle 12"/>
          <p:cNvSpPr/>
          <p:nvPr/>
        </p:nvSpPr>
        <p:spPr>
          <a:xfrm>
            <a:off x="2711196" y="2112264"/>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796" y="2112264"/>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Flux de valeur métier continu</a:t>
            </a:r>
          </a:p>
        </p:txBody>
      </p:sp>
      <p:sp>
        <p:nvSpPr>
          <p:cNvPr id="15" name="TextBox 14"/>
          <p:cNvSpPr txBox="1"/>
          <p:nvPr/>
        </p:nvSpPr>
        <p:spPr>
          <a:xfrm>
            <a:off x="5545836" y="2112264"/>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Les équipes applicatives, clientes de la plateforme</a:t>
            </a:r>
          </a:p>
        </p:txBody>
      </p:sp>
      <p:sp>
        <p:nvSpPr>
          <p:cNvPr id="16" name="Rounded Rectangle 15"/>
          <p:cNvSpPr/>
          <p:nvPr/>
        </p:nvSpPr>
        <p:spPr>
          <a:xfrm>
            <a:off x="562356" y="2734056"/>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734056"/>
            <a:ext cx="2057400" cy="512064"/>
          </a:xfrm>
          <a:prstGeom prst="rect">
            <a:avLst/>
          </a:prstGeom>
          <a:noFill/>
        </p:spPr>
        <p:txBody>
          <a:bodyPr wrap="square" anchor="ctr" lIns="0" rIns="0" tIns="0" bIns="0">
            <a:noAutofit/>
          </a:bodyPr>
          <a:lstStyle/>
          <a:p>
            <a:pPr algn="ctr"/>
            <a:r>
              <a:rPr sz="1050" b="1" i="0">
                <a:solidFill>
                  <a:srgbClr val="0E2356"/>
                </a:solidFill>
                <a:latin typeface="Outfit"/>
              </a:rPr>
              <a:t>Enabling</a:t>
            </a:r>
          </a:p>
        </p:txBody>
      </p:sp>
      <p:sp>
        <p:nvSpPr>
          <p:cNvPr id="18" name="Rounded Rectangle 17"/>
          <p:cNvSpPr/>
          <p:nvPr/>
        </p:nvSpPr>
        <p:spPr>
          <a:xfrm>
            <a:off x="2711196" y="2734056"/>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9796" y="2734056"/>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Montée en compétence temporaire</a:t>
            </a:r>
          </a:p>
        </p:txBody>
      </p:sp>
      <p:sp>
        <p:nvSpPr>
          <p:cNvPr id="20" name="TextBox 19"/>
          <p:cNvSpPr txBox="1"/>
          <p:nvPr/>
        </p:nvSpPr>
        <p:spPr>
          <a:xfrm>
            <a:off x="5545836" y="2734056"/>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La posture du coach — jamais permanente</a:t>
            </a:r>
          </a:p>
        </p:txBody>
      </p:sp>
      <p:sp>
        <p:nvSpPr>
          <p:cNvPr id="21" name="Rounded Rectangle 20"/>
          <p:cNvSpPr/>
          <p:nvPr/>
        </p:nvSpPr>
        <p:spPr>
          <a:xfrm>
            <a:off x="562356" y="3355848"/>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355848"/>
            <a:ext cx="2057400" cy="512064"/>
          </a:xfrm>
          <a:prstGeom prst="rect">
            <a:avLst/>
          </a:prstGeom>
          <a:noFill/>
        </p:spPr>
        <p:txBody>
          <a:bodyPr wrap="square" anchor="ctr" lIns="0" rIns="0" tIns="0" bIns="0">
            <a:noAutofit/>
          </a:bodyPr>
          <a:lstStyle/>
          <a:p>
            <a:pPr algn="ctr"/>
            <a:r>
              <a:rPr sz="1050" b="1" i="0">
                <a:solidFill>
                  <a:srgbClr val="0E2356"/>
                </a:solidFill>
                <a:latin typeface="Outfit"/>
              </a:rPr>
              <a:t>Complicated-subsystem</a:t>
            </a:r>
          </a:p>
        </p:txBody>
      </p:sp>
      <p:sp>
        <p:nvSpPr>
          <p:cNvPr id="23" name="Rounded Rectangle 22"/>
          <p:cNvSpPr/>
          <p:nvPr/>
        </p:nvSpPr>
        <p:spPr>
          <a:xfrm>
            <a:off x="2711196" y="3355848"/>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9796" y="3355848"/>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Expertise pointue, compétences rares</a:t>
            </a:r>
          </a:p>
        </p:txBody>
      </p:sp>
      <p:sp>
        <p:nvSpPr>
          <p:cNvPr id="25" name="TextBox 24"/>
          <p:cNvSpPr txBox="1"/>
          <p:nvPr/>
        </p:nvSpPr>
        <p:spPr>
          <a:xfrm>
            <a:off x="5545836" y="3355848"/>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Un vrai sous-système complexe, pas un produit plateforme</a:t>
            </a:r>
          </a:p>
        </p:txBody>
      </p:sp>
      <p:sp>
        <p:nvSpPr>
          <p:cNvPr id="26" name="Rounded Rectangle 25"/>
          <p:cNvSpPr/>
          <p:nvPr/>
        </p:nvSpPr>
        <p:spPr>
          <a:xfrm>
            <a:off x="562356" y="4050791"/>
            <a:ext cx="2057400"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4050791"/>
            <a:ext cx="2057400" cy="512064"/>
          </a:xfrm>
          <a:prstGeom prst="rect">
            <a:avLst/>
          </a:prstGeom>
          <a:noFill/>
        </p:spPr>
        <p:txBody>
          <a:bodyPr wrap="square" anchor="ctr" lIns="0" rIns="0" tIns="0" bIns="0">
            <a:noAutofit/>
          </a:bodyPr>
          <a:lstStyle/>
          <a:p>
            <a:pPr algn="ctr"/>
            <a:r>
              <a:rPr sz="1050" b="1" i="0">
                <a:solidFill>
                  <a:srgbClr val="0E2356"/>
                </a:solidFill>
                <a:latin typeface="Outfit"/>
              </a:rPr>
              <a:t>+ Agents IA</a:t>
            </a:r>
          </a:p>
        </p:txBody>
      </p:sp>
      <p:sp>
        <p:nvSpPr>
          <p:cNvPr id="28" name="Rounded Rectangle 27"/>
          <p:cNvSpPr/>
          <p:nvPr/>
        </p:nvSpPr>
        <p:spPr>
          <a:xfrm>
            <a:off x="2711196" y="4050791"/>
            <a:ext cx="5655564"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39796" y="4050791"/>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Coéquipier d'équipe ou capacité de la plateforme</a:t>
            </a:r>
          </a:p>
        </p:txBody>
      </p:sp>
      <p:sp>
        <p:nvSpPr>
          <p:cNvPr id="30" name="TextBox 29"/>
          <p:cNvSpPr txBox="1"/>
          <p:nvPr/>
        </p:nvSpPr>
        <p:spPr>
          <a:xfrm>
            <a:off x="5545836" y="4050791"/>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4e mode d'interaction, la Supervision : mandat écrit, assisté → supervisé → délégué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La démarche</a:t>
            </a:r>
          </a:p>
          <a:p>
            <a:r>
              <a:rPr sz="1050" i="1">
                <a:solidFill>
                  <a:srgbClr val="586586"/>
                </a:solidFill>
                <a:latin typeface="Outfit"/>
              </a:rPr>
              <a:t>Trois temps et une boucle, et les deux fils — les personnes et la technique — qui courent dans chaque phase.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Trois temps et une boucle — chaque phase produit son livrable de décision</a:t>
            </a:r>
          </a:p>
        </p:txBody>
      </p:sp>
      <p:sp>
        <p:nvSpPr>
          <p:cNvPr id="3" name="Rectangle 2"/>
          <p:cNvSpPr/>
          <p:nvPr/>
        </p:nvSpPr>
        <p:spPr>
          <a:xfrm>
            <a:off x="928116" y="1369771"/>
            <a:ext cx="70728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3294" y="1124712"/>
            <a:ext cx="512064" cy="512064"/>
          </a:xfrm>
          <a:prstGeom prst="roundRect">
            <a:avLst>
              <a:gd name="adj" fmla="val 50000"/>
            </a:avLst>
          </a:prstGeom>
          <a:solidFill>
            <a:srgbClr val="0E2356"/>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3294" y="1124712"/>
            <a:ext cx="512064" cy="512064"/>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Assessment flash</a:t>
            </a:r>
          </a:p>
        </p:txBody>
      </p:sp>
      <p:sp>
        <p:nvSpPr>
          <p:cNvPr id="7" name="TextBox 6"/>
          <p:cNvSpPr txBox="1"/>
          <p:nvPr/>
        </p:nvSpPr>
        <p:spPr>
          <a:xfrm>
            <a:off x="562356"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2 semaines</a:t>
            </a:r>
          </a:p>
        </p:txBody>
      </p:sp>
      <p:sp>
        <p:nvSpPr>
          <p:cNvPr id="8" name="TextBox 7"/>
          <p:cNvSpPr txBox="1"/>
          <p:nvPr/>
        </p:nvSpPr>
        <p:spPr>
          <a:xfrm>
            <a:off x="617220"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Collecte, diagnostic, conception et restitution.</a:t>
            </a:r>
          </a:p>
        </p:txBody>
      </p:sp>
      <p:sp>
        <p:nvSpPr>
          <p:cNvPr id="9" name="Rounded Rectangle 8"/>
          <p:cNvSpPr/>
          <p:nvPr/>
        </p:nvSpPr>
        <p:spPr>
          <a:xfrm>
            <a:off x="562356" y="2971800"/>
            <a:ext cx="1813941" cy="978407"/>
          </a:xfrm>
          <a:prstGeom prst="roundRect">
            <a:avLst>
              <a:gd name="adj" fmla="val 18691"/>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exécutif de restitution</a:t>
            </a:r>
          </a:p>
          <a:p>
            <a:pPr algn="ctr">
              <a:spcBef>
                <a:spcPts val="300"/>
              </a:spcBef>
            </a:pPr>
            <a:r>
              <a:rPr sz="800" b="0" i="1">
                <a:solidFill>
                  <a:srgbClr val="586586"/>
                </a:solidFill>
                <a:latin typeface="Outfit"/>
              </a:rPr>
              <a:t>Sponsor · comité de lancement</a:t>
            </a:r>
          </a:p>
        </p:txBody>
      </p:sp>
      <p:sp>
        <p:nvSpPr>
          <p:cNvPr id="11" name="Rounded Rectangle 10"/>
          <p:cNvSpPr/>
          <p:nvPr/>
        </p:nvSpPr>
        <p:spPr>
          <a:xfrm>
            <a:off x="3210115"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10115" y="1124712"/>
            <a:ext cx="512064" cy="512064"/>
          </a:xfrm>
          <a:prstGeom prst="rect">
            <a:avLst/>
          </a:prstGeom>
          <a:noFill/>
        </p:spPr>
        <p:txBody>
          <a:bodyPr wrap="square" anchor="ctr" lIns="0" rIns="0" tIns="0" bIns="0">
            <a:noAutofit/>
          </a:bodyPr>
          <a:lstStyle/>
          <a:p>
            <a:pPr algn="ctr"/>
            <a:r>
              <a:rPr sz="1600" b="1" i="0">
                <a:solidFill>
                  <a:srgbClr val="0E2356"/>
                </a:solidFill>
                <a:latin typeface="Arial"/>
              </a:rPr>
              <a:t>②</a:t>
            </a:r>
          </a:p>
        </p:txBody>
      </p:sp>
      <p:sp>
        <p:nvSpPr>
          <p:cNvPr id="13" name="TextBox 12"/>
          <p:cNvSpPr txBox="1"/>
          <p:nvPr/>
        </p:nvSpPr>
        <p:spPr>
          <a:xfrm>
            <a:off x="2559177"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Premier déploiement</a:t>
            </a:r>
          </a:p>
        </p:txBody>
      </p:sp>
      <p:sp>
        <p:nvSpPr>
          <p:cNvPr id="14" name="TextBox 13"/>
          <p:cNvSpPr txBox="1"/>
          <p:nvPr/>
        </p:nvSpPr>
        <p:spPr>
          <a:xfrm>
            <a:off x="2559177"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4 à 5 semaines</a:t>
            </a:r>
          </a:p>
        </p:txBody>
      </p:sp>
      <p:sp>
        <p:nvSpPr>
          <p:cNvPr id="15" name="TextBox 14"/>
          <p:cNvSpPr txBox="1"/>
          <p:nvPr/>
        </p:nvSpPr>
        <p:spPr>
          <a:xfrm>
            <a:off x="2614041"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1 à 2 équipes pilotes volontaires, mode Coach dominant.</a:t>
            </a:r>
          </a:p>
        </p:txBody>
      </p:sp>
      <p:sp>
        <p:nvSpPr>
          <p:cNvPr id="16" name="Rounded Rectangle 15"/>
          <p:cNvSpPr/>
          <p:nvPr/>
        </p:nvSpPr>
        <p:spPr>
          <a:xfrm>
            <a:off x="2559177"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8905"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plan de déploiement · export markdown</a:t>
            </a:r>
          </a:p>
          <a:p>
            <a:pPr algn="ctr">
              <a:spcBef>
                <a:spcPts val="300"/>
              </a:spcBef>
            </a:pPr>
            <a:r>
              <a:rPr sz="800" b="0" i="1">
                <a:solidFill>
                  <a:srgbClr val="586586"/>
                </a:solidFill>
                <a:latin typeface="Outfit"/>
              </a:rPr>
              <a:t>Équipes pilotes · management</a:t>
            </a:r>
          </a:p>
        </p:txBody>
      </p:sp>
      <p:sp>
        <p:nvSpPr>
          <p:cNvPr id="18" name="Rounded Rectangle 17"/>
          <p:cNvSpPr/>
          <p:nvPr/>
        </p:nvSpPr>
        <p:spPr>
          <a:xfrm>
            <a:off x="5206936"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6936" y="1124712"/>
            <a:ext cx="512064" cy="512064"/>
          </a:xfrm>
          <a:prstGeom prst="rect">
            <a:avLst/>
          </a:prstGeom>
          <a:noFill/>
        </p:spPr>
        <p:txBody>
          <a:bodyPr wrap="square" anchor="ctr" lIns="0" rIns="0" tIns="0" bIns="0">
            <a:noAutofit/>
          </a:bodyPr>
          <a:lstStyle/>
          <a:p>
            <a:pPr algn="ctr"/>
            <a:r>
              <a:rPr sz="1600" b="1" i="0">
                <a:solidFill>
                  <a:srgbClr val="0E2356"/>
                </a:solidFill>
                <a:latin typeface="Arial"/>
              </a:rPr>
              <a:t>③</a:t>
            </a:r>
          </a:p>
        </p:txBody>
      </p:sp>
      <p:sp>
        <p:nvSpPr>
          <p:cNvPr id="20" name="TextBox 19"/>
          <p:cNvSpPr txBox="1"/>
          <p:nvPr/>
        </p:nvSpPr>
        <p:spPr>
          <a:xfrm>
            <a:off x="4555998"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Implémentation itérative</a:t>
            </a:r>
          </a:p>
        </p:txBody>
      </p:sp>
      <p:sp>
        <p:nvSpPr>
          <p:cNvPr id="21" name="TextBox 20"/>
          <p:cNvSpPr txBox="1"/>
          <p:nvPr/>
        </p:nvSpPr>
        <p:spPr>
          <a:xfrm>
            <a:off x="4555998"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jusqu'à T+6-12 mois</a:t>
            </a:r>
          </a:p>
        </p:txBody>
      </p:sp>
      <p:sp>
        <p:nvSpPr>
          <p:cNvPr id="22" name="TextBox 21"/>
          <p:cNvSpPr txBox="1"/>
          <p:nvPr/>
        </p:nvSpPr>
        <p:spPr>
          <a:xfrm>
            <a:off x="4610862"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Généralisation équipe par équipe, du mode Coach au mode Délégué.</a:t>
            </a:r>
          </a:p>
        </p:txBody>
      </p:sp>
      <p:sp>
        <p:nvSpPr>
          <p:cNvPr id="23" name="Rounded Rectangle 22"/>
          <p:cNvSpPr/>
          <p:nvPr/>
        </p:nvSpPr>
        <p:spPr>
          <a:xfrm>
            <a:off x="4555998"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65726"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comité de pilotage (périodique)</a:t>
            </a:r>
          </a:p>
          <a:p>
            <a:pPr algn="ctr">
              <a:spcBef>
                <a:spcPts val="300"/>
              </a:spcBef>
            </a:pPr>
            <a:r>
              <a:rPr sz="800" b="0" i="1">
                <a:solidFill>
                  <a:srgbClr val="586586"/>
                </a:solidFill>
                <a:latin typeface="Outfit"/>
              </a:rPr>
              <a:t>Instance de comitologie</a:t>
            </a:r>
          </a:p>
        </p:txBody>
      </p:sp>
      <p:sp>
        <p:nvSpPr>
          <p:cNvPr id="25" name="Rounded Rectangle 24"/>
          <p:cNvSpPr/>
          <p:nvPr/>
        </p:nvSpPr>
        <p:spPr>
          <a:xfrm>
            <a:off x="7203757"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03757" y="1124712"/>
            <a:ext cx="512064" cy="512064"/>
          </a:xfrm>
          <a:prstGeom prst="rect">
            <a:avLst/>
          </a:prstGeom>
          <a:noFill/>
        </p:spPr>
        <p:txBody>
          <a:bodyPr wrap="square" anchor="ctr" lIns="0" rIns="0" tIns="0" bIns="0">
            <a:noAutofit/>
          </a:bodyPr>
          <a:lstStyle/>
          <a:p>
            <a:pPr algn="ctr"/>
            <a:r>
              <a:rPr sz="1600" b="0" i="0">
                <a:solidFill>
                  <a:srgbClr val="0E2356"/>
                </a:solidFill>
                <a:latin typeface="Arial"/>
              </a:rPr>
              <a:t>⟲</a:t>
            </a:r>
          </a:p>
        </p:txBody>
      </p:sp>
      <p:sp>
        <p:nvSpPr>
          <p:cNvPr id="27" name="TextBox 26"/>
          <p:cNvSpPr txBox="1"/>
          <p:nvPr/>
        </p:nvSpPr>
        <p:spPr>
          <a:xfrm>
            <a:off x="6552819"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Boucle de réévaluation</a:t>
            </a:r>
          </a:p>
        </p:txBody>
      </p:sp>
      <p:sp>
        <p:nvSpPr>
          <p:cNvPr id="28" name="TextBox 27"/>
          <p:cNvSpPr txBox="1"/>
          <p:nvPr/>
        </p:nvSpPr>
        <p:spPr>
          <a:xfrm>
            <a:off x="6552819"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T+6-12 mois</a:t>
            </a:r>
          </a:p>
        </p:txBody>
      </p:sp>
      <p:sp>
        <p:nvSpPr>
          <p:cNvPr id="29" name="TextBox 28"/>
          <p:cNvSpPr txBox="1"/>
          <p:nvPr/>
        </p:nvSpPr>
        <p:spPr>
          <a:xfrm>
            <a:off x="6607683"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La réévaluation reboucle vers la collecte et alimente la bibliothèque de REX.</a:t>
            </a:r>
          </a:p>
        </p:txBody>
      </p:sp>
      <p:sp>
        <p:nvSpPr>
          <p:cNvPr id="30" name="Rounded Rectangle 29"/>
          <p:cNvSpPr/>
          <p:nvPr/>
        </p:nvSpPr>
        <p:spPr>
          <a:xfrm>
            <a:off x="6552819"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62547"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bilan · markdown amendé</a:t>
            </a:r>
          </a:p>
          <a:p>
            <a:pPr algn="ctr">
              <a:spcBef>
                <a:spcPts val="300"/>
              </a:spcBef>
            </a:pPr>
            <a:r>
              <a:rPr sz="800" b="0" i="1">
                <a:solidFill>
                  <a:srgbClr val="586586"/>
                </a:solidFill>
                <a:latin typeface="Outfit"/>
              </a:rPr>
              <a:t>Sponsor</a:t>
            </a:r>
          </a:p>
        </p:txBody>
      </p:sp>
      <p:sp>
        <p:nvSpPr>
          <p:cNvPr id="32" name="Rounded Rectangle 31"/>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5" name="TextBox 34"/>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Quatre livrables-clés, quatre profils d'un même générateur modulaire — pas quatre outils distincts.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35714"/>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80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221992"/>
          </a:xfrm>
          <a:prstGeom prst="roundRect">
            <a:avLst>
              <a:gd name="adj" fmla="val 823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ASSESSMENT FLASH</a:t>
            </a:r>
          </a:p>
        </p:txBody>
      </p:sp>
      <p:sp>
        <p:nvSpPr>
          <p:cNvPr id="10" name="Rectangle 9"/>
          <p:cNvSpPr/>
          <p:nvPr/>
        </p:nvSpPr>
        <p:spPr>
          <a:xfrm>
            <a:off x="3075813"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PREMIER DÉPLOIEMENT</a:t>
            </a:r>
          </a:p>
        </p:txBody>
      </p:sp>
      <p:sp>
        <p:nvSpPr>
          <p:cNvPr id="14" name="Rectangle 13"/>
          <p:cNvSpPr/>
          <p:nvPr/>
        </p:nvSpPr>
        <p:spPr>
          <a:xfrm>
            <a:off x="4839462"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IMPLÉMENTATION ITÉRATIVE</a:t>
            </a:r>
          </a:p>
        </p:txBody>
      </p:sp>
      <p:sp>
        <p:nvSpPr>
          <p:cNvPr id="18" name="Rectangle 17"/>
          <p:cNvSpPr/>
          <p:nvPr/>
        </p:nvSpPr>
        <p:spPr>
          <a:xfrm>
            <a:off x="6603111"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BOUCLE DE RÉÉVALUATION</a:t>
            </a:r>
          </a:p>
        </p:txBody>
      </p:sp>
      <p:sp>
        <p:nvSpPr>
          <p:cNvPr id="22" name="Rounded Rectangle 21"/>
          <p:cNvSpPr/>
          <p:nvPr/>
        </p:nvSpPr>
        <p:spPr>
          <a:xfrm>
            <a:off x="617220" y="2578608"/>
            <a:ext cx="7694676" cy="982472"/>
          </a:xfrm>
          <a:prstGeom prst="roundRect">
            <a:avLst>
              <a:gd name="adj" fmla="val 18614"/>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8247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561080"/>
            <a:ext cx="621792" cy="85547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LA TECHNIQUE</a:t>
            </a:r>
          </a:p>
        </p:txBody>
      </p:sp>
      <p:sp>
        <p:nvSpPr>
          <p:cNvPr id="33" name="TextBox 32"/>
          <p:cNvSpPr txBox="1"/>
          <p:nvPr/>
        </p:nvSpPr>
        <p:spPr>
          <a:xfrm>
            <a:off x="1440180"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Dette, plateformes vieillissantes, dépendances : une base factuelle.</a:t>
            </a:r>
          </a:p>
        </p:txBody>
      </p:sp>
      <p:sp>
        <p:nvSpPr>
          <p:cNvPr id="35" name="TextBox 34"/>
          <p:cNvSpPr txBox="1"/>
          <p:nvPr/>
        </p:nvSpPr>
        <p:spPr>
          <a:xfrm>
            <a:off x="3203829"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CI/CD et infra as code deviennent le mode par défaut.</a:t>
            </a:r>
          </a:p>
        </p:txBody>
      </p:sp>
      <p:sp>
        <p:nvSpPr>
          <p:cNvPr id="39" name="TextBox 38"/>
          <p:cNvSpPr txBox="1"/>
          <p:nvPr/>
        </p:nvSpPr>
        <p:spPr>
          <a:xfrm>
            <a:off x="6731126"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Dette et KPI infra rejoués au même instrument qu'à T0.</a:t>
            </a:r>
          </a:p>
        </p:txBody>
      </p:sp>
      <p:sp>
        <p:nvSpPr>
          <p:cNvPr id="41" name="Rounded Rectangle 40"/>
          <p:cNvSpPr/>
          <p:nvPr/>
        </p:nvSpPr>
        <p:spPr>
          <a:xfrm>
            <a:off x="562356" y="4517136"/>
            <a:ext cx="7804404" cy="457200"/>
          </a:xfrm>
          <a:prstGeom prst="roundRect">
            <a:avLst>
              <a:gd name="adj" fmla="val 4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517136"/>
            <a:ext cx="7438644" cy="457200"/>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800" b="0" i="0">
                <a:solidFill>
                  <a:srgbClr val="0E2356"/>
                </a:solidFill>
                <a:latin typeface="Outfit"/>
              </a:rPr>
              <a:t>Ni phase en plus, ni chantier d'architecture à part, ni évaluation des personnes ; la gouvernance sécurité et conformité reste celle du client.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L'expertise agentic d'OCTO</a:t>
            </a:r>
          </a:p>
          <a:p>
            <a:r>
              <a:rPr sz="1050" i="1">
                <a:solidFill>
                  <a:srgbClr val="586586"/>
                </a:solidFill>
                <a:latin typeface="Outfit"/>
              </a:rPr>
              <a:t>Un complément à notre démarche, jamais un prérequis : ce qu'il apporte, les agents candidats, les garde-fous et les niveaux d'ambition.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L'EXPERTISE AGENTIC D'OCTO   ·   </a:t>
            </a:r>
            <a:r>
              <a:rPr b="1" sz="1350">
                <a:solidFill>
                  <a:srgbClr val="0E2356"/>
                </a:solidFill>
                <a:latin typeface="Outfit"/>
              </a:rPr>
              <a:t>Une expertise OCTO qui complète notre démarche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Là où notre démarche a des besoins complémentaires, l'expertise agentic d'OCTO y répond — sans rien remplacer de ce qui existe.</a:t>
            </a:r>
          </a:p>
        </p:txBody>
      </p:sp>
      <p:sp>
        <p:nvSpPr>
          <p:cNvPr id="4" name="TextBox 3"/>
          <p:cNvSpPr txBox="1"/>
          <p:nvPr/>
        </p:nvSpPr>
        <p:spPr>
          <a:xfrm>
            <a:off x="562356" y="1399031"/>
            <a:ext cx="1600200" cy="182880"/>
          </a:xfrm>
          <a:prstGeom prst="rect">
            <a:avLst/>
          </a:prstGeom>
          <a:noFill/>
        </p:spPr>
        <p:txBody>
          <a:bodyPr wrap="square" anchor="t" lIns="0" rIns="0" tIns="0" bIns="0">
            <a:noAutofit/>
          </a:bodyPr>
          <a:lstStyle/>
          <a:p>
            <a:pPr algn="l"/>
            <a:r>
              <a:rPr sz="800" b="1" i="0">
                <a:solidFill>
                  <a:srgbClr val="586586"/>
                </a:solidFill>
                <a:latin typeface="Outfit"/>
              </a:rPr>
              <a:t>BESOIN COMPLÉMENTAIRE</a:t>
            </a:r>
          </a:p>
        </p:txBody>
      </p:sp>
      <p:sp>
        <p:nvSpPr>
          <p:cNvPr id="5" name="TextBox 4"/>
          <p:cNvSpPr txBox="1"/>
          <p:nvPr/>
        </p:nvSpPr>
        <p:spPr>
          <a:xfrm>
            <a:off x="2272284" y="1399031"/>
            <a:ext cx="2331720" cy="182880"/>
          </a:xfrm>
          <a:prstGeom prst="rect">
            <a:avLst/>
          </a:prstGeom>
          <a:noFill/>
        </p:spPr>
        <p:txBody>
          <a:bodyPr wrap="square" anchor="t" lIns="0" rIns="0" tIns="0" bIns="0">
            <a:noAutofit/>
          </a:bodyPr>
          <a:lstStyle/>
          <a:p>
            <a:pPr algn="l"/>
            <a:r>
              <a:rPr sz="800" b="1" i="0">
                <a:solidFill>
                  <a:srgbClr val="586586"/>
                </a:solidFill>
                <a:latin typeface="Outfit"/>
              </a:rPr>
              <a:t>CE QUI FREINE AUJOURD'HUI</a:t>
            </a:r>
          </a:p>
        </p:txBody>
      </p:sp>
      <p:sp>
        <p:nvSpPr>
          <p:cNvPr id="6" name="TextBox 5"/>
          <p:cNvSpPr txBox="1"/>
          <p:nvPr/>
        </p:nvSpPr>
        <p:spPr>
          <a:xfrm>
            <a:off x="4969764" y="1399031"/>
            <a:ext cx="3396996" cy="182880"/>
          </a:xfrm>
          <a:prstGeom prst="rect">
            <a:avLst/>
          </a:prstGeom>
          <a:noFill/>
        </p:spPr>
        <p:txBody>
          <a:bodyPr wrap="square" anchor="t" lIns="0" rIns="0" tIns="0" bIns="0">
            <a:noAutofit/>
          </a:bodyPr>
          <a:lstStyle/>
          <a:p>
            <a:pPr algn="l"/>
            <a:r>
              <a:rPr sz="800" b="1" i="0">
                <a:solidFill>
                  <a:srgbClr val="586586"/>
                </a:solidFill>
                <a:latin typeface="Outfit"/>
              </a:rPr>
              <a:t>CE QU'OCTO APPORTE</a:t>
            </a:r>
          </a:p>
        </p:txBody>
      </p:sp>
      <p:sp>
        <p:nvSpPr>
          <p:cNvPr id="7" name="Rounded Rectangle 6"/>
          <p:cNvSpPr/>
          <p:nvPr/>
        </p:nvSpPr>
        <p:spPr>
          <a:xfrm>
            <a:off x="562356" y="1618487"/>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0372" y="1618487"/>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Accélérer le diagnostic</a:t>
            </a:r>
          </a:p>
        </p:txBody>
      </p:sp>
      <p:sp>
        <p:nvSpPr>
          <p:cNvPr id="9" name="Rounded Rectangle 8"/>
          <p:cNvSpPr/>
          <p:nvPr/>
        </p:nvSpPr>
        <p:spPr>
          <a:xfrm>
            <a:off x="2272284" y="1618487"/>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9444" y="1618487"/>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interviews et les données s'accumulent plus vite que l'équipe ne les lit.</a:t>
            </a:r>
          </a:p>
        </p:txBody>
      </p:sp>
      <p:sp>
        <p:nvSpPr>
          <p:cNvPr id="11" name="Chevron 10"/>
          <p:cNvSpPr/>
          <p:nvPr/>
        </p:nvSpPr>
        <p:spPr>
          <a:xfrm>
            <a:off x="4677156" y="1840229"/>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69764" y="1618487"/>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6924" y="1618487"/>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Des workflows outillés préparent les trames d'interview, la synthèse et le deck de restitution — le consultant garde l'analyse.</a:t>
            </a:r>
          </a:p>
        </p:txBody>
      </p:sp>
      <p:sp>
        <p:nvSpPr>
          <p:cNvPr id="14" name="Rounded Rectangle 13"/>
          <p:cNvSpPr/>
          <p:nvPr/>
        </p:nvSpPr>
        <p:spPr>
          <a:xfrm>
            <a:off x="562356" y="2482596"/>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0372" y="2482596"/>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Trier le RUN</a:t>
            </a:r>
          </a:p>
        </p:txBody>
      </p:sp>
      <p:sp>
        <p:nvSpPr>
          <p:cNvPr id="16" name="Rounded Rectangle 15"/>
          <p:cNvSpPr/>
          <p:nvPr/>
        </p:nvSpPr>
        <p:spPr>
          <a:xfrm>
            <a:off x="2272284" y="2482596"/>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09444" y="2482596"/>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mêmes tickets reviennent et mobilisent les experts seniors.</a:t>
            </a:r>
          </a:p>
        </p:txBody>
      </p:sp>
      <p:sp>
        <p:nvSpPr>
          <p:cNvPr id="18" name="Chevron 17"/>
          <p:cNvSpPr/>
          <p:nvPr/>
        </p:nvSpPr>
        <p:spPr>
          <a:xfrm>
            <a:off x="4677156" y="2704337"/>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69764" y="2482596"/>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6924" y="2482596"/>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de triage classe et route les tickets selon un runbook déjà écrit, sous gate, supervisé avant d'être délégué.</a:t>
            </a:r>
          </a:p>
        </p:txBody>
      </p:sp>
      <p:sp>
        <p:nvSpPr>
          <p:cNvPr id="21" name="Rounded Rectangle 20"/>
          <p:cNvSpPr/>
          <p:nvPr/>
        </p:nvSpPr>
        <p:spPr>
          <a:xfrm>
            <a:off x="562356" y="3346703"/>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 y="3346703"/>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Capitaliser le savoir</a:t>
            </a:r>
          </a:p>
        </p:txBody>
      </p:sp>
      <p:sp>
        <p:nvSpPr>
          <p:cNvPr id="23" name="Rounded Rectangle 22"/>
          <p:cNvSpPr/>
          <p:nvPr/>
        </p:nvSpPr>
        <p:spPr>
          <a:xfrm>
            <a:off x="2272284" y="3346703"/>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09444" y="3346703"/>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 savoir-faire reste dans quelques têtes et dans des procédures dispersées.</a:t>
            </a:r>
          </a:p>
        </p:txBody>
      </p:sp>
      <p:sp>
        <p:nvSpPr>
          <p:cNvPr id="25" name="Chevron 24"/>
          <p:cNvSpPr/>
          <p:nvPr/>
        </p:nvSpPr>
        <p:spPr>
          <a:xfrm>
            <a:off x="4677156" y="3568445"/>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969764" y="3346703"/>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6924" y="3346703"/>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documentaire répond avec sa source, et un export markdown versionné reste à l'équipe après la mission.</a:t>
            </a:r>
          </a:p>
        </p:txBody>
      </p:sp>
      <p:sp>
        <p:nvSpPr>
          <p:cNvPr id="28" name="Rounded Rectangle 27"/>
          <p:cNvSpPr/>
          <p:nvPr/>
        </p:nvSpPr>
        <p:spPr>
          <a:xfrm>
            <a:off x="562356" y="4367784"/>
            <a:ext cx="7804404" cy="615696"/>
          </a:xfrm>
          <a:prstGeom prst="roundRect">
            <a:avLst>
              <a:gd name="adj" fmla="val 2970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59224"/>
            <a:ext cx="45720" cy="43281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8607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67784"/>
            <a:ext cx="7109460" cy="615696"/>
          </a:xfrm>
          <a:prstGeom prst="rect">
            <a:avLst/>
          </a:prstGeom>
          <a:noFill/>
        </p:spPr>
        <p:txBody>
          <a:bodyPr wrap="square" anchor="ctr" lIns="0" rIns="0" tIns="0" bIns="0">
            <a:spAutoFit/>
          </a:bodyPr>
          <a:lstStyle/>
          <a:p>
            <a:pPr algn="ctr"/>
            <a:r>
              <a:rPr sz="1000" b="1" i="0">
                <a:solidFill>
                  <a:srgbClr val="FFFFFF"/>
                </a:solidFill>
                <a:latin typeface="Outfit"/>
              </a:rPr>
              <a:t>Jamais un prérequis : la démarche tient sans elle — l'expertise agentic l'accélère là où le temps est perdu.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L'outillage prend en charge une partie du fil humain — le consultant garde le reste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Boucle de réévaluation</a:t>
            </a:r>
          </a:p>
        </p:txBody>
      </p:sp>
      <p:sp>
        <p:nvSpPr>
          <p:cNvPr id="16" name="Rounded Rectangle 15"/>
          <p:cNvSpPr/>
          <p:nvPr/>
        </p:nvSpPr>
        <p:spPr>
          <a:xfrm>
            <a:off x="562356" y="1819656"/>
            <a:ext cx="7804404" cy="1304543"/>
          </a:xfrm>
          <a:prstGeom prst="roundRect">
            <a:avLst>
              <a:gd name="adj" fmla="val 14018"/>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1819656"/>
            <a:ext cx="54864" cy="1304543"/>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 y="1819656"/>
            <a:ext cx="850392" cy="1304543"/>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800" b="0" i="1">
                <a:solidFill>
                  <a:srgbClr val="586586"/>
                </a:solidFill>
                <a:latin typeface="Outfit"/>
              </a:rPr>
              <a:t>outillé par le module</a:t>
            </a:r>
          </a:p>
        </p:txBody>
      </p:sp>
      <p:sp>
        <p:nvSpPr>
          <p:cNvPr id="19" name="Rectangle 18"/>
          <p:cNvSpPr/>
          <p:nvPr/>
        </p:nvSpPr>
        <p:spPr>
          <a:xfrm>
            <a:off x="1540764"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5356"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Trames d'interview par persona, versées à la Collecte</a:t>
            </a:r>
          </a:p>
          <a:p>
            <a:pPr algn="l">
              <a:lnSpc>
                <a:spcPct val="115000"/>
              </a:lnSpc>
              <a:spcBef>
                <a:spcPts val="400"/>
              </a:spcBef>
            </a:pPr>
            <a:r>
              <a:rPr sz="800" b="0" i="0">
                <a:solidFill>
                  <a:srgbClr val="0E2356"/>
                </a:solidFill>
                <a:latin typeface="Outfit"/>
              </a:rPr>
              <a:t>La restitution s'appuie sur le deck exécutif généré</a:t>
            </a:r>
          </a:p>
          <a:p>
            <a:pPr algn="l">
              <a:lnSpc>
                <a:spcPct val="115000"/>
              </a:lnSpc>
              <a:spcBef>
                <a:spcPts val="400"/>
              </a:spcBef>
            </a:pPr>
            <a:r>
              <a:rPr sz="800" b="0" i="0">
                <a:solidFill>
                  <a:srgbClr val="0E2356"/>
                </a:solidFill>
                <a:latin typeface="Outfit"/>
              </a:rPr>
              <a:t>Sondage humain de référence (T0)</a:t>
            </a:r>
          </a:p>
        </p:txBody>
      </p:sp>
      <p:sp>
        <p:nvSpPr>
          <p:cNvPr id="21" name="Rectangle 20"/>
          <p:cNvSpPr/>
          <p:nvPr/>
        </p:nvSpPr>
        <p:spPr>
          <a:xfrm>
            <a:off x="3297555"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07283"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Deck de plan de déploiement · export markdown (1re version)</a:t>
            </a:r>
          </a:p>
        </p:txBody>
      </p:sp>
      <p:sp>
        <p:nvSpPr>
          <p:cNvPr id="23" name="Rectangle 22"/>
          <p:cNvSpPr/>
          <p:nvPr/>
        </p:nvSpPr>
        <p:spPr>
          <a:xfrm>
            <a:off x="4999482"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9210"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Comité de pilotage : deck périodique, santé humaine incluse</a:t>
            </a:r>
          </a:p>
        </p:txBody>
      </p:sp>
      <p:sp>
        <p:nvSpPr>
          <p:cNvPr id="25" name="Rectangle 24"/>
          <p:cNvSpPr/>
          <p:nvPr/>
        </p:nvSpPr>
        <p:spPr>
          <a:xfrm>
            <a:off x="6701409"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1137"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KPI humain rejoué au même instrument : delta T0 → réévaluation</a:t>
            </a:r>
          </a:p>
          <a:p>
            <a:pPr algn="l">
              <a:lnSpc>
                <a:spcPct val="115000"/>
              </a:lnSpc>
              <a:spcBef>
                <a:spcPts val="400"/>
              </a:spcBef>
            </a:pPr>
            <a:r>
              <a:rPr sz="800" b="0" i="0">
                <a:solidFill>
                  <a:srgbClr val="0E2356"/>
                </a:solidFill>
                <a:latin typeface="Outfit"/>
              </a:rPr>
              <a:t>Export markdown amendé · deck de bilan</a:t>
            </a:r>
          </a:p>
        </p:txBody>
      </p:sp>
      <p:sp>
        <p:nvSpPr>
          <p:cNvPr id="27" name="Rounded Rectangle 26"/>
          <p:cNvSpPr/>
          <p:nvPr/>
        </p:nvSpPr>
        <p:spPr>
          <a:xfrm>
            <a:off x="562356" y="3215640"/>
            <a:ext cx="7804404" cy="1005840"/>
          </a:xfrm>
          <a:prstGeom prst="roundRect">
            <a:avLst>
              <a:gd name="adj" fmla="val 1818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 y="3215640"/>
            <a:ext cx="850392" cy="1005840"/>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800" b="0" i="1">
                <a:solidFill>
                  <a:srgbClr val="586586"/>
                </a:solidFill>
                <a:latin typeface="Outfit"/>
              </a:rPr>
              <a:t>présence du consultant</a:t>
            </a:r>
          </a:p>
        </p:txBody>
      </p:sp>
      <p:sp>
        <p:nvSpPr>
          <p:cNvPr id="29" name="Rectangle 28"/>
          <p:cNvSpPr/>
          <p:nvPr/>
        </p:nvSpPr>
        <p:spPr>
          <a:xfrm>
            <a:off x="1540764"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05356"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Le sponsor présente lui-même l'ambition (micro-lancement)</a:t>
            </a:r>
          </a:p>
          <a:p>
            <a:pPr algn="l">
              <a:lnSpc>
                <a:spcPct val="115000"/>
              </a:lnSpc>
              <a:spcBef>
                <a:spcPts val="400"/>
              </a:spcBef>
            </a:pPr>
            <a:r>
              <a:rPr sz="800" b="0" i="0">
                <a:solidFill>
                  <a:srgbClr val="0E2356"/>
                </a:solidFill>
                <a:latin typeface="Outfit"/>
              </a:rPr>
              <a:t>Restitution-embarquement : feedback des interviewés</a:t>
            </a:r>
          </a:p>
        </p:txBody>
      </p:sp>
      <p:sp>
        <p:nvSpPr>
          <p:cNvPr id="31" name="Rectangle 30"/>
          <p:cNvSpPr/>
          <p:nvPr/>
        </p:nvSpPr>
        <p:spPr>
          <a:xfrm>
            <a:off x="3297555"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7283"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Équipes pilotes volontaires, ateliers co-construits</a:t>
            </a:r>
          </a:p>
          <a:p>
            <a:pPr algn="l">
              <a:lnSpc>
                <a:spcPct val="115000"/>
              </a:lnSpc>
              <a:spcBef>
                <a:spcPts val="400"/>
              </a:spcBef>
            </a:pPr>
            <a:r>
              <a:rPr sz="800" b="0" i="0">
                <a:solidFill>
                  <a:srgbClr val="0E2356"/>
                </a:solidFill>
                <a:latin typeface="Outfit"/>
              </a:rPr>
              <a:t>Formation sur les cas réels — pas de formation sans coaching</a:t>
            </a:r>
          </a:p>
        </p:txBody>
      </p:sp>
      <p:sp>
        <p:nvSpPr>
          <p:cNvPr id="33" name="Rectangle 32"/>
          <p:cNvSpPr/>
          <p:nvPr/>
        </p:nvSpPr>
        <p:spPr>
          <a:xfrm>
            <a:off x="4999482"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09210"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Communauté de managers, N+1/N+2 embarqués</a:t>
            </a:r>
          </a:p>
          <a:p>
            <a:pPr algn="l">
              <a:lnSpc>
                <a:spcPct val="115000"/>
              </a:lnSpc>
              <a:spcBef>
                <a:spcPts val="400"/>
              </a:spcBef>
            </a:pPr>
            <a:r>
              <a:rPr sz="800" b="0" i="0">
                <a:solidFill>
                  <a:srgbClr val="0E2356"/>
                </a:solidFill>
                <a:latin typeface="Outfit"/>
              </a:rPr>
              <a:t>Coaching individuel sous déontologie · relais internes formés</a:t>
            </a:r>
          </a:p>
        </p:txBody>
      </p:sp>
      <p:sp>
        <p:nvSpPr>
          <p:cNvPr id="35" name="Rectangle 34"/>
          <p:cNvSpPr/>
          <p:nvPr/>
        </p:nvSpPr>
        <p:spPr>
          <a:xfrm>
            <a:off x="6701409"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11137"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Présence dégressive : le consultant se rend dispensable</a:t>
            </a:r>
          </a:p>
          <a:p>
            <a:pPr algn="l">
              <a:lnSpc>
                <a:spcPct val="115000"/>
              </a:lnSpc>
              <a:spcBef>
                <a:spcPts val="400"/>
              </a:spcBef>
            </a:pPr>
            <a:r>
              <a:rPr sz="800" b="0" i="0">
                <a:solidFill>
                  <a:srgbClr val="0E2356"/>
                </a:solidFill>
                <a:latin typeface="Outfit"/>
              </a:rPr>
              <a:t>Lecture du delta humain avec les équipes</a:t>
            </a:r>
          </a:p>
        </p:txBody>
      </p:sp>
      <p:sp>
        <p:nvSpPr>
          <p:cNvPr id="37" name="Rounded Rectangle 36"/>
          <p:cNvSpPr/>
          <p:nvPr/>
        </p:nvSpPr>
        <p:spPr>
          <a:xfrm>
            <a:off x="562356" y="4306824"/>
            <a:ext cx="7804404" cy="676656"/>
          </a:xfrm>
          <a:prstGeom prst="roundRect">
            <a:avLst>
              <a:gd name="adj" fmla="val 27027"/>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8660" y="4306824"/>
            <a:ext cx="7511796" cy="676656"/>
          </a:xfrm>
          <a:prstGeom prst="rect">
            <a:avLst/>
          </a:prstGeom>
          <a:noFill/>
        </p:spPr>
        <p:txBody>
          <a:bodyPr wrap="square" anchor="ctr" lIns="0" rIns="0" tIns="0" bIns="0">
            <a:spAutoFit/>
          </a:bodyPr>
          <a:lstStyle/>
          <a:p>
            <a:pPr algn="l"/>
            <a:r>
              <a:rPr sz="800" b="1" i="0">
                <a:solidFill>
                  <a:srgbClr val="0E2356"/>
                </a:solidFill>
                <a:latin typeface="Outfit"/>
              </a:rPr>
              <a:t>ONZE WORKFLOWS OUTILLÉS, PAR ÉTAPE — UN SEUL BLOQUANT : LE GATE DE CONFIDENTIALITÉ</a:t>
            </a:r>
          </a:p>
          <a:p>
            <a:pPr algn="l">
              <a:lnSpc>
                <a:spcPct val="120000"/>
              </a:lnSpc>
              <a:spcBef>
                <a:spcPts val="300"/>
              </a:spcBef>
            </a:pPr>
            <a:r>
              <a:rPr sz="800" b="1" i="0">
                <a:solidFill>
                  <a:srgbClr val="0E2356"/>
                </a:solidFill>
                <a:latin typeface="Outfit"/>
              </a:rPr>
              <a:t>Intake : </a:t>
            </a:r>
            <a:r>
              <a:rPr sz="800" b="0" i="0">
                <a:solidFill>
                  <a:srgbClr val="0E2356"/>
                </a:solidFill>
                <a:latin typeface="Outfit"/>
              </a:rPr>
              <a:t>qualification du contexte · </a:t>
            </a:r>
            <a:r>
              <a:rPr sz="800" b="1" i="0">
                <a:solidFill>
                  <a:srgbClr val="0E2356"/>
                </a:solidFill>
                <a:latin typeface="Outfit"/>
              </a:rPr>
              <a:t>Diagnostic : </a:t>
            </a:r>
            <a:r>
              <a:rPr sz="800" b="0" i="0">
                <a:solidFill>
                  <a:srgbClr val="0E2356"/>
                </a:solidFill>
                <a:latin typeface="Outfit"/>
              </a:rPr>
              <a:t>diagnostic systémique, découverte du gaspillage · </a:t>
            </a:r>
            <a:r>
              <a:rPr sz="800" b="1" i="0">
                <a:solidFill>
                  <a:srgbClr val="0E2356"/>
                </a:solidFill>
                <a:latin typeface="Outfit"/>
              </a:rPr>
              <a:t>Conception : </a:t>
            </a:r>
            <a:r>
              <a:rPr sz="800" b="0" i="0">
                <a:solidFill>
                  <a:srgbClr val="0E2356"/>
                </a:solidFill>
                <a:latin typeface="Outfit"/>
              </a:rPr>
              <a:t>traitement du gaspillage, définition produit, modèle opératoire, opportunités agentic · </a:t>
            </a:r>
            <a:r>
              <a:rPr sz="800" b="1" i="0">
                <a:solidFill>
                  <a:srgbClr val="0E2356"/>
                </a:solidFill>
                <a:latin typeface="Outfit"/>
              </a:rPr>
              <a:t>Adoption &amp; restitution : </a:t>
            </a:r>
            <a:r>
              <a:rPr sz="800" b="0" i="0">
                <a:solidFill>
                  <a:srgbClr val="0E2356"/>
                </a:solidFill>
                <a:latin typeface="Outfit"/>
              </a:rPr>
              <a:t>plan d'adoption, playbook de scénario, restitution exécutive.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candidats d'agent, un par famille de gaspillage</a:t>
            </a:r>
          </a:p>
        </p:txBody>
      </p:sp>
      <p:sp>
        <p:nvSpPr>
          <p:cNvPr id="3" name="Rounded Rectangle 2"/>
          <p:cNvSpPr/>
          <p:nvPr/>
        </p:nvSpPr>
        <p:spPr>
          <a:xfrm>
            <a:off x="6263640" y="1051560"/>
            <a:ext cx="2103120" cy="384048"/>
          </a:xfrm>
          <a:prstGeom prst="roundRect">
            <a:avLst>
              <a:gd name="adj" fmla="val 47619"/>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DÉPLOIEMENT AGENTIC</a:t>
            </a:r>
          </a:p>
          <a:p>
            <a:pPr algn="l">
              <a:spcBef>
                <a:spcPts val="100"/>
              </a:spcBef>
            </a:pPr>
            <a:r>
              <a:rPr sz="800" b="0" i="1">
                <a:solidFill>
                  <a:srgbClr val="586586"/>
                </a:solidFill>
                <a:latin typeface="Outfit"/>
              </a:rPr>
              <a:t>cf. les trois niveaux d'ambition</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Le gaspillage d'abord, l'IA ensuite : chaque candidat répond à une famille déjà cadrée au chapitre Ce que ça coûte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800" b="0" i="1">
                <a:solidFill>
                  <a:srgbClr val="586586"/>
                </a:solidFill>
                <a:latin typeface="Outfit"/>
              </a:rPr>
              <a:t>Gaspillage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800" b="0" i="1">
                <a:solidFill>
                  <a:srgbClr val="586586"/>
                </a:solidFill>
                <a:latin typeface="Outfit"/>
              </a:rPr>
              <a:t>Gaspillage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le gaspillage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800" b="0" i="1">
                <a:solidFill>
                  <a:srgbClr val="586586"/>
                </a:solidFill>
                <a:latin typeface="Outfit"/>
              </a:rPr>
              <a:t>Gaspillage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L'offre) et au gate de confidentialité avant toute décision — des exemples illustratifs, pas une liste actée.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Sous contrôle : la donnée fixe le mode d'exécution, la prudence freine le score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850" b="0" i="1">
                <a:solidFill>
                  <a:srgbClr val="586586"/>
                </a:solidFill>
                <a:latin typeface="Outfit"/>
              </a:rPr>
              <a:t>Checkpoint toujours humain avant tout usage IA sur donnée client — le gate de confidentialité, quel que soit le mode d'exécution retenu.</a:t>
            </a:r>
          </a:p>
        </p:txBody>
      </p:sp>
      <p:sp>
        <p:nvSpPr>
          <p:cNvPr id="4" name="TextBox 3"/>
          <p:cNvSpPr txBox="1"/>
          <p:nvPr/>
        </p:nvSpPr>
        <p:spPr>
          <a:xfrm>
            <a:off x="562356" y="1380744"/>
            <a:ext cx="4709160" cy="182880"/>
          </a:xfrm>
          <a:prstGeom prst="rect">
            <a:avLst/>
          </a:prstGeom>
          <a:noFill/>
        </p:spPr>
        <p:txBody>
          <a:bodyPr wrap="square" anchor="t" lIns="0" rIns="0" tIns="0" bIns="0">
            <a:noAutofit/>
          </a:bodyPr>
          <a:lstStyle/>
          <a:p>
            <a:pPr algn="l"/>
            <a:r>
              <a:rPr sz="800" b="1" i="0">
                <a:solidFill>
                  <a:srgbClr val="586586"/>
                </a:solidFill>
                <a:latin typeface="Outfit"/>
              </a:rPr>
              <a:t>LE GATE DE CONFIDENTIALITÉ — LA DONNÉE DÉCIDE DU MODE</a:t>
            </a:r>
          </a:p>
        </p:txBody>
      </p:sp>
      <p:sp>
        <p:nvSpPr>
          <p:cNvPr id="5" name="Rounded Rectangle 4"/>
          <p:cNvSpPr/>
          <p:nvPr/>
        </p:nvSpPr>
        <p:spPr>
          <a:xfrm>
            <a:off x="562356" y="1618488"/>
            <a:ext cx="1188720" cy="45720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618488"/>
            <a:ext cx="1188720" cy="457200"/>
          </a:xfrm>
          <a:prstGeom prst="rect">
            <a:avLst/>
          </a:prstGeom>
          <a:noFill/>
        </p:spPr>
        <p:txBody>
          <a:bodyPr wrap="square" anchor="ctr" lIns="0" rIns="0" tIns="0" bIns="0">
            <a:noAutofit/>
          </a:bodyPr>
          <a:lstStyle/>
          <a:p>
            <a:pPr algn="ctr"/>
            <a:r>
              <a:rPr sz="850" b="1" i="0">
                <a:solidFill>
                  <a:srgbClr val="FFFFFF"/>
                </a:solidFill>
                <a:latin typeface="Outfit"/>
              </a:rPr>
              <a:t>D0 · Public</a:t>
            </a:r>
          </a:p>
        </p:txBody>
      </p:sp>
      <p:sp>
        <p:nvSpPr>
          <p:cNvPr id="7" name="TextBox 6"/>
          <p:cNvSpPr txBox="1"/>
          <p:nvPr/>
        </p:nvSpPr>
        <p:spPr>
          <a:xfrm>
            <a:off x="1879092" y="1618488"/>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Articles publics, docs méthodo</a:t>
            </a:r>
          </a:p>
        </p:txBody>
      </p:sp>
      <p:sp>
        <p:nvSpPr>
          <p:cNvPr id="8" name="TextBox 7"/>
          <p:cNvSpPr txBox="1"/>
          <p:nvPr/>
        </p:nvSpPr>
        <p:spPr>
          <a:xfrm>
            <a:off x="3826764" y="1618488"/>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externe possible</a:t>
            </a:r>
          </a:p>
        </p:txBody>
      </p:sp>
      <p:sp>
        <p:nvSpPr>
          <p:cNvPr id="9" name="Rounded Rectangle 8"/>
          <p:cNvSpPr/>
          <p:nvPr/>
        </p:nvSpPr>
        <p:spPr>
          <a:xfrm>
            <a:off x="562356" y="2148840"/>
            <a:ext cx="1188720" cy="457200"/>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 y="2148840"/>
            <a:ext cx="1188720" cy="457200"/>
          </a:xfrm>
          <a:prstGeom prst="rect">
            <a:avLst/>
          </a:prstGeom>
          <a:noFill/>
        </p:spPr>
        <p:txBody>
          <a:bodyPr wrap="square" anchor="ctr" lIns="0" rIns="0" tIns="0" bIns="0">
            <a:noAutofit/>
          </a:bodyPr>
          <a:lstStyle/>
          <a:p>
            <a:pPr algn="ctr"/>
            <a:r>
              <a:rPr sz="850" b="1" i="0">
                <a:solidFill>
                  <a:srgbClr val="FFFFFF"/>
                </a:solidFill>
                <a:latin typeface="Outfit"/>
              </a:rPr>
              <a:t>D1 · Interne</a:t>
            </a:r>
          </a:p>
        </p:txBody>
      </p:sp>
      <p:sp>
        <p:nvSpPr>
          <p:cNvPr id="11" name="TextBox 10"/>
          <p:cNvSpPr txBox="1"/>
          <p:nvPr/>
        </p:nvSpPr>
        <p:spPr>
          <a:xfrm>
            <a:off x="1879092" y="2148840"/>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Organisation macro, catalogue anonymisé</a:t>
            </a:r>
          </a:p>
        </p:txBody>
      </p:sp>
      <p:sp>
        <p:nvSpPr>
          <p:cNvPr id="12" name="TextBox 11"/>
          <p:cNvSpPr txBox="1"/>
          <p:nvPr/>
        </p:nvSpPr>
        <p:spPr>
          <a:xfrm>
            <a:off x="3826764" y="2148840"/>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recommandée</a:t>
            </a:r>
          </a:p>
        </p:txBody>
      </p:sp>
      <p:sp>
        <p:nvSpPr>
          <p:cNvPr id="13" name="Rounded Rectangle 12"/>
          <p:cNvSpPr/>
          <p:nvPr/>
        </p:nvSpPr>
        <p:spPr>
          <a:xfrm>
            <a:off x="562356" y="2679191"/>
            <a:ext cx="1188720" cy="45720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2679191"/>
            <a:ext cx="1188720" cy="457200"/>
          </a:xfrm>
          <a:prstGeom prst="rect">
            <a:avLst/>
          </a:prstGeom>
          <a:noFill/>
        </p:spPr>
        <p:txBody>
          <a:bodyPr wrap="square" anchor="ctr" lIns="0" rIns="0" tIns="0" bIns="0">
            <a:noAutofit/>
          </a:bodyPr>
          <a:lstStyle/>
          <a:p>
            <a:pPr algn="ctr"/>
            <a:r>
              <a:rPr sz="850" b="1" i="0">
                <a:solidFill>
                  <a:srgbClr val="FFFFFF"/>
                </a:solidFill>
                <a:latin typeface="Outfit"/>
              </a:rPr>
              <a:t>D2 · Confidentiel</a:t>
            </a:r>
          </a:p>
        </p:txBody>
      </p:sp>
      <p:sp>
        <p:nvSpPr>
          <p:cNvPr id="15" name="TextBox 14"/>
          <p:cNvSpPr txBox="1"/>
          <p:nvPr/>
        </p:nvSpPr>
        <p:spPr>
          <a:xfrm>
            <a:off x="1879092" y="2679191"/>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Notes d'interview, reporting</a:t>
            </a:r>
          </a:p>
        </p:txBody>
      </p:sp>
      <p:sp>
        <p:nvSpPr>
          <p:cNvPr id="16" name="TextBox 15"/>
          <p:cNvSpPr txBox="1"/>
          <p:nvPr/>
        </p:nvSpPr>
        <p:spPr>
          <a:xfrm>
            <a:off x="3826764" y="2679191"/>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ou LLM privé</a:t>
            </a:r>
          </a:p>
        </p:txBody>
      </p:sp>
      <p:sp>
        <p:nvSpPr>
          <p:cNvPr id="17" name="Rounded Rectangle 16"/>
          <p:cNvSpPr/>
          <p:nvPr/>
        </p:nvSpPr>
        <p:spPr>
          <a:xfrm>
            <a:off x="562356" y="3209544"/>
            <a:ext cx="1188720" cy="457200"/>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209544"/>
            <a:ext cx="1188720" cy="457200"/>
          </a:xfrm>
          <a:prstGeom prst="rect">
            <a:avLst/>
          </a:prstGeom>
          <a:noFill/>
        </p:spPr>
        <p:txBody>
          <a:bodyPr wrap="square" anchor="ctr" lIns="0" rIns="0" tIns="0" bIns="0">
            <a:noAutofit/>
          </a:bodyPr>
          <a:lstStyle/>
          <a:p>
            <a:pPr algn="ctr"/>
            <a:r>
              <a:rPr sz="850" b="1" i="0">
                <a:solidFill>
                  <a:srgbClr val="FFFFFF"/>
                </a:solidFill>
                <a:latin typeface="Outfit"/>
              </a:rPr>
              <a:t>D3 · Restreint</a:t>
            </a:r>
          </a:p>
        </p:txBody>
      </p:sp>
      <p:sp>
        <p:nvSpPr>
          <p:cNvPr id="19" name="TextBox 18"/>
          <p:cNvSpPr txBox="1"/>
          <p:nvPr/>
        </p:nvSpPr>
        <p:spPr>
          <a:xfrm>
            <a:off x="1879092" y="3209544"/>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Tickets détaillés, logs, CMDB, IAM</a:t>
            </a:r>
          </a:p>
        </p:txBody>
      </p:sp>
      <p:sp>
        <p:nvSpPr>
          <p:cNvPr id="20" name="TextBox 19"/>
          <p:cNvSpPr txBox="1"/>
          <p:nvPr/>
        </p:nvSpPr>
        <p:spPr>
          <a:xfrm>
            <a:off x="3826764" y="3209544"/>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LLM local, contrôles forts</a:t>
            </a:r>
          </a:p>
        </p:txBody>
      </p:sp>
      <p:sp>
        <p:nvSpPr>
          <p:cNvPr id="21" name="Rounded Rectangle 20"/>
          <p:cNvSpPr/>
          <p:nvPr/>
        </p:nvSpPr>
        <p:spPr>
          <a:xfrm>
            <a:off x="562356" y="3739896"/>
            <a:ext cx="118872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739896"/>
            <a:ext cx="1188720" cy="457200"/>
          </a:xfrm>
          <a:prstGeom prst="rect">
            <a:avLst/>
          </a:prstGeom>
          <a:noFill/>
        </p:spPr>
        <p:txBody>
          <a:bodyPr wrap="square" anchor="ctr" lIns="0" rIns="0" tIns="0" bIns="0">
            <a:noAutofit/>
          </a:bodyPr>
          <a:lstStyle/>
          <a:p>
            <a:pPr algn="ctr"/>
            <a:r>
              <a:rPr sz="850" b="1" i="0">
                <a:solidFill>
                  <a:srgbClr val="FFFFFF"/>
                </a:solidFill>
                <a:latin typeface="Outfit"/>
              </a:rPr>
              <a:t>D4 · Critique</a:t>
            </a:r>
          </a:p>
        </p:txBody>
      </p:sp>
      <p:sp>
        <p:nvSpPr>
          <p:cNvPr id="23" name="TextBox 22"/>
          <p:cNvSpPr txBox="1"/>
          <p:nvPr/>
        </p:nvSpPr>
        <p:spPr>
          <a:xfrm>
            <a:off x="1879092" y="3739896"/>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Secrets de production, données réglementées</a:t>
            </a:r>
          </a:p>
        </p:txBody>
      </p:sp>
      <p:sp>
        <p:nvSpPr>
          <p:cNvPr id="24" name="TextBox 23"/>
          <p:cNvSpPr txBox="1"/>
          <p:nvPr/>
        </p:nvSpPr>
        <p:spPr>
          <a:xfrm>
            <a:off x="3826764" y="3739896"/>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Local, sans IA générative</a:t>
            </a:r>
          </a:p>
        </p:txBody>
      </p:sp>
      <p:sp>
        <p:nvSpPr>
          <p:cNvPr id="25" name="Rounded Rectangle 24"/>
          <p:cNvSpPr/>
          <p:nvPr/>
        </p:nvSpPr>
        <p:spPr>
          <a:xfrm>
            <a:off x="5500116" y="1380744"/>
            <a:ext cx="2866644" cy="281635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4708" y="1545336"/>
            <a:ext cx="2537460" cy="2487168"/>
          </a:xfrm>
          <a:prstGeom prst="rect">
            <a:avLst/>
          </a:prstGeom>
          <a:noFill/>
        </p:spPr>
        <p:txBody>
          <a:bodyPr wrap="square" anchor="t" lIns="0" rIns="0" tIns="0" bIns="0">
            <a:spAutoFit/>
          </a:bodyPr>
          <a:lstStyle/>
          <a:p>
            <a:pPr algn="l"/>
            <a:r>
              <a:rPr sz="800" b="1" i="0">
                <a:solidFill>
                  <a:srgbClr val="C7CBE0"/>
                </a:solidFill>
                <a:latin typeface="Outfit"/>
              </a:rPr>
              <a:t>PRUDENCE IA — UN FREIN CHIFFRÉ</a:t>
            </a:r>
          </a:p>
          <a:p>
            <a:pPr algn="l">
              <a:spcBef>
                <a:spcPts val="400"/>
              </a:spcBef>
            </a:pPr>
            <a:r>
              <a:rPr sz="1050" b="1" i="0">
                <a:solidFill>
                  <a:srgbClr val="FFFFFF"/>
                </a:solidFill>
                <a:latin typeface="Outfit"/>
              </a:rPr>
              <a:t>= confidentialité + supervision + criticité</a:t>
            </a:r>
          </a:p>
          <a:p>
            <a:pPr algn="l">
              <a:lnSpc>
                <a:spcPct val="120000"/>
              </a:lnSpc>
              <a:spcBef>
                <a:spcPts val="700"/>
              </a:spcBef>
            </a:pPr>
            <a:r>
              <a:rPr sz="850" b="1" i="0">
                <a:solidFill>
                  <a:srgbClr val="FFFFFF"/>
                </a:solidFill>
                <a:latin typeface="Outfit"/>
              </a:rPr>
              <a:t>Confidentialité : </a:t>
            </a:r>
            <a:r>
              <a:rPr sz="850" b="0" i="0">
                <a:solidFill>
                  <a:srgbClr val="C7CBE0"/>
                </a:solidFill>
                <a:latin typeface="Outfit"/>
              </a:rPr>
              <a:t>reprend la classe D0-D4 : plus la donnée est sensible, plus le score monte.</a:t>
            </a:r>
          </a:p>
          <a:p>
            <a:pPr algn="l">
              <a:lnSpc>
                <a:spcPct val="120000"/>
              </a:lnSpc>
              <a:spcBef>
                <a:spcPts val="700"/>
              </a:spcBef>
            </a:pPr>
            <a:r>
              <a:rPr sz="850" b="1" i="0">
                <a:solidFill>
                  <a:srgbClr val="FFFFFF"/>
                </a:solidFill>
                <a:latin typeface="Outfit"/>
              </a:rPr>
              <a:t>Supervision : </a:t>
            </a:r>
            <a:r>
              <a:rPr sz="850" b="0" i="0">
                <a:solidFill>
                  <a:srgbClr val="C7CBE0"/>
                </a:solidFill>
                <a:latin typeface="Outfit"/>
              </a:rPr>
              <a:t>un agent encore au stade assisté pèse plus lourd qu'un agent éprouvé.</a:t>
            </a:r>
          </a:p>
          <a:p>
            <a:pPr algn="l">
              <a:lnSpc>
                <a:spcPct val="120000"/>
              </a:lnSpc>
              <a:spcBef>
                <a:spcPts val="700"/>
              </a:spcBef>
            </a:pPr>
            <a:r>
              <a:rPr sz="850" b="1" i="0">
                <a:solidFill>
                  <a:srgbClr val="FFFFFF"/>
                </a:solidFill>
                <a:latin typeface="Outfit"/>
              </a:rPr>
              <a:t>Criticité : </a:t>
            </a:r>
            <a:r>
              <a:rPr sz="850" b="0" i="0">
                <a:solidFill>
                  <a:srgbClr val="C7CBE0"/>
                </a:solidFill>
                <a:latin typeface="Outfit"/>
              </a:rPr>
              <a:t>une décision irréversible pèse plus qu'une recommandation réversible.</a:t>
            </a:r>
          </a:p>
          <a:p>
            <a:pPr algn="l">
              <a:lnSpc>
                <a:spcPct val="120000"/>
              </a:lnSpc>
              <a:spcBef>
                <a:spcPts val="1000"/>
              </a:spcBef>
            </a:pPr>
            <a:r>
              <a:rPr sz="850" b="1" i="0">
                <a:solidFill>
                  <a:srgbClr val="FFFFFF"/>
                </a:solidFill>
                <a:latin typeface="Outfit"/>
              </a:rPr>
              <a:t>Soustraite de impact × faisabilité : un frein, pas un veto — avancer malgré un score élevé reste possible, et se documente.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niveaux d'ambition : seul ce qui passe chez le client change, pas la méthode</a:t>
            </a:r>
          </a:p>
        </p:txBody>
      </p:sp>
      <p:sp>
        <p:nvSpPr>
          <p:cNvPr id="3" name="TextBox 2"/>
          <p:cNvSpPr txBox="1"/>
          <p:nvPr/>
        </p:nvSpPr>
        <p:spPr>
          <a:xfrm>
            <a:off x="252831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QU'IL FAIT</a:t>
            </a:r>
          </a:p>
        </p:txBody>
      </p:sp>
      <p:sp>
        <p:nvSpPr>
          <p:cNvPr id="4" name="TextBox 3"/>
          <p:cNvSpPr txBox="1"/>
          <p:nvPr/>
        </p:nvSpPr>
        <p:spPr>
          <a:xfrm>
            <a:off x="451713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LIEN AU SI</a:t>
            </a:r>
          </a:p>
        </p:txBody>
      </p:sp>
      <p:sp>
        <p:nvSpPr>
          <p:cNvPr id="5" name="TextBox 4"/>
          <p:cNvSpPr txBox="1"/>
          <p:nvPr/>
        </p:nvSpPr>
        <p:spPr>
          <a:xfrm>
            <a:off x="650595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 PASSE CHEZ LE CLIENT</a:t>
            </a:r>
          </a:p>
        </p:txBody>
      </p:sp>
      <p:sp>
        <p:nvSpPr>
          <p:cNvPr id="6" name="Rounded Rectangle 5"/>
          <p:cNvSpPr/>
          <p:nvPr/>
        </p:nvSpPr>
        <p:spPr>
          <a:xfrm>
            <a:off x="562356" y="1353312"/>
            <a:ext cx="7804404" cy="814070"/>
          </a:xfrm>
          <a:prstGeom prst="roundRect">
            <a:avLst>
              <a:gd name="adj" fmla="val 22464"/>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353312"/>
            <a:ext cx="1828800" cy="814070"/>
          </a:xfrm>
          <a:prstGeom prst="roundRect">
            <a:avLst>
              <a:gd name="adj" fmla="val 22464"/>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2084" y="1577467"/>
            <a:ext cx="365760"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 y="1577467"/>
            <a:ext cx="365760" cy="365760"/>
          </a:xfrm>
          <a:prstGeom prst="rect">
            <a:avLst/>
          </a:prstGeom>
          <a:noFill/>
        </p:spPr>
        <p:txBody>
          <a:bodyPr wrap="square" anchor="ctr" lIns="0" rIns="0" tIns="0" bIns="0">
            <a:noAutofit/>
          </a:bodyPr>
          <a:lstStyle/>
          <a:p>
            <a:pPr algn="ctr"/>
            <a:r>
              <a:rPr sz="1300" b="1" i="0">
                <a:solidFill>
                  <a:srgbClr val="0E2356"/>
                </a:solidFill>
                <a:latin typeface="Outfit"/>
              </a:rPr>
              <a:t>A</a:t>
            </a:r>
          </a:p>
        </p:txBody>
      </p:sp>
      <p:sp>
        <p:nvSpPr>
          <p:cNvPr id="10" name="TextBox 9"/>
          <p:cNvSpPr txBox="1"/>
          <p:nvPr/>
        </p:nvSpPr>
        <p:spPr>
          <a:xfrm>
            <a:off x="1129284" y="1353312"/>
            <a:ext cx="1188720" cy="814070"/>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Aide au coach</a:t>
            </a:r>
          </a:p>
          <a:p>
            <a:pPr algn="l">
              <a:spcBef>
                <a:spcPts val="200"/>
              </a:spcBef>
            </a:pPr>
            <a:r>
              <a:rPr sz="800" b="0" i="1">
                <a:solidFill>
                  <a:srgbClr val="C7CBE0"/>
                </a:solidFill>
                <a:latin typeface="Outfit"/>
              </a:rPr>
              <a:t>État actuel (MVP0–MVP5)</a:t>
            </a:r>
          </a:p>
        </p:txBody>
      </p:sp>
      <p:sp>
        <p:nvSpPr>
          <p:cNvPr id="11" name="TextBox 10"/>
          <p:cNvSpPr txBox="1"/>
          <p:nvPr/>
        </p:nvSpPr>
        <p:spPr>
          <a:xfrm>
            <a:off x="252831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Génère un livrable à la demande ; le consultant pilote à 100 %.</a:t>
            </a:r>
          </a:p>
        </p:txBody>
      </p:sp>
      <p:sp>
        <p:nvSpPr>
          <p:cNvPr id="12" name="TextBox 11"/>
          <p:cNvSpPr txBox="1"/>
          <p:nvPr/>
        </p:nvSpPr>
        <p:spPr>
          <a:xfrm>
            <a:off x="451713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ponctuels et interviews — aucune connexion.</a:t>
            </a:r>
          </a:p>
        </p:txBody>
      </p:sp>
      <p:sp>
        <p:nvSpPr>
          <p:cNvPr id="13" name="TextBox 12"/>
          <p:cNvSpPr txBox="1"/>
          <p:nvPr/>
        </p:nvSpPr>
        <p:spPr>
          <a:xfrm>
            <a:off x="6505956" y="1353312"/>
            <a:ext cx="1860803" cy="81407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Rien ne s'installe : livrables markdown et deck, sur le poste du consultant.</a:t>
            </a:r>
          </a:p>
        </p:txBody>
      </p:sp>
      <p:sp>
        <p:nvSpPr>
          <p:cNvPr id="14" name="Rounded Rectangle 13"/>
          <p:cNvSpPr/>
          <p:nvPr/>
        </p:nvSpPr>
        <p:spPr>
          <a:xfrm>
            <a:off x="562356" y="2295398"/>
            <a:ext cx="7804404" cy="731520"/>
          </a:xfrm>
          <a:prstGeom prst="roundRect">
            <a:avLst>
              <a:gd name="adj" fmla="val 2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295398"/>
            <a:ext cx="1828800" cy="731520"/>
          </a:xfrm>
          <a:prstGeom prst="roundRect">
            <a:avLst>
              <a:gd name="adj" fmla="val 25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72084" y="2478277"/>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2478277"/>
            <a:ext cx="365760" cy="365760"/>
          </a:xfrm>
          <a:prstGeom prst="rect">
            <a:avLst/>
          </a:prstGeom>
          <a:noFill/>
        </p:spPr>
        <p:txBody>
          <a:bodyPr wrap="square" anchor="ctr" lIns="0" rIns="0" tIns="0" bIns="0">
            <a:noAutofit/>
          </a:bodyPr>
          <a:lstStyle/>
          <a:p>
            <a:pPr algn="ctr"/>
            <a:r>
              <a:rPr sz="1300" b="1" i="0">
                <a:solidFill>
                  <a:srgbClr val="FFFFFF"/>
                </a:solidFill>
                <a:latin typeface="Outfit"/>
              </a:rPr>
              <a:t>B</a:t>
            </a:r>
          </a:p>
        </p:txBody>
      </p:sp>
      <p:sp>
        <p:nvSpPr>
          <p:cNvPr id="18" name="TextBox 17"/>
          <p:cNvSpPr txBox="1"/>
          <p:nvPr/>
        </p:nvSpPr>
        <p:spPr>
          <a:xfrm>
            <a:off x="1129284" y="2295398"/>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Assistant interactif</a:t>
            </a:r>
          </a:p>
          <a:p>
            <a:pPr algn="l">
              <a:spcBef>
                <a:spcPts val="200"/>
              </a:spcBef>
            </a:pPr>
            <a:r>
              <a:rPr sz="800" b="0" i="1">
                <a:solidFill>
                  <a:srgbClr val="586586"/>
                </a:solidFill>
                <a:latin typeface="Outfit"/>
              </a:rPr>
              <a:t>Palier intermédiaire</a:t>
            </a:r>
          </a:p>
        </p:txBody>
      </p:sp>
      <p:sp>
        <p:nvSpPr>
          <p:cNvPr id="19" name="TextBox 18"/>
          <p:cNvSpPr txBox="1"/>
          <p:nvPr/>
        </p:nvSpPr>
        <p:spPr>
          <a:xfrm>
            <a:off x="252831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Guide pas à pas, pose des questions, signale les incohérences.</a:t>
            </a:r>
          </a:p>
        </p:txBody>
      </p:sp>
      <p:sp>
        <p:nvSpPr>
          <p:cNvPr id="20" name="TextBox 19"/>
          <p:cNvSpPr txBox="1"/>
          <p:nvPr/>
        </p:nvSpPr>
        <p:spPr>
          <a:xfrm>
            <a:off x="451713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 app de capture terrain, site centralisé.</a:t>
            </a:r>
          </a:p>
        </p:txBody>
      </p:sp>
      <p:sp>
        <p:nvSpPr>
          <p:cNvPr id="21" name="TextBox 20"/>
          <p:cNvSpPr txBox="1"/>
          <p:nvPr/>
        </p:nvSpPr>
        <p:spPr>
          <a:xfrm>
            <a:off x="6505956" y="2295398"/>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L'app de capture et un tableau de bord multi-engagements.</a:t>
            </a:r>
          </a:p>
        </p:txBody>
      </p:sp>
      <p:sp>
        <p:nvSpPr>
          <p:cNvPr id="22" name="Rounded Rectangle 21"/>
          <p:cNvSpPr/>
          <p:nvPr/>
        </p:nvSpPr>
        <p:spPr>
          <a:xfrm>
            <a:off x="562356" y="3154934"/>
            <a:ext cx="7804404" cy="731520"/>
          </a:xfrm>
          <a:prstGeom prst="roundRect">
            <a:avLst>
              <a:gd name="adj" fmla="val 2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3154934"/>
            <a:ext cx="1828800" cy="731520"/>
          </a:xfrm>
          <a:prstGeom prst="roundRect">
            <a:avLst>
              <a:gd name="adj" fmla="val 25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 y="3337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084" y="3337813"/>
            <a:ext cx="365760" cy="365760"/>
          </a:xfrm>
          <a:prstGeom prst="rect">
            <a:avLst/>
          </a:prstGeom>
          <a:noFill/>
        </p:spPr>
        <p:txBody>
          <a:bodyPr wrap="square" anchor="ctr" lIns="0" rIns="0" tIns="0" bIns="0">
            <a:noAutofit/>
          </a:bodyPr>
          <a:lstStyle/>
          <a:p>
            <a:pPr algn="ctr"/>
            <a:r>
              <a:rPr sz="1300" b="1" i="0">
                <a:solidFill>
                  <a:srgbClr val="FFFFFF"/>
                </a:solidFill>
                <a:latin typeface="Outfit"/>
              </a:rPr>
              <a:t>C</a:t>
            </a:r>
          </a:p>
        </p:txBody>
      </p:sp>
      <p:sp>
        <p:nvSpPr>
          <p:cNvPr id="26" name="TextBox 25"/>
          <p:cNvSpPr txBox="1"/>
          <p:nvPr/>
        </p:nvSpPr>
        <p:spPr>
          <a:xfrm>
            <a:off x="1129284" y="3154934"/>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Companion connecté</a:t>
            </a:r>
          </a:p>
          <a:p>
            <a:pPr algn="l">
              <a:spcBef>
                <a:spcPts val="200"/>
              </a:spcBef>
            </a:pPr>
            <a:r>
              <a:rPr sz="800" b="0" i="1">
                <a:solidFill>
                  <a:srgbClr val="586586"/>
                </a:solidFill>
                <a:latin typeface="Outfit"/>
              </a:rPr>
              <a:t>MVP6, non engagé</a:t>
            </a:r>
          </a:p>
        </p:txBody>
      </p:sp>
      <p:sp>
        <p:nvSpPr>
          <p:cNvPr id="27" name="TextBox 26"/>
          <p:cNvSpPr txBox="1"/>
          <p:nvPr/>
        </p:nvSpPr>
        <p:spPr>
          <a:xfrm>
            <a:off x="252831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Quasi autonome sur la collecte et la préparation — jamais sur l'arbitrage.</a:t>
            </a:r>
          </a:p>
        </p:txBody>
      </p:sp>
      <p:sp>
        <p:nvSpPr>
          <p:cNvPr id="28" name="TextBox 27"/>
          <p:cNvSpPr txBox="1"/>
          <p:nvPr/>
        </p:nvSpPr>
        <p:spPr>
          <a:xfrm>
            <a:off x="451713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Connecteurs API directs, en continu (ServiceNow, Jira, CMDB, FinOps…).</a:t>
            </a:r>
          </a:p>
        </p:txBody>
      </p:sp>
      <p:sp>
        <p:nvSpPr>
          <p:cNvPr id="29" name="TextBox 28"/>
          <p:cNvSpPr txBox="1"/>
          <p:nvPr/>
        </p:nvSpPr>
        <p:spPr>
          <a:xfrm>
            <a:off x="6505956" y="3154934"/>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Un accès direct aux données de production : un risque d'un autre ordre.</a:t>
            </a:r>
          </a:p>
        </p:txBody>
      </p:sp>
      <p:sp>
        <p:nvSpPr>
          <p:cNvPr id="30" name="TextBox 29"/>
          <p:cNvSpPr txBox="1"/>
          <p:nvPr/>
        </p:nvSpPr>
        <p:spPr>
          <a:xfrm>
            <a:off x="562356" y="3977893"/>
            <a:ext cx="7804404" cy="365760"/>
          </a:xfrm>
          <a:prstGeom prst="rect">
            <a:avLst/>
          </a:prstGeom>
          <a:noFill/>
        </p:spPr>
        <p:txBody>
          <a:bodyPr wrap="square" anchor="t" lIns="0" rIns="0" tIns="0" bIns="0">
            <a:noAutofit/>
          </a:bodyPr>
          <a:lstStyle/>
          <a:p>
            <a:pPr algn="l">
              <a:lnSpc>
                <a:spcPct val="120000"/>
              </a:lnSpc>
            </a:pPr>
            <a:r>
              <a:rPr sz="850" b="0" i="1">
                <a:solidFill>
                  <a:srgbClr val="586586"/>
                </a:solidFill>
                <a:latin typeface="Outfit"/>
              </a:rPr>
              <a:t>À tout niveau, les agents candidats retenus ne passent chez le client qu'en ②/③, sous gate. Un cabinet peut durablement rester au niveau A ou B par choix de gouvernance.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Réussir et démarrer</a:t>
            </a:r>
          </a:p>
          <a:p>
            <a:r>
              <a:rPr sz="1050" i="1">
                <a:solidFill>
                  <a:srgbClr val="586586"/>
                </a:solidFill>
                <a:latin typeface="Outfit"/>
              </a:rPr>
              <a:t>Les conditions de réussite, ce que la démarche refuse, et la décision de lancer l'Assessment flash.</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00">
                <a:solidFill>
                  <a:srgbClr val="0E2356"/>
                </a:solidFill>
                <a:latin typeface="Outfit"/>
              </a:rPr>
              <a:t>RÉUSSIR ET DÉMARRER   ·   </a:t>
            </a:r>
            <a:r>
              <a:rPr b="1" sz="1500">
                <a:solidFill>
                  <a:srgbClr val="0E2356"/>
                </a:solidFill>
                <a:latin typeface="Outfit"/>
              </a:rPr>
              <a:t>Quatre conditions de réussite de la démarche</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950" b="0" i="1">
                <a:solidFill>
                  <a:srgbClr val="0E2356"/>
                </a:solidFill>
                <a:latin typeface="Outfit"/>
              </a:rPr>
              <a:t>Nos convictions fixent les conditions de réussite — et ce que la démarche refuse, même quand on le lui demande.</a:t>
            </a:r>
          </a:p>
        </p:txBody>
      </p:sp>
      <p:sp>
        <p:nvSpPr>
          <p:cNvPr id="4" name="Rectangle 3"/>
          <p:cNvSpPr/>
          <p:nvPr/>
        </p:nvSpPr>
        <p:spPr>
          <a:xfrm>
            <a:off x="699516" y="1760219"/>
            <a:ext cx="18288" cy="227685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28116" y="1417319"/>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1500" y="1623060"/>
            <a:ext cx="274320"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 y="1623060"/>
            <a:ext cx="274320" cy="274320"/>
          </a:xfrm>
          <a:prstGeom prst="rect">
            <a:avLst/>
          </a:prstGeom>
          <a:noFill/>
        </p:spPr>
        <p:txBody>
          <a:bodyPr wrap="square" anchor="ctr" lIns="0" rIns="0" tIns="0" bIns="0">
            <a:noAutofit/>
          </a:bodyPr>
          <a:lstStyle/>
          <a:p>
            <a:pPr algn="ctr"/>
            <a:r>
              <a:rPr sz="900" b="1" i="0">
                <a:solidFill>
                  <a:srgbClr val="FFFFFF"/>
                </a:solidFill>
                <a:latin typeface="Outfit"/>
              </a:rPr>
              <a:t>1</a:t>
            </a:r>
          </a:p>
        </p:txBody>
      </p:sp>
      <p:sp>
        <p:nvSpPr>
          <p:cNvPr id="8" name="TextBox 7"/>
          <p:cNvSpPr txBox="1"/>
          <p:nvPr/>
        </p:nvSpPr>
        <p:spPr>
          <a:xfrm>
            <a:off x="1074420" y="1417319"/>
            <a:ext cx="2862072" cy="685800"/>
          </a:xfrm>
          <a:prstGeom prst="rect">
            <a:avLst/>
          </a:prstGeom>
          <a:noFill/>
        </p:spPr>
        <p:txBody>
          <a:bodyPr wrap="square" anchor="ctr" lIns="0" rIns="0" tIns="0" bIns="0">
            <a:noAutofit/>
          </a:bodyPr>
          <a:lstStyle/>
          <a:p>
            <a:pPr algn="l"/>
            <a:r>
              <a:rPr sz="950" b="1" i="0">
                <a:solidFill>
                  <a:srgbClr val="0E2356"/>
                </a:solidFill>
                <a:latin typeface="Outfit"/>
              </a:rPr>
              <a:t>Un sponsor qui porte la cible</a:t>
            </a:r>
          </a:p>
          <a:p>
            <a:pPr algn="l">
              <a:lnSpc>
                <a:spcPct val="115000"/>
              </a:lnSpc>
              <a:spcBef>
                <a:spcPts val="100"/>
              </a:spcBef>
            </a:pPr>
            <a:r>
              <a:rPr sz="850" b="0" i="0">
                <a:solidFill>
                  <a:srgbClr val="586586"/>
                </a:solidFill>
                <a:latin typeface="Outfit"/>
              </a:rPr>
              <a:t>La transformation ne va pas plus loin que ce que le sponsor porte.</a:t>
            </a:r>
          </a:p>
        </p:txBody>
      </p:sp>
      <p:sp>
        <p:nvSpPr>
          <p:cNvPr id="9" name="Rounded Rectangle 8"/>
          <p:cNvSpPr/>
          <p:nvPr/>
        </p:nvSpPr>
        <p:spPr>
          <a:xfrm>
            <a:off x="928116" y="2176272"/>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1500" y="2382012"/>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 y="2382012"/>
            <a:ext cx="274320" cy="274320"/>
          </a:xfrm>
          <a:prstGeom prst="rect">
            <a:avLst/>
          </a:prstGeom>
          <a:noFill/>
        </p:spPr>
        <p:txBody>
          <a:bodyPr wrap="square" anchor="ctr" lIns="0" rIns="0" tIns="0" bIns="0">
            <a:noAutofit/>
          </a:bodyPr>
          <a:lstStyle/>
          <a:p>
            <a:pPr algn="ctr"/>
            <a:r>
              <a:rPr sz="900" b="1" i="0">
                <a:solidFill>
                  <a:srgbClr val="0E2356"/>
                </a:solidFill>
                <a:latin typeface="Outfit"/>
              </a:rPr>
              <a:t>2</a:t>
            </a:r>
          </a:p>
        </p:txBody>
      </p:sp>
      <p:sp>
        <p:nvSpPr>
          <p:cNvPr id="12" name="TextBox 11"/>
          <p:cNvSpPr txBox="1"/>
          <p:nvPr/>
        </p:nvSpPr>
        <p:spPr>
          <a:xfrm>
            <a:off x="1074420" y="2176272"/>
            <a:ext cx="2862072" cy="685800"/>
          </a:xfrm>
          <a:prstGeom prst="rect">
            <a:avLst/>
          </a:prstGeom>
          <a:noFill/>
        </p:spPr>
        <p:txBody>
          <a:bodyPr wrap="square" anchor="ctr" lIns="0" rIns="0" tIns="0" bIns="0">
            <a:noAutofit/>
          </a:bodyPr>
          <a:lstStyle/>
          <a:p>
            <a:pPr algn="l"/>
            <a:r>
              <a:rPr sz="950" b="1" i="0">
                <a:solidFill>
                  <a:srgbClr val="0E2356"/>
                </a:solidFill>
                <a:latin typeface="Outfit"/>
              </a:rPr>
              <a:t>Des équipes réellement disponibles</a:t>
            </a:r>
          </a:p>
          <a:p>
            <a:pPr algn="l">
              <a:lnSpc>
                <a:spcPct val="115000"/>
              </a:lnSpc>
              <a:spcBef>
                <a:spcPts val="100"/>
              </a:spcBef>
            </a:pPr>
            <a:r>
              <a:rPr sz="850" b="0" i="0">
                <a:solidFill>
                  <a:srgbClr val="586586"/>
                </a:solidFill>
                <a:latin typeface="Outfit"/>
              </a:rPr>
              <a:t>Interviews et ateliers sur du temps réservé, vérifié à l'intake.</a:t>
            </a:r>
          </a:p>
        </p:txBody>
      </p:sp>
      <p:sp>
        <p:nvSpPr>
          <p:cNvPr id="13" name="Rounded Rectangle 12"/>
          <p:cNvSpPr/>
          <p:nvPr/>
        </p:nvSpPr>
        <p:spPr>
          <a:xfrm>
            <a:off x="928116" y="2935224"/>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71500" y="3140964"/>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1500" y="3140964"/>
            <a:ext cx="274320" cy="274320"/>
          </a:xfrm>
          <a:prstGeom prst="rect">
            <a:avLst/>
          </a:prstGeom>
          <a:noFill/>
        </p:spPr>
        <p:txBody>
          <a:bodyPr wrap="square" anchor="ctr" lIns="0" rIns="0" tIns="0" bIns="0">
            <a:noAutofit/>
          </a:bodyPr>
          <a:lstStyle/>
          <a:p>
            <a:pPr algn="ctr"/>
            <a:r>
              <a:rPr sz="900" b="1" i="0">
                <a:solidFill>
                  <a:srgbClr val="0E2356"/>
                </a:solidFill>
                <a:latin typeface="Outfit"/>
              </a:rPr>
              <a:t>3</a:t>
            </a:r>
          </a:p>
        </p:txBody>
      </p:sp>
      <p:sp>
        <p:nvSpPr>
          <p:cNvPr id="16" name="TextBox 15"/>
          <p:cNvSpPr txBox="1"/>
          <p:nvPr/>
        </p:nvSpPr>
        <p:spPr>
          <a:xfrm>
            <a:off x="1074420" y="2935224"/>
            <a:ext cx="2862072" cy="685800"/>
          </a:xfrm>
          <a:prstGeom prst="rect">
            <a:avLst/>
          </a:prstGeom>
          <a:noFill/>
        </p:spPr>
        <p:txBody>
          <a:bodyPr wrap="square" anchor="ctr" lIns="0" rIns="0" tIns="0" bIns="0">
            <a:noAutofit/>
          </a:bodyPr>
          <a:lstStyle/>
          <a:p>
            <a:pPr algn="l"/>
            <a:r>
              <a:rPr sz="950" b="1" i="0">
                <a:solidFill>
                  <a:srgbClr val="0E2356"/>
                </a:solidFill>
                <a:latin typeface="Outfit"/>
              </a:rPr>
              <a:t>Une RH embarquée sur rôles et évaluation</a:t>
            </a:r>
          </a:p>
          <a:p>
            <a:pPr algn="l">
              <a:lnSpc>
                <a:spcPct val="115000"/>
              </a:lnSpc>
              <a:spcBef>
                <a:spcPts val="100"/>
              </a:spcBef>
            </a:pPr>
            <a:r>
              <a:rPr sz="850" b="0" i="0">
                <a:solidFill>
                  <a:srgbClr val="586586"/>
                </a:solidFill>
                <a:latin typeface="Outfit"/>
              </a:rPr>
              <a:t>Coacher une posture que les grilles punissent, c'est ramer à contre-courant.</a:t>
            </a:r>
          </a:p>
        </p:txBody>
      </p:sp>
      <p:sp>
        <p:nvSpPr>
          <p:cNvPr id="17" name="Rounded Rectangle 16"/>
          <p:cNvSpPr/>
          <p:nvPr/>
        </p:nvSpPr>
        <p:spPr>
          <a:xfrm>
            <a:off x="928116" y="3694175"/>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71500" y="3899915"/>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1500" y="3899915"/>
            <a:ext cx="274320" cy="274320"/>
          </a:xfrm>
          <a:prstGeom prst="rect">
            <a:avLst/>
          </a:prstGeom>
          <a:noFill/>
        </p:spPr>
        <p:txBody>
          <a:bodyPr wrap="square" anchor="ctr" lIns="0" rIns="0" tIns="0" bIns="0">
            <a:noAutofit/>
          </a:bodyPr>
          <a:lstStyle/>
          <a:p>
            <a:pPr algn="ctr"/>
            <a:r>
              <a:rPr sz="900" b="1" i="0">
                <a:solidFill>
                  <a:srgbClr val="0E2356"/>
                </a:solidFill>
                <a:latin typeface="Outfit"/>
              </a:rPr>
              <a:t>4</a:t>
            </a:r>
          </a:p>
        </p:txBody>
      </p:sp>
      <p:sp>
        <p:nvSpPr>
          <p:cNvPr id="20" name="TextBox 19"/>
          <p:cNvSpPr txBox="1"/>
          <p:nvPr/>
        </p:nvSpPr>
        <p:spPr>
          <a:xfrm>
            <a:off x="1074420" y="3694175"/>
            <a:ext cx="2862072" cy="685800"/>
          </a:xfrm>
          <a:prstGeom prst="rect">
            <a:avLst/>
          </a:prstGeom>
          <a:noFill/>
        </p:spPr>
        <p:txBody>
          <a:bodyPr wrap="square" anchor="ctr" lIns="0" rIns="0" tIns="0" bIns="0">
            <a:noAutofit/>
          </a:bodyPr>
          <a:lstStyle/>
          <a:p>
            <a:pPr algn="l"/>
            <a:r>
              <a:rPr sz="950" b="1" i="0">
                <a:solidFill>
                  <a:srgbClr val="0E2356"/>
                </a:solidFill>
                <a:latin typeface="Outfit"/>
              </a:rPr>
              <a:t>Un processus documenté avant tout agent</a:t>
            </a:r>
          </a:p>
          <a:p>
            <a:pPr algn="l">
              <a:lnSpc>
                <a:spcPct val="115000"/>
              </a:lnSpc>
              <a:spcBef>
                <a:spcPts val="100"/>
              </a:spcBef>
            </a:pPr>
            <a:r>
              <a:rPr sz="850" b="0" i="0">
                <a:solidFill>
                  <a:srgbClr val="586586"/>
                </a:solidFill>
                <a:latin typeface="Outfit"/>
              </a:rPr>
              <a:t>Sinon on fige dans le code une pratique mal définie.</a:t>
            </a:r>
          </a:p>
        </p:txBody>
      </p:sp>
      <p:sp>
        <p:nvSpPr>
          <p:cNvPr id="21" name="Rounded Rectangle 20"/>
          <p:cNvSpPr/>
          <p:nvPr/>
        </p:nvSpPr>
        <p:spPr>
          <a:xfrm>
            <a:off x="4283964" y="1417319"/>
            <a:ext cx="4082796" cy="29626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448555" y="1581911"/>
            <a:ext cx="1097280" cy="21945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8555" y="1581911"/>
            <a:ext cx="1097280" cy="219456"/>
          </a:xfrm>
          <a:prstGeom prst="rect">
            <a:avLst/>
          </a:prstGeom>
          <a:noFill/>
        </p:spPr>
        <p:txBody>
          <a:bodyPr wrap="square" anchor="ctr" lIns="0" rIns="0" tIns="0" bIns="0">
            <a:noAutofit/>
          </a:bodyPr>
          <a:lstStyle/>
          <a:p>
            <a:pPr algn="ctr"/>
            <a:r>
              <a:rPr sz="800" b="1" i="0">
                <a:solidFill>
                  <a:srgbClr val="0E2356"/>
                </a:solidFill>
                <a:latin typeface="Outfit"/>
              </a:rPr>
              <a:t>NOS REFUS</a:t>
            </a:r>
          </a:p>
        </p:txBody>
      </p:sp>
      <p:sp>
        <p:nvSpPr>
          <p:cNvPr id="24" name="TextBox 23"/>
          <p:cNvSpPr txBox="1"/>
          <p:nvPr/>
        </p:nvSpPr>
        <p:spPr>
          <a:xfrm>
            <a:off x="4448555" y="1874519"/>
            <a:ext cx="3753612" cy="2340864"/>
          </a:xfrm>
          <a:prstGeom prst="rect">
            <a:avLst/>
          </a:prstGeom>
          <a:noFill/>
        </p:spPr>
        <p:txBody>
          <a:bodyPr wrap="square" anchor="t" lIns="0" rIns="0" tIns="0" bIns="0">
            <a:spAutoFit/>
          </a:bodyPr>
          <a:lstStyle/>
          <a:p>
            <a:pPr algn="l"/>
            <a:r>
              <a:rPr sz="1000" b="1" i="0">
                <a:solidFill>
                  <a:srgbClr val="FFFFFF"/>
                </a:solidFill>
                <a:latin typeface="Outfit"/>
              </a:rPr>
              <a:t>Ce que la démarche ne fera pas.</a:t>
            </a:r>
          </a:p>
          <a:p>
            <a:pPr algn="l">
              <a:lnSpc>
                <a:spcPct val="115000"/>
              </a:lnSpc>
              <a:spcBef>
                <a:spcPts val="200"/>
              </a:spcBef>
            </a:pPr>
            <a:r>
              <a:rPr sz="850" b="0" i="0">
                <a:solidFill>
                  <a:srgbClr val="C7CBE0"/>
                </a:solidFill>
                <a:latin typeface="Outfit"/>
              </a:rPr>
              <a:t>Des lignes qu'elle tient et explique dès l'Assessment flash — pas des conditions posées au client.</a:t>
            </a:r>
          </a:p>
          <a:p>
            <a:pPr algn="l">
              <a:spcBef>
                <a:spcPts val="800"/>
              </a:spcBef>
            </a:pPr>
            <a:r>
              <a:rPr sz="800" b="1" i="0">
                <a:solidFill>
                  <a:srgbClr val="8891B3"/>
                </a:solidFill>
                <a:latin typeface="Outfit"/>
              </a:rPr>
              <a:t>ON REFUSE</a:t>
            </a:r>
          </a:p>
          <a:p>
            <a:pPr algn="l">
              <a:spcBef>
                <a:spcPts val="200"/>
              </a:spcBef>
            </a:pPr>
            <a:r>
              <a:rPr sz="850" b="0" i="0">
                <a:solidFill>
                  <a:srgbClr val="FFFFFF"/>
                </a:solidFill>
                <a:latin typeface="Outfit"/>
              </a:rPr>
              <a:t>—  Automatiser un processus mal conçu.</a:t>
            </a:r>
          </a:p>
          <a:p>
            <a:pPr algn="l">
              <a:spcBef>
                <a:spcPts val="200"/>
              </a:spcBef>
            </a:pPr>
            <a:r>
              <a:rPr sz="850" b="0" i="0">
                <a:solidFill>
                  <a:srgbClr val="FFFFFF"/>
                </a:solidFill>
                <a:latin typeface="Outfit"/>
              </a:rPr>
              <a:t>—  Livrer une plateforme techniquement bonne mais peu adoptée.</a:t>
            </a:r>
          </a:p>
          <a:p>
            <a:pPr algn="l">
              <a:spcBef>
                <a:spcPts val="200"/>
              </a:spcBef>
            </a:pPr>
            <a:r>
              <a:rPr sz="850" b="0" i="0">
                <a:solidFill>
                  <a:srgbClr val="FFFFFF"/>
                </a:solidFill>
                <a:latin typeface="Outfit"/>
              </a:rPr>
              <a:t>—  Séparer transformation organisationnelle et technique.</a:t>
            </a:r>
          </a:p>
          <a:p>
            <a:pPr algn="l">
              <a:spcBef>
                <a:spcPts val="800"/>
              </a:spcBef>
            </a:pPr>
            <a:r>
              <a:rPr sz="800" b="1" i="0">
                <a:solidFill>
                  <a:srgbClr val="8891B3"/>
                </a:solidFill>
                <a:latin typeface="Outfit"/>
              </a:rPr>
              <a:t>ON NE LE RÉSOUT PAS, MAIS ON LE POSE</a:t>
            </a:r>
          </a:p>
          <a:p>
            <a:pPr algn="l">
              <a:lnSpc>
                <a:spcPct val="115000"/>
              </a:lnSpc>
              <a:spcBef>
                <a:spcPts val="200"/>
              </a:spcBef>
            </a:pPr>
            <a:r>
              <a:rPr sz="850" b="1" i="0">
                <a:solidFill>
                  <a:srgbClr val="FFFFFF"/>
                </a:solidFill>
                <a:latin typeface="Outfit"/>
              </a:rPr>
              <a:t>Perte de savoir-faire : </a:t>
            </a:r>
            <a:r>
              <a:rPr sz="850" b="0" i="0">
                <a:solidFill>
                  <a:srgbClr val="C7CBE0"/>
                </a:solidFill>
                <a:latin typeface="Outfit"/>
              </a:rPr>
              <a:t>l'équipe reprendrait-elle la main une semaine sans l'agent ?</a:t>
            </a:r>
          </a:p>
          <a:p>
            <a:pPr algn="l">
              <a:lnSpc>
                <a:spcPct val="115000"/>
              </a:lnSpc>
              <a:spcBef>
                <a:spcPts val="200"/>
              </a:spcBef>
            </a:pPr>
            <a:r>
              <a:rPr sz="850" b="1" i="0">
                <a:solidFill>
                  <a:srgbClr val="FFFFFF"/>
                </a:solidFill>
                <a:latin typeface="Outfit"/>
              </a:rPr>
              <a:t>Incitations RH contraires : </a:t>
            </a:r>
            <a:r>
              <a:rPr sz="850" b="0" i="0">
                <a:solidFill>
                  <a:srgbClr val="C7CBE0"/>
                </a:solidFill>
                <a:latin typeface="Outfit"/>
              </a:rPr>
              <a:t>vos grilles récompensent-elles encore ce qu'on décourage ?</a:t>
            </a:r>
          </a:p>
        </p:txBody>
      </p:sp>
      <p:sp>
        <p:nvSpPr>
          <p:cNvPr id="25" name="Rounded Rectangle 24"/>
          <p:cNvSpPr/>
          <p:nvPr/>
        </p:nvSpPr>
        <p:spPr>
          <a:xfrm>
            <a:off x="562356" y="4526280"/>
            <a:ext cx="7804404" cy="457200"/>
          </a:xfrm>
          <a:prstGeom prst="roundRect">
            <a:avLst>
              <a:gd name="adj" fmla="val 4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4526280"/>
            <a:ext cx="7438644" cy="457200"/>
          </a:xfrm>
          <a:prstGeom prst="rect">
            <a:avLst/>
          </a:prstGeom>
          <a:noFill/>
        </p:spPr>
        <p:txBody>
          <a:bodyPr wrap="square" anchor="ctr" lIns="0" rIns="0" tIns="0" bIns="0">
            <a:noAutofit/>
          </a:bodyPr>
          <a:lstStyle/>
          <a:p>
            <a:pPr algn="l"/>
            <a:r>
              <a:rPr sz="800" b="1" i="0">
                <a:solidFill>
                  <a:srgbClr val="586586"/>
                </a:solidFill>
                <a:latin typeface="Outfit"/>
              </a:rPr>
              <a:t>LE CRITÈRE DE SORTIE EST LE MIROIR DES CONDITIONS D'ENTRÉE</a:t>
            </a:r>
          </a:p>
          <a:p>
            <a:pPr algn="l">
              <a:lnSpc>
                <a:spcPct val="115000"/>
              </a:lnSpc>
              <a:spcBef>
                <a:spcPts val="200"/>
              </a:spcBef>
            </a:pPr>
            <a:r>
              <a:rPr sz="850" b="0" i="0">
                <a:solidFill>
                  <a:srgbClr val="0E2356"/>
                </a:solidFill>
                <a:latin typeface="Outfit"/>
              </a:rPr>
              <a:t>L'équipe tient-elle le modèle sans le consultant ? Il se rend dispensable : n'évalue jamais les personnes, ne fait pas leur reporting, ne s'installe pas entre l'équipe et le sponsor.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RÉUSSIR ET DÉMARRER   ·   </a:t>
            </a:r>
            <a:r>
              <a:rPr b="1" sz="1200">
                <a:solidFill>
                  <a:srgbClr val="0E2356"/>
                </a:solidFill>
                <a:latin typeface="Outfit"/>
              </a:rPr>
              <a:t>Deux semaines d'Assessment flash pour un premier signal mesuré</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850" b="0" i="1">
                <a:solidFill>
                  <a:srgbClr val="0E2356"/>
                </a:solidFill>
                <a:latin typeface="Outfit"/>
              </a:rPr>
              <a:t>Décision demandée : lancer l'Assessment flash. La DSI engage un sponsor et des équipes disponibles ; le premier signal arrive à sa restitution, fin de semaine 2.</a:t>
            </a:r>
          </a:p>
        </p:txBody>
      </p:sp>
      <p:sp>
        <p:nvSpPr>
          <p:cNvPr id="4" name="TextBox 3"/>
          <p:cNvSpPr txBox="1"/>
          <p:nvPr/>
        </p:nvSpPr>
        <p:spPr>
          <a:xfrm>
            <a:off x="243687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S1</a:t>
            </a:r>
          </a:p>
        </p:txBody>
      </p:sp>
      <p:sp>
        <p:nvSpPr>
          <p:cNvPr id="5" name="TextBox 4"/>
          <p:cNvSpPr txBox="1"/>
          <p:nvPr/>
        </p:nvSpPr>
        <p:spPr>
          <a:xfrm>
            <a:off x="298551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S2</a:t>
            </a:r>
          </a:p>
        </p:txBody>
      </p:sp>
      <p:sp>
        <p:nvSpPr>
          <p:cNvPr id="6" name="TextBox 5"/>
          <p:cNvSpPr txBox="1"/>
          <p:nvPr/>
        </p:nvSpPr>
        <p:spPr>
          <a:xfrm>
            <a:off x="353415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S3</a:t>
            </a:r>
          </a:p>
        </p:txBody>
      </p:sp>
      <p:sp>
        <p:nvSpPr>
          <p:cNvPr id="7" name="TextBox 6"/>
          <p:cNvSpPr txBox="1"/>
          <p:nvPr/>
        </p:nvSpPr>
        <p:spPr>
          <a:xfrm>
            <a:off x="408279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S4</a:t>
            </a:r>
          </a:p>
        </p:txBody>
      </p:sp>
      <p:sp>
        <p:nvSpPr>
          <p:cNvPr id="8" name="TextBox 7"/>
          <p:cNvSpPr txBox="1"/>
          <p:nvPr/>
        </p:nvSpPr>
        <p:spPr>
          <a:xfrm>
            <a:off x="463143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S5</a:t>
            </a:r>
          </a:p>
        </p:txBody>
      </p:sp>
      <p:sp>
        <p:nvSpPr>
          <p:cNvPr id="9" name="TextBox 8"/>
          <p:cNvSpPr txBox="1"/>
          <p:nvPr/>
        </p:nvSpPr>
        <p:spPr>
          <a:xfrm>
            <a:off x="518007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S6</a:t>
            </a:r>
          </a:p>
        </p:txBody>
      </p:sp>
      <p:sp>
        <p:nvSpPr>
          <p:cNvPr id="10" name="TextBox 9"/>
          <p:cNvSpPr txBox="1"/>
          <p:nvPr/>
        </p:nvSpPr>
        <p:spPr>
          <a:xfrm>
            <a:off x="572871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S7</a:t>
            </a:r>
          </a:p>
        </p:txBody>
      </p:sp>
      <p:sp>
        <p:nvSpPr>
          <p:cNvPr id="11" name="TextBox 10"/>
          <p:cNvSpPr txBox="1"/>
          <p:nvPr/>
        </p:nvSpPr>
        <p:spPr>
          <a:xfrm>
            <a:off x="6277356" y="1399031"/>
            <a:ext cx="809243" cy="164592"/>
          </a:xfrm>
          <a:prstGeom prst="rect">
            <a:avLst/>
          </a:prstGeom>
          <a:noFill/>
        </p:spPr>
        <p:txBody>
          <a:bodyPr wrap="square" anchor="t" lIns="0" rIns="0" tIns="0" bIns="0">
            <a:noAutofit/>
          </a:bodyPr>
          <a:lstStyle/>
          <a:p>
            <a:pPr algn="ctr"/>
            <a:r>
              <a:rPr sz="800" b="1" i="0">
                <a:solidFill>
                  <a:srgbClr val="586586"/>
                </a:solidFill>
                <a:latin typeface="Outfit"/>
              </a:rPr>
              <a:t>…</a:t>
            </a:r>
          </a:p>
        </p:txBody>
      </p:sp>
      <p:sp>
        <p:nvSpPr>
          <p:cNvPr id="12" name="TextBox 11"/>
          <p:cNvSpPr txBox="1"/>
          <p:nvPr/>
        </p:nvSpPr>
        <p:spPr>
          <a:xfrm>
            <a:off x="7086600" y="1399031"/>
            <a:ext cx="1280160" cy="164592"/>
          </a:xfrm>
          <a:prstGeom prst="rect">
            <a:avLst/>
          </a:prstGeom>
          <a:noFill/>
        </p:spPr>
        <p:txBody>
          <a:bodyPr wrap="square" anchor="t" lIns="0" rIns="0" tIns="0" bIns="0">
            <a:noAutofit/>
          </a:bodyPr>
          <a:lstStyle/>
          <a:p>
            <a:pPr algn="ctr"/>
            <a:r>
              <a:rPr sz="800" b="1" i="0">
                <a:solidFill>
                  <a:srgbClr val="586586"/>
                </a:solidFill>
                <a:latin typeface="Outfit"/>
              </a:rPr>
              <a:t>T+6–12 MOIS</a:t>
            </a:r>
          </a:p>
        </p:txBody>
      </p:sp>
      <p:sp>
        <p:nvSpPr>
          <p:cNvPr id="13" name="Oval 12"/>
          <p:cNvSpPr/>
          <p:nvPr/>
        </p:nvSpPr>
        <p:spPr>
          <a:xfrm>
            <a:off x="26563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204972" y="1600199"/>
            <a:ext cx="109728" cy="109728"/>
          </a:xfrm>
          <a:prstGeom prst="ellipse">
            <a:avLst/>
          </a:prstGeom>
          <a:solidFill>
            <a:srgbClr val="00D2DD"/>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5361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225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85089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995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817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671815"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2356" y="2075688"/>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1801367"/>
            <a:ext cx="1783080" cy="246888"/>
          </a:xfrm>
          <a:prstGeom prst="rect">
            <a:avLst/>
          </a:prstGeom>
          <a:noFill/>
        </p:spPr>
        <p:txBody>
          <a:bodyPr wrap="square" anchor="ctr" lIns="0" rIns="0" tIns="0" bIns="0">
            <a:noAutofit/>
          </a:bodyPr>
          <a:lstStyle/>
          <a:p>
            <a:pPr algn="l"/>
            <a:r>
              <a:rPr sz="800" b="1" i="0">
                <a:solidFill>
                  <a:srgbClr val="0E2356"/>
                </a:solidFill>
                <a:latin typeface="Outfit"/>
              </a:rPr>
              <a:t>①  Assessment flash</a:t>
            </a:r>
          </a:p>
        </p:txBody>
      </p:sp>
      <p:sp>
        <p:nvSpPr>
          <p:cNvPr id="23" name="Rounded Rectangle 22"/>
          <p:cNvSpPr/>
          <p:nvPr/>
        </p:nvSpPr>
        <p:spPr>
          <a:xfrm>
            <a:off x="2464308" y="1801367"/>
            <a:ext cx="1042416" cy="24688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4308" y="1801367"/>
            <a:ext cx="1042416" cy="246888"/>
          </a:xfrm>
          <a:prstGeom prst="rect">
            <a:avLst/>
          </a:prstGeom>
          <a:noFill/>
        </p:spPr>
        <p:txBody>
          <a:bodyPr wrap="square" anchor="ctr" lIns="0" rIns="0" tIns="0" bIns="0">
            <a:noAutofit/>
          </a:bodyPr>
          <a:lstStyle/>
          <a:p>
            <a:pPr algn="ctr"/>
            <a:r>
              <a:rPr sz="800" b="1" i="0">
                <a:solidFill>
                  <a:srgbClr val="FFFFFF"/>
                </a:solidFill>
                <a:latin typeface="Outfit"/>
              </a:rPr>
              <a:t>2 semaines</a:t>
            </a:r>
          </a:p>
        </p:txBody>
      </p:sp>
      <p:sp>
        <p:nvSpPr>
          <p:cNvPr id="25" name="Rectangle 24"/>
          <p:cNvSpPr/>
          <p:nvPr/>
        </p:nvSpPr>
        <p:spPr>
          <a:xfrm>
            <a:off x="562356" y="2386584"/>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2112263"/>
            <a:ext cx="1783080" cy="246888"/>
          </a:xfrm>
          <a:prstGeom prst="rect">
            <a:avLst/>
          </a:prstGeom>
          <a:noFill/>
        </p:spPr>
        <p:txBody>
          <a:bodyPr wrap="square" anchor="ctr" lIns="0" rIns="0" tIns="0" bIns="0">
            <a:noAutofit/>
          </a:bodyPr>
          <a:lstStyle/>
          <a:p>
            <a:pPr algn="l"/>
            <a:r>
              <a:rPr sz="800" b="1" i="0">
                <a:solidFill>
                  <a:srgbClr val="0E2356"/>
                </a:solidFill>
                <a:latin typeface="Outfit"/>
              </a:rPr>
              <a:t>②  Premier déploiement</a:t>
            </a:r>
          </a:p>
        </p:txBody>
      </p:sp>
      <p:sp>
        <p:nvSpPr>
          <p:cNvPr id="27" name="Rounded Rectangle 26"/>
          <p:cNvSpPr/>
          <p:nvPr/>
        </p:nvSpPr>
        <p:spPr>
          <a:xfrm>
            <a:off x="3561588" y="2112263"/>
            <a:ext cx="3236975" cy="246888"/>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61588" y="2112263"/>
            <a:ext cx="3236975" cy="246888"/>
          </a:xfrm>
          <a:prstGeom prst="rect">
            <a:avLst/>
          </a:prstGeom>
          <a:noFill/>
        </p:spPr>
        <p:txBody>
          <a:bodyPr wrap="square" anchor="ctr" lIns="0" rIns="0" tIns="0" bIns="0">
            <a:noAutofit/>
          </a:bodyPr>
          <a:lstStyle/>
          <a:p>
            <a:pPr algn="ctr"/>
            <a:r>
              <a:rPr sz="800" b="1" i="0">
                <a:solidFill>
                  <a:srgbClr val="0E2356"/>
                </a:solidFill>
                <a:latin typeface="Outfit"/>
              </a:rPr>
              <a:t>4 à 5 semaines</a:t>
            </a:r>
          </a:p>
        </p:txBody>
      </p:sp>
      <p:sp>
        <p:nvSpPr>
          <p:cNvPr id="29" name="Rectangle 28"/>
          <p:cNvSpPr/>
          <p:nvPr/>
        </p:nvSpPr>
        <p:spPr>
          <a:xfrm>
            <a:off x="562356" y="2697480"/>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2356" y="2423160"/>
            <a:ext cx="1783080" cy="246888"/>
          </a:xfrm>
          <a:prstGeom prst="rect">
            <a:avLst/>
          </a:prstGeom>
          <a:noFill/>
        </p:spPr>
        <p:txBody>
          <a:bodyPr wrap="square" anchor="ctr" lIns="0" rIns="0" tIns="0" bIns="0">
            <a:noAutofit/>
          </a:bodyPr>
          <a:lstStyle/>
          <a:p>
            <a:pPr algn="l"/>
            <a:r>
              <a:rPr sz="800" b="1" i="0">
                <a:solidFill>
                  <a:srgbClr val="0E2356"/>
                </a:solidFill>
                <a:latin typeface="Outfit"/>
              </a:rPr>
              <a:t>③  Implémentation itérative</a:t>
            </a:r>
          </a:p>
        </p:txBody>
      </p:sp>
      <p:sp>
        <p:nvSpPr>
          <p:cNvPr id="31" name="Rounded Rectangle 30"/>
          <p:cNvSpPr/>
          <p:nvPr/>
        </p:nvSpPr>
        <p:spPr>
          <a:xfrm>
            <a:off x="6853428" y="2423160"/>
            <a:ext cx="1513332" cy="246888"/>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3428" y="2423160"/>
            <a:ext cx="1513332" cy="246888"/>
          </a:xfrm>
          <a:prstGeom prst="rect">
            <a:avLst/>
          </a:prstGeom>
          <a:noFill/>
        </p:spPr>
        <p:txBody>
          <a:bodyPr wrap="square" anchor="ctr" lIns="0" rIns="0" tIns="0" bIns="0">
            <a:noAutofit/>
          </a:bodyPr>
          <a:lstStyle/>
          <a:p>
            <a:pPr algn="ctr"/>
            <a:r>
              <a:rPr sz="800" b="1" i="0">
                <a:solidFill>
                  <a:srgbClr val="0E2356"/>
                </a:solidFill>
                <a:latin typeface="Outfit"/>
              </a:rPr>
              <a:t>en continu</a:t>
            </a:r>
          </a:p>
        </p:txBody>
      </p:sp>
      <p:sp>
        <p:nvSpPr>
          <p:cNvPr id="33" name="Rectangle 32"/>
          <p:cNvSpPr/>
          <p:nvPr/>
        </p:nvSpPr>
        <p:spPr>
          <a:xfrm>
            <a:off x="562356" y="3008376"/>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2356" y="2734056"/>
            <a:ext cx="1783080" cy="246888"/>
          </a:xfrm>
          <a:prstGeom prst="rect">
            <a:avLst/>
          </a:prstGeom>
          <a:noFill/>
        </p:spPr>
        <p:txBody>
          <a:bodyPr wrap="square" anchor="ctr" lIns="0" rIns="0" tIns="0" bIns="0">
            <a:noAutofit/>
          </a:bodyPr>
          <a:lstStyle/>
          <a:p>
            <a:pPr algn="l"/>
            <a:r>
              <a:rPr sz="800" b="0" i="0">
                <a:solidFill>
                  <a:srgbClr val="0E2356"/>
                </a:solidFill>
                <a:latin typeface="Outfit"/>
              </a:rPr>
              <a:t>⟲  Réévaluation</a:t>
            </a:r>
          </a:p>
        </p:txBody>
      </p:sp>
      <p:sp>
        <p:nvSpPr>
          <p:cNvPr id="35" name="Decision 34"/>
          <p:cNvSpPr/>
          <p:nvPr/>
        </p:nvSpPr>
        <p:spPr>
          <a:xfrm>
            <a:off x="7607807" y="2752344"/>
            <a:ext cx="237744" cy="210312"/>
          </a:xfrm>
          <a:prstGeom prst="flowChartDecision">
            <a:avLst/>
          </a:prstGeom>
          <a:solidFill>
            <a:srgbClr val="FFFFFF"/>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82796" y="2734056"/>
            <a:ext cx="3479291" cy="246888"/>
          </a:xfrm>
          <a:prstGeom prst="rect">
            <a:avLst/>
          </a:prstGeom>
          <a:noFill/>
        </p:spPr>
        <p:txBody>
          <a:bodyPr wrap="square" anchor="ctr" lIns="0" rIns="0" tIns="0" bIns="0">
            <a:noAutofit/>
          </a:bodyPr>
          <a:lstStyle/>
          <a:p>
            <a:pPr algn="r"/>
            <a:r>
              <a:rPr sz="800" b="0" i="1">
                <a:solidFill>
                  <a:srgbClr val="586586"/>
                </a:solidFill>
                <a:latin typeface="Outfit"/>
              </a:rPr>
              <a:t>Delta mesuré — même instrument qu'au T0</a:t>
            </a:r>
          </a:p>
        </p:txBody>
      </p:sp>
      <p:sp>
        <p:nvSpPr>
          <p:cNvPr id="37" name="Decision 36"/>
          <p:cNvSpPr/>
          <p:nvPr/>
        </p:nvSpPr>
        <p:spPr>
          <a:xfrm>
            <a:off x="3415284" y="1819655"/>
            <a:ext cx="237744" cy="210312"/>
          </a:xfrm>
          <a:prstGeom prst="flowChartDecision">
            <a:avLst/>
          </a:prstGeom>
          <a:solidFill>
            <a:srgbClr val="00D2DD"/>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36876" y="3054096"/>
            <a:ext cx="4572000" cy="182880"/>
          </a:xfrm>
          <a:prstGeom prst="rect">
            <a:avLst/>
          </a:prstGeom>
          <a:noFill/>
        </p:spPr>
        <p:txBody>
          <a:bodyPr wrap="square" anchor="t" lIns="0" rIns="0" tIns="0" bIns="0">
            <a:noAutofit/>
          </a:bodyPr>
          <a:lstStyle/>
          <a:p>
            <a:pPr algn="l"/>
            <a:r>
              <a:rPr sz="800" b="1" i="0">
                <a:solidFill>
                  <a:srgbClr val="0E2356"/>
                </a:solidFill>
                <a:latin typeface="Outfit"/>
              </a:rPr>
              <a:t>◆ Fin S2 : premier signal — mesures T0 restituées au sponsor</a:t>
            </a:r>
          </a:p>
        </p:txBody>
      </p:sp>
      <p:sp>
        <p:nvSpPr>
          <p:cNvPr id="39" name="TextBox 38"/>
          <p:cNvSpPr txBox="1"/>
          <p:nvPr/>
        </p:nvSpPr>
        <p:spPr>
          <a:xfrm>
            <a:off x="562356" y="3355848"/>
            <a:ext cx="2788920" cy="182880"/>
          </a:xfrm>
          <a:prstGeom prst="rect">
            <a:avLst/>
          </a:prstGeom>
          <a:noFill/>
        </p:spPr>
        <p:txBody>
          <a:bodyPr wrap="square" anchor="t" lIns="0" rIns="0" tIns="0" bIns="0">
            <a:noAutofit/>
          </a:bodyPr>
          <a:lstStyle/>
          <a:p>
            <a:pPr algn="l"/>
            <a:r>
              <a:rPr sz="800" b="1" i="0">
                <a:solidFill>
                  <a:srgbClr val="586586"/>
                </a:solidFill>
                <a:latin typeface="Outfit"/>
              </a:rPr>
              <a:t>CE QUE LA DSI ENGAGE</a:t>
            </a:r>
          </a:p>
        </p:txBody>
      </p:sp>
      <p:sp>
        <p:nvSpPr>
          <p:cNvPr id="40" name="Rounded Rectangle 39"/>
          <p:cNvSpPr/>
          <p:nvPr/>
        </p:nvSpPr>
        <p:spPr>
          <a:xfrm>
            <a:off x="562356" y="3575304"/>
            <a:ext cx="2788920" cy="667512"/>
          </a:xfrm>
          <a:prstGeom prst="roundRect">
            <a:avLst>
              <a:gd name="adj" fmla="val 27397"/>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2940" y="3790188"/>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 y="3790188"/>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43" name="TextBox 42"/>
          <p:cNvSpPr txBox="1"/>
          <p:nvPr/>
        </p:nvSpPr>
        <p:spPr>
          <a:xfrm>
            <a:off x="982980" y="3575304"/>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Un sponsor qui porte la cible</a:t>
            </a:r>
          </a:p>
          <a:p>
            <a:pPr algn="l">
              <a:lnSpc>
                <a:spcPct val="115000"/>
              </a:lnSpc>
              <a:spcBef>
                <a:spcPts val="200"/>
              </a:spcBef>
            </a:pPr>
            <a:r>
              <a:rPr sz="800" b="0" i="0">
                <a:solidFill>
                  <a:srgbClr val="586586"/>
                </a:solidFill>
                <a:latin typeface="Outfit"/>
              </a:rPr>
              <a:t>DSI ou direction infrastructure, engagé dès l'intake.</a:t>
            </a:r>
          </a:p>
        </p:txBody>
      </p:sp>
      <p:sp>
        <p:nvSpPr>
          <p:cNvPr id="44" name="Rounded Rectangle 43"/>
          <p:cNvSpPr/>
          <p:nvPr/>
        </p:nvSpPr>
        <p:spPr>
          <a:xfrm>
            <a:off x="562356" y="4315968"/>
            <a:ext cx="2788920" cy="667512"/>
          </a:xfrm>
          <a:prstGeom prst="roundRect">
            <a:avLst>
              <a:gd name="adj" fmla="val 27397"/>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62940" y="453085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 y="4530852"/>
            <a:ext cx="237744" cy="237744"/>
          </a:xfrm>
          <a:prstGeom prst="rect">
            <a:avLst/>
          </a:prstGeom>
          <a:noFill/>
        </p:spPr>
        <p:txBody>
          <a:bodyPr wrap="square" anchor="ctr" lIns="0" rIns="0" tIns="0" bIns="0">
            <a:noAutofit/>
          </a:bodyPr>
          <a:lstStyle/>
          <a:p>
            <a:pPr algn="ctr"/>
            <a:r>
              <a:rPr sz="800" b="1" i="0">
                <a:solidFill>
                  <a:srgbClr val="FFFFFF"/>
                </a:solidFill>
                <a:latin typeface="Outfit"/>
              </a:rPr>
              <a:t>2</a:t>
            </a:r>
          </a:p>
        </p:txBody>
      </p:sp>
      <p:sp>
        <p:nvSpPr>
          <p:cNvPr id="47" name="TextBox 46"/>
          <p:cNvSpPr txBox="1"/>
          <p:nvPr/>
        </p:nvSpPr>
        <p:spPr>
          <a:xfrm>
            <a:off x="982980" y="4315968"/>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Des équipes réellement disponibles</a:t>
            </a:r>
          </a:p>
          <a:p>
            <a:pPr algn="l">
              <a:lnSpc>
                <a:spcPct val="115000"/>
              </a:lnSpc>
              <a:spcBef>
                <a:spcPts val="200"/>
              </a:spcBef>
            </a:pPr>
            <a:r>
              <a:rPr sz="800" b="0" i="0">
                <a:solidFill>
                  <a:srgbClr val="586586"/>
                </a:solidFill>
                <a:latin typeface="Outfit"/>
              </a:rPr>
              <a:t>Interviews et ateliers sur du temps réservé, vérifié avant le démarrage.</a:t>
            </a:r>
          </a:p>
        </p:txBody>
      </p:sp>
      <p:sp>
        <p:nvSpPr>
          <p:cNvPr id="48" name="TextBox 47"/>
          <p:cNvSpPr txBox="1"/>
          <p:nvPr/>
        </p:nvSpPr>
        <p:spPr>
          <a:xfrm>
            <a:off x="3579876" y="3355848"/>
            <a:ext cx="4786884" cy="182880"/>
          </a:xfrm>
          <a:prstGeom prst="rect">
            <a:avLst/>
          </a:prstGeom>
          <a:noFill/>
        </p:spPr>
        <p:txBody>
          <a:bodyPr wrap="square" anchor="t" lIns="0" rIns="0" tIns="0" bIns="0">
            <a:noAutofit/>
          </a:bodyPr>
          <a:lstStyle/>
          <a:p>
            <a:pPr algn="l"/>
            <a:r>
              <a:rPr sz="800" b="1" i="0">
                <a:solidFill>
                  <a:srgbClr val="586586"/>
                </a:solidFill>
                <a:latin typeface="Outfit"/>
              </a:rPr>
              <a:t>SIGNAL MINIMAL — MESURÉ AU T0, REMESURÉ À T+6–12 MOIS</a:t>
            </a:r>
          </a:p>
        </p:txBody>
      </p:sp>
      <p:sp>
        <p:nvSpPr>
          <p:cNvPr id="49" name="Rounded Rectangle 48"/>
          <p:cNvSpPr/>
          <p:nvPr/>
        </p:nvSpPr>
        <p:spPr>
          <a:xfrm>
            <a:off x="3579876" y="3575304"/>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579876"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26180"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Gaspillage traité</a:t>
            </a:r>
          </a:p>
          <a:p>
            <a:pPr algn="l">
              <a:lnSpc>
                <a:spcPct val="115000"/>
              </a:lnSpc>
              <a:spcBef>
                <a:spcPts val="100"/>
              </a:spcBef>
            </a:pPr>
            <a:r>
              <a:rPr sz="800" b="0" i="0">
                <a:solidFill>
                  <a:srgbClr val="586586"/>
                </a:solidFill>
                <a:latin typeface="Outfit"/>
              </a:rPr>
              <a:t>capacité RUN récupérée</a:t>
            </a:r>
          </a:p>
        </p:txBody>
      </p:sp>
      <p:sp>
        <p:nvSpPr>
          <p:cNvPr id="52" name="Rounded Rectangle 51"/>
          <p:cNvSpPr/>
          <p:nvPr/>
        </p:nvSpPr>
        <p:spPr>
          <a:xfrm>
            <a:off x="6019038" y="3575304"/>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019038"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5342"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Adoption produit</a:t>
            </a:r>
          </a:p>
          <a:p>
            <a:pPr algn="l">
              <a:lnSpc>
                <a:spcPct val="115000"/>
              </a:lnSpc>
              <a:spcBef>
                <a:spcPts val="100"/>
              </a:spcBef>
            </a:pPr>
            <a:r>
              <a:rPr sz="800" b="0" i="0">
                <a:solidFill>
                  <a:srgbClr val="586586"/>
                </a:solidFill>
                <a:latin typeface="Outfit"/>
              </a:rPr>
              <a:t>usage du self-service</a:t>
            </a:r>
          </a:p>
        </p:txBody>
      </p:sp>
      <p:sp>
        <p:nvSpPr>
          <p:cNvPr id="55" name="Rounded Rectangle 54"/>
          <p:cNvSpPr/>
          <p:nvPr/>
        </p:nvSpPr>
        <p:spPr>
          <a:xfrm>
            <a:off x="3579876" y="4325112"/>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579876"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726180"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Fiabilité &amp; SLA</a:t>
            </a:r>
          </a:p>
          <a:p>
            <a:pPr algn="l">
              <a:lnSpc>
                <a:spcPct val="115000"/>
              </a:lnSpc>
              <a:spcBef>
                <a:spcPts val="100"/>
              </a:spcBef>
            </a:pPr>
            <a:r>
              <a:rPr sz="800" b="0" i="0">
                <a:solidFill>
                  <a:srgbClr val="586586"/>
                </a:solidFill>
                <a:latin typeface="Outfit"/>
              </a:rPr>
              <a:t>MTTR, respect des engagements</a:t>
            </a:r>
          </a:p>
        </p:txBody>
      </p:sp>
      <p:sp>
        <p:nvSpPr>
          <p:cNvPr id="58" name="Rounded Rectangle 57"/>
          <p:cNvSpPr/>
          <p:nvPr/>
        </p:nvSpPr>
        <p:spPr>
          <a:xfrm>
            <a:off x="6019038" y="4325112"/>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019038"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65342"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Maturité</a:t>
            </a:r>
          </a:p>
          <a:p>
            <a:pPr algn="l">
              <a:lnSpc>
                <a:spcPct val="115000"/>
              </a:lnSpc>
              <a:spcBef>
                <a:spcPts val="100"/>
              </a:spcBef>
            </a:pPr>
            <a:r>
              <a:rPr sz="800" b="0" i="0">
                <a:solidFill>
                  <a:srgbClr val="586586"/>
                </a:solidFill>
                <a:latin typeface="Outfit"/>
              </a:rPr>
              <a:t>delta par pilier, T0 → réévaluation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Annexes</a:t>
            </a:r>
          </a:p>
          <a:p>
            <a:r>
              <a:rPr sz="1050" i="1">
                <a:solidFill>
                  <a:srgbClr val="586586"/>
                </a:solidFill>
                <a:latin typeface="Outfit"/>
              </a:rPr>
              <a:t>Le schéma d'accompagnement de référence et l'export markdown.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30480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Transformer une fonction infra en produit interne : pensé pour ses utilisateurs, avec parcours, valeur et pilotage — pas un centre de coûts.</a:t>
            </a:r>
          </a:p>
        </p:txBody>
      </p:sp>
      <p:sp>
        <p:nvSpPr>
          <p:cNvPr id="4" name="Rounded Rectangle 3"/>
          <p:cNvSpPr/>
          <p:nvPr/>
        </p:nvSpPr>
        <p:spPr>
          <a:xfrm>
            <a:off x="562356" y="1411224"/>
            <a:ext cx="2331720" cy="474472"/>
          </a:xfrm>
          <a:prstGeom prst="roundRect">
            <a:avLst>
              <a:gd name="adj" fmla="val 38543"/>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0372" y="1433169"/>
            <a:ext cx="2075687" cy="43058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EXTENSION POSSIBLE</a:t>
            </a:r>
          </a:p>
          <a:p>
            <a:pPr algn="l">
              <a:lnSpc>
                <a:spcPct val="115000"/>
              </a:lnSpc>
              <a:spcBef>
                <a:spcPts val="200"/>
              </a:spcBef>
            </a:pPr>
            <a:r>
              <a:rPr sz="800" b="0" i="1">
                <a:solidFill>
                  <a:srgbClr val="586586"/>
                </a:solidFill>
                <a:latin typeface="Outfit"/>
              </a:rPr>
              <a:t>Reconstitution d'incident, si crise.</a:t>
            </a:r>
          </a:p>
        </p:txBody>
      </p:sp>
      <p:sp>
        <p:nvSpPr>
          <p:cNvPr id="6" name="Rounded Rectangle 5"/>
          <p:cNvSpPr/>
          <p:nvPr/>
        </p:nvSpPr>
        <p:spPr>
          <a:xfrm>
            <a:off x="5760720" y="1411224"/>
            <a:ext cx="2606040" cy="474472"/>
          </a:xfrm>
          <a:prstGeom prst="roundRect">
            <a:avLst>
              <a:gd name="adj" fmla="val 38543"/>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88736" y="1433169"/>
            <a:ext cx="2350008" cy="43058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EXTENSION POSSIBLE</a:t>
            </a:r>
          </a:p>
          <a:p>
            <a:pPr algn="l">
              <a:lnSpc>
                <a:spcPct val="115000"/>
              </a:lnSpc>
              <a:spcBef>
                <a:spcPts val="200"/>
              </a:spcBef>
            </a:pPr>
            <a:r>
              <a:rPr sz="800" b="0" i="1">
                <a:solidFill>
                  <a:srgbClr val="586586"/>
                </a:solidFill>
                <a:latin typeface="Outfit"/>
              </a:rPr>
              <a:t>Tri contraintes / habitudes, si sites hétérogènes.</a:t>
            </a:r>
          </a:p>
        </p:txBody>
      </p:sp>
      <p:sp>
        <p:nvSpPr>
          <p:cNvPr id="8" name="TextBox 7"/>
          <p:cNvSpPr txBox="1"/>
          <p:nvPr/>
        </p:nvSpPr>
        <p:spPr>
          <a:xfrm>
            <a:off x="2820009" y="1411224"/>
            <a:ext cx="1691640" cy="128016"/>
          </a:xfrm>
          <a:prstGeom prst="rect">
            <a:avLst/>
          </a:prstGeom>
          <a:noFill/>
        </p:spPr>
        <p:txBody>
          <a:bodyPr wrap="square" anchor="ctr" lIns="0" rIns="0" tIns="0" bIns="0">
            <a:noAutofit/>
          </a:bodyPr>
          <a:lstStyle/>
          <a:p>
            <a:pPr algn="ctr"/>
            <a:r>
              <a:rPr sz="800" b="0" i="1">
                <a:solidFill>
                  <a:srgbClr val="586586"/>
                </a:solidFill>
                <a:latin typeface="Outfit"/>
              </a:rPr>
              <a:t>signal de contexte détecté ?</a:t>
            </a:r>
          </a:p>
        </p:txBody>
      </p:sp>
      <p:sp>
        <p:nvSpPr>
          <p:cNvPr id="9" name="Rounded Rectangle 8"/>
          <p:cNvSpPr/>
          <p:nvPr/>
        </p:nvSpPr>
        <p:spPr>
          <a:xfrm>
            <a:off x="3048609" y="1520951"/>
            <a:ext cx="1234440" cy="155448"/>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520951"/>
            <a:ext cx="1143000" cy="155448"/>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Contexte léger</a:t>
            </a:r>
          </a:p>
        </p:txBody>
      </p:sp>
      <p:sp>
        <p:nvSpPr>
          <p:cNvPr id="11" name="Rounded Rectangle 10"/>
          <p:cNvSpPr/>
          <p:nvPr/>
        </p:nvSpPr>
        <p:spPr>
          <a:xfrm>
            <a:off x="3048609" y="1694687"/>
            <a:ext cx="1234440" cy="155448"/>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694687"/>
            <a:ext cx="1143000" cy="155448"/>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Contexte politique</a:t>
            </a:r>
          </a:p>
        </p:txBody>
      </p:sp>
      <p:sp>
        <p:nvSpPr>
          <p:cNvPr id="13" name="TextBox 12"/>
          <p:cNvSpPr txBox="1"/>
          <p:nvPr/>
        </p:nvSpPr>
        <p:spPr>
          <a:xfrm>
            <a:off x="774542" y="192227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192227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01371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Premier contact</a:t>
            </a:r>
          </a:p>
        </p:txBody>
      </p:sp>
      <p:sp>
        <p:nvSpPr>
          <p:cNvPr id="17" name="TextBox 16"/>
          <p:cNvSpPr txBox="1"/>
          <p:nvPr/>
        </p:nvSpPr>
        <p:spPr>
          <a:xfrm>
            <a:off x="1976932"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Cadrage</a:t>
            </a:r>
          </a:p>
          <a:p>
            <a:pPr algn="ctr">
              <a:lnSpc>
                <a:spcPct val="100000"/>
              </a:lnSpc>
              <a:spcBef>
                <a:spcPts val="100"/>
              </a:spcBef>
            </a:pPr>
            <a:r>
              <a:rPr sz="800" b="0" i="1">
                <a:solidFill>
                  <a:srgbClr val="586586"/>
                </a:solidFill>
                <a:latin typeface="Outfit"/>
              </a:rPr>
              <a:t>note de cadrage</a:t>
            </a:r>
          </a:p>
        </p:txBody>
      </p:sp>
      <p:sp>
        <p:nvSpPr>
          <p:cNvPr id="20" name="TextBox 19"/>
          <p:cNvSpPr txBox="1"/>
          <p:nvPr/>
        </p:nvSpPr>
        <p:spPr>
          <a:xfrm>
            <a:off x="3574389"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Diagnostic</a:t>
            </a:r>
          </a:p>
          <a:p>
            <a:pPr algn="ctr">
              <a:lnSpc>
                <a:spcPct val="100000"/>
              </a:lnSpc>
              <a:spcBef>
                <a:spcPts val="100"/>
              </a:spcBef>
            </a:pPr>
            <a:r>
              <a:rPr sz="800" b="0" i="1">
                <a:solidFill>
                  <a:srgbClr val="586586"/>
                </a:solidFill>
                <a:latin typeface="Outfit"/>
              </a:rPr>
              <a:t>base factuelle partagée</a:t>
            </a:r>
          </a:p>
        </p:txBody>
      </p:sp>
      <p:sp>
        <p:nvSpPr>
          <p:cNvPr id="23" name="TextBox 22"/>
          <p:cNvSpPr txBox="1"/>
          <p:nvPr/>
        </p:nvSpPr>
        <p:spPr>
          <a:xfrm>
            <a:off x="5171846"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Discovery gaspillages</a:t>
            </a:r>
          </a:p>
          <a:p>
            <a:pPr algn="ctr">
              <a:lnSpc>
                <a:spcPct val="100000"/>
              </a:lnSpc>
              <a:spcBef>
                <a:spcPts val="100"/>
              </a:spcBef>
            </a:pPr>
            <a:r>
              <a:rPr sz="800" b="0" i="1">
                <a:solidFill>
                  <a:srgbClr val="586586"/>
                </a:solidFill>
                <a:latin typeface="Outfit"/>
              </a:rPr>
              <a:t>8 familles</a:t>
            </a:r>
          </a:p>
        </p:txBody>
      </p:sp>
      <p:sp>
        <p:nvSpPr>
          <p:cNvPr id="26" name="TextBox 25"/>
          <p:cNvSpPr txBox="1"/>
          <p:nvPr/>
        </p:nvSpPr>
        <p:spPr>
          <a:xfrm>
            <a:off x="6769303"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Segmentation / Product Discovery</a:t>
            </a:r>
          </a:p>
        </p:txBody>
      </p:sp>
      <p:sp>
        <p:nvSpPr>
          <p:cNvPr id="29" name="Rounded Rectangle 28"/>
          <p:cNvSpPr/>
          <p:nvPr/>
        </p:nvSpPr>
        <p:spPr>
          <a:xfrm>
            <a:off x="5354726" y="2406904"/>
            <a:ext cx="1414576" cy="405384"/>
          </a:xfrm>
          <a:prstGeom prst="roundRect">
            <a:avLst>
              <a:gd name="adj" fmla="val 45112"/>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406904"/>
            <a:ext cx="1323136" cy="405384"/>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 Contradictions structurelles (si contexte politique)</a:t>
            </a:r>
          </a:p>
        </p:txBody>
      </p:sp>
      <p:sp>
        <p:nvSpPr>
          <p:cNvPr id="31" name="Rectangle 30"/>
          <p:cNvSpPr/>
          <p:nvPr/>
        </p:nvSpPr>
        <p:spPr>
          <a:xfrm>
            <a:off x="7650327" y="2361184"/>
            <a:ext cx="18288" cy="50596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6715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6715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58008"/>
            <a:ext cx="201168" cy="109728"/>
          </a:xfrm>
          <a:prstGeom prst="rect">
            <a:avLst/>
          </a:prstGeom>
          <a:noFill/>
        </p:spPr>
        <p:txBody>
          <a:bodyPr wrap="square" anchor="ctr" lIns="0" rIns="0" tIns="0" bIns="0">
            <a:noAutofit/>
          </a:bodyPr>
          <a:lstStyle/>
          <a:p>
            <a:pPr algn="ctr"/>
            <a:r>
              <a:rPr sz="800" b="1" i="0">
                <a:solidFill>
                  <a:srgbClr val="586586"/>
                </a:solidFill>
                <a:latin typeface="Outfit"/>
              </a:rPr>
              <a:t>▾</a:t>
            </a:r>
          </a:p>
        </p:txBody>
      </p:sp>
      <p:sp>
        <p:nvSpPr>
          <p:cNvPr id="35" name="Rounded Rectangle 34"/>
          <p:cNvSpPr/>
          <p:nvPr/>
        </p:nvSpPr>
        <p:spPr>
          <a:xfrm>
            <a:off x="562356"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Product Definition</a:t>
            </a:r>
          </a:p>
          <a:p>
            <a:pPr algn="ctr">
              <a:lnSpc>
                <a:spcPct val="100000"/>
              </a:lnSpc>
              <a:spcBef>
                <a:spcPts val="100"/>
              </a:spcBef>
            </a:pPr>
            <a:r>
              <a:rPr sz="800" b="0" i="1">
                <a:solidFill>
                  <a:srgbClr val="586586"/>
                </a:solidFill>
                <a:latin typeface="Outfit"/>
              </a:rPr>
              <a:t>fiche produit cible</a:t>
            </a:r>
          </a:p>
        </p:txBody>
      </p:sp>
      <p:sp>
        <p:nvSpPr>
          <p:cNvPr id="37" name="TextBox 36"/>
          <p:cNvSpPr txBox="1"/>
          <p:nvPr/>
        </p:nvSpPr>
        <p:spPr>
          <a:xfrm>
            <a:off x="1976932"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Operating Model</a:t>
            </a:r>
          </a:p>
          <a:p>
            <a:pPr algn="ctr">
              <a:lnSpc>
                <a:spcPct val="100000"/>
              </a:lnSpc>
              <a:spcBef>
                <a:spcPts val="100"/>
              </a:spcBef>
            </a:pPr>
            <a:r>
              <a:rPr sz="800" b="0" i="1">
                <a:solidFill>
                  <a:srgbClr val="586586"/>
                </a:solidFill>
                <a:latin typeface="Outfit"/>
              </a:rPr>
              <a:t>responsabilités + mesure</a:t>
            </a:r>
          </a:p>
        </p:txBody>
      </p:sp>
      <p:sp>
        <p:nvSpPr>
          <p:cNvPr id="40" name="TextBox 39"/>
          <p:cNvSpPr txBox="1"/>
          <p:nvPr/>
        </p:nvSpPr>
        <p:spPr>
          <a:xfrm>
            <a:off x="3574389"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Adoption / Pilote</a:t>
            </a:r>
          </a:p>
          <a:p>
            <a:pPr algn="ctr">
              <a:lnSpc>
                <a:spcPct val="100000"/>
              </a:lnSpc>
              <a:spcBef>
                <a:spcPts val="100"/>
              </a:spcBef>
            </a:pPr>
            <a:r>
              <a:rPr sz="800" b="0" i="1">
                <a:solidFill>
                  <a:srgbClr val="586586"/>
                </a:solidFill>
                <a:latin typeface="Outfit"/>
              </a:rPr>
              <a:t>bilan avant / après</a:t>
            </a:r>
          </a:p>
        </p:txBody>
      </p:sp>
      <p:sp>
        <p:nvSpPr>
          <p:cNvPr id="43" name="TextBox 42"/>
          <p:cNvSpPr txBox="1"/>
          <p:nvPr/>
        </p:nvSpPr>
        <p:spPr>
          <a:xfrm>
            <a:off x="5171846"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585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Mission close</a:t>
            </a:r>
          </a:p>
        </p:txBody>
      </p:sp>
      <p:sp>
        <p:nvSpPr>
          <p:cNvPr id="46" name="TextBox 45"/>
          <p:cNvSpPr txBox="1"/>
          <p:nvPr/>
        </p:nvSpPr>
        <p:spPr>
          <a:xfrm>
            <a:off x="6769303"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Retour d'expérience</a:t>
            </a:r>
          </a:p>
          <a:p>
            <a:pPr algn="ctr">
              <a:lnSpc>
                <a:spcPct val="100000"/>
              </a:lnSpc>
              <a:spcBef>
                <a:spcPts val="100"/>
              </a:spcBef>
            </a:pPr>
            <a:r>
              <a:rPr sz="800" b="0" i="1">
                <a:solidFill>
                  <a:srgbClr val="586586"/>
                </a:solidFill>
                <a:latin typeface="Outfit"/>
              </a:rPr>
              <a:t>vers la bibliothèque partagée</a:t>
            </a:r>
          </a:p>
        </p:txBody>
      </p:sp>
      <p:sp>
        <p:nvSpPr>
          <p:cNvPr id="49" name="Rounded Rectangle 48"/>
          <p:cNvSpPr/>
          <p:nvPr/>
        </p:nvSpPr>
        <p:spPr>
          <a:xfrm>
            <a:off x="3757269" y="3351783"/>
            <a:ext cx="1414576" cy="405384"/>
          </a:xfrm>
          <a:prstGeom prst="roundRect">
            <a:avLst>
              <a:gd name="adj" fmla="val 45112"/>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1783"/>
            <a:ext cx="1323136" cy="405384"/>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 Dispositif de revue (si contexte politique)</a:t>
            </a:r>
          </a:p>
        </p:txBody>
      </p:sp>
      <p:sp>
        <p:nvSpPr>
          <p:cNvPr id="51" name="Rounded Rectangle 50"/>
          <p:cNvSpPr/>
          <p:nvPr/>
        </p:nvSpPr>
        <p:spPr>
          <a:xfrm>
            <a:off x="562356" y="3802887"/>
            <a:ext cx="7804404" cy="352552"/>
          </a:xfrm>
          <a:prstGeom prst="roundRect">
            <a:avLst>
              <a:gd name="adj" fmla="val 5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0372" y="3824833"/>
            <a:ext cx="7548372" cy="30866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CHECKLIST GOUVERNANCE IA — TRANSVERSE</a:t>
            </a:r>
          </a:p>
          <a:p>
            <a:pPr algn="l">
              <a:lnSpc>
                <a:spcPct val="115000"/>
              </a:lnSpc>
              <a:spcBef>
                <a:spcPts val="200"/>
              </a:spcBef>
            </a:pPr>
            <a:r>
              <a:rPr sz="800" b="0" i="1">
                <a:solidFill>
                  <a:srgbClr val="586586"/>
                </a:solidFill>
                <a:latin typeface="Outfit"/>
              </a:rPr>
              <a:t>Mobilisable dès qu'un usage IA est identifié, à tout moment.</a:t>
            </a:r>
          </a:p>
        </p:txBody>
      </p:sp>
      <p:sp>
        <p:nvSpPr>
          <p:cNvPr id="53" name="Rounded Rectangle 52"/>
          <p:cNvSpPr/>
          <p:nvPr/>
        </p:nvSpPr>
        <p:spPr>
          <a:xfrm>
            <a:off x="562356" y="4173727"/>
            <a:ext cx="128016" cy="128016"/>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mouvement du socle (toujours présent)</a:t>
            </a:r>
          </a:p>
        </p:txBody>
      </p:sp>
      <p:sp>
        <p:nvSpPr>
          <p:cNvPr id="55" name="Rounded Rectangle 54"/>
          <p:cNvSpPr/>
          <p:nvPr/>
        </p:nvSpPr>
        <p:spPr>
          <a:xfrm>
            <a:off x="3186684" y="4173727"/>
            <a:ext cx="128016" cy="128016"/>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variante ou section conditionnée au contexte</a:t>
            </a:r>
          </a:p>
        </p:txBody>
      </p:sp>
      <p:sp>
        <p:nvSpPr>
          <p:cNvPr id="57" name="Rounded Rectangle 56"/>
          <p:cNvSpPr/>
          <p:nvPr/>
        </p:nvSpPr>
        <p:spPr>
          <a:xfrm>
            <a:off x="5811012" y="4173727"/>
            <a:ext cx="128016" cy="128016"/>
          </a:xfrm>
          <a:prstGeom prst="roundRect">
            <a:avLst>
              <a:gd name="adj" fmla="val 5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mécanisme additif (extension, checklist transverse)</a:t>
            </a:r>
          </a:p>
        </p:txBody>
      </p:sp>
      <p:sp>
        <p:nvSpPr>
          <p:cNvPr id="59" name="Rounded Rectangle 58"/>
          <p:cNvSpPr/>
          <p:nvPr/>
        </p:nvSpPr>
        <p:spPr>
          <a:xfrm>
            <a:off x="562356" y="4432363"/>
            <a:ext cx="7804404" cy="551116"/>
          </a:xfrm>
          <a:prstGeom prst="roundRect">
            <a:avLst>
              <a:gd name="adj" fmla="val 33183"/>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432363"/>
            <a:ext cx="64008" cy="5511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432363"/>
            <a:ext cx="7402068" cy="551116"/>
          </a:xfrm>
          <a:prstGeom prst="rect">
            <a:avLst/>
          </a:prstGeom>
          <a:noFill/>
        </p:spPr>
        <p:txBody>
          <a:bodyPr wrap="square" anchor="ctr" lIns="0" rIns="0" tIns="0" bIns="0">
            <a:spAutoFit/>
          </a:bodyPr>
          <a:lstStyle/>
          <a:p>
            <a:pPr algn="l">
              <a:lnSpc>
                <a:spcPct val="115000"/>
              </a:lnSpc>
            </a:pPr>
            <a:r>
              <a:rPr sz="800" b="1" i="0">
                <a:solidFill>
                  <a:srgbClr val="8891B3"/>
                </a:solidFill>
                <a:latin typeface="Outfit"/>
              </a:rPr>
              <a:t>LA THÈSE   </a:t>
            </a: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47619"/>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DÉPLOIEMENT AGENTIC</a:t>
            </a:r>
          </a:p>
          <a:p>
            <a:pPr algn="l">
              <a:spcBef>
                <a:spcPts val="100"/>
              </a:spcBef>
            </a:pPr>
            <a:r>
              <a:rPr sz="800" b="0" i="1">
                <a:solidFill>
                  <a:srgbClr val="586586"/>
                </a:solidFill>
                <a:latin typeface="Outfit"/>
              </a:rPr>
              <a:t>cf. les trois niveaux d'ambition</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La démarche restent pour sponsor et comité de pilotage.</a:t>
            </a:r>
          </a:p>
        </p:txBody>
      </p:sp>
      <p:sp>
        <p:nvSpPr>
          <p:cNvPr id="6" name="Rounded Rectangle 5"/>
          <p:cNvSpPr/>
          <p:nvPr/>
        </p:nvSpPr>
        <p:spPr>
          <a:xfrm>
            <a:off x="562356" y="1554480"/>
            <a:ext cx="3810762" cy="1417320"/>
          </a:xfrm>
          <a:prstGeom prst="roundRect">
            <a:avLst>
              <a:gd name="adj" fmla="val 12903"/>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800" b="1" i="0">
                <a:solidFill>
                  <a:srgbClr val="586586"/>
                </a:solidFill>
                <a:latin typeface="Outfit"/>
              </a:rPr>
              <a:t>LIVRABLE · OWNER</a:t>
            </a:r>
          </a:p>
          <a:p>
            <a:pPr algn="l">
              <a:spcBef>
                <a:spcPts val="200"/>
              </a:spcBef>
            </a:pPr>
            <a:r>
              <a:rPr sz="800" b="1" i="0">
                <a:solidFill>
                  <a:srgbClr val="0E2356"/>
                </a:solidFill>
                <a:latin typeface="Outfit"/>
              </a:rPr>
              <a:t>Runbook du processus — plan d'adoption</a:t>
            </a:r>
          </a:p>
        </p:txBody>
      </p:sp>
      <p:sp>
        <p:nvSpPr>
          <p:cNvPr id="11" name="Rounded Rectangle 10"/>
          <p:cNvSpPr/>
          <p:nvPr/>
        </p:nvSpPr>
        <p:spPr>
          <a:xfrm>
            <a:off x="4555998" y="1554480"/>
            <a:ext cx="3810762" cy="1417320"/>
          </a:xfrm>
          <a:prstGeom prst="roundRect">
            <a:avLst>
              <a:gd name="adj" fmla="val 12903"/>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800" b="1" i="0">
                <a:solidFill>
                  <a:srgbClr val="586586"/>
                </a:solidFill>
                <a:latin typeface="Outfit"/>
              </a:rPr>
              <a:t>LIVRABLE · OWNER</a:t>
            </a:r>
          </a:p>
          <a:p>
            <a:pPr algn="l">
              <a:spcBef>
                <a:spcPts val="200"/>
              </a:spcBef>
            </a:pPr>
            <a:r>
              <a:rPr sz="800" b="1" i="0">
                <a:solidFill>
                  <a:srgbClr val="0E2356"/>
                </a:solidFill>
                <a:latin typeface="Outfit"/>
              </a:rPr>
              <a:t>Plan d'implémentation agentic — opportunités agentic</a:t>
            </a:r>
          </a:p>
        </p:txBody>
      </p:sp>
      <p:sp>
        <p:nvSpPr>
          <p:cNvPr id="16" name="Rounded Rectangle 15"/>
          <p:cNvSpPr/>
          <p:nvPr/>
        </p:nvSpPr>
        <p:spPr>
          <a:xfrm>
            <a:off x="562356"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PILIER AGENTIC READINESS</a:t>
            </a:r>
          </a:p>
          <a:p>
            <a:pPr algn="l">
              <a:lnSpc>
                <a:spcPct val="115000"/>
              </a:lnSpc>
              <a:spcBef>
                <a:spcPts val="200"/>
              </a:spcBef>
            </a:pPr>
            <a:r>
              <a:rPr sz="8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DONNÉES (GATE IA)</a:t>
            </a:r>
          </a:p>
          <a:p>
            <a:pPr algn="l">
              <a:lnSpc>
                <a:spcPct val="115000"/>
              </a:lnSpc>
              <a:spcBef>
                <a:spcPts val="200"/>
              </a:spcBef>
            </a:pPr>
            <a:r>
              <a:rPr sz="8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SCORE DE GASPILLAGE</a:t>
            </a:r>
          </a:p>
          <a:p>
            <a:pPr algn="l">
              <a:lnSpc>
                <a:spcPct val="115000"/>
              </a:lnSpc>
              <a:spcBef>
                <a:spcPts val="200"/>
              </a:spcBef>
            </a:pPr>
            <a:r>
              <a:rPr sz="8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1904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