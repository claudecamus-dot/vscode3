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v2.42 · 2026-09-23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pourquoi, nos convictions, l'offre, comment, et comment démarrer.</a:t>
            </a:r>
          </a:p>
        </p:txBody>
      </p:sp>
      <p:sp>
        <p:nvSpPr>
          <p:cNvPr id="4" name="Rounded Rectangle 3"/>
          <p:cNvSpPr/>
          <p:nvPr/>
        </p:nvSpPr>
        <p:spPr>
          <a:xfrm>
            <a:off x="489204" y="1746504"/>
            <a:ext cx="7950708" cy="2872740"/>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2580132"/>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7" name="TextBox 6"/>
          <p:cNvSpPr txBox="1"/>
          <p:nvPr/>
        </p:nvSpPr>
        <p:spPr>
          <a:xfrm>
            <a:off x="708660" y="2240279"/>
            <a:ext cx="1121968" cy="621792"/>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8" name="TextBox 7"/>
          <p:cNvSpPr txBox="1"/>
          <p:nvPr/>
        </p:nvSpPr>
        <p:spPr>
          <a:xfrm>
            <a:off x="708660" y="2953512"/>
            <a:ext cx="1121968" cy="865632"/>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un terrain pas comme un autre, ce que coûte le statu quo, des douleurs mesurables et nommées.</a:t>
            </a:r>
          </a:p>
        </p:txBody>
      </p:sp>
      <p:sp>
        <p:nvSpPr>
          <p:cNvPr id="9" name="TextBox 8"/>
          <p:cNvSpPr txBox="1"/>
          <p:nvPr/>
        </p:nvSpPr>
        <p:spPr>
          <a:xfrm>
            <a:off x="708660" y="3947160"/>
            <a:ext cx="1121968" cy="397764"/>
          </a:xfrm>
          <a:prstGeom prst="rect">
            <a:avLst/>
          </a:prstGeom>
          <a:noFill/>
        </p:spPr>
        <p:txBody>
          <a:bodyPr wrap="square" anchor="b" lIns="0" rIns="0" tIns="0" bIns="0">
            <a:noAutofit/>
          </a:bodyPr>
          <a:lstStyle/>
          <a:p>
            <a:pPr algn="l"/>
            <a:r>
              <a:rPr sz="750" b="1" i="0">
                <a:solidFill>
                  <a:srgbClr val="0E2356"/>
                </a:solidFill>
                <a:latin typeface="Outfit"/>
              </a:rPr>
              <a:t>Contexte · Ce que ça coûte</a:t>
            </a:r>
          </a:p>
        </p:txBody>
      </p:sp>
      <p:sp>
        <p:nvSpPr>
          <p:cNvPr id="10" name="TextBox 9"/>
          <p:cNvSpPr txBox="1"/>
          <p:nvPr/>
        </p:nvSpPr>
        <p:spPr>
          <a:xfrm>
            <a:off x="1958644" y="3073146"/>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2580132"/>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CONVICTIONS</a:t>
            </a:r>
          </a:p>
        </p:txBody>
      </p:sp>
      <p:sp>
        <p:nvSpPr>
          <p:cNvPr id="13" name="TextBox 12"/>
          <p:cNvSpPr txBox="1"/>
          <p:nvPr/>
        </p:nvSpPr>
        <p:spPr>
          <a:xfrm>
            <a:off x="2306116" y="2240279"/>
            <a:ext cx="1121968" cy="621792"/>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Partir des utilisateurs, traiter le gaspillage d'abord.</a:t>
            </a:r>
          </a:p>
        </p:txBody>
      </p:sp>
      <p:sp>
        <p:nvSpPr>
          <p:cNvPr id="14" name="TextBox 13"/>
          <p:cNvSpPr txBox="1"/>
          <p:nvPr/>
        </p:nvSpPr>
        <p:spPr>
          <a:xfrm>
            <a:off x="2306116" y="2953512"/>
            <a:ext cx="1121968" cy="865632"/>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Cinq convictions sur ce qui fait réussir une infra en mode produit — et un exemple avant/après de ce qu'elle change.</a:t>
            </a:r>
          </a:p>
        </p:txBody>
      </p:sp>
      <p:sp>
        <p:nvSpPr>
          <p:cNvPr id="15" name="TextBox 14"/>
          <p:cNvSpPr txBox="1"/>
          <p:nvPr/>
        </p:nvSpPr>
        <p:spPr>
          <a:xfrm>
            <a:off x="2306116" y="3947160"/>
            <a:ext cx="1121968" cy="397764"/>
          </a:xfrm>
          <a:prstGeom prst="rect">
            <a:avLst/>
          </a:prstGeom>
          <a:noFill/>
        </p:spPr>
        <p:txBody>
          <a:bodyPr wrap="square" anchor="b" lIns="0" rIns="0" tIns="0" bIns="0">
            <a:noAutofit/>
          </a:bodyPr>
          <a:lstStyle/>
          <a:p>
            <a:pPr algn="l"/>
            <a:r>
              <a:rPr sz="750" b="1" i="0">
                <a:solidFill>
                  <a:srgbClr val="0E2356"/>
                </a:solidFill>
                <a:latin typeface="Outfit"/>
              </a:rPr>
              <a:t>Nos convictions</a:t>
            </a:r>
          </a:p>
        </p:txBody>
      </p:sp>
      <p:sp>
        <p:nvSpPr>
          <p:cNvPr id="16" name="TextBox 15"/>
          <p:cNvSpPr txBox="1"/>
          <p:nvPr/>
        </p:nvSpPr>
        <p:spPr>
          <a:xfrm>
            <a:off x="3556101" y="3073146"/>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258013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FFFFFF"/>
                </a:solidFill>
                <a:latin typeface="Outfit"/>
              </a:rPr>
              <a:t>OFFRE</a:t>
            </a:r>
          </a:p>
        </p:txBody>
      </p:sp>
      <p:sp>
        <p:nvSpPr>
          <p:cNvPr id="19" name="TextBox 18"/>
          <p:cNvSpPr txBox="1"/>
          <p:nvPr/>
        </p:nvSpPr>
        <p:spPr>
          <a:xfrm>
            <a:off x="3903573" y="2240279"/>
            <a:ext cx="1121968" cy="621792"/>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Traiter l'infra comme un produit, sans prérequis d'IA.</a:t>
            </a:r>
          </a:p>
        </p:txBody>
      </p:sp>
      <p:sp>
        <p:nvSpPr>
          <p:cNvPr id="20" name="TextBox 19"/>
          <p:cNvSpPr txBox="1"/>
          <p:nvPr/>
        </p:nvSpPr>
        <p:spPr>
          <a:xfrm>
            <a:off x="3903573" y="2953512"/>
            <a:ext cx="1121968" cy="865632"/>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La thèse, le gaspillage traité à deux — repéré, priorisé, tenu dans la durée — et la cible Platform Team.</a:t>
            </a:r>
          </a:p>
        </p:txBody>
      </p:sp>
      <p:sp>
        <p:nvSpPr>
          <p:cNvPr id="21" name="TextBox 20"/>
          <p:cNvSpPr txBox="1"/>
          <p:nvPr/>
        </p:nvSpPr>
        <p:spPr>
          <a:xfrm>
            <a:off x="3903573" y="3947160"/>
            <a:ext cx="1121968" cy="397764"/>
          </a:xfrm>
          <a:prstGeom prst="rect">
            <a:avLst/>
          </a:prstGeom>
          <a:noFill/>
        </p:spPr>
        <p:txBody>
          <a:bodyPr wrap="square" anchor="b" lIns="0" rIns="0" tIns="0" bIns="0">
            <a:noAutofit/>
          </a:bodyPr>
          <a:lstStyle/>
          <a:p>
            <a:pPr algn="l"/>
            <a:r>
              <a:rPr sz="750" b="1" i="0">
                <a:solidFill>
                  <a:srgbClr val="FFFFFF"/>
                </a:solidFill>
                <a:latin typeface="Outfit"/>
              </a:rPr>
              <a:t>L'offre</a:t>
            </a:r>
          </a:p>
        </p:txBody>
      </p:sp>
      <p:sp>
        <p:nvSpPr>
          <p:cNvPr id="22" name="TextBox 21"/>
          <p:cNvSpPr txBox="1"/>
          <p:nvPr/>
        </p:nvSpPr>
        <p:spPr>
          <a:xfrm>
            <a:off x="5153558" y="3073146"/>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2580132"/>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621792"/>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2953512"/>
            <a:ext cx="1121968" cy="865632"/>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et ses deux fils ; en complément, jamais en prérequis, le chapitre L'expertise agentic d'OCTO.</a:t>
            </a:r>
          </a:p>
        </p:txBody>
      </p:sp>
      <p:sp>
        <p:nvSpPr>
          <p:cNvPr id="27" name="TextBox 26"/>
          <p:cNvSpPr txBox="1"/>
          <p:nvPr/>
        </p:nvSpPr>
        <p:spPr>
          <a:xfrm>
            <a:off x="5501030" y="3947160"/>
            <a:ext cx="1121968" cy="397764"/>
          </a:xfrm>
          <a:prstGeom prst="rect">
            <a:avLst/>
          </a:prstGeom>
          <a:noFill/>
        </p:spPr>
        <p:txBody>
          <a:bodyPr wrap="square" anchor="b" lIns="0" rIns="0" tIns="0" bIns="0">
            <a:noAutofit/>
          </a:bodyPr>
          <a:lstStyle/>
          <a:p>
            <a:pPr algn="l"/>
            <a:r>
              <a:rPr sz="750" b="1" i="0">
                <a:solidFill>
                  <a:srgbClr val="0E2356"/>
                </a:solidFill>
                <a:latin typeface="Outfit"/>
              </a:rPr>
              <a:t>La démarche · L'expertise agentic d'OCTO</a:t>
            </a:r>
          </a:p>
        </p:txBody>
      </p:sp>
      <p:sp>
        <p:nvSpPr>
          <p:cNvPr id="28" name="TextBox 27"/>
          <p:cNvSpPr txBox="1"/>
          <p:nvPr/>
        </p:nvSpPr>
        <p:spPr>
          <a:xfrm>
            <a:off x="6751015" y="3073146"/>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2580132"/>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DÉMARRER</a:t>
            </a:r>
          </a:p>
        </p:txBody>
      </p:sp>
      <p:sp>
        <p:nvSpPr>
          <p:cNvPr id="31" name="TextBox 30"/>
          <p:cNvSpPr txBox="1"/>
          <p:nvPr/>
        </p:nvSpPr>
        <p:spPr>
          <a:xfrm>
            <a:off x="7098487" y="2240279"/>
            <a:ext cx="1121968" cy="621792"/>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Deux semaines pour un premier signal mesuré.</a:t>
            </a:r>
          </a:p>
        </p:txBody>
      </p:sp>
      <p:sp>
        <p:nvSpPr>
          <p:cNvPr id="32" name="TextBox 31"/>
          <p:cNvSpPr txBox="1"/>
          <p:nvPr/>
        </p:nvSpPr>
        <p:spPr>
          <a:xfrm>
            <a:off x="7098487" y="2953512"/>
            <a:ext cx="1121968" cy="865632"/>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Les conditions de réussite, ce que la DSI engage, et le signal minimal suivi dès le T0 — la preuve, pas une opinion.</a:t>
            </a:r>
          </a:p>
        </p:txBody>
      </p:sp>
      <p:sp>
        <p:nvSpPr>
          <p:cNvPr id="33" name="TextBox 32"/>
          <p:cNvSpPr txBox="1"/>
          <p:nvPr/>
        </p:nvSpPr>
        <p:spPr>
          <a:xfrm>
            <a:off x="7098487" y="3947160"/>
            <a:ext cx="1121968" cy="397764"/>
          </a:xfrm>
          <a:prstGeom prst="rect">
            <a:avLst/>
          </a:prstGeom>
          <a:noFill/>
        </p:spPr>
        <p:txBody>
          <a:bodyPr wrap="square" anchor="b" lIns="0" rIns="0" tIns="0" bIns="0">
            <a:noAutofit/>
          </a:bodyPr>
          <a:lstStyle/>
          <a:p>
            <a:pPr algn="l"/>
            <a:r>
              <a:rPr sz="750" b="1" i="0">
                <a:solidFill>
                  <a:srgbClr val="0E2356"/>
                </a:solidFill>
                <a:latin typeface="Outfit"/>
              </a:rPr>
              <a:t>Réussir et démarrer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000" b="1">
                <a:solidFill>
                  <a:srgbClr val="0E2356"/>
                </a:solidFill>
                <a:latin typeface="Outfit"/>
              </a:rPr>
              <a:t>EXECUTIVE SUMMARY   ·   </a:t>
            </a:r>
            <a:r>
              <a:rPr sz="2000" b="1">
                <a:solidFill>
                  <a:srgbClr val="0E2356"/>
                </a:solidFill>
                <a:latin typeface="Outfit"/>
              </a:rPr>
              <a:t>Le risque n'est pas de manquer d'outils : c'est de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FFFFFF"/>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 tout le deck, du constat à la démarche.</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Ce qui rend le terrain infra à part, la double mission, pourquoi maintenant, et qui achète.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CONTEXTE   ·   </a:t>
            </a:r>
            <a:r>
              <a:rPr b="1" sz="1200">
                <a:solidFill>
                  <a:srgbClr val="0E2356"/>
                </a:solidFill>
                <a:latin typeface="Outfit"/>
              </a:rPr>
              <a:t>D'un guichet sursollicité à une infra as a product — l'IA rend ce virage nécessaire.</a:t>
            </a:r>
          </a:p>
        </p:txBody>
      </p:sp>
      <p:sp>
        <p:nvSpPr>
          <p:cNvPr id="3" name="Rounded Rectangle 2"/>
          <p:cNvSpPr/>
          <p:nvPr/>
        </p:nvSpPr>
        <p:spPr>
          <a:xfrm>
            <a:off x="562356" y="1069848"/>
            <a:ext cx="3627882" cy="1184529"/>
          </a:xfrm>
          <a:prstGeom prst="roundRect">
            <a:avLst>
              <a:gd name="adj" fmla="val 13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7804" y="1225295"/>
            <a:ext cx="3316986" cy="362711"/>
          </a:xfrm>
          <a:prstGeom prst="rect">
            <a:avLst/>
          </a:prstGeom>
          <a:noFill/>
        </p:spPr>
        <p:txBody>
          <a:bodyPr wrap="square" anchor="t" lIns="0" rIns="0" tIns="0" bIns="0">
            <a:noAutofit/>
          </a:bodyPr>
          <a:lstStyle/>
          <a:p>
            <a:pPr algn="ctr">
              <a:lnSpc>
                <a:spcPct val="115000"/>
              </a:lnSpc>
            </a:pPr>
            <a:r>
              <a:rPr sz="1100" b="1" i="0">
                <a:solidFill>
                  <a:srgbClr val="0E2356"/>
                </a:solidFill>
                <a:latin typeface="Outfit"/>
              </a:rPr>
              <a:t>Sortir de la sursollicitation et du guichet</a:t>
            </a:r>
          </a:p>
        </p:txBody>
      </p:sp>
      <p:sp>
        <p:nvSpPr>
          <p:cNvPr id="5" name="TextBox 4"/>
          <p:cNvSpPr txBox="1"/>
          <p:nvPr/>
        </p:nvSpPr>
        <p:spPr>
          <a:xfrm>
            <a:off x="717804" y="1642871"/>
            <a:ext cx="3316986" cy="456057"/>
          </a:xfrm>
          <a:prstGeom prst="rect">
            <a:avLst/>
          </a:prstGeom>
          <a:noFill/>
        </p:spPr>
        <p:txBody>
          <a:bodyPr wrap="square" anchor="t" lIns="0" rIns="0" tIns="0" bIns="0">
            <a:spAutoFit/>
          </a:bodyPr>
          <a:lstStyle/>
          <a:p>
            <a:pPr algn="ctr">
              <a:lnSpc>
                <a:spcPct val="125000"/>
              </a:lnSpc>
            </a:pPr>
            <a:r>
              <a:rPr sz="900" b="0" i="1">
                <a:solidFill>
                  <a:srgbClr val="586586"/>
                </a:solidFill>
                <a:latin typeface="Outfit"/>
              </a:rPr>
              <a:t>Des équipiers qui font trop de choses, sont engorgés — </a:t>
            </a:r>
            <a:r>
              <a:rPr sz="900" b="1" i="0">
                <a:solidFill>
                  <a:srgbClr val="0E2356"/>
                </a:solidFill>
                <a:latin typeface="Outfit"/>
              </a:rPr>
              <a:t>décommissionnement jamais fait, trop de RUN au quotidien.</a:t>
            </a:r>
          </a:p>
        </p:txBody>
      </p:sp>
      <p:sp>
        <p:nvSpPr>
          <p:cNvPr id="6" name="Chevron 5"/>
          <p:cNvSpPr/>
          <p:nvPr/>
        </p:nvSpPr>
        <p:spPr>
          <a:xfrm>
            <a:off x="4267047" y="1365980"/>
            <a:ext cx="395020" cy="592264"/>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38878" y="1069848"/>
            <a:ext cx="3627882" cy="1184529"/>
          </a:xfrm>
          <a:prstGeom prst="roundRect">
            <a:avLst>
              <a:gd name="adj" fmla="val 13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4326" y="1069848"/>
            <a:ext cx="3316986" cy="1184529"/>
          </a:xfrm>
          <a:prstGeom prst="rect">
            <a:avLst/>
          </a:prstGeom>
          <a:noFill/>
        </p:spPr>
        <p:txBody>
          <a:bodyPr wrap="square" anchor="ctr" lIns="0" rIns="0" tIns="0" bIns="0">
            <a:noAutofit/>
          </a:bodyPr>
          <a:lstStyle/>
          <a:p>
            <a:pPr algn="ctr">
              <a:lnSpc>
                <a:spcPct val="115000"/>
              </a:lnSpc>
            </a:pPr>
            <a:r>
              <a:rPr sz="1100" b="1" i="0">
                <a:solidFill>
                  <a:srgbClr val="FFFFFF"/>
                </a:solidFill>
                <a:latin typeface="Outfit"/>
              </a:rPr>
              <a:t>Assainir et travailler le gaspillage</a:t>
            </a:r>
          </a:p>
        </p:txBody>
      </p:sp>
      <p:sp>
        <p:nvSpPr>
          <p:cNvPr id="9" name="Rounded Rectangle 8"/>
          <p:cNvSpPr/>
          <p:nvPr/>
        </p:nvSpPr>
        <p:spPr>
          <a:xfrm>
            <a:off x="562356" y="2327529"/>
            <a:ext cx="3627882" cy="646176"/>
          </a:xfrm>
          <a:prstGeom prst="roundRect">
            <a:avLst>
              <a:gd name="adj" fmla="val 50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Mieux servir les utilisateurs, avec une approche as a service</a:t>
            </a:r>
          </a:p>
        </p:txBody>
      </p:sp>
      <p:sp>
        <p:nvSpPr>
          <p:cNvPr id="11" name="Chevron 10"/>
          <p:cNvSpPr/>
          <p:nvPr/>
        </p:nvSpPr>
        <p:spPr>
          <a:xfrm>
            <a:off x="4267047" y="2489073"/>
            <a:ext cx="395020" cy="32308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38878" y="2327529"/>
            <a:ext cx="3627882" cy="64617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4326" y="2327529"/>
            <a:ext cx="3316986" cy="646176"/>
          </a:xfrm>
          <a:prstGeom prst="rect">
            <a:avLst/>
          </a:prstGeom>
          <a:noFill/>
        </p:spPr>
        <p:txBody>
          <a:bodyPr wrap="square" anchor="ctr" lIns="0" rIns="0" tIns="0" bIns="0">
            <a:noAutofit/>
          </a:bodyPr>
          <a:lstStyle/>
          <a:p>
            <a:pPr algn="ctr">
              <a:lnSpc>
                <a:spcPct val="115000"/>
              </a:lnSpc>
            </a:pPr>
            <a:r>
              <a:rPr sz="1100" b="1" i="0">
                <a:solidFill>
                  <a:srgbClr val="FFFFFF"/>
                </a:solidFill>
                <a:latin typeface="Outfit"/>
              </a:rPr>
              <a:t>Une infra plus recentrée sur ces utilisateurs</a:t>
            </a:r>
          </a:p>
        </p:txBody>
      </p:sp>
      <p:sp>
        <p:nvSpPr>
          <p:cNvPr id="14" name="TextBox 13"/>
          <p:cNvSpPr txBox="1"/>
          <p:nvPr/>
        </p:nvSpPr>
        <p:spPr>
          <a:xfrm>
            <a:off x="562356" y="3065145"/>
            <a:ext cx="7804404" cy="118872"/>
          </a:xfrm>
          <a:prstGeom prst="rect">
            <a:avLst/>
          </a:prstGeom>
          <a:noFill/>
        </p:spPr>
        <p:txBody>
          <a:bodyPr wrap="square" anchor="t" lIns="0" rIns="0" tIns="0" bIns="0">
            <a:noAutofit/>
          </a:bodyPr>
          <a:lstStyle/>
          <a:p>
            <a:pPr algn="l"/>
            <a:r>
              <a:rPr sz="800" b="1" i="0">
                <a:solidFill>
                  <a:srgbClr val="0E2356"/>
                </a:solidFill>
                <a:latin typeface="Outfit"/>
              </a:rPr>
              <a:t>AVEC L'ARRIVÉE DE L'IA</a:t>
            </a:r>
          </a:p>
        </p:txBody>
      </p:sp>
      <p:sp>
        <p:nvSpPr>
          <p:cNvPr id="15" name="Rounded Rectangle 14"/>
          <p:cNvSpPr/>
          <p:nvPr/>
        </p:nvSpPr>
        <p:spPr>
          <a:xfrm>
            <a:off x="772668" y="3449193"/>
            <a:ext cx="7594092" cy="906017"/>
          </a:xfrm>
          <a:prstGeom prst="roundRect">
            <a:avLst>
              <a:gd name="adj" fmla="val 9000"/>
            </a:avLst>
          </a:prstGeom>
          <a:solidFill>
            <a:srgbClr val="FFFFFF"/>
          </a:solidFill>
          <a:ln w="1778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 y="3705224"/>
            <a:ext cx="7191755" cy="172212"/>
          </a:xfrm>
          <a:prstGeom prst="rect">
            <a:avLst/>
          </a:prstGeom>
          <a:noFill/>
        </p:spPr>
        <p:txBody>
          <a:bodyPr wrap="square" anchor="t" lIns="0" rIns="0" tIns="0" bIns="0">
            <a:noAutofit/>
          </a:bodyPr>
          <a:lstStyle/>
          <a:p>
            <a:pPr algn="l"/>
            <a:r>
              <a:rPr sz="950" b="1" i="0">
                <a:solidFill>
                  <a:srgbClr val="3E4F78"/>
                </a:solidFill>
                <a:latin typeface="Outfit"/>
              </a:rPr>
              <a:t>UNE SURSOLLICITATION EXACERBÉE</a:t>
            </a:r>
          </a:p>
        </p:txBody>
      </p:sp>
      <p:sp>
        <p:nvSpPr>
          <p:cNvPr id="17" name="TextBox 16"/>
          <p:cNvSpPr txBox="1"/>
          <p:nvPr/>
        </p:nvSpPr>
        <p:spPr>
          <a:xfrm>
            <a:off x="973836" y="3923156"/>
            <a:ext cx="7191755" cy="313182"/>
          </a:xfrm>
          <a:prstGeom prst="rect">
            <a:avLst/>
          </a:prstGeom>
          <a:noFill/>
        </p:spPr>
        <p:txBody>
          <a:bodyPr wrap="square" anchor="t" lIns="0" rIns="0" tIns="0" bIns="0">
            <a:spAutoFit/>
          </a:bodyPr>
          <a:lstStyle/>
          <a:p>
            <a:pPr algn="l">
              <a:lnSpc>
                <a:spcPct val="125000"/>
              </a:lnSpc>
            </a:pPr>
            <a:r>
              <a:rPr sz="900" b="0" i="0">
                <a:solidFill>
                  <a:srgbClr val="0E2356"/>
                </a:solidFill>
                <a:latin typeface="Outfit"/>
              </a:rPr>
              <a:t>Trop de demandes, des équipes engorgées — la même pression que le guichet d'hier, </a:t>
            </a:r>
            <a:r>
              <a:rPr sz="900" b="1" i="0">
                <a:solidFill>
                  <a:srgbClr val="3E4F78"/>
                </a:solidFill>
                <a:latin typeface="Outfit"/>
              </a:rPr>
              <a:t>amplifiée par l'IA plutôt que résolue par elle.</a:t>
            </a:r>
          </a:p>
        </p:txBody>
      </p:sp>
      <p:sp>
        <p:nvSpPr>
          <p:cNvPr id="18" name="Rounded Rectangle 17"/>
          <p:cNvSpPr/>
          <p:nvPr/>
        </p:nvSpPr>
        <p:spPr>
          <a:xfrm>
            <a:off x="562356" y="3238881"/>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3238881"/>
            <a:ext cx="420624" cy="420624"/>
          </a:xfrm>
          <a:prstGeom prst="rect">
            <a:avLst/>
          </a:prstGeom>
          <a:noFill/>
        </p:spPr>
        <p:txBody>
          <a:bodyPr wrap="square" anchor="ctr" lIns="0" rIns="0" tIns="0" bIns="0">
            <a:noAutofit/>
          </a:bodyPr>
          <a:lstStyle/>
          <a:p>
            <a:pPr algn="ctr"/>
            <a:r>
              <a:rPr sz="1100" b="1" i="0">
                <a:solidFill>
                  <a:srgbClr val="FFFFFF"/>
                </a:solidFill>
                <a:latin typeface="Outfit"/>
              </a:rPr>
              <a:t>IA</a:t>
            </a:r>
          </a:p>
        </p:txBody>
      </p:sp>
      <p:sp>
        <p:nvSpPr>
          <p:cNvPr id="20" name="Rounded Rectangle 19"/>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6364" y="4581144"/>
            <a:ext cx="45720" cy="310896"/>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47" y="4507992"/>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23" name="TextBox 22"/>
          <p:cNvSpPr txBox="1"/>
          <p:nvPr/>
        </p:nvSpPr>
        <p:spPr>
          <a:xfrm>
            <a:off x="1074420" y="4489704"/>
            <a:ext cx="7109460"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4" name="Rounded Rectangle 3"/>
          <p:cNvSpPr/>
          <p:nvPr/>
        </p:nvSpPr>
        <p:spPr>
          <a:xfrm>
            <a:off x="562356"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TRANSFORMER</a:t>
            </a:r>
          </a:p>
        </p:txBody>
      </p:sp>
      <p:sp>
        <p:nvSpPr>
          <p:cNvPr id="7" name="TextBox 6"/>
          <p:cNvSpPr txBox="1"/>
          <p:nvPr/>
        </p:nvSpPr>
        <p:spPr>
          <a:xfrm>
            <a:off x="763524"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Cible produit/plateforme : utilisateurs identifiés, valeur, roadmap, engagements de qualité, gouvernance lisible.</a:t>
            </a:r>
          </a:p>
        </p:txBody>
      </p:sp>
      <p:sp>
        <p:nvSpPr>
          <p:cNvPr id="8" name="TextBox 7"/>
          <p:cNvSpPr txBox="1"/>
          <p:nvPr/>
        </p:nvSpPr>
        <p:spPr>
          <a:xfrm>
            <a:off x="763524"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vision à moyen terme — ce que le sponsor achète.</a:t>
            </a:r>
          </a:p>
        </p:txBody>
      </p:sp>
      <p:sp>
        <p:nvSpPr>
          <p:cNvPr id="9" name="Rounded Rectangle 8"/>
          <p:cNvSpPr/>
          <p:nvPr/>
        </p:nvSpPr>
        <p:spPr>
          <a:xfrm>
            <a:off x="4555998"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7166"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ASSAINIR</a:t>
            </a:r>
          </a:p>
        </p:txBody>
      </p:sp>
      <p:sp>
        <p:nvSpPr>
          <p:cNvPr id="12" name="TextBox 11"/>
          <p:cNvSpPr txBox="1"/>
          <p:nvPr/>
        </p:nvSpPr>
        <p:spPr>
          <a:xfrm>
            <a:off x="4757166"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Traitement mesurable des gaspillages : flux, RUN, humain, financier, cognitif, décisionnel, environnemental, IA.</a:t>
            </a:r>
          </a:p>
        </p:txBody>
      </p:sp>
      <p:sp>
        <p:nvSpPr>
          <p:cNvPr id="13" name="TextBox 12"/>
          <p:cNvSpPr txBox="1"/>
          <p:nvPr/>
        </p:nvSpPr>
        <p:spPr>
          <a:xfrm>
            <a:off x="4757166"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capacité récupérée finance la trajectoire produit — hypothèse à prouver, qui suppose une réallocation budgétaire côté client.</a:t>
            </a:r>
          </a:p>
        </p:txBody>
      </p:sp>
      <p:sp>
        <p:nvSpPr>
          <p:cNvPr id="14" name="TextBox 13"/>
          <p:cNvSpPr txBox="1"/>
          <p:nvPr/>
        </p:nvSpPr>
        <p:spPr>
          <a:xfrm>
            <a:off x="562356" y="3602736"/>
            <a:ext cx="7804404" cy="201168"/>
          </a:xfrm>
          <a:prstGeom prst="rect">
            <a:avLst/>
          </a:prstGeom>
          <a:noFill/>
        </p:spPr>
        <p:txBody>
          <a:bodyPr wrap="square" anchor="t" lIns="0" rIns="0" tIns="0" bIns="0">
            <a:noAutofit/>
          </a:bodyPr>
          <a:lstStyle/>
          <a:p>
            <a:pPr algn="l"/>
            <a:r>
              <a:rPr sz="750" b="1" i="0">
                <a:solidFill>
                  <a:srgbClr val="586586"/>
                </a:solidFill>
                <a:latin typeface="Outfit"/>
              </a:rPr>
              <a:t>L'ÉQUILIBRE QUE LA DOUBLE MISSION TIENT EN PERMANENCE</a:t>
            </a:r>
          </a:p>
        </p:txBody>
      </p:sp>
      <p:sp>
        <p:nvSpPr>
          <p:cNvPr id="15" name="Rounded Rectangle 14"/>
          <p:cNvSpPr/>
          <p:nvPr/>
        </p:nvSpPr>
        <p:spPr>
          <a:xfrm>
            <a:off x="562356"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Efficacité du delivery</a:t>
            </a:r>
          </a:p>
        </p:txBody>
      </p:sp>
      <p:sp>
        <p:nvSpPr>
          <p:cNvPr id="17" name="Rounded Rectangle 16"/>
          <p:cNvSpPr/>
          <p:nvPr/>
        </p:nvSpPr>
        <p:spPr>
          <a:xfrm>
            <a:off x="3224783"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6224"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Robustesse du RUN</a:t>
            </a:r>
          </a:p>
        </p:txBody>
      </p:sp>
      <p:sp>
        <p:nvSpPr>
          <p:cNvPr id="19" name="Rounded Rectangle 18"/>
          <p:cNvSpPr/>
          <p:nvPr/>
        </p:nvSpPr>
        <p:spPr>
          <a:xfrm>
            <a:off x="5887212"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78652"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Valeur perçue (utilisateurs internes)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rendent l'Infra-as-a-Product pertinente — et urgente — pour un client dont l'infrastructure est encore vécue comme un centre de coûts et un guichet.</a:t>
            </a:r>
          </a:p>
        </p:txBody>
      </p:sp>
      <p:sp>
        <p:nvSpPr>
          <p:cNvPr id="4" name="Rounded Rectangle 3"/>
          <p:cNvSpPr/>
          <p:nvPr/>
        </p:nvSpPr>
        <p:spPr>
          <a:xfrm>
            <a:off x="562356"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6" name="Rounded Rectangle 5"/>
          <p:cNvSpPr/>
          <p:nvPr/>
        </p:nvSpPr>
        <p:spPr>
          <a:xfrm>
            <a:off x="762609"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L'infra subie n'est plus tenable</a:t>
            </a:r>
          </a:p>
          <a:p>
            <a:pPr algn="l">
              <a:lnSpc>
                <a:spcPct val="125000"/>
              </a:lnSpc>
              <a:spcBef>
                <a:spcPts val="800"/>
              </a:spcBef>
            </a:pPr>
            <a:r>
              <a:rPr sz="900" b="0" i="0">
                <a:solidFill>
                  <a:srgbClr val="0E2356"/>
                </a:solidFill>
                <a:latin typeface="Outfit"/>
              </a:rPr>
              <a:t>RUN subi, experts seniors drainés sur du répétitif, gaspillage cloud non maîtrisé, plateforme contournée : le coût du statu quo ne cesse de monter.</a:t>
            </a:r>
          </a:p>
        </p:txBody>
      </p:sp>
      <p:sp>
        <p:nvSpPr>
          <p:cNvPr id="8" name="Rounded Rectangle 7"/>
          <p:cNvSpPr/>
          <p:nvPr/>
        </p:nvSpPr>
        <p:spPr>
          <a:xfrm>
            <a:off x="3224783"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24783"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0" name="Rounded Rectangle 9"/>
          <p:cNvSpPr/>
          <p:nvPr/>
        </p:nvSpPr>
        <p:spPr>
          <a:xfrm>
            <a:off x="3425037"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24783"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Le modèle produit/plateforme est prouvé</a:t>
            </a:r>
          </a:p>
          <a:p>
            <a:pPr algn="l">
              <a:lnSpc>
                <a:spcPct val="125000"/>
              </a:lnSpc>
              <a:spcBef>
                <a:spcPts val="800"/>
              </a:spcBef>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2" name="Rounded Rectangle 11"/>
          <p:cNvSpPr/>
          <p:nvPr/>
        </p:nvSpPr>
        <p:spPr>
          <a:xfrm>
            <a:off x="5887212"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7212"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14" name="Rounded Rectangle 13"/>
          <p:cNvSpPr/>
          <p:nvPr/>
        </p:nvSpPr>
        <p:spPr>
          <a:xfrm>
            <a:off x="6087465"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L'IA rebat les cartes — l'organisation d'abord</a:t>
            </a:r>
          </a:p>
          <a:p>
            <a:pPr algn="l">
              <a:lnSpc>
                <a:spcPct val="125000"/>
              </a:lnSpc>
              <a:spcBef>
                <a:spcPts val="800"/>
              </a:spcBef>
            </a:pPr>
            <a:r>
              <a:rPr sz="900" b="0" i="0">
                <a:solidFill>
                  <a:srgbClr val="0E2356"/>
                </a:solidFill>
                <a:latin typeface="Outfit"/>
              </a:rPr>
              <a:t>L'IA amplifie une organisation mûre, jamais l'inverse. S'y préparer maintenant (doctrine confidentialité-first) évite de la subir plus tard.</a:t>
            </a:r>
          </a:p>
        </p:txBody>
      </p:sp>
      <p:sp>
        <p:nvSpPr>
          <p:cNvPr id="16" name="Rounded Rectangle 15"/>
          <p:cNvSpPr/>
          <p:nvPr/>
        </p:nvSpPr>
        <p:spPr>
          <a:xfrm>
            <a:off x="562356" y="364718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647186"/>
            <a:ext cx="73152" cy="6583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 y="3647186"/>
            <a:ext cx="7383779" cy="658368"/>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Et surtout — nos deux missions répondent trait pour trait aux deux douleurs du client.</a:t>
            </a:r>
          </a:p>
          <a:p>
            <a:pPr algn="l">
              <a:lnSpc>
                <a:spcPct val="115000"/>
              </a:lnSpc>
              <a:spcBef>
                <a:spcPts val="200"/>
              </a:spcBef>
            </a:pPr>
            <a:r>
              <a:rPr sz="800" b="0" i="0">
                <a:solidFill>
                  <a:srgbClr val="586586"/>
                </a:solidFill>
                <a:latin typeface="Outfit"/>
              </a:rPr>
              <a:t>Subir le RUN → TRANSFORMER (cible produit/plateforme) ; le gaspillage → ASSAINIR (capacité récupérée à réinvestir dans la trajectoire — sous réserve d'une réallocation côté client).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722630"/>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75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TextBox 3"/>
          <p:cNvSpPr txBox="1"/>
          <p:nvPr/>
        </p:nvSpPr>
        <p:spPr>
          <a:xfrm>
            <a:off x="562356" y="1847342"/>
            <a:ext cx="3017520" cy="122681"/>
          </a:xfrm>
          <a:prstGeom prst="rect">
            <a:avLst/>
          </a:prstGeom>
          <a:noFill/>
        </p:spPr>
        <p:txBody>
          <a:bodyPr wrap="square" anchor="t" lIns="0" rIns="0" tIns="0" bIns="0">
            <a:noAutofit/>
          </a:bodyPr>
          <a:lstStyle/>
          <a:p>
            <a:pPr algn="l"/>
            <a:r>
              <a:rPr sz="600" b="1" i="0">
                <a:solidFill>
                  <a:srgbClr val="586586"/>
                </a:solidFill>
                <a:latin typeface="Outfit"/>
              </a:rPr>
              <a:t>ACHAT ALTERNATIF</a:t>
            </a:r>
          </a:p>
        </p:txBody>
      </p:sp>
      <p:sp>
        <p:nvSpPr>
          <p:cNvPr id="5" name="TextBox 4"/>
          <p:cNvSpPr txBox="1"/>
          <p:nvPr/>
        </p:nvSpPr>
        <p:spPr>
          <a:xfrm>
            <a:off x="3963924" y="1847342"/>
            <a:ext cx="4402836" cy="122681"/>
          </a:xfrm>
          <a:prstGeom prst="rect">
            <a:avLst/>
          </a:prstGeom>
          <a:noFill/>
        </p:spPr>
        <p:txBody>
          <a:bodyPr wrap="square" anchor="t" lIns="0" rIns="0" tIns="0" bIns="0">
            <a:noAutofit/>
          </a:bodyPr>
          <a:lstStyle/>
          <a:p>
            <a:pPr algn="l"/>
            <a:r>
              <a:rPr sz="600" b="1" i="0">
                <a:solidFill>
                  <a:srgbClr val="586586"/>
                </a:solidFill>
                <a:latin typeface="Outfit"/>
              </a:rPr>
              <a:t>CE QUI LUI MANQUE — LA RÉPONSE IAP</a:t>
            </a:r>
          </a:p>
        </p:txBody>
      </p:sp>
      <p:sp>
        <p:nvSpPr>
          <p:cNvPr id="6" name="Rounded Rectangle 5"/>
          <p:cNvSpPr/>
          <p:nvPr/>
        </p:nvSpPr>
        <p:spPr>
          <a:xfrm>
            <a:off x="562356" y="2006600"/>
            <a:ext cx="3017520" cy="369316"/>
          </a:xfrm>
          <a:prstGeom prst="roundRect">
            <a:avLst>
              <a:gd name="adj" fmla="val 1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1228" y="2006600"/>
            <a:ext cx="2779776" cy="369316"/>
          </a:xfrm>
          <a:prstGeom prst="rect">
            <a:avLst/>
          </a:prstGeom>
          <a:noFill/>
        </p:spPr>
        <p:txBody>
          <a:bodyPr wrap="square" anchor="ctr" lIns="0" rIns="0" tIns="0" bIns="0">
            <a:spAutoFit/>
          </a:bodyPr>
          <a:lstStyle/>
          <a:p>
            <a:pPr algn="l">
              <a:lnSpc>
                <a:spcPct val="110000"/>
              </a:lnSpc>
            </a:pPr>
            <a:r>
              <a:rPr sz="760" b="1" i="0">
                <a:solidFill>
                  <a:srgbClr val="0E2356"/>
                </a:solidFill>
                <a:latin typeface="Outfit"/>
              </a:rPr>
              <a:t>Ne rien faire</a:t>
            </a:r>
            <a:r>
              <a:rPr sz="760" b="0" i="0">
                <a:solidFill>
                  <a:srgbClr val="0E2356"/>
                </a:solidFill>
                <a:latin typeface="Outfit"/>
              </a:rPr>
              <a:t> — Zéro coût apparent.</a:t>
            </a:r>
          </a:p>
        </p:txBody>
      </p:sp>
      <p:sp>
        <p:nvSpPr>
          <p:cNvPr id="8" name="Chevron 7"/>
          <p:cNvSpPr/>
          <p:nvPr/>
        </p:nvSpPr>
        <p:spPr>
          <a:xfrm>
            <a:off x="3633642" y="2098929"/>
            <a:ext cx="276514" cy="18465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63924" y="2006600"/>
            <a:ext cx="4402836" cy="369316"/>
          </a:xfrm>
          <a:prstGeom prst="roundRect">
            <a:avLst>
              <a:gd name="adj" fmla="val 1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82796" y="2006600"/>
            <a:ext cx="4165092" cy="369316"/>
          </a:xfrm>
          <a:prstGeom prst="rect">
            <a:avLst/>
          </a:prstGeom>
          <a:noFill/>
        </p:spPr>
        <p:txBody>
          <a:bodyPr wrap="square" anchor="ctr" lIns="0" rIns="0" tIns="0" bIns="0">
            <a:spAutoFit/>
          </a:bodyPr>
          <a:lstStyle/>
          <a:p>
            <a:pPr algn="l">
              <a:lnSpc>
                <a:spcPct val="110000"/>
              </a:lnSpc>
            </a:pPr>
            <a:r>
              <a:rPr sz="760" b="1" i="0">
                <a:solidFill>
                  <a:srgbClr val="FFFFFF"/>
                </a:solidFill>
                <a:latin typeface="Outfit"/>
              </a:rPr>
              <a:t>Le coût du statu quo monte</a:t>
            </a:r>
            <a:r>
              <a:rPr sz="760" b="0" i="0">
                <a:solidFill>
                  <a:srgbClr val="FFFFFF"/>
                </a:solidFill>
                <a:latin typeface="Outfit"/>
              </a:rPr>
              <a:t> — C'est lui que l'Assessment flash chiffre (déclencheur ①).</a:t>
            </a:r>
          </a:p>
        </p:txBody>
      </p:sp>
      <p:sp>
        <p:nvSpPr>
          <p:cNvPr id="11" name="Rounded Rectangle 10"/>
          <p:cNvSpPr/>
          <p:nvPr/>
        </p:nvSpPr>
        <p:spPr>
          <a:xfrm>
            <a:off x="562356" y="2439924"/>
            <a:ext cx="3017520" cy="489966"/>
          </a:xfrm>
          <a:prstGeom prst="roundRect">
            <a:avLst>
              <a:gd name="adj" fmla="val 1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 y="2439924"/>
            <a:ext cx="2779776" cy="489966"/>
          </a:xfrm>
          <a:prstGeom prst="rect">
            <a:avLst/>
          </a:prstGeom>
          <a:noFill/>
        </p:spPr>
        <p:txBody>
          <a:bodyPr wrap="square" anchor="ctr" lIns="0" rIns="0" tIns="0" bIns="0">
            <a:spAutoFit/>
          </a:bodyPr>
          <a:lstStyle/>
          <a:p>
            <a:pPr algn="l">
              <a:lnSpc>
                <a:spcPct val="110000"/>
              </a:lnSpc>
            </a:pPr>
            <a:r>
              <a:rPr sz="760" b="1" i="0">
                <a:solidFill>
                  <a:srgbClr val="0E2356"/>
                </a:solidFill>
                <a:latin typeface="Outfit"/>
              </a:rPr>
              <a:t>FinOps outillé seul</a:t>
            </a:r>
            <a:r>
              <a:rPr sz="760" b="0" i="0">
                <a:solidFill>
                  <a:srgbClr val="0E2356"/>
                </a:solidFill>
                <a:latin typeface="Outfit"/>
              </a:rPr>
              <a:t> — Mesure le gaspillage : marché mature, gaspillage cloud estimé à 29 % (Flexera).</a:t>
            </a:r>
          </a:p>
        </p:txBody>
      </p:sp>
      <p:sp>
        <p:nvSpPr>
          <p:cNvPr id="13" name="Chevron 12"/>
          <p:cNvSpPr/>
          <p:nvPr/>
        </p:nvSpPr>
        <p:spPr>
          <a:xfrm>
            <a:off x="3633642" y="2562415"/>
            <a:ext cx="276514" cy="244983"/>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63924" y="2439924"/>
            <a:ext cx="4402836" cy="489966"/>
          </a:xfrm>
          <a:prstGeom prst="roundRect">
            <a:avLst>
              <a:gd name="adj" fmla="val 1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82796" y="2439924"/>
            <a:ext cx="4165092" cy="489966"/>
          </a:xfrm>
          <a:prstGeom prst="rect">
            <a:avLst/>
          </a:prstGeom>
          <a:noFill/>
        </p:spPr>
        <p:txBody>
          <a:bodyPr wrap="square" anchor="ctr" lIns="0" rIns="0" tIns="0" bIns="0">
            <a:spAutoFit/>
          </a:bodyPr>
          <a:lstStyle/>
          <a:p>
            <a:pPr algn="l">
              <a:lnSpc>
                <a:spcPct val="110000"/>
              </a:lnSpc>
            </a:pPr>
            <a:r>
              <a:rPr sz="760" b="1" i="0">
                <a:solidFill>
                  <a:srgbClr val="FFFFFF"/>
                </a:solidFill>
                <a:latin typeface="Outfit"/>
              </a:rPr>
              <a:t>Ni cible produit, ni réallocation</a:t>
            </a:r>
            <a:r>
              <a:rPr sz="760" b="0" i="0">
                <a:solidFill>
                  <a:srgbClr val="FFFFFF"/>
                </a:solidFill>
                <a:latin typeface="Outfit"/>
              </a:rPr>
              <a:t> — IAP se place en aval : le chiffre devient une capacité produit gouvernée, pas seulement une économie.</a:t>
            </a:r>
          </a:p>
        </p:txBody>
      </p:sp>
      <p:sp>
        <p:nvSpPr>
          <p:cNvPr id="16" name="Rounded Rectangle 15"/>
          <p:cNvSpPr/>
          <p:nvPr/>
        </p:nvSpPr>
        <p:spPr>
          <a:xfrm>
            <a:off x="562356" y="2993898"/>
            <a:ext cx="3017520" cy="489966"/>
          </a:xfrm>
          <a:prstGeom prst="roundRect">
            <a:avLst>
              <a:gd name="adj" fmla="val 1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 y="2993898"/>
            <a:ext cx="2779776" cy="489966"/>
          </a:xfrm>
          <a:prstGeom prst="rect">
            <a:avLst/>
          </a:prstGeom>
          <a:noFill/>
        </p:spPr>
        <p:txBody>
          <a:bodyPr wrap="square" anchor="ctr" lIns="0" rIns="0" tIns="0" bIns="0">
            <a:spAutoFit/>
          </a:bodyPr>
          <a:lstStyle/>
          <a:p>
            <a:pPr algn="l">
              <a:lnSpc>
                <a:spcPct val="110000"/>
              </a:lnSpc>
            </a:pPr>
            <a:r>
              <a:rPr sz="760" b="1" i="0">
                <a:solidFill>
                  <a:srgbClr val="0E2356"/>
                </a:solidFill>
                <a:latin typeface="Outfit"/>
              </a:rPr>
              <a:t>Platform engineering pur</a:t>
            </a:r>
            <a:r>
              <a:rPr sz="760" b="0" i="0">
                <a:solidFill>
                  <a:srgbClr val="0E2356"/>
                </a:solidFill>
                <a:latin typeface="Outfit"/>
              </a:rPr>
              <a:t> — La cible produit/plateforme, un modèle devenu standard.</a:t>
            </a:r>
          </a:p>
        </p:txBody>
      </p:sp>
      <p:sp>
        <p:nvSpPr>
          <p:cNvPr id="18" name="Chevron 17"/>
          <p:cNvSpPr/>
          <p:nvPr/>
        </p:nvSpPr>
        <p:spPr>
          <a:xfrm>
            <a:off x="3633642" y="3116389"/>
            <a:ext cx="276514" cy="244983"/>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963924" y="2993898"/>
            <a:ext cx="4402836" cy="489966"/>
          </a:xfrm>
          <a:prstGeom prst="roundRect">
            <a:avLst>
              <a:gd name="adj" fmla="val 1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82796" y="2993898"/>
            <a:ext cx="4165092" cy="489966"/>
          </a:xfrm>
          <a:prstGeom prst="rect">
            <a:avLst/>
          </a:prstGeom>
          <a:noFill/>
        </p:spPr>
        <p:txBody>
          <a:bodyPr wrap="square" anchor="ctr" lIns="0" rIns="0" tIns="0" bIns="0">
            <a:spAutoFit/>
          </a:bodyPr>
          <a:lstStyle/>
          <a:p>
            <a:pPr algn="l">
              <a:lnSpc>
                <a:spcPct val="110000"/>
              </a:lnSpc>
            </a:pPr>
            <a:r>
              <a:rPr sz="760" b="1" i="0">
                <a:solidFill>
                  <a:srgbClr val="FFFFFF"/>
                </a:solidFill>
                <a:latin typeface="Outfit"/>
              </a:rPr>
              <a:t>La cible sans le financement</a:t>
            </a:r>
            <a:r>
              <a:rPr sz="760" b="0" i="0">
                <a:solidFill>
                  <a:srgbClr val="FFFFFF"/>
                </a:solidFill>
                <a:latin typeface="Outfit"/>
              </a:rPr>
              <a:t> — Reproduit l'écart 80/30 déjà posé au déclencheur ② : 80 % de platform teams en 2026, moins de 30 % de gains mesurables (Gartner).</a:t>
            </a:r>
          </a:p>
        </p:txBody>
      </p:sp>
      <p:sp>
        <p:nvSpPr>
          <p:cNvPr id="21" name="Rounded Rectangle 20"/>
          <p:cNvSpPr/>
          <p:nvPr/>
        </p:nvSpPr>
        <p:spPr>
          <a:xfrm>
            <a:off x="562356" y="3547872"/>
            <a:ext cx="3017520" cy="369316"/>
          </a:xfrm>
          <a:prstGeom prst="roundRect">
            <a:avLst>
              <a:gd name="adj" fmla="val 18000"/>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1228" y="3547872"/>
            <a:ext cx="2779776" cy="369316"/>
          </a:xfrm>
          <a:prstGeom prst="rect">
            <a:avLst/>
          </a:prstGeom>
          <a:noFill/>
        </p:spPr>
        <p:txBody>
          <a:bodyPr wrap="square" anchor="ctr" lIns="0" rIns="0" tIns="0" bIns="0">
            <a:spAutoFit/>
          </a:bodyPr>
          <a:lstStyle/>
          <a:p>
            <a:pPr algn="l">
              <a:lnSpc>
                <a:spcPct val="110000"/>
              </a:lnSpc>
            </a:pPr>
            <a:r>
              <a:rPr sz="760" b="1" i="0">
                <a:solidFill>
                  <a:srgbClr val="0E2356"/>
                </a:solidFill>
                <a:latin typeface="Outfit"/>
              </a:rPr>
              <a:t>AIOps / agentic outillé</a:t>
            </a:r>
            <a:r>
              <a:rPr sz="760" b="0" i="0">
                <a:solidFill>
                  <a:srgbClr val="0E2356"/>
                </a:solidFill>
                <a:latin typeface="Outfit"/>
              </a:rPr>
              <a:t> — Time-to-value court (ServiceNow, Datadog).</a:t>
            </a:r>
          </a:p>
        </p:txBody>
      </p:sp>
      <p:sp>
        <p:nvSpPr>
          <p:cNvPr id="23" name="Chevron 22"/>
          <p:cNvSpPr/>
          <p:nvPr/>
        </p:nvSpPr>
        <p:spPr>
          <a:xfrm>
            <a:off x="3633642" y="3640201"/>
            <a:ext cx="276514" cy="18465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963924" y="3547872"/>
            <a:ext cx="4402836" cy="369316"/>
          </a:xfrm>
          <a:prstGeom prst="roundRect">
            <a:avLst>
              <a:gd name="adj" fmla="val 1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82796" y="3547872"/>
            <a:ext cx="4165092" cy="369316"/>
          </a:xfrm>
          <a:prstGeom prst="rect">
            <a:avLst/>
          </a:prstGeom>
          <a:noFill/>
        </p:spPr>
        <p:txBody>
          <a:bodyPr wrap="square" anchor="ctr" lIns="0" rIns="0" tIns="0" bIns="0">
            <a:spAutoFit/>
          </a:bodyPr>
          <a:lstStyle/>
          <a:p>
            <a:pPr algn="l">
              <a:lnSpc>
                <a:spcPct val="110000"/>
              </a:lnSpc>
            </a:pPr>
            <a:r>
              <a:rPr sz="760" b="1" i="0">
                <a:solidFill>
                  <a:srgbClr val="FFFFFF"/>
                </a:solidFill>
                <a:latin typeface="Outfit"/>
              </a:rPr>
              <a:t>Automatise le RUN sans transformer</a:t>
            </a:r>
            <a:r>
              <a:rPr sz="760" b="0" i="0">
                <a:solidFill>
                  <a:srgbClr val="FFFFFF"/>
                </a:solidFill>
                <a:latin typeface="Outfit"/>
              </a:rPr>
              <a:t> — Plus de 40 % des projets agentic seront abandonnés d'ici 2027 (Gartner, juin 2025).</a:t>
            </a:r>
          </a:p>
        </p:txBody>
      </p:sp>
      <p:sp>
        <p:nvSpPr>
          <p:cNvPr id="26" name="Rounded Rectangle 25"/>
          <p:cNvSpPr/>
          <p:nvPr/>
        </p:nvSpPr>
        <p:spPr>
          <a:xfrm>
            <a:off x="562356"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CE QUE LES QUATRE ALTERNATIVES N'ONT PAS</a:t>
            </a:r>
          </a:p>
          <a:p>
            <a:pPr algn="l">
              <a:lnSpc>
                <a:spcPct val="125000"/>
              </a:lnSpc>
              <a:spcBef>
                <a:spcPts val="300"/>
              </a:spcBef>
            </a:pPr>
            <a:r>
              <a:rPr sz="700" b="0" i="0">
                <a:solidFill>
                  <a:srgbClr val="0E2356"/>
                </a:solidFill>
                <a:latin typeface="Outfit"/>
              </a:rPr>
              <a:t>L'étiquette « Infrastructure as a Product » existe ailleurs — Thoughtworks (conseil), Itential (plateforme) ; nous la gardons. Le différenciateur est le couplage produit + gaspillage + doctrine IA, angle mort commun des quatre.</a:t>
            </a:r>
          </a:p>
        </p:txBody>
      </p:sp>
      <p:sp>
        <p:nvSpPr>
          <p:cNvPr id="28" name="Rounded Rectangle 27"/>
          <p:cNvSpPr/>
          <p:nvPr/>
        </p:nvSpPr>
        <p:spPr>
          <a:xfrm>
            <a:off x="4555998"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4014"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LA RÉPONSE AU « JE NE VEUX QUE LA BAISSE DE COÛTS »</a:t>
            </a:r>
          </a:p>
          <a:p>
            <a:pPr algn="l">
              <a:lnSpc>
                <a:spcPct val="125000"/>
              </a:lnSpc>
              <a:spcBef>
                <a:spcPts val="300"/>
              </a:spcBef>
            </a:pPr>
            <a:r>
              <a:rPr sz="700" b="0" i="0">
                <a:solidFill>
                  <a:srgbClr val="0E2356"/>
                </a:solidFill>
                <a:latin typeface="Outfit"/>
              </a:rPr>
              <a:t>Un Assessment flash d'entrée, avant toute action d'accompagnement — puis la trajectoire ; jamais l'assainissement seul. Sous pression IA, un cas d'usage sur données publiques est packagé dès l'intake : « celui-ci, tout de suite, sous gate » (chapitre L'offre).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Ce que ça coûte</a:t>
            </a:r>
          </a:p>
          <a:p>
            <a:r>
              <a:rPr sz="1050" i="1">
                <a:solidFill>
                  <a:srgbClr val="586586"/>
                </a:solidFill>
                <a:latin typeface="Outfit"/>
              </a:rPr>
              <a:t>Ce que coûte le statu quo, les douleurs mesurables, et les 8 familles qui les rendent traitables.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CE QUE ÇA COÛTE   ·   </a:t>
            </a:r>
            <a:r>
              <a:rPr b="1" sz="1200">
                <a:solidFill>
                  <a:srgbClr val="0E2356"/>
                </a:solidFill>
                <a:latin typeface="Outfit"/>
              </a:rPr>
              <a:t>Si rien ne change : un RUN permanent, une infra orpheline, une DSI qui pilote à vue</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1050" b="0" i="1">
                <a:solidFill>
                  <a:srgbClr val="0E2356"/>
                </a:solidFill>
                <a:latin typeface="Outfit"/>
              </a:rPr>
              <a:t>Quatre parties prenantes interrogées séparément convergent sur un même constat, lu ici à l'échelle de la DSI.</a:t>
            </a:r>
          </a:p>
        </p:txBody>
      </p:sp>
      <p:sp>
        <p:nvSpPr>
          <p:cNvPr id="4" name="Rounded Rectangle 3"/>
          <p:cNvSpPr/>
          <p:nvPr/>
        </p:nvSpPr>
        <p:spPr>
          <a:xfrm>
            <a:off x="562356" y="1490472"/>
            <a:ext cx="2479548" cy="280492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55063"/>
            <a:ext cx="2113788" cy="201168"/>
          </a:xfrm>
          <a:prstGeom prst="rect">
            <a:avLst/>
          </a:prstGeom>
          <a:noFill/>
        </p:spPr>
        <p:txBody>
          <a:bodyPr wrap="square" anchor="t" lIns="0" rIns="0" tIns="0" bIns="0">
            <a:noAutofit/>
          </a:bodyPr>
          <a:lstStyle/>
          <a:p>
            <a:pPr algn="l"/>
            <a:r>
              <a:rPr sz="800" b="1" i="0">
                <a:solidFill>
                  <a:srgbClr val="C7CBE0"/>
                </a:solidFill>
                <a:latin typeface="Outfit"/>
              </a:rPr>
              <a:t>1 · LE RUN</a:t>
            </a:r>
          </a:p>
        </p:txBody>
      </p:sp>
      <p:sp>
        <p:nvSpPr>
          <p:cNvPr id="6" name="TextBox 5"/>
          <p:cNvSpPr txBox="1"/>
          <p:nvPr/>
        </p:nvSpPr>
        <p:spPr>
          <a:xfrm>
            <a:off x="745236" y="1856231"/>
            <a:ext cx="2113788" cy="534924"/>
          </a:xfrm>
          <a:prstGeom prst="rect">
            <a:avLst/>
          </a:prstGeom>
          <a:noFill/>
        </p:spPr>
        <p:txBody>
          <a:bodyPr wrap="square" anchor="t" lIns="0" rIns="0" tIns="0" bIns="0">
            <a:noAutofit/>
          </a:bodyPr>
          <a:lstStyle/>
          <a:p>
            <a:pPr algn="l">
              <a:lnSpc>
                <a:spcPct val="115000"/>
              </a:lnSpc>
            </a:pPr>
            <a:r>
              <a:rPr sz="1050" b="1" i="0">
                <a:solidFill>
                  <a:srgbClr val="FFFFFF"/>
                </a:solidFill>
                <a:latin typeface="Outfit"/>
              </a:rPr>
              <a:t>Il ne s'arrête jamais, et il puise dans les mêmes experts que le BUILD</a:t>
            </a:r>
          </a:p>
        </p:txBody>
      </p:sp>
      <p:sp>
        <p:nvSpPr>
          <p:cNvPr id="7" name="TextBox 6"/>
          <p:cNvSpPr txBox="1"/>
          <p:nvPr/>
        </p:nvSpPr>
        <p:spPr>
          <a:xfrm>
            <a:off x="745236" y="2482596"/>
            <a:ext cx="2113788" cy="1648206"/>
          </a:xfrm>
          <a:prstGeom prst="rect">
            <a:avLst/>
          </a:prstGeom>
          <a:noFill/>
        </p:spPr>
        <p:txBody>
          <a:bodyPr wrap="square" anchor="t" lIns="0" rIns="0" tIns="0" bIns="0">
            <a:spAutoFit/>
          </a:bodyPr>
          <a:lstStyle/>
          <a:p>
            <a:pPr algn="l">
              <a:lnSpc>
                <a:spcPct val="120000"/>
              </a:lnSpc>
              <a:spcBef>
                <a:spcPts val="0"/>
              </a:spcBef>
            </a:pPr>
            <a:r>
              <a:rPr sz="900" b="0" i="0">
                <a:solidFill>
                  <a:srgbClr val="C7CBE0"/>
                </a:solidFill>
                <a:latin typeface="Outfit"/>
              </a:rPr>
              <a:t>—  </a:t>
            </a:r>
            <a:r>
              <a:rPr sz="900" b="0" i="0">
                <a:solidFill>
                  <a:srgbClr val="FFFFFF"/>
                </a:solidFill>
                <a:latin typeface="Outfit"/>
              </a:rPr>
              <a:t>Régime permanent : aucune fin de phase ne libère l'astreinte ni le maintien.</a:t>
            </a:r>
          </a:p>
          <a:p>
            <a:pPr algn="l">
              <a:lnSpc>
                <a:spcPct val="120000"/>
              </a:lnSpc>
              <a:spcBef>
                <a:spcPts val="400"/>
              </a:spcBef>
            </a:pPr>
            <a:r>
              <a:rPr sz="900" b="0" i="0">
                <a:solidFill>
                  <a:srgbClr val="C7CBE0"/>
                </a:solidFill>
                <a:latin typeface="Outfit"/>
              </a:rPr>
              <a:t>—  </a:t>
            </a:r>
            <a:r>
              <a:rPr sz="900" b="0" i="0">
                <a:solidFill>
                  <a:srgbClr val="FFFFFF"/>
                </a:solidFill>
                <a:latin typeface="Outfit"/>
              </a:rPr>
              <a:t>Sa charge vient de l'extérieur — incidents, demandes, obsolescences.</a:t>
            </a:r>
          </a:p>
          <a:p>
            <a:pPr algn="l">
              <a:lnSpc>
                <a:spcPct val="120000"/>
              </a:lnSpc>
              <a:spcBef>
                <a:spcPts val="400"/>
              </a:spcBef>
            </a:pPr>
            <a:r>
              <a:rPr sz="900" b="0" i="0">
                <a:solidFill>
                  <a:srgbClr val="C7CBE0"/>
                </a:solidFill>
                <a:latin typeface="Outfit"/>
              </a:rPr>
              <a:t>—  </a:t>
            </a:r>
            <a:r>
              <a:rPr sz="900" b="0" i="0">
                <a:solidFill>
                  <a:srgbClr val="FFFFFF"/>
                </a:solidFill>
                <a:latin typeface="Outfit"/>
              </a:rPr>
              <a:t>Sa dette ne se voit pas le jour où on la crée : elle se paie plus tard.</a:t>
            </a:r>
          </a:p>
        </p:txBody>
      </p:sp>
      <p:sp>
        <p:nvSpPr>
          <p:cNvPr id="8" name="Rounded Rectangle 7"/>
          <p:cNvSpPr/>
          <p:nvPr/>
        </p:nvSpPr>
        <p:spPr>
          <a:xfrm>
            <a:off x="3224783" y="1490472"/>
            <a:ext cx="2479548" cy="2804922"/>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07664" y="1655063"/>
            <a:ext cx="2113788" cy="201168"/>
          </a:xfrm>
          <a:prstGeom prst="rect">
            <a:avLst/>
          </a:prstGeom>
          <a:noFill/>
        </p:spPr>
        <p:txBody>
          <a:bodyPr wrap="square" anchor="t" lIns="0" rIns="0" tIns="0" bIns="0">
            <a:noAutofit/>
          </a:bodyPr>
          <a:lstStyle/>
          <a:p>
            <a:pPr algn="l"/>
            <a:r>
              <a:rPr sz="800" b="1" i="0">
                <a:solidFill>
                  <a:srgbClr val="586586"/>
                </a:solidFill>
                <a:latin typeface="Outfit"/>
              </a:rPr>
              <a:t>2 · L'INFRA TRANSVERSE</a:t>
            </a:r>
          </a:p>
        </p:txBody>
      </p:sp>
      <p:sp>
        <p:nvSpPr>
          <p:cNvPr id="10" name="TextBox 9"/>
          <p:cNvSpPr txBox="1"/>
          <p:nvPr/>
        </p:nvSpPr>
        <p:spPr>
          <a:xfrm>
            <a:off x="3407664" y="1856231"/>
            <a:ext cx="2113788" cy="534924"/>
          </a:xfrm>
          <a:prstGeom prst="rect">
            <a:avLst/>
          </a:prstGeom>
          <a:noFill/>
        </p:spPr>
        <p:txBody>
          <a:bodyPr wrap="square" anchor="t" lIns="0" rIns="0" tIns="0" bIns="0">
            <a:noAutofit/>
          </a:bodyPr>
          <a:lstStyle/>
          <a:p>
            <a:pPr algn="l">
              <a:lnSpc>
                <a:spcPct val="115000"/>
              </a:lnSpc>
            </a:pPr>
            <a:r>
              <a:rPr sz="1050" b="1" i="0">
                <a:solidFill>
                  <a:srgbClr val="0E2356"/>
                </a:solidFill>
                <a:latin typeface="Outfit"/>
              </a:rPr>
              <a:t>Elle sert toutes les équipes et n'appartient à aucune</a:t>
            </a:r>
          </a:p>
        </p:txBody>
      </p:sp>
      <p:sp>
        <p:nvSpPr>
          <p:cNvPr id="11" name="TextBox 10"/>
          <p:cNvSpPr txBox="1"/>
          <p:nvPr/>
        </p:nvSpPr>
        <p:spPr>
          <a:xfrm>
            <a:off x="3407664" y="2482596"/>
            <a:ext cx="2113788" cy="1648206"/>
          </a:xfrm>
          <a:prstGeom prst="rect">
            <a:avLst/>
          </a:prstGeom>
          <a:noFill/>
        </p:spPr>
        <p:txBody>
          <a:bodyPr wrap="square" anchor="t" lIns="0" rIns="0" tIns="0" bIns="0">
            <a:spAutoFit/>
          </a:bodyPr>
          <a:lstStyle/>
          <a:p>
            <a:pPr algn="l">
              <a:lnSpc>
                <a:spcPct val="120000"/>
              </a:lnSpc>
              <a:spcBef>
                <a:spcPts val="0"/>
              </a:spcBef>
            </a:pPr>
            <a:r>
              <a:rPr sz="900" b="0" i="0">
                <a:solidFill>
                  <a:srgbClr val="586586"/>
                </a:solidFill>
                <a:latin typeface="Outfit"/>
              </a:rPr>
              <a:t>—  </a:t>
            </a:r>
            <a:r>
              <a:rPr sz="900" b="0" i="0">
                <a:solidFill>
                  <a:srgbClr val="0E2356"/>
                </a:solidFill>
                <a:latin typeface="Outfit"/>
              </a:rPr>
              <a:t>Son gaspillage est mutualisé : il ne pèse sur le budget d'aucune équipe.</a:t>
            </a:r>
          </a:p>
          <a:p>
            <a:pPr algn="l">
              <a:lnSpc>
                <a:spcPct val="120000"/>
              </a:lnSpc>
              <a:spcBef>
                <a:spcPts val="400"/>
              </a:spcBef>
            </a:pPr>
            <a:r>
              <a:rPr sz="900" b="0" i="0">
                <a:solidFill>
                  <a:srgbClr val="586586"/>
                </a:solidFill>
                <a:latin typeface="Outfit"/>
              </a:rPr>
              <a:t>—  </a:t>
            </a:r>
            <a:r>
              <a:rPr sz="900" b="0" i="0">
                <a:solidFill>
                  <a:srgbClr val="0E2356"/>
                </a:solidFill>
                <a:latin typeface="Outfit"/>
              </a:rPr>
              <a:t>Personne ne porte le coût, donc personne n'a de raison de le réduire.</a:t>
            </a:r>
          </a:p>
          <a:p>
            <a:pPr algn="l">
              <a:lnSpc>
                <a:spcPct val="120000"/>
              </a:lnSpc>
              <a:spcBef>
                <a:spcPts val="400"/>
              </a:spcBef>
            </a:pPr>
            <a:r>
              <a:rPr sz="900" b="0" i="0">
                <a:solidFill>
                  <a:srgbClr val="586586"/>
                </a:solidFill>
                <a:latin typeface="Outfit"/>
              </a:rPr>
              <a:t>—  </a:t>
            </a:r>
            <a:r>
              <a:rPr sz="900" b="0" i="0">
                <a:solidFill>
                  <a:srgbClr val="0E2356"/>
                </a:solidFill>
                <a:latin typeface="Outfit"/>
              </a:rPr>
              <a:t>Personne n'arbitre seul : fermer un service touche tout le monde.</a:t>
            </a:r>
          </a:p>
        </p:txBody>
      </p:sp>
      <p:sp>
        <p:nvSpPr>
          <p:cNvPr id="12" name="Rounded Rectangle 11"/>
          <p:cNvSpPr/>
          <p:nvPr/>
        </p:nvSpPr>
        <p:spPr>
          <a:xfrm>
            <a:off x="5887212" y="1490472"/>
            <a:ext cx="2479548" cy="2804922"/>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70092" y="1655063"/>
            <a:ext cx="2113788" cy="201168"/>
          </a:xfrm>
          <a:prstGeom prst="rect">
            <a:avLst/>
          </a:prstGeom>
          <a:noFill/>
        </p:spPr>
        <p:txBody>
          <a:bodyPr wrap="square" anchor="t" lIns="0" rIns="0" tIns="0" bIns="0">
            <a:noAutofit/>
          </a:bodyPr>
          <a:lstStyle/>
          <a:p>
            <a:pPr algn="l"/>
            <a:r>
              <a:rPr sz="800" b="1" i="0">
                <a:solidFill>
                  <a:srgbClr val="586586"/>
                </a:solidFill>
                <a:latin typeface="Outfit"/>
              </a:rPr>
              <a:t>3 · LA DSI</a:t>
            </a:r>
          </a:p>
        </p:txBody>
      </p:sp>
      <p:sp>
        <p:nvSpPr>
          <p:cNvPr id="14" name="TextBox 13"/>
          <p:cNvSpPr txBox="1"/>
          <p:nvPr/>
        </p:nvSpPr>
        <p:spPr>
          <a:xfrm>
            <a:off x="6070092" y="1856231"/>
            <a:ext cx="2113788" cy="534924"/>
          </a:xfrm>
          <a:prstGeom prst="rect">
            <a:avLst/>
          </a:prstGeom>
          <a:noFill/>
        </p:spPr>
        <p:txBody>
          <a:bodyPr wrap="square" anchor="t" lIns="0" rIns="0" tIns="0" bIns="0">
            <a:noAutofit/>
          </a:bodyPr>
          <a:lstStyle/>
          <a:p>
            <a:pPr algn="l">
              <a:lnSpc>
                <a:spcPct val="115000"/>
              </a:lnSpc>
            </a:pPr>
            <a:r>
              <a:rPr sz="1050" b="1" i="0">
                <a:solidFill>
                  <a:srgbClr val="0E2356"/>
                </a:solidFill>
                <a:latin typeface="Outfit"/>
              </a:rPr>
              <a:t>Elle pilote à vue, et sa promesse reste déclarative</a:t>
            </a:r>
          </a:p>
        </p:txBody>
      </p:sp>
      <p:sp>
        <p:nvSpPr>
          <p:cNvPr id="15" name="TextBox 14"/>
          <p:cNvSpPr txBox="1"/>
          <p:nvPr/>
        </p:nvSpPr>
        <p:spPr>
          <a:xfrm>
            <a:off x="6070092" y="2482596"/>
            <a:ext cx="2113788" cy="1648206"/>
          </a:xfrm>
          <a:prstGeom prst="rect">
            <a:avLst/>
          </a:prstGeom>
          <a:noFill/>
        </p:spPr>
        <p:txBody>
          <a:bodyPr wrap="square" anchor="t" lIns="0" rIns="0" tIns="0" bIns="0">
            <a:spAutoFit/>
          </a:bodyPr>
          <a:lstStyle/>
          <a:p>
            <a:pPr algn="l">
              <a:lnSpc>
                <a:spcPct val="120000"/>
              </a:lnSpc>
              <a:spcBef>
                <a:spcPts val="0"/>
              </a:spcBef>
            </a:pPr>
            <a:r>
              <a:rPr sz="900" b="0" i="0">
                <a:solidFill>
                  <a:srgbClr val="586586"/>
                </a:solidFill>
                <a:latin typeface="Outfit"/>
              </a:rPr>
              <a:t>—  </a:t>
            </a:r>
            <a:r>
              <a:rPr sz="900" b="0" i="0">
                <a:solidFill>
                  <a:srgbClr val="0E2356"/>
                </a:solidFill>
                <a:latin typeface="Outfit"/>
              </a:rPr>
              <a:t>Aucun signal de flux partagé : un reporting-miroir, pas un pilotage.</a:t>
            </a:r>
          </a:p>
          <a:p>
            <a:pPr algn="l">
              <a:lnSpc>
                <a:spcPct val="120000"/>
              </a:lnSpc>
              <a:spcBef>
                <a:spcPts val="400"/>
              </a:spcBef>
            </a:pPr>
            <a:r>
              <a:rPr sz="900" b="0" i="0">
                <a:solidFill>
                  <a:srgbClr val="586586"/>
                </a:solidFill>
                <a:latin typeface="Outfit"/>
              </a:rPr>
              <a:t>—  </a:t>
            </a:r>
            <a:r>
              <a:rPr sz="900" b="0" i="0">
                <a:solidFill>
                  <a:srgbClr val="0E2356"/>
                </a:solidFill>
                <a:latin typeface="Outfit"/>
              </a:rPr>
              <a:t>Le self-service reste un guichet tant que le contournement va plus vite.</a:t>
            </a:r>
          </a:p>
          <a:p>
            <a:pPr algn="l">
              <a:lnSpc>
                <a:spcPct val="120000"/>
              </a:lnSpc>
              <a:spcBef>
                <a:spcPts val="400"/>
              </a:spcBef>
            </a:pPr>
            <a:r>
              <a:rPr sz="900" b="0" i="0">
                <a:solidFill>
                  <a:srgbClr val="586586"/>
                </a:solidFill>
                <a:latin typeface="Outfit"/>
              </a:rPr>
              <a:t>—  </a:t>
            </a:r>
            <a:r>
              <a:rPr sz="900" b="0" i="0">
                <a:solidFill>
                  <a:srgbClr val="0E2356"/>
                </a:solidFill>
                <a:latin typeface="Outfit"/>
              </a:rPr>
              <a:t>Un gate de confidentialité non instruit peut bloquer toute preuve par l'IA.</a:t>
            </a:r>
          </a:p>
        </p:txBody>
      </p:sp>
      <p:sp>
        <p:nvSpPr>
          <p:cNvPr id="16" name="Rounded Rectangle 15"/>
          <p:cNvSpPr/>
          <p:nvPr/>
        </p:nvSpPr>
        <p:spPr>
          <a:xfrm>
            <a:off x="562356" y="4504944"/>
            <a:ext cx="7804404" cy="47853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 y="4596384"/>
            <a:ext cx="45720" cy="295656"/>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947" y="4523232"/>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19" name="TextBox 18"/>
          <p:cNvSpPr txBox="1"/>
          <p:nvPr/>
        </p:nvSpPr>
        <p:spPr>
          <a:xfrm>
            <a:off x="1074420" y="4504944"/>
            <a:ext cx="7109460" cy="478536"/>
          </a:xfrm>
          <a:prstGeom prst="rect">
            <a:avLst/>
          </a:prstGeom>
          <a:noFill/>
        </p:spPr>
        <p:txBody>
          <a:bodyPr wrap="square" anchor="ctr" lIns="0" rIns="0" tIns="0" bIns="0">
            <a:spAutoFit/>
          </a:bodyPr>
          <a:lstStyle/>
          <a:p>
            <a:pPr algn="ctr"/>
            <a:r>
              <a:rPr sz="1100" b="1" i="0">
                <a:solidFill>
                  <a:srgbClr val="FFFFFF"/>
                </a:solidFill>
                <a:latin typeface="Outfit"/>
              </a:rPr>
              <a:t>Traiter le RUN comme un projet, c'est le perdre à chaque arbitrage.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CE QUE ÇA COÛTE   ·   </a:t>
            </a:r>
            <a:r>
              <a:rPr b="1" sz="125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0E2356"/>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le langage commun qui les rend traitables.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CE QUE ÇA COÛTE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1050" b="0" i="1">
                <a:solidFill>
                  <a:srgbClr val="0E2356"/>
                </a:solidFill>
                <a:latin typeface="Outfit"/>
              </a:rPr>
              <a:t>Nommer la famille, c'est déjà pouvoir la détecter, la chiffrer et la prioriser.</a:t>
            </a:r>
          </a:p>
        </p:txBody>
      </p:sp>
      <p:sp>
        <p:nvSpPr>
          <p:cNvPr id="4" name="Rounded Rectangle 3"/>
          <p:cNvSpPr/>
          <p:nvPr/>
        </p:nvSpPr>
        <p:spPr>
          <a:xfrm>
            <a:off x="562356" y="1517904"/>
            <a:ext cx="420624" cy="420624"/>
          </a:xfrm>
          <a:prstGeom prst="roundRect">
            <a:avLst>
              <a:gd name="adj" fmla="val 18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517904"/>
            <a:ext cx="420624" cy="420624"/>
          </a:xfrm>
          <a:prstGeom prst="rect">
            <a:avLst/>
          </a:prstGeom>
          <a:noFill/>
        </p:spPr>
        <p:txBody>
          <a:bodyPr wrap="square" anchor="ctr" lIns="0" rIns="0" tIns="0" bIns="0">
            <a:noAutofit/>
          </a:bodyPr>
          <a:lstStyle/>
          <a:p>
            <a:pPr algn="ctr"/>
            <a:r>
              <a:rPr sz="1600" b="1" i="0">
                <a:solidFill>
                  <a:srgbClr val="0E2356"/>
                </a:solidFill>
                <a:latin typeface="Outfit"/>
              </a:rPr>
              <a:t>1</a:t>
            </a:r>
          </a:p>
        </p:txBody>
      </p:sp>
      <p:sp>
        <p:nvSpPr>
          <p:cNvPr id="6" name="Rounded Rectangle 5"/>
          <p:cNvSpPr/>
          <p:nvPr/>
        </p:nvSpPr>
        <p:spPr>
          <a:xfrm>
            <a:off x="1092707" y="1490472"/>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3875" y="1490472"/>
            <a:ext cx="2882646" cy="475488"/>
          </a:xfrm>
          <a:prstGeom prst="rect">
            <a:avLst/>
          </a:prstGeom>
          <a:noFill/>
        </p:spPr>
        <p:txBody>
          <a:bodyPr wrap="square" anchor="ctr" lIns="0" rIns="0" tIns="0" bIns="0">
            <a:spAutoFit/>
          </a:bodyPr>
          <a:lstStyle/>
          <a:p>
            <a:pPr algn="l"/>
            <a:r>
              <a:rPr sz="1100" b="1" i="0">
                <a:solidFill>
                  <a:srgbClr val="0E2356"/>
                </a:solidFill>
                <a:latin typeface="Outfit"/>
              </a:rPr>
              <a:t>Flux</a:t>
            </a:r>
            <a:r>
              <a:rPr sz="900" b="0" i="0">
                <a:solidFill>
                  <a:srgbClr val="586586"/>
                </a:solidFill>
                <a:latin typeface="Outfit"/>
              </a:rPr>
              <a:t>  —  Attentes, validations multiples</a:t>
            </a:r>
          </a:p>
        </p:txBody>
      </p:sp>
      <p:sp>
        <p:nvSpPr>
          <p:cNvPr id="8" name="Rounded Rectangle 7"/>
          <p:cNvSpPr/>
          <p:nvPr/>
        </p:nvSpPr>
        <p:spPr>
          <a:xfrm>
            <a:off x="562356" y="2103120"/>
            <a:ext cx="420624" cy="420624"/>
          </a:xfrm>
          <a:prstGeom prst="roundRect">
            <a:avLst>
              <a:gd name="adj" fmla="val 18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03120"/>
            <a:ext cx="420624" cy="420624"/>
          </a:xfrm>
          <a:prstGeom prst="rect">
            <a:avLst/>
          </a:prstGeom>
          <a:noFill/>
        </p:spPr>
        <p:txBody>
          <a:bodyPr wrap="square" anchor="ctr" lIns="0" rIns="0" tIns="0" bIns="0">
            <a:noAutofit/>
          </a:bodyPr>
          <a:lstStyle/>
          <a:p>
            <a:pPr algn="ctr"/>
            <a:r>
              <a:rPr sz="1600" b="1" i="0">
                <a:solidFill>
                  <a:srgbClr val="0E2356"/>
                </a:solidFill>
                <a:latin typeface="Outfit"/>
              </a:rPr>
              <a:t>2</a:t>
            </a:r>
          </a:p>
        </p:txBody>
      </p:sp>
      <p:sp>
        <p:nvSpPr>
          <p:cNvPr id="10" name="Rounded Rectangle 9"/>
          <p:cNvSpPr/>
          <p:nvPr/>
        </p:nvSpPr>
        <p:spPr>
          <a:xfrm>
            <a:off x="1092707" y="2075688"/>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3875" y="2075688"/>
            <a:ext cx="2882646" cy="475488"/>
          </a:xfrm>
          <a:prstGeom prst="rect">
            <a:avLst/>
          </a:prstGeom>
          <a:noFill/>
        </p:spPr>
        <p:txBody>
          <a:bodyPr wrap="square" anchor="ctr" lIns="0" rIns="0" tIns="0" bIns="0">
            <a:spAutoFit/>
          </a:bodyPr>
          <a:lstStyle/>
          <a:p>
            <a:pPr algn="l"/>
            <a:r>
              <a:rPr sz="1100" b="1" i="0">
                <a:solidFill>
                  <a:srgbClr val="0E2356"/>
                </a:solidFill>
                <a:latin typeface="Outfit"/>
              </a:rPr>
              <a:t>Humain</a:t>
            </a:r>
            <a:r>
              <a:rPr sz="900" b="0" i="0">
                <a:solidFill>
                  <a:srgbClr val="586586"/>
                </a:solidFill>
                <a:latin typeface="Outfit"/>
              </a:rPr>
              <a:t>  —  Experts seniors sur des tâches répétitives</a:t>
            </a:r>
          </a:p>
        </p:txBody>
      </p:sp>
      <p:sp>
        <p:nvSpPr>
          <p:cNvPr id="12" name="Rounded Rectangle 11"/>
          <p:cNvSpPr/>
          <p:nvPr/>
        </p:nvSpPr>
        <p:spPr>
          <a:xfrm>
            <a:off x="562356" y="2688336"/>
            <a:ext cx="420624" cy="420624"/>
          </a:xfrm>
          <a:prstGeom prst="roundRect">
            <a:avLst>
              <a:gd name="adj" fmla="val 18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688336"/>
            <a:ext cx="420624" cy="420624"/>
          </a:xfrm>
          <a:prstGeom prst="rect">
            <a:avLst/>
          </a:prstGeom>
          <a:noFill/>
        </p:spPr>
        <p:txBody>
          <a:bodyPr wrap="square" anchor="ctr" lIns="0" rIns="0" tIns="0" bIns="0">
            <a:noAutofit/>
          </a:bodyPr>
          <a:lstStyle/>
          <a:p>
            <a:pPr algn="ctr"/>
            <a:r>
              <a:rPr sz="1600" b="1" i="0">
                <a:solidFill>
                  <a:srgbClr val="0E2356"/>
                </a:solidFill>
                <a:latin typeface="Outfit"/>
              </a:rPr>
              <a:t>3</a:t>
            </a:r>
          </a:p>
        </p:txBody>
      </p:sp>
      <p:sp>
        <p:nvSpPr>
          <p:cNvPr id="14" name="Rounded Rectangle 13"/>
          <p:cNvSpPr/>
          <p:nvPr/>
        </p:nvSpPr>
        <p:spPr>
          <a:xfrm>
            <a:off x="1092707" y="2660904"/>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3875" y="2660904"/>
            <a:ext cx="2882646" cy="475488"/>
          </a:xfrm>
          <a:prstGeom prst="rect">
            <a:avLst/>
          </a:prstGeom>
          <a:noFill/>
        </p:spPr>
        <p:txBody>
          <a:bodyPr wrap="square" anchor="ctr" lIns="0" rIns="0" tIns="0" bIns="0">
            <a:spAutoFit/>
          </a:bodyPr>
          <a:lstStyle/>
          <a:p>
            <a:pPr algn="l"/>
            <a:r>
              <a:rPr sz="1100" b="1" i="0">
                <a:solidFill>
                  <a:srgbClr val="0E2356"/>
                </a:solidFill>
                <a:latin typeface="Outfit"/>
              </a:rPr>
              <a:t>RUN</a:t>
            </a:r>
            <a:r>
              <a:rPr sz="900" b="0" i="0">
                <a:solidFill>
                  <a:srgbClr val="586586"/>
                </a:solidFill>
                <a:latin typeface="Outfit"/>
              </a:rPr>
              <a:t>  —  Incidents récurrents, demandes répétées</a:t>
            </a:r>
          </a:p>
        </p:txBody>
      </p:sp>
      <p:sp>
        <p:nvSpPr>
          <p:cNvPr id="16" name="Rounded Rectangle 15"/>
          <p:cNvSpPr/>
          <p:nvPr/>
        </p:nvSpPr>
        <p:spPr>
          <a:xfrm>
            <a:off x="562356" y="3273551"/>
            <a:ext cx="420624" cy="420624"/>
          </a:xfrm>
          <a:prstGeom prst="roundRect">
            <a:avLst>
              <a:gd name="adj" fmla="val 18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273551"/>
            <a:ext cx="420624" cy="420624"/>
          </a:xfrm>
          <a:prstGeom prst="rect">
            <a:avLst/>
          </a:prstGeom>
          <a:noFill/>
        </p:spPr>
        <p:txBody>
          <a:bodyPr wrap="square" anchor="ctr" lIns="0" rIns="0" tIns="0" bIns="0">
            <a:noAutofit/>
          </a:bodyPr>
          <a:lstStyle/>
          <a:p>
            <a:pPr algn="ctr"/>
            <a:r>
              <a:rPr sz="1600" b="1" i="0">
                <a:solidFill>
                  <a:srgbClr val="0E2356"/>
                </a:solidFill>
                <a:latin typeface="Outfit"/>
              </a:rPr>
              <a:t>4</a:t>
            </a:r>
          </a:p>
        </p:txBody>
      </p:sp>
      <p:sp>
        <p:nvSpPr>
          <p:cNvPr id="18" name="Rounded Rectangle 17"/>
          <p:cNvSpPr/>
          <p:nvPr/>
        </p:nvSpPr>
        <p:spPr>
          <a:xfrm>
            <a:off x="1092707" y="3246120"/>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93875" y="3246120"/>
            <a:ext cx="2882646" cy="475488"/>
          </a:xfrm>
          <a:prstGeom prst="rect">
            <a:avLst/>
          </a:prstGeom>
          <a:noFill/>
        </p:spPr>
        <p:txBody>
          <a:bodyPr wrap="square" anchor="ctr" lIns="0" rIns="0" tIns="0" bIns="0">
            <a:spAutoFit/>
          </a:bodyPr>
          <a:lstStyle/>
          <a:p>
            <a:pPr algn="l"/>
            <a:r>
              <a:rPr sz="1100" b="1" i="0">
                <a:solidFill>
                  <a:srgbClr val="0E2356"/>
                </a:solidFill>
                <a:latin typeface="Outfit"/>
              </a:rPr>
              <a:t>Financier</a:t>
            </a:r>
            <a:r>
              <a:rPr sz="900" b="0" i="0">
                <a:solidFill>
                  <a:srgbClr val="586586"/>
                </a:solidFill>
                <a:latin typeface="Outfit"/>
              </a:rPr>
              <a:t>  —  Surdimensionnement, ressources non décommissionnées</a:t>
            </a:r>
          </a:p>
        </p:txBody>
      </p:sp>
      <p:sp>
        <p:nvSpPr>
          <p:cNvPr id="20" name="Rounded Rectangle 19"/>
          <p:cNvSpPr/>
          <p:nvPr/>
        </p:nvSpPr>
        <p:spPr>
          <a:xfrm>
            <a:off x="4624578" y="1517904"/>
            <a:ext cx="420624" cy="420624"/>
          </a:xfrm>
          <a:prstGeom prst="roundRect">
            <a:avLst>
              <a:gd name="adj" fmla="val 18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24578" y="1517904"/>
            <a:ext cx="420624" cy="420624"/>
          </a:xfrm>
          <a:prstGeom prst="rect">
            <a:avLst/>
          </a:prstGeom>
          <a:noFill/>
        </p:spPr>
        <p:txBody>
          <a:bodyPr wrap="square" anchor="ctr" lIns="0" rIns="0" tIns="0" bIns="0">
            <a:noAutofit/>
          </a:bodyPr>
          <a:lstStyle/>
          <a:p>
            <a:pPr algn="ctr"/>
            <a:r>
              <a:rPr sz="1600" b="1" i="0">
                <a:solidFill>
                  <a:srgbClr val="0E2356"/>
                </a:solidFill>
                <a:latin typeface="Outfit"/>
              </a:rPr>
              <a:t>5</a:t>
            </a:r>
          </a:p>
        </p:txBody>
      </p:sp>
      <p:sp>
        <p:nvSpPr>
          <p:cNvPr id="22" name="Rounded Rectangle 21"/>
          <p:cNvSpPr/>
          <p:nvPr/>
        </p:nvSpPr>
        <p:spPr>
          <a:xfrm>
            <a:off x="5154930" y="1490472"/>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56098" y="1490472"/>
            <a:ext cx="2882646" cy="475488"/>
          </a:xfrm>
          <a:prstGeom prst="rect">
            <a:avLst/>
          </a:prstGeom>
          <a:noFill/>
        </p:spPr>
        <p:txBody>
          <a:bodyPr wrap="square" anchor="ctr" lIns="0" rIns="0" tIns="0" bIns="0">
            <a:spAutoFit/>
          </a:bodyPr>
          <a:lstStyle/>
          <a:p>
            <a:pPr algn="l"/>
            <a:r>
              <a:rPr sz="1100" b="1" i="0">
                <a:solidFill>
                  <a:srgbClr val="0E2356"/>
                </a:solidFill>
                <a:latin typeface="Outfit"/>
              </a:rPr>
              <a:t>Cognitif</a:t>
            </a:r>
            <a:r>
              <a:rPr sz="900" b="0" i="0">
                <a:solidFill>
                  <a:srgbClr val="586586"/>
                </a:solidFill>
                <a:latin typeface="Outfit"/>
              </a:rPr>
              <a:t>  —  Trop d'outils, procédures complexes</a:t>
            </a:r>
          </a:p>
        </p:txBody>
      </p:sp>
      <p:sp>
        <p:nvSpPr>
          <p:cNvPr id="24" name="Rounded Rectangle 23"/>
          <p:cNvSpPr/>
          <p:nvPr/>
        </p:nvSpPr>
        <p:spPr>
          <a:xfrm>
            <a:off x="4624578" y="2103120"/>
            <a:ext cx="420624" cy="420624"/>
          </a:xfrm>
          <a:prstGeom prst="roundRect">
            <a:avLst>
              <a:gd name="adj" fmla="val 18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24578" y="2103120"/>
            <a:ext cx="420624" cy="420624"/>
          </a:xfrm>
          <a:prstGeom prst="rect">
            <a:avLst/>
          </a:prstGeom>
          <a:noFill/>
        </p:spPr>
        <p:txBody>
          <a:bodyPr wrap="square" anchor="ctr" lIns="0" rIns="0" tIns="0" bIns="0">
            <a:noAutofit/>
          </a:bodyPr>
          <a:lstStyle/>
          <a:p>
            <a:pPr algn="ctr"/>
            <a:r>
              <a:rPr sz="1600" b="1" i="0">
                <a:solidFill>
                  <a:srgbClr val="0E2356"/>
                </a:solidFill>
                <a:latin typeface="Outfit"/>
              </a:rPr>
              <a:t>6</a:t>
            </a:r>
          </a:p>
        </p:txBody>
      </p:sp>
      <p:sp>
        <p:nvSpPr>
          <p:cNvPr id="26" name="Rounded Rectangle 25"/>
          <p:cNvSpPr/>
          <p:nvPr/>
        </p:nvSpPr>
        <p:spPr>
          <a:xfrm>
            <a:off x="5154930" y="2075688"/>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56098" y="2075688"/>
            <a:ext cx="2882646" cy="475488"/>
          </a:xfrm>
          <a:prstGeom prst="rect">
            <a:avLst/>
          </a:prstGeom>
          <a:noFill/>
        </p:spPr>
        <p:txBody>
          <a:bodyPr wrap="square" anchor="ctr" lIns="0" rIns="0" tIns="0" bIns="0">
            <a:spAutoFit/>
          </a:bodyPr>
          <a:lstStyle/>
          <a:p>
            <a:pPr algn="l"/>
            <a:r>
              <a:rPr sz="1100" b="1" i="0">
                <a:solidFill>
                  <a:srgbClr val="0E2356"/>
                </a:solidFill>
                <a:latin typeface="Outfit"/>
              </a:rPr>
              <a:t>Décisionnel</a:t>
            </a:r>
            <a:r>
              <a:rPr sz="900" b="0" i="0">
                <a:solidFill>
                  <a:srgbClr val="586586"/>
                </a:solidFill>
                <a:latin typeface="Outfit"/>
              </a:rPr>
              <a:t>  —  Arbitrages subjectifs, priorisation opaque</a:t>
            </a:r>
          </a:p>
        </p:txBody>
      </p:sp>
      <p:sp>
        <p:nvSpPr>
          <p:cNvPr id="28" name="Rounded Rectangle 27"/>
          <p:cNvSpPr/>
          <p:nvPr/>
        </p:nvSpPr>
        <p:spPr>
          <a:xfrm>
            <a:off x="4624578" y="2688336"/>
            <a:ext cx="420624" cy="420624"/>
          </a:xfrm>
          <a:prstGeom prst="roundRect">
            <a:avLst>
              <a:gd name="adj" fmla="val 18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24578" y="2688336"/>
            <a:ext cx="420624" cy="420624"/>
          </a:xfrm>
          <a:prstGeom prst="rect">
            <a:avLst/>
          </a:prstGeom>
          <a:noFill/>
        </p:spPr>
        <p:txBody>
          <a:bodyPr wrap="square" anchor="ctr" lIns="0" rIns="0" tIns="0" bIns="0">
            <a:noAutofit/>
          </a:bodyPr>
          <a:lstStyle/>
          <a:p>
            <a:pPr algn="ctr"/>
            <a:r>
              <a:rPr sz="1600" b="1" i="0">
                <a:solidFill>
                  <a:srgbClr val="0E2356"/>
                </a:solidFill>
                <a:latin typeface="Outfit"/>
              </a:rPr>
              <a:t>7</a:t>
            </a:r>
          </a:p>
        </p:txBody>
      </p:sp>
      <p:sp>
        <p:nvSpPr>
          <p:cNvPr id="30" name="Rounded Rectangle 29"/>
          <p:cNvSpPr/>
          <p:nvPr/>
        </p:nvSpPr>
        <p:spPr>
          <a:xfrm>
            <a:off x="5154930" y="2660904"/>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6098" y="2660904"/>
            <a:ext cx="2882646" cy="475488"/>
          </a:xfrm>
          <a:prstGeom prst="rect">
            <a:avLst/>
          </a:prstGeom>
          <a:noFill/>
        </p:spPr>
        <p:txBody>
          <a:bodyPr wrap="square" anchor="ctr" lIns="0" rIns="0" tIns="0" bIns="0">
            <a:spAutoFit/>
          </a:bodyPr>
          <a:lstStyle/>
          <a:p>
            <a:pPr algn="l"/>
            <a:r>
              <a:rPr sz="1100" b="1" i="0">
                <a:solidFill>
                  <a:srgbClr val="0E2356"/>
                </a:solidFill>
                <a:latin typeface="Outfit"/>
              </a:rPr>
              <a:t>Environnemental</a:t>
            </a:r>
            <a:r>
              <a:rPr sz="900" b="0" i="0">
                <a:solidFill>
                  <a:srgbClr val="586586"/>
                </a:solidFill>
                <a:latin typeface="Outfit"/>
              </a:rPr>
              <a:t>  —  Ressources inutilisées, environnements non éteints</a:t>
            </a:r>
          </a:p>
        </p:txBody>
      </p:sp>
      <p:sp>
        <p:nvSpPr>
          <p:cNvPr id="32" name="Rounded Rectangle 31"/>
          <p:cNvSpPr/>
          <p:nvPr/>
        </p:nvSpPr>
        <p:spPr>
          <a:xfrm>
            <a:off x="4624578" y="3273551"/>
            <a:ext cx="420624" cy="420624"/>
          </a:xfrm>
          <a:prstGeom prst="roundRect">
            <a:avLst>
              <a:gd name="adj" fmla="val 18000"/>
            </a:avLst>
          </a:prstGeom>
          <a:solidFill>
            <a:srgbClr val="0E2356"/>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24578" y="3273551"/>
            <a:ext cx="420624" cy="420624"/>
          </a:xfrm>
          <a:prstGeom prst="rect">
            <a:avLst/>
          </a:prstGeom>
          <a:noFill/>
        </p:spPr>
        <p:txBody>
          <a:bodyPr wrap="square" anchor="ctr" lIns="0" rIns="0" tIns="0" bIns="0">
            <a:noAutofit/>
          </a:bodyPr>
          <a:lstStyle/>
          <a:p>
            <a:pPr algn="ctr"/>
            <a:r>
              <a:rPr sz="1600" b="1" i="0">
                <a:solidFill>
                  <a:srgbClr val="FFFFFF"/>
                </a:solidFill>
                <a:latin typeface="Outfit"/>
              </a:rPr>
              <a:t>8</a:t>
            </a:r>
          </a:p>
        </p:txBody>
      </p:sp>
      <p:sp>
        <p:nvSpPr>
          <p:cNvPr id="34" name="Rounded Rectangle 33"/>
          <p:cNvSpPr/>
          <p:nvPr/>
        </p:nvSpPr>
        <p:spPr>
          <a:xfrm>
            <a:off x="5154930" y="3246120"/>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56098" y="3246120"/>
            <a:ext cx="2882646" cy="475488"/>
          </a:xfrm>
          <a:prstGeom prst="rect">
            <a:avLst/>
          </a:prstGeom>
          <a:noFill/>
        </p:spPr>
        <p:txBody>
          <a:bodyPr wrap="square" anchor="ctr" lIns="0" rIns="0" tIns="0" bIns="0">
            <a:spAutoFit/>
          </a:bodyPr>
          <a:lstStyle/>
          <a:p>
            <a:pPr algn="l"/>
            <a:r>
              <a:rPr sz="1100" b="1" i="0">
                <a:solidFill>
                  <a:srgbClr val="0E2356"/>
                </a:solidFill>
                <a:latin typeface="Outfit"/>
              </a:rPr>
              <a:t>IA</a:t>
            </a:r>
            <a:r>
              <a:rPr sz="900" b="0" i="0">
                <a:solidFill>
                  <a:srgbClr val="586586"/>
                </a:solidFill>
                <a:latin typeface="Outfit"/>
              </a:rPr>
              <a:t>  —  Cas d'usage gadget, automatisation sans garde-fous</a:t>
            </a:r>
          </a:p>
        </p:txBody>
      </p:sp>
      <p:sp>
        <p:nvSpPr>
          <p:cNvPr id="36" name="Rounded Rectangle 35"/>
          <p:cNvSpPr/>
          <p:nvPr/>
        </p:nvSpPr>
        <p:spPr>
          <a:xfrm>
            <a:off x="562356" y="4337304"/>
            <a:ext cx="7804404" cy="6461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6364" y="4428744"/>
            <a:ext cx="45720" cy="463295"/>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6947" y="4355591"/>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39" name="TextBox 38"/>
          <p:cNvSpPr txBox="1"/>
          <p:nvPr/>
        </p:nvSpPr>
        <p:spPr>
          <a:xfrm>
            <a:off x="1074420" y="4337304"/>
            <a:ext cx="7109460" cy="646176"/>
          </a:xfrm>
          <a:prstGeom prst="rect">
            <a:avLst/>
          </a:prstGeom>
          <a:noFill/>
        </p:spPr>
        <p:txBody>
          <a:bodyPr wrap="square" anchor="ctr" lIns="0" rIns="0" tIns="0" bIns="0">
            <a:spAutoFit/>
          </a:bodyPr>
          <a:lstStyle/>
          <a:p>
            <a:pPr algn="ctr"/>
            <a:r>
              <a:rPr sz="1100" b="1" i="0">
                <a:solidFill>
                  <a:srgbClr val="FFFFFF"/>
                </a:solidFill>
                <a:latin typeface="Outfit"/>
              </a:rPr>
              <a:t>Nommé, un gaspillage devient traitable : la méthode existe déjà — détaillée au chapitre L'offre.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Nos convictions</a:t>
            </a:r>
          </a:p>
          <a:p>
            <a:r>
              <a:rPr sz="1050" i="1">
                <a:solidFill>
                  <a:srgbClr val="586586"/>
                </a:solidFill>
                <a:latin typeface="Outfit"/>
              </a:rPr>
              <a:t>Ce qui fait réussir une infra en mode produit, et un exemple avant/après de ce qu'elle change.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NOS CONVICTIONS   ·   </a:t>
            </a:r>
            <a:r>
              <a:rPr b="1" sz="1350">
                <a:solidFill>
                  <a:srgbClr val="0E2356"/>
                </a:solidFill>
                <a:latin typeface="Outfit"/>
              </a:rPr>
              <a:t>Nos convictions sur votre infrastructure en mode produit</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r>
              <a:rPr sz="1050" b="0" i="1">
                <a:solidFill>
                  <a:srgbClr val="0E2356"/>
                </a:solidFill>
                <a:latin typeface="Outfit"/>
              </a:rPr>
              <a:t>Ce qui fait réussir une Infra as a Product — et ce qui la fait échouer</a:t>
            </a:r>
          </a:p>
        </p:txBody>
      </p:sp>
      <p:sp>
        <p:nvSpPr>
          <p:cNvPr id="4" name="Round Diagonal Corner Rectangle 3"/>
          <p:cNvSpPr/>
          <p:nvPr/>
        </p:nvSpPr>
        <p:spPr>
          <a:xfrm>
            <a:off x="562356" y="1417319"/>
            <a:ext cx="457200" cy="310896"/>
          </a:xfrm>
          <a:prstGeom prst="round2DiagRect">
            <a:avLst/>
          </a:prstGeom>
          <a:solidFill>
            <a:srgbClr val="0E2356"/>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17319"/>
            <a:ext cx="457200" cy="310896"/>
          </a:xfrm>
          <a:prstGeom prst="rect">
            <a:avLst/>
          </a:prstGeom>
          <a:noFill/>
        </p:spPr>
        <p:txBody>
          <a:bodyPr wrap="square" anchor="ctr" lIns="0" rIns="0" tIns="0" bIns="0">
            <a:noAutofit/>
          </a:bodyPr>
          <a:lstStyle/>
          <a:p>
            <a:pPr algn="ctr"/>
            <a:r>
              <a:rPr sz="1200" b="1" i="0">
                <a:solidFill>
                  <a:srgbClr val="FFFFFF"/>
                </a:solidFill>
                <a:latin typeface="Outfit"/>
              </a:rPr>
              <a:t>1.</a:t>
            </a:r>
          </a:p>
        </p:txBody>
      </p:sp>
      <p:sp>
        <p:nvSpPr>
          <p:cNvPr id="6" name="Rectangle 5"/>
          <p:cNvSpPr/>
          <p:nvPr/>
        </p:nvSpPr>
        <p:spPr>
          <a:xfrm>
            <a:off x="646480" y="1728216"/>
            <a:ext cx="14630" cy="16859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17219" y="1860232"/>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3876" y="1399031"/>
            <a:ext cx="7072884" cy="392620"/>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Partir des utilisateurs et de leurs douleurs, pas du catalogue d'outils.</a:t>
            </a:r>
          </a:p>
          <a:p>
            <a:pPr algn="l">
              <a:lnSpc>
                <a:spcPct val="120000"/>
              </a:lnSpc>
              <a:spcBef>
                <a:spcPts val="200"/>
              </a:spcBef>
            </a:pPr>
            <a:r>
              <a:rPr sz="850" b="0" i="0">
                <a:solidFill>
                  <a:srgbClr val="586586"/>
                </a:solidFill>
                <a:latin typeface="Outfit"/>
              </a:rPr>
              <a:t>Une plateforme n'est adoptée que si elle résout une douleur mesurée chez ceux qui la consomment.</a:t>
            </a:r>
          </a:p>
        </p:txBody>
      </p:sp>
      <p:sp>
        <p:nvSpPr>
          <p:cNvPr id="9" name="Round Diagonal Corner Rectangle 8"/>
          <p:cNvSpPr/>
          <p:nvPr/>
        </p:nvSpPr>
        <p:spPr>
          <a:xfrm>
            <a:off x="562356" y="2047684"/>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2356" y="2047684"/>
            <a:ext cx="457200" cy="310896"/>
          </a:xfrm>
          <a:prstGeom prst="rect">
            <a:avLst/>
          </a:prstGeom>
          <a:noFill/>
        </p:spPr>
        <p:txBody>
          <a:bodyPr wrap="square" anchor="ctr" lIns="0" rIns="0" tIns="0" bIns="0">
            <a:noAutofit/>
          </a:bodyPr>
          <a:lstStyle/>
          <a:p>
            <a:pPr algn="ctr"/>
            <a:r>
              <a:rPr sz="1200" b="1" i="0">
                <a:solidFill>
                  <a:srgbClr val="0E2356"/>
                </a:solidFill>
                <a:latin typeface="Outfit"/>
              </a:rPr>
              <a:t>2.</a:t>
            </a:r>
          </a:p>
        </p:txBody>
      </p:sp>
      <p:sp>
        <p:nvSpPr>
          <p:cNvPr id="11" name="Rectangle 10"/>
          <p:cNvSpPr/>
          <p:nvPr/>
        </p:nvSpPr>
        <p:spPr>
          <a:xfrm>
            <a:off x="646480" y="2358580"/>
            <a:ext cx="14630" cy="16859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7219" y="2490597"/>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3876" y="2029396"/>
            <a:ext cx="7072884" cy="392620"/>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Traiter le gaspillage avant de construire.</a:t>
            </a:r>
          </a:p>
          <a:p>
            <a:pPr algn="l">
              <a:lnSpc>
                <a:spcPct val="120000"/>
              </a:lnSpc>
              <a:spcBef>
                <a:spcPts val="200"/>
              </a:spcBef>
            </a:pPr>
            <a:r>
              <a:rPr sz="850" b="0" i="0">
                <a:solidFill>
                  <a:srgbClr val="586586"/>
                </a:solidFill>
                <a:latin typeface="Outfit"/>
              </a:rPr>
              <a:t>Nommer, scorer et prioriser les 8 familles libère la capacité que le RUN confisque aujourd'hui.</a:t>
            </a:r>
          </a:p>
        </p:txBody>
      </p:sp>
      <p:sp>
        <p:nvSpPr>
          <p:cNvPr id="14" name="Round Diagonal Corner Rectangle 13"/>
          <p:cNvSpPr/>
          <p:nvPr/>
        </p:nvSpPr>
        <p:spPr>
          <a:xfrm>
            <a:off x="562356" y="2678049"/>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2356" y="2678049"/>
            <a:ext cx="457200" cy="310896"/>
          </a:xfrm>
          <a:prstGeom prst="rect">
            <a:avLst/>
          </a:prstGeom>
          <a:noFill/>
        </p:spPr>
        <p:txBody>
          <a:bodyPr wrap="square" anchor="ctr" lIns="0" rIns="0" tIns="0" bIns="0">
            <a:noAutofit/>
          </a:bodyPr>
          <a:lstStyle/>
          <a:p>
            <a:pPr algn="ctr"/>
            <a:r>
              <a:rPr sz="1200" b="1" i="0">
                <a:solidFill>
                  <a:srgbClr val="0E2356"/>
                </a:solidFill>
                <a:latin typeface="Outfit"/>
              </a:rPr>
              <a:t>3.</a:t>
            </a:r>
          </a:p>
        </p:txBody>
      </p:sp>
      <p:sp>
        <p:nvSpPr>
          <p:cNvPr id="16" name="Rectangle 15"/>
          <p:cNvSpPr/>
          <p:nvPr/>
        </p:nvSpPr>
        <p:spPr>
          <a:xfrm>
            <a:off x="646480" y="2988945"/>
            <a:ext cx="14630" cy="16859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17219" y="3120961"/>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3876" y="2659761"/>
            <a:ext cx="7072884" cy="392620"/>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Un propriétaire, une roadmap, une valeur mesurée.</a:t>
            </a:r>
          </a:p>
          <a:p>
            <a:pPr algn="l">
              <a:lnSpc>
                <a:spcPct val="120000"/>
              </a:lnSpc>
              <a:spcBef>
                <a:spcPts val="200"/>
              </a:spcBef>
            </a:pPr>
            <a:r>
              <a:rPr sz="850" b="0" i="0">
                <a:solidFill>
                  <a:srgbClr val="586586"/>
                </a:solidFill>
                <a:latin typeface="Outfit"/>
              </a:rPr>
              <a:t>Sans porteur produit, l'infra retourne au guichet.</a:t>
            </a:r>
          </a:p>
        </p:txBody>
      </p:sp>
      <p:sp>
        <p:nvSpPr>
          <p:cNvPr id="19" name="Round Diagonal Corner Rectangle 18"/>
          <p:cNvSpPr/>
          <p:nvPr/>
        </p:nvSpPr>
        <p:spPr>
          <a:xfrm>
            <a:off x="562356" y="3308413"/>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2356" y="3308413"/>
            <a:ext cx="457200" cy="310896"/>
          </a:xfrm>
          <a:prstGeom prst="rect">
            <a:avLst/>
          </a:prstGeom>
          <a:noFill/>
        </p:spPr>
        <p:txBody>
          <a:bodyPr wrap="square" anchor="ctr" lIns="0" rIns="0" tIns="0" bIns="0">
            <a:noAutofit/>
          </a:bodyPr>
          <a:lstStyle/>
          <a:p>
            <a:pPr algn="ctr"/>
            <a:r>
              <a:rPr sz="1200" b="1" i="0">
                <a:solidFill>
                  <a:srgbClr val="0E2356"/>
                </a:solidFill>
                <a:latin typeface="Outfit"/>
              </a:rPr>
              <a:t>4.</a:t>
            </a:r>
          </a:p>
        </p:txBody>
      </p:sp>
      <p:sp>
        <p:nvSpPr>
          <p:cNvPr id="21" name="Rectangle 20"/>
          <p:cNvSpPr/>
          <p:nvPr/>
        </p:nvSpPr>
        <p:spPr>
          <a:xfrm>
            <a:off x="646480" y="3619309"/>
            <a:ext cx="14630" cy="58464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17219" y="4167378"/>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93876" y="3290125"/>
            <a:ext cx="7072884" cy="808672"/>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L'IA fait gagner du temps là où il est perdu, pas là où on décide.</a:t>
            </a:r>
          </a:p>
          <a:p>
            <a:pPr algn="l">
              <a:lnSpc>
                <a:spcPct val="120000"/>
              </a:lnSpc>
              <a:spcBef>
                <a:spcPts val="200"/>
              </a:spcBef>
            </a:pPr>
            <a:r>
              <a:rPr sz="850" b="1" i="0">
                <a:solidFill>
                  <a:srgbClr val="0E2356"/>
                </a:solidFill>
                <a:latin typeface="Outfit"/>
              </a:rPr>
              <a:t>–  </a:t>
            </a:r>
            <a:r>
              <a:rPr sz="850" b="0" i="0">
                <a:solidFill>
                  <a:srgbClr val="586586"/>
                </a:solidFill>
                <a:latin typeface="Outfit"/>
              </a:rPr>
              <a:t>Elle accélère le diagnostic, la qualification des demandes et la restitution : le temps de triage du RUN est rendu aux équipes, mesuré dès le T0, pas promis.</a:t>
            </a:r>
          </a:p>
          <a:p>
            <a:pPr algn="l">
              <a:lnSpc>
                <a:spcPct val="120000"/>
              </a:lnSpc>
              <a:spcBef>
                <a:spcPts val="200"/>
              </a:spcBef>
            </a:pPr>
            <a:r>
              <a:rPr sz="850" b="1" i="0">
                <a:solidFill>
                  <a:srgbClr val="0E2356"/>
                </a:solidFill>
                <a:latin typeface="Outfit"/>
              </a:rPr>
              <a:t>–  </a:t>
            </a:r>
            <a:r>
              <a:rPr sz="850" b="0" i="0">
                <a:solidFill>
                  <a:srgbClr val="586586"/>
                </a:solidFill>
                <a:latin typeface="Outfit"/>
              </a:rPr>
              <a:t>Elle ne passe jamais avant le gate de confidentialité et n'est jamais un prérequis : la démarche tient sans elle, l'IA l'accélère.</a:t>
            </a:r>
          </a:p>
        </p:txBody>
      </p:sp>
      <p:sp>
        <p:nvSpPr>
          <p:cNvPr id="24" name="Round Diagonal Corner Rectangle 23"/>
          <p:cNvSpPr/>
          <p:nvPr/>
        </p:nvSpPr>
        <p:spPr>
          <a:xfrm>
            <a:off x="562356" y="4354830"/>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354830"/>
            <a:ext cx="457200" cy="310896"/>
          </a:xfrm>
          <a:prstGeom prst="rect">
            <a:avLst/>
          </a:prstGeom>
          <a:noFill/>
        </p:spPr>
        <p:txBody>
          <a:bodyPr wrap="square" anchor="ctr" lIns="0" rIns="0" tIns="0" bIns="0">
            <a:noAutofit/>
          </a:bodyPr>
          <a:lstStyle/>
          <a:p>
            <a:pPr algn="ctr"/>
            <a:r>
              <a:rPr sz="1200" b="1" i="0">
                <a:solidFill>
                  <a:srgbClr val="0E2356"/>
                </a:solidFill>
                <a:latin typeface="Outfit"/>
              </a:rPr>
              <a:t>5.</a:t>
            </a:r>
          </a:p>
        </p:txBody>
      </p:sp>
      <p:sp>
        <p:nvSpPr>
          <p:cNvPr id="26" name="Rectangle 25"/>
          <p:cNvSpPr/>
          <p:nvPr/>
        </p:nvSpPr>
        <p:spPr>
          <a:xfrm>
            <a:off x="646480" y="4665726"/>
            <a:ext cx="14630" cy="168592"/>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17219" y="4797742"/>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93876" y="4336542"/>
            <a:ext cx="7072884" cy="392620"/>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Nous rendre dispensables.</a:t>
            </a:r>
          </a:p>
          <a:p>
            <a:pPr algn="l">
              <a:lnSpc>
                <a:spcPct val="120000"/>
              </a:lnSpc>
              <a:spcBef>
                <a:spcPts val="200"/>
              </a:spcBef>
            </a:pPr>
            <a:r>
              <a:rPr sz="850" b="0" i="0">
                <a:solidFill>
                  <a:srgbClr val="586586"/>
                </a:solidFill>
                <a:latin typeface="Outfit"/>
              </a:rPr>
              <a:t>La réussite se mesure au jour où l'équipe tient le modèle sans nous.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NOS CONVICTIONS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1069848"/>
            <a:ext cx="914400" cy="256032"/>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14400" cy="256032"/>
          </a:xfrm>
          <a:prstGeom prst="rect">
            <a:avLst/>
          </a:prstGeom>
          <a:noFill/>
        </p:spPr>
        <p:txBody>
          <a:bodyPr wrap="square" anchor="ctr" lIns="0" rIns="0" tIns="0" bIns="0">
            <a:noAutofit/>
          </a:bodyPr>
          <a:lstStyle/>
          <a:p>
            <a:pPr algn="ctr"/>
            <a:r>
              <a:rPr sz="1000" b="1" i="0">
                <a:solidFill>
                  <a:srgbClr val="FFFFFF"/>
                </a:solidFill>
                <a:latin typeface="Outfit"/>
              </a:rPr>
              <a:t>AVANT</a:t>
            </a:r>
          </a:p>
        </p:txBody>
      </p:sp>
      <p:sp>
        <p:nvSpPr>
          <p:cNvPr id="5" name="Rounded Rectangle 4"/>
          <p:cNvSpPr/>
          <p:nvPr/>
        </p:nvSpPr>
        <p:spPr>
          <a:xfrm>
            <a:off x="4894326" y="1069848"/>
            <a:ext cx="2377440" cy="25603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94326" y="1069848"/>
            <a:ext cx="2377440" cy="256032"/>
          </a:xfrm>
          <a:prstGeom prst="rect">
            <a:avLst/>
          </a:prstGeom>
          <a:noFill/>
        </p:spPr>
        <p:txBody>
          <a:bodyPr wrap="square" anchor="ctr" lIns="0" rIns="0" tIns="0" bIns="0">
            <a:noAutofit/>
          </a:bodyPr>
          <a:lstStyle/>
          <a:p>
            <a:pPr algn="ctr"/>
            <a:r>
              <a:rPr sz="1000" b="1" i="0">
                <a:solidFill>
                  <a:srgbClr val="FFFFFF"/>
                </a:solidFill>
                <a:latin typeface="Outfit"/>
              </a:rPr>
              <a:t>APRÈS — infra as a product</a:t>
            </a:r>
          </a:p>
        </p:txBody>
      </p:sp>
      <p:sp>
        <p:nvSpPr>
          <p:cNvPr id="7" name="Rounded Rectangle 6"/>
          <p:cNvSpPr/>
          <p:nvPr/>
        </p:nvSpPr>
        <p:spPr>
          <a:xfrm>
            <a:off x="562356" y="1453895"/>
            <a:ext cx="3472434" cy="452755"/>
          </a:xfrm>
          <a:prstGeom prst="roundRect">
            <a:avLst>
              <a:gd name="adj" fmla="val 12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94326" y="1453895"/>
            <a:ext cx="3472434" cy="452755"/>
          </a:xfrm>
          <a:prstGeom prst="roundRect">
            <a:avLst>
              <a:gd name="adj" fmla="val 12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0372" y="1453895"/>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Guichet de tickets</a:t>
            </a:r>
            <a:r>
              <a:rPr sz="850" b="0" i="0">
                <a:solidFill>
                  <a:srgbClr val="586586"/>
                </a:solidFill>
                <a:latin typeface="Outfit"/>
              </a:rPr>
              <a:t> — personne n'est propriétaire du service.</a:t>
            </a:r>
          </a:p>
        </p:txBody>
      </p:sp>
      <p:sp>
        <p:nvSpPr>
          <p:cNvPr id="10" name="TextBox 9"/>
          <p:cNvSpPr txBox="1"/>
          <p:nvPr/>
        </p:nvSpPr>
        <p:spPr>
          <a:xfrm>
            <a:off x="5022342" y="1453895"/>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Un propriétaire produit</a:t>
            </a:r>
            <a:r>
              <a:rPr sz="850" b="0" i="0">
                <a:solidFill>
                  <a:srgbClr val="0E2356"/>
                </a:solidFill>
                <a:latin typeface="Outfit"/>
              </a:rPr>
              <a:t> — une roadmap, des indicateurs de pilotage.</a:t>
            </a:r>
          </a:p>
        </p:txBody>
      </p:sp>
      <p:sp>
        <p:nvSpPr>
          <p:cNvPr id="11" name="Rounded Rectangle 10"/>
          <p:cNvSpPr/>
          <p:nvPr/>
        </p:nvSpPr>
        <p:spPr>
          <a:xfrm>
            <a:off x="562356" y="1979802"/>
            <a:ext cx="3472434" cy="452755"/>
          </a:xfrm>
          <a:prstGeom prst="roundRect">
            <a:avLst>
              <a:gd name="adj" fmla="val 12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894326" y="1979802"/>
            <a:ext cx="3472434" cy="452755"/>
          </a:xfrm>
          <a:prstGeom prst="roundRect">
            <a:avLst>
              <a:gd name="adj" fmla="val 12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1979802"/>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Le triage du RUN trop long</a:t>
            </a:r>
            <a:r>
              <a:rPr sz="850" b="0" i="0">
                <a:solidFill>
                  <a:srgbClr val="586586"/>
                </a:solidFill>
                <a:latin typeface="Outfit"/>
              </a:rPr>
              <a:t> — traité au fil de l'eau.</a:t>
            </a:r>
          </a:p>
        </p:txBody>
      </p:sp>
      <p:sp>
        <p:nvSpPr>
          <p:cNvPr id="14" name="TextBox 13"/>
          <p:cNvSpPr txBox="1"/>
          <p:nvPr/>
        </p:nvSpPr>
        <p:spPr>
          <a:xfrm>
            <a:off x="5022342" y="1979802"/>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Temps de triage du RUN réduit</a:t>
            </a:r>
            <a:r>
              <a:rPr sz="850" b="0" i="0">
                <a:solidFill>
                  <a:srgbClr val="0E2356"/>
                </a:solidFill>
                <a:latin typeface="Outfit"/>
              </a:rPr>
              <a:t> — capacité RUN récupérée.</a:t>
            </a:r>
          </a:p>
        </p:txBody>
      </p:sp>
      <p:sp>
        <p:nvSpPr>
          <p:cNvPr id="15" name="Rounded Rectangle 14"/>
          <p:cNvSpPr/>
          <p:nvPr/>
        </p:nvSpPr>
        <p:spPr>
          <a:xfrm>
            <a:off x="562356" y="2505710"/>
            <a:ext cx="3472434" cy="452755"/>
          </a:xfrm>
          <a:prstGeom prst="roundRect">
            <a:avLst>
              <a:gd name="adj" fmla="val 12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94326" y="2505710"/>
            <a:ext cx="3472434" cy="452755"/>
          </a:xfrm>
          <a:prstGeom prst="roundRect">
            <a:avLst>
              <a:gd name="adj" fmla="val 12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372" y="2505710"/>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Backlog invisible</a:t>
            </a:r>
            <a:r>
              <a:rPr sz="850" b="0" i="0">
                <a:solidFill>
                  <a:srgbClr val="586586"/>
                </a:solidFill>
                <a:latin typeface="Outfit"/>
              </a:rPr>
              <a:t> — aucun indicateur de pilotage.</a:t>
            </a:r>
          </a:p>
        </p:txBody>
      </p:sp>
      <p:sp>
        <p:nvSpPr>
          <p:cNvPr id="18" name="TextBox 17"/>
          <p:cNvSpPr txBox="1"/>
          <p:nvPr/>
        </p:nvSpPr>
        <p:spPr>
          <a:xfrm>
            <a:off x="5022342" y="2505710"/>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Backlog visible</a:t>
            </a:r>
            <a:r>
              <a:rPr sz="850" b="0" i="0">
                <a:solidFill>
                  <a:srgbClr val="0E2356"/>
                </a:solidFill>
                <a:latin typeface="Outfit"/>
              </a:rPr>
              <a:t> — priorisé, mesuré dans le temps.</a:t>
            </a:r>
          </a:p>
        </p:txBody>
      </p:sp>
      <p:sp>
        <p:nvSpPr>
          <p:cNvPr id="19" name="Rounded Rectangle 18"/>
          <p:cNvSpPr/>
          <p:nvPr/>
        </p:nvSpPr>
        <p:spPr>
          <a:xfrm>
            <a:off x="562356" y="3031617"/>
            <a:ext cx="3472434" cy="452755"/>
          </a:xfrm>
          <a:prstGeom prst="roundRect">
            <a:avLst>
              <a:gd name="adj" fmla="val 12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894326" y="3031617"/>
            <a:ext cx="3472434" cy="452755"/>
          </a:xfrm>
          <a:prstGeom prst="roundRect">
            <a:avLst>
              <a:gd name="adj" fmla="val 12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3031617"/>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Beaucoup de projets, peu d'indicateurs</a:t>
            </a:r>
            <a:r>
              <a:rPr sz="850" b="0" i="0">
                <a:solidFill>
                  <a:srgbClr val="586586"/>
                </a:solidFill>
                <a:latin typeface="Outfit"/>
              </a:rPr>
              <a:t> — du contrôle et du reporting partout.</a:t>
            </a:r>
          </a:p>
        </p:txBody>
      </p:sp>
      <p:sp>
        <p:nvSpPr>
          <p:cNvPr id="22" name="TextBox 21"/>
          <p:cNvSpPr txBox="1"/>
          <p:nvPr/>
        </p:nvSpPr>
        <p:spPr>
          <a:xfrm>
            <a:off x="5022342" y="3031617"/>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Process explicite, rôles définis</a:t>
            </a:r>
            <a:r>
              <a:rPr sz="850" b="0" i="0">
                <a:solidFill>
                  <a:srgbClr val="0E2356"/>
                </a:solidFill>
                <a:latin typeface="Outfit"/>
              </a:rPr>
              <a:t> — l'agent n'arrive qu'une fois le process écrit.</a:t>
            </a:r>
          </a:p>
        </p:txBody>
      </p:sp>
      <p:sp>
        <p:nvSpPr>
          <p:cNvPr id="23" name="Rounded Rectangle 22"/>
          <p:cNvSpPr/>
          <p:nvPr/>
        </p:nvSpPr>
        <p:spPr>
          <a:xfrm>
            <a:off x="562356" y="3557524"/>
            <a:ext cx="3472434" cy="452755"/>
          </a:xfrm>
          <a:prstGeom prst="roundRect">
            <a:avLst>
              <a:gd name="adj" fmla="val 12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894326" y="3557524"/>
            <a:ext cx="3472434" cy="452755"/>
          </a:xfrm>
          <a:prstGeom prst="roundRect">
            <a:avLst>
              <a:gd name="adj" fmla="val 12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 y="3557524"/>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Un pilotage dans la douleur</a:t>
            </a:r>
            <a:r>
              <a:rPr sz="850" b="0" i="0">
                <a:solidFill>
                  <a:srgbClr val="586586"/>
                </a:solidFill>
                <a:latin typeface="Outfit"/>
              </a:rPr>
              <a:t> — trop de sujets pour trop peu de capacité.</a:t>
            </a:r>
          </a:p>
        </p:txBody>
      </p:sp>
      <p:sp>
        <p:nvSpPr>
          <p:cNvPr id="26" name="TextBox 25"/>
          <p:cNvSpPr txBox="1"/>
          <p:nvPr/>
        </p:nvSpPr>
        <p:spPr>
          <a:xfrm>
            <a:off x="5022342" y="3557524"/>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Des évolutions tech atteignables</a:t>
            </a:r>
            <a:r>
              <a:rPr sz="850" b="0" i="0">
                <a:solidFill>
                  <a:srgbClr val="0E2356"/>
                </a:solidFill>
                <a:latin typeface="Outfit"/>
              </a:rPr>
              <a:t> — un pilotage serein, des priorités tenues.</a:t>
            </a:r>
          </a:p>
        </p:txBody>
      </p:sp>
      <p:sp>
        <p:nvSpPr>
          <p:cNvPr id="27" name="Right Arrow 26"/>
          <p:cNvSpPr/>
          <p:nvPr/>
        </p:nvSpPr>
        <p:spPr>
          <a:xfrm>
            <a:off x="4144518" y="1682495"/>
            <a:ext cx="640080" cy="2099183"/>
          </a:xfrm>
          <a:prstGeom prst="rightArrow">
            <a:avLst/>
          </a:prstGeom>
          <a:solidFill>
            <a:srgbClr val="FFFFFF"/>
          </a:solidFill>
          <a:ln w="285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2356" y="4337304"/>
            <a:ext cx="7804404" cy="6461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6364" y="4428744"/>
            <a:ext cx="45720" cy="463295"/>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947" y="4355591"/>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31" name="TextBox 30"/>
          <p:cNvSpPr txBox="1"/>
          <p:nvPr/>
        </p:nvSpPr>
        <p:spPr>
          <a:xfrm>
            <a:off x="1074420" y="4337304"/>
            <a:ext cx="7109460" cy="646176"/>
          </a:xfrm>
          <a:prstGeom prst="rect">
            <a:avLst/>
          </a:prstGeom>
          <a:noFill/>
        </p:spPr>
        <p:txBody>
          <a:bodyPr wrap="square" anchor="ctr" lIns="0" rIns="0" tIns="0" bIns="0">
            <a:spAutoFit/>
          </a:bodyPr>
          <a:lstStyle/>
          <a:p>
            <a:pPr algn="ctr"/>
            <a:r>
              <a:rPr sz="1100" b="1" i="0">
                <a:solidFill>
                  <a:srgbClr val="FFFFFF"/>
                </a:solidFill>
                <a:latin typeface="Outfit"/>
              </a:rPr>
              <a:t>Faire les bonnes choses au bon moment, un backlog piloté, des résultats concrets — l'agentique accélère la démarche, il ne la remplace pas.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L'offre</a:t>
            </a:r>
          </a:p>
          <a:p>
            <a:r>
              <a:rPr sz="1050" i="1">
                <a:solidFill>
                  <a:srgbClr val="586586"/>
                </a:solidFill>
                <a:latin typeface="Outfit"/>
              </a:rPr>
              <a:t>La thèse, le gaspillage traité à deux, et la cible Platform Team.</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forest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L'OFFRE   ·   </a:t>
            </a:r>
            <a:r>
              <a:rPr b="1" sz="1250">
                <a:solidFill>
                  <a:srgbClr val="0E2356"/>
                </a:solidFill>
                <a:latin typeface="Outfit"/>
              </a:rPr>
              <a:t>Pourquoi « Infrastructure as a Product » — le socle de la proposition</a:t>
            </a:r>
          </a:p>
        </p:txBody>
      </p:sp>
      <p:sp>
        <p:nvSpPr>
          <p:cNvPr id="3" name="Rounded Rectangle 2"/>
          <p:cNvSpPr/>
          <p:nvPr/>
        </p:nvSpPr>
        <p:spPr>
          <a:xfrm>
            <a:off x="562356" y="1051560"/>
            <a:ext cx="7804404" cy="86868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051560"/>
            <a:ext cx="73152" cy="8686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6676" y="1051560"/>
            <a:ext cx="7347204" cy="868680"/>
          </a:xfrm>
          <a:prstGeom prst="rect">
            <a:avLst/>
          </a:prstGeom>
          <a:noFill/>
        </p:spPr>
        <p:txBody>
          <a:bodyPr wrap="square" anchor="ctr" lIns="0" rIns="0" tIns="0" bIns="0">
            <a:noAutofit/>
          </a:bodyPr>
          <a:lstStyle/>
          <a:p>
            <a:pPr algn="l">
              <a:lnSpc>
                <a:spcPct val="105000"/>
              </a:lnSpc>
            </a:pPr>
            <a:r>
              <a:rPr sz="1400" b="1" i="0">
                <a:solidFill>
                  <a:srgbClr val="0E2356"/>
                </a:solidFill>
                <a:latin typeface="Outfit"/>
              </a:rPr>
              <a:t>Traiter l'infrastructure comme un produit, pas comme un guichet de tickets.</a:t>
            </a:r>
          </a:p>
          <a:p>
            <a:pPr algn="l">
              <a:lnSpc>
                <a:spcPct val="115000"/>
              </a:lnSpc>
              <a:spcBef>
                <a:spcPts val="400"/>
              </a:spcBef>
            </a:pPr>
            <a:r>
              <a:rPr sz="900" b="0" i="0">
                <a:solidFill>
                  <a:srgbClr val="586586"/>
                </a:solidFill>
                <a:latin typeface="Outfit"/>
              </a:rPr>
              <a:t>Un produit a des utilisateurs, un cycle de vie et une valeur mesurée — trois bascules qui répondent directement aux personas et à leurs douleurs.</a:t>
            </a:r>
          </a:p>
        </p:txBody>
      </p:sp>
      <p:sp>
        <p:nvSpPr>
          <p:cNvPr id="6" name="Rounded Rectangle 5"/>
          <p:cNvSpPr/>
          <p:nvPr/>
        </p:nvSpPr>
        <p:spPr>
          <a:xfrm>
            <a:off x="562356" y="2468879"/>
            <a:ext cx="7804404" cy="2514600"/>
          </a:xfrm>
          <a:prstGeom prst="roundRect">
            <a:avLst>
              <a:gd name="adj" fmla="val 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16786"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1</a:t>
            </a:r>
          </a:p>
        </p:txBody>
      </p:sp>
      <p:sp>
        <p:nvSpPr>
          <p:cNvPr id="9" name="Rectangle 8"/>
          <p:cNvSpPr/>
          <p:nvPr/>
        </p:nvSpPr>
        <p:spPr>
          <a:xfrm>
            <a:off x="1853031"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Des utilisateurs, pas des tickets</a:t>
            </a:r>
          </a:p>
        </p:txBody>
      </p:sp>
      <p:sp>
        <p:nvSpPr>
          <p:cNvPr id="11" name="TextBox 10"/>
          <p:cNvSpPr txBox="1"/>
          <p:nvPr/>
        </p:nvSpPr>
        <p:spPr>
          <a:xfrm>
            <a:off x="781812"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conçoit l'adoption — self-service, onboarding, parcours — au lieu de subir un guichet que le contournement rend inutile.</a:t>
            </a:r>
          </a:p>
        </p:txBody>
      </p:sp>
      <p:sp>
        <p:nvSpPr>
          <p:cNvPr id="12" name="TextBox 11"/>
          <p:cNvSpPr txBox="1"/>
          <p:nvPr/>
        </p:nvSpPr>
        <p:spPr>
          <a:xfrm>
            <a:off x="781812"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13" name="Rounded Rectangle 12"/>
          <p:cNvSpPr/>
          <p:nvPr/>
        </p:nvSpPr>
        <p:spPr>
          <a:xfrm>
            <a:off x="781812"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l'Utilisateur applicatif</a:t>
            </a:r>
          </a:p>
        </p:txBody>
      </p:sp>
      <p:sp>
        <p:nvSpPr>
          <p:cNvPr id="15" name="Rounded Rectangle 14"/>
          <p:cNvSpPr/>
          <p:nvPr/>
        </p:nvSpPr>
        <p:spPr>
          <a:xfrm>
            <a:off x="4318254"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2</a:t>
            </a:r>
          </a:p>
        </p:txBody>
      </p:sp>
      <p:sp>
        <p:nvSpPr>
          <p:cNvPr id="17" name="Rectangle 16"/>
          <p:cNvSpPr/>
          <p:nvPr/>
        </p:nvSpPr>
        <p:spPr>
          <a:xfrm>
            <a:off x="4454499"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63824"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cycle de vie, une équipe qui en répond</a:t>
            </a:r>
          </a:p>
        </p:txBody>
      </p:sp>
      <p:sp>
        <p:nvSpPr>
          <p:cNvPr id="20" name="TextBox 19"/>
          <p:cNvSpPr txBox="1"/>
          <p:nvPr/>
        </p:nvSpPr>
        <p:spPr>
          <a:xfrm>
            <a:off x="3383280"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 produit a un propriétaire, une roadmap et une dette gérée : on sort du RUN subi et on récupère de la capacité.</a:t>
            </a:r>
          </a:p>
        </p:txBody>
      </p:sp>
      <p:sp>
        <p:nvSpPr>
          <p:cNvPr id="21" name="TextBox 20"/>
          <p:cNvSpPr txBox="1"/>
          <p:nvPr/>
        </p:nvSpPr>
        <p:spPr>
          <a:xfrm>
            <a:off x="3383280"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22" name="Rounded Rectangle 21"/>
          <p:cNvSpPr/>
          <p:nvPr/>
        </p:nvSpPr>
        <p:spPr>
          <a:xfrm>
            <a:off x="3383280"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Infra &amp; RUN</a:t>
            </a:r>
          </a:p>
        </p:txBody>
      </p:sp>
      <p:sp>
        <p:nvSpPr>
          <p:cNvPr id="24" name="Rounded Rectangle 23"/>
          <p:cNvSpPr/>
          <p:nvPr/>
        </p:nvSpPr>
        <p:spPr>
          <a:xfrm>
            <a:off x="6919722"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5292"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3</a:t>
            </a:r>
          </a:p>
        </p:txBody>
      </p:sp>
      <p:sp>
        <p:nvSpPr>
          <p:cNvPr id="26" name="Rectangle 25"/>
          <p:cNvSpPr/>
          <p:nvPr/>
        </p:nvSpPr>
        <p:spPr>
          <a:xfrm>
            <a:off x="7055967"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5292"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4748"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pilotage par la valeur</a:t>
            </a:r>
          </a:p>
        </p:txBody>
      </p:sp>
      <p:sp>
        <p:nvSpPr>
          <p:cNvPr id="29" name="TextBox 28"/>
          <p:cNvSpPr txBox="1"/>
          <p:nvPr/>
        </p:nvSpPr>
        <p:spPr>
          <a:xfrm>
            <a:off x="5984748"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mesure l'usage et la valeur produite, pas l'activité : un signal de flux fiable, des KPIs de mission — pas du reporting-miroir.</a:t>
            </a:r>
          </a:p>
        </p:txBody>
      </p:sp>
      <p:sp>
        <p:nvSpPr>
          <p:cNvPr id="30" name="TextBox 29"/>
          <p:cNvSpPr txBox="1"/>
          <p:nvPr/>
        </p:nvSpPr>
        <p:spPr>
          <a:xfrm>
            <a:off x="5984748"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31" name="Rounded Rectangle 30"/>
          <p:cNvSpPr/>
          <p:nvPr/>
        </p:nvSpPr>
        <p:spPr>
          <a:xfrm>
            <a:off x="5984748"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84748"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Management &amp; Sponsor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L'OFFRE   ·   </a:t>
            </a:r>
            <a:r>
              <a:rPr b="1" sz="1200">
                <a:solidFill>
                  <a:srgbClr val="0E2356"/>
                </a:solidFill>
                <a:latin typeface="Outfit"/>
              </a:rPr>
              <a:t>Repérer, prioriser, tenir : le gaspillage se traite à deux, sinon il retourne à personne</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900" b="0" i="1">
                <a:solidFill>
                  <a:srgbClr val="0E2356"/>
                </a:solidFill>
                <a:latin typeface="Outfit"/>
              </a:rPr>
              <a:t>Même chemin pour chaque famille, avec le client. Score de priorité = (impact × faisabilité) − prudence IA : ordinal, il éclaire l'arbitrage humain sans le remplacer.</a:t>
            </a:r>
          </a:p>
        </p:txBody>
      </p:sp>
      <p:sp>
        <p:nvSpPr>
          <p:cNvPr id="4" name="Rounded Rectangle 3"/>
          <p:cNvSpPr/>
          <p:nvPr/>
        </p:nvSpPr>
        <p:spPr>
          <a:xfrm>
            <a:off x="562356" y="1636776"/>
            <a:ext cx="2418588" cy="3136391"/>
          </a:xfrm>
          <a:prstGeom prst="roundRect">
            <a:avLst>
              <a:gd name="adj" fmla="val 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8660" y="1472184"/>
            <a:ext cx="329184" cy="32918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1472184"/>
            <a:ext cx="329184" cy="329184"/>
          </a:xfrm>
          <a:prstGeom prst="rect">
            <a:avLst/>
          </a:prstGeom>
          <a:noFill/>
        </p:spPr>
        <p:txBody>
          <a:bodyPr wrap="square" anchor="ctr" lIns="0" rIns="0" tIns="0" bIns="0">
            <a:noAutofit/>
          </a:bodyPr>
          <a:lstStyle/>
          <a:p>
            <a:pPr algn="ctr"/>
            <a:r>
              <a:rPr sz="1200" b="1" i="0">
                <a:solidFill>
                  <a:srgbClr val="FFFFFF"/>
                </a:solidFill>
                <a:latin typeface="Outfit"/>
              </a:rPr>
              <a:t>1</a:t>
            </a:r>
          </a:p>
        </p:txBody>
      </p:sp>
      <p:sp>
        <p:nvSpPr>
          <p:cNvPr id="7" name="TextBox 6"/>
          <p:cNvSpPr txBox="1"/>
          <p:nvPr/>
        </p:nvSpPr>
        <p:spPr>
          <a:xfrm>
            <a:off x="708660" y="1874519"/>
            <a:ext cx="2125980" cy="256032"/>
          </a:xfrm>
          <a:prstGeom prst="rect">
            <a:avLst/>
          </a:prstGeom>
          <a:noFill/>
        </p:spPr>
        <p:txBody>
          <a:bodyPr wrap="square" anchor="t" lIns="0" rIns="0" tIns="0" bIns="0">
            <a:spAutoFit/>
          </a:bodyPr>
          <a:lstStyle/>
          <a:p>
            <a:pPr algn="l"/>
            <a:r>
              <a:rPr sz="1300" b="1" i="0">
                <a:solidFill>
                  <a:srgbClr val="0E2356"/>
                </a:solidFill>
                <a:latin typeface="Outfit"/>
              </a:rPr>
              <a:t>Repérer</a:t>
            </a:r>
            <a:r>
              <a:rPr sz="1000" b="0" i="0">
                <a:solidFill>
                  <a:srgbClr val="586586"/>
                </a:solidFill>
                <a:latin typeface="Outfit"/>
              </a:rPr>
              <a:t> et chiffrer</a:t>
            </a:r>
          </a:p>
        </p:txBody>
      </p:sp>
      <p:sp>
        <p:nvSpPr>
          <p:cNvPr id="8" name="TextBox 7"/>
          <p:cNvSpPr txBox="1"/>
          <p:nvPr/>
        </p:nvSpPr>
        <p:spPr>
          <a:xfrm>
            <a:off x="708660" y="2148839"/>
            <a:ext cx="2125980" cy="425196"/>
          </a:xfrm>
          <a:prstGeom prst="rect">
            <a:avLst/>
          </a:prstGeom>
          <a:noFill/>
        </p:spPr>
        <p:txBody>
          <a:bodyPr wrap="square" anchor="t" lIns="0" rIns="0" tIns="0" bIns="0">
            <a:noAutofit/>
          </a:bodyPr>
          <a:lstStyle/>
          <a:p>
            <a:pPr algn="l">
              <a:lnSpc>
                <a:spcPct val="120000"/>
              </a:lnSpc>
            </a:pPr>
            <a:r>
              <a:rPr sz="850" b="0" i="0">
                <a:solidFill>
                  <a:srgbClr val="0E2356"/>
                </a:solidFill>
                <a:latin typeface="Outfit"/>
              </a:rPr>
              <a:t>On détecte chaque gaspillage et on le quantifie, preuves à l'appui.</a:t>
            </a:r>
          </a:p>
        </p:txBody>
      </p:sp>
      <p:sp>
        <p:nvSpPr>
          <p:cNvPr id="9" name="TextBox 8"/>
          <p:cNvSpPr txBox="1"/>
          <p:nvPr/>
        </p:nvSpPr>
        <p:spPr>
          <a:xfrm>
            <a:off x="708660" y="2665475"/>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CLIENT</a:t>
            </a:r>
          </a:p>
          <a:p>
            <a:pPr algn="l">
              <a:lnSpc>
                <a:spcPct val="120000"/>
              </a:lnSpc>
            </a:pPr>
            <a:r>
              <a:rPr sz="850" b="0" i="0">
                <a:solidFill>
                  <a:srgbClr val="0E2356"/>
                </a:solidFill>
                <a:latin typeface="Outfit"/>
              </a:rPr>
              <a:t>Ouvre ses données — CMDB, facturation, tickets — et nomme ce qui le gêne vraiment.</a:t>
            </a:r>
          </a:p>
        </p:txBody>
      </p:sp>
      <p:sp>
        <p:nvSpPr>
          <p:cNvPr id="10" name="TextBox 9"/>
          <p:cNvSpPr txBox="1"/>
          <p:nvPr/>
        </p:nvSpPr>
        <p:spPr>
          <a:xfrm>
            <a:off x="708660" y="3300983"/>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OCTO</a:t>
            </a:r>
          </a:p>
          <a:p>
            <a:pPr algn="l">
              <a:lnSpc>
                <a:spcPct val="120000"/>
              </a:lnSpc>
            </a:pPr>
            <a:r>
              <a:rPr sz="850" b="0" i="0">
                <a:solidFill>
                  <a:srgbClr val="0E2356"/>
                </a:solidFill>
                <a:latin typeface="Outfit"/>
              </a:rPr>
              <a:t>Apporte la grille des 8 familles et la méthode de quantification.</a:t>
            </a:r>
          </a:p>
        </p:txBody>
      </p:sp>
      <p:sp>
        <p:nvSpPr>
          <p:cNvPr id="11" name="Rounded Rectangle 10"/>
          <p:cNvSpPr/>
          <p:nvPr/>
        </p:nvSpPr>
        <p:spPr>
          <a:xfrm>
            <a:off x="635508" y="3973067"/>
            <a:ext cx="2272284" cy="7086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508" y="4027931"/>
            <a:ext cx="45720" cy="5989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 y="4037075"/>
            <a:ext cx="2071116" cy="617220"/>
          </a:xfrm>
          <a:prstGeom prst="rect">
            <a:avLst/>
          </a:prstGeom>
          <a:noFill/>
        </p:spPr>
        <p:txBody>
          <a:bodyPr wrap="square" anchor="t" lIns="0" rIns="0" tIns="0" bIns="0">
            <a:noAutofit/>
          </a:bodyPr>
          <a:lstStyle/>
          <a:p>
            <a:pPr algn="l"/>
            <a:r>
              <a:rPr sz="800" b="1" i="0">
                <a:solidFill>
                  <a:srgbClr val="0E2356"/>
                </a:solidFill>
                <a:latin typeface="Outfit"/>
              </a:rPr>
              <a:t>TRANCHÉ ENSEMBLE</a:t>
            </a:r>
          </a:p>
          <a:p>
            <a:pPr algn="l">
              <a:lnSpc>
                <a:spcPct val="120000"/>
              </a:lnSpc>
            </a:pPr>
            <a:r>
              <a:rPr sz="850" b="1" i="0">
                <a:solidFill>
                  <a:srgbClr val="0E2356"/>
                </a:solidFill>
                <a:latin typeface="Outfit"/>
              </a:rPr>
              <a:t>Le périmètre mesuré, et ce qu'on accepte d'appeler gaspillage.</a:t>
            </a:r>
          </a:p>
        </p:txBody>
      </p:sp>
      <p:sp>
        <p:nvSpPr>
          <p:cNvPr id="14" name="TextBox 13"/>
          <p:cNvSpPr txBox="1"/>
          <p:nvPr/>
        </p:nvSpPr>
        <p:spPr>
          <a:xfrm>
            <a:off x="2980944" y="3067811"/>
            <a:ext cx="274320" cy="274320"/>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5" name="Rounded Rectangle 14"/>
          <p:cNvSpPr/>
          <p:nvPr/>
        </p:nvSpPr>
        <p:spPr>
          <a:xfrm>
            <a:off x="3255263" y="1636776"/>
            <a:ext cx="2418588" cy="3136391"/>
          </a:xfrm>
          <a:prstGeom prst="roundRect">
            <a:avLst>
              <a:gd name="adj" fmla="val 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401568" y="1472184"/>
            <a:ext cx="329184" cy="32918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1568" y="1472184"/>
            <a:ext cx="329184" cy="329184"/>
          </a:xfrm>
          <a:prstGeom prst="rect">
            <a:avLst/>
          </a:prstGeom>
          <a:noFill/>
        </p:spPr>
        <p:txBody>
          <a:bodyPr wrap="square" anchor="ctr" lIns="0" rIns="0" tIns="0" bIns="0">
            <a:noAutofit/>
          </a:bodyPr>
          <a:lstStyle/>
          <a:p>
            <a:pPr algn="ctr"/>
            <a:r>
              <a:rPr sz="1200" b="1" i="0">
                <a:solidFill>
                  <a:srgbClr val="FFFFFF"/>
                </a:solidFill>
                <a:latin typeface="Outfit"/>
              </a:rPr>
              <a:t>2</a:t>
            </a:r>
          </a:p>
        </p:txBody>
      </p:sp>
      <p:sp>
        <p:nvSpPr>
          <p:cNvPr id="18" name="TextBox 17"/>
          <p:cNvSpPr txBox="1"/>
          <p:nvPr/>
        </p:nvSpPr>
        <p:spPr>
          <a:xfrm>
            <a:off x="3401568" y="1874519"/>
            <a:ext cx="2125980" cy="256032"/>
          </a:xfrm>
          <a:prstGeom prst="rect">
            <a:avLst/>
          </a:prstGeom>
          <a:noFill/>
        </p:spPr>
        <p:txBody>
          <a:bodyPr wrap="square" anchor="t" lIns="0" rIns="0" tIns="0" bIns="0">
            <a:spAutoFit/>
          </a:bodyPr>
          <a:lstStyle/>
          <a:p>
            <a:pPr algn="l"/>
            <a:r>
              <a:rPr sz="1300" b="1" i="0">
                <a:solidFill>
                  <a:srgbClr val="0E2356"/>
                </a:solidFill>
                <a:latin typeface="Outfit"/>
              </a:rPr>
              <a:t>Prioriser</a:t>
            </a:r>
            <a:r>
              <a:rPr sz="1000" b="0" i="0">
                <a:solidFill>
                  <a:srgbClr val="586586"/>
                </a:solidFill>
                <a:latin typeface="Outfit"/>
              </a:rPr>
              <a:t> dans un backlog</a:t>
            </a:r>
          </a:p>
        </p:txBody>
      </p:sp>
      <p:sp>
        <p:nvSpPr>
          <p:cNvPr id="19" name="TextBox 18"/>
          <p:cNvSpPr txBox="1"/>
          <p:nvPr/>
        </p:nvSpPr>
        <p:spPr>
          <a:xfrm>
            <a:off x="3401568" y="2148839"/>
            <a:ext cx="2125980" cy="425196"/>
          </a:xfrm>
          <a:prstGeom prst="rect">
            <a:avLst/>
          </a:prstGeom>
          <a:noFill/>
        </p:spPr>
        <p:txBody>
          <a:bodyPr wrap="square" anchor="t" lIns="0" rIns="0" tIns="0" bIns="0">
            <a:noAutofit/>
          </a:bodyPr>
          <a:lstStyle/>
          <a:p>
            <a:pPr algn="l">
              <a:lnSpc>
                <a:spcPct val="120000"/>
              </a:lnSpc>
            </a:pPr>
            <a:r>
              <a:rPr sz="850" b="0" i="0">
                <a:solidFill>
                  <a:srgbClr val="0E2356"/>
                </a:solidFill>
                <a:latin typeface="Outfit"/>
              </a:rPr>
              <a:t>Chaque gaspillage reçoit un score et prend sa place dans le backlog.</a:t>
            </a:r>
          </a:p>
        </p:txBody>
      </p:sp>
      <p:sp>
        <p:nvSpPr>
          <p:cNvPr id="20" name="TextBox 19"/>
          <p:cNvSpPr txBox="1"/>
          <p:nvPr/>
        </p:nvSpPr>
        <p:spPr>
          <a:xfrm>
            <a:off x="3401568" y="2665475"/>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CLIENT</a:t>
            </a:r>
          </a:p>
          <a:p>
            <a:pPr algn="l">
              <a:lnSpc>
                <a:spcPct val="120000"/>
              </a:lnSpc>
            </a:pPr>
            <a:r>
              <a:rPr sz="850" b="0" i="0">
                <a:solidFill>
                  <a:srgbClr val="0E2356"/>
                </a:solidFill>
                <a:latin typeface="Outfit"/>
              </a:rPr>
              <a:t>Arbitre ce qu'aucune équipe ne tranche seule : fermer, standardiser, décommissionner.</a:t>
            </a:r>
          </a:p>
        </p:txBody>
      </p:sp>
      <p:sp>
        <p:nvSpPr>
          <p:cNvPr id="21" name="TextBox 20"/>
          <p:cNvSpPr txBox="1"/>
          <p:nvPr/>
        </p:nvSpPr>
        <p:spPr>
          <a:xfrm>
            <a:off x="3401568" y="3300983"/>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OCTO</a:t>
            </a:r>
          </a:p>
          <a:p>
            <a:pPr algn="l">
              <a:lnSpc>
                <a:spcPct val="120000"/>
              </a:lnSpc>
            </a:pPr>
            <a:r>
              <a:rPr sz="850" b="0" i="0">
                <a:solidFill>
                  <a:srgbClr val="0E2356"/>
                </a:solidFill>
                <a:latin typeface="Outfit"/>
              </a:rPr>
              <a:t>Instruit les causes racines et propose le score — une proposition, jamais un verdict.</a:t>
            </a:r>
          </a:p>
        </p:txBody>
      </p:sp>
      <p:sp>
        <p:nvSpPr>
          <p:cNvPr id="22" name="Rounded Rectangle 21"/>
          <p:cNvSpPr/>
          <p:nvPr/>
        </p:nvSpPr>
        <p:spPr>
          <a:xfrm>
            <a:off x="3328415" y="3973067"/>
            <a:ext cx="2272284" cy="7086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328415" y="4027931"/>
            <a:ext cx="45720" cy="5989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56432" y="4037075"/>
            <a:ext cx="2071116" cy="617220"/>
          </a:xfrm>
          <a:prstGeom prst="rect">
            <a:avLst/>
          </a:prstGeom>
          <a:noFill/>
        </p:spPr>
        <p:txBody>
          <a:bodyPr wrap="square" anchor="t" lIns="0" rIns="0" tIns="0" bIns="0">
            <a:noAutofit/>
          </a:bodyPr>
          <a:lstStyle/>
          <a:p>
            <a:pPr algn="l"/>
            <a:r>
              <a:rPr sz="800" b="1" i="0">
                <a:solidFill>
                  <a:srgbClr val="0E2356"/>
                </a:solidFill>
                <a:latin typeface="Outfit"/>
              </a:rPr>
              <a:t>TRANCHÉ ENSEMBLE</a:t>
            </a:r>
          </a:p>
          <a:p>
            <a:pPr algn="l">
              <a:lnSpc>
                <a:spcPct val="120000"/>
              </a:lnSpc>
            </a:pPr>
            <a:r>
              <a:rPr sz="850" b="1" i="0">
                <a:solidFill>
                  <a:srgbClr val="0E2356"/>
                </a:solidFill>
                <a:latin typeface="Outfit"/>
              </a:rPr>
              <a:t>Le backlog priorisé et, pour chaque ligne, le porteur nommé.</a:t>
            </a:r>
          </a:p>
        </p:txBody>
      </p:sp>
      <p:sp>
        <p:nvSpPr>
          <p:cNvPr id="25" name="TextBox 24"/>
          <p:cNvSpPr txBox="1"/>
          <p:nvPr/>
        </p:nvSpPr>
        <p:spPr>
          <a:xfrm>
            <a:off x="5673852" y="3067811"/>
            <a:ext cx="274320" cy="274320"/>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6" name="Rounded Rectangle 25"/>
          <p:cNvSpPr/>
          <p:nvPr/>
        </p:nvSpPr>
        <p:spPr>
          <a:xfrm>
            <a:off x="5948172" y="1636776"/>
            <a:ext cx="2418588" cy="3136391"/>
          </a:xfrm>
          <a:prstGeom prst="roundRect">
            <a:avLst>
              <a:gd name="adj" fmla="val 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094476" y="1472184"/>
            <a:ext cx="329184" cy="32918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94476" y="1472184"/>
            <a:ext cx="329184" cy="329184"/>
          </a:xfrm>
          <a:prstGeom prst="rect">
            <a:avLst/>
          </a:prstGeom>
          <a:noFill/>
        </p:spPr>
        <p:txBody>
          <a:bodyPr wrap="square" anchor="ctr" lIns="0" rIns="0" tIns="0" bIns="0">
            <a:noAutofit/>
          </a:bodyPr>
          <a:lstStyle/>
          <a:p>
            <a:pPr algn="ctr"/>
            <a:r>
              <a:rPr sz="1200" b="1" i="0">
                <a:solidFill>
                  <a:srgbClr val="FFFFFF"/>
                </a:solidFill>
                <a:latin typeface="Outfit"/>
              </a:rPr>
              <a:t>3</a:t>
            </a:r>
          </a:p>
        </p:txBody>
      </p:sp>
      <p:sp>
        <p:nvSpPr>
          <p:cNvPr id="29" name="TextBox 28"/>
          <p:cNvSpPr txBox="1"/>
          <p:nvPr/>
        </p:nvSpPr>
        <p:spPr>
          <a:xfrm>
            <a:off x="6094476" y="1874519"/>
            <a:ext cx="2125980" cy="256032"/>
          </a:xfrm>
          <a:prstGeom prst="rect">
            <a:avLst/>
          </a:prstGeom>
          <a:noFill/>
        </p:spPr>
        <p:txBody>
          <a:bodyPr wrap="square" anchor="t" lIns="0" rIns="0" tIns="0" bIns="0">
            <a:spAutoFit/>
          </a:bodyPr>
          <a:lstStyle/>
          <a:p>
            <a:pPr algn="l"/>
            <a:r>
              <a:rPr sz="1300" b="1" i="0">
                <a:solidFill>
                  <a:srgbClr val="0E2356"/>
                </a:solidFill>
                <a:latin typeface="Outfit"/>
              </a:rPr>
              <a:t>Tenir</a:t>
            </a:r>
            <a:r>
              <a:rPr sz="1000" b="0" i="0">
                <a:solidFill>
                  <a:srgbClr val="586586"/>
                </a:solidFill>
                <a:latin typeface="Outfit"/>
              </a:rPr>
              <a:t> dans la durée</a:t>
            </a:r>
          </a:p>
        </p:txBody>
      </p:sp>
      <p:sp>
        <p:nvSpPr>
          <p:cNvPr id="30" name="TextBox 29"/>
          <p:cNvSpPr txBox="1"/>
          <p:nvPr/>
        </p:nvSpPr>
        <p:spPr>
          <a:xfrm>
            <a:off x="6094476" y="2148839"/>
            <a:ext cx="2125980" cy="425196"/>
          </a:xfrm>
          <a:prstGeom prst="rect">
            <a:avLst/>
          </a:prstGeom>
          <a:noFill/>
        </p:spPr>
        <p:txBody>
          <a:bodyPr wrap="square" anchor="t" lIns="0" rIns="0" tIns="0" bIns="0">
            <a:noAutofit/>
          </a:bodyPr>
          <a:lstStyle/>
          <a:p>
            <a:pPr algn="l">
              <a:lnSpc>
                <a:spcPct val="120000"/>
              </a:lnSpc>
            </a:pPr>
            <a:r>
              <a:rPr sz="850" b="0" i="0">
                <a:solidFill>
                  <a:srgbClr val="0E2356"/>
                </a:solidFill>
                <a:latin typeface="Outfit"/>
              </a:rPr>
              <a:t>On expérimente, on mesure le delta réel, puis on industrialise.</a:t>
            </a:r>
          </a:p>
        </p:txBody>
      </p:sp>
      <p:sp>
        <p:nvSpPr>
          <p:cNvPr id="31" name="TextBox 30"/>
          <p:cNvSpPr txBox="1"/>
          <p:nvPr/>
        </p:nvSpPr>
        <p:spPr>
          <a:xfrm>
            <a:off x="6094476" y="2665475"/>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CLIENT</a:t>
            </a:r>
          </a:p>
          <a:p>
            <a:pPr algn="l">
              <a:lnSpc>
                <a:spcPct val="120000"/>
              </a:lnSpc>
            </a:pPr>
            <a:r>
              <a:rPr sz="850" b="0" i="0">
                <a:solidFill>
                  <a:srgbClr val="0E2356"/>
                </a:solidFill>
                <a:latin typeface="Outfit"/>
              </a:rPr>
              <a:t>Porte les expérimentations et libère le temps qu'elles demandent.</a:t>
            </a:r>
          </a:p>
        </p:txBody>
      </p:sp>
      <p:sp>
        <p:nvSpPr>
          <p:cNvPr id="32" name="TextBox 31"/>
          <p:cNvSpPr txBox="1"/>
          <p:nvPr/>
        </p:nvSpPr>
        <p:spPr>
          <a:xfrm>
            <a:off x="6094476" y="3300983"/>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OCTO</a:t>
            </a:r>
          </a:p>
          <a:p>
            <a:pPr algn="l">
              <a:lnSpc>
                <a:spcPct val="120000"/>
              </a:lnSpc>
            </a:pPr>
            <a:r>
              <a:rPr sz="850" b="0" i="0">
                <a:solidFill>
                  <a:srgbClr val="0E2356"/>
                </a:solidFill>
                <a:latin typeface="Outfit"/>
              </a:rPr>
              <a:t>Outille, mesure le delta réel et industrialise ce qui a marché.</a:t>
            </a:r>
          </a:p>
        </p:txBody>
      </p:sp>
      <p:sp>
        <p:nvSpPr>
          <p:cNvPr id="33" name="Rounded Rectangle 32"/>
          <p:cNvSpPr/>
          <p:nvPr/>
        </p:nvSpPr>
        <p:spPr>
          <a:xfrm>
            <a:off x="6021324" y="3973067"/>
            <a:ext cx="2272284" cy="7086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021324" y="4027931"/>
            <a:ext cx="45720" cy="5989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9340" y="4037075"/>
            <a:ext cx="2071116" cy="617220"/>
          </a:xfrm>
          <a:prstGeom prst="rect">
            <a:avLst/>
          </a:prstGeom>
          <a:noFill/>
        </p:spPr>
        <p:txBody>
          <a:bodyPr wrap="square" anchor="t" lIns="0" rIns="0" tIns="0" bIns="0">
            <a:noAutofit/>
          </a:bodyPr>
          <a:lstStyle/>
          <a:p>
            <a:pPr algn="l"/>
            <a:r>
              <a:rPr sz="800" b="1" i="0">
                <a:solidFill>
                  <a:srgbClr val="0E2356"/>
                </a:solidFill>
                <a:latin typeface="Outfit"/>
              </a:rPr>
              <a:t>TRANCHÉ ENSEMBLE</a:t>
            </a:r>
          </a:p>
          <a:p>
            <a:pPr algn="l">
              <a:lnSpc>
                <a:spcPct val="120000"/>
              </a:lnSpc>
            </a:pPr>
            <a:r>
              <a:rPr sz="850" b="1" i="0">
                <a:solidFill>
                  <a:srgbClr val="0E2356"/>
                </a:solidFill>
                <a:latin typeface="Outfit"/>
              </a:rPr>
              <a:t>Le seuil au-delà duquel on généralise — ou on arrête.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L'OFFRE   ·   </a:t>
            </a:r>
            <a:r>
              <a:rPr b="1" sz="1550">
                <a:solidFill>
                  <a:srgbClr val="0E2356"/>
                </a:solidFill>
                <a:latin typeface="Outfit"/>
              </a:rPr>
              <a:t>La cible IAP est une Platform Team — agents IA compris</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900" b="0" i="1">
                <a:solidFill>
                  <a:srgbClr val="0E2356"/>
                </a:solidFill>
                <a:latin typeface="Outfit"/>
              </a:rPr>
              <a:t>Team Topologies décrit 4 archétypes reliés entre eux : les 3 autres s'articulent autour de la Platform Team.</a:t>
            </a:r>
          </a:p>
        </p:txBody>
      </p:sp>
      <p:sp>
        <p:nvSpPr>
          <p:cNvPr id="4" name="TextBox 3"/>
          <p:cNvSpPr txBox="1"/>
          <p:nvPr/>
        </p:nvSpPr>
        <p:spPr>
          <a:xfrm>
            <a:off x="2784348" y="1271016"/>
            <a:ext cx="2743200" cy="182880"/>
          </a:xfrm>
          <a:prstGeom prst="rect">
            <a:avLst/>
          </a:prstGeom>
          <a:noFill/>
        </p:spPr>
        <p:txBody>
          <a:bodyPr wrap="square" anchor="t" lIns="0" rIns="0" tIns="0" bIns="0">
            <a:noAutofit/>
          </a:bodyPr>
          <a:lstStyle/>
          <a:p>
            <a:pPr algn="l"/>
            <a:r>
              <a:rPr sz="800" b="1" i="0">
                <a:solidFill>
                  <a:srgbClr val="586586"/>
                </a:solidFill>
                <a:latin typeface="Outfit"/>
              </a:rPr>
              <a:t>CE QU'IL APPORTE</a:t>
            </a:r>
          </a:p>
        </p:txBody>
      </p:sp>
      <p:sp>
        <p:nvSpPr>
          <p:cNvPr id="5" name="TextBox 4"/>
          <p:cNvSpPr txBox="1"/>
          <p:nvPr/>
        </p:nvSpPr>
        <p:spPr>
          <a:xfrm>
            <a:off x="5618988" y="1271016"/>
            <a:ext cx="2743200" cy="182880"/>
          </a:xfrm>
          <a:prstGeom prst="rect">
            <a:avLst/>
          </a:prstGeom>
          <a:noFill/>
        </p:spPr>
        <p:txBody>
          <a:bodyPr wrap="square" anchor="t" lIns="0" rIns="0" tIns="0" bIns="0">
            <a:noAutofit/>
          </a:bodyPr>
          <a:lstStyle/>
          <a:p>
            <a:pPr algn="l"/>
            <a:r>
              <a:rPr sz="800" b="1" i="0">
                <a:solidFill>
                  <a:srgbClr val="586586"/>
                </a:solidFill>
                <a:latin typeface="Outfit"/>
              </a:rPr>
              <a:t>DANS LA CIBLE IAP</a:t>
            </a:r>
          </a:p>
        </p:txBody>
      </p:sp>
      <p:sp>
        <p:nvSpPr>
          <p:cNvPr id="6" name="Rounded Rectangle 5"/>
          <p:cNvSpPr/>
          <p:nvPr/>
        </p:nvSpPr>
        <p:spPr>
          <a:xfrm>
            <a:off x="562356" y="1490472"/>
            <a:ext cx="2057400" cy="512064"/>
          </a:xfrm>
          <a:prstGeom prst="roundRect">
            <a:avLst>
              <a:gd name="adj" fmla="val 50000"/>
            </a:avLst>
          </a:prstGeom>
          <a:solidFill>
            <a:srgbClr val="0E2356"/>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490472"/>
            <a:ext cx="2057400" cy="512064"/>
          </a:xfrm>
          <a:prstGeom prst="rect">
            <a:avLst/>
          </a:prstGeom>
          <a:noFill/>
        </p:spPr>
        <p:txBody>
          <a:bodyPr wrap="square" anchor="ctr" lIns="0" rIns="0" tIns="0" bIns="0">
            <a:noAutofit/>
          </a:bodyPr>
          <a:lstStyle/>
          <a:p>
            <a:pPr algn="ctr"/>
            <a:r>
              <a:rPr sz="1050" b="1" i="0">
                <a:solidFill>
                  <a:srgbClr val="FFFFFF"/>
                </a:solidFill>
                <a:latin typeface="Outfit"/>
              </a:rPr>
              <a:t>Platform Team</a:t>
            </a:r>
          </a:p>
        </p:txBody>
      </p:sp>
      <p:sp>
        <p:nvSpPr>
          <p:cNvPr id="8" name="Rounded Rectangle 7"/>
          <p:cNvSpPr/>
          <p:nvPr/>
        </p:nvSpPr>
        <p:spPr>
          <a:xfrm>
            <a:off x="2711196" y="1490472"/>
            <a:ext cx="5655564" cy="512064"/>
          </a:xfrm>
          <a:prstGeom prst="roundRect">
            <a:avLst>
              <a:gd name="adj" fmla="val 50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9796" y="1490472"/>
            <a:ext cx="2606040" cy="512064"/>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Capacités en self-service (X-as-a-Service)</a:t>
            </a:r>
          </a:p>
        </p:txBody>
      </p:sp>
      <p:sp>
        <p:nvSpPr>
          <p:cNvPr id="10" name="TextBox 9"/>
          <p:cNvSpPr txBox="1"/>
          <p:nvPr/>
        </p:nvSpPr>
        <p:spPr>
          <a:xfrm>
            <a:off x="5545836" y="1490472"/>
            <a:ext cx="2683764" cy="512064"/>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La cible même de la transformation IAP</a:t>
            </a:r>
          </a:p>
        </p:txBody>
      </p:sp>
      <p:sp>
        <p:nvSpPr>
          <p:cNvPr id="11" name="Rounded Rectangle 10"/>
          <p:cNvSpPr/>
          <p:nvPr/>
        </p:nvSpPr>
        <p:spPr>
          <a:xfrm>
            <a:off x="562356" y="2112264"/>
            <a:ext cx="2057400" cy="51206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2356" y="2112264"/>
            <a:ext cx="2057400" cy="512064"/>
          </a:xfrm>
          <a:prstGeom prst="rect">
            <a:avLst/>
          </a:prstGeom>
          <a:noFill/>
        </p:spPr>
        <p:txBody>
          <a:bodyPr wrap="square" anchor="ctr" lIns="0" rIns="0" tIns="0" bIns="0">
            <a:noAutofit/>
          </a:bodyPr>
          <a:lstStyle/>
          <a:p>
            <a:pPr algn="ctr"/>
            <a:r>
              <a:rPr sz="1050" b="1" i="0">
                <a:solidFill>
                  <a:srgbClr val="0E2356"/>
                </a:solidFill>
                <a:latin typeface="Outfit"/>
              </a:rPr>
              <a:t>Stream-aligned</a:t>
            </a:r>
          </a:p>
        </p:txBody>
      </p:sp>
      <p:sp>
        <p:nvSpPr>
          <p:cNvPr id="13" name="Rounded Rectangle 12"/>
          <p:cNvSpPr/>
          <p:nvPr/>
        </p:nvSpPr>
        <p:spPr>
          <a:xfrm>
            <a:off x="2711196" y="2112264"/>
            <a:ext cx="5655564" cy="51206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39796" y="2112264"/>
            <a:ext cx="2606040" cy="512064"/>
          </a:xfrm>
          <a:prstGeom prst="rect">
            <a:avLst/>
          </a:prstGeom>
          <a:noFill/>
        </p:spPr>
        <p:txBody>
          <a:bodyPr wrap="square" anchor="ctr" lIns="0" rIns="0" tIns="0" bIns="0">
            <a:noAutofit/>
          </a:bodyPr>
          <a:lstStyle/>
          <a:p>
            <a:pPr algn="l">
              <a:lnSpc>
                <a:spcPct val="115000"/>
              </a:lnSpc>
            </a:pPr>
            <a:r>
              <a:rPr sz="900" b="0" i="0">
                <a:solidFill>
                  <a:srgbClr val="0E2356"/>
                </a:solidFill>
                <a:latin typeface="Outfit"/>
              </a:rPr>
              <a:t>Flux de valeur métier continu</a:t>
            </a:r>
          </a:p>
        </p:txBody>
      </p:sp>
      <p:sp>
        <p:nvSpPr>
          <p:cNvPr id="15" name="TextBox 14"/>
          <p:cNvSpPr txBox="1"/>
          <p:nvPr/>
        </p:nvSpPr>
        <p:spPr>
          <a:xfrm>
            <a:off x="5545836" y="2112264"/>
            <a:ext cx="2683764" cy="512064"/>
          </a:xfrm>
          <a:prstGeom prst="rect">
            <a:avLst/>
          </a:prstGeom>
          <a:noFill/>
        </p:spPr>
        <p:txBody>
          <a:bodyPr wrap="square" anchor="ctr" lIns="0" rIns="0" tIns="0" bIns="0">
            <a:noAutofit/>
          </a:bodyPr>
          <a:lstStyle/>
          <a:p>
            <a:pPr algn="l">
              <a:lnSpc>
                <a:spcPct val="115000"/>
              </a:lnSpc>
            </a:pPr>
            <a:r>
              <a:rPr sz="900" b="0" i="0">
                <a:solidFill>
                  <a:srgbClr val="586586"/>
                </a:solidFill>
                <a:latin typeface="Outfit"/>
              </a:rPr>
              <a:t>Les équipes applicatives, clientes de la plateforme</a:t>
            </a:r>
          </a:p>
        </p:txBody>
      </p:sp>
      <p:sp>
        <p:nvSpPr>
          <p:cNvPr id="16" name="Rounded Rectangle 15"/>
          <p:cNvSpPr/>
          <p:nvPr/>
        </p:nvSpPr>
        <p:spPr>
          <a:xfrm>
            <a:off x="562356" y="2734056"/>
            <a:ext cx="2057400" cy="51206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734056"/>
            <a:ext cx="2057400" cy="512064"/>
          </a:xfrm>
          <a:prstGeom prst="rect">
            <a:avLst/>
          </a:prstGeom>
          <a:noFill/>
        </p:spPr>
        <p:txBody>
          <a:bodyPr wrap="square" anchor="ctr" lIns="0" rIns="0" tIns="0" bIns="0">
            <a:noAutofit/>
          </a:bodyPr>
          <a:lstStyle/>
          <a:p>
            <a:pPr algn="ctr"/>
            <a:r>
              <a:rPr sz="1050" b="1" i="0">
                <a:solidFill>
                  <a:srgbClr val="0E2356"/>
                </a:solidFill>
                <a:latin typeface="Outfit"/>
              </a:rPr>
              <a:t>Enabling</a:t>
            </a:r>
          </a:p>
        </p:txBody>
      </p:sp>
      <p:sp>
        <p:nvSpPr>
          <p:cNvPr id="18" name="Rounded Rectangle 17"/>
          <p:cNvSpPr/>
          <p:nvPr/>
        </p:nvSpPr>
        <p:spPr>
          <a:xfrm>
            <a:off x="2711196" y="2734056"/>
            <a:ext cx="5655564" cy="51206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39796" y="2734056"/>
            <a:ext cx="2606040" cy="512064"/>
          </a:xfrm>
          <a:prstGeom prst="rect">
            <a:avLst/>
          </a:prstGeom>
          <a:noFill/>
        </p:spPr>
        <p:txBody>
          <a:bodyPr wrap="square" anchor="ctr" lIns="0" rIns="0" tIns="0" bIns="0">
            <a:noAutofit/>
          </a:bodyPr>
          <a:lstStyle/>
          <a:p>
            <a:pPr algn="l">
              <a:lnSpc>
                <a:spcPct val="115000"/>
              </a:lnSpc>
            </a:pPr>
            <a:r>
              <a:rPr sz="900" b="0" i="0">
                <a:solidFill>
                  <a:srgbClr val="0E2356"/>
                </a:solidFill>
                <a:latin typeface="Outfit"/>
              </a:rPr>
              <a:t>Montée en compétence temporaire</a:t>
            </a:r>
          </a:p>
        </p:txBody>
      </p:sp>
      <p:sp>
        <p:nvSpPr>
          <p:cNvPr id="20" name="TextBox 19"/>
          <p:cNvSpPr txBox="1"/>
          <p:nvPr/>
        </p:nvSpPr>
        <p:spPr>
          <a:xfrm>
            <a:off x="5545836" y="2734056"/>
            <a:ext cx="2683764" cy="512064"/>
          </a:xfrm>
          <a:prstGeom prst="rect">
            <a:avLst/>
          </a:prstGeom>
          <a:noFill/>
        </p:spPr>
        <p:txBody>
          <a:bodyPr wrap="square" anchor="ctr" lIns="0" rIns="0" tIns="0" bIns="0">
            <a:noAutofit/>
          </a:bodyPr>
          <a:lstStyle/>
          <a:p>
            <a:pPr algn="l">
              <a:lnSpc>
                <a:spcPct val="115000"/>
              </a:lnSpc>
            </a:pPr>
            <a:r>
              <a:rPr sz="900" b="0" i="0">
                <a:solidFill>
                  <a:srgbClr val="586586"/>
                </a:solidFill>
                <a:latin typeface="Outfit"/>
              </a:rPr>
              <a:t>La posture du coach — jamais permanente</a:t>
            </a:r>
          </a:p>
        </p:txBody>
      </p:sp>
      <p:sp>
        <p:nvSpPr>
          <p:cNvPr id="21" name="Rounded Rectangle 20"/>
          <p:cNvSpPr/>
          <p:nvPr/>
        </p:nvSpPr>
        <p:spPr>
          <a:xfrm>
            <a:off x="562356" y="3355848"/>
            <a:ext cx="2057400" cy="51206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2356" y="3355848"/>
            <a:ext cx="2057400" cy="512064"/>
          </a:xfrm>
          <a:prstGeom prst="rect">
            <a:avLst/>
          </a:prstGeom>
          <a:noFill/>
        </p:spPr>
        <p:txBody>
          <a:bodyPr wrap="square" anchor="ctr" lIns="0" rIns="0" tIns="0" bIns="0">
            <a:noAutofit/>
          </a:bodyPr>
          <a:lstStyle/>
          <a:p>
            <a:pPr algn="ctr"/>
            <a:r>
              <a:rPr sz="1050" b="1" i="0">
                <a:solidFill>
                  <a:srgbClr val="0E2356"/>
                </a:solidFill>
                <a:latin typeface="Outfit"/>
              </a:rPr>
              <a:t>Complicated-subsystem</a:t>
            </a:r>
          </a:p>
        </p:txBody>
      </p:sp>
      <p:sp>
        <p:nvSpPr>
          <p:cNvPr id="23" name="Rounded Rectangle 22"/>
          <p:cNvSpPr/>
          <p:nvPr/>
        </p:nvSpPr>
        <p:spPr>
          <a:xfrm>
            <a:off x="2711196" y="3355848"/>
            <a:ext cx="5655564" cy="51206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39796" y="3355848"/>
            <a:ext cx="2606040" cy="512064"/>
          </a:xfrm>
          <a:prstGeom prst="rect">
            <a:avLst/>
          </a:prstGeom>
          <a:noFill/>
        </p:spPr>
        <p:txBody>
          <a:bodyPr wrap="square" anchor="ctr" lIns="0" rIns="0" tIns="0" bIns="0">
            <a:noAutofit/>
          </a:bodyPr>
          <a:lstStyle/>
          <a:p>
            <a:pPr algn="l">
              <a:lnSpc>
                <a:spcPct val="115000"/>
              </a:lnSpc>
            </a:pPr>
            <a:r>
              <a:rPr sz="900" b="0" i="0">
                <a:solidFill>
                  <a:srgbClr val="0E2356"/>
                </a:solidFill>
                <a:latin typeface="Outfit"/>
              </a:rPr>
              <a:t>Expertise pointue, compétences rares</a:t>
            </a:r>
          </a:p>
        </p:txBody>
      </p:sp>
      <p:sp>
        <p:nvSpPr>
          <p:cNvPr id="25" name="TextBox 24"/>
          <p:cNvSpPr txBox="1"/>
          <p:nvPr/>
        </p:nvSpPr>
        <p:spPr>
          <a:xfrm>
            <a:off x="5545836" y="3355848"/>
            <a:ext cx="2683764" cy="512064"/>
          </a:xfrm>
          <a:prstGeom prst="rect">
            <a:avLst/>
          </a:prstGeom>
          <a:noFill/>
        </p:spPr>
        <p:txBody>
          <a:bodyPr wrap="square" anchor="ctr" lIns="0" rIns="0" tIns="0" bIns="0">
            <a:noAutofit/>
          </a:bodyPr>
          <a:lstStyle/>
          <a:p>
            <a:pPr algn="l">
              <a:lnSpc>
                <a:spcPct val="115000"/>
              </a:lnSpc>
            </a:pPr>
            <a:r>
              <a:rPr sz="900" b="0" i="0">
                <a:solidFill>
                  <a:srgbClr val="586586"/>
                </a:solidFill>
                <a:latin typeface="Outfit"/>
              </a:rPr>
              <a:t>Un vrai sous-système complexe, pas un produit plateforme</a:t>
            </a:r>
          </a:p>
        </p:txBody>
      </p:sp>
      <p:sp>
        <p:nvSpPr>
          <p:cNvPr id="26" name="Rounded Rectangle 25"/>
          <p:cNvSpPr/>
          <p:nvPr/>
        </p:nvSpPr>
        <p:spPr>
          <a:xfrm>
            <a:off x="562356" y="4050791"/>
            <a:ext cx="2057400" cy="512064"/>
          </a:xfrm>
          <a:prstGeom prst="roundRect">
            <a:avLst>
              <a:gd name="adj" fmla="val 50000"/>
            </a:avLst>
          </a:prstGeom>
          <a:solidFill>
            <a:srgbClr val="FFFFFF"/>
          </a:solidFill>
          <a:ln w="1270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2356" y="4050791"/>
            <a:ext cx="2057400" cy="512064"/>
          </a:xfrm>
          <a:prstGeom prst="rect">
            <a:avLst/>
          </a:prstGeom>
          <a:noFill/>
        </p:spPr>
        <p:txBody>
          <a:bodyPr wrap="square" anchor="ctr" lIns="0" rIns="0" tIns="0" bIns="0">
            <a:noAutofit/>
          </a:bodyPr>
          <a:lstStyle/>
          <a:p>
            <a:pPr algn="ctr"/>
            <a:r>
              <a:rPr sz="1050" b="1" i="0">
                <a:solidFill>
                  <a:srgbClr val="0E2356"/>
                </a:solidFill>
                <a:latin typeface="Outfit"/>
              </a:rPr>
              <a:t>+ Agents IA</a:t>
            </a:r>
          </a:p>
        </p:txBody>
      </p:sp>
      <p:sp>
        <p:nvSpPr>
          <p:cNvPr id="28" name="Rounded Rectangle 27"/>
          <p:cNvSpPr/>
          <p:nvPr/>
        </p:nvSpPr>
        <p:spPr>
          <a:xfrm>
            <a:off x="2711196" y="4050791"/>
            <a:ext cx="5655564" cy="512064"/>
          </a:xfrm>
          <a:prstGeom prst="roundRect">
            <a:avLst>
              <a:gd name="adj" fmla="val 50000"/>
            </a:avLst>
          </a:prstGeom>
          <a:solidFill>
            <a:srgbClr val="FFFFFF"/>
          </a:solidFill>
          <a:ln w="1270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39796" y="4050791"/>
            <a:ext cx="2606040" cy="512064"/>
          </a:xfrm>
          <a:prstGeom prst="rect">
            <a:avLst/>
          </a:prstGeom>
          <a:noFill/>
        </p:spPr>
        <p:txBody>
          <a:bodyPr wrap="square" anchor="ctr" lIns="0" rIns="0" tIns="0" bIns="0">
            <a:noAutofit/>
          </a:bodyPr>
          <a:lstStyle/>
          <a:p>
            <a:pPr algn="l">
              <a:lnSpc>
                <a:spcPct val="115000"/>
              </a:lnSpc>
            </a:pPr>
            <a:r>
              <a:rPr sz="900" b="0" i="0">
                <a:solidFill>
                  <a:srgbClr val="0E2356"/>
                </a:solidFill>
                <a:latin typeface="Outfit"/>
              </a:rPr>
              <a:t>Coéquipier d'équipe ou capacité de la plateforme</a:t>
            </a:r>
          </a:p>
        </p:txBody>
      </p:sp>
      <p:sp>
        <p:nvSpPr>
          <p:cNvPr id="30" name="TextBox 29"/>
          <p:cNvSpPr txBox="1"/>
          <p:nvPr/>
        </p:nvSpPr>
        <p:spPr>
          <a:xfrm>
            <a:off x="5545836" y="4050791"/>
            <a:ext cx="2683764" cy="512064"/>
          </a:xfrm>
          <a:prstGeom prst="rect">
            <a:avLst/>
          </a:prstGeom>
          <a:noFill/>
        </p:spPr>
        <p:txBody>
          <a:bodyPr wrap="square" anchor="ctr" lIns="0" rIns="0" tIns="0" bIns="0">
            <a:noAutofit/>
          </a:bodyPr>
          <a:lstStyle/>
          <a:p>
            <a:pPr algn="l">
              <a:lnSpc>
                <a:spcPct val="115000"/>
              </a:lnSpc>
            </a:pPr>
            <a:r>
              <a:rPr sz="900" b="0" i="0">
                <a:solidFill>
                  <a:srgbClr val="586586"/>
                </a:solidFill>
                <a:latin typeface="Outfit"/>
              </a:rPr>
              <a:t>4e mode d'interaction, la Supervision : mandat écrit, assisté → supervisé → délégué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La démarche</a:t>
            </a:r>
          </a:p>
          <a:p>
            <a:r>
              <a:rPr sz="1050" i="1">
                <a:solidFill>
                  <a:srgbClr val="586586"/>
                </a:solidFill>
                <a:latin typeface="Outfit"/>
              </a:rPr>
              <a:t>Trois temps et une boucle, et les deux fils — les personnes et la technique — qui courent dans chaque phase.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LA DÉMARCHE   ·   </a:t>
            </a:r>
            <a:r>
              <a:rPr b="1" sz="1200">
                <a:solidFill>
                  <a:srgbClr val="0E2356"/>
                </a:solidFill>
                <a:latin typeface="Outfit"/>
              </a:rPr>
              <a:t>Trois temps et une boucle — chaque phase produit son livrable de décision</a:t>
            </a:r>
          </a:p>
        </p:txBody>
      </p:sp>
      <p:sp>
        <p:nvSpPr>
          <p:cNvPr id="3" name="Rectangle 2"/>
          <p:cNvSpPr/>
          <p:nvPr/>
        </p:nvSpPr>
        <p:spPr>
          <a:xfrm>
            <a:off x="813816" y="1383487"/>
            <a:ext cx="73014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7866"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7866"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Assessment flash</a:t>
            </a:r>
          </a:p>
        </p:txBody>
      </p:sp>
      <p:sp>
        <p:nvSpPr>
          <p:cNvPr id="7" name="Rounded Rectangle 6"/>
          <p:cNvSpPr/>
          <p:nvPr/>
        </p:nvSpPr>
        <p:spPr>
          <a:xfrm>
            <a:off x="966406"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6406"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2 sem.</a:t>
            </a:r>
          </a:p>
        </p:txBody>
      </p:sp>
      <p:sp>
        <p:nvSpPr>
          <p:cNvPr id="9" name="TextBox 8"/>
          <p:cNvSpPr txBox="1"/>
          <p:nvPr/>
        </p:nvSpPr>
        <p:spPr>
          <a:xfrm>
            <a:off x="608076"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Collecte → Diagnostic → Conception → Restitution.</a:t>
            </a:r>
          </a:p>
        </p:txBody>
      </p:sp>
      <p:sp>
        <p:nvSpPr>
          <p:cNvPr id="10" name="Rounded Rectangle 9"/>
          <p:cNvSpPr/>
          <p:nvPr/>
        </p:nvSpPr>
        <p:spPr>
          <a:xfrm>
            <a:off x="562356"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exécutif de restitution</a:t>
            </a:r>
          </a:p>
          <a:p>
            <a:pPr algn="ctr">
              <a:lnSpc>
                <a:spcPct val="110000"/>
              </a:lnSpc>
              <a:spcBef>
                <a:spcPts val="300"/>
              </a:spcBef>
            </a:pPr>
            <a:r>
              <a:rPr sz="650" b="0" i="1">
                <a:solidFill>
                  <a:srgbClr val="586586"/>
                </a:solidFill>
                <a:latin typeface="Outfit"/>
              </a:rPr>
              <a:t>Sponsor · comité de lancement</a:t>
            </a:r>
          </a:p>
        </p:txBody>
      </p:sp>
      <p:sp>
        <p:nvSpPr>
          <p:cNvPr id="12" name="Rounded Rectangle 11"/>
          <p:cNvSpPr/>
          <p:nvPr/>
        </p:nvSpPr>
        <p:spPr>
          <a:xfrm>
            <a:off x="3214687"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14687"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②</a:t>
            </a:r>
          </a:p>
        </p:txBody>
      </p:sp>
      <p:sp>
        <p:nvSpPr>
          <p:cNvPr id="14" name="TextBox 13"/>
          <p:cNvSpPr txBox="1"/>
          <p:nvPr/>
        </p:nvSpPr>
        <p:spPr>
          <a:xfrm>
            <a:off x="2559177"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Premier déploiement</a:t>
            </a:r>
          </a:p>
        </p:txBody>
      </p:sp>
      <p:sp>
        <p:nvSpPr>
          <p:cNvPr id="15" name="Rounded Rectangle 14"/>
          <p:cNvSpPr/>
          <p:nvPr/>
        </p:nvSpPr>
        <p:spPr>
          <a:xfrm>
            <a:off x="2963227"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3227"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4–5 sem.</a:t>
            </a:r>
          </a:p>
        </p:txBody>
      </p:sp>
      <p:sp>
        <p:nvSpPr>
          <p:cNvPr id="17" name="TextBox 16"/>
          <p:cNvSpPr txBox="1"/>
          <p:nvPr/>
        </p:nvSpPr>
        <p:spPr>
          <a:xfrm>
            <a:off x="2604897"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1-2 équipes pilotes, mode Coach dominant. Piste agent IA (si retenue) : qualifier, cadrer, mandater.</a:t>
            </a:r>
          </a:p>
        </p:txBody>
      </p:sp>
      <p:sp>
        <p:nvSpPr>
          <p:cNvPr id="18" name="Rounded Rectangle 17"/>
          <p:cNvSpPr/>
          <p:nvPr/>
        </p:nvSpPr>
        <p:spPr>
          <a:xfrm>
            <a:off x="2559177"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0617"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plan de déploiement · export markdown</a:t>
            </a:r>
          </a:p>
          <a:p>
            <a:pPr algn="ctr">
              <a:lnSpc>
                <a:spcPct val="110000"/>
              </a:lnSpc>
              <a:spcBef>
                <a:spcPts val="300"/>
              </a:spcBef>
            </a:pPr>
            <a:r>
              <a:rPr sz="650" b="0" i="1">
                <a:solidFill>
                  <a:srgbClr val="586586"/>
                </a:solidFill>
                <a:latin typeface="Outfit"/>
              </a:rPr>
              <a:t>Équipes pilotes · management</a:t>
            </a:r>
          </a:p>
        </p:txBody>
      </p:sp>
      <p:sp>
        <p:nvSpPr>
          <p:cNvPr id="20" name="Rounded Rectangle 19"/>
          <p:cNvSpPr/>
          <p:nvPr/>
        </p:nvSpPr>
        <p:spPr>
          <a:xfrm>
            <a:off x="5211508"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1508"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③</a:t>
            </a:r>
          </a:p>
        </p:txBody>
      </p:sp>
      <p:sp>
        <p:nvSpPr>
          <p:cNvPr id="22" name="TextBox 21"/>
          <p:cNvSpPr txBox="1"/>
          <p:nvPr/>
        </p:nvSpPr>
        <p:spPr>
          <a:xfrm>
            <a:off x="4555998"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Implémentation itérative</a:t>
            </a:r>
          </a:p>
        </p:txBody>
      </p:sp>
      <p:sp>
        <p:nvSpPr>
          <p:cNvPr id="23" name="Rounded Rectangle 22"/>
          <p:cNvSpPr/>
          <p:nvPr/>
        </p:nvSpPr>
        <p:spPr>
          <a:xfrm>
            <a:off x="4960048"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048"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 T+6-12 mois</a:t>
            </a:r>
          </a:p>
        </p:txBody>
      </p:sp>
      <p:sp>
        <p:nvSpPr>
          <p:cNvPr id="25" name="TextBox 24"/>
          <p:cNvSpPr txBox="1"/>
          <p:nvPr/>
        </p:nvSpPr>
        <p:spPr>
          <a:xfrm>
            <a:off x="4601718"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Généralisation équipe par équipe, bascule Coach → Délégué. Piste agent IA : supervisé puis délégué.</a:t>
            </a:r>
          </a:p>
        </p:txBody>
      </p:sp>
      <p:sp>
        <p:nvSpPr>
          <p:cNvPr id="26" name="Rounded Rectangle 25"/>
          <p:cNvSpPr/>
          <p:nvPr/>
        </p:nvSpPr>
        <p:spPr>
          <a:xfrm>
            <a:off x="4555998"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7438"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comité de pilotage (périodique)</a:t>
            </a:r>
          </a:p>
          <a:p>
            <a:pPr algn="ctr">
              <a:lnSpc>
                <a:spcPct val="110000"/>
              </a:lnSpc>
              <a:spcBef>
                <a:spcPts val="300"/>
              </a:spcBef>
            </a:pPr>
            <a:r>
              <a:rPr sz="650" b="0" i="1">
                <a:solidFill>
                  <a:srgbClr val="586586"/>
                </a:solidFill>
                <a:latin typeface="Outfit"/>
              </a:rPr>
              <a:t>Instance de comitologie</a:t>
            </a:r>
          </a:p>
        </p:txBody>
      </p:sp>
      <p:sp>
        <p:nvSpPr>
          <p:cNvPr id="28" name="Rounded Rectangle 27"/>
          <p:cNvSpPr/>
          <p:nvPr/>
        </p:nvSpPr>
        <p:spPr>
          <a:xfrm>
            <a:off x="7208329"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08329" y="1143000"/>
            <a:ext cx="502920" cy="502920"/>
          </a:xfrm>
          <a:prstGeom prst="rect">
            <a:avLst/>
          </a:prstGeom>
          <a:noFill/>
        </p:spPr>
        <p:txBody>
          <a:bodyPr wrap="square" anchor="ctr" lIns="0" rIns="0" tIns="0" bIns="0">
            <a:noAutofit/>
          </a:bodyPr>
          <a:lstStyle/>
          <a:p>
            <a:pPr algn="ctr"/>
            <a:r>
              <a:rPr sz="1600" b="0" i="0">
                <a:solidFill>
                  <a:srgbClr val="FFFFFF"/>
                </a:solidFill>
                <a:latin typeface="Arial"/>
              </a:rPr>
              <a:t>⟲</a:t>
            </a:r>
          </a:p>
        </p:txBody>
      </p:sp>
      <p:sp>
        <p:nvSpPr>
          <p:cNvPr id="30" name="TextBox 29"/>
          <p:cNvSpPr txBox="1"/>
          <p:nvPr/>
        </p:nvSpPr>
        <p:spPr>
          <a:xfrm>
            <a:off x="6552819"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Boucle de réévaluation</a:t>
            </a:r>
          </a:p>
        </p:txBody>
      </p:sp>
      <p:sp>
        <p:nvSpPr>
          <p:cNvPr id="31" name="Rounded Rectangle 30"/>
          <p:cNvSpPr/>
          <p:nvPr/>
        </p:nvSpPr>
        <p:spPr>
          <a:xfrm>
            <a:off x="6956869"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6869"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T+6-12 mois</a:t>
            </a:r>
          </a:p>
        </p:txBody>
      </p:sp>
      <p:sp>
        <p:nvSpPr>
          <p:cNvPr id="33" name="TextBox 32"/>
          <p:cNvSpPr txBox="1"/>
          <p:nvPr/>
        </p:nvSpPr>
        <p:spPr>
          <a:xfrm>
            <a:off x="6598539"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La réévaluation reboucle vers la Collecte — alimente la bibliothèque de REX.</a:t>
            </a:r>
          </a:p>
        </p:txBody>
      </p:sp>
      <p:sp>
        <p:nvSpPr>
          <p:cNvPr id="34" name="Rounded Rectangle 33"/>
          <p:cNvSpPr/>
          <p:nvPr/>
        </p:nvSpPr>
        <p:spPr>
          <a:xfrm>
            <a:off x="6552819"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4259"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bilan / ré-évaluation · markdown amendé</a:t>
            </a:r>
          </a:p>
          <a:p>
            <a:pPr algn="ctr">
              <a:lnSpc>
                <a:spcPct val="110000"/>
              </a:lnSpc>
              <a:spcBef>
                <a:spcPts val="300"/>
              </a:spcBef>
            </a:pPr>
            <a:r>
              <a:rPr sz="650" b="0" i="1">
                <a:solidFill>
                  <a:srgbClr val="586586"/>
                </a:solidFill>
                <a:latin typeface="Outfit"/>
              </a:rPr>
              <a:t>Sponsor</a:t>
            </a:r>
          </a:p>
        </p:txBody>
      </p:sp>
      <p:sp>
        <p:nvSpPr>
          <p:cNvPr id="36" name="Rounded Rectangle 35"/>
          <p:cNvSpPr/>
          <p:nvPr/>
        </p:nvSpPr>
        <p:spPr>
          <a:xfrm>
            <a:off x="562356" y="3823715"/>
            <a:ext cx="7804404" cy="96012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3823715"/>
            <a:ext cx="7438644" cy="960120"/>
          </a:xfrm>
          <a:prstGeom prst="rect">
            <a:avLst/>
          </a:prstGeom>
          <a:noFill/>
        </p:spPr>
        <p:txBody>
          <a:bodyPr wrap="square" anchor="ctr" lIns="0" rIns="0" tIns="0" bIns="0">
            <a:noAutofit/>
          </a:bodyPr>
          <a:lstStyle/>
          <a:p>
            <a:pPr algn="l"/>
            <a:r>
              <a:rPr sz="800" b="1" i="0">
                <a:solidFill>
                  <a:srgbClr val="0E2356"/>
                </a:solidFill>
                <a:latin typeface="Outfit"/>
              </a:rPr>
              <a:t>Bifurcation avec/sans agents IA déployés</a:t>
            </a:r>
          </a:p>
          <a:p>
            <a:pPr algn="l">
              <a:lnSpc>
                <a:spcPct val="125000"/>
              </a:lnSpc>
              <a:spcBef>
                <a:spcPts val="300"/>
              </a:spcBef>
            </a:pPr>
            <a:r>
              <a:rPr sz="700" b="0" i="0">
                <a:solidFill>
                  <a:srgbClr val="0E2356"/>
                </a:solidFill>
                <a:latin typeface="Outfit"/>
              </a:rPr>
              <a:t>Le tronc commun ①→②→③→⟲ ne change pas de structure — la piste agent IA (si retenue) se greffe sur ②/③ via la démarche d'accompagnement en 5 phases déjà cadrée, plutôt que d'être un chemin séparé à maintenir. Les 4 livrables-clés ci-dessus sont 4 profils d'un même générateur modulaire, pas 4 outils distincts.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LA DÉMARCHE   ·   </a:t>
            </a:r>
            <a:r>
              <a:rPr b="1" sz="1200">
                <a:solidFill>
                  <a:srgbClr val="0E2356"/>
                </a:solidFill>
                <a:latin typeface="Outfit"/>
              </a:rPr>
              <a:t>Deux fils courent dans les mêmes phases : les personnes et la technique</a:t>
            </a:r>
          </a:p>
        </p:txBody>
      </p:sp>
      <p:sp>
        <p:nvSpPr>
          <p:cNvPr id="3" name="Rounded Rectangle 2"/>
          <p:cNvSpPr/>
          <p:nvPr/>
        </p:nvSpPr>
        <p:spPr>
          <a:xfrm>
            <a:off x="562356" y="1069848"/>
            <a:ext cx="960120" cy="51206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12064"/>
          </a:xfrm>
          <a:prstGeom prst="rect">
            <a:avLst/>
          </a:prstGeom>
          <a:noFill/>
        </p:spPr>
        <p:txBody>
          <a:bodyPr wrap="square" anchor="ctr" lIns="0" rIns="0" tIns="0" bIns="0">
            <a:noAutofit/>
          </a:bodyPr>
          <a:lstStyle/>
          <a:p>
            <a:pPr algn="ctr"/>
            <a:r>
              <a:rPr sz="1700" b="1" i="0">
                <a:solidFill>
                  <a:srgbClr val="FFFFFF"/>
                </a:solidFill>
                <a:latin typeface="Outfit"/>
              </a:rPr>
              <a:t>70 %</a:t>
            </a:r>
          </a:p>
        </p:txBody>
      </p:sp>
      <p:sp>
        <p:nvSpPr>
          <p:cNvPr id="5" name="TextBox 4"/>
          <p:cNvSpPr txBox="1"/>
          <p:nvPr/>
        </p:nvSpPr>
        <p:spPr>
          <a:xfrm>
            <a:off x="1687068" y="1069848"/>
            <a:ext cx="6679692" cy="512064"/>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750" b="0" i="1">
                <a:solidFill>
                  <a:srgbClr val="586586"/>
                </a:solidFill>
                <a:latin typeface="Outfit"/>
              </a:rPr>
              <a:t>Aucun des deux n'est un stream séparé : ce sont deux fils DANS les phases ①②③⟲ de la trajectoire, menés en parallèle.</a:t>
            </a:r>
          </a:p>
        </p:txBody>
      </p:sp>
      <p:sp>
        <p:nvSpPr>
          <p:cNvPr id="6" name="Rounded Rectangle 5"/>
          <p:cNvSpPr/>
          <p:nvPr/>
        </p:nvSpPr>
        <p:spPr>
          <a:xfrm>
            <a:off x="562356" y="2148840"/>
            <a:ext cx="7804404" cy="2190242"/>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001964"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01964"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①</a:t>
            </a:r>
          </a:p>
        </p:txBody>
      </p:sp>
      <p:sp>
        <p:nvSpPr>
          <p:cNvPr id="9" name="TextBox 8"/>
          <p:cNvSpPr txBox="1"/>
          <p:nvPr/>
        </p:nvSpPr>
        <p:spPr>
          <a:xfrm>
            <a:off x="1440180"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10" name="Rectangle 9"/>
          <p:cNvSpPr/>
          <p:nvPr/>
        </p:nvSpPr>
        <p:spPr>
          <a:xfrm>
            <a:off x="3075813" y="2258568"/>
            <a:ext cx="10972" cy="197078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65613"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5613"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②</a:t>
            </a:r>
          </a:p>
        </p:txBody>
      </p:sp>
      <p:sp>
        <p:nvSpPr>
          <p:cNvPr id="13" name="TextBox 12"/>
          <p:cNvSpPr txBox="1"/>
          <p:nvPr/>
        </p:nvSpPr>
        <p:spPr>
          <a:xfrm>
            <a:off x="3203829"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4" name="Rectangle 13"/>
          <p:cNvSpPr/>
          <p:nvPr/>
        </p:nvSpPr>
        <p:spPr>
          <a:xfrm>
            <a:off x="4839462" y="2258568"/>
            <a:ext cx="10972" cy="197078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9262"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29262"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③</a:t>
            </a:r>
          </a:p>
        </p:txBody>
      </p:sp>
      <p:sp>
        <p:nvSpPr>
          <p:cNvPr id="17" name="TextBox 16"/>
          <p:cNvSpPr txBox="1"/>
          <p:nvPr/>
        </p:nvSpPr>
        <p:spPr>
          <a:xfrm>
            <a:off x="4967478"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18" name="Rectangle 17"/>
          <p:cNvSpPr/>
          <p:nvPr/>
        </p:nvSpPr>
        <p:spPr>
          <a:xfrm>
            <a:off x="6603111" y="2258568"/>
            <a:ext cx="10972" cy="197078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292911"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92911" y="1956816"/>
            <a:ext cx="384048" cy="384048"/>
          </a:xfrm>
          <a:prstGeom prst="rect">
            <a:avLst/>
          </a:prstGeom>
          <a:noFill/>
        </p:spPr>
        <p:txBody>
          <a:bodyPr wrap="square" anchor="ctr" lIns="0" rIns="0" tIns="0" bIns="0">
            <a:noAutofit/>
          </a:bodyPr>
          <a:lstStyle/>
          <a:p>
            <a:pPr algn="ctr"/>
            <a:r>
              <a:rPr sz="1200" b="0" i="0">
                <a:solidFill>
                  <a:srgbClr val="FFFFFF"/>
                </a:solidFill>
                <a:latin typeface="Arial"/>
              </a:rPr>
              <a:t>⟲</a:t>
            </a:r>
          </a:p>
        </p:txBody>
      </p:sp>
      <p:sp>
        <p:nvSpPr>
          <p:cNvPr id="21" name="TextBox 20"/>
          <p:cNvSpPr txBox="1"/>
          <p:nvPr/>
        </p:nvSpPr>
        <p:spPr>
          <a:xfrm>
            <a:off x="6731126"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22" name="Rounded Rectangle 21"/>
          <p:cNvSpPr/>
          <p:nvPr/>
        </p:nvSpPr>
        <p:spPr>
          <a:xfrm>
            <a:off x="617220" y="2578608"/>
            <a:ext cx="7694676" cy="903097"/>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6" y="2578608"/>
            <a:ext cx="621792" cy="903097"/>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LES PERSONNES</a:t>
            </a:r>
          </a:p>
        </p:txBody>
      </p:sp>
      <p:sp>
        <p:nvSpPr>
          <p:cNvPr id="24" name="TextBox 23"/>
          <p:cNvSpPr txBox="1"/>
          <p:nvPr/>
        </p:nvSpPr>
        <p:spPr>
          <a:xfrm>
            <a:off x="1440180"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Engager</a:t>
            </a:r>
          </a:p>
        </p:txBody>
      </p:sp>
      <p:sp>
        <p:nvSpPr>
          <p:cNvPr id="25" name="TextBox 24"/>
          <p:cNvSpPr txBox="1"/>
          <p:nvPr/>
        </p:nvSpPr>
        <p:spPr>
          <a:xfrm>
            <a:off x="1440180"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L'engagement du sponsor se construit dès l'intake ; la restitution revient aux interviewés, pas au seul sponsor.</a:t>
            </a:r>
          </a:p>
        </p:txBody>
      </p:sp>
      <p:sp>
        <p:nvSpPr>
          <p:cNvPr id="26" name="TextBox 25"/>
          <p:cNvSpPr txBox="1"/>
          <p:nvPr/>
        </p:nvSpPr>
        <p:spPr>
          <a:xfrm>
            <a:off x="3203829"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Expérimenter</a:t>
            </a:r>
          </a:p>
        </p:txBody>
      </p:sp>
      <p:sp>
        <p:nvSpPr>
          <p:cNvPr id="27" name="TextBox 26"/>
          <p:cNvSpPr txBox="1"/>
          <p:nvPr/>
        </p:nvSpPr>
        <p:spPr>
          <a:xfrm>
            <a:off x="3203829"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Équipes pilotes volontaires, jamais désignées ; formation sur les cas réels — « pas de formation sans coaching ».</a:t>
            </a:r>
          </a:p>
        </p:txBody>
      </p:sp>
      <p:sp>
        <p:nvSpPr>
          <p:cNvPr id="28" name="TextBox 27"/>
          <p:cNvSpPr txBox="1"/>
          <p:nvPr/>
        </p:nvSpPr>
        <p:spPr>
          <a:xfrm>
            <a:off x="4967478"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Outiller &amp; relayer</a:t>
            </a:r>
          </a:p>
        </p:txBody>
      </p:sp>
      <p:sp>
        <p:nvSpPr>
          <p:cNvPr id="29" name="TextBox 28"/>
          <p:cNvSpPr txBox="1"/>
          <p:nvPr/>
        </p:nvSpPr>
        <p:spPr>
          <a:xfrm>
            <a:off x="4967478"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Les résistances sont un signal ; relais internes formés — le consultant se rend dispensable.</a:t>
            </a:r>
          </a:p>
        </p:txBody>
      </p:sp>
      <p:sp>
        <p:nvSpPr>
          <p:cNvPr id="30" name="TextBox 29"/>
          <p:cNvSpPr txBox="1"/>
          <p:nvPr/>
        </p:nvSpPr>
        <p:spPr>
          <a:xfrm>
            <a:off x="6731126"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Mesurer</a:t>
            </a:r>
          </a:p>
        </p:txBody>
      </p:sp>
      <p:sp>
        <p:nvSpPr>
          <p:cNvPr id="31" name="TextBox 30"/>
          <p:cNvSpPr txBox="1"/>
          <p:nvPr/>
        </p:nvSpPr>
        <p:spPr>
          <a:xfrm>
            <a:off x="6731126"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Satisfaction et adhésion au même instrument qu'à T0 — le delta humain à côté du delta de maturité.</a:t>
            </a:r>
          </a:p>
        </p:txBody>
      </p:sp>
      <p:sp>
        <p:nvSpPr>
          <p:cNvPr id="32" name="TextBox 31"/>
          <p:cNvSpPr txBox="1"/>
          <p:nvPr/>
        </p:nvSpPr>
        <p:spPr>
          <a:xfrm>
            <a:off x="653796" y="3481705"/>
            <a:ext cx="621792" cy="903097"/>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LA TECHNIQUE</a:t>
            </a:r>
          </a:p>
        </p:txBody>
      </p:sp>
      <p:sp>
        <p:nvSpPr>
          <p:cNvPr id="33" name="TextBox 32"/>
          <p:cNvSpPr txBox="1"/>
          <p:nvPr/>
        </p:nvSpPr>
        <p:spPr>
          <a:xfrm>
            <a:off x="1440180"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Cartographier</a:t>
            </a:r>
          </a:p>
        </p:txBody>
      </p:sp>
      <p:sp>
        <p:nvSpPr>
          <p:cNvPr id="34" name="TextBox 33"/>
          <p:cNvSpPr txBox="1"/>
          <p:nvPr/>
        </p:nvSpPr>
        <p:spPr>
          <a:xfrm>
            <a:off x="1440180"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Dette, plateformes vieillissantes, dépendances non maîtrisées : une base factuelle, pas une checklist.</a:t>
            </a:r>
          </a:p>
        </p:txBody>
      </p:sp>
      <p:sp>
        <p:nvSpPr>
          <p:cNvPr id="35" name="TextBox 34"/>
          <p:cNvSpPr txBox="1"/>
          <p:nvPr/>
        </p:nvSpPr>
        <p:spPr>
          <a:xfrm>
            <a:off x="3203829"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Décommissionner &amp; observer</a:t>
            </a:r>
          </a:p>
        </p:txBody>
      </p:sp>
      <p:sp>
        <p:nvSpPr>
          <p:cNvPr id="36" name="TextBox 35"/>
          <p:cNvSpPr txBox="1"/>
          <p:nvPr/>
        </p:nvSpPr>
        <p:spPr>
          <a:xfrm>
            <a:off x="3203829"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Sur les pilotes : ce qui peut être décommissionné l'est, l'observabilité du reste est posée.</a:t>
            </a:r>
          </a:p>
        </p:txBody>
      </p:sp>
      <p:sp>
        <p:nvSpPr>
          <p:cNvPr id="37" name="TextBox 36"/>
          <p:cNvSpPr txBox="1"/>
          <p:nvPr/>
        </p:nvSpPr>
        <p:spPr>
          <a:xfrm>
            <a:off x="4967478"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Standardiser &amp; outiller</a:t>
            </a:r>
          </a:p>
        </p:txBody>
      </p:sp>
      <p:sp>
        <p:nvSpPr>
          <p:cNvPr id="38" name="TextBox 37"/>
          <p:cNvSpPr txBox="1"/>
          <p:nvPr/>
        </p:nvSpPr>
        <p:spPr>
          <a:xfrm>
            <a:off x="4967478"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CI/CD et infra as code deviennent le mode par défaut — la plateforme produit prend forme.</a:t>
            </a:r>
          </a:p>
        </p:txBody>
      </p:sp>
      <p:sp>
        <p:nvSpPr>
          <p:cNvPr id="39" name="TextBox 38"/>
          <p:cNvSpPr txBox="1"/>
          <p:nvPr/>
        </p:nvSpPr>
        <p:spPr>
          <a:xfrm>
            <a:off x="6731126"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Mesurer &amp; réengager</a:t>
            </a:r>
          </a:p>
        </p:txBody>
      </p:sp>
      <p:sp>
        <p:nvSpPr>
          <p:cNvPr id="40" name="TextBox 39"/>
          <p:cNvSpPr txBox="1"/>
          <p:nvPr/>
        </p:nvSpPr>
        <p:spPr>
          <a:xfrm>
            <a:off x="6731126"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Dette et KPI infra rejoués au même instrument qu'à T0 — le delta technique à côté des deux autres.</a:t>
            </a:r>
          </a:p>
        </p:txBody>
      </p:sp>
      <p:sp>
        <p:nvSpPr>
          <p:cNvPr id="41" name="Rounded Rectangle 40"/>
          <p:cNvSpPr/>
          <p:nvPr/>
        </p:nvSpPr>
        <p:spPr>
          <a:xfrm>
            <a:off x="562356" y="4485386"/>
            <a:ext cx="7804404" cy="49809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5236" y="4485386"/>
            <a:ext cx="7438644" cy="498093"/>
          </a:xfrm>
          <a:prstGeom prst="rect">
            <a:avLst/>
          </a:prstGeom>
          <a:noFill/>
        </p:spPr>
        <p:txBody>
          <a:bodyPr wrap="square" anchor="ctr" lIns="0" rIns="0" tIns="0" bIns="0">
            <a:noAutofit/>
          </a:bodyPr>
          <a:lstStyle/>
          <a:p>
            <a:pPr algn="l"/>
            <a:r>
              <a:rPr sz="800" b="1" i="0">
                <a:solidFill>
                  <a:srgbClr val="0E2356"/>
                </a:solidFill>
                <a:latin typeface="Outfit"/>
              </a:rPr>
              <a:t>Ce que ces deux fils ne créent pas</a:t>
            </a:r>
          </a:p>
          <a:p>
            <a:pPr algn="l">
              <a:lnSpc>
                <a:spcPct val="125000"/>
              </a:lnSpc>
              <a:spcBef>
                <a:spcPts val="300"/>
              </a:spcBef>
            </a:pPr>
            <a:r>
              <a:rPr sz="700" b="0" i="0">
                <a:solidFill>
                  <a:srgbClr val="0E2356"/>
                </a:solidFill>
                <a:latin typeface="Outfit"/>
              </a:rPr>
              <a:t>Pas de phase en plus, pas de chantier d'architecture à part, et jamais d'évaluation individuelle des personnes (déontologie du consultant). La gouvernance sécurité, conformité et résilience opérationnelle reste celle du client — ces fils s'y arriment, ils ne la remplacent pas.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L'expertise agentic d'OCTO</a:t>
            </a:r>
          </a:p>
          <a:p>
            <a:r>
              <a:rPr sz="1050" i="1">
                <a:solidFill>
                  <a:srgbClr val="586586"/>
                </a:solidFill>
                <a:latin typeface="Outfit"/>
              </a:rPr>
              <a:t>Un complément à notre démarche, jamais un prérequis : ce qu'il apporte, les agents candidats, les garde-fous et les niveaux d'ambition.</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L'EXPERTISE AGENTIC D'OCTO   ·   </a:t>
            </a:r>
            <a:r>
              <a:rPr b="1" sz="1350">
                <a:solidFill>
                  <a:srgbClr val="0E2356"/>
                </a:solidFill>
                <a:latin typeface="Outfit"/>
              </a:rPr>
              <a:t>Une expertise OCTO qui complète notre démarche</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1050" b="0" i="1">
                <a:solidFill>
                  <a:srgbClr val="0E2356"/>
                </a:solidFill>
                <a:latin typeface="Outfit"/>
              </a:rPr>
              <a:t>Là où notre démarche a des besoins complémentaires, l'expertise agentic d'OCTO y répond — sans rien remplacer de ce qui existe.</a:t>
            </a:r>
          </a:p>
        </p:txBody>
      </p:sp>
      <p:sp>
        <p:nvSpPr>
          <p:cNvPr id="4" name="TextBox 3"/>
          <p:cNvSpPr txBox="1"/>
          <p:nvPr/>
        </p:nvSpPr>
        <p:spPr>
          <a:xfrm>
            <a:off x="562356" y="1399031"/>
            <a:ext cx="1600200" cy="182880"/>
          </a:xfrm>
          <a:prstGeom prst="rect">
            <a:avLst/>
          </a:prstGeom>
          <a:noFill/>
        </p:spPr>
        <p:txBody>
          <a:bodyPr wrap="square" anchor="t" lIns="0" rIns="0" tIns="0" bIns="0">
            <a:noAutofit/>
          </a:bodyPr>
          <a:lstStyle/>
          <a:p>
            <a:pPr algn="l"/>
            <a:r>
              <a:rPr sz="800" b="1" i="0">
                <a:solidFill>
                  <a:srgbClr val="586586"/>
                </a:solidFill>
                <a:latin typeface="Outfit"/>
              </a:rPr>
              <a:t>BESOIN COMPLÉMENTAIRE</a:t>
            </a:r>
          </a:p>
        </p:txBody>
      </p:sp>
      <p:sp>
        <p:nvSpPr>
          <p:cNvPr id="5" name="TextBox 4"/>
          <p:cNvSpPr txBox="1"/>
          <p:nvPr/>
        </p:nvSpPr>
        <p:spPr>
          <a:xfrm>
            <a:off x="2272284" y="1399031"/>
            <a:ext cx="2331720" cy="182880"/>
          </a:xfrm>
          <a:prstGeom prst="rect">
            <a:avLst/>
          </a:prstGeom>
          <a:noFill/>
        </p:spPr>
        <p:txBody>
          <a:bodyPr wrap="square" anchor="t" lIns="0" rIns="0" tIns="0" bIns="0">
            <a:noAutofit/>
          </a:bodyPr>
          <a:lstStyle/>
          <a:p>
            <a:pPr algn="l"/>
            <a:r>
              <a:rPr sz="800" b="1" i="0">
                <a:solidFill>
                  <a:srgbClr val="586586"/>
                </a:solidFill>
                <a:latin typeface="Outfit"/>
              </a:rPr>
              <a:t>CE QUI FREINE AUJOURD'HUI</a:t>
            </a:r>
          </a:p>
        </p:txBody>
      </p:sp>
      <p:sp>
        <p:nvSpPr>
          <p:cNvPr id="6" name="TextBox 5"/>
          <p:cNvSpPr txBox="1"/>
          <p:nvPr/>
        </p:nvSpPr>
        <p:spPr>
          <a:xfrm>
            <a:off x="4969764" y="1399031"/>
            <a:ext cx="3396996" cy="182880"/>
          </a:xfrm>
          <a:prstGeom prst="rect">
            <a:avLst/>
          </a:prstGeom>
          <a:noFill/>
        </p:spPr>
        <p:txBody>
          <a:bodyPr wrap="square" anchor="t" lIns="0" rIns="0" tIns="0" bIns="0">
            <a:noAutofit/>
          </a:bodyPr>
          <a:lstStyle/>
          <a:p>
            <a:pPr algn="l"/>
            <a:r>
              <a:rPr sz="800" b="1" i="0">
                <a:solidFill>
                  <a:srgbClr val="586586"/>
                </a:solidFill>
                <a:latin typeface="Outfit"/>
              </a:rPr>
              <a:t>CE QU'OCTO APPORTE</a:t>
            </a:r>
          </a:p>
        </p:txBody>
      </p:sp>
      <p:sp>
        <p:nvSpPr>
          <p:cNvPr id="7" name="Rounded Rectangle 6"/>
          <p:cNvSpPr/>
          <p:nvPr/>
        </p:nvSpPr>
        <p:spPr>
          <a:xfrm>
            <a:off x="562356" y="1618487"/>
            <a:ext cx="1600200" cy="772668"/>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0372" y="1618487"/>
            <a:ext cx="1344168" cy="772668"/>
          </a:xfrm>
          <a:prstGeom prst="rect">
            <a:avLst/>
          </a:prstGeom>
          <a:noFill/>
        </p:spPr>
        <p:txBody>
          <a:bodyPr wrap="square" anchor="ctr" lIns="0" rIns="0" tIns="0" bIns="0">
            <a:noAutofit/>
          </a:bodyPr>
          <a:lstStyle/>
          <a:p>
            <a:pPr algn="l">
              <a:lnSpc>
                <a:spcPct val="110000"/>
              </a:lnSpc>
            </a:pPr>
            <a:r>
              <a:rPr sz="1000" b="1" i="0">
                <a:solidFill>
                  <a:srgbClr val="FFFFFF"/>
                </a:solidFill>
                <a:latin typeface="Outfit"/>
              </a:rPr>
              <a:t>Accélérer le diagnostic</a:t>
            </a:r>
          </a:p>
        </p:txBody>
      </p:sp>
      <p:sp>
        <p:nvSpPr>
          <p:cNvPr id="9" name="Rounded Rectangle 8"/>
          <p:cNvSpPr/>
          <p:nvPr/>
        </p:nvSpPr>
        <p:spPr>
          <a:xfrm>
            <a:off x="2272284" y="1618487"/>
            <a:ext cx="2331720" cy="772668"/>
          </a:xfrm>
          <a:prstGeom prst="roundRect">
            <a:avLst>
              <a:gd name="adj" fmla="val 12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09444" y="1618487"/>
            <a:ext cx="2057400" cy="772668"/>
          </a:xfrm>
          <a:prstGeom prst="rect">
            <a:avLst/>
          </a:prstGeom>
          <a:noFill/>
        </p:spPr>
        <p:txBody>
          <a:bodyPr wrap="square" anchor="ctr" lIns="0" rIns="0" tIns="0" bIns="0">
            <a:noAutofit/>
          </a:bodyPr>
          <a:lstStyle/>
          <a:p>
            <a:pPr algn="l">
              <a:lnSpc>
                <a:spcPct val="125000"/>
              </a:lnSpc>
            </a:pPr>
            <a:r>
              <a:rPr sz="900" b="0" i="0">
                <a:solidFill>
                  <a:srgbClr val="586586"/>
                </a:solidFill>
                <a:latin typeface="Outfit"/>
              </a:rPr>
              <a:t>Les interviews et les données s'accumulent plus vite que l'équipe ne les lit.</a:t>
            </a:r>
          </a:p>
        </p:txBody>
      </p:sp>
      <p:sp>
        <p:nvSpPr>
          <p:cNvPr id="11" name="Chevron 10"/>
          <p:cNvSpPr/>
          <p:nvPr/>
        </p:nvSpPr>
        <p:spPr>
          <a:xfrm>
            <a:off x="4677156" y="1840229"/>
            <a:ext cx="219456" cy="329184"/>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969764" y="1618487"/>
            <a:ext cx="3396996" cy="772668"/>
          </a:xfrm>
          <a:prstGeom prst="roundRect">
            <a:avLst>
              <a:gd name="adj" fmla="val 12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06924" y="1618487"/>
            <a:ext cx="3122676" cy="772668"/>
          </a:xfrm>
          <a:prstGeom prst="rect">
            <a:avLst/>
          </a:prstGeom>
          <a:noFill/>
        </p:spPr>
        <p:txBody>
          <a:bodyPr wrap="square" anchor="ctr" lIns="0" rIns="0" tIns="0" bIns="0">
            <a:noAutofit/>
          </a:bodyPr>
          <a:lstStyle/>
          <a:p>
            <a:pPr algn="l">
              <a:lnSpc>
                <a:spcPct val="125000"/>
              </a:lnSpc>
            </a:pPr>
            <a:r>
              <a:rPr sz="900" b="0" i="0">
                <a:solidFill>
                  <a:srgbClr val="0E2356"/>
                </a:solidFill>
                <a:latin typeface="Outfit"/>
              </a:rPr>
              <a:t>Des workflows outillés préparent les trames d'interview, la synthèse et le deck de restitution — le consultant garde l'analyse.</a:t>
            </a:r>
          </a:p>
        </p:txBody>
      </p:sp>
      <p:sp>
        <p:nvSpPr>
          <p:cNvPr id="14" name="Rounded Rectangle 13"/>
          <p:cNvSpPr/>
          <p:nvPr/>
        </p:nvSpPr>
        <p:spPr>
          <a:xfrm>
            <a:off x="562356" y="2482596"/>
            <a:ext cx="1600200" cy="772668"/>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0372" y="2482596"/>
            <a:ext cx="1344168" cy="772668"/>
          </a:xfrm>
          <a:prstGeom prst="rect">
            <a:avLst/>
          </a:prstGeom>
          <a:noFill/>
        </p:spPr>
        <p:txBody>
          <a:bodyPr wrap="square" anchor="ctr" lIns="0" rIns="0" tIns="0" bIns="0">
            <a:noAutofit/>
          </a:bodyPr>
          <a:lstStyle/>
          <a:p>
            <a:pPr algn="l">
              <a:lnSpc>
                <a:spcPct val="110000"/>
              </a:lnSpc>
            </a:pPr>
            <a:r>
              <a:rPr sz="1000" b="1" i="0">
                <a:solidFill>
                  <a:srgbClr val="FFFFFF"/>
                </a:solidFill>
                <a:latin typeface="Outfit"/>
              </a:rPr>
              <a:t>Trier le RUN</a:t>
            </a:r>
          </a:p>
        </p:txBody>
      </p:sp>
      <p:sp>
        <p:nvSpPr>
          <p:cNvPr id="16" name="Rounded Rectangle 15"/>
          <p:cNvSpPr/>
          <p:nvPr/>
        </p:nvSpPr>
        <p:spPr>
          <a:xfrm>
            <a:off x="2272284" y="2482596"/>
            <a:ext cx="2331720" cy="772668"/>
          </a:xfrm>
          <a:prstGeom prst="roundRect">
            <a:avLst>
              <a:gd name="adj" fmla="val 12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09444" y="2482596"/>
            <a:ext cx="2057400" cy="772668"/>
          </a:xfrm>
          <a:prstGeom prst="rect">
            <a:avLst/>
          </a:prstGeom>
          <a:noFill/>
        </p:spPr>
        <p:txBody>
          <a:bodyPr wrap="square" anchor="ctr" lIns="0" rIns="0" tIns="0" bIns="0">
            <a:noAutofit/>
          </a:bodyPr>
          <a:lstStyle/>
          <a:p>
            <a:pPr algn="l">
              <a:lnSpc>
                <a:spcPct val="125000"/>
              </a:lnSpc>
            </a:pPr>
            <a:r>
              <a:rPr sz="900" b="0" i="0">
                <a:solidFill>
                  <a:srgbClr val="586586"/>
                </a:solidFill>
                <a:latin typeface="Outfit"/>
              </a:rPr>
              <a:t>Les mêmes tickets reviennent et mobilisent les experts seniors.</a:t>
            </a:r>
          </a:p>
        </p:txBody>
      </p:sp>
      <p:sp>
        <p:nvSpPr>
          <p:cNvPr id="18" name="Chevron 17"/>
          <p:cNvSpPr/>
          <p:nvPr/>
        </p:nvSpPr>
        <p:spPr>
          <a:xfrm>
            <a:off x="4677156" y="2704337"/>
            <a:ext cx="219456" cy="329184"/>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69764" y="2482596"/>
            <a:ext cx="3396996" cy="772668"/>
          </a:xfrm>
          <a:prstGeom prst="roundRect">
            <a:avLst>
              <a:gd name="adj" fmla="val 12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06924" y="2482596"/>
            <a:ext cx="3122676" cy="772668"/>
          </a:xfrm>
          <a:prstGeom prst="rect">
            <a:avLst/>
          </a:prstGeom>
          <a:noFill/>
        </p:spPr>
        <p:txBody>
          <a:bodyPr wrap="square" anchor="ctr" lIns="0" rIns="0" tIns="0" bIns="0">
            <a:noAutofit/>
          </a:bodyPr>
          <a:lstStyle/>
          <a:p>
            <a:pPr algn="l">
              <a:lnSpc>
                <a:spcPct val="125000"/>
              </a:lnSpc>
            </a:pPr>
            <a:r>
              <a:rPr sz="900" b="0" i="0">
                <a:solidFill>
                  <a:srgbClr val="0E2356"/>
                </a:solidFill>
                <a:latin typeface="Outfit"/>
              </a:rPr>
              <a:t>Un agent de triage classe et route les tickets selon un runbook déjà écrit, sous gate, supervisé avant d'être délégué.</a:t>
            </a:r>
          </a:p>
        </p:txBody>
      </p:sp>
      <p:sp>
        <p:nvSpPr>
          <p:cNvPr id="21" name="Rounded Rectangle 20"/>
          <p:cNvSpPr/>
          <p:nvPr/>
        </p:nvSpPr>
        <p:spPr>
          <a:xfrm>
            <a:off x="562356" y="3346703"/>
            <a:ext cx="1600200" cy="772668"/>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 y="3346703"/>
            <a:ext cx="1344168" cy="772668"/>
          </a:xfrm>
          <a:prstGeom prst="rect">
            <a:avLst/>
          </a:prstGeom>
          <a:noFill/>
        </p:spPr>
        <p:txBody>
          <a:bodyPr wrap="square" anchor="ctr" lIns="0" rIns="0" tIns="0" bIns="0">
            <a:noAutofit/>
          </a:bodyPr>
          <a:lstStyle/>
          <a:p>
            <a:pPr algn="l">
              <a:lnSpc>
                <a:spcPct val="110000"/>
              </a:lnSpc>
            </a:pPr>
            <a:r>
              <a:rPr sz="1000" b="1" i="0">
                <a:solidFill>
                  <a:srgbClr val="FFFFFF"/>
                </a:solidFill>
                <a:latin typeface="Outfit"/>
              </a:rPr>
              <a:t>Capitaliser le savoir</a:t>
            </a:r>
          </a:p>
        </p:txBody>
      </p:sp>
      <p:sp>
        <p:nvSpPr>
          <p:cNvPr id="23" name="Rounded Rectangle 22"/>
          <p:cNvSpPr/>
          <p:nvPr/>
        </p:nvSpPr>
        <p:spPr>
          <a:xfrm>
            <a:off x="2272284" y="3346703"/>
            <a:ext cx="2331720" cy="772668"/>
          </a:xfrm>
          <a:prstGeom prst="roundRect">
            <a:avLst>
              <a:gd name="adj" fmla="val 12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09444" y="3346703"/>
            <a:ext cx="2057400" cy="772668"/>
          </a:xfrm>
          <a:prstGeom prst="rect">
            <a:avLst/>
          </a:prstGeom>
          <a:noFill/>
        </p:spPr>
        <p:txBody>
          <a:bodyPr wrap="square" anchor="ctr" lIns="0" rIns="0" tIns="0" bIns="0">
            <a:noAutofit/>
          </a:bodyPr>
          <a:lstStyle/>
          <a:p>
            <a:pPr algn="l">
              <a:lnSpc>
                <a:spcPct val="125000"/>
              </a:lnSpc>
            </a:pPr>
            <a:r>
              <a:rPr sz="900" b="0" i="0">
                <a:solidFill>
                  <a:srgbClr val="586586"/>
                </a:solidFill>
                <a:latin typeface="Outfit"/>
              </a:rPr>
              <a:t>Le savoir-faire reste dans quelques têtes et dans des procédures dispersées.</a:t>
            </a:r>
          </a:p>
        </p:txBody>
      </p:sp>
      <p:sp>
        <p:nvSpPr>
          <p:cNvPr id="25" name="Chevron 24"/>
          <p:cNvSpPr/>
          <p:nvPr/>
        </p:nvSpPr>
        <p:spPr>
          <a:xfrm>
            <a:off x="4677156" y="3568445"/>
            <a:ext cx="219456" cy="329184"/>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969764" y="3346703"/>
            <a:ext cx="3396996" cy="772668"/>
          </a:xfrm>
          <a:prstGeom prst="roundRect">
            <a:avLst>
              <a:gd name="adj" fmla="val 12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06924" y="3346703"/>
            <a:ext cx="3122676" cy="772668"/>
          </a:xfrm>
          <a:prstGeom prst="rect">
            <a:avLst/>
          </a:prstGeom>
          <a:noFill/>
        </p:spPr>
        <p:txBody>
          <a:bodyPr wrap="square" anchor="ctr" lIns="0" rIns="0" tIns="0" bIns="0">
            <a:noAutofit/>
          </a:bodyPr>
          <a:lstStyle/>
          <a:p>
            <a:pPr algn="l">
              <a:lnSpc>
                <a:spcPct val="125000"/>
              </a:lnSpc>
            </a:pPr>
            <a:r>
              <a:rPr sz="900" b="0" i="0">
                <a:solidFill>
                  <a:srgbClr val="0E2356"/>
                </a:solidFill>
                <a:latin typeface="Outfit"/>
              </a:rPr>
              <a:t>Un agent documentaire répond avec sa source, et un export markdown versionné reste à l'équipe après la mission.</a:t>
            </a:r>
          </a:p>
        </p:txBody>
      </p:sp>
      <p:sp>
        <p:nvSpPr>
          <p:cNvPr id="28" name="Rounded Rectangle 27"/>
          <p:cNvSpPr/>
          <p:nvPr/>
        </p:nvSpPr>
        <p:spPr>
          <a:xfrm>
            <a:off x="562356" y="4367784"/>
            <a:ext cx="7804404" cy="61569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6364" y="4459224"/>
            <a:ext cx="45720" cy="432816"/>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947" y="4386072"/>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31" name="TextBox 30"/>
          <p:cNvSpPr txBox="1"/>
          <p:nvPr/>
        </p:nvSpPr>
        <p:spPr>
          <a:xfrm>
            <a:off x="1074420" y="4367784"/>
            <a:ext cx="7109460" cy="615696"/>
          </a:xfrm>
          <a:prstGeom prst="rect">
            <a:avLst/>
          </a:prstGeom>
          <a:noFill/>
        </p:spPr>
        <p:txBody>
          <a:bodyPr wrap="square" anchor="ctr" lIns="0" rIns="0" tIns="0" bIns="0">
            <a:spAutoFit/>
          </a:bodyPr>
          <a:lstStyle/>
          <a:p>
            <a:pPr algn="ctr"/>
            <a:r>
              <a:rPr sz="1000" b="1" i="0">
                <a:solidFill>
                  <a:srgbClr val="FFFFFF"/>
                </a:solidFill>
                <a:latin typeface="Outfit"/>
              </a:rPr>
              <a:t>Jamais un prérequis : la démarche tient sans elle — l'expertise agentic l'accélère là où le temps est perdu.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L'EXPERTISE AGENTIC D'OCTO   ·   </a:t>
            </a:r>
            <a:r>
              <a:rPr b="1" sz="1200">
                <a:solidFill>
                  <a:srgbClr val="0E2356"/>
                </a:solidFill>
                <a:latin typeface="Outfit"/>
              </a:rPr>
              <a:t>L'outillage prend en charge une partie du fil humain — le consultant garde le reste</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Boucle de réévaluation</a:t>
            </a:r>
          </a:p>
        </p:txBody>
      </p:sp>
      <p:sp>
        <p:nvSpPr>
          <p:cNvPr id="16" name="Rounded Rectangle 15"/>
          <p:cNvSpPr/>
          <p:nvPr/>
        </p:nvSpPr>
        <p:spPr>
          <a:xfrm>
            <a:off x="562356" y="1819656"/>
            <a:ext cx="7804404" cy="1277112"/>
          </a:xfrm>
          <a:prstGeom prst="roundRect">
            <a:avLst>
              <a:gd name="adj" fmla="val 6000"/>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1819656"/>
            <a:ext cx="54864" cy="127711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 y="1819656"/>
            <a:ext cx="850392" cy="127711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650" b="0" i="1">
                <a:solidFill>
                  <a:srgbClr val="586586"/>
                </a:solidFill>
                <a:latin typeface="Outfit"/>
              </a:rPr>
              <a:t>outillé par le module</a:t>
            </a:r>
          </a:p>
        </p:txBody>
      </p:sp>
      <p:sp>
        <p:nvSpPr>
          <p:cNvPr id="19" name="Rectangle 18"/>
          <p:cNvSpPr/>
          <p:nvPr/>
        </p:nvSpPr>
        <p:spPr>
          <a:xfrm>
            <a:off x="1540764" y="1911095"/>
            <a:ext cx="10972" cy="109423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05356" y="1892807"/>
            <a:ext cx="1482471" cy="113080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Trames d'interview par persona, versées à la Collecte</a:t>
            </a:r>
          </a:p>
          <a:p>
            <a:pPr algn="l">
              <a:lnSpc>
                <a:spcPct val="120000"/>
              </a:lnSpc>
              <a:spcBef>
                <a:spcPts val="400"/>
              </a:spcBef>
            </a:pPr>
            <a:r>
              <a:rPr sz="700" b="0" i="0">
                <a:solidFill>
                  <a:srgbClr val="0E2356"/>
                </a:solidFill>
                <a:latin typeface="Outfit"/>
              </a:rPr>
              <a:t>La restitution s'appuie sur le deck exécutif généré</a:t>
            </a:r>
          </a:p>
          <a:p>
            <a:pPr algn="l">
              <a:lnSpc>
                <a:spcPct val="120000"/>
              </a:lnSpc>
              <a:spcBef>
                <a:spcPts val="400"/>
              </a:spcBef>
            </a:pPr>
            <a:r>
              <a:rPr sz="700" b="0" i="0">
                <a:solidFill>
                  <a:srgbClr val="0E2356"/>
                </a:solidFill>
                <a:latin typeface="Outfit"/>
              </a:rPr>
              <a:t>Sondage humain de référence (T0)</a:t>
            </a:r>
          </a:p>
        </p:txBody>
      </p:sp>
      <p:sp>
        <p:nvSpPr>
          <p:cNvPr id="21" name="Rectangle 20"/>
          <p:cNvSpPr/>
          <p:nvPr/>
        </p:nvSpPr>
        <p:spPr>
          <a:xfrm>
            <a:off x="3297555" y="1911095"/>
            <a:ext cx="10972" cy="109423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07283" y="1892807"/>
            <a:ext cx="1482471" cy="113080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Deck de plan de déploiement · export markdown (1re version)</a:t>
            </a:r>
          </a:p>
        </p:txBody>
      </p:sp>
      <p:sp>
        <p:nvSpPr>
          <p:cNvPr id="23" name="Rectangle 22"/>
          <p:cNvSpPr/>
          <p:nvPr/>
        </p:nvSpPr>
        <p:spPr>
          <a:xfrm>
            <a:off x="4999482" y="1911095"/>
            <a:ext cx="10972" cy="109423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09210" y="1892807"/>
            <a:ext cx="1482471" cy="113080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Comité de pilotage : deck périodique, santé humaine incluse</a:t>
            </a:r>
          </a:p>
        </p:txBody>
      </p:sp>
      <p:sp>
        <p:nvSpPr>
          <p:cNvPr id="25" name="Rectangle 24"/>
          <p:cNvSpPr/>
          <p:nvPr/>
        </p:nvSpPr>
        <p:spPr>
          <a:xfrm>
            <a:off x="6701409" y="1911095"/>
            <a:ext cx="10972" cy="109423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11137" y="1892807"/>
            <a:ext cx="1482471" cy="113080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KPI humain rejoué au même instrument : delta T0 → réévaluation</a:t>
            </a:r>
          </a:p>
          <a:p>
            <a:pPr algn="l">
              <a:lnSpc>
                <a:spcPct val="120000"/>
              </a:lnSpc>
              <a:spcBef>
                <a:spcPts val="400"/>
              </a:spcBef>
            </a:pPr>
            <a:r>
              <a:rPr sz="700" b="0" i="0">
                <a:solidFill>
                  <a:srgbClr val="0E2356"/>
                </a:solidFill>
                <a:latin typeface="Outfit"/>
              </a:rPr>
              <a:t>Export markdown amendé · deck de bilan</a:t>
            </a:r>
          </a:p>
        </p:txBody>
      </p:sp>
      <p:sp>
        <p:nvSpPr>
          <p:cNvPr id="27" name="Rounded Rectangle 26"/>
          <p:cNvSpPr/>
          <p:nvPr/>
        </p:nvSpPr>
        <p:spPr>
          <a:xfrm>
            <a:off x="562356" y="3188208"/>
            <a:ext cx="7804404" cy="100888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084" y="3188208"/>
            <a:ext cx="850392" cy="100888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650" b="0" i="1">
                <a:solidFill>
                  <a:srgbClr val="586586"/>
                </a:solidFill>
                <a:latin typeface="Outfit"/>
              </a:rPr>
              <a:t>présence du consultant</a:t>
            </a:r>
          </a:p>
        </p:txBody>
      </p:sp>
      <p:sp>
        <p:nvSpPr>
          <p:cNvPr id="29" name="Rectangle 28"/>
          <p:cNvSpPr/>
          <p:nvPr/>
        </p:nvSpPr>
        <p:spPr>
          <a:xfrm>
            <a:off x="1540764" y="3279648"/>
            <a:ext cx="10972" cy="82600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705356" y="3261360"/>
            <a:ext cx="1482471" cy="86258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Le sponsor présente lui-même l'ambition (micro-lancement)</a:t>
            </a:r>
          </a:p>
          <a:p>
            <a:pPr algn="l">
              <a:lnSpc>
                <a:spcPct val="120000"/>
              </a:lnSpc>
              <a:spcBef>
                <a:spcPts val="400"/>
              </a:spcBef>
            </a:pPr>
            <a:r>
              <a:rPr sz="700" b="0" i="0">
                <a:solidFill>
                  <a:srgbClr val="0E2356"/>
                </a:solidFill>
                <a:latin typeface="Outfit"/>
              </a:rPr>
              <a:t>Restitution-embarquement : feedback des interviewés</a:t>
            </a:r>
          </a:p>
        </p:txBody>
      </p:sp>
      <p:sp>
        <p:nvSpPr>
          <p:cNvPr id="31" name="Rectangle 30"/>
          <p:cNvSpPr/>
          <p:nvPr/>
        </p:nvSpPr>
        <p:spPr>
          <a:xfrm>
            <a:off x="3297555" y="3279648"/>
            <a:ext cx="10972" cy="82600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7283" y="3261360"/>
            <a:ext cx="1482471" cy="86258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Équipes pilotes volontaires, ateliers co-construits</a:t>
            </a:r>
          </a:p>
          <a:p>
            <a:pPr algn="l">
              <a:lnSpc>
                <a:spcPct val="120000"/>
              </a:lnSpc>
              <a:spcBef>
                <a:spcPts val="400"/>
              </a:spcBef>
            </a:pPr>
            <a:r>
              <a:rPr sz="700" b="0" i="0">
                <a:solidFill>
                  <a:srgbClr val="0E2356"/>
                </a:solidFill>
                <a:latin typeface="Outfit"/>
              </a:rPr>
              <a:t>Formation sur les cas réels — pas de formation sans coaching</a:t>
            </a:r>
          </a:p>
        </p:txBody>
      </p:sp>
      <p:sp>
        <p:nvSpPr>
          <p:cNvPr id="33" name="Rectangle 32"/>
          <p:cNvSpPr/>
          <p:nvPr/>
        </p:nvSpPr>
        <p:spPr>
          <a:xfrm>
            <a:off x="4999482" y="3279648"/>
            <a:ext cx="10972" cy="82600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09210" y="3261360"/>
            <a:ext cx="1482471" cy="86258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Communauté de managers, N+1/N+2 embarqués</a:t>
            </a:r>
          </a:p>
          <a:p>
            <a:pPr algn="l">
              <a:lnSpc>
                <a:spcPct val="120000"/>
              </a:lnSpc>
              <a:spcBef>
                <a:spcPts val="400"/>
              </a:spcBef>
            </a:pPr>
            <a:r>
              <a:rPr sz="700" b="0" i="0">
                <a:solidFill>
                  <a:srgbClr val="0E2356"/>
                </a:solidFill>
                <a:latin typeface="Outfit"/>
              </a:rPr>
              <a:t>Coaching individuel sous déontologie · relais internes formés</a:t>
            </a:r>
          </a:p>
        </p:txBody>
      </p:sp>
      <p:sp>
        <p:nvSpPr>
          <p:cNvPr id="35" name="Rectangle 34"/>
          <p:cNvSpPr/>
          <p:nvPr/>
        </p:nvSpPr>
        <p:spPr>
          <a:xfrm>
            <a:off x="6701409" y="3279648"/>
            <a:ext cx="10972" cy="82600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11137" y="3261360"/>
            <a:ext cx="1482471" cy="86258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Présence dégressive : le consultant se rend dispensable</a:t>
            </a:r>
          </a:p>
          <a:p>
            <a:pPr algn="l">
              <a:lnSpc>
                <a:spcPct val="120000"/>
              </a:lnSpc>
              <a:spcBef>
                <a:spcPts val="400"/>
              </a:spcBef>
            </a:pPr>
            <a:r>
              <a:rPr sz="700" b="0" i="0">
                <a:solidFill>
                  <a:srgbClr val="0E2356"/>
                </a:solidFill>
                <a:latin typeface="Outfit"/>
              </a:rPr>
              <a:t>Lecture du delta humain avec les équipes</a:t>
            </a:r>
          </a:p>
        </p:txBody>
      </p:sp>
      <p:sp>
        <p:nvSpPr>
          <p:cNvPr id="37" name="Rounded Rectangle 36"/>
          <p:cNvSpPr/>
          <p:nvPr/>
        </p:nvSpPr>
        <p:spPr>
          <a:xfrm>
            <a:off x="562356" y="4306824"/>
            <a:ext cx="7804404" cy="676656"/>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8660" y="4306824"/>
            <a:ext cx="7511796" cy="676656"/>
          </a:xfrm>
          <a:prstGeom prst="rect">
            <a:avLst/>
          </a:prstGeom>
          <a:noFill/>
        </p:spPr>
        <p:txBody>
          <a:bodyPr wrap="square" anchor="ctr" lIns="0" rIns="0" tIns="0" bIns="0">
            <a:spAutoFit/>
          </a:bodyPr>
          <a:lstStyle/>
          <a:p>
            <a:pPr algn="l"/>
            <a:r>
              <a:rPr sz="800" b="1" i="0">
                <a:solidFill>
                  <a:srgbClr val="0E2356"/>
                </a:solidFill>
                <a:latin typeface="Outfit"/>
              </a:rPr>
              <a:t>ONZE WORKFLOWS OUTILLÉS, PAR ÉTAPE — UN SEUL BLOQUANT : LE GATE DE CONFIDENTIALITÉ</a:t>
            </a:r>
          </a:p>
          <a:p>
            <a:pPr algn="l">
              <a:lnSpc>
                <a:spcPct val="120000"/>
              </a:lnSpc>
              <a:spcBef>
                <a:spcPts val="300"/>
              </a:spcBef>
            </a:pPr>
            <a:r>
              <a:rPr sz="800" b="1" i="0">
                <a:solidFill>
                  <a:srgbClr val="0E2356"/>
                </a:solidFill>
                <a:latin typeface="Outfit"/>
              </a:rPr>
              <a:t>Intake : </a:t>
            </a:r>
            <a:r>
              <a:rPr sz="800" b="0" i="0">
                <a:solidFill>
                  <a:srgbClr val="0E2356"/>
                </a:solidFill>
                <a:latin typeface="Outfit"/>
              </a:rPr>
              <a:t>qualification du contexte · </a:t>
            </a:r>
            <a:r>
              <a:rPr sz="800" b="1" i="0">
                <a:solidFill>
                  <a:srgbClr val="0E2356"/>
                </a:solidFill>
                <a:latin typeface="Outfit"/>
              </a:rPr>
              <a:t>Diagnostic : </a:t>
            </a:r>
            <a:r>
              <a:rPr sz="800" b="0" i="0">
                <a:solidFill>
                  <a:srgbClr val="0E2356"/>
                </a:solidFill>
                <a:latin typeface="Outfit"/>
              </a:rPr>
              <a:t>diagnostic systémique, découverte du gaspillage · </a:t>
            </a:r>
            <a:r>
              <a:rPr sz="800" b="1" i="0">
                <a:solidFill>
                  <a:srgbClr val="0E2356"/>
                </a:solidFill>
                <a:latin typeface="Outfit"/>
              </a:rPr>
              <a:t>Conception : </a:t>
            </a:r>
            <a:r>
              <a:rPr sz="800" b="0" i="0">
                <a:solidFill>
                  <a:srgbClr val="0E2356"/>
                </a:solidFill>
                <a:latin typeface="Outfit"/>
              </a:rPr>
              <a:t>traitement du gaspillage, définition produit, modèle opératoire, opportunités agentic · </a:t>
            </a:r>
            <a:r>
              <a:rPr sz="800" b="1" i="0">
                <a:solidFill>
                  <a:srgbClr val="0E2356"/>
                </a:solidFill>
                <a:latin typeface="Outfit"/>
              </a:rPr>
              <a:t>Adoption &amp; restitution : </a:t>
            </a:r>
            <a:r>
              <a:rPr sz="800" b="0" i="0">
                <a:solidFill>
                  <a:srgbClr val="0E2356"/>
                </a:solidFill>
                <a:latin typeface="Outfit"/>
              </a:rPr>
              <a:t>plan d'adoption, playbook de scénario, restitution exécutive.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L'EXPERTISE AGENTIC D'OCTO   ·   </a:t>
            </a:r>
            <a:r>
              <a:rPr b="1" sz="1200">
                <a:solidFill>
                  <a:srgbClr val="0E2356"/>
                </a:solidFill>
                <a:latin typeface="Outfit"/>
              </a:rPr>
              <a:t>Trois candidats d'agent, un par famille de gaspillage</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les trois niveaux d'ambition</a:t>
            </a:r>
          </a:p>
        </p:txBody>
      </p:sp>
      <p:sp>
        <p:nvSpPr>
          <p:cNvPr id="5" name="TextBox 4"/>
          <p:cNvSpPr txBox="1"/>
          <p:nvPr/>
        </p:nvSpPr>
        <p:spPr>
          <a:xfrm>
            <a:off x="562356" y="1051560"/>
            <a:ext cx="5518404" cy="310896"/>
          </a:xfrm>
          <a:prstGeom prst="rect">
            <a:avLst/>
          </a:prstGeom>
          <a:noFill/>
        </p:spPr>
        <p:txBody>
          <a:bodyPr wrap="square" anchor="t" lIns="0" rIns="0" tIns="0" bIns="0">
            <a:noAutofit/>
          </a:bodyPr>
          <a:lstStyle/>
          <a:p>
            <a:pPr algn="l">
              <a:lnSpc>
                <a:spcPct val="120000"/>
              </a:lnSpc>
            </a:pPr>
            <a:r>
              <a:rPr sz="900" b="0" i="1">
                <a:solidFill>
                  <a:srgbClr val="586586"/>
                </a:solidFill>
                <a:latin typeface="Outfit"/>
              </a:rPr>
              <a:t>Le gaspillage d'abord, l'IA ensuite : chaque candidat répond à une famille déjà cadrée au chapitre Ce que ça coûte — aucun n'est inventé pour l'occasion.</a:t>
            </a:r>
          </a:p>
        </p:txBody>
      </p:sp>
      <p:sp>
        <p:nvSpPr>
          <p:cNvPr id="6" name="Gear 6 5"/>
          <p:cNvSpPr/>
          <p:nvPr/>
        </p:nvSpPr>
        <p:spPr>
          <a:xfrm>
            <a:off x="562356" y="1472184"/>
            <a:ext cx="274320" cy="27432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640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de triage de tickets</a:t>
            </a:r>
          </a:p>
          <a:p>
            <a:pPr algn="l">
              <a:spcBef>
                <a:spcPts val="100"/>
              </a:spcBef>
            </a:pPr>
            <a:r>
              <a:rPr sz="750" b="0" i="1">
                <a:solidFill>
                  <a:srgbClr val="586586"/>
                </a:solidFill>
                <a:latin typeface="Outfit"/>
              </a:rPr>
              <a:t>Gaspillage RUN</a:t>
            </a:r>
          </a:p>
        </p:txBody>
      </p:sp>
      <p:sp>
        <p:nvSpPr>
          <p:cNvPr id="8" name="Rectangle 7"/>
          <p:cNvSpPr/>
          <p:nvPr/>
        </p:nvSpPr>
        <p:spPr>
          <a:xfrm>
            <a:off x="56235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947672"/>
            <a:ext cx="2455164" cy="146304"/>
          </a:xfrm>
          <a:prstGeom prst="rect">
            <a:avLst/>
          </a:prstGeom>
          <a:noFill/>
        </p:spPr>
        <p:txBody>
          <a:bodyPr wrap="square" anchor="t" lIns="0" rIns="0" tIns="0" bIns="0">
            <a:noAutofit/>
          </a:bodyPr>
          <a:lstStyle/>
          <a:p>
            <a:pPr algn="l"/>
            <a:r>
              <a:rPr sz="700" b="1" i="0">
                <a:solidFill>
                  <a:srgbClr val="0E2356"/>
                </a:solidFill>
                <a:latin typeface="Outfit"/>
              </a:rPr>
              <a:t>POURQUOI</a:t>
            </a:r>
          </a:p>
        </p:txBody>
      </p:sp>
      <p:sp>
        <p:nvSpPr>
          <p:cNvPr id="10" name="TextBox 9"/>
          <p:cNvSpPr txBox="1"/>
          <p:nvPr/>
        </p:nvSpPr>
        <p:spPr>
          <a:xfrm>
            <a:off x="562356" y="2093976"/>
            <a:ext cx="2455164" cy="417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Les mêmes tickets reviennent depuis des années et mobilisent des seniors sur du répétitif à faible valeur.</a:t>
            </a:r>
          </a:p>
        </p:txBody>
      </p:sp>
      <p:sp>
        <p:nvSpPr>
          <p:cNvPr id="11" name="TextBox 10"/>
          <p:cNvSpPr txBox="1"/>
          <p:nvPr/>
        </p:nvSpPr>
        <p:spPr>
          <a:xfrm>
            <a:off x="562356" y="2621280"/>
            <a:ext cx="2455164" cy="146304"/>
          </a:xfrm>
          <a:prstGeom prst="rect">
            <a:avLst/>
          </a:prstGeom>
          <a:noFill/>
        </p:spPr>
        <p:txBody>
          <a:bodyPr wrap="square" anchor="t" lIns="0" rIns="0" tIns="0" bIns="0">
            <a:noAutofit/>
          </a:bodyPr>
          <a:lstStyle/>
          <a:p>
            <a:pPr algn="l"/>
            <a:r>
              <a:rPr sz="700" b="1" i="0">
                <a:solidFill>
                  <a:srgbClr val="0E2356"/>
                </a:solidFill>
                <a:latin typeface="Outfit"/>
              </a:rPr>
              <a:t>CE QUE FAIT L'AGENT</a:t>
            </a:r>
          </a:p>
        </p:txBody>
      </p:sp>
      <p:sp>
        <p:nvSpPr>
          <p:cNvPr id="12" name="TextBox 11"/>
          <p:cNvSpPr txBox="1"/>
          <p:nvPr/>
        </p:nvSpPr>
        <p:spPr>
          <a:xfrm>
            <a:off x="562356" y="2767584"/>
            <a:ext cx="2455164" cy="671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Lit chaque ticket, le classe selon un runbook déjà documenté, le route vers la bonne équipe. Le processus doit être explicite AVANT l'agent — jamais l'inverse.</a:t>
            </a:r>
          </a:p>
        </p:txBody>
      </p:sp>
      <p:sp>
        <p:nvSpPr>
          <p:cNvPr id="13" name="TextBox 12"/>
          <p:cNvSpPr txBox="1"/>
          <p:nvPr/>
        </p:nvSpPr>
        <p:spPr>
          <a:xfrm>
            <a:off x="562356" y="3548888"/>
            <a:ext cx="2455164" cy="146304"/>
          </a:xfrm>
          <a:prstGeom prst="rect">
            <a:avLst/>
          </a:prstGeom>
          <a:noFill/>
        </p:spPr>
        <p:txBody>
          <a:bodyPr wrap="square" anchor="t" lIns="0" rIns="0" tIns="0" bIns="0">
            <a:noAutofit/>
          </a:bodyPr>
          <a:lstStyle/>
          <a:p>
            <a:pPr algn="l"/>
            <a:r>
              <a:rPr sz="700" b="1" i="0">
                <a:solidFill>
                  <a:srgbClr val="0E2356"/>
                </a:solidFill>
                <a:latin typeface="Outfit"/>
              </a:rPr>
              <a:t>GAIN</a:t>
            </a:r>
          </a:p>
        </p:txBody>
      </p:sp>
      <p:sp>
        <p:nvSpPr>
          <p:cNvPr id="14" name="TextBox 13"/>
          <p:cNvSpPr txBox="1"/>
          <p:nvPr/>
        </p:nvSpPr>
        <p:spPr>
          <a:xfrm>
            <a:off x="562356" y="3695192"/>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Jusqu'à 15 tickets/mois sans intervention humaine, temps de triage divisé par deux (cas nominal du cadrage).</a:t>
            </a:r>
          </a:p>
        </p:txBody>
      </p:sp>
      <p:sp>
        <p:nvSpPr>
          <p:cNvPr id="15" name="Cloud 14"/>
          <p:cNvSpPr/>
          <p:nvPr/>
        </p:nvSpPr>
        <p:spPr>
          <a:xfrm>
            <a:off x="3236976" y="1472184"/>
            <a:ext cx="274320" cy="27432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de veille FinOps</a:t>
            </a:r>
          </a:p>
          <a:p>
            <a:pPr algn="l">
              <a:spcBef>
                <a:spcPts val="100"/>
              </a:spcBef>
            </a:pPr>
            <a:r>
              <a:rPr sz="750" b="0" i="1">
                <a:solidFill>
                  <a:srgbClr val="586586"/>
                </a:solidFill>
                <a:latin typeface="Outfit"/>
              </a:rPr>
              <a:t>Gaspillage Financier</a:t>
            </a:r>
          </a:p>
        </p:txBody>
      </p:sp>
      <p:sp>
        <p:nvSpPr>
          <p:cNvPr id="17" name="Rectangle 16"/>
          <p:cNvSpPr/>
          <p:nvPr/>
        </p:nvSpPr>
        <p:spPr>
          <a:xfrm>
            <a:off x="323697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36976" y="1947672"/>
            <a:ext cx="2455164" cy="146304"/>
          </a:xfrm>
          <a:prstGeom prst="rect">
            <a:avLst/>
          </a:prstGeom>
          <a:noFill/>
        </p:spPr>
        <p:txBody>
          <a:bodyPr wrap="square" anchor="t" lIns="0" rIns="0" tIns="0" bIns="0">
            <a:noAutofit/>
          </a:bodyPr>
          <a:lstStyle/>
          <a:p>
            <a:pPr algn="l"/>
            <a:r>
              <a:rPr sz="700" b="1" i="0">
                <a:solidFill>
                  <a:srgbClr val="0E2356"/>
                </a:solidFill>
                <a:latin typeface="Outfit"/>
              </a:rPr>
              <a:t>POURQUOI</a:t>
            </a:r>
          </a:p>
        </p:txBody>
      </p:sp>
      <p:sp>
        <p:nvSpPr>
          <p:cNvPr id="19" name="TextBox 18"/>
          <p:cNvSpPr txBox="1"/>
          <p:nvPr/>
        </p:nvSpPr>
        <p:spPr>
          <a:xfrm>
            <a:off x="3236976" y="2093976"/>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Les ressources cloud surdimensionnées ou orphelines n'apparaissent qu'aux audits ponctuels — le gaspillage s'accumule entre deux revues.</a:t>
            </a:r>
          </a:p>
        </p:txBody>
      </p:sp>
      <p:sp>
        <p:nvSpPr>
          <p:cNvPr id="20" name="TextBox 19"/>
          <p:cNvSpPr txBox="1"/>
          <p:nvPr/>
        </p:nvSpPr>
        <p:spPr>
          <a:xfrm>
            <a:off x="3236976" y="2748280"/>
            <a:ext cx="2455164" cy="146304"/>
          </a:xfrm>
          <a:prstGeom prst="rect">
            <a:avLst/>
          </a:prstGeom>
          <a:noFill/>
        </p:spPr>
        <p:txBody>
          <a:bodyPr wrap="square" anchor="t" lIns="0" rIns="0" tIns="0" bIns="0">
            <a:noAutofit/>
          </a:bodyPr>
          <a:lstStyle/>
          <a:p>
            <a:pPr algn="l"/>
            <a:r>
              <a:rPr sz="700" b="1" i="0">
                <a:solidFill>
                  <a:srgbClr val="0E2356"/>
                </a:solidFill>
                <a:latin typeface="Outfit"/>
              </a:rPr>
              <a:t>CE QUE FAIT L'AGENT</a:t>
            </a:r>
          </a:p>
        </p:txBody>
      </p:sp>
      <p:sp>
        <p:nvSpPr>
          <p:cNvPr id="21" name="TextBox 20"/>
          <p:cNvSpPr txBox="1"/>
          <p:nvPr/>
        </p:nvSpPr>
        <p:spPr>
          <a:xfrm>
            <a:off x="3236976" y="2894584"/>
            <a:ext cx="2455164" cy="671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Scanne en continu la CMDB et la facturation, repère l'inactif et le surdimensionné, propose une liste à valider — ne décommissionne jamais seul.</a:t>
            </a:r>
          </a:p>
        </p:txBody>
      </p:sp>
      <p:sp>
        <p:nvSpPr>
          <p:cNvPr id="22" name="TextBox 21"/>
          <p:cNvSpPr txBox="1"/>
          <p:nvPr/>
        </p:nvSpPr>
        <p:spPr>
          <a:xfrm>
            <a:off x="3236976" y="3675887"/>
            <a:ext cx="2455164" cy="146304"/>
          </a:xfrm>
          <a:prstGeom prst="rect">
            <a:avLst/>
          </a:prstGeom>
          <a:noFill/>
        </p:spPr>
        <p:txBody>
          <a:bodyPr wrap="square" anchor="t" lIns="0" rIns="0" tIns="0" bIns="0">
            <a:noAutofit/>
          </a:bodyPr>
          <a:lstStyle/>
          <a:p>
            <a:pPr algn="l"/>
            <a:r>
              <a:rPr sz="700" b="1" i="0">
                <a:solidFill>
                  <a:srgbClr val="0E2356"/>
                </a:solidFill>
                <a:latin typeface="Outfit"/>
              </a:rPr>
              <a:t>GAIN</a:t>
            </a:r>
          </a:p>
        </p:txBody>
      </p:sp>
      <p:sp>
        <p:nvSpPr>
          <p:cNvPr id="23" name="TextBox 22"/>
          <p:cNvSpPr txBox="1"/>
          <p:nvPr/>
        </p:nvSpPr>
        <p:spPr>
          <a:xfrm>
            <a:off x="3236976" y="3822191"/>
            <a:ext cx="2455164" cy="290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Coût récupéré directement mesurable — un KPI de mission déjà cadré.</a:t>
            </a:r>
          </a:p>
        </p:txBody>
      </p:sp>
      <p:sp>
        <p:nvSpPr>
          <p:cNvPr id="24" name="Folded Corner 23"/>
          <p:cNvSpPr/>
          <p:nvPr/>
        </p:nvSpPr>
        <p:spPr>
          <a:xfrm>
            <a:off x="5911596" y="1472184"/>
            <a:ext cx="274320" cy="27432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564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documentaire (RAG)</a:t>
            </a:r>
          </a:p>
          <a:p>
            <a:pPr algn="l">
              <a:spcBef>
                <a:spcPts val="100"/>
              </a:spcBef>
            </a:pPr>
            <a:r>
              <a:rPr sz="750" b="0" i="1">
                <a:solidFill>
                  <a:srgbClr val="586586"/>
                </a:solidFill>
                <a:latin typeface="Outfit"/>
              </a:rPr>
              <a:t>Gaspillage Cognitif</a:t>
            </a:r>
          </a:p>
        </p:txBody>
      </p:sp>
      <p:sp>
        <p:nvSpPr>
          <p:cNvPr id="26" name="Rectangle 25"/>
          <p:cNvSpPr/>
          <p:nvPr/>
        </p:nvSpPr>
        <p:spPr>
          <a:xfrm>
            <a:off x="591159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11596" y="1947672"/>
            <a:ext cx="2455164" cy="146304"/>
          </a:xfrm>
          <a:prstGeom prst="rect">
            <a:avLst/>
          </a:prstGeom>
          <a:noFill/>
        </p:spPr>
        <p:txBody>
          <a:bodyPr wrap="square" anchor="t" lIns="0" rIns="0" tIns="0" bIns="0">
            <a:noAutofit/>
          </a:bodyPr>
          <a:lstStyle/>
          <a:p>
            <a:pPr algn="l"/>
            <a:r>
              <a:rPr sz="700" b="1" i="0">
                <a:solidFill>
                  <a:srgbClr val="0E2356"/>
                </a:solidFill>
                <a:latin typeface="Outfit"/>
              </a:rPr>
              <a:t>POURQUOI</a:t>
            </a:r>
          </a:p>
        </p:txBody>
      </p:sp>
      <p:sp>
        <p:nvSpPr>
          <p:cNvPr id="28" name="TextBox 27"/>
          <p:cNvSpPr txBox="1"/>
          <p:nvPr/>
        </p:nvSpPr>
        <p:spPr>
          <a:xfrm>
            <a:off x="5911596" y="2093976"/>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Trop d'outils, procédures dispersées : retrouver l'information ralentit les équipes et sollicite toujours les mêmes experts.</a:t>
            </a:r>
          </a:p>
        </p:txBody>
      </p:sp>
      <p:sp>
        <p:nvSpPr>
          <p:cNvPr id="29" name="TextBox 28"/>
          <p:cNvSpPr txBox="1"/>
          <p:nvPr/>
        </p:nvSpPr>
        <p:spPr>
          <a:xfrm>
            <a:off x="5911596" y="2748280"/>
            <a:ext cx="2455164" cy="146304"/>
          </a:xfrm>
          <a:prstGeom prst="rect">
            <a:avLst/>
          </a:prstGeom>
          <a:noFill/>
        </p:spPr>
        <p:txBody>
          <a:bodyPr wrap="square" anchor="t" lIns="0" rIns="0" tIns="0" bIns="0">
            <a:noAutofit/>
          </a:bodyPr>
          <a:lstStyle/>
          <a:p>
            <a:pPr algn="l"/>
            <a:r>
              <a:rPr sz="700" b="1" i="0">
                <a:solidFill>
                  <a:srgbClr val="0E2356"/>
                </a:solidFill>
                <a:latin typeface="Outfit"/>
              </a:rPr>
              <a:t>CE QUE FAIT L'AGENT</a:t>
            </a:r>
          </a:p>
        </p:txBody>
      </p:sp>
      <p:sp>
        <p:nvSpPr>
          <p:cNvPr id="30" name="TextBox 29"/>
          <p:cNvSpPr txBox="1"/>
          <p:nvPr/>
        </p:nvSpPr>
        <p:spPr>
          <a:xfrm>
            <a:off x="5911596" y="2894584"/>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Indexe runbooks, wikis et tickets résolus, répond aux questions fréquentes avec la source citée — jamais de réponse sans preuve.</a:t>
            </a:r>
          </a:p>
        </p:txBody>
      </p:sp>
      <p:sp>
        <p:nvSpPr>
          <p:cNvPr id="31" name="TextBox 30"/>
          <p:cNvSpPr txBox="1"/>
          <p:nvPr/>
        </p:nvSpPr>
        <p:spPr>
          <a:xfrm>
            <a:off x="5911596" y="3548888"/>
            <a:ext cx="2455164" cy="146304"/>
          </a:xfrm>
          <a:prstGeom prst="rect">
            <a:avLst/>
          </a:prstGeom>
          <a:noFill/>
        </p:spPr>
        <p:txBody>
          <a:bodyPr wrap="square" anchor="t" lIns="0" rIns="0" tIns="0" bIns="0">
            <a:noAutofit/>
          </a:bodyPr>
          <a:lstStyle/>
          <a:p>
            <a:pPr algn="l"/>
            <a:r>
              <a:rPr sz="700" b="1" i="0">
                <a:solidFill>
                  <a:srgbClr val="0E2356"/>
                </a:solidFill>
                <a:latin typeface="Outfit"/>
              </a:rPr>
              <a:t>GAIN</a:t>
            </a:r>
          </a:p>
        </p:txBody>
      </p:sp>
      <p:sp>
        <p:nvSpPr>
          <p:cNvPr id="32" name="TextBox 31"/>
          <p:cNvSpPr txBox="1"/>
          <p:nvPr/>
        </p:nvSpPr>
        <p:spPr>
          <a:xfrm>
            <a:off x="5911596" y="3695192"/>
            <a:ext cx="2455164" cy="417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Charge cognitive réduite, onboarding plus rapide, moins d'interruptions des experts seniors.</a:t>
            </a:r>
          </a:p>
        </p:txBody>
      </p:sp>
      <p:sp>
        <p:nvSpPr>
          <p:cNvPr id="33" name="TextBox 32"/>
          <p:cNvSpPr txBox="1"/>
          <p:nvPr/>
        </p:nvSpPr>
        <p:spPr>
          <a:xfrm>
            <a:off x="562356" y="4672584"/>
            <a:ext cx="7804404" cy="31089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(chapitre L'offre) et au gate de confidentialité avant toute décision — des exemples illustratifs, pas une liste actée.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L'EXPERTISE AGENTIC D'OCTO   ·   </a:t>
            </a:r>
            <a:r>
              <a:rPr b="1" sz="1200">
                <a:solidFill>
                  <a:srgbClr val="0E2356"/>
                </a:solidFill>
                <a:latin typeface="Outfit"/>
              </a:rPr>
              <a:t>Sous contrôle : la donnée fixe le mode d'exécution, la prudence freine le score</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850" b="0" i="1">
                <a:solidFill>
                  <a:srgbClr val="586586"/>
                </a:solidFill>
                <a:latin typeface="Outfit"/>
              </a:rPr>
              <a:t>Checkpoint toujours humain avant tout usage IA sur donnée client — le gate de confidentialité, quel que soit le mode d'exécution retenu.</a:t>
            </a:r>
          </a:p>
        </p:txBody>
      </p:sp>
      <p:sp>
        <p:nvSpPr>
          <p:cNvPr id="4" name="TextBox 3"/>
          <p:cNvSpPr txBox="1"/>
          <p:nvPr/>
        </p:nvSpPr>
        <p:spPr>
          <a:xfrm>
            <a:off x="562356" y="1380744"/>
            <a:ext cx="4709160" cy="182880"/>
          </a:xfrm>
          <a:prstGeom prst="rect">
            <a:avLst/>
          </a:prstGeom>
          <a:noFill/>
        </p:spPr>
        <p:txBody>
          <a:bodyPr wrap="square" anchor="t" lIns="0" rIns="0" tIns="0" bIns="0">
            <a:noAutofit/>
          </a:bodyPr>
          <a:lstStyle/>
          <a:p>
            <a:pPr algn="l"/>
            <a:r>
              <a:rPr sz="800" b="1" i="0">
                <a:solidFill>
                  <a:srgbClr val="586586"/>
                </a:solidFill>
                <a:latin typeface="Outfit"/>
              </a:rPr>
              <a:t>LE GATE DE CONFIDENTIALITÉ — LA DONNÉE DÉCIDE DU MODE</a:t>
            </a:r>
          </a:p>
        </p:txBody>
      </p:sp>
      <p:sp>
        <p:nvSpPr>
          <p:cNvPr id="5" name="Rounded Rectangle 4"/>
          <p:cNvSpPr/>
          <p:nvPr/>
        </p:nvSpPr>
        <p:spPr>
          <a:xfrm>
            <a:off x="562356" y="1618488"/>
            <a:ext cx="1188720" cy="45720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618488"/>
            <a:ext cx="1188720" cy="457200"/>
          </a:xfrm>
          <a:prstGeom prst="rect">
            <a:avLst/>
          </a:prstGeom>
          <a:noFill/>
        </p:spPr>
        <p:txBody>
          <a:bodyPr wrap="square" anchor="ctr" lIns="0" rIns="0" tIns="0" bIns="0">
            <a:noAutofit/>
          </a:bodyPr>
          <a:lstStyle/>
          <a:p>
            <a:pPr algn="ctr"/>
            <a:r>
              <a:rPr sz="850" b="1" i="0">
                <a:solidFill>
                  <a:srgbClr val="FFFFFF"/>
                </a:solidFill>
                <a:latin typeface="Outfit"/>
              </a:rPr>
              <a:t>D0 · Public</a:t>
            </a:r>
          </a:p>
        </p:txBody>
      </p:sp>
      <p:sp>
        <p:nvSpPr>
          <p:cNvPr id="7" name="TextBox 6"/>
          <p:cNvSpPr txBox="1"/>
          <p:nvPr/>
        </p:nvSpPr>
        <p:spPr>
          <a:xfrm>
            <a:off x="1879092" y="1618488"/>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Articles publics, docs méthodo</a:t>
            </a:r>
          </a:p>
        </p:txBody>
      </p:sp>
      <p:sp>
        <p:nvSpPr>
          <p:cNvPr id="8" name="TextBox 7"/>
          <p:cNvSpPr txBox="1"/>
          <p:nvPr/>
        </p:nvSpPr>
        <p:spPr>
          <a:xfrm>
            <a:off x="3826764" y="1618488"/>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IA externe possible</a:t>
            </a:r>
          </a:p>
        </p:txBody>
      </p:sp>
      <p:sp>
        <p:nvSpPr>
          <p:cNvPr id="9" name="Rounded Rectangle 8"/>
          <p:cNvSpPr/>
          <p:nvPr/>
        </p:nvSpPr>
        <p:spPr>
          <a:xfrm>
            <a:off x="562356" y="2148840"/>
            <a:ext cx="1188720" cy="457200"/>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2356" y="2148840"/>
            <a:ext cx="1188720" cy="457200"/>
          </a:xfrm>
          <a:prstGeom prst="rect">
            <a:avLst/>
          </a:prstGeom>
          <a:noFill/>
        </p:spPr>
        <p:txBody>
          <a:bodyPr wrap="square" anchor="ctr" lIns="0" rIns="0" tIns="0" bIns="0">
            <a:noAutofit/>
          </a:bodyPr>
          <a:lstStyle/>
          <a:p>
            <a:pPr algn="ctr"/>
            <a:r>
              <a:rPr sz="850" b="1" i="0">
                <a:solidFill>
                  <a:srgbClr val="FFFFFF"/>
                </a:solidFill>
                <a:latin typeface="Outfit"/>
              </a:rPr>
              <a:t>D1 · Interne</a:t>
            </a:r>
          </a:p>
        </p:txBody>
      </p:sp>
      <p:sp>
        <p:nvSpPr>
          <p:cNvPr id="11" name="TextBox 10"/>
          <p:cNvSpPr txBox="1"/>
          <p:nvPr/>
        </p:nvSpPr>
        <p:spPr>
          <a:xfrm>
            <a:off x="1879092" y="2148840"/>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Organisation macro, catalogue anonymisé</a:t>
            </a:r>
          </a:p>
        </p:txBody>
      </p:sp>
      <p:sp>
        <p:nvSpPr>
          <p:cNvPr id="12" name="TextBox 11"/>
          <p:cNvSpPr txBox="1"/>
          <p:nvPr/>
        </p:nvSpPr>
        <p:spPr>
          <a:xfrm>
            <a:off x="3826764" y="2148840"/>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IA client recommandée</a:t>
            </a:r>
          </a:p>
        </p:txBody>
      </p:sp>
      <p:sp>
        <p:nvSpPr>
          <p:cNvPr id="13" name="Rounded Rectangle 12"/>
          <p:cNvSpPr/>
          <p:nvPr/>
        </p:nvSpPr>
        <p:spPr>
          <a:xfrm>
            <a:off x="562356" y="2679191"/>
            <a:ext cx="1188720" cy="45720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2356" y="2679191"/>
            <a:ext cx="1188720" cy="457200"/>
          </a:xfrm>
          <a:prstGeom prst="rect">
            <a:avLst/>
          </a:prstGeom>
          <a:noFill/>
        </p:spPr>
        <p:txBody>
          <a:bodyPr wrap="square" anchor="ctr" lIns="0" rIns="0" tIns="0" bIns="0">
            <a:noAutofit/>
          </a:bodyPr>
          <a:lstStyle/>
          <a:p>
            <a:pPr algn="ctr"/>
            <a:r>
              <a:rPr sz="850" b="1" i="0">
                <a:solidFill>
                  <a:srgbClr val="FFFFFF"/>
                </a:solidFill>
                <a:latin typeface="Outfit"/>
              </a:rPr>
              <a:t>D2 · Confidentiel</a:t>
            </a:r>
          </a:p>
        </p:txBody>
      </p:sp>
      <p:sp>
        <p:nvSpPr>
          <p:cNvPr id="15" name="TextBox 14"/>
          <p:cNvSpPr txBox="1"/>
          <p:nvPr/>
        </p:nvSpPr>
        <p:spPr>
          <a:xfrm>
            <a:off x="1879092" y="2679191"/>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Notes d'interview, reporting</a:t>
            </a:r>
          </a:p>
        </p:txBody>
      </p:sp>
      <p:sp>
        <p:nvSpPr>
          <p:cNvPr id="16" name="TextBox 15"/>
          <p:cNvSpPr txBox="1"/>
          <p:nvPr/>
        </p:nvSpPr>
        <p:spPr>
          <a:xfrm>
            <a:off x="3826764" y="2679191"/>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IA client ou LLM privé</a:t>
            </a:r>
          </a:p>
        </p:txBody>
      </p:sp>
      <p:sp>
        <p:nvSpPr>
          <p:cNvPr id="17" name="Rounded Rectangle 16"/>
          <p:cNvSpPr/>
          <p:nvPr/>
        </p:nvSpPr>
        <p:spPr>
          <a:xfrm>
            <a:off x="562356" y="3209544"/>
            <a:ext cx="1188720" cy="457200"/>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209544"/>
            <a:ext cx="1188720" cy="457200"/>
          </a:xfrm>
          <a:prstGeom prst="rect">
            <a:avLst/>
          </a:prstGeom>
          <a:noFill/>
        </p:spPr>
        <p:txBody>
          <a:bodyPr wrap="square" anchor="ctr" lIns="0" rIns="0" tIns="0" bIns="0">
            <a:noAutofit/>
          </a:bodyPr>
          <a:lstStyle/>
          <a:p>
            <a:pPr algn="ctr"/>
            <a:r>
              <a:rPr sz="850" b="1" i="0">
                <a:solidFill>
                  <a:srgbClr val="FFFFFF"/>
                </a:solidFill>
                <a:latin typeface="Outfit"/>
              </a:rPr>
              <a:t>D3 · Restreint</a:t>
            </a:r>
          </a:p>
        </p:txBody>
      </p:sp>
      <p:sp>
        <p:nvSpPr>
          <p:cNvPr id="19" name="TextBox 18"/>
          <p:cNvSpPr txBox="1"/>
          <p:nvPr/>
        </p:nvSpPr>
        <p:spPr>
          <a:xfrm>
            <a:off x="1879092" y="3209544"/>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Tickets détaillés, logs, CMDB, IAM</a:t>
            </a:r>
          </a:p>
        </p:txBody>
      </p:sp>
      <p:sp>
        <p:nvSpPr>
          <p:cNvPr id="20" name="TextBox 19"/>
          <p:cNvSpPr txBox="1"/>
          <p:nvPr/>
        </p:nvSpPr>
        <p:spPr>
          <a:xfrm>
            <a:off x="3826764" y="3209544"/>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LLM local, contrôles forts</a:t>
            </a:r>
          </a:p>
        </p:txBody>
      </p:sp>
      <p:sp>
        <p:nvSpPr>
          <p:cNvPr id="21" name="Rounded Rectangle 20"/>
          <p:cNvSpPr/>
          <p:nvPr/>
        </p:nvSpPr>
        <p:spPr>
          <a:xfrm>
            <a:off x="562356" y="3739896"/>
            <a:ext cx="118872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2356" y="3739896"/>
            <a:ext cx="1188720" cy="457200"/>
          </a:xfrm>
          <a:prstGeom prst="rect">
            <a:avLst/>
          </a:prstGeom>
          <a:noFill/>
        </p:spPr>
        <p:txBody>
          <a:bodyPr wrap="square" anchor="ctr" lIns="0" rIns="0" tIns="0" bIns="0">
            <a:noAutofit/>
          </a:bodyPr>
          <a:lstStyle/>
          <a:p>
            <a:pPr algn="ctr"/>
            <a:r>
              <a:rPr sz="850" b="1" i="0">
                <a:solidFill>
                  <a:srgbClr val="FFFFFF"/>
                </a:solidFill>
                <a:latin typeface="Outfit"/>
              </a:rPr>
              <a:t>D4 · Critique</a:t>
            </a:r>
          </a:p>
        </p:txBody>
      </p:sp>
      <p:sp>
        <p:nvSpPr>
          <p:cNvPr id="23" name="TextBox 22"/>
          <p:cNvSpPr txBox="1"/>
          <p:nvPr/>
        </p:nvSpPr>
        <p:spPr>
          <a:xfrm>
            <a:off x="1879092" y="3739896"/>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Secrets de production, données réglementées</a:t>
            </a:r>
          </a:p>
        </p:txBody>
      </p:sp>
      <p:sp>
        <p:nvSpPr>
          <p:cNvPr id="24" name="TextBox 23"/>
          <p:cNvSpPr txBox="1"/>
          <p:nvPr/>
        </p:nvSpPr>
        <p:spPr>
          <a:xfrm>
            <a:off x="3826764" y="3739896"/>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Local, sans IA générative</a:t>
            </a:r>
          </a:p>
        </p:txBody>
      </p:sp>
      <p:sp>
        <p:nvSpPr>
          <p:cNvPr id="25" name="Rounded Rectangle 24"/>
          <p:cNvSpPr/>
          <p:nvPr/>
        </p:nvSpPr>
        <p:spPr>
          <a:xfrm>
            <a:off x="5500116" y="1380744"/>
            <a:ext cx="2866644" cy="281635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4708" y="1545336"/>
            <a:ext cx="2537460" cy="2487168"/>
          </a:xfrm>
          <a:prstGeom prst="rect">
            <a:avLst/>
          </a:prstGeom>
          <a:noFill/>
        </p:spPr>
        <p:txBody>
          <a:bodyPr wrap="square" anchor="t" lIns="0" rIns="0" tIns="0" bIns="0">
            <a:spAutoFit/>
          </a:bodyPr>
          <a:lstStyle/>
          <a:p>
            <a:pPr algn="l"/>
            <a:r>
              <a:rPr sz="800" b="1" i="0">
                <a:solidFill>
                  <a:srgbClr val="C7CBE0"/>
                </a:solidFill>
                <a:latin typeface="Outfit"/>
              </a:rPr>
              <a:t>PRUDENCE IA — UN FREIN CHIFFRÉ</a:t>
            </a:r>
          </a:p>
          <a:p>
            <a:pPr algn="l">
              <a:spcBef>
                <a:spcPts val="400"/>
              </a:spcBef>
            </a:pPr>
            <a:r>
              <a:rPr sz="1050" b="1" i="0">
                <a:solidFill>
                  <a:srgbClr val="FFFFFF"/>
                </a:solidFill>
                <a:latin typeface="Outfit"/>
              </a:rPr>
              <a:t>= confidentialité + supervision + criticité</a:t>
            </a:r>
          </a:p>
          <a:p>
            <a:pPr algn="l">
              <a:lnSpc>
                <a:spcPct val="120000"/>
              </a:lnSpc>
              <a:spcBef>
                <a:spcPts val="700"/>
              </a:spcBef>
            </a:pPr>
            <a:r>
              <a:rPr sz="850" b="1" i="0">
                <a:solidFill>
                  <a:srgbClr val="FFFFFF"/>
                </a:solidFill>
                <a:latin typeface="Outfit"/>
              </a:rPr>
              <a:t>Confidentialité : </a:t>
            </a:r>
            <a:r>
              <a:rPr sz="850" b="0" i="0">
                <a:solidFill>
                  <a:srgbClr val="C7CBE0"/>
                </a:solidFill>
                <a:latin typeface="Outfit"/>
              </a:rPr>
              <a:t>reprend la classe D0-D4 : plus la donnée est sensible, plus le score monte.</a:t>
            </a:r>
          </a:p>
          <a:p>
            <a:pPr algn="l">
              <a:lnSpc>
                <a:spcPct val="120000"/>
              </a:lnSpc>
              <a:spcBef>
                <a:spcPts val="700"/>
              </a:spcBef>
            </a:pPr>
            <a:r>
              <a:rPr sz="850" b="1" i="0">
                <a:solidFill>
                  <a:srgbClr val="FFFFFF"/>
                </a:solidFill>
                <a:latin typeface="Outfit"/>
              </a:rPr>
              <a:t>Supervision : </a:t>
            </a:r>
            <a:r>
              <a:rPr sz="850" b="0" i="0">
                <a:solidFill>
                  <a:srgbClr val="C7CBE0"/>
                </a:solidFill>
                <a:latin typeface="Outfit"/>
              </a:rPr>
              <a:t>un agent encore au stade assisté pèse plus lourd qu'un agent éprouvé.</a:t>
            </a:r>
          </a:p>
          <a:p>
            <a:pPr algn="l">
              <a:lnSpc>
                <a:spcPct val="120000"/>
              </a:lnSpc>
              <a:spcBef>
                <a:spcPts val="700"/>
              </a:spcBef>
            </a:pPr>
            <a:r>
              <a:rPr sz="850" b="1" i="0">
                <a:solidFill>
                  <a:srgbClr val="FFFFFF"/>
                </a:solidFill>
                <a:latin typeface="Outfit"/>
              </a:rPr>
              <a:t>Criticité : </a:t>
            </a:r>
            <a:r>
              <a:rPr sz="850" b="0" i="0">
                <a:solidFill>
                  <a:srgbClr val="C7CBE0"/>
                </a:solidFill>
                <a:latin typeface="Outfit"/>
              </a:rPr>
              <a:t>une décision irréversible pèse plus qu'une recommandation réversible.</a:t>
            </a:r>
          </a:p>
          <a:p>
            <a:pPr algn="l">
              <a:lnSpc>
                <a:spcPct val="120000"/>
              </a:lnSpc>
              <a:spcBef>
                <a:spcPts val="1000"/>
              </a:spcBef>
            </a:pPr>
            <a:r>
              <a:rPr sz="850" b="1" i="0">
                <a:solidFill>
                  <a:srgbClr val="FFFFFF"/>
                </a:solidFill>
                <a:latin typeface="Outfit"/>
              </a:rPr>
              <a:t>Soustraite de impact × faisabilité : un frein, pas un veto — avancer malgré un score élevé reste possible, et se documente.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L'EXPERTISE AGENTIC D'OCTO   ·   </a:t>
            </a:r>
            <a:r>
              <a:rPr b="1" sz="1200">
                <a:solidFill>
                  <a:srgbClr val="0E2356"/>
                </a:solidFill>
                <a:latin typeface="Outfit"/>
              </a:rPr>
              <a:t>Trois niveaux d'ambition : seul ce qui passe chez le client change, pas la méthode</a:t>
            </a:r>
          </a:p>
        </p:txBody>
      </p:sp>
      <p:sp>
        <p:nvSpPr>
          <p:cNvPr id="3" name="TextBox 2"/>
          <p:cNvSpPr txBox="1"/>
          <p:nvPr/>
        </p:nvSpPr>
        <p:spPr>
          <a:xfrm>
            <a:off x="2528316" y="1097280"/>
            <a:ext cx="1860803" cy="182880"/>
          </a:xfrm>
          <a:prstGeom prst="rect">
            <a:avLst/>
          </a:prstGeom>
          <a:noFill/>
        </p:spPr>
        <p:txBody>
          <a:bodyPr wrap="square" anchor="t" lIns="0" rIns="0" tIns="0" bIns="0">
            <a:noAutofit/>
          </a:bodyPr>
          <a:lstStyle/>
          <a:p>
            <a:pPr algn="l"/>
            <a:r>
              <a:rPr sz="800" b="1" i="0">
                <a:solidFill>
                  <a:srgbClr val="586586"/>
                </a:solidFill>
                <a:latin typeface="Outfit"/>
              </a:rPr>
              <a:t>CE QU'IL FAIT</a:t>
            </a:r>
          </a:p>
        </p:txBody>
      </p:sp>
      <p:sp>
        <p:nvSpPr>
          <p:cNvPr id="4" name="TextBox 3"/>
          <p:cNvSpPr txBox="1"/>
          <p:nvPr/>
        </p:nvSpPr>
        <p:spPr>
          <a:xfrm>
            <a:off x="4517136" y="1097280"/>
            <a:ext cx="1860803" cy="182880"/>
          </a:xfrm>
          <a:prstGeom prst="rect">
            <a:avLst/>
          </a:prstGeom>
          <a:noFill/>
        </p:spPr>
        <p:txBody>
          <a:bodyPr wrap="square" anchor="t" lIns="0" rIns="0" tIns="0" bIns="0">
            <a:noAutofit/>
          </a:bodyPr>
          <a:lstStyle/>
          <a:p>
            <a:pPr algn="l"/>
            <a:r>
              <a:rPr sz="800" b="1" i="0">
                <a:solidFill>
                  <a:srgbClr val="586586"/>
                </a:solidFill>
                <a:latin typeface="Outfit"/>
              </a:rPr>
              <a:t>LIEN AU SI</a:t>
            </a:r>
          </a:p>
        </p:txBody>
      </p:sp>
      <p:sp>
        <p:nvSpPr>
          <p:cNvPr id="5" name="TextBox 4"/>
          <p:cNvSpPr txBox="1"/>
          <p:nvPr/>
        </p:nvSpPr>
        <p:spPr>
          <a:xfrm>
            <a:off x="6505956" y="1097280"/>
            <a:ext cx="1860803" cy="182880"/>
          </a:xfrm>
          <a:prstGeom prst="rect">
            <a:avLst/>
          </a:prstGeom>
          <a:noFill/>
        </p:spPr>
        <p:txBody>
          <a:bodyPr wrap="square" anchor="t" lIns="0" rIns="0" tIns="0" bIns="0">
            <a:noAutofit/>
          </a:bodyPr>
          <a:lstStyle/>
          <a:p>
            <a:pPr algn="l"/>
            <a:r>
              <a:rPr sz="800" b="1" i="0">
                <a:solidFill>
                  <a:srgbClr val="586586"/>
                </a:solidFill>
                <a:latin typeface="Outfit"/>
              </a:rPr>
              <a:t>CE QUI PASSE CHEZ LE CLIENT</a:t>
            </a:r>
          </a:p>
        </p:txBody>
      </p:sp>
      <p:sp>
        <p:nvSpPr>
          <p:cNvPr id="6" name="Rounded Rectangle 5"/>
          <p:cNvSpPr/>
          <p:nvPr/>
        </p:nvSpPr>
        <p:spPr>
          <a:xfrm>
            <a:off x="562356" y="1353312"/>
            <a:ext cx="7804404" cy="814070"/>
          </a:xfrm>
          <a:prstGeom prst="roundRect">
            <a:avLst>
              <a:gd name="adj" fmla="val 1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353312"/>
            <a:ext cx="1828800" cy="81407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72084" y="1577467"/>
            <a:ext cx="365760"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 y="1577467"/>
            <a:ext cx="365760" cy="365760"/>
          </a:xfrm>
          <a:prstGeom prst="rect">
            <a:avLst/>
          </a:prstGeom>
          <a:noFill/>
        </p:spPr>
        <p:txBody>
          <a:bodyPr wrap="square" anchor="ctr" lIns="0" rIns="0" tIns="0" bIns="0">
            <a:noAutofit/>
          </a:bodyPr>
          <a:lstStyle/>
          <a:p>
            <a:pPr algn="ctr"/>
            <a:r>
              <a:rPr sz="1300" b="1" i="0">
                <a:solidFill>
                  <a:srgbClr val="0E2356"/>
                </a:solidFill>
                <a:latin typeface="Outfit"/>
              </a:rPr>
              <a:t>A</a:t>
            </a:r>
          </a:p>
        </p:txBody>
      </p:sp>
      <p:sp>
        <p:nvSpPr>
          <p:cNvPr id="10" name="TextBox 9"/>
          <p:cNvSpPr txBox="1"/>
          <p:nvPr/>
        </p:nvSpPr>
        <p:spPr>
          <a:xfrm>
            <a:off x="1129284" y="1353312"/>
            <a:ext cx="1188720" cy="814070"/>
          </a:xfrm>
          <a:prstGeom prst="rect">
            <a:avLst/>
          </a:prstGeom>
          <a:noFill/>
        </p:spPr>
        <p:txBody>
          <a:bodyPr wrap="square" anchor="ctr" lIns="0" rIns="0" tIns="0" bIns="0">
            <a:noAutofit/>
          </a:bodyPr>
          <a:lstStyle/>
          <a:p>
            <a:pPr algn="l">
              <a:lnSpc>
                <a:spcPct val="110000"/>
              </a:lnSpc>
            </a:pPr>
            <a:r>
              <a:rPr sz="1000" b="1" i="0">
                <a:solidFill>
                  <a:srgbClr val="FFFFFF"/>
                </a:solidFill>
                <a:latin typeface="Outfit"/>
              </a:rPr>
              <a:t>Aide au coach</a:t>
            </a:r>
          </a:p>
          <a:p>
            <a:pPr algn="l">
              <a:spcBef>
                <a:spcPts val="200"/>
              </a:spcBef>
            </a:pPr>
            <a:r>
              <a:rPr sz="800" b="0" i="1">
                <a:solidFill>
                  <a:srgbClr val="C7CBE0"/>
                </a:solidFill>
                <a:latin typeface="Outfit"/>
              </a:rPr>
              <a:t>État actuel (MVP0–MVP5)</a:t>
            </a:r>
          </a:p>
        </p:txBody>
      </p:sp>
      <p:sp>
        <p:nvSpPr>
          <p:cNvPr id="11" name="TextBox 10"/>
          <p:cNvSpPr txBox="1"/>
          <p:nvPr/>
        </p:nvSpPr>
        <p:spPr>
          <a:xfrm>
            <a:off x="2528316" y="1353312"/>
            <a:ext cx="1860803" cy="81407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Génère un livrable à la demande ; le consultant pilote à 100 %.</a:t>
            </a:r>
          </a:p>
        </p:txBody>
      </p:sp>
      <p:sp>
        <p:nvSpPr>
          <p:cNvPr id="12" name="TextBox 11"/>
          <p:cNvSpPr txBox="1"/>
          <p:nvPr/>
        </p:nvSpPr>
        <p:spPr>
          <a:xfrm>
            <a:off x="4517136" y="1353312"/>
            <a:ext cx="1860803" cy="81407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Exports ponctuels et interviews — aucune connexion.</a:t>
            </a:r>
          </a:p>
        </p:txBody>
      </p:sp>
      <p:sp>
        <p:nvSpPr>
          <p:cNvPr id="13" name="TextBox 12"/>
          <p:cNvSpPr txBox="1"/>
          <p:nvPr/>
        </p:nvSpPr>
        <p:spPr>
          <a:xfrm>
            <a:off x="6505956" y="1353312"/>
            <a:ext cx="1860803" cy="814070"/>
          </a:xfrm>
          <a:prstGeom prst="rect">
            <a:avLst/>
          </a:prstGeom>
          <a:noFill/>
        </p:spPr>
        <p:txBody>
          <a:bodyPr wrap="square" anchor="ctr" lIns="0" rIns="0" tIns="0" bIns="0">
            <a:noAutofit/>
          </a:bodyPr>
          <a:lstStyle/>
          <a:p>
            <a:pPr algn="l">
              <a:lnSpc>
                <a:spcPct val="125000"/>
              </a:lnSpc>
            </a:pPr>
            <a:r>
              <a:rPr sz="850" b="1" i="0">
                <a:solidFill>
                  <a:srgbClr val="0E2356"/>
                </a:solidFill>
                <a:latin typeface="Outfit"/>
              </a:rPr>
              <a:t>Rien ne s'installe : livrables markdown et deck, sur le poste du consultant.</a:t>
            </a:r>
          </a:p>
        </p:txBody>
      </p:sp>
      <p:sp>
        <p:nvSpPr>
          <p:cNvPr id="14" name="Rounded Rectangle 13"/>
          <p:cNvSpPr/>
          <p:nvPr/>
        </p:nvSpPr>
        <p:spPr>
          <a:xfrm>
            <a:off x="562356" y="2295398"/>
            <a:ext cx="7804404" cy="731520"/>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295398"/>
            <a:ext cx="1828800" cy="7315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72084" y="2478277"/>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2478277"/>
            <a:ext cx="365760" cy="365760"/>
          </a:xfrm>
          <a:prstGeom prst="rect">
            <a:avLst/>
          </a:prstGeom>
          <a:noFill/>
        </p:spPr>
        <p:txBody>
          <a:bodyPr wrap="square" anchor="ctr" lIns="0" rIns="0" tIns="0" bIns="0">
            <a:noAutofit/>
          </a:bodyPr>
          <a:lstStyle/>
          <a:p>
            <a:pPr algn="ctr"/>
            <a:r>
              <a:rPr sz="1300" b="1" i="0">
                <a:solidFill>
                  <a:srgbClr val="FFFFFF"/>
                </a:solidFill>
                <a:latin typeface="Outfit"/>
              </a:rPr>
              <a:t>B</a:t>
            </a:r>
          </a:p>
        </p:txBody>
      </p:sp>
      <p:sp>
        <p:nvSpPr>
          <p:cNvPr id="18" name="TextBox 17"/>
          <p:cNvSpPr txBox="1"/>
          <p:nvPr/>
        </p:nvSpPr>
        <p:spPr>
          <a:xfrm>
            <a:off x="1129284" y="2295398"/>
            <a:ext cx="1188720" cy="731520"/>
          </a:xfrm>
          <a:prstGeom prst="rect">
            <a:avLst/>
          </a:prstGeom>
          <a:noFill/>
        </p:spPr>
        <p:txBody>
          <a:bodyPr wrap="square" anchor="ctr" lIns="0" rIns="0" tIns="0" bIns="0">
            <a:noAutofit/>
          </a:bodyPr>
          <a:lstStyle/>
          <a:p>
            <a:pPr algn="l">
              <a:lnSpc>
                <a:spcPct val="110000"/>
              </a:lnSpc>
            </a:pPr>
            <a:r>
              <a:rPr sz="1000" b="1" i="0">
                <a:solidFill>
                  <a:srgbClr val="0E2356"/>
                </a:solidFill>
                <a:latin typeface="Outfit"/>
              </a:rPr>
              <a:t>Assistant interactif</a:t>
            </a:r>
          </a:p>
          <a:p>
            <a:pPr algn="l">
              <a:spcBef>
                <a:spcPts val="200"/>
              </a:spcBef>
            </a:pPr>
            <a:r>
              <a:rPr sz="800" b="0" i="1">
                <a:solidFill>
                  <a:srgbClr val="586586"/>
                </a:solidFill>
                <a:latin typeface="Outfit"/>
              </a:rPr>
              <a:t>Palier intermédiaire</a:t>
            </a:r>
          </a:p>
        </p:txBody>
      </p:sp>
      <p:sp>
        <p:nvSpPr>
          <p:cNvPr id="19" name="TextBox 18"/>
          <p:cNvSpPr txBox="1"/>
          <p:nvPr/>
        </p:nvSpPr>
        <p:spPr>
          <a:xfrm>
            <a:off x="2528316" y="2295398"/>
            <a:ext cx="1860803" cy="73152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Guide pas à pas, pose des questions, signale les incohérences.</a:t>
            </a:r>
          </a:p>
        </p:txBody>
      </p:sp>
      <p:sp>
        <p:nvSpPr>
          <p:cNvPr id="20" name="TextBox 19"/>
          <p:cNvSpPr txBox="1"/>
          <p:nvPr/>
        </p:nvSpPr>
        <p:spPr>
          <a:xfrm>
            <a:off x="4517136" y="2295398"/>
            <a:ext cx="1860803" cy="73152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Exports + app de capture terrain, site centralisé.</a:t>
            </a:r>
          </a:p>
        </p:txBody>
      </p:sp>
      <p:sp>
        <p:nvSpPr>
          <p:cNvPr id="21" name="TextBox 20"/>
          <p:cNvSpPr txBox="1"/>
          <p:nvPr/>
        </p:nvSpPr>
        <p:spPr>
          <a:xfrm>
            <a:off x="6505956" y="2295398"/>
            <a:ext cx="1860803" cy="731520"/>
          </a:xfrm>
          <a:prstGeom prst="rect">
            <a:avLst/>
          </a:prstGeom>
          <a:noFill/>
        </p:spPr>
        <p:txBody>
          <a:bodyPr wrap="square" anchor="ctr" lIns="0" rIns="0" tIns="0" bIns="0">
            <a:noAutofit/>
          </a:bodyPr>
          <a:lstStyle/>
          <a:p>
            <a:pPr algn="l">
              <a:lnSpc>
                <a:spcPct val="125000"/>
              </a:lnSpc>
            </a:pPr>
            <a:r>
              <a:rPr sz="850" b="1" i="0">
                <a:solidFill>
                  <a:srgbClr val="0E2356"/>
                </a:solidFill>
                <a:latin typeface="Outfit"/>
              </a:rPr>
              <a:t>L'app de capture et un tableau de bord multi-engagements.</a:t>
            </a:r>
          </a:p>
        </p:txBody>
      </p:sp>
      <p:sp>
        <p:nvSpPr>
          <p:cNvPr id="22" name="Rounded Rectangle 21"/>
          <p:cNvSpPr/>
          <p:nvPr/>
        </p:nvSpPr>
        <p:spPr>
          <a:xfrm>
            <a:off x="562356" y="3154934"/>
            <a:ext cx="7804404" cy="731520"/>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3154934"/>
            <a:ext cx="1828800" cy="7315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 y="3337813"/>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2084" y="3337813"/>
            <a:ext cx="365760" cy="365760"/>
          </a:xfrm>
          <a:prstGeom prst="rect">
            <a:avLst/>
          </a:prstGeom>
          <a:noFill/>
        </p:spPr>
        <p:txBody>
          <a:bodyPr wrap="square" anchor="ctr" lIns="0" rIns="0" tIns="0" bIns="0">
            <a:noAutofit/>
          </a:bodyPr>
          <a:lstStyle/>
          <a:p>
            <a:pPr algn="ctr"/>
            <a:r>
              <a:rPr sz="1300" b="1" i="0">
                <a:solidFill>
                  <a:srgbClr val="FFFFFF"/>
                </a:solidFill>
                <a:latin typeface="Outfit"/>
              </a:rPr>
              <a:t>C</a:t>
            </a:r>
          </a:p>
        </p:txBody>
      </p:sp>
      <p:sp>
        <p:nvSpPr>
          <p:cNvPr id="26" name="TextBox 25"/>
          <p:cNvSpPr txBox="1"/>
          <p:nvPr/>
        </p:nvSpPr>
        <p:spPr>
          <a:xfrm>
            <a:off x="1129284" y="3154934"/>
            <a:ext cx="1188720" cy="731520"/>
          </a:xfrm>
          <a:prstGeom prst="rect">
            <a:avLst/>
          </a:prstGeom>
          <a:noFill/>
        </p:spPr>
        <p:txBody>
          <a:bodyPr wrap="square" anchor="ctr" lIns="0" rIns="0" tIns="0" bIns="0">
            <a:noAutofit/>
          </a:bodyPr>
          <a:lstStyle/>
          <a:p>
            <a:pPr algn="l">
              <a:lnSpc>
                <a:spcPct val="110000"/>
              </a:lnSpc>
            </a:pPr>
            <a:r>
              <a:rPr sz="1000" b="1" i="0">
                <a:solidFill>
                  <a:srgbClr val="0E2356"/>
                </a:solidFill>
                <a:latin typeface="Outfit"/>
              </a:rPr>
              <a:t>Companion connecté</a:t>
            </a:r>
          </a:p>
          <a:p>
            <a:pPr algn="l">
              <a:spcBef>
                <a:spcPts val="200"/>
              </a:spcBef>
            </a:pPr>
            <a:r>
              <a:rPr sz="800" b="0" i="1">
                <a:solidFill>
                  <a:srgbClr val="586586"/>
                </a:solidFill>
                <a:latin typeface="Outfit"/>
              </a:rPr>
              <a:t>MVP6, non engagé</a:t>
            </a:r>
          </a:p>
        </p:txBody>
      </p:sp>
      <p:sp>
        <p:nvSpPr>
          <p:cNvPr id="27" name="TextBox 26"/>
          <p:cNvSpPr txBox="1"/>
          <p:nvPr/>
        </p:nvSpPr>
        <p:spPr>
          <a:xfrm>
            <a:off x="2528316" y="3154934"/>
            <a:ext cx="1860803" cy="73152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Quasi autonome sur la collecte et la préparation — jamais sur l'arbitrage.</a:t>
            </a:r>
          </a:p>
        </p:txBody>
      </p:sp>
      <p:sp>
        <p:nvSpPr>
          <p:cNvPr id="28" name="TextBox 27"/>
          <p:cNvSpPr txBox="1"/>
          <p:nvPr/>
        </p:nvSpPr>
        <p:spPr>
          <a:xfrm>
            <a:off x="4517136" y="3154934"/>
            <a:ext cx="1860803" cy="73152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Connecteurs API directs, en continu (ServiceNow, Jira, CMDB, FinOps…).</a:t>
            </a:r>
          </a:p>
        </p:txBody>
      </p:sp>
      <p:sp>
        <p:nvSpPr>
          <p:cNvPr id="29" name="TextBox 28"/>
          <p:cNvSpPr txBox="1"/>
          <p:nvPr/>
        </p:nvSpPr>
        <p:spPr>
          <a:xfrm>
            <a:off x="6505956" y="3154934"/>
            <a:ext cx="1860803" cy="731520"/>
          </a:xfrm>
          <a:prstGeom prst="rect">
            <a:avLst/>
          </a:prstGeom>
          <a:noFill/>
        </p:spPr>
        <p:txBody>
          <a:bodyPr wrap="square" anchor="ctr" lIns="0" rIns="0" tIns="0" bIns="0">
            <a:noAutofit/>
          </a:bodyPr>
          <a:lstStyle/>
          <a:p>
            <a:pPr algn="l">
              <a:lnSpc>
                <a:spcPct val="125000"/>
              </a:lnSpc>
            </a:pPr>
            <a:r>
              <a:rPr sz="850" b="1" i="0">
                <a:solidFill>
                  <a:srgbClr val="0E2356"/>
                </a:solidFill>
                <a:latin typeface="Outfit"/>
              </a:rPr>
              <a:t>Un accès direct aux données de production : un risque d'un autre ordre.</a:t>
            </a:r>
          </a:p>
        </p:txBody>
      </p:sp>
      <p:sp>
        <p:nvSpPr>
          <p:cNvPr id="30" name="TextBox 29"/>
          <p:cNvSpPr txBox="1"/>
          <p:nvPr/>
        </p:nvSpPr>
        <p:spPr>
          <a:xfrm>
            <a:off x="562356" y="3977893"/>
            <a:ext cx="7804404" cy="365760"/>
          </a:xfrm>
          <a:prstGeom prst="rect">
            <a:avLst/>
          </a:prstGeom>
          <a:noFill/>
        </p:spPr>
        <p:txBody>
          <a:bodyPr wrap="square" anchor="t" lIns="0" rIns="0" tIns="0" bIns="0">
            <a:noAutofit/>
          </a:bodyPr>
          <a:lstStyle/>
          <a:p>
            <a:pPr algn="l">
              <a:lnSpc>
                <a:spcPct val="120000"/>
              </a:lnSpc>
            </a:pPr>
            <a:r>
              <a:rPr sz="850" b="0" i="1">
                <a:solidFill>
                  <a:srgbClr val="586586"/>
                </a:solidFill>
                <a:latin typeface="Outfit"/>
              </a:rPr>
              <a:t>À tout niveau, les agents candidats retenus ne passent chez le client qu'en ②/③, sous gate. Un cabinet peut durablement rester au niveau A ou B par choix de gouvernance.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Réussir et démarrer</a:t>
            </a:r>
          </a:p>
          <a:p>
            <a:r>
              <a:rPr sz="1050" i="1">
                <a:solidFill>
                  <a:srgbClr val="586586"/>
                </a:solidFill>
                <a:latin typeface="Outfit"/>
              </a:rPr>
              <a:t>Les conditions de réussite, ce que la démarche refuse, et la décision de lancer l'Assessment flash.</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00">
                <a:solidFill>
                  <a:srgbClr val="0E2356"/>
                </a:solidFill>
                <a:latin typeface="Outfit"/>
              </a:rPr>
              <a:t>RÉUSSIR ET DÉMARRER   ·   </a:t>
            </a:r>
            <a:r>
              <a:rPr b="1" sz="1500">
                <a:solidFill>
                  <a:srgbClr val="0E2356"/>
                </a:solidFill>
                <a:latin typeface="Outfit"/>
              </a:rPr>
              <a:t>Quatre conditions de réussite de la démarche</a:t>
            </a:r>
          </a:p>
        </p:txBody>
      </p:sp>
      <p:sp>
        <p:nvSpPr>
          <p:cNvPr id="3" name="TextBox 2"/>
          <p:cNvSpPr txBox="1"/>
          <p:nvPr/>
        </p:nvSpPr>
        <p:spPr>
          <a:xfrm>
            <a:off x="562356" y="1051560"/>
            <a:ext cx="7804404" cy="356489"/>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Nos convictions fixent les conditions dans lesquelles la démarche réussit — et ce qu'elle refuse de faire, même quand on le lui demande.</a:t>
            </a:r>
          </a:p>
        </p:txBody>
      </p:sp>
      <p:sp>
        <p:nvSpPr>
          <p:cNvPr id="4" name="Rectangle 3"/>
          <p:cNvSpPr/>
          <p:nvPr/>
        </p:nvSpPr>
        <p:spPr>
          <a:xfrm>
            <a:off x="672084" y="1808734"/>
            <a:ext cx="18288" cy="210235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0100" y="1499489"/>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00100" y="1499489"/>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68986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1689862"/>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9" name="TextBox 8"/>
          <p:cNvSpPr txBox="1"/>
          <p:nvPr/>
        </p:nvSpPr>
        <p:spPr>
          <a:xfrm>
            <a:off x="1001268" y="1499489"/>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sponsor qui porte la cible</a:t>
            </a:r>
          </a:p>
          <a:p>
            <a:pPr algn="l">
              <a:lnSpc>
                <a:spcPct val="125000"/>
              </a:lnSpc>
              <a:spcBef>
                <a:spcPts val="300"/>
              </a:spcBef>
            </a:pPr>
            <a:r>
              <a:rPr sz="700" b="0" i="0">
                <a:solidFill>
                  <a:srgbClr val="0E2356"/>
                </a:solidFill>
                <a:latin typeface="Outfit"/>
              </a:rPr>
              <a:t>La transformation ne va pas plus loin que ce que le sponsor peut porter : son engagement se construit dès l'intake, il ne se suppose pas.</a:t>
            </a:r>
          </a:p>
        </p:txBody>
      </p:sp>
      <p:sp>
        <p:nvSpPr>
          <p:cNvPr id="10" name="Rounded Rectangle 9"/>
          <p:cNvSpPr/>
          <p:nvPr/>
        </p:nvSpPr>
        <p:spPr>
          <a:xfrm>
            <a:off x="800100" y="2200275"/>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 y="2200275"/>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2356" y="2390648"/>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390648"/>
            <a:ext cx="237744" cy="237744"/>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4" name="TextBox 13"/>
          <p:cNvSpPr txBox="1"/>
          <p:nvPr/>
        </p:nvSpPr>
        <p:spPr>
          <a:xfrm>
            <a:off x="1001268" y="2200275"/>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Des équipes réellement disponibles</a:t>
            </a:r>
          </a:p>
          <a:p>
            <a:pPr algn="l">
              <a:lnSpc>
                <a:spcPct val="125000"/>
              </a:lnSpc>
              <a:spcBef>
                <a:spcPts val="300"/>
              </a:spcBef>
            </a:pPr>
            <a:r>
              <a:rPr sz="700" b="0" i="0">
                <a:solidFill>
                  <a:srgbClr val="0E2356"/>
                </a:solidFill>
                <a:latin typeface="Outfit"/>
              </a:rPr>
              <a:t>Interviews et ateliers supposent du temps réservé — la disponibilité réelle se vérifie à l'intake, jamais en cours de mission.</a:t>
            </a:r>
          </a:p>
        </p:txBody>
      </p:sp>
      <p:sp>
        <p:nvSpPr>
          <p:cNvPr id="15" name="Rounded Rectangle 14"/>
          <p:cNvSpPr/>
          <p:nvPr/>
        </p:nvSpPr>
        <p:spPr>
          <a:xfrm>
            <a:off x="800100" y="2901061"/>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0100" y="2901061"/>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091434"/>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091434"/>
            <a:ext cx="237744" cy="237744"/>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9" name="TextBox 18"/>
          <p:cNvSpPr txBox="1"/>
          <p:nvPr/>
        </p:nvSpPr>
        <p:spPr>
          <a:xfrm>
            <a:off x="1001268" y="2901061"/>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Une RH embarquée sur rôles et évaluation</a:t>
            </a:r>
          </a:p>
          <a:p>
            <a:pPr algn="l">
              <a:lnSpc>
                <a:spcPct val="125000"/>
              </a:lnSpc>
              <a:spcBef>
                <a:spcPts val="300"/>
              </a:spcBef>
            </a:pPr>
            <a:r>
              <a:rPr sz="700" b="0" i="0">
                <a:solidFill>
                  <a:srgbClr val="0E2356"/>
                </a:solidFill>
                <a:latin typeface="Outfit"/>
              </a:rPr>
              <a:t>« Frein ou principal accélérateur » : coacher une posture que les grilles d'évaluation punissent revient à ramer contre le système.</a:t>
            </a:r>
          </a:p>
        </p:txBody>
      </p:sp>
      <p:sp>
        <p:nvSpPr>
          <p:cNvPr id="20" name="Rounded Rectangle 19"/>
          <p:cNvSpPr/>
          <p:nvPr/>
        </p:nvSpPr>
        <p:spPr>
          <a:xfrm>
            <a:off x="800100" y="3601847"/>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0100" y="3601847"/>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 y="3792220"/>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 y="3792220"/>
            <a:ext cx="237744" cy="237744"/>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24" name="TextBox 23"/>
          <p:cNvSpPr txBox="1"/>
          <p:nvPr/>
        </p:nvSpPr>
        <p:spPr>
          <a:xfrm>
            <a:off x="1001268" y="3601847"/>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processus documenté avant tout agent</a:t>
            </a:r>
          </a:p>
          <a:p>
            <a:pPr algn="l">
              <a:lnSpc>
                <a:spcPct val="125000"/>
              </a:lnSpc>
              <a:spcBef>
                <a:spcPts val="300"/>
              </a:spcBef>
            </a:pPr>
            <a:r>
              <a:rPr sz="700" b="0" i="0">
                <a:solidFill>
                  <a:srgbClr val="0E2356"/>
                </a:solidFill>
                <a:latin typeface="Outfit"/>
              </a:rPr>
              <a:t>Sinon on fige une pratique mal définie dans du code — préalable non négociable de la doctrine d'automatisation.</a:t>
            </a:r>
          </a:p>
        </p:txBody>
      </p:sp>
      <p:sp>
        <p:nvSpPr>
          <p:cNvPr id="25" name="Rounded Rectangle 24"/>
          <p:cNvSpPr/>
          <p:nvPr/>
        </p:nvSpPr>
        <p:spPr>
          <a:xfrm>
            <a:off x="4119372" y="1499489"/>
            <a:ext cx="4247388" cy="2720847"/>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65676" y="1645793"/>
            <a:ext cx="1298448" cy="2011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5676" y="1645793"/>
            <a:ext cx="1298448" cy="201168"/>
          </a:xfrm>
          <a:prstGeom prst="rect">
            <a:avLst/>
          </a:prstGeom>
          <a:noFill/>
        </p:spPr>
        <p:txBody>
          <a:bodyPr wrap="square" anchor="ctr" lIns="0" rIns="0" tIns="0" bIns="0">
            <a:noAutofit/>
          </a:bodyPr>
          <a:lstStyle/>
          <a:p>
            <a:pPr algn="ctr"/>
            <a:r>
              <a:rPr sz="700" b="1" i="0">
                <a:solidFill>
                  <a:srgbClr val="0E2356"/>
                </a:solidFill>
                <a:latin typeface="Outfit"/>
              </a:rPr>
              <a:t>NOS REFUS</a:t>
            </a:r>
          </a:p>
        </p:txBody>
      </p:sp>
      <p:sp>
        <p:nvSpPr>
          <p:cNvPr id="28" name="TextBox 27"/>
          <p:cNvSpPr txBox="1"/>
          <p:nvPr/>
        </p:nvSpPr>
        <p:spPr>
          <a:xfrm>
            <a:off x="4265676" y="1901825"/>
            <a:ext cx="3954780" cy="679513"/>
          </a:xfrm>
          <a:prstGeom prst="rect">
            <a:avLst/>
          </a:prstGeom>
          <a:noFill/>
        </p:spPr>
        <p:txBody>
          <a:bodyPr wrap="square" anchor="t" lIns="0" rIns="0" tIns="0" bIns="0">
            <a:noAutofit/>
          </a:bodyPr>
          <a:lstStyle/>
          <a:p>
            <a:pPr algn="l">
              <a:lnSpc>
                <a:spcPct val="115000"/>
              </a:lnSpc>
            </a:pPr>
            <a:r>
              <a:rPr sz="900" b="1" i="0">
                <a:solidFill>
                  <a:srgbClr val="FFFFFF"/>
                </a:solidFill>
                <a:latin typeface="Outfit"/>
              </a:rPr>
              <a:t>Nos convictions disent aussi ce que la démarche ne fera pas.</a:t>
            </a:r>
          </a:p>
          <a:p>
            <a:pPr algn="l">
              <a:lnSpc>
                <a:spcPct val="125000"/>
              </a:lnSpc>
              <a:spcBef>
                <a:spcPts val="300"/>
              </a:spcBef>
            </a:pPr>
            <a:r>
              <a:rPr sz="750" b="0" i="0">
                <a:solidFill>
                  <a:srgbClr val="C7CBE0"/>
                </a:solidFill>
                <a:latin typeface="Outfit"/>
              </a:rPr>
              <a:t>Ce ne sont pas des conditions posées au client : ce sont les lignes que la démarche tient, et qu'elle explique dès l'Assessment flash.</a:t>
            </a:r>
          </a:p>
        </p:txBody>
      </p:sp>
      <p:sp>
        <p:nvSpPr>
          <p:cNvPr id="29" name="Rectangle 28"/>
          <p:cNvSpPr/>
          <p:nvPr/>
        </p:nvSpPr>
        <p:spPr>
          <a:xfrm>
            <a:off x="4265676" y="2645346"/>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676" y="2709354"/>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REFUSE DE FAIRE — LES ANTI-PATTERNS DU CADRAGE</a:t>
            </a:r>
          </a:p>
        </p:txBody>
      </p:sp>
      <p:sp>
        <p:nvSpPr>
          <p:cNvPr id="31" name="Rounded Rectangle 30"/>
          <p:cNvSpPr/>
          <p:nvPr/>
        </p:nvSpPr>
        <p:spPr>
          <a:xfrm>
            <a:off x="4283964" y="2884487"/>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93692" y="2847911"/>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Automatiser un processus mal conçu</a:t>
            </a:r>
          </a:p>
        </p:txBody>
      </p:sp>
      <p:sp>
        <p:nvSpPr>
          <p:cNvPr id="33" name="Rounded Rectangle 32"/>
          <p:cNvSpPr/>
          <p:nvPr/>
        </p:nvSpPr>
        <p:spPr>
          <a:xfrm>
            <a:off x="4283964" y="3023044"/>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93692" y="2986468"/>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Livrer une plateforme techniquement bonne mais peu adoptée</a:t>
            </a:r>
          </a:p>
        </p:txBody>
      </p:sp>
      <p:sp>
        <p:nvSpPr>
          <p:cNvPr id="35" name="Rounded Rectangle 34"/>
          <p:cNvSpPr/>
          <p:nvPr/>
        </p:nvSpPr>
        <p:spPr>
          <a:xfrm>
            <a:off x="4283964" y="3161601"/>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3692" y="3125025"/>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Séparer transformation organisationnelle et technique</a:t>
            </a:r>
          </a:p>
        </p:txBody>
      </p:sp>
      <p:sp>
        <p:nvSpPr>
          <p:cNvPr id="37" name="Rectangle 36"/>
          <p:cNvSpPr/>
          <p:nvPr/>
        </p:nvSpPr>
        <p:spPr>
          <a:xfrm>
            <a:off x="4265676" y="3300158"/>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65676" y="3364166"/>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NE RÉSOUT PAS — MAIS QU'ON CONSIGNE ET QU'ON POSE</a:t>
            </a:r>
          </a:p>
        </p:txBody>
      </p:sp>
      <p:sp>
        <p:nvSpPr>
          <p:cNvPr id="39" name="TextBox 38"/>
          <p:cNvSpPr txBox="1"/>
          <p:nvPr/>
        </p:nvSpPr>
        <p:spPr>
          <a:xfrm>
            <a:off x="4265676" y="3502723"/>
            <a:ext cx="3954780" cy="222250"/>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Risque de perte de savoir-faire</a:t>
            </a:r>
          </a:p>
          <a:p>
            <a:pPr algn="l">
              <a:lnSpc>
                <a:spcPct val="125000"/>
              </a:lnSpc>
            </a:pPr>
            <a:r>
              <a:rPr sz="700" b="0" i="0">
                <a:solidFill>
                  <a:srgbClr val="C7CBE0"/>
                </a:solidFill>
                <a:latin typeface="Outfit"/>
              </a:rPr>
              <a:t>L'équipe saurait-elle reprendre la main une semaine sans l'agent ?</a:t>
            </a:r>
          </a:p>
        </p:txBody>
      </p:sp>
      <p:sp>
        <p:nvSpPr>
          <p:cNvPr id="40" name="TextBox 39"/>
          <p:cNvSpPr txBox="1"/>
          <p:nvPr/>
        </p:nvSpPr>
        <p:spPr>
          <a:xfrm>
            <a:off x="4265676" y="3770693"/>
            <a:ext cx="3954780" cy="333375"/>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Risque d'incitations RH contraires</a:t>
            </a:r>
          </a:p>
          <a:p>
            <a:pPr algn="l">
              <a:lnSpc>
                <a:spcPct val="125000"/>
              </a:lnSpc>
            </a:pPr>
            <a:r>
              <a:rPr sz="700" b="0" i="0">
                <a:solidFill>
                  <a:srgbClr val="C7CBE0"/>
                </a:solidFill>
                <a:latin typeface="Outfit"/>
              </a:rPr>
              <a:t>Qu'est-ce qui, dans vos grilles d'évaluation, récompense encore le comportement qu'on vient de décourager ?</a:t>
            </a:r>
          </a:p>
        </p:txBody>
      </p:sp>
      <p:sp>
        <p:nvSpPr>
          <p:cNvPr id="41" name="Rounded Rectangle 40"/>
          <p:cNvSpPr/>
          <p:nvPr/>
        </p:nvSpPr>
        <p:spPr>
          <a:xfrm>
            <a:off x="562356" y="4366641"/>
            <a:ext cx="7804404" cy="616839"/>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 y="4476369"/>
            <a:ext cx="7548372" cy="397383"/>
          </a:xfrm>
          <a:prstGeom prst="rect">
            <a:avLst/>
          </a:prstGeom>
          <a:noFill/>
        </p:spPr>
        <p:txBody>
          <a:bodyPr wrap="square" anchor="t" lIns="0" rIns="0" tIns="0" bIns="0">
            <a:noAutofit/>
          </a:bodyPr>
          <a:lstStyle/>
          <a:p>
            <a:pPr algn="l"/>
            <a:r>
              <a:rPr sz="700" b="1" i="0">
                <a:solidFill>
                  <a:srgbClr val="586586"/>
                </a:solidFill>
                <a:latin typeface="Outfit"/>
              </a:rPr>
              <a:t>LE CRITÈRE DE SORTIE EST LE MIROIR DES CONDITIONS D'ENTRÉE</a:t>
            </a:r>
          </a:p>
          <a:p>
            <a:pPr algn="l">
              <a:lnSpc>
                <a:spcPct val="125000"/>
              </a:lnSpc>
              <a:spcBef>
                <a:spcPts val="300"/>
              </a:spcBef>
            </a:pPr>
            <a:r>
              <a:rPr sz="700" b="0" i="0">
                <a:solidFill>
                  <a:srgbClr val="0E2356"/>
                </a:solidFill>
                <a:latin typeface="Outfit"/>
              </a:rPr>
              <a:t>L'équipe et ses relais tiennent-ils le modèle une période sans le consultant ? Le consultant se rend dispensable : il n'évalue jamais les personnes, ne fait pas le reporting à leur place et ne s'installe pas en intermédiaire permanent entre l'équipe et le sponsor.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RÉUSSIR ET DÉMARRER   ·   </a:t>
            </a:r>
            <a:r>
              <a:rPr b="1" sz="1200">
                <a:solidFill>
                  <a:srgbClr val="0E2356"/>
                </a:solidFill>
                <a:latin typeface="Outfit"/>
              </a:rPr>
              <a:t>Deux semaines d'Assessment flash pour un premier signal mesuré</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r>
              <a:rPr sz="850" b="0" i="1">
                <a:solidFill>
                  <a:srgbClr val="0E2356"/>
                </a:solidFill>
                <a:latin typeface="Outfit"/>
              </a:rPr>
              <a:t>Décision demandée : lancer l'Assessment flash. La DSI engage un sponsor et des équipes disponibles ; le premier signal arrive à sa restitution, fin de semaine 2.</a:t>
            </a:r>
          </a:p>
        </p:txBody>
      </p:sp>
      <p:sp>
        <p:nvSpPr>
          <p:cNvPr id="4" name="TextBox 3"/>
          <p:cNvSpPr txBox="1"/>
          <p:nvPr/>
        </p:nvSpPr>
        <p:spPr>
          <a:xfrm>
            <a:off x="2436876" y="1399031"/>
            <a:ext cx="548640" cy="164592"/>
          </a:xfrm>
          <a:prstGeom prst="rect">
            <a:avLst/>
          </a:prstGeom>
          <a:noFill/>
        </p:spPr>
        <p:txBody>
          <a:bodyPr wrap="square" anchor="t" lIns="0" rIns="0" tIns="0" bIns="0">
            <a:noAutofit/>
          </a:bodyPr>
          <a:lstStyle/>
          <a:p>
            <a:pPr algn="ctr"/>
            <a:r>
              <a:rPr sz="700" b="1" i="0">
                <a:solidFill>
                  <a:srgbClr val="586586"/>
                </a:solidFill>
                <a:latin typeface="Outfit"/>
              </a:rPr>
              <a:t>S1</a:t>
            </a:r>
          </a:p>
        </p:txBody>
      </p:sp>
      <p:sp>
        <p:nvSpPr>
          <p:cNvPr id="5" name="TextBox 4"/>
          <p:cNvSpPr txBox="1"/>
          <p:nvPr/>
        </p:nvSpPr>
        <p:spPr>
          <a:xfrm>
            <a:off x="2985516" y="1399031"/>
            <a:ext cx="548640" cy="164592"/>
          </a:xfrm>
          <a:prstGeom prst="rect">
            <a:avLst/>
          </a:prstGeom>
          <a:noFill/>
        </p:spPr>
        <p:txBody>
          <a:bodyPr wrap="square" anchor="t" lIns="0" rIns="0" tIns="0" bIns="0">
            <a:noAutofit/>
          </a:bodyPr>
          <a:lstStyle/>
          <a:p>
            <a:pPr algn="ctr"/>
            <a:r>
              <a:rPr sz="700" b="1" i="0">
                <a:solidFill>
                  <a:srgbClr val="586586"/>
                </a:solidFill>
                <a:latin typeface="Outfit"/>
              </a:rPr>
              <a:t>S2</a:t>
            </a:r>
          </a:p>
        </p:txBody>
      </p:sp>
      <p:sp>
        <p:nvSpPr>
          <p:cNvPr id="6" name="TextBox 5"/>
          <p:cNvSpPr txBox="1"/>
          <p:nvPr/>
        </p:nvSpPr>
        <p:spPr>
          <a:xfrm>
            <a:off x="3534156" y="1399031"/>
            <a:ext cx="548640" cy="164592"/>
          </a:xfrm>
          <a:prstGeom prst="rect">
            <a:avLst/>
          </a:prstGeom>
          <a:noFill/>
        </p:spPr>
        <p:txBody>
          <a:bodyPr wrap="square" anchor="t" lIns="0" rIns="0" tIns="0" bIns="0">
            <a:noAutofit/>
          </a:bodyPr>
          <a:lstStyle/>
          <a:p>
            <a:pPr algn="ctr"/>
            <a:r>
              <a:rPr sz="700" b="1" i="0">
                <a:solidFill>
                  <a:srgbClr val="586586"/>
                </a:solidFill>
                <a:latin typeface="Outfit"/>
              </a:rPr>
              <a:t>S3</a:t>
            </a:r>
          </a:p>
        </p:txBody>
      </p:sp>
      <p:sp>
        <p:nvSpPr>
          <p:cNvPr id="7" name="TextBox 6"/>
          <p:cNvSpPr txBox="1"/>
          <p:nvPr/>
        </p:nvSpPr>
        <p:spPr>
          <a:xfrm>
            <a:off x="4082796" y="1399031"/>
            <a:ext cx="548640" cy="164592"/>
          </a:xfrm>
          <a:prstGeom prst="rect">
            <a:avLst/>
          </a:prstGeom>
          <a:noFill/>
        </p:spPr>
        <p:txBody>
          <a:bodyPr wrap="square" anchor="t" lIns="0" rIns="0" tIns="0" bIns="0">
            <a:noAutofit/>
          </a:bodyPr>
          <a:lstStyle/>
          <a:p>
            <a:pPr algn="ctr"/>
            <a:r>
              <a:rPr sz="700" b="1" i="0">
                <a:solidFill>
                  <a:srgbClr val="586586"/>
                </a:solidFill>
                <a:latin typeface="Outfit"/>
              </a:rPr>
              <a:t>S4</a:t>
            </a:r>
          </a:p>
        </p:txBody>
      </p:sp>
      <p:sp>
        <p:nvSpPr>
          <p:cNvPr id="8" name="TextBox 7"/>
          <p:cNvSpPr txBox="1"/>
          <p:nvPr/>
        </p:nvSpPr>
        <p:spPr>
          <a:xfrm>
            <a:off x="4631436" y="1399031"/>
            <a:ext cx="548640" cy="164592"/>
          </a:xfrm>
          <a:prstGeom prst="rect">
            <a:avLst/>
          </a:prstGeom>
          <a:noFill/>
        </p:spPr>
        <p:txBody>
          <a:bodyPr wrap="square" anchor="t" lIns="0" rIns="0" tIns="0" bIns="0">
            <a:noAutofit/>
          </a:bodyPr>
          <a:lstStyle/>
          <a:p>
            <a:pPr algn="ctr"/>
            <a:r>
              <a:rPr sz="700" b="1" i="0">
                <a:solidFill>
                  <a:srgbClr val="586586"/>
                </a:solidFill>
                <a:latin typeface="Outfit"/>
              </a:rPr>
              <a:t>S5</a:t>
            </a:r>
          </a:p>
        </p:txBody>
      </p:sp>
      <p:sp>
        <p:nvSpPr>
          <p:cNvPr id="9" name="TextBox 8"/>
          <p:cNvSpPr txBox="1"/>
          <p:nvPr/>
        </p:nvSpPr>
        <p:spPr>
          <a:xfrm>
            <a:off x="5180076" y="1399031"/>
            <a:ext cx="548640" cy="164592"/>
          </a:xfrm>
          <a:prstGeom prst="rect">
            <a:avLst/>
          </a:prstGeom>
          <a:noFill/>
        </p:spPr>
        <p:txBody>
          <a:bodyPr wrap="square" anchor="t" lIns="0" rIns="0" tIns="0" bIns="0">
            <a:noAutofit/>
          </a:bodyPr>
          <a:lstStyle/>
          <a:p>
            <a:pPr algn="ctr"/>
            <a:r>
              <a:rPr sz="700" b="1" i="0">
                <a:solidFill>
                  <a:srgbClr val="586586"/>
                </a:solidFill>
                <a:latin typeface="Outfit"/>
              </a:rPr>
              <a:t>S6</a:t>
            </a:r>
          </a:p>
        </p:txBody>
      </p:sp>
      <p:sp>
        <p:nvSpPr>
          <p:cNvPr id="10" name="TextBox 9"/>
          <p:cNvSpPr txBox="1"/>
          <p:nvPr/>
        </p:nvSpPr>
        <p:spPr>
          <a:xfrm>
            <a:off x="5728716" y="1399031"/>
            <a:ext cx="548640" cy="164592"/>
          </a:xfrm>
          <a:prstGeom prst="rect">
            <a:avLst/>
          </a:prstGeom>
          <a:noFill/>
        </p:spPr>
        <p:txBody>
          <a:bodyPr wrap="square" anchor="t" lIns="0" rIns="0" tIns="0" bIns="0">
            <a:noAutofit/>
          </a:bodyPr>
          <a:lstStyle/>
          <a:p>
            <a:pPr algn="ctr"/>
            <a:r>
              <a:rPr sz="700" b="1" i="0">
                <a:solidFill>
                  <a:srgbClr val="586586"/>
                </a:solidFill>
                <a:latin typeface="Outfit"/>
              </a:rPr>
              <a:t>S7</a:t>
            </a:r>
          </a:p>
        </p:txBody>
      </p:sp>
      <p:sp>
        <p:nvSpPr>
          <p:cNvPr id="11" name="TextBox 10"/>
          <p:cNvSpPr txBox="1"/>
          <p:nvPr/>
        </p:nvSpPr>
        <p:spPr>
          <a:xfrm>
            <a:off x="6277356" y="1399031"/>
            <a:ext cx="809243" cy="164592"/>
          </a:xfrm>
          <a:prstGeom prst="rect">
            <a:avLst/>
          </a:prstGeom>
          <a:noFill/>
        </p:spPr>
        <p:txBody>
          <a:bodyPr wrap="square" anchor="t" lIns="0" rIns="0" tIns="0" bIns="0">
            <a:noAutofit/>
          </a:bodyPr>
          <a:lstStyle/>
          <a:p>
            <a:pPr algn="ctr"/>
            <a:r>
              <a:rPr sz="700" b="1" i="0">
                <a:solidFill>
                  <a:srgbClr val="586586"/>
                </a:solidFill>
                <a:latin typeface="Outfit"/>
              </a:rPr>
              <a:t>…</a:t>
            </a:r>
          </a:p>
        </p:txBody>
      </p:sp>
      <p:sp>
        <p:nvSpPr>
          <p:cNvPr id="12" name="TextBox 11"/>
          <p:cNvSpPr txBox="1"/>
          <p:nvPr/>
        </p:nvSpPr>
        <p:spPr>
          <a:xfrm>
            <a:off x="7086600" y="1399031"/>
            <a:ext cx="1280160" cy="164592"/>
          </a:xfrm>
          <a:prstGeom prst="rect">
            <a:avLst/>
          </a:prstGeom>
          <a:noFill/>
        </p:spPr>
        <p:txBody>
          <a:bodyPr wrap="square" anchor="t" lIns="0" rIns="0" tIns="0" bIns="0">
            <a:noAutofit/>
          </a:bodyPr>
          <a:lstStyle/>
          <a:p>
            <a:pPr algn="ctr"/>
            <a:r>
              <a:rPr sz="700" b="1" i="0">
                <a:solidFill>
                  <a:srgbClr val="586586"/>
                </a:solidFill>
                <a:latin typeface="Outfit"/>
              </a:rPr>
              <a:t>T+6–12 MOIS</a:t>
            </a:r>
          </a:p>
        </p:txBody>
      </p:sp>
      <p:sp>
        <p:nvSpPr>
          <p:cNvPr id="13" name="Oval 12"/>
          <p:cNvSpPr/>
          <p:nvPr/>
        </p:nvSpPr>
        <p:spPr>
          <a:xfrm>
            <a:off x="265633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204972" y="1600199"/>
            <a:ext cx="109728" cy="109728"/>
          </a:xfrm>
          <a:prstGeom prst="ellipse">
            <a:avLst/>
          </a:prstGeom>
          <a:solidFill>
            <a:srgbClr val="00D2DD"/>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5361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225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85089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39953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817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671815"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2356" y="2075688"/>
            <a:ext cx="7804404" cy="9144"/>
          </a:xfrm>
          <a:prstGeom prst="rect">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2356" y="1801367"/>
            <a:ext cx="1783080" cy="246888"/>
          </a:xfrm>
          <a:prstGeom prst="rect">
            <a:avLst/>
          </a:prstGeom>
          <a:noFill/>
        </p:spPr>
        <p:txBody>
          <a:bodyPr wrap="square" anchor="ctr" lIns="0" rIns="0" tIns="0" bIns="0">
            <a:noAutofit/>
          </a:bodyPr>
          <a:lstStyle/>
          <a:p>
            <a:pPr algn="l"/>
            <a:r>
              <a:rPr sz="800" b="1" i="0">
                <a:solidFill>
                  <a:srgbClr val="0E2356"/>
                </a:solidFill>
                <a:latin typeface="Outfit"/>
              </a:rPr>
              <a:t>①  Assessment flash</a:t>
            </a:r>
          </a:p>
        </p:txBody>
      </p:sp>
      <p:sp>
        <p:nvSpPr>
          <p:cNvPr id="23" name="Rounded Rectangle 22"/>
          <p:cNvSpPr/>
          <p:nvPr/>
        </p:nvSpPr>
        <p:spPr>
          <a:xfrm>
            <a:off x="2464308" y="1801367"/>
            <a:ext cx="1042416" cy="24688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64308" y="1801367"/>
            <a:ext cx="1042416" cy="246888"/>
          </a:xfrm>
          <a:prstGeom prst="rect">
            <a:avLst/>
          </a:prstGeom>
          <a:noFill/>
        </p:spPr>
        <p:txBody>
          <a:bodyPr wrap="square" anchor="ctr" lIns="0" rIns="0" tIns="0" bIns="0">
            <a:noAutofit/>
          </a:bodyPr>
          <a:lstStyle/>
          <a:p>
            <a:pPr algn="ctr"/>
            <a:r>
              <a:rPr sz="750" b="1" i="0">
                <a:solidFill>
                  <a:srgbClr val="FFFFFF"/>
                </a:solidFill>
                <a:latin typeface="Outfit"/>
              </a:rPr>
              <a:t>2 semaines</a:t>
            </a:r>
          </a:p>
        </p:txBody>
      </p:sp>
      <p:sp>
        <p:nvSpPr>
          <p:cNvPr id="25" name="Rectangle 24"/>
          <p:cNvSpPr/>
          <p:nvPr/>
        </p:nvSpPr>
        <p:spPr>
          <a:xfrm>
            <a:off x="562356" y="2386584"/>
            <a:ext cx="7804404" cy="9144"/>
          </a:xfrm>
          <a:prstGeom prst="rect">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2356" y="2112263"/>
            <a:ext cx="1783080" cy="246888"/>
          </a:xfrm>
          <a:prstGeom prst="rect">
            <a:avLst/>
          </a:prstGeom>
          <a:noFill/>
        </p:spPr>
        <p:txBody>
          <a:bodyPr wrap="square" anchor="ctr" lIns="0" rIns="0" tIns="0" bIns="0">
            <a:noAutofit/>
          </a:bodyPr>
          <a:lstStyle/>
          <a:p>
            <a:pPr algn="l"/>
            <a:r>
              <a:rPr sz="800" b="1" i="0">
                <a:solidFill>
                  <a:srgbClr val="0E2356"/>
                </a:solidFill>
                <a:latin typeface="Outfit"/>
              </a:rPr>
              <a:t>②  Premier déploiement</a:t>
            </a:r>
          </a:p>
        </p:txBody>
      </p:sp>
      <p:sp>
        <p:nvSpPr>
          <p:cNvPr id="27" name="Rounded Rectangle 26"/>
          <p:cNvSpPr/>
          <p:nvPr/>
        </p:nvSpPr>
        <p:spPr>
          <a:xfrm>
            <a:off x="3561588" y="2112263"/>
            <a:ext cx="2688336" cy="246888"/>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61588" y="2112263"/>
            <a:ext cx="2688336" cy="246888"/>
          </a:xfrm>
          <a:prstGeom prst="rect">
            <a:avLst/>
          </a:prstGeom>
          <a:noFill/>
        </p:spPr>
        <p:txBody>
          <a:bodyPr wrap="square" anchor="ctr" lIns="0" rIns="0" tIns="0" bIns="0">
            <a:noAutofit/>
          </a:bodyPr>
          <a:lstStyle/>
          <a:p>
            <a:pPr algn="ctr"/>
            <a:r>
              <a:rPr sz="750" b="1" i="0">
                <a:solidFill>
                  <a:srgbClr val="0E2356"/>
                </a:solidFill>
                <a:latin typeface="Outfit"/>
              </a:rPr>
              <a:t>4 à 5 semaines</a:t>
            </a:r>
          </a:p>
        </p:txBody>
      </p:sp>
      <p:sp>
        <p:nvSpPr>
          <p:cNvPr id="29" name="Rectangle 28"/>
          <p:cNvSpPr/>
          <p:nvPr/>
        </p:nvSpPr>
        <p:spPr>
          <a:xfrm>
            <a:off x="562356" y="2697480"/>
            <a:ext cx="7804404" cy="9144"/>
          </a:xfrm>
          <a:prstGeom prst="rect">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2356" y="2423160"/>
            <a:ext cx="1783080" cy="246888"/>
          </a:xfrm>
          <a:prstGeom prst="rect">
            <a:avLst/>
          </a:prstGeom>
          <a:noFill/>
        </p:spPr>
        <p:txBody>
          <a:bodyPr wrap="square" anchor="ctr" lIns="0" rIns="0" tIns="0" bIns="0">
            <a:noAutofit/>
          </a:bodyPr>
          <a:lstStyle/>
          <a:p>
            <a:pPr algn="l"/>
            <a:r>
              <a:rPr sz="800" b="1" i="0">
                <a:solidFill>
                  <a:srgbClr val="0E2356"/>
                </a:solidFill>
                <a:latin typeface="Outfit"/>
              </a:rPr>
              <a:t>③  Implémentation itérative</a:t>
            </a:r>
          </a:p>
        </p:txBody>
      </p:sp>
      <p:sp>
        <p:nvSpPr>
          <p:cNvPr id="31" name="Rounded Rectangle 30"/>
          <p:cNvSpPr/>
          <p:nvPr/>
        </p:nvSpPr>
        <p:spPr>
          <a:xfrm>
            <a:off x="6304788" y="2423160"/>
            <a:ext cx="2061972" cy="246888"/>
          </a:xfrm>
          <a:prstGeom prst="roundRect">
            <a:avLst>
              <a:gd name="adj" fmla="val 50000"/>
            </a:avLst>
          </a:prstGeom>
          <a:solidFill>
            <a:srgbClr val="FFFFFF"/>
          </a:solidFill>
          <a:ln w="1270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4788" y="2423160"/>
            <a:ext cx="2061972" cy="246888"/>
          </a:xfrm>
          <a:prstGeom prst="rect">
            <a:avLst/>
          </a:prstGeom>
          <a:noFill/>
        </p:spPr>
        <p:txBody>
          <a:bodyPr wrap="square" anchor="ctr" lIns="0" rIns="0" tIns="0" bIns="0">
            <a:noAutofit/>
          </a:bodyPr>
          <a:lstStyle/>
          <a:p>
            <a:pPr algn="ctr"/>
            <a:r>
              <a:rPr sz="750" b="1" i="0">
                <a:solidFill>
                  <a:srgbClr val="0E2356"/>
                </a:solidFill>
                <a:latin typeface="Outfit"/>
              </a:rPr>
              <a:t>en continu</a:t>
            </a:r>
          </a:p>
        </p:txBody>
      </p:sp>
      <p:sp>
        <p:nvSpPr>
          <p:cNvPr id="33" name="Rectangle 32"/>
          <p:cNvSpPr/>
          <p:nvPr/>
        </p:nvSpPr>
        <p:spPr>
          <a:xfrm>
            <a:off x="562356" y="3008376"/>
            <a:ext cx="7804404" cy="9144"/>
          </a:xfrm>
          <a:prstGeom prst="rect">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2356" y="2734056"/>
            <a:ext cx="1783080" cy="246888"/>
          </a:xfrm>
          <a:prstGeom prst="rect">
            <a:avLst/>
          </a:prstGeom>
          <a:noFill/>
        </p:spPr>
        <p:txBody>
          <a:bodyPr wrap="square" anchor="ctr" lIns="0" rIns="0" tIns="0" bIns="0">
            <a:noAutofit/>
          </a:bodyPr>
          <a:lstStyle/>
          <a:p>
            <a:pPr algn="l"/>
            <a:r>
              <a:rPr sz="800" b="0" i="0">
                <a:solidFill>
                  <a:srgbClr val="0E2356"/>
                </a:solidFill>
                <a:latin typeface="Outfit"/>
              </a:rPr>
              <a:t>⟲  Réévaluation</a:t>
            </a:r>
          </a:p>
        </p:txBody>
      </p:sp>
      <p:sp>
        <p:nvSpPr>
          <p:cNvPr id="35" name="Decision 34"/>
          <p:cNvSpPr/>
          <p:nvPr/>
        </p:nvSpPr>
        <p:spPr>
          <a:xfrm>
            <a:off x="7607807" y="2752344"/>
            <a:ext cx="237744" cy="210312"/>
          </a:xfrm>
          <a:prstGeom prst="flowChartDecision">
            <a:avLst/>
          </a:prstGeom>
          <a:solidFill>
            <a:srgbClr val="FFFFFF"/>
          </a:solidFill>
          <a:ln w="15875">
            <a:solidFill>
              <a:srgbClr val="0E23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82796" y="2734056"/>
            <a:ext cx="3479291" cy="246888"/>
          </a:xfrm>
          <a:prstGeom prst="rect">
            <a:avLst/>
          </a:prstGeom>
          <a:noFill/>
        </p:spPr>
        <p:txBody>
          <a:bodyPr wrap="square" anchor="ctr" lIns="0" rIns="0" tIns="0" bIns="0">
            <a:noAutofit/>
          </a:bodyPr>
          <a:lstStyle/>
          <a:p>
            <a:pPr algn="r"/>
            <a:r>
              <a:rPr sz="750" b="0" i="1">
                <a:solidFill>
                  <a:srgbClr val="586586"/>
                </a:solidFill>
                <a:latin typeface="Outfit"/>
              </a:rPr>
              <a:t>Delta mesuré — même instrument qu'au T0</a:t>
            </a:r>
          </a:p>
        </p:txBody>
      </p:sp>
      <p:sp>
        <p:nvSpPr>
          <p:cNvPr id="37" name="Decision 36"/>
          <p:cNvSpPr/>
          <p:nvPr/>
        </p:nvSpPr>
        <p:spPr>
          <a:xfrm>
            <a:off x="3415284" y="1819655"/>
            <a:ext cx="237744" cy="210312"/>
          </a:xfrm>
          <a:prstGeom prst="flowChartDecision">
            <a:avLst/>
          </a:prstGeom>
          <a:solidFill>
            <a:srgbClr val="00D2DD"/>
          </a:solidFill>
          <a:ln w="15875">
            <a:solidFill>
              <a:srgbClr val="0E23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36876" y="3054096"/>
            <a:ext cx="4572000" cy="182880"/>
          </a:xfrm>
          <a:prstGeom prst="rect">
            <a:avLst/>
          </a:prstGeom>
          <a:noFill/>
        </p:spPr>
        <p:txBody>
          <a:bodyPr wrap="square" anchor="t" lIns="0" rIns="0" tIns="0" bIns="0">
            <a:noAutofit/>
          </a:bodyPr>
          <a:lstStyle/>
          <a:p>
            <a:pPr algn="l"/>
            <a:r>
              <a:rPr sz="750" b="1" i="0">
                <a:solidFill>
                  <a:srgbClr val="0E2356"/>
                </a:solidFill>
                <a:latin typeface="Outfit"/>
              </a:rPr>
              <a:t>◆ Fin S2 : premier signal — mesures T0 restituées au sponsor</a:t>
            </a:r>
          </a:p>
        </p:txBody>
      </p:sp>
      <p:sp>
        <p:nvSpPr>
          <p:cNvPr id="39" name="TextBox 38"/>
          <p:cNvSpPr txBox="1"/>
          <p:nvPr/>
        </p:nvSpPr>
        <p:spPr>
          <a:xfrm>
            <a:off x="562356" y="3355848"/>
            <a:ext cx="2788920" cy="182880"/>
          </a:xfrm>
          <a:prstGeom prst="rect">
            <a:avLst/>
          </a:prstGeom>
          <a:noFill/>
        </p:spPr>
        <p:txBody>
          <a:bodyPr wrap="square" anchor="t" lIns="0" rIns="0" tIns="0" bIns="0">
            <a:noAutofit/>
          </a:bodyPr>
          <a:lstStyle/>
          <a:p>
            <a:pPr algn="l"/>
            <a:r>
              <a:rPr sz="750" b="1" i="0">
                <a:solidFill>
                  <a:srgbClr val="586586"/>
                </a:solidFill>
                <a:latin typeface="Outfit"/>
              </a:rPr>
              <a:t>CE QUE LA DSI ENGAGE</a:t>
            </a:r>
          </a:p>
        </p:txBody>
      </p:sp>
      <p:sp>
        <p:nvSpPr>
          <p:cNvPr id="40" name="Rounded Rectangle 39"/>
          <p:cNvSpPr/>
          <p:nvPr/>
        </p:nvSpPr>
        <p:spPr>
          <a:xfrm>
            <a:off x="562356" y="3575304"/>
            <a:ext cx="2788920" cy="667512"/>
          </a:xfrm>
          <a:prstGeom prst="roundRect">
            <a:avLst>
              <a:gd name="adj" fmla="val 12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62940" y="3790188"/>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2940" y="3790188"/>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43" name="TextBox 42"/>
          <p:cNvSpPr txBox="1"/>
          <p:nvPr/>
        </p:nvSpPr>
        <p:spPr>
          <a:xfrm>
            <a:off x="982980" y="3575304"/>
            <a:ext cx="2276856" cy="667512"/>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Un sponsor qui porte la cible</a:t>
            </a:r>
          </a:p>
          <a:p>
            <a:pPr algn="l">
              <a:lnSpc>
                <a:spcPct val="115000"/>
              </a:lnSpc>
              <a:spcBef>
                <a:spcPts val="200"/>
              </a:spcBef>
            </a:pPr>
            <a:r>
              <a:rPr sz="750" b="0" i="0">
                <a:solidFill>
                  <a:srgbClr val="586586"/>
                </a:solidFill>
                <a:latin typeface="Outfit"/>
              </a:rPr>
              <a:t>DSI ou direction infrastructure, engagé dès l'intake.</a:t>
            </a:r>
          </a:p>
        </p:txBody>
      </p:sp>
      <p:sp>
        <p:nvSpPr>
          <p:cNvPr id="44" name="Rounded Rectangle 43"/>
          <p:cNvSpPr/>
          <p:nvPr/>
        </p:nvSpPr>
        <p:spPr>
          <a:xfrm>
            <a:off x="562356" y="4315968"/>
            <a:ext cx="2788920" cy="667512"/>
          </a:xfrm>
          <a:prstGeom prst="roundRect">
            <a:avLst>
              <a:gd name="adj" fmla="val 12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62940" y="453085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2940" y="4530852"/>
            <a:ext cx="237744" cy="237744"/>
          </a:xfrm>
          <a:prstGeom prst="rect">
            <a:avLst/>
          </a:prstGeom>
          <a:noFill/>
        </p:spPr>
        <p:txBody>
          <a:bodyPr wrap="square" anchor="ctr" lIns="0" rIns="0" tIns="0" bIns="0">
            <a:noAutofit/>
          </a:bodyPr>
          <a:lstStyle/>
          <a:p>
            <a:pPr algn="ctr"/>
            <a:r>
              <a:rPr sz="800" b="1" i="0">
                <a:solidFill>
                  <a:srgbClr val="FFFFFF"/>
                </a:solidFill>
                <a:latin typeface="Outfit"/>
              </a:rPr>
              <a:t>2</a:t>
            </a:r>
          </a:p>
        </p:txBody>
      </p:sp>
      <p:sp>
        <p:nvSpPr>
          <p:cNvPr id="47" name="TextBox 46"/>
          <p:cNvSpPr txBox="1"/>
          <p:nvPr/>
        </p:nvSpPr>
        <p:spPr>
          <a:xfrm>
            <a:off x="982980" y="4315968"/>
            <a:ext cx="2276856" cy="667512"/>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Des équipes réellement disponibles</a:t>
            </a:r>
          </a:p>
          <a:p>
            <a:pPr algn="l">
              <a:lnSpc>
                <a:spcPct val="115000"/>
              </a:lnSpc>
              <a:spcBef>
                <a:spcPts val="200"/>
              </a:spcBef>
            </a:pPr>
            <a:r>
              <a:rPr sz="750" b="0" i="0">
                <a:solidFill>
                  <a:srgbClr val="586586"/>
                </a:solidFill>
                <a:latin typeface="Outfit"/>
              </a:rPr>
              <a:t>Interviews et ateliers sur du temps réservé, vérifié avant le démarrage.</a:t>
            </a:r>
          </a:p>
        </p:txBody>
      </p:sp>
      <p:sp>
        <p:nvSpPr>
          <p:cNvPr id="48" name="TextBox 47"/>
          <p:cNvSpPr txBox="1"/>
          <p:nvPr/>
        </p:nvSpPr>
        <p:spPr>
          <a:xfrm>
            <a:off x="3579876" y="3355848"/>
            <a:ext cx="4786884" cy="182880"/>
          </a:xfrm>
          <a:prstGeom prst="rect">
            <a:avLst/>
          </a:prstGeom>
          <a:noFill/>
        </p:spPr>
        <p:txBody>
          <a:bodyPr wrap="square" anchor="t" lIns="0" rIns="0" tIns="0" bIns="0">
            <a:noAutofit/>
          </a:bodyPr>
          <a:lstStyle/>
          <a:p>
            <a:pPr algn="l"/>
            <a:r>
              <a:rPr sz="750" b="1" i="0">
                <a:solidFill>
                  <a:srgbClr val="586586"/>
                </a:solidFill>
                <a:latin typeface="Outfit"/>
              </a:rPr>
              <a:t>SIGNAL MINIMAL — MESURÉ AU T0, REMESURÉ À T+6–12 MOIS</a:t>
            </a:r>
          </a:p>
        </p:txBody>
      </p:sp>
      <p:sp>
        <p:nvSpPr>
          <p:cNvPr id="49" name="Rounded Rectangle 48"/>
          <p:cNvSpPr/>
          <p:nvPr/>
        </p:nvSpPr>
        <p:spPr>
          <a:xfrm>
            <a:off x="3579876" y="3575304"/>
            <a:ext cx="2347722" cy="658368"/>
          </a:xfrm>
          <a:prstGeom prst="roundRect">
            <a:avLst>
              <a:gd name="adj" fmla="val 12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3579876" y="3648456"/>
            <a:ext cx="45720"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726180" y="3575304"/>
            <a:ext cx="2128266" cy="658368"/>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Gaspillage traité</a:t>
            </a:r>
          </a:p>
          <a:p>
            <a:pPr algn="l">
              <a:lnSpc>
                <a:spcPct val="115000"/>
              </a:lnSpc>
              <a:spcBef>
                <a:spcPts val="100"/>
              </a:spcBef>
            </a:pPr>
            <a:r>
              <a:rPr sz="750" b="0" i="0">
                <a:solidFill>
                  <a:srgbClr val="586586"/>
                </a:solidFill>
                <a:latin typeface="Outfit"/>
              </a:rPr>
              <a:t>capacité RUN récupérée</a:t>
            </a:r>
          </a:p>
        </p:txBody>
      </p:sp>
      <p:sp>
        <p:nvSpPr>
          <p:cNvPr id="52" name="Rounded Rectangle 51"/>
          <p:cNvSpPr/>
          <p:nvPr/>
        </p:nvSpPr>
        <p:spPr>
          <a:xfrm>
            <a:off x="6019038" y="3575304"/>
            <a:ext cx="2347722" cy="658368"/>
          </a:xfrm>
          <a:prstGeom prst="roundRect">
            <a:avLst>
              <a:gd name="adj" fmla="val 12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019038" y="3648456"/>
            <a:ext cx="45720"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65342" y="3575304"/>
            <a:ext cx="2128266" cy="658368"/>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Adoption produit</a:t>
            </a:r>
          </a:p>
          <a:p>
            <a:pPr algn="l">
              <a:lnSpc>
                <a:spcPct val="115000"/>
              </a:lnSpc>
              <a:spcBef>
                <a:spcPts val="100"/>
              </a:spcBef>
            </a:pPr>
            <a:r>
              <a:rPr sz="750" b="0" i="0">
                <a:solidFill>
                  <a:srgbClr val="586586"/>
                </a:solidFill>
                <a:latin typeface="Outfit"/>
              </a:rPr>
              <a:t>usage du self-service</a:t>
            </a:r>
          </a:p>
        </p:txBody>
      </p:sp>
      <p:sp>
        <p:nvSpPr>
          <p:cNvPr id="55" name="Rounded Rectangle 54"/>
          <p:cNvSpPr/>
          <p:nvPr/>
        </p:nvSpPr>
        <p:spPr>
          <a:xfrm>
            <a:off x="3579876" y="4325112"/>
            <a:ext cx="2347722" cy="658368"/>
          </a:xfrm>
          <a:prstGeom prst="roundRect">
            <a:avLst>
              <a:gd name="adj" fmla="val 12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3579876" y="4398264"/>
            <a:ext cx="45720"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726180" y="4325112"/>
            <a:ext cx="2128266" cy="658368"/>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Fiabilité &amp; SLA</a:t>
            </a:r>
          </a:p>
          <a:p>
            <a:pPr algn="l">
              <a:lnSpc>
                <a:spcPct val="115000"/>
              </a:lnSpc>
              <a:spcBef>
                <a:spcPts val="100"/>
              </a:spcBef>
            </a:pPr>
            <a:r>
              <a:rPr sz="750" b="0" i="0">
                <a:solidFill>
                  <a:srgbClr val="586586"/>
                </a:solidFill>
                <a:latin typeface="Outfit"/>
              </a:rPr>
              <a:t>MTTR, respect des engagements</a:t>
            </a:r>
          </a:p>
        </p:txBody>
      </p:sp>
      <p:sp>
        <p:nvSpPr>
          <p:cNvPr id="58" name="Rounded Rectangle 57"/>
          <p:cNvSpPr/>
          <p:nvPr/>
        </p:nvSpPr>
        <p:spPr>
          <a:xfrm>
            <a:off x="6019038" y="4325112"/>
            <a:ext cx="2347722" cy="658368"/>
          </a:xfrm>
          <a:prstGeom prst="roundRect">
            <a:avLst>
              <a:gd name="adj" fmla="val 12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6019038" y="4398264"/>
            <a:ext cx="45720"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65342" y="4325112"/>
            <a:ext cx="2128266" cy="658368"/>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Maturité</a:t>
            </a:r>
          </a:p>
          <a:p>
            <a:pPr algn="l">
              <a:lnSpc>
                <a:spcPct val="115000"/>
              </a:lnSpc>
              <a:spcBef>
                <a:spcPts val="100"/>
              </a:spcBef>
            </a:pPr>
            <a:r>
              <a:rPr sz="750" b="0" i="0">
                <a:solidFill>
                  <a:srgbClr val="586586"/>
                </a:solidFill>
                <a:latin typeface="Outfit"/>
              </a:rPr>
              <a:t>delta par pilier, T0 → réévaluation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Annexes</a:t>
            </a:r>
          </a:p>
          <a:p>
            <a:r>
              <a:rPr sz="1050" i="1">
                <a:solidFill>
                  <a:srgbClr val="586586"/>
                </a:solidFill>
                <a:latin typeface="Outfit"/>
              </a:rPr>
              <a:t>Le schéma d'accompagnement de référence et l'export markdown.</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ANNEXES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43434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L'offre proposée est une méthodologie d'accompagnement pour transformer « une fonction infra ou une plateforme interne » en un véritable produit interne : un service pensé pour ses utilisateurs, avec un parcours, une proposition de valeur et des indicateurs de pilotage, plutôt qu'un centre de coûts ou un guichet de tickets.</a:t>
            </a:r>
          </a:p>
        </p:txBody>
      </p:sp>
      <p:sp>
        <p:nvSpPr>
          <p:cNvPr id="4" name="Rounded Rectangle 3"/>
          <p:cNvSpPr/>
          <p:nvPr/>
        </p:nvSpPr>
        <p:spPr>
          <a:xfrm>
            <a:off x="562356" y="1540764"/>
            <a:ext cx="233172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 y="1562709"/>
            <a:ext cx="225856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Reconstitution d'incident avant Cadrage, si crise déclencheuse.</a:t>
            </a:r>
          </a:p>
        </p:txBody>
      </p:sp>
      <p:sp>
        <p:nvSpPr>
          <p:cNvPr id="6" name="Rounded Rectangle 5"/>
          <p:cNvSpPr/>
          <p:nvPr/>
        </p:nvSpPr>
        <p:spPr>
          <a:xfrm>
            <a:off x="5760720" y="1540764"/>
            <a:ext cx="260604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97296" y="1562709"/>
            <a:ext cx="253288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Tri contraintes / habitudes avant Segmentation, si sites hétérogènes.</a:t>
            </a:r>
          </a:p>
        </p:txBody>
      </p:sp>
      <p:sp>
        <p:nvSpPr>
          <p:cNvPr id="8" name="TextBox 7"/>
          <p:cNvSpPr txBox="1"/>
          <p:nvPr/>
        </p:nvSpPr>
        <p:spPr>
          <a:xfrm>
            <a:off x="2820009" y="1540764"/>
            <a:ext cx="1691640" cy="128016"/>
          </a:xfrm>
          <a:prstGeom prst="rect">
            <a:avLst/>
          </a:prstGeom>
          <a:noFill/>
        </p:spPr>
        <p:txBody>
          <a:bodyPr wrap="square" anchor="ctr" lIns="0" rIns="0" tIns="0" bIns="0">
            <a:noAutofit/>
          </a:bodyPr>
          <a:lstStyle/>
          <a:p>
            <a:pPr algn="ctr"/>
            <a:r>
              <a:rPr sz="600" b="0" i="1">
                <a:solidFill>
                  <a:srgbClr val="586586"/>
                </a:solidFill>
                <a:latin typeface="Outfit"/>
              </a:rPr>
              <a:t>signal de contexte détecté ?</a:t>
            </a:r>
          </a:p>
        </p:txBody>
      </p:sp>
      <p:sp>
        <p:nvSpPr>
          <p:cNvPr id="9" name="Rounded Rectangle 8"/>
          <p:cNvSpPr/>
          <p:nvPr/>
        </p:nvSpPr>
        <p:spPr>
          <a:xfrm>
            <a:off x="3048609" y="1650492"/>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650492"/>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léger</a:t>
            </a:r>
          </a:p>
        </p:txBody>
      </p:sp>
      <p:sp>
        <p:nvSpPr>
          <p:cNvPr id="11" name="Rounded Rectangle 10"/>
          <p:cNvSpPr/>
          <p:nvPr/>
        </p:nvSpPr>
        <p:spPr>
          <a:xfrm>
            <a:off x="3048609" y="1824228"/>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1824228"/>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politique</a:t>
            </a:r>
          </a:p>
        </p:txBody>
      </p:sp>
      <p:sp>
        <p:nvSpPr>
          <p:cNvPr id="13" name="TextBox 12"/>
          <p:cNvSpPr txBox="1"/>
          <p:nvPr/>
        </p:nvSpPr>
        <p:spPr>
          <a:xfrm>
            <a:off x="774542" y="201625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201625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10769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Premier contact</a:t>
            </a:r>
          </a:p>
        </p:txBody>
      </p:sp>
      <p:sp>
        <p:nvSpPr>
          <p:cNvPr id="17" name="TextBox 16"/>
          <p:cNvSpPr txBox="1"/>
          <p:nvPr/>
        </p:nvSpPr>
        <p:spPr>
          <a:xfrm>
            <a:off x="1976932"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Cadrage</a:t>
            </a:r>
          </a:p>
          <a:p>
            <a:pPr algn="ctr">
              <a:lnSpc>
                <a:spcPct val="100000"/>
              </a:lnSpc>
              <a:spcBef>
                <a:spcPts val="100"/>
              </a:spcBef>
            </a:pPr>
            <a:r>
              <a:rPr sz="580" b="0" i="1">
                <a:solidFill>
                  <a:srgbClr val="586586"/>
                </a:solidFill>
                <a:latin typeface="Outfit"/>
              </a:rPr>
              <a:t>note de cadrage</a:t>
            </a:r>
          </a:p>
        </p:txBody>
      </p:sp>
      <p:sp>
        <p:nvSpPr>
          <p:cNvPr id="20" name="TextBox 19"/>
          <p:cNvSpPr txBox="1"/>
          <p:nvPr/>
        </p:nvSpPr>
        <p:spPr>
          <a:xfrm>
            <a:off x="3574389"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Diagnostic</a:t>
            </a:r>
          </a:p>
          <a:p>
            <a:pPr algn="ctr">
              <a:lnSpc>
                <a:spcPct val="100000"/>
              </a:lnSpc>
              <a:spcBef>
                <a:spcPts val="100"/>
              </a:spcBef>
            </a:pPr>
            <a:r>
              <a:rPr sz="580" b="0" i="1">
                <a:solidFill>
                  <a:srgbClr val="586586"/>
                </a:solidFill>
                <a:latin typeface="Outfit"/>
              </a:rPr>
              <a:t>base factuelle partagée</a:t>
            </a:r>
          </a:p>
        </p:txBody>
      </p:sp>
      <p:sp>
        <p:nvSpPr>
          <p:cNvPr id="23" name="TextBox 22"/>
          <p:cNvSpPr txBox="1"/>
          <p:nvPr/>
        </p:nvSpPr>
        <p:spPr>
          <a:xfrm>
            <a:off x="5171846"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Discovery gaspillages</a:t>
            </a:r>
          </a:p>
          <a:p>
            <a:pPr algn="ctr">
              <a:lnSpc>
                <a:spcPct val="100000"/>
              </a:lnSpc>
              <a:spcBef>
                <a:spcPts val="100"/>
              </a:spcBef>
            </a:pPr>
            <a:r>
              <a:rPr sz="580" b="0" i="1">
                <a:solidFill>
                  <a:srgbClr val="586586"/>
                </a:solidFill>
                <a:latin typeface="Outfit"/>
              </a:rPr>
              <a:t>8 familles</a:t>
            </a:r>
          </a:p>
        </p:txBody>
      </p:sp>
      <p:sp>
        <p:nvSpPr>
          <p:cNvPr id="26" name="TextBox 25"/>
          <p:cNvSpPr txBox="1"/>
          <p:nvPr/>
        </p:nvSpPr>
        <p:spPr>
          <a:xfrm>
            <a:off x="6769303" y="21076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10769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10769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Segmentation / Product Discovery</a:t>
            </a:r>
          </a:p>
        </p:txBody>
      </p:sp>
      <p:sp>
        <p:nvSpPr>
          <p:cNvPr id="29" name="Rounded Rectangle 28"/>
          <p:cNvSpPr/>
          <p:nvPr/>
        </p:nvSpPr>
        <p:spPr>
          <a:xfrm>
            <a:off x="5354726" y="2500884"/>
            <a:ext cx="1414576" cy="317754"/>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500884"/>
            <a:ext cx="1323136" cy="317754"/>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Contradictions structurelles (si contexte politique)</a:t>
            </a:r>
          </a:p>
        </p:txBody>
      </p:sp>
      <p:sp>
        <p:nvSpPr>
          <p:cNvPr id="31" name="Rectangle 30"/>
          <p:cNvSpPr/>
          <p:nvPr/>
        </p:nvSpPr>
        <p:spPr>
          <a:xfrm>
            <a:off x="7650327" y="2455164"/>
            <a:ext cx="18288" cy="41833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287350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287350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2864358"/>
            <a:ext cx="201168" cy="109728"/>
          </a:xfrm>
          <a:prstGeom prst="rect">
            <a:avLst/>
          </a:prstGeom>
          <a:noFill/>
        </p:spPr>
        <p:txBody>
          <a:bodyPr wrap="square" anchor="ctr" lIns="0" rIns="0" tIns="0" bIns="0">
            <a:noAutofit/>
          </a:bodyPr>
          <a:lstStyle/>
          <a:p>
            <a:pPr algn="ctr"/>
            <a:r>
              <a:rPr sz="600" b="1" i="0">
                <a:solidFill>
                  <a:srgbClr val="586586"/>
                </a:solidFill>
                <a:latin typeface="Outfit"/>
              </a:rPr>
              <a:t>▾</a:t>
            </a:r>
          </a:p>
        </p:txBody>
      </p:sp>
      <p:sp>
        <p:nvSpPr>
          <p:cNvPr id="35" name="Rounded Rectangle 34"/>
          <p:cNvSpPr/>
          <p:nvPr/>
        </p:nvSpPr>
        <p:spPr>
          <a:xfrm>
            <a:off x="562356"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Product Definition</a:t>
            </a:r>
          </a:p>
          <a:p>
            <a:pPr algn="ctr">
              <a:lnSpc>
                <a:spcPct val="100000"/>
              </a:lnSpc>
              <a:spcBef>
                <a:spcPts val="100"/>
              </a:spcBef>
            </a:pPr>
            <a:r>
              <a:rPr sz="580" b="0" i="1">
                <a:solidFill>
                  <a:srgbClr val="586586"/>
                </a:solidFill>
                <a:latin typeface="Outfit"/>
              </a:rPr>
              <a:t>fiche produit cible</a:t>
            </a:r>
          </a:p>
        </p:txBody>
      </p:sp>
      <p:sp>
        <p:nvSpPr>
          <p:cNvPr id="37" name="TextBox 36"/>
          <p:cNvSpPr txBox="1"/>
          <p:nvPr/>
        </p:nvSpPr>
        <p:spPr>
          <a:xfrm>
            <a:off x="1976932"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Operating Model</a:t>
            </a:r>
          </a:p>
          <a:p>
            <a:pPr algn="ctr">
              <a:lnSpc>
                <a:spcPct val="100000"/>
              </a:lnSpc>
              <a:spcBef>
                <a:spcPts val="100"/>
              </a:spcBef>
            </a:pPr>
            <a:r>
              <a:rPr sz="580" b="0" i="1">
                <a:solidFill>
                  <a:srgbClr val="586586"/>
                </a:solidFill>
                <a:latin typeface="Outfit"/>
              </a:rPr>
              <a:t>responsabilités + mesure</a:t>
            </a:r>
          </a:p>
        </p:txBody>
      </p:sp>
      <p:sp>
        <p:nvSpPr>
          <p:cNvPr id="40" name="TextBox 39"/>
          <p:cNvSpPr txBox="1"/>
          <p:nvPr/>
        </p:nvSpPr>
        <p:spPr>
          <a:xfrm>
            <a:off x="3574389"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Adoption / Pilote</a:t>
            </a:r>
          </a:p>
          <a:p>
            <a:pPr algn="ctr">
              <a:lnSpc>
                <a:spcPct val="100000"/>
              </a:lnSpc>
              <a:spcBef>
                <a:spcPts val="100"/>
              </a:spcBef>
            </a:pPr>
            <a:r>
              <a:rPr sz="580" b="0" i="1">
                <a:solidFill>
                  <a:srgbClr val="586586"/>
                </a:solidFill>
                <a:latin typeface="Outfit"/>
              </a:rPr>
              <a:t>bilan avant / après</a:t>
            </a:r>
          </a:p>
        </p:txBody>
      </p:sp>
      <p:sp>
        <p:nvSpPr>
          <p:cNvPr id="43" name="TextBox 42"/>
          <p:cNvSpPr txBox="1"/>
          <p:nvPr/>
        </p:nvSpPr>
        <p:spPr>
          <a:xfrm>
            <a:off x="5171846"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296494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Mission close</a:t>
            </a:r>
          </a:p>
        </p:txBody>
      </p:sp>
      <p:sp>
        <p:nvSpPr>
          <p:cNvPr id="46" name="TextBox 45"/>
          <p:cNvSpPr txBox="1"/>
          <p:nvPr/>
        </p:nvSpPr>
        <p:spPr>
          <a:xfrm>
            <a:off x="6769303" y="296494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296494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296494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Retour d'expérience</a:t>
            </a:r>
          </a:p>
          <a:p>
            <a:pPr algn="ctr">
              <a:lnSpc>
                <a:spcPct val="100000"/>
              </a:lnSpc>
              <a:spcBef>
                <a:spcPts val="100"/>
              </a:spcBef>
            </a:pPr>
            <a:r>
              <a:rPr sz="580" b="0" i="1">
                <a:solidFill>
                  <a:srgbClr val="586586"/>
                </a:solidFill>
                <a:latin typeface="Outfit"/>
              </a:rPr>
              <a:t>vers la bibliothèque partagée</a:t>
            </a:r>
          </a:p>
        </p:txBody>
      </p:sp>
      <p:sp>
        <p:nvSpPr>
          <p:cNvPr id="49" name="Rounded Rectangle 48"/>
          <p:cNvSpPr/>
          <p:nvPr/>
        </p:nvSpPr>
        <p:spPr>
          <a:xfrm>
            <a:off x="3757269" y="3358134"/>
            <a:ext cx="1414576" cy="230123"/>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358134"/>
            <a:ext cx="1323136" cy="230123"/>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Dispositif de revue (si contexte politique)</a:t>
            </a:r>
          </a:p>
        </p:txBody>
      </p:sp>
      <p:sp>
        <p:nvSpPr>
          <p:cNvPr id="51" name="Rounded Rectangle 50"/>
          <p:cNvSpPr/>
          <p:nvPr/>
        </p:nvSpPr>
        <p:spPr>
          <a:xfrm>
            <a:off x="562356" y="3633977"/>
            <a:ext cx="7804404" cy="26847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932" y="3655923"/>
            <a:ext cx="7731252" cy="22458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CHECKLIST GOUVERNANCE IA — TRANSVERSE</a:t>
            </a:r>
          </a:p>
          <a:p>
            <a:pPr algn="l">
              <a:lnSpc>
                <a:spcPct val="115000"/>
              </a:lnSpc>
              <a:spcBef>
                <a:spcPts val="200"/>
              </a:spcBef>
            </a:pPr>
            <a:r>
              <a:rPr sz="600" b="0" i="1">
                <a:solidFill>
                  <a:srgbClr val="586586"/>
                </a:solidFill>
                <a:latin typeface="Outfit"/>
              </a:rPr>
              <a:t>Indépendante des mouvements, mobilisable dès qu'un usage IA est identifié — à tout moment de la mission.</a:t>
            </a:r>
          </a:p>
        </p:txBody>
      </p:sp>
      <p:sp>
        <p:nvSpPr>
          <p:cNvPr id="53" name="Rounded Rectangle 52"/>
          <p:cNvSpPr/>
          <p:nvPr/>
        </p:nvSpPr>
        <p:spPr>
          <a:xfrm>
            <a:off x="562356" y="3939031"/>
            <a:ext cx="128016" cy="128016"/>
          </a:xfrm>
          <a:prstGeom prst="roundRect">
            <a:avLst>
              <a:gd name="adj" fmla="val 3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mouvement du socle (toujours présent)</a:t>
            </a:r>
          </a:p>
        </p:txBody>
      </p:sp>
      <p:sp>
        <p:nvSpPr>
          <p:cNvPr id="55" name="Rounded Rectangle 54"/>
          <p:cNvSpPr/>
          <p:nvPr/>
        </p:nvSpPr>
        <p:spPr>
          <a:xfrm>
            <a:off x="3186684" y="3939031"/>
            <a:ext cx="128016" cy="128016"/>
          </a:xfrm>
          <a:prstGeom prst="roundRect">
            <a:avLst>
              <a:gd name="adj" fmla="val 3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variante ou section conditionnée au contexte</a:t>
            </a:r>
          </a:p>
        </p:txBody>
      </p:sp>
      <p:sp>
        <p:nvSpPr>
          <p:cNvPr id="57" name="Rounded Rectangle 56"/>
          <p:cNvSpPr/>
          <p:nvPr/>
        </p:nvSpPr>
        <p:spPr>
          <a:xfrm>
            <a:off x="5811012" y="3939031"/>
            <a:ext cx="128016" cy="128016"/>
          </a:xfrm>
          <a:prstGeom prst="roundRect">
            <a:avLst>
              <a:gd name="adj" fmla="val 3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3920743"/>
            <a:ext cx="2331720" cy="173736"/>
          </a:xfrm>
          <a:prstGeom prst="rect">
            <a:avLst/>
          </a:prstGeom>
          <a:noFill/>
        </p:spPr>
        <p:txBody>
          <a:bodyPr wrap="square" anchor="ctr" lIns="0" rIns="0" tIns="0" bIns="0">
            <a:noAutofit/>
          </a:bodyPr>
          <a:lstStyle/>
          <a:p>
            <a:pPr algn="l"/>
            <a:r>
              <a:rPr sz="630" b="0" i="0">
                <a:solidFill>
                  <a:srgbClr val="586586"/>
                </a:solidFill>
                <a:latin typeface="Outfit"/>
              </a:rPr>
              <a:t>mécanisme additif (extension, checklist transverse)</a:t>
            </a:r>
          </a:p>
        </p:txBody>
      </p:sp>
      <p:sp>
        <p:nvSpPr>
          <p:cNvPr id="59" name="Rounded Rectangle 58"/>
          <p:cNvSpPr/>
          <p:nvPr/>
        </p:nvSpPr>
        <p:spPr>
          <a:xfrm>
            <a:off x="562356" y="4395787"/>
            <a:ext cx="7804404" cy="58769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395787"/>
            <a:ext cx="64008" cy="5876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395787"/>
            <a:ext cx="7402068" cy="587692"/>
          </a:xfrm>
          <a:prstGeom prst="rect">
            <a:avLst/>
          </a:prstGeom>
          <a:noFill/>
        </p:spPr>
        <p:txBody>
          <a:bodyPr wrap="square" anchor="ctr" lIns="0" rIns="0" tIns="0" bIns="0">
            <a:spAutoFit/>
          </a:bodyPr>
          <a:lstStyle/>
          <a:p>
            <a:pPr algn="l">
              <a:lnSpc>
                <a:spcPct val="115000"/>
              </a:lnSpc>
            </a:pPr>
            <a:r>
              <a:rPr sz="700" b="1" i="0">
                <a:solidFill>
                  <a:srgbClr val="8891B3"/>
                </a:solidFill>
                <a:latin typeface="Outfit"/>
              </a:rPr>
              <a:t>LA THÈSE   </a:t>
            </a: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ANNEXES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les trois niveaux d'ambition</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La démarche restent pour sponsor et comité de pilotage.</a:t>
            </a:r>
          </a:p>
        </p:txBody>
      </p:sp>
      <p:sp>
        <p:nvSpPr>
          <p:cNvPr id="6" name="Rounded Rectangle 5"/>
          <p:cNvSpPr/>
          <p:nvPr/>
        </p:nvSpPr>
        <p:spPr>
          <a:xfrm>
            <a:off x="562356"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Runbook du processus — plan d'adoption</a:t>
            </a:r>
          </a:p>
        </p:txBody>
      </p:sp>
      <p:sp>
        <p:nvSpPr>
          <p:cNvPr id="11" name="Rounded Rectangle 10"/>
          <p:cNvSpPr/>
          <p:nvPr/>
        </p:nvSpPr>
        <p:spPr>
          <a:xfrm>
            <a:off x="4555998"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Plan d'implémentation agentic — opportunités agentic</a:t>
            </a:r>
          </a:p>
        </p:txBody>
      </p:sp>
      <p:sp>
        <p:nvSpPr>
          <p:cNvPr id="16" name="Rounded Rectangle 15"/>
          <p:cNvSpPr/>
          <p:nvPr/>
        </p:nvSpPr>
        <p:spPr>
          <a:xfrm>
            <a:off x="562356"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PILIER AGENTIC READINESS</a:t>
            </a:r>
          </a:p>
          <a:p>
            <a:pPr algn="l">
              <a:lnSpc>
                <a:spcPct val="115000"/>
              </a:lnSpc>
              <a:spcBef>
                <a:spcPts val="200"/>
              </a:spcBef>
            </a:pPr>
            <a:r>
              <a:rPr sz="7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DONNÉES (GATE IA)</a:t>
            </a:r>
          </a:p>
          <a:p>
            <a:pPr algn="l">
              <a:lnSpc>
                <a:spcPct val="115000"/>
              </a:lnSpc>
              <a:spcBef>
                <a:spcPts val="200"/>
              </a:spcBef>
            </a:pPr>
            <a:r>
              <a:rPr sz="7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SCORE DE GASPILLAGE</a:t>
            </a:r>
          </a:p>
          <a:p>
            <a:pPr algn="l">
              <a:lnSpc>
                <a:spcPct val="115000"/>
              </a:lnSpc>
              <a:spcBef>
                <a:spcPts val="200"/>
              </a:spcBef>
            </a:pPr>
            <a:r>
              <a:rPr sz="7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